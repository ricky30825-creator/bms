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91" r:id="rId5"/>
    <p:sldId id="292" r:id="rId6"/>
    <p:sldId id="288" r:id="rId7"/>
    <p:sldId id="289" r:id="rId8"/>
    <p:sldId id="301" r:id="rId9"/>
    <p:sldId id="290" r:id="rId10"/>
    <p:sldId id="302" r:id="rId11"/>
    <p:sldId id="305" r:id="rId12"/>
    <p:sldId id="273" r:id="rId13"/>
    <p:sldId id="268" r:id="rId14"/>
    <p:sldId id="270" r:id="rId15"/>
    <p:sldId id="275" r:id="rId16"/>
    <p:sldId id="304" r:id="rId17"/>
    <p:sldId id="279" r:id="rId18"/>
    <p:sldId id="278" r:id="rId19"/>
    <p:sldId id="280" r:id="rId20"/>
    <p:sldId id="281" r:id="rId21"/>
    <p:sldId id="293" r:id="rId22"/>
    <p:sldId id="282" r:id="rId23"/>
    <p:sldId id="283" r:id="rId24"/>
    <p:sldId id="294" r:id="rId25"/>
    <p:sldId id="284" r:id="rId26"/>
    <p:sldId id="287" r:id="rId27"/>
    <p:sldId id="295" r:id="rId28"/>
    <p:sldId id="296" r:id="rId29"/>
    <p:sldId id="297" r:id="rId30"/>
    <p:sldId id="298" r:id="rId31"/>
    <p:sldId id="299" r:id="rId32"/>
  </p:sldIdLst>
  <p:sldSz cx="12192000" cy="762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894"/>
    <p:restoredTop sz="94640"/>
  </p:normalViewPr>
  <p:slideViewPr>
    <p:cSldViewPr snapToGrid="0" snapToObjects="1">
      <p:cViewPr>
        <p:scale>
          <a:sx n="71" d="100"/>
          <a:sy n="71" d="100"/>
        </p:scale>
        <p:origin x="200" y="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27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1. 로그인 화면 (n2)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2. 회원가입 (n6)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3. 계정 찾기 (n5)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10.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대시보드</a:t>
            </a:r>
            <a:r>
              <a:rPr dirty="0"/>
              <a:t> (n9)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12. 이상점수 표시 (n12)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18. 정상/주의/경고 판정 (n25)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13. 경고 알림 배너 (n13)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15. 추세 차트/이력 조회 (n45)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20. 이상 이벤트 저장 (n29)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21. </a:t>
            </a:r>
            <a:r>
              <a:rPr dirty="0" err="1"/>
              <a:t>알림</a:t>
            </a:r>
            <a:r>
              <a:rPr dirty="0"/>
              <a:t> </a:t>
            </a:r>
            <a:r>
              <a:rPr dirty="0" err="1"/>
              <a:t>센터</a:t>
            </a:r>
            <a:r>
              <a:rPr dirty="0"/>
              <a:t> (n30)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24. 알림 이력 조회 (n33)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23. SNS 알림 발송 (n32)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25. </a:t>
            </a:r>
            <a:r>
              <a:rPr dirty="0" err="1"/>
              <a:t>관리자</a:t>
            </a:r>
            <a:r>
              <a:rPr dirty="0"/>
              <a:t> </a:t>
            </a:r>
            <a:r>
              <a:rPr dirty="0" err="1"/>
              <a:t>콘솔</a:t>
            </a:r>
            <a:r>
              <a:rPr dirty="0"/>
              <a:t> (n35)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26. </a:t>
            </a:r>
            <a:r>
              <a:rPr dirty="0" err="1"/>
              <a:t>릴레이</a:t>
            </a:r>
            <a:r>
              <a:rPr dirty="0"/>
              <a:t> </a:t>
            </a:r>
            <a:r>
              <a:rPr dirty="0" err="1"/>
              <a:t>차단</a:t>
            </a:r>
            <a:r>
              <a:rPr dirty="0"/>
              <a:t> (n36)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DB52A-CA70-468F-2B59-CC5895683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803941-CD92-3BA0-5894-AAF42EF49B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01990B-84EA-582B-BD7C-812CCA878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26. </a:t>
            </a:r>
            <a:r>
              <a:rPr dirty="0" err="1"/>
              <a:t>릴레이</a:t>
            </a:r>
            <a:r>
              <a:rPr dirty="0"/>
              <a:t> </a:t>
            </a:r>
            <a:r>
              <a:rPr dirty="0" err="1"/>
              <a:t>차단</a:t>
            </a:r>
            <a:r>
              <a:rPr dirty="0"/>
              <a:t> (n36)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1C8B5-48D1-0163-3EED-F49397DC1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81756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27. </a:t>
            </a:r>
            <a:r>
              <a:rPr dirty="0" err="1"/>
              <a:t>차단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(gate) (n37)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28. 릴레이 복구 (n38)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4857B-9F18-2479-B2EC-9BC8F90D0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6CBBF-AC76-8A93-E7AB-7944130518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BAEAF-BACD-F1EA-6480-DE1902394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28. 릴레이 복구 (n38)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F9E07-A2D9-60E1-7180-A570ABEEB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886687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29. 복구 확인(gate) (n39)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32. 임계치 설정 (n43)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slide" Target="slide1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0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slide" Target="slide1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0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slide" Target="slide1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0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slide" Target="slide19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slide" Target="slide19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slide" Target="slide19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9.xml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9.xml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9.xml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slide" Target="slide19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1.xml"/><Relationship Id="rId7" Type="http://schemas.openxmlformats.org/officeDocument/2006/relationships/slide" Target="slide1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0.xml"/><Relationship Id="rId10" Type="http://schemas.openxmlformats.org/officeDocument/2006/relationships/slide" Target="slide19.xml"/><Relationship Id="rId4" Type="http://schemas.openxmlformats.org/officeDocument/2006/relationships/image" Target="../media/image1.png"/><Relationship Id="rId9" Type="http://schemas.openxmlformats.org/officeDocument/2006/relationships/slide" Target="slide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slide" Target="slide1.xml"/><Relationship Id="rId7" Type="http://schemas.openxmlformats.org/officeDocument/2006/relationships/slide" Target="slide1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0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slide" Target="slide1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0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slide" Target="slide1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0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" Target="slide1.xml"/><Relationship Id="rId7" Type="http://schemas.openxmlformats.org/officeDocument/2006/relationships/image" Target="../media/image2.png"/><Relationship Id="rId12" Type="http://schemas.openxmlformats.org/officeDocument/2006/relationships/slide" Target="slide1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slide" Target="slide19.xml"/><Relationship Id="rId5" Type="http://schemas.openxmlformats.org/officeDocument/2006/relationships/slide" Target="slide10.xml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slide" Target="slide1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0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1.xml"/><Relationship Id="rId7" Type="http://schemas.openxmlformats.org/officeDocument/2006/relationships/slide" Target="slide1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0.xml"/><Relationship Id="rId4" Type="http://schemas.openxmlformats.org/officeDocument/2006/relationships/image" Target="../media/image1.png"/><Relationship Id="rId9" Type="http://schemas.openxmlformats.org/officeDocument/2006/relationships/slide" Target="slide1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1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0.xml"/><Relationship Id="rId10" Type="http://schemas.openxmlformats.org/officeDocument/2006/relationships/slide" Target="slide19.xml"/><Relationship Id="rId4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slide" Target="slide1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0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slide" Target="slide1.xml"/><Relationship Id="rId7" Type="http://schemas.openxmlformats.org/officeDocument/2006/relationships/slide" Target="slide2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slide" Target="slide27.xml"/><Relationship Id="rId5" Type="http://schemas.openxmlformats.org/officeDocument/2006/relationships/slide" Target="slide10.xml"/><Relationship Id="rId10" Type="http://schemas.openxmlformats.org/officeDocument/2006/relationships/slide" Target="slide26.xml"/><Relationship Id="rId4" Type="http://schemas.openxmlformats.org/officeDocument/2006/relationships/image" Target="../media/image1.png"/><Relationship Id="rId9" Type="http://schemas.openxmlformats.org/officeDocument/2006/relationships/slide" Target="slide1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1.xm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0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1.xm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0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slide" Target="slide1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0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slide" Target="slide1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0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slide" Target="slide1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0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slide" Target="slide19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0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3" Type="http://schemas.openxmlformats.org/officeDocument/2006/relationships/slide" Target="slide1.xml"/><Relationship Id="rId7" Type="http://schemas.openxmlformats.org/officeDocument/2006/relationships/slide" Target="slide1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0.xml"/><Relationship Id="rId4" Type="http://schemas.openxmlformats.org/officeDocument/2006/relationships/image" Target="../media/image1.png"/><Relationship Id="rId9" Type="http://schemas.openxmlformats.org/officeDocument/2006/relationships/slide" Target="slide2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3" Type="http://schemas.openxmlformats.org/officeDocument/2006/relationships/image" Target="../media/image1.png"/><Relationship Id="rId7" Type="http://schemas.openxmlformats.org/officeDocument/2006/relationships/slide" Target="slide2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9.xml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9.xml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9.xml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9.xml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9.xml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2093" y="961069"/>
            <a:ext cx="309727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로그인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92093" y="2437691"/>
            <a:ext cx="2983074" cy="27593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792093" y="3064136"/>
            <a:ext cx="2983074" cy="275934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792093" y="3399732"/>
            <a:ext cx="2983074" cy="275934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48110" y="2512267"/>
            <a:ext cx="271040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FFFFFF"/>
                </a:solidFill>
                <a:latin typeface="Apple SD Gothic Neo"/>
              </a:rPr>
              <a:t>로그인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2093" y="2892609"/>
            <a:ext cx="108194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또는 소셜 로그인으로 계속하기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4008" y="3138713"/>
            <a:ext cx="739243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333333"/>
                </a:solidFill>
                <a:latin typeface="Apple SD Gothic Neo"/>
              </a:rPr>
              <a:t>Google로 로그인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4347" y="3474309"/>
            <a:ext cx="858566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333333"/>
                </a:solidFill>
                <a:latin typeface="Apple SD Gothic Neo"/>
              </a:rPr>
              <a:t>Microsoft로 로그인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92093" y="1490564"/>
            <a:ext cx="2983074" cy="275934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792093" y="2072264"/>
            <a:ext cx="2983074" cy="275934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92093" y="1289207"/>
            <a:ext cx="869403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이메일 또는 사용자명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2093" y="1870906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비밀번호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69070" y="3862109"/>
            <a:ext cx="690419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계정이 없으신가요?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9150" y="3854651"/>
            <a:ext cx="479040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계정 만들기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18710" y="4160416"/>
            <a:ext cx="1129723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계정을 찾을 수 없으신가요?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2093" y="961069"/>
            <a:ext cx="41296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회원가입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2093" y="3996347"/>
            <a:ext cx="1441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가입 완료 후 로그인 화면으로 이동합니다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92093" y="3541428"/>
            <a:ext cx="2983074" cy="27593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02898" y="3616005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FFFFFF"/>
                </a:solidFill>
                <a:latin typeface="Apple SD Gothic Neo"/>
              </a:rPr>
              <a:t>회원가입</a:t>
            </a:r>
          </a:p>
        </p:txBody>
      </p:sp>
      <p:sp>
        <p:nvSpPr>
          <p:cNvPr id="20" name="TextBox 19">
            <a:hlinkClick r:id="rId3" action="ppaction://hlinksldjump"/>
          </p:cNvPr>
          <p:cNvSpPr txBox="1"/>
          <p:nvPr/>
        </p:nvSpPr>
        <p:spPr>
          <a:xfrm>
            <a:off x="2792093" y="4287197"/>
            <a:ext cx="840271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로그인으로 돌아가기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92093" y="1430903"/>
            <a:ext cx="2983074" cy="275934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792093" y="2012602"/>
            <a:ext cx="2983074" cy="275934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792093" y="2594302"/>
            <a:ext cx="2983074" cy="275934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792093" y="3176001"/>
            <a:ext cx="2983074" cy="275934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92093" y="1229545"/>
            <a:ext cx="271040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이메일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2093" y="1811245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사용자명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2093" y="2392944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비밀번호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92093" y="2974644"/>
            <a:ext cx="570163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비밀번호 확인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9601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333333"/>
                </a:solidFill>
                <a:latin typeface="Apple SD Gothic Neo"/>
              </a:rPr>
              <a:t>계정 찾기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1179576"/>
            <a:ext cx="8641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999999"/>
                </a:solidFill>
                <a:latin typeface="Apple SD Gothic Neo"/>
              </a:rPr>
              <a:t>가입한 계정 정보를 찾거나 비밀번호를 재설정하세요. 각 기능은 팝업으로 열립니다.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1517904"/>
            <a:ext cx="4206240" cy="14264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990088" y="1709928"/>
            <a:ext cx="466344" cy="466344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90088" y="1883664"/>
            <a:ext cx="4663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Apple SD Gothic Neo"/>
              </a:rPr>
              <a:t>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2276856"/>
            <a:ext cx="38039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333333"/>
                </a:solidFill>
                <a:latin typeface="Apple SD Gothic Neo"/>
              </a:rPr>
              <a:t>아이디 찾기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0088" y="2496312"/>
            <a:ext cx="380390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999999"/>
                </a:solidFill>
                <a:latin typeface="Apple SD Gothic Neo"/>
              </a:rPr>
              <a:t>등록된 이메일로 가입된 아이디(사용자명)를 전송해드립니다.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32904" y="1517904"/>
            <a:ext cx="4206240" cy="14264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34072" y="1709928"/>
            <a:ext cx="466344" cy="466344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34072" y="1883664"/>
            <a:ext cx="4663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Apple SD Gothic Neo"/>
              </a:rPr>
              <a:t>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072" y="2276856"/>
            <a:ext cx="38039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333333"/>
                </a:solidFill>
                <a:latin typeface="Apple SD Gothic Neo"/>
              </a:rPr>
              <a:t>비밀번호 재설정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4072" y="2496312"/>
            <a:ext cx="380390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999999"/>
                </a:solidFill>
                <a:latin typeface="Apple SD Gothic Neo"/>
              </a:rPr>
              <a:t>등록된 이메일로 비밀번호 재설정 링크를 보내드립니다.</a:t>
            </a:r>
          </a:p>
        </p:txBody>
      </p:sp>
      <p:sp>
        <p:nvSpPr>
          <p:cNvPr id="30" name="TextBox 29">
            <a:hlinkClick r:id="rId3" action="ppaction://hlinksldjump"/>
          </p:cNvPr>
          <p:cNvSpPr txBox="1"/>
          <p:nvPr/>
        </p:nvSpPr>
        <p:spPr>
          <a:xfrm>
            <a:off x="2788920" y="315468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Apple SD Gothic Neo"/>
              </a:rPr>
              <a:t>← 로그인으로 돌아가기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9601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333333"/>
                </a:solidFill>
                <a:latin typeface="Apple SD Gothic Neo"/>
              </a:rPr>
              <a:t>계정 찾기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1179576"/>
            <a:ext cx="8641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999999"/>
                </a:solidFill>
                <a:latin typeface="Apple SD Gothic Neo"/>
              </a:rPr>
              <a:t>가입한 계정 정보를 찾거나 비밀번호를 재설정하세요. 각 기능은 팝업으로 열립니다.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1517904"/>
            <a:ext cx="4206240" cy="14264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990088" y="1709928"/>
            <a:ext cx="466344" cy="466344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90088" y="1883664"/>
            <a:ext cx="4663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Apple SD Gothic Neo"/>
              </a:rPr>
              <a:t>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2276856"/>
            <a:ext cx="38039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333333"/>
                </a:solidFill>
                <a:latin typeface="Apple SD Gothic Neo"/>
              </a:rPr>
              <a:t>아이디 찾기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0088" y="2496312"/>
            <a:ext cx="380390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999999"/>
                </a:solidFill>
                <a:latin typeface="Apple SD Gothic Neo"/>
              </a:rPr>
              <a:t>등록된 이메일로 가입된 아이디(사용자명)를 전송해드립니다.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0088" y="2752344"/>
            <a:ext cx="38039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6C5CE7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32904" y="1517904"/>
            <a:ext cx="4206240" cy="14264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34072" y="1709928"/>
            <a:ext cx="466344" cy="466344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34072" y="1883664"/>
            <a:ext cx="4663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Apple SD Gothic Neo"/>
              </a:rPr>
              <a:t>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072" y="2276856"/>
            <a:ext cx="38039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333333"/>
                </a:solidFill>
                <a:latin typeface="Apple SD Gothic Neo"/>
              </a:rPr>
              <a:t>비밀번호 재설정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4072" y="2496312"/>
            <a:ext cx="380390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999999"/>
                </a:solidFill>
                <a:latin typeface="Apple SD Gothic Neo"/>
              </a:rPr>
              <a:t>등록된 이메일로 비밀번호 재설정 링크를 보내드립니다.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2" y="2752344"/>
            <a:ext cx="38039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6C5CE7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315468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Apple SD Gothic Neo"/>
              </a:rPr>
              <a:t>← 로그인으로 돌아가기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" y="301752"/>
            <a:ext cx="11036808" cy="7013448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813048" y="2103120"/>
            <a:ext cx="45720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078224" y="2331720"/>
            <a:ext cx="4041648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333333"/>
                </a:solidFill>
                <a:latin typeface="Apple SD Gothic Neo"/>
              </a:rPr>
              <a:t>아이디 찾기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78224" y="2578608"/>
            <a:ext cx="40416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999999"/>
                </a:solidFill>
                <a:latin typeface="Apple SD Gothic Neo"/>
              </a:rPr>
              <a:t>등록된 이메일로 가입된 아이디(사용자명)를 전송해드립니다.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78224" y="2944368"/>
            <a:ext cx="40416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pple SD Gothic Neo"/>
              </a:rPr>
              <a:t>이메일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78224" y="3127248"/>
            <a:ext cx="4041648" cy="3017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06240" y="3127248"/>
            <a:ext cx="38221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969696"/>
                </a:solidFill>
                <a:latin typeface="Apple SD Gothic Neo"/>
              </a:rPr>
              <a:t>예: user@example.com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78224" y="3529584"/>
            <a:ext cx="40416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999999"/>
                </a:solidFill>
                <a:latin typeface="Apple SD Gothic Neo"/>
              </a:rPr>
              <a:t>ⓘ 가입 시 등록한 이메일 주소를 입력하세요.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98664" y="4133087"/>
            <a:ext cx="521207" cy="301752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FFFFFF"/>
                </a:solidFill>
                <a:latin typeface="Apple SD Gothic Neo"/>
              </a:rPr>
              <a:t>전송</a:t>
            </a:r>
          </a:p>
        </p:txBody>
      </p:sp>
      <p:sp>
        <p:nvSpPr>
          <p:cNvPr id="40" name="Rounded Rectangle 39">
            <a:hlinkClick r:id="rId6" action="ppaction://hlinksldjump"/>
          </p:cNvPr>
          <p:cNvSpPr/>
          <p:nvPr/>
        </p:nvSpPr>
        <p:spPr>
          <a:xfrm>
            <a:off x="6986016" y="4133087"/>
            <a:ext cx="521207" cy="301752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9601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333333"/>
                </a:solidFill>
                <a:latin typeface="Apple SD Gothic Neo"/>
              </a:rPr>
              <a:t>계정 찾기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1179576"/>
            <a:ext cx="8641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999999"/>
                </a:solidFill>
                <a:latin typeface="Apple SD Gothic Neo"/>
              </a:rPr>
              <a:t>가입한 계정 정보를 찾거나 비밀번호를 재설정하세요. 각 기능은 팝업으로 열립니다.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1517904"/>
            <a:ext cx="4206240" cy="14264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990088" y="1709928"/>
            <a:ext cx="466344" cy="466344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90088" y="1883664"/>
            <a:ext cx="4663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Apple SD Gothic Neo"/>
              </a:rPr>
              <a:t>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2276856"/>
            <a:ext cx="38039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333333"/>
                </a:solidFill>
                <a:latin typeface="Apple SD Gothic Neo"/>
              </a:rPr>
              <a:t>아이디 찾기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0088" y="2496312"/>
            <a:ext cx="380390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999999"/>
                </a:solidFill>
                <a:latin typeface="Apple SD Gothic Neo"/>
              </a:rPr>
              <a:t>등록된 이메일로 가입된 아이디(사용자명)를 전송해드립니다.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0088" y="2752344"/>
            <a:ext cx="38039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6C5CE7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32904" y="1517904"/>
            <a:ext cx="4206240" cy="14264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34072" y="1709928"/>
            <a:ext cx="466344" cy="466344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34072" y="1883664"/>
            <a:ext cx="4663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Apple SD Gothic Neo"/>
              </a:rPr>
              <a:t>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072" y="2276856"/>
            <a:ext cx="38039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333333"/>
                </a:solidFill>
                <a:latin typeface="Apple SD Gothic Neo"/>
              </a:rPr>
              <a:t>비밀번호 재설정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4072" y="2496312"/>
            <a:ext cx="380390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999999"/>
                </a:solidFill>
                <a:latin typeface="Apple SD Gothic Neo"/>
              </a:rPr>
              <a:t>등록된 이메일로 비밀번호 재설정 링크를 보내드립니다.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2" y="2752344"/>
            <a:ext cx="38039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6C5CE7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315468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Apple SD Gothic Neo"/>
              </a:rPr>
              <a:t>← 로그인으로 돌아가기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" y="301752"/>
            <a:ext cx="11036808" cy="7013448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813048" y="2103120"/>
            <a:ext cx="45720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078224" y="2331720"/>
            <a:ext cx="4041648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333333"/>
                </a:solidFill>
                <a:latin typeface="Apple SD Gothic Neo"/>
              </a:rPr>
              <a:t>비밀번호 재설정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78224" y="2578608"/>
            <a:ext cx="40416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999999"/>
                </a:solidFill>
                <a:latin typeface="Apple SD Gothic Neo"/>
              </a:rPr>
              <a:t>등록된 이메일로 비밀번호 재설정 링크를 보내드립니다.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78224" y="2944368"/>
            <a:ext cx="40416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pple SD Gothic Neo"/>
              </a:rPr>
              <a:t>이메일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78224" y="3127248"/>
            <a:ext cx="4041648" cy="3017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06240" y="3127248"/>
            <a:ext cx="38221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969696"/>
                </a:solidFill>
                <a:latin typeface="Apple SD Gothic Neo"/>
              </a:rPr>
              <a:t>예: user@example.com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78224" y="3529584"/>
            <a:ext cx="40416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999999"/>
                </a:solidFill>
                <a:latin typeface="Apple SD Gothic Neo"/>
              </a:rPr>
              <a:t>ⓘ 메일의 링크에서 새 비밀번호를 설정할 수 있습니다.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31152" y="4133087"/>
            <a:ext cx="1188720" cy="301752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FFFFFF"/>
                </a:solidFill>
                <a:latin typeface="Apple SD Gothic Neo"/>
              </a:rPr>
              <a:t>재설정 링크 전송</a:t>
            </a:r>
          </a:p>
        </p:txBody>
      </p:sp>
      <p:sp>
        <p:nvSpPr>
          <p:cNvPr id="40" name="Rounded Rectangle 39">
            <a:hlinkClick r:id="rId6" action="ppaction://hlinksldjump"/>
          </p:cNvPr>
          <p:cNvSpPr/>
          <p:nvPr/>
        </p:nvSpPr>
        <p:spPr>
          <a:xfrm>
            <a:off x="6318504" y="4133087"/>
            <a:ext cx="521207" cy="301752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92093" y="961069"/>
            <a:ext cx="3000000" cy="1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939" b="1">
                <a:solidFill>
                  <a:srgbClr val="333333"/>
                </a:solidFill>
                <a:latin typeface="Apple SD Gothic Neo"/>
              </a:rPr>
              <a:t>배터리 선택/등록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792093" y="1180000"/>
            <a:ext cx="8643458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704" b="0">
                <a:solidFill>
                  <a:srgbClr val="999999"/>
                </a:solidFill>
                <a:latin typeface="Apple SD Gothic Neo"/>
              </a:rPr>
              <a:t>측정할 배터리를 선택하거나 새로 등록하세요. 저장된 배터리를 선택하면 이전 측정 이력과 target_mode가 자동으로 연결됩니다.</a:t>
            </a:r>
          </a:p>
        </p:txBody>
      </p:sp>
      <p:sp>
        <p:nvSpPr>
          <p:cNvPr id="18" name="Shape 18"/>
          <p:cNvSpPr/>
          <p:nvPr/>
        </p:nvSpPr>
        <p:spPr>
          <a:xfrm>
            <a:off x="2792093" y="1520000"/>
            <a:ext cx="4201729" cy="143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hape 19"/>
          <p:cNvSpPr/>
          <p:nvPr/>
        </p:nvSpPr>
        <p:spPr>
          <a:xfrm>
            <a:off x="2992093" y="1710000"/>
            <a:ext cx="470000" cy="470000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2992093" y="1880000"/>
            <a:ext cx="470000" cy="2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900" b="0">
                <a:solidFill>
                  <a:srgbClr val="555555"/>
                </a:solidFill>
                <a:latin typeface="Apple SD Gothic Neo"/>
              </a:rPr>
              <a:t>🔋</a:t>
            </a:r>
          </a:p>
        </p:txBody>
      </p:sp>
      <p:sp>
        <p:nvSpPr>
          <p:cNvPr id="21" name="TextBox 21">
            <a:hlinkClick r:id="rId6" action="ppaction://hlinksldjump"/>
          </p:cNvPr>
          <p:cNvSpPr txBox="1"/>
          <p:nvPr/>
        </p:nvSpPr>
        <p:spPr>
          <a:xfrm>
            <a:off x="2992093" y="2280000"/>
            <a:ext cx="3801729" cy="1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>
                <a:solidFill>
                  <a:srgbClr val="333333"/>
                </a:solidFill>
                <a:latin typeface="Apple SD Gothic Neo"/>
              </a:rPr>
              <a:t>저장된 배터리 선택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92093" y="2500000"/>
            <a:ext cx="3801729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660" b="0">
                <a:solidFill>
                  <a:srgbClr val="999999"/>
                </a:solidFill>
                <a:latin typeface="Apple SD Gothic Neo"/>
              </a:rPr>
              <a:t>등록된 배터리 목록에서 선택해 이전 측정 이력을 잇습니다.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992093" y="2750000"/>
            <a:ext cx="3801729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20" b="0">
                <a:solidFill>
                  <a:srgbClr val="5A49CE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24" name="Shape 24"/>
          <p:cNvSpPr/>
          <p:nvPr/>
        </p:nvSpPr>
        <p:spPr>
          <a:xfrm>
            <a:off x="7233822" y="1520000"/>
            <a:ext cx="4201729" cy="143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Shape 25"/>
          <p:cNvSpPr/>
          <p:nvPr/>
        </p:nvSpPr>
        <p:spPr>
          <a:xfrm>
            <a:off x="7433822" y="1710000"/>
            <a:ext cx="470000" cy="470000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7433822" y="1880000"/>
            <a:ext cx="470000" cy="2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900" b="0">
                <a:solidFill>
                  <a:srgbClr val="555555"/>
                </a:solidFill>
                <a:latin typeface="Apple SD Gothic Neo"/>
              </a:rPr>
              <a:t>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33822" y="2280000"/>
            <a:ext cx="3801729" cy="1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>
                <a:solidFill>
                  <a:srgbClr val="333333"/>
                </a:solidFill>
                <a:latin typeface="Apple SD Gothic Neo"/>
              </a:rPr>
              <a:t>새 배터리 등록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33822" y="2500000"/>
            <a:ext cx="3801729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660" b="0">
                <a:solidFill>
                  <a:srgbClr val="999999"/>
                </a:solidFill>
                <a:latin typeface="Apple SD Gothic Neo"/>
              </a:rPr>
              <a:t>새 배터리를 자산으로 등록하고 battery_id(UUID)를 발급합니다.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33822" y="2750000"/>
            <a:ext cx="3801729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20" b="0">
                <a:solidFill>
                  <a:srgbClr val="5A49CE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792093" y="3220000"/>
            <a:ext cx="30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>
                <a:solidFill>
                  <a:srgbClr val="333333"/>
                </a:solidFill>
                <a:latin typeface="Apple SD Gothic Neo"/>
              </a:rPr>
              <a:t>최근 사용 배터리</a:t>
            </a:r>
          </a:p>
        </p:txBody>
      </p:sp>
      <p:sp>
        <p:nvSpPr>
          <p:cNvPr id="31" name="Shape 31"/>
          <p:cNvSpPr/>
          <p:nvPr/>
        </p:nvSpPr>
        <p:spPr>
          <a:xfrm>
            <a:off x="2792093" y="3470000"/>
            <a:ext cx="8643458" cy="148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2918873" y="3610000"/>
            <a:ext cx="15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이름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50000" y="3610000"/>
            <a:ext cx="19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battery_id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00000" y="3610000"/>
            <a:ext cx="15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target_mode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00000" y="3610000"/>
            <a:ext cx="15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마지막 측정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50000" y="3610000"/>
            <a:ext cx="9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37" name="Shape 37"/>
          <p:cNvSpPr/>
          <p:nvPr/>
        </p:nvSpPr>
        <p:spPr>
          <a:xfrm>
            <a:off x="2912093" y="3850000"/>
            <a:ext cx="8403458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8"/>
          <p:cNvSpPr txBox="1"/>
          <p:nvPr/>
        </p:nvSpPr>
        <p:spPr>
          <a:xfrm>
            <a:off x="2918873" y="388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444444"/>
                </a:solidFill>
                <a:latin typeface="Apple SD Gothic Neo"/>
              </a:rPr>
              <a:t>외부셀 #A12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750000" y="3880000"/>
            <a:ext cx="1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b1f3…9c2a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00000" y="388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555555"/>
                </a:solidFill>
                <a:latin typeface="Apple SD Gothic Neo"/>
              </a:rPr>
              <a:t>모드2 외부 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500000" y="388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06-19 14:02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50000" y="3880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1">
                <a:solidFill>
                  <a:srgbClr val="2E7D32"/>
                </a:solidFill>
                <a:latin typeface="Apple SD Gothic Neo"/>
              </a:rPr>
              <a:t>정상</a:t>
            </a:r>
          </a:p>
        </p:txBody>
      </p:sp>
      <p:sp>
        <p:nvSpPr>
          <p:cNvPr id="43" name="Shape 43"/>
          <p:cNvSpPr/>
          <p:nvPr/>
        </p:nvSpPr>
        <p:spPr>
          <a:xfrm>
            <a:off x="2912093" y="4180000"/>
            <a:ext cx="8403458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4"/>
          <p:cNvSpPr txBox="1"/>
          <p:nvPr/>
        </p:nvSpPr>
        <p:spPr>
          <a:xfrm>
            <a:off x="2918873" y="421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444444"/>
                </a:solidFill>
                <a:latin typeface="Apple SD Gothic Neo"/>
              </a:rPr>
              <a:t>보조배터리 Anker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750000" y="4210000"/>
            <a:ext cx="1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7d0a…42ef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900000" y="421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555555"/>
                </a:solidFill>
                <a:latin typeface="Apple SD Gothic Neo"/>
              </a:rPr>
              <a:t>모드3 보조배터리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500000" y="421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06-18 09:31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250000" y="4210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1">
                <a:solidFill>
                  <a:srgbClr val="B26A00"/>
                </a:solidFill>
                <a:latin typeface="Apple SD Gothic Neo"/>
              </a:rPr>
              <a:t>주의</a:t>
            </a:r>
          </a:p>
        </p:txBody>
      </p:sp>
      <p:sp>
        <p:nvSpPr>
          <p:cNvPr id="49" name="Shape 49"/>
          <p:cNvSpPr/>
          <p:nvPr/>
        </p:nvSpPr>
        <p:spPr>
          <a:xfrm>
            <a:off x="2912093" y="4510000"/>
            <a:ext cx="8403458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50"/>
          <p:cNvSpPr txBox="1"/>
          <p:nvPr/>
        </p:nvSpPr>
        <p:spPr>
          <a:xfrm>
            <a:off x="2918873" y="454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444444"/>
                </a:solidFill>
                <a:latin typeface="Apple SD Gothic Neo"/>
              </a:rPr>
              <a:t>내장 RPi-01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750000" y="4540000"/>
            <a:ext cx="1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3c9e…0b77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900000" y="454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555555"/>
                </a:solidFill>
                <a:latin typeface="Apple SD Gothic Neo"/>
              </a:rPr>
              <a:t>모드1 내장배터리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500000" y="454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06-15 17:50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250000" y="4540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1">
                <a:solidFill>
                  <a:srgbClr val="2E7D32"/>
                </a:solidFill>
                <a:latin typeface="Apple SD Gothic Neo"/>
              </a:rPr>
              <a:t>정상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92093" y="961069"/>
            <a:ext cx="3000000" cy="1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939" b="1">
                <a:solidFill>
                  <a:srgbClr val="333333"/>
                </a:solidFill>
                <a:latin typeface="Apple SD Gothic Neo"/>
              </a:rPr>
              <a:t>배터리 선택/등록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792093" y="1180000"/>
            <a:ext cx="8643458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704" b="0">
                <a:solidFill>
                  <a:srgbClr val="999999"/>
                </a:solidFill>
                <a:latin typeface="Apple SD Gothic Neo"/>
              </a:rPr>
              <a:t>측정할 배터리를 선택하거나 새로 등록하세요. 저장된 배터리를 선택하면 이전 측정 이력과 target_mode가 자동으로 연결됩니다.</a:t>
            </a:r>
          </a:p>
        </p:txBody>
      </p:sp>
      <p:sp>
        <p:nvSpPr>
          <p:cNvPr id="18" name="Shape 18"/>
          <p:cNvSpPr/>
          <p:nvPr/>
        </p:nvSpPr>
        <p:spPr>
          <a:xfrm>
            <a:off x="2792093" y="1520000"/>
            <a:ext cx="4201729" cy="143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hape 19"/>
          <p:cNvSpPr/>
          <p:nvPr/>
        </p:nvSpPr>
        <p:spPr>
          <a:xfrm>
            <a:off x="2992093" y="1710000"/>
            <a:ext cx="470000" cy="470000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2992093" y="1880000"/>
            <a:ext cx="470000" cy="2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900" b="0">
                <a:solidFill>
                  <a:srgbClr val="555555"/>
                </a:solidFill>
                <a:latin typeface="Apple SD Gothic Neo"/>
              </a:rPr>
              <a:t>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92093" y="2280000"/>
            <a:ext cx="3801729" cy="1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>
                <a:solidFill>
                  <a:srgbClr val="333333"/>
                </a:solidFill>
                <a:latin typeface="Apple SD Gothic Neo"/>
              </a:rPr>
              <a:t>저장된 배터리 선택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92093" y="2500000"/>
            <a:ext cx="3801729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660" b="0">
                <a:solidFill>
                  <a:srgbClr val="999999"/>
                </a:solidFill>
                <a:latin typeface="Apple SD Gothic Neo"/>
              </a:rPr>
              <a:t>등록된 배터리 목록에서 선택해 이전 측정 이력을 잇습니다.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992093" y="2750000"/>
            <a:ext cx="3801729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20" b="0">
                <a:solidFill>
                  <a:srgbClr val="5A49CE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24" name="Shape 24"/>
          <p:cNvSpPr/>
          <p:nvPr/>
        </p:nvSpPr>
        <p:spPr>
          <a:xfrm>
            <a:off x="7233822" y="1520000"/>
            <a:ext cx="4201729" cy="143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Shape 25"/>
          <p:cNvSpPr/>
          <p:nvPr/>
        </p:nvSpPr>
        <p:spPr>
          <a:xfrm>
            <a:off x="7433822" y="1710000"/>
            <a:ext cx="470000" cy="470000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7433822" y="1880000"/>
            <a:ext cx="470000" cy="2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900" b="0">
                <a:solidFill>
                  <a:srgbClr val="555555"/>
                </a:solidFill>
                <a:latin typeface="Apple SD Gothic Neo"/>
              </a:rPr>
              <a:t>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33822" y="2280000"/>
            <a:ext cx="3801729" cy="1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>
                <a:solidFill>
                  <a:srgbClr val="333333"/>
                </a:solidFill>
                <a:latin typeface="Apple SD Gothic Neo"/>
              </a:rPr>
              <a:t>새 배터리 등록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33822" y="2500000"/>
            <a:ext cx="3801729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660" b="0">
                <a:solidFill>
                  <a:srgbClr val="999999"/>
                </a:solidFill>
                <a:latin typeface="Apple SD Gothic Neo"/>
              </a:rPr>
              <a:t>새 배터리를 자산으로 등록하고 battery_id(UUID)를 발급합니다.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33822" y="2750000"/>
            <a:ext cx="3801729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20" b="0">
                <a:solidFill>
                  <a:srgbClr val="5A49CE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792093" y="3220000"/>
            <a:ext cx="30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>
                <a:solidFill>
                  <a:srgbClr val="333333"/>
                </a:solidFill>
                <a:latin typeface="Apple SD Gothic Neo"/>
              </a:rPr>
              <a:t>최근 사용 배터리</a:t>
            </a:r>
          </a:p>
        </p:txBody>
      </p:sp>
      <p:sp>
        <p:nvSpPr>
          <p:cNvPr id="31" name="Shape 31"/>
          <p:cNvSpPr/>
          <p:nvPr/>
        </p:nvSpPr>
        <p:spPr>
          <a:xfrm>
            <a:off x="2792093" y="3470000"/>
            <a:ext cx="8643458" cy="148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2918873" y="3610000"/>
            <a:ext cx="15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이름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50000" y="3610000"/>
            <a:ext cx="19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battery_id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00000" y="3610000"/>
            <a:ext cx="15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target_mode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00000" y="3610000"/>
            <a:ext cx="15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마지막 측정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50000" y="3610000"/>
            <a:ext cx="9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37" name="Shape 37"/>
          <p:cNvSpPr/>
          <p:nvPr/>
        </p:nvSpPr>
        <p:spPr>
          <a:xfrm>
            <a:off x="2912093" y="3850000"/>
            <a:ext cx="8403458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8"/>
          <p:cNvSpPr txBox="1"/>
          <p:nvPr/>
        </p:nvSpPr>
        <p:spPr>
          <a:xfrm>
            <a:off x="2918873" y="388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444444"/>
                </a:solidFill>
                <a:latin typeface="Apple SD Gothic Neo"/>
              </a:rPr>
              <a:t>외부셀 #A12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750000" y="3880000"/>
            <a:ext cx="1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b1f3…9c2a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00000" y="388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555555"/>
                </a:solidFill>
                <a:latin typeface="Apple SD Gothic Neo"/>
              </a:rPr>
              <a:t>모드2 외부 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500000" y="388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06-19 14:02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50000" y="3880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1">
                <a:solidFill>
                  <a:srgbClr val="2E7D32"/>
                </a:solidFill>
                <a:latin typeface="Apple SD Gothic Neo"/>
              </a:rPr>
              <a:t>정상</a:t>
            </a:r>
          </a:p>
        </p:txBody>
      </p:sp>
      <p:sp>
        <p:nvSpPr>
          <p:cNvPr id="43" name="Shape 43"/>
          <p:cNvSpPr/>
          <p:nvPr/>
        </p:nvSpPr>
        <p:spPr>
          <a:xfrm>
            <a:off x="2912093" y="4180000"/>
            <a:ext cx="8403458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4"/>
          <p:cNvSpPr txBox="1"/>
          <p:nvPr/>
        </p:nvSpPr>
        <p:spPr>
          <a:xfrm>
            <a:off x="2918873" y="421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444444"/>
                </a:solidFill>
                <a:latin typeface="Apple SD Gothic Neo"/>
              </a:rPr>
              <a:t>보조배터리 Anker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750000" y="4210000"/>
            <a:ext cx="1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7d0a…42ef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900000" y="421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555555"/>
                </a:solidFill>
                <a:latin typeface="Apple SD Gothic Neo"/>
              </a:rPr>
              <a:t>모드3 보조배터리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500000" y="421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06-18 09:31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250000" y="4210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1">
                <a:solidFill>
                  <a:srgbClr val="B26A00"/>
                </a:solidFill>
                <a:latin typeface="Apple SD Gothic Neo"/>
              </a:rPr>
              <a:t>주의</a:t>
            </a:r>
          </a:p>
        </p:txBody>
      </p:sp>
      <p:sp>
        <p:nvSpPr>
          <p:cNvPr id="49" name="Shape 49"/>
          <p:cNvSpPr/>
          <p:nvPr/>
        </p:nvSpPr>
        <p:spPr>
          <a:xfrm>
            <a:off x="2912093" y="4510000"/>
            <a:ext cx="8403458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50"/>
          <p:cNvSpPr txBox="1"/>
          <p:nvPr/>
        </p:nvSpPr>
        <p:spPr>
          <a:xfrm>
            <a:off x="2918873" y="454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444444"/>
                </a:solidFill>
                <a:latin typeface="Apple SD Gothic Neo"/>
              </a:rPr>
              <a:t>내장 RPi-01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750000" y="4540000"/>
            <a:ext cx="1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3c9e…0b77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900000" y="454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555555"/>
                </a:solidFill>
                <a:latin typeface="Apple SD Gothic Neo"/>
              </a:rPr>
              <a:t>모드1 내장배터리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500000" y="454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06-15 17:50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250000" y="4540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1">
                <a:solidFill>
                  <a:srgbClr val="2E7D32"/>
                </a:solidFill>
                <a:latin typeface="Apple SD Gothic Neo"/>
              </a:rPr>
              <a:t>정상</a:t>
            </a:r>
          </a:p>
        </p:txBody>
      </p:sp>
      <p:sp>
        <p:nvSpPr>
          <p:cNvPr id="55" name="Dim Overlay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Popup Card"/>
          <p:cNvSpPr/>
          <p:nvPr/>
        </p:nvSpPr>
        <p:spPr>
          <a:xfrm>
            <a:off x="3396000" y="1670000"/>
            <a:ext cx="5400000" cy="4280000"/>
          </a:xfrm>
          <a:prstGeom prst="roundRect">
            <a:avLst>
              <a:gd name="adj" fmla="val 22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>
            <a:outerShdw blurRad="90000" dist="381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7"/>
          <p:cNvSpPr txBox="1"/>
          <p:nvPr/>
        </p:nvSpPr>
        <p:spPr>
          <a:xfrm>
            <a:off x="3656000" y="1900000"/>
            <a:ext cx="4880000" cy="19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939" b="1">
                <a:solidFill>
                  <a:srgbClr val="333333"/>
                </a:solidFill>
                <a:latin typeface="Apple SD Gothic Neo"/>
              </a:rPr>
              <a:t>새 배터리 등록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656000" y="2140000"/>
            <a:ext cx="4880000" cy="2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640" b="0">
                <a:solidFill>
                  <a:srgbClr val="999999"/>
                </a:solidFill>
                <a:latin typeface="Apple SD Gothic Neo"/>
              </a:rPr>
              <a:t>새 배터리를 자산으로 등록합니다. 등록 시 battery_id(UUID)가 자동 발급됩니다.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656000" y="2395728"/>
            <a:ext cx="488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1">
                <a:solidFill>
                  <a:srgbClr val="555555"/>
                </a:solidFill>
                <a:latin typeface="Apple SD Gothic Neo"/>
              </a:rPr>
              <a:t>배터리 이름</a:t>
            </a:r>
          </a:p>
        </p:txBody>
      </p:sp>
      <p:sp>
        <p:nvSpPr>
          <p:cNvPr id="60" name="Shape 60"/>
          <p:cNvSpPr/>
          <p:nvPr/>
        </p:nvSpPr>
        <p:spPr>
          <a:xfrm>
            <a:off x="3656000" y="2569464"/>
            <a:ext cx="4880000" cy="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1"/>
          <p:cNvSpPr txBox="1"/>
          <p:nvPr/>
        </p:nvSpPr>
        <p:spPr>
          <a:xfrm>
            <a:off x="3786000" y="2569464"/>
            <a:ext cx="462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969696"/>
                </a:solidFill>
                <a:latin typeface="Apple SD Gothic Neo"/>
              </a:rPr>
              <a:t>예: 외부셀 #A13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656000" y="3419856"/>
            <a:ext cx="488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1">
                <a:solidFill>
                  <a:srgbClr val="555555"/>
                </a:solidFill>
                <a:latin typeface="Apple SD Gothic Neo"/>
              </a:rPr>
              <a:t>측정 모드 (target_mode 고정)</a:t>
            </a:r>
          </a:p>
        </p:txBody>
      </p:sp>
      <p:sp>
        <p:nvSpPr>
          <p:cNvPr id="63" name="Shape 63"/>
          <p:cNvSpPr/>
          <p:nvPr/>
        </p:nvSpPr>
        <p:spPr>
          <a:xfrm>
            <a:off x="3656000" y="3593592"/>
            <a:ext cx="1546666" cy="30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4"/>
          <p:cNvSpPr txBox="1"/>
          <p:nvPr/>
        </p:nvSpPr>
        <p:spPr>
          <a:xfrm>
            <a:off x="3656000" y="3593592"/>
            <a:ext cx="1546666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660" b="0">
                <a:solidFill>
                  <a:srgbClr val="555555"/>
                </a:solidFill>
                <a:latin typeface="Apple SD Gothic Neo"/>
              </a:rPr>
              <a:t>모드1 내장배터리</a:t>
            </a:r>
          </a:p>
        </p:txBody>
      </p:sp>
      <p:sp>
        <p:nvSpPr>
          <p:cNvPr id="65" name="Shape 65"/>
          <p:cNvSpPr/>
          <p:nvPr/>
        </p:nvSpPr>
        <p:spPr>
          <a:xfrm>
            <a:off x="5322666" y="3593592"/>
            <a:ext cx="1546666" cy="300000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6"/>
          <p:cNvSpPr txBox="1"/>
          <p:nvPr/>
        </p:nvSpPr>
        <p:spPr>
          <a:xfrm>
            <a:off x="5322666" y="3593592"/>
            <a:ext cx="1546666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660" b="0">
                <a:solidFill>
                  <a:srgbClr val="FFFFFF"/>
                </a:solidFill>
                <a:latin typeface="Apple SD Gothic Neo"/>
              </a:rPr>
              <a:t>모드2 외부 셀</a:t>
            </a:r>
          </a:p>
        </p:txBody>
      </p:sp>
      <p:sp>
        <p:nvSpPr>
          <p:cNvPr id="67" name="Shape 67"/>
          <p:cNvSpPr/>
          <p:nvPr/>
        </p:nvSpPr>
        <p:spPr>
          <a:xfrm>
            <a:off x="6989332" y="3593592"/>
            <a:ext cx="1546666" cy="30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8"/>
          <p:cNvSpPr txBox="1"/>
          <p:nvPr/>
        </p:nvSpPr>
        <p:spPr>
          <a:xfrm>
            <a:off x="6989332" y="3593592"/>
            <a:ext cx="1546666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660" b="0">
                <a:solidFill>
                  <a:srgbClr val="555555"/>
                </a:solidFill>
                <a:latin typeface="Apple SD Gothic Neo"/>
              </a:rPr>
              <a:t>모드3 보조배터리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656000" y="4480560"/>
            <a:ext cx="488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1">
                <a:solidFill>
                  <a:srgbClr val="555555"/>
                </a:solidFill>
                <a:latin typeface="Apple SD Gothic Neo"/>
              </a:rPr>
              <a:t>모델명 (선택)</a:t>
            </a:r>
          </a:p>
        </p:txBody>
      </p:sp>
      <p:sp>
        <p:nvSpPr>
          <p:cNvPr id="70" name="Shape 70"/>
          <p:cNvSpPr/>
          <p:nvPr/>
        </p:nvSpPr>
        <p:spPr>
          <a:xfrm>
            <a:off x="3656000" y="4654296"/>
            <a:ext cx="4880000" cy="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1"/>
          <p:cNvSpPr txBox="1"/>
          <p:nvPr/>
        </p:nvSpPr>
        <p:spPr>
          <a:xfrm>
            <a:off x="3786000" y="4654296"/>
            <a:ext cx="462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969696"/>
                </a:solidFill>
                <a:latin typeface="Apple SD Gothic Neo"/>
              </a:rPr>
              <a:t>예: NCR18650 / LP803040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656000" y="5029200"/>
            <a:ext cx="4880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620" b="0">
                <a:solidFill>
                  <a:srgbClr val="5A49CE"/>
                </a:solidFill>
                <a:latin typeface="Apple SD Gothic Neo"/>
              </a:rPr>
              <a:t>ⓘ battery_id는 등록 시 자동 발급되어 재연결 시 이전 이력 매칭에 사용됩니다.</a:t>
            </a:r>
          </a:p>
          <a:p>
            <a:pPr algn="l"/>
            <a:r>
              <a:rPr lang="ko-KR" altLang="en-US" sz="620" b="0">
                <a:solidFill>
                  <a:srgbClr val="5A49CE"/>
                </a:solidFill>
                <a:latin typeface="Apple SD Gothic Neo"/>
              </a:rPr>
              <a:t>ⓘ 배터리 종류·직렬 셀 수는 전압 임계값 해석과 AI 이상탐지 추정의 기준이 됩니다.</a:t>
            </a:r>
          </a:p>
        </p:txBody>
      </p:sp>
      <p:sp>
        <p:nvSpPr>
          <p:cNvPr id="73" name="Shape 73"/>
          <p:cNvSpPr/>
          <p:nvPr/>
        </p:nvSpPr>
        <p:spPr>
          <a:xfrm>
            <a:off x="7376000" y="5486400"/>
            <a:ext cx="520000" cy="3000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4"/>
          <p:cNvSpPr txBox="1"/>
          <p:nvPr/>
        </p:nvSpPr>
        <p:spPr>
          <a:xfrm>
            <a:off x="7376000" y="5486400"/>
            <a:ext cx="52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720" b="0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  <p:sp>
        <p:nvSpPr>
          <p:cNvPr id="75" name="Shape 75"/>
          <p:cNvSpPr/>
          <p:nvPr/>
        </p:nvSpPr>
        <p:spPr>
          <a:xfrm>
            <a:off x="8016000" y="5486400"/>
            <a:ext cx="520000" cy="300000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6"/>
          <p:cNvSpPr txBox="1"/>
          <p:nvPr/>
        </p:nvSpPr>
        <p:spPr>
          <a:xfrm>
            <a:off x="8016000" y="5486400"/>
            <a:ext cx="52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720" b="0">
                <a:solidFill>
                  <a:srgbClr val="FFFFFF"/>
                </a:solidFill>
                <a:latin typeface="Apple SD Gothic Neo"/>
              </a:rPr>
              <a:t>등록</a:t>
            </a:r>
          </a:p>
        </p:txBody>
      </p:sp>
      <p:sp>
        <p:nvSpPr>
          <p:cNvPr id="77" name="TextBox 59"/>
          <p:cNvSpPr txBox="1"/>
          <p:nvPr/>
        </p:nvSpPr>
        <p:spPr>
          <a:xfrm>
            <a:off x="3656000" y="2889504"/>
            <a:ext cx="488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1">
                <a:solidFill>
                  <a:srgbClr val="555555"/>
                </a:solidFill>
                <a:latin typeface="Apple SD Gothic Neo"/>
              </a:rPr>
              <a:t>배터리 종류</a:t>
            </a:r>
          </a:p>
        </p:txBody>
      </p:sp>
      <p:sp>
        <p:nvSpPr>
          <p:cNvPr id="78" name="Shape 63"/>
          <p:cNvSpPr/>
          <p:nvPr/>
        </p:nvSpPr>
        <p:spPr>
          <a:xfrm>
            <a:off x="3655771" y="3063240"/>
            <a:ext cx="2377440" cy="30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64"/>
          <p:cNvSpPr txBox="1"/>
          <p:nvPr/>
        </p:nvSpPr>
        <p:spPr>
          <a:xfrm>
            <a:off x="3655771" y="3063240"/>
            <a:ext cx="237744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660" b="0">
                <a:solidFill>
                  <a:srgbClr val="555555"/>
                </a:solidFill>
                <a:latin typeface="Apple SD Gothic Neo"/>
              </a:rPr>
              <a:t>리튬이온</a:t>
            </a:r>
          </a:p>
        </p:txBody>
      </p:sp>
      <p:sp>
        <p:nvSpPr>
          <p:cNvPr id="80" name="Shape 63"/>
          <p:cNvSpPr/>
          <p:nvPr/>
        </p:nvSpPr>
        <p:spPr>
          <a:xfrm>
            <a:off x="6158484" y="3063240"/>
            <a:ext cx="2377440" cy="30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64"/>
          <p:cNvSpPr txBox="1"/>
          <p:nvPr/>
        </p:nvSpPr>
        <p:spPr>
          <a:xfrm>
            <a:off x="6158484" y="3063240"/>
            <a:ext cx="237744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660" b="0">
                <a:solidFill>
                  <a:srgbClr val="555555"/>
                </a:solidFill>
                <a:latin typeface="Apple SD Gothic Neo"/>
              </a:rPr>
              <a:t>리튬폴리머</a:t>
            </a:r>
          </a:p>
        </p:txBody>
      </p:sp>
      <p:sp>
        <p:nvSpPr>
          <p:cNvPr id="82" name="TextBox 59"/>
          <p:cNvSpPr txBox="1"/>
          <p:nvPr/>
        </p:nvSpPr>
        <p:spPr>
          <a:xfrm>
            <a:off x="3656000" y="3950208"/>
            <a:ext cx="488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1">
                <a:solidFill>
                  <a:srgbClr val="555555"/>
                </a:solidFill>
                <a:latin typeface="Apple SD Gothic Neo"/>
              </a:rPr>
              <a:t>직렬 셀 수 (S, 선택)</a:t>
            </a:r>
          </a:p>
        </p:txBody>
      </p:sp>
      <p:sp>
        <p:nvSpPr>
          <p:cNvPr id="83" name="Shape 60"/>
          <p:cNvSpPr/>
          <p:nvPr/>
        </p:nvSpPr>
        <p:spPr>
          <a:xfrm>
            <a:off x="3655771" y="4123944"/>
            <a:ext cx="2377440" cy="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61"/>
          <p:cNvSpPr txBox="1"/>
          <p:nvPr/>
        </p:nvSpPr>
        <p:spPr>
          <a:xfrm>
            <a:off x="3785615" y="4123944"/>
            <a:ext cx="214884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969696"/>
                </a:solidFill>
                <a:latin typeface="Apple SD Gothic Neo"/>
              </a:rPr>
              <a:t>예: 4S</a:t>
            </a:r>
          </a:p>
        </p:txBody>
      </p:sp>
      <p:sp>
        <p:nvSpPr>
          <p:cNvPr id="970" name="메뉴-설정">
            <a:hlinkClick r:id="rId6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92093" y="961069"/>
            <a:ext cx="3000000" cy="1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939" b="1">
                <a:solidFill>
                  <a:srgbClr val="333333"/>
                </a:solidFill>
                <a:latin typeface="Apple SD Gothic Neo"/>
              </a:rPr>
              <a:t>배터리 선택/등록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792093" y="1180000"/>
            <a:ext cx="8643458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704" b="0">
                <a:solidFill>
                  <a:srgbClr val="999999"/>
                </a:solidFill>
                <a:latin typeface="Apple SD Gothic Neo"/>
              </a:rPr>
              <a:t>측정할 배터리를 선택하거나 새로 등록하세요. 저장된 배터리를 선택하면 이전 측정 이력과 target_mode가 자동으로 연결됩니다.</a:t>
            </a:r>
          </a:p>
        </p:txBody>
      </p:sp>
      <p:sp>
        <p:nvSpPr>
          <p:cNvPr id="18" name="Shape 18"/>
          <p:cNvSpPr/>
          <p:nvPr/>
        </p:nvSpPr>
        <p:spPr>
          <a:xfrm>
            <a:off x="2792093" y="1520000"/>
            <a:ext cx="4201729" cy="143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hape 19"/>
          <p:cNvSpPr/>
          <p:nvPr/>
        </p:nvSpPr>
        <p:spPr>
          <a:xfrm>
            <a:off x="2992093" y="1710000"/>
            <a:ext cx="470000" cy="470000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2992093" y="1880000"/>
            <a:ext cx="470000" cy="2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900" b="0">
                <a:solidFill>
                  <a:srgbClr val="555555"/>
                </a:solidFill>
                <a:latin typeface="Apple SD Gothic Neo"/>
              </a:rPr>
              <a:t>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92093" y="2280000"/>
            <a:ext cx="3801729" cy="1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>
                <a:solidFill>
                  <a:srgbClr val="333333"/>
                </a:solidFill>
                <a:latin typeface="Apple SD Gothic Neo"/>
              </a:rPr>
              <a:t>저장된 배터리 선택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92093" y="2500000"/>
            <a:ext cx="3801729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660" b="0">
                <a:solidFill>
                  <a:srgbClr val="999999"/>
                </a:solidFill>
                <a:latin typeface="Apple SD Gothic Neo"/>
              </a:rPr>
              <a:t>등록된 배터리 목록에서 선택해 이전 측정 이력을 잇습니다.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992093" y="2750000"/>
            <a:ext cx="3801729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20" b="0">
                <a:solidFill>
                  <a:srgbClr val="5A49CE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24" name="Shape 24"/>
          <p:cNvSpPr/>
          <p:nvPr/>
        </p:nvSpPr>
        <p:spPr>
          <a:xfrm>
            <a:off x="7233822" y="1520000"/>
            <a:ext cx="4201729" cy="143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Shape 25"/>
          <p:cNvSpPr/>
          <p:nvPr/>
        </p:nvSpPr>
        <p:spPr>
          <a:xfrm>
            <a:off x="7433822" y="1710000"/>
            <a:ext cx="470000" cy="470000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7433822" y="1880000"/>
            <a:ext cx="470000" cy="2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900" b="0">
                <a:solidFill>
                  <a:srgbClr val="555555"/>
                </a:solidFill>
                <a:latin typeface="Apple SD Gothic Neo"/>
              </a:rPr>
              <a:t>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33822" y="2280000"/>
            <a:ext cx="3801729" cy="1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>
                <a:solidFill>
                  <a:srgbClr val="333333"/>
                </a:solidFill>
                <a:latin typeface="Apple SD Gothic Neo"/>
              </a:rPr>
              <a:t>새 배터리 등록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33822" y="2500000"/>
            <a:ext cx="3801729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660" b="0">
                <a:solidFill>
                  <a:srgbClr val="999999"/>
                </a:solidFill>
                <a:latin typeface="Apple SD Gothic Neo"/>
              </a:rPr>
              <a:t>새 배터리를 자산으로 등록하고 battery_id(UUID)를 발급합니다.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33822" y="2750000"/>
            <a:ext cx="3801729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20" b="0">
                <a:solidFill>
                  <a:srgbClr val="5A49CE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792093" y="3220000"/>
            <a:ext cx="30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>
                <a:solidFill>
                  <a:srgbClr val="333333"/>
                </a:solidFill>
                <a:latin typeface="Apple SD Gothic Neo"/>
              </a:rPr>
              <a:t>최근 사용 배터리</a:t>
            </a:r>
          </a:p>
        </p:txBody>
      </p:sp>
      <p:sp>
        <p:nvSpPr>
          <p:cNvPr id="31" name="Shape 31"/>
          <p:cNvSpPr/>
          <p:nvPr/>
        </p:nvSpPr>
        <p:spPr>
          <a:xfrm>
            <a:off x="2792093" y="3470000"/>
            <a:ext cx="8643458" cy="148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2918873" y="3610000"/>
            <a:ext cx="15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이름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50000" y="3610000"/>
            <a:ext cx="19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battery_id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00000" y="3610000"/>
            <a:ext cx="15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target_mode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00000" y="3610000"/>
            <a:ext cx="15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마지막 측정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50000" y="3610000"/>
            <a:ext cx="9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37" name="Shape 37"/>
          <p:cNvSpPr/>
          <p:nvPr/>
        </p:nvSpPr>
        <p:spPr>
          <a:xfrm>
            <a:off x="2912093" y="3850000"/>
            <a:ext cx="8403458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8"/>
          <p:cNvSpPr txBox="1"/>
          <p:nvPr/>
        </p:nvSpPr>
        <p:spPr>
          <a:xfrm>
            <a:off x="2918873" y="388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444444"/>
                </a:solidFill>
                <a:latin typeface="Apple SD Gothic Neo"/>
              </a:rPr>
              <a:t>외부셀 #A12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750000" y="3880000"/>
            <a:ext cx="1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b1f3…9c2a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00000" y="388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555555"/>
                </a:solidFill>
                <a:latin typeface="Apple SD Gothic Neo"/>
              </a:rPr>
              <a:t>모드2 외부 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500000" y="388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06-19 14:02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50000" y="3880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1">
                <a:solidFill>
                  <a:srgbClr val="2E7D32"/>
                </a:solidFill>
                <a:latin typeface="Apple SD Gothic Neo"/>
              </a:rPr>
              <a:t>정상</a:t>
            </a:r>
          </a:p>
        </p:txBody>
      </p:sp>
      <p:sp>
        <p:nvSpPr>
          <p:cNvPr id="43" name="Shape 43"/>
          <p:cNvSpPr/>
          <p:nvPr/>
        </p:nvSpPr>
        <p:spPr>
          <a:xfrm>
            <a:off x="2912093" y="4180000"/>
            <a:ext cx="8403458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4"/>
          <p:cNvSpPr txBox="1"/>
          <p:nvPr/>
        </p:nvSpPr>
        <p:spPr>
          <a:xfrm>
            <a:off x="2918873" y="421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444444"/>
                </a:solidFill>
                <a:latin typeface="Apple SD Gothic Neo"/>
              </a:rPr>
              <a:t>보조배터리 Anker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750000" y="4210000"/>
            <a:ext cx="1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7d0a…42ef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900000" y="421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555555"/>
                </a:solidFill>
                <a:latin typeface="Apple SD Gothic Neo"/>
              </a:rPr>
              <a:t>모드3 보조배터리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500000" y="421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06-18 09:31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250000" y="4210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1">
                <a:solidFill>
                  <a:srgbClr val="B26A00"/>
                </a:solidFill>
                <a:latin typeface="Apple SD Gothic Neo"/>
              </a:rPr>
              <a:t>주의</a:t>
            </a:r>
          </a:p>
        </p:txBody>
      </p:sp>
      <p:sp>
        <p:nvSpPr>
          <p:cNvPr id="49" name="Shape 49"/>
          <p:cNvSpPr/>
          <p:nvPr/>
        </p:nvSpPr>
        <p:spPr>
          <a:xfrm>
            <a:off x="2912093" y="4510000"/>
            <a:ext cx="8403458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50"/>
          <p:cNvSpPr txBox="1"/>
          <p:nvPr/>
        </p:nvSpPr>
        <p:spPr>
          <a:xfrm>
            <a:off x="2918873" y="454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444444"/>
                </a:solidFill>
                <a:latin typeface="Apple SD Gothic Neo"/>
              </a:rPr>
              <a:t>내장 RPi-01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750000" y="4540000"/>
            <a:ext cx="1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3c9e…0b77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900000" y="454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555555"/>
                </a:solidFill>
                <a:latin typeface="Apple SD Gothic Neo"/>
              </a:rPr>
              <a:t>모드1 내장배터리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500000" y="454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06-15 17:50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250000" y="4540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1">
                <a:solidFill>
                  <a:srgbClr val="2E7D32"/>
                </a:solidFill>
                <a:latin typeface="Apple SD Gothic Neo"/>
              </a:rPr>
              <a:t>정상</a:t>
            </a:r>
          </a:p>
        </p:txBody>
      </p:sp>
      <p:sp>
        <p:nvSpPr>
          <p:cNvPr id="55" name="Dim Overlay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Popup Card"/>
          <p:cNvSpPr/>
          <p:nvPr/>
        </p:nvSpPr>
        <p:spPr>
          <a:xfrm>
            <a:off x="4064000" y="2540000"/>
            <a:ext cx="4064000" cy="2540000"/>
          </a:xfrm>
          <a:prstGeom prst="roundRect">
            <a:avLst>
              <a:gd name="adj" fmla="val 22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>
            <a:outerShdw blurRad="90000" dist="381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0" name="메뉴-설정">
            <a:hlinkClick r:id="rId6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901" name="Spinner Circle"/>
          <p:cNvSpPr>
            <a:spLocks noGrp="1"/>
          </p:cNvSpPr>
          <p:nvPr/>
        </p:nvSpPr>
        <p:spPr>
          <a:xfrm>
            <a:off x="5791200" y="3365500"/>
            <a:ext cx="609600" cy="609600"/>
          </a:xfrm>
          <a:prstGeom prst="ellipse">
            <a:avLst/>
          </a:prstGeom>
          <a:solidFill>
            <a:srgbClr val="E8E8E8"/>
          </a:solidFill>
          <a:ln w="19050">
            <a:solidFill>
              <a:srgbClr val="CCC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2" name="Spinner Arc"/>
          <p:cNvSpPr>
            <a:spLocks noGrp="1"/>
          </p:cNvSpPr>
          <p:nvPr/>
        </p:nvSpPr>
        <p:spPr>
          <a:xfrm>
            <a:off x="5791200" y="3365500"/>
            <a:ext cx="609600" cy="609600"/>
          </a:xfrm>
          <a:prstGeom prst="ellipse">
            <a:avLst/>
          </a:prstGeom>
          <a:noFill/>
          <a:ln w="38100">
            <a:solidFill>
              <a:srgbClr val="1A1A2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3" name="Loading Title"/>
          <p:cNvSpPr txBox="1">
            <a:spLocks noGrp="1"/>
          </p:cNvSpPr>
          <p:nvPr/>
        </p:nvSpPr>
        <p:spPr>
          <a:xfrm>
            <a:off x="4064000" y="2667000"/>
            <a:ext cx="4064000" cy="381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600" b="1" dirty="0">
                <a:solidFill>
                  <a:srgbClr val="1A1A2E"/>
                </a:solidFill>
              </a:rPr>
              <a:t>등록 중</a:t>
            </a:r>
          </a:p>
        </p:txBody>
      </p:sp>
      <p:sp>
        <p:nvSpPr>
          <p:cNvPr id="904" name="Loading Sub"/>
          <p:cNvSpPr txBox="1">
            <a:spLocks noGrp="1"/>
          </p:cNvSpPr>
          <p:nvPr/>
        </p:nvSpPr>
        <p:spPr>
          <a:xfrm>
            <a:off x="4064000" y="4064000"/>
            <a:ext cx="4064000" cy="304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200" dirty="0">
                <a:solidFill>
                  <a:srgbClr val="666666"/>
                </a:solidFill>
              </a:rPr>
              <a:t>배터리를 등록하고 있습니다. 잠시만 기다려주세요.</a:t>
            </a:r>
          </a:p>
        </p:txBody>
      </p:sp>
      <p:sp>
        <p:nvSpPr>
          <p:cNvPr id="905" name="Progress BG"/>
          <p:cNvSpPr>
            <a:spLocks noGrp="1"/>
          </p:cNvSpPr>
          <p:nvPr/>
        </p:nvSpPr>
        <p:spPr>
          <a:xfrm>
            <a:off x="4521200" y="4546600"/>
            <a:ext cx="3149600" cy="101600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6" name="Progress Fill"/>
          <p:cNvSpPr>
            <a:spLocks noGrp="1"/>
          </p:cNvSpPr>
          <p:nvPr/>
        </p:nvSpPr>
        <p:spPr>
          <a:xfrm>
            <a:off x="4521200" y="4546600"/>
            <a:ext cx="1892300" cy="10160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2694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483" y="2124468"/>
            <a:ext cx="271040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관리자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92093" y="961069"/>
            <a:ext cx="3000000" cy="1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939" b="1">
                <a:solidFill>
                  <a:srgbClr val="333333"/>
                </a:solidFill>
                <a:latin typeface="Apple SD Gothic Neo"/>
              </a:rPr>
              <a:t>배터리 선택/등록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792093" y="1180000"/>
            <a:ext cx="8643458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704" b="0">
                <a:solidFill>
                  <a:srgbClr val="999999"/>
                </a:solidFill>
                <a:latin typeface="Apple SD Gothic Neo"/>
              </a:rPr>
              <a:t>측정할 배터리를 선택하거나 새로 등록하세요. 저장된 배터리를 선택하면 이전 측정 이력과 target_mode가 자동으로 연결됩니다.</a:t>
            </a:r>
          </a:p>
        </p:txBody>
      </p:sp>
      <p:sp>
        <p:nvSpPr>
          <p:cNvPr id="18" name="Shape 18"/>
          <p:cNvSpPr/>
          <p:nvPr/>
        </p:nvSpPr>
        <p:spPr>
          <a:xfrm>
            <a:off x="2792093" y="1520000"/>
            <a:ext cx="4201729" cy="143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hape 19"/>
          <p:cNvSpPr/>
          <p:nvPr/>
        </p:nvSpPr>
        <p:spPr>
          <a:xfrm>
            <a:off x="2992093" y="1710000"/>
            <a:ext cx="470000" cy="470000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2992093" y="1880000"/>
            <a:ext cx="470000" cy="2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900" b="0">
                <a:solidFill>
                  <a:srgbClr val="555555"/>
                </a:solidFill>
                <a:latin typeface="Apple SD Gothic Neo"/>
              </a:rPr>
              <a:t>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92093" y="2280000"/>
            <a:ext cx="3801729" cy="1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>
                <a:solidFill>
                  <a:srgbClr val="333333"/>
                </a:solidFill>
                <a:latin typeface="Apple SD Gothic Neo"/>
              </a:rPr>
              <a:t>저장된 배터리 선택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92093" y="2500000"/>
            <a:ext cx="3801729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660" b="0">
                <a:solidFill>
                  <a:srgbClr val="999999"/>
                </a:solidFill>
                <a:latin typeface="Apple SD Gothic Neo"/>
              </a:rPr>
              <a:t>등록된 배터리 목록에서 선택해 이전 측정 이력을 잇습니다.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992093" y="2750000"/>
            <a:ext cx="3801729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20" b="0">
                <a:solidFill>
                  <a:srgbClr val="5A49CE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24" name="Shape 24"/>
          <p:cNvSpPr/>
          <p:nvPr/>
        </p:nvSpPr>
        <p:spPr>
          <a:xfrm>
            <a:off x="7233822" y="1520000"/>
            <a:ext cx="4201729" cy="143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Shape 25"/>
          <p:cNvSpPr/>
          <p:nvPr/>
        </p:nvSpPr>
        <p:spPr>
          <a:xfrm>
            <a:off x="7433822" y="1710000"/>
            <a:ext cx="470000" cy="470000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7433822" y="1880000"/>
            <a:ext cx="470000" cy="2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900" b="0">
                <a:solidFill>
                  <a:srgbClr val="555555"/>
                </a:solidFill>
                <a:latin typeface="Apple SD Gothic Neo"/>
              </a:rPr>
              <a:t>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33822" y="2280000"/>
            <a:ext cx="3801729" cy="1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>
                <a:solidFill>
                  <a:srgbClr val="333333"/>
                </a:solidFill>
                <a:latin typeface="Apple SD Gothic Neo"/>
              </a:rPr>
              <a:t>새 배터리 등록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33822" y="2500000"/>
            <a:ext cx="3801729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660" b="0">
                <a:solidFill>
                  <a:srgbClr val="999999"/>
                </a:solidFill>
                <a:latin typeface="Apple SD Gothic Neo"/>
              </a:rPr>
              <a:t>새 배터리를 자산으로 등록하고 battery_id(UUID)를 발급합니다.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33822" y="2750000"/>
            <a:ext cx="3801729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20" b="0">
                <a:solidFill>
                  <a:srgbClr val="5A49CE"/>
                </a:solidFill>
                <a:latin typeface="Apple SD Gothic Neo"/>
              </a:rPr>
              <a:t>▸ 팝업으로 열림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792093" y="3220000"/>
            <a:ext cx="30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>
                <a:solidFill>
                  <a:srgbClr val="333333"/>
                </a:solidFill>
                <a:latin typeface="Apple SD Gothic Neo"/>
              </a:rPr>
              <a:t>최근 사용 배터리</a:t>
            </a:r>
          </a:p>
        </p:txBody>
      </p:sp>
      <p:sp>
        <p:nvSpPr>
          <p:cNvPr id="31" name="Shape 31"/>
          <p:cNvSpPr/>
          <p:nvPr/>
        </p:nvSpPr>
        <p:spPr>
          <a:xfrm>
            <a:off x="2792093" y="3470000"/>
            <a:ext cx="8643458" cy="148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2918873" y="3610000"/>
            <a:ext cx="15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이름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50000" y="3610000"/>
            <a:ext cx="19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battery_id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00000" y="3610000"/>
            <a:ext cx="15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target_mode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00000" y="3610000"/>
            <a:ext cx="15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마지막 측정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50000" y="3610000"/>
            <a:ext cx="9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37" name="Shape 37"/>
          <p:cNvSpPr/>
          <p:nvPr/>
        </p:nvSpPr>
        <p:spPr>
          <a:xfrm>
            <a:off x="2912093" y="3850000"/>
            <a:ext cx="8403458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8"/>
          <p:cNvSpPr txBox="1"/>
          <p:nvPr/>
        </p:nvSpPr>
        <p:spPr>
          <a:xfrm>
            <a:off x="2918873" y="388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444444"/>
                </a:solidFill>
                <a:latin typeface="Apple SD Gothic Neo"/>
              </a:rPr>
              <a:t>외부셀 #A12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750000" y="3880000"/>
            <a:ext cx="1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b1f3…9c2a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00000" y="388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555555"/>
                </a:solidFill>
                <a:latin typeface="Apple SD Gothic Neo"/>
              </a:rPr>
              <a:t>모드2 외부 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500000" y="388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06-19 14:02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50000" y="3880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1">
                <a:solidFill>
                  <a:srgbClr val="2E7D32"/>
                </a:solidFill>
                <a:latin typeface="Apple SD Gothic Neo"/>
              </a:rPr>
              <a:t>정상</a:t>
            </a:r>
          </a:p>
        </p:txBody>
      </p:sp>
      <p:sp>
        <p:nvSpPr>
          <p:cNvPr id="43" name="Shape 43"/>
          <p:cNvSpPr/>
          <p:nvPr/>
        </p:nvSpPr>
        <p:spPr>
          <a:xfrm>
            <a:off x="2912093" y="4180000"/>
            <a:ext cx="8403458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4"/>
          <p:cNvSpPr txBox="1"/>
          <p:nvPr/>
        </p:nvSpPr>
        <p:spPr>
          <a:xfrm>
            <a:off x="2918873" y="421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444444"/>
                </a:solidFill>
                <a:latin typeface="Apple SD Gothic Neo"/>
              </a:rPr>
              <a:t>보조배터리 Anker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750000" y="4210000"/>
            <a:ext cx="1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7d0a…42ef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900000" y="421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555555"/>
                </a:solidFill>
                <a:latin typeface="Apple SD Gothic Neo"/>
              </a:rPr>
              <a:t>모드3 보조배터리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500000" y="421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06-18 09:31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250000" y="4210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1">
                <a:solidFill>
                  <a:srgbClr val="B26A00"/>
                </a:solidFill>
                <a:latin typeface="Apple SD Gothic Neo"/>
              </a:rPr>
              <a:t>주의</a:t>
            </a:r>
          </a:p>
        </p:txBody>
      </p:sp>
      <p:sp>
        <p:nvSpPr>
          <p:cNvPr id="49" name="Shape 49"/>
          <p:cNvSpPr/>
          <p:nvPr/>
        </p:nvSpPr>
        <p:spPr>
          <a:xfrm>
            <a:off x="2912093" y="4510000"/>
            <a:ext cx="8403458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50"/>
          <p:cNvSpPr txBox="1"/>
          <p:nvPr/>
        </p:nvSpPr>
        <p:spPr>
          <a:xfrm>
            <a:off x="2918873" y="454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444444"/>
                </a:solidFill>
                <a:latin typeface="Apple SD Gothic Neo"/>
              </a:rPr>
              <a:t>내장 RPi-01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750000" y="4540000"/>
            <a:ext cx="1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3c9e…0b77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900000" y="454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555555"/>
                </a:solidFill>
                <a:latin typeface="Apple SD Gothic Neo"/>
              </a:rPr>
              <a:t>모드1 내장배터리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500000" y="4540000"/>
            <a:ext cx="15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06-15 17:50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250000" y="4540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1">
                <a:solidFill>
                  <a:srgbClr val="2E7D32"/>
                </a:solidFill>
                <a:latin typeface="Apple SD Gothic Neo"/>
              </a:rPr>
              <a:t>정상</a:t>
            </a:r>
          </a:p>
        </p:txBody>
      </p:sp>
      <p:sp>
        <p:nvSpPr>
          <p:cNvPr id="55" name="Dim Overlay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Popup Card"/>
          <p:cNvSpPr/>
          <p:nvPr/>
        </p:nvSpPr>
        <p:spPr>
          <a:xfrm>
            <a:off x="2996000" y="1560000"/>
            <a:ext cx="6200000" cy="4500000"/>
          </a:xfrm>
          <a:prstGeom prst="roundRect">
            <a:avLst>
              <a:gd name="adj" fmla="val 22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>
            <a:outerShdw blurRad="90000" dist="38100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7"/>
          <p:cNvSpPr txBox="1"/>
          <p:nvPr/>
        </p:nvSpPr>
        <p:spPr>
          <a:xfrm>
            <a:off x="3256000" y="1790000"/>
            <a:ext cx="5680000" cy="19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939" b="1">
                <a:solidFill>
                  <a:srgbClr val="333333"/>
                </a:solidFill>
                <a:latin typeface="Apple SD Gothic Neo"/>
              </a:rPr>
              <a:t>저장된 배터리 선택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256000" y="2030000"/>
            <a:ext cx="5680000" cy="2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altLang="en-US" sz="640" b="0">
                <a:solidFill>
                  <a:srgbClr val="999999"/>
                </a:solidFill>
                <a:latin typeface="Apple SD Gothic Neo"/>
              </a:rPr>
              <a:t>등록된 배터리를 선택하면 이전 측정 이력과 target_mode가 자동으로 연결됩니다.</a:t>
            </a:r>
          </a:p>
        </p:txBody>
      </p:sp>
      <p:sp>
        <p:nvSpPr>
          <p:cNvPr id="59" name="Shape 59"/>
          <p:cNvSpPr/>
          <p:nvPr/>
        </p:nvSpPr>
        <p:spPr>
          <a:xfrm>
            <a:off x="3256000" y="2320000"/>
            <a:ext cx="5680000" cy="30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60"/>
          <p:cNvSpPr txBox="1"/>
          <p:nvPr/>
        </p:nvSpPr>
        <p:spPr>
          <a:xfrm>
            <a:off x="3386000" y="2320000"/>
            <a:ext cx="542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969696"/>
                </a:solidFill>
                <a:latin typeface="Apple SD Gothic Neo"/>
              </a:rPr>
              <a:t>🔍  배터리 이름 또는 battery_id 검색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366000" y="2740000"/>
            <a:ext cx="15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이름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956000" y="2740000"/>
            <a:ext cx="17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battery_id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706000" y="2740000"/>
            <a:ext cx="14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target_mode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056000" y="2740000"/>
            <a:ext cx="88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40" b="1">
                <a:solidFill>
                  <a:srgbClr val="999999"/>
                </a:solidFill>
                <a:latin typeface="Apple SD Gothic Neo"/>
              </a:rPr>
              <a:t>마지막 측정</a:t>
            </a:r>
          </a:p>
        </p:txBody>
      </p:sp>
      <p:sp>
        <p:nvSpPr>
          <p:cNvPr id="65" name="Shape 65"/>
          <p:cNvSpPr/>
          <p:nvPr/>
        </p:nvSpPr>
        <p:spPr>
          <a:xfrm>
            <a:off x="3256000" y="2990000"/>
            <a:ext cx="5680000" cy="320000"/>
          </a:xfrm>
          <a:prstGeom prst="roundRect">
            <a:avLst>
              <a:gd name="adj" fmla="val 14000"/>
            </a:avLst>
          </a:prstGeom>
          <a:solidFill>
            <a:srgbClr val="F3F1FF"/>
          </a:solidFill>
          <a:ln w="9525">
            <a:solidFill>
              <a:srgbClr val="C7B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6"/>
          <p:cNvSpPr txBox="1"/>
          <p:nvPr/>
        </p:nvSpPr>
        <p:spPr>
          <a:xfrm>
            <a:off x="3366000" y="2990000"/>
            <a:ext cx="1500000" cy="3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1">
                <a:solidFill>
                  <a:srgbClr val="333333"/>
                </a:solidFill>
                <a:latin typeface="Apple SD Gothic Neo"/>
              </a:rPr>
              <a:t>외부셀 #A12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956000" y="2990000"/>
            <a:ext cx="1700000" cy="3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b1f3…9c2a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706000" y="2990000"/>
            <a:ext cx="1400000" cy="3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555555"/>
                </a:solidFill>
                <a:latin typeface="Apple SD Gothic Neo"/>
              </a:rPr>
              <a:t>모드2 외부 셀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056000" y="2990000"/>
            <a:ext cx="900000" cy="3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06-19 14:02</a:t>
            </a:r>
          </a:p>
        </p:txBody>
      </p:sp>
      <p:sp>
        <p:nvSpPr>
          <p:cNvPr id="70" name="Shape 70"/>
          <p:cNvSpPr/>
          <p:nvPr/>
        </p:nvSpPr>
        <p:spPr>
          <a:xfrm>
            <a:off x="3256000" y="3350000"/>
            <a:ext cx="5680000" cy="32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1"/>
          <p:cNvSpPr txBox="1"/>
          <p:nvPr/>
        </p:nvSpPr>
        <p:spPr>
          <a:xfrm>
            <a:off x="3366000" y="3350000"/>
            <a:ext cx="1500000" cy="3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333333"/>
                </a:solidFill>
                <a:latin typeface="Apple SD Gothic Neo"/>
              </a:rPr>
              <a:t>보조배터리 Anker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956000" y="3350000"/>
            <a:ext cx="1700000" cy="3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7d0a…42ef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706000" y="3350000"/>
            <a:ext cx="1400000" cy="3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555555"/>
                </a:solidFill>
                <a:latin typeface="Apple SD Gothic Neo"/>
              </a:rPr>
              <a:t>모드3 보조배터리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056000" y="3350000"/>
            <a:ext cx="900000" cy="3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06-18 09:31</a:t>
            </a:r>
          </a:p>
        </p:txBody>
      </p:sp>
      <p:sp>
        <p:nvSpPr>
          <p:cNvPr id="75" name="Shape 75"/>
          <p:cNvSpPr/>
          <p:nvPr/>
        </p:nvSpPr>
        <p:spPr>
          <a:xfrm>
            <a:off x="3256000" y="3710000"/>
            <a:ext cx="5680000" cy="32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6"/>
          <p:cNvSpPr txBox="1"/>
          <p:nvPr/>
        </p:nvSpPr>
        <p:spPr>
          <a:xfrm>
            <a:off x="3366000" y="3710000"/>
            <a:ext cx="1500000" cy="3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333333"/>
                </a:solidFill>
                <a:latin typeface="Apple SD Gothic Neo"/>
              </a:rPr>
              <a:t>내장 RPi-01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956000" y="3710000"/>
            <a:ext cx="1700000" cy="3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3c9e…0b77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706000" y="3710000"/>
            <a:ext cx="1400000" cy="3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555555"/>
                </a:solidFill>
                <a:latin typeface="Apple SD Gothic Neo"/>
              </a:rPr>
              <a:t>모드1 내장배터리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8056000" y="3710000"/>
            <a:ext cx="900000" cy="3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06-15 17:50</a:t>
            </a:r>
          </a:p>
        </p:txBody>
      </p:sp>
      <p:sp>
        <p:nvSpPr>
          <p:cNvPr id="80" name="Shape 80"/>
          <p:cNvSpPr/>
          <p:nvPr/>
        </p:nvSpPr>
        <p:spPr>
          <a:xfrm>
            <a:off x="3256000" y="4070000"/>
            <a:ext cx="5680000" cy="32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1"/>
          <p:cNvSpPr txBox="1"/>
          <p:nvPr/>
        </p:nvSpPr>
        <p:spPr>
          <a:xfrm>
            <a:off x="3366000" y="4070000"/>
            <a:ext cx="1500000" cy="3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333333"/>
                </a:solidFill>
                <a:latin typeface="Apple SD Gothic Neo"/>
              </a:rPr>
              <a:t>외부셀 #A09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956000" y="4070000"/>
            <a:ext cx="1700000" cy="3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a02b…51d3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706000" y="4070000"/>
            <a:ext cx="1400000" cy="3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700" b="0">
                <a:solidFill>
                  <a:srgbClr val="555555"/>
                </a:solidFill>
                <a:latin typeface="Apple SD Gothic Neo"/>
              </a:rPr>
              <a:t>모드2 외부 셀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8056000" y="4070000"/>
            <a:ext cx="900000" cy="32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680" b="0">
                <a:solidFill>
                  <a:srgbClr val="777777"/>
                </a:solidFill>
                <a:latin typeface="Apple SD Gothic Neo"/>
              </a:rPr>
              <a:t>06-10 11:20</a:t>
            </a:r>
          </a:p>
        </p:txBody>
      </p:sp>
      <p:sp>
        <p:nvSpPr>
          <p:cNvPr id="86" name="Shape 86"/>
          <p:cNvSpPr/>
          <p:nvPr/>
        </p:nvSpPr>
        <p:spPr>
          <a:xfrm>
            <a:off x="7776000" y="5590000"/>
            <a:ext cx="520000" cy="3000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7">
            <a:hlinkClick r:id="rId6" action="ppaction://hlinksldjump"/>
          </p:cNvPr>
          <p:cNvSpPr txBox="1"/>
          <p:nvPr/>
        </p:nvSpPr>
        <p:spPr>
          <a:xfrm>
            <a:off x="7776000" y="5590000"/>
            <a:ext cx="52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720" b="0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  <p:sp>
        <p:nvSpPr>
          <p:cNvPr id="88" name="Shape 88"/>
          <p:cNvSpPr/>
          <p:nvPr/>
        </p:nvSpPr>
        <p:spPr>
          <a:xfrm>
            <a:off x="8416000" y="5590000"/>
            <a:ext cx="520000" cy="300000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9"/>
          <p:cNvSpPr txBox="1"/>
          <p:nvPr/>
        </p:nvSpPr>
        <p:spPr>
          <a:xfrm>
            <a:off x="8416000" y="5590000"/>
            <a:ext cx="520000" cy="3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720" b="0">
                <a:solidFill>
                  <a:srgbClr val="FFFFFF"/>
                </a:solidFill>
                <a:latin typeface="Apple SD Gothic Neo"/>
              </a:rPr>
              <a:t>선택</a:t>
            </a:r>
          </a:p>
        </p:txBody>
      </p:sp>
      <p:sp>
        <p:nvSpPr>
          <p:cNvPr id="90" name="메뉴-설정">
            <a:hlinkClick r:id="rId7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92093" y="1251918"/>
            <a:ext cx="8643458" cy="34305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92093" y="4102153"/>
            <a:ext cx="8643458" cy="2662394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1">
                <a:solidFill>
                  <a:srgbClr val="333333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6" name="TextBox 15">
            <a:hlinkClick r:id="rId6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18873" y="4564529"/>
            <a:ext cx="8404812" cy="1804760"/>
          </a:xfrm>
          <a:prstGeom prst="roundRect">
            <a:avLst>
              <a:gd name="adj" fmla="val 2479"/>
            </a:avLst>
          </a:prstGeom>
          <a:solidFill>
            <a:srgbClr val="E8E8E8"/>
          </a:solidFill>
          <a:ln w="9525">
            <a:solidFill>
              <a:srgbClr val="D0D0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792093" y="1714295"/>
            <a:ext cx="2026626" cy="1063419"/>
          </a:xfrm>
          <a:prstGeom prst="roundRect">
            <a:avLst>
              <a:gd name="adj" fmla="val 420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997703" y="1714295"/>
            <a:ext cx="2026626" cy="1063419"/>
          </a:xfrm>
          <a:prstGeom prst="roundRect">
            <a:avLst>
              <a:gd name="adj" fmla="val 420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203314" y="1714295"/>
            <a:ext cx="2026626" cy="1063419"/>
          </a:xfrm>
          <a:prstGeom prst="roundRect">
            <a:avLst>
              <a:gd name="adj" fmla="val 420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408925" y="1714295"/>
            <a:ext cx="2026626" cy="1063419"/>
          </a:xfrm>
          <a:prstGeom prst="roundRect">
            <a:avLst>
              <a:gd name="adj" fmla="val 420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792094" y="2897037"/>
            <a:ext cx="4232236" cy="1085792"/>
          </a:xfrm>
          <a:prstGeom prst="roundRect">
            <a:avLst>
              <a:gd name="adj" fmla="val 4121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74305" y="5407248"/>
            <a:ext cx="1093833" cy="119323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92093" y="961069"/>
            <a:ext cx="924287" cy="17152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174" b="1">
                <a:solidFill>
                  <a:srgbClr val="333333"/>
                </a:solidFill>
                <a:latin typeface="Apple SD Gothic Neo"/>
              </a:rPr>
              <a:t>실시간 대시보드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9051" y="5407248"/>
            <a:ext cx="1004341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V·I·T·SOC 복합 추세 차트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37156" y="4199103"/>
            <a:ext cx="880123" cy="27593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918873" y="6458782"/>
            <a:ext cx="374632" cy="20881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353167" y="6458782"/>
            <a:ext cx="374632" cy="20881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787461" y="6458782"/>
            <a:ext cx="374632" cy="20881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221754" y="6458782"/>
            <a:ext cx="412387" cy="20881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97141" y="1438361"/>
            <a:ext cx="2649226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ko-KR" altLang="en-US" sz="939" b="1" dirty="0">
                <a:solidFill>
                  <a:srgbClr val="333333"/>
                </a:solidFill>
                <a:latin typeface="Apple SD Gothic Neo"/>
              </a:rPr>
              <a:t>현재 측정 배터리 </a:t>
            </a:r>
            <a:r>
              <a:rPr lang="en-US" altLang="ko-KR" sz="939" b="1" dirty="0">
                <a:solidFill>
                  <a:srgbClr val="333333"/>
                </a:solidFill>
                <a:latin typeface="Apple SD Gothic Neo"/>
              </a:rPr>
              <a:t>ID: b1f3…9c2a</a:t>
            </a:r>
          </a:p>
          <a:p>
            <a:endParaRPr sz="939" b="1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918873" y="1811245"/>
            <a:ext cx="308678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전압 (V)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18873" y="2012602"/>
            <a:ext cx="596615" cy="2461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644" b="1">
                <a:solidFill>
                  <a:srgbClr val="333333"/>
                </a:solidFill>
                <a:latin typeface="Apple SD Gothic Neo"/>
              </a:rPr>
              <a:t>3.72 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18873" y="2352626"/>
            <a:ext cx="78876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정상 범위 3.0 – 4.2V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4484" y="1811245"/>
            <a:ext cx="272322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전류 (I)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4484" y="2012602"/>
            <a:ext cx="591604" cy="2461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644" b="1">
                <a:solidFill>
                  <a:srgbClr val="333333"/>
                </a:solidFill>
                <a:latin typeface="Apple SD Gothic Neo"/>
              </a:rPr>
              <a:t>12.4 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4484" y="2352626"/>
            <a:ext cx="689603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정상 범위 0 – 20A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30095" y="1811245"/>
            <a:ext cx="305066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온도 (T)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30095" y="2012602"/>
            <a:ext cx="512250" cy="2461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644" b="1">
                <a:solidFill>
                  <a:srgbClr val="333333"/>
                </a:solidFill>
                <a:latin typeface="Apple SD Gothic Neo"/>
              </a:rPr>
              <a:t>61 °C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30095" y="2352626"/>
            <a:ext cx="947476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⚠ 경고 임계값 60°C 초과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35705" y="1811245"/>
            <a:ext cx="618522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충전 상태 (SOC)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35705" y="2012602"/>
            <a:ext cx="476942" cy="2461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644" b="1">
                <a:solidFill>
                  <a:srgbClr val="333333"/>
                </a:solidFill>
                <a:latin typeface="Apple SD Gothic Neo"/>
              </a:rPr>
              <a:t>78 %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35705" y="2352626"/>
            <a:ext cx="768142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정상 범위 20 – 95%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18873" y="2993987"/>
            <a:ext cx="41296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 dirty="0" err="1">
                <a:solidFill>
                  <a:srgbClr val="333333"/>
                </a:solidFill>
                <a:latin typeface="Apple SD Gothic Neo"/>
              </a:rPr>
              <a:t>이상점수</a:t>
            </a:r>
            <a:endParaRPr sz="939" b="1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918873" y="3217718"/>
            <a:ext cx="258805" cy="2461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644" b="1">
                <a:solidFill>
                  <a:srgbClr val="333333"/>
                </a:solidFill>
                <a:latin typeface="Apple SD Gothic Neo"/>
              </a:rPr>
              <a:t>82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18873" y="3557742"/>
            <a:ext cx="1399481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 dirty="0" err="1">
                <a:solidFill>
                  <a:srgbClr val="999999"/>
                </a:solidFill>
                <a:latin typeface="Apple SD Gothic Neo"/>
              </a:rPr>
              <a:t>위험</a:t>
            </a:r>
            <a:r>
              <a:rPr sz="704" b="0" dirty="0">
                <a:solidFill>
                  <a:srgbClr val="999999"/>
                </a:solidFill>
                <a:latin typeface="Apple SD Gothic Neo"/>
              </a:rPr>
              <a:t> </a:t>
            </a:r>
            <a:r>
              <a:rPr sz="704" b="0" dirty="0" err="1">
                <a:solidFill>
                  <a:srgbClr val="999999"/>
                </a:solidFill>
                <a:latin typeface="Apple SD Gothic Neo"/>
              </a:rPr>
              <a:t>수준</a:t>
            </a:r>
            <a:r>
              <a:rPr sz="704" b="0" dirty="0">
                <a:solidFill>
                  <a:srgbClr val="999999"/>
                </a:solidFill>
                <a:latin typeface="Apple SD Gothic Neo"/>
              </a:rPr>
              <a:t> — 80 </a:t>
            </a:r>
            <a:r>
              <a:rPr sz="704" b="0" dirty="0" err="1">
                <a:solidFill>
                  <a:srgbClr val="999999"/>
                </a:solidFill>
                <a:latin typeface="Apple SD Gothic Neo"/>
              </a:rPr>
              <a:t>이상</a:t>
            </a:r>
            <a:r>
              <a:rPr sz="704" b="0" dirty="0">
                <a:solidFill>
                  <a:srgbClr val="999999"/>
                </a:solidFill>
                <a:latin typeface="Apple SD Gothic Neo"/>
              </a:rPr>
              <a:t> </a:t>
            </a:r>
            <a:r>
              <a:rPr sz="704" b="0" dirty="0" err="1">
                <a:solidFill>
                  <a:srgbClr val="999999"/>
                </a:solidFill>
                <a:latin typeface="Apple SD Gothic Neo"/>
              </a:rPr>
              <a:t>시</a:t>
            </a:r>
            <a:r>
              <a:rPr sz="704" b="0" dirty="0">
                <a:solidFill>
                  <a:srgbClr val="999999"/>
                </a:solidFill>
                <a:latin typeface="Apple SD Gothic Neo"/>
              </a:rPr>
              <a:t> </a:t>
            </a:r>
            <a:r>
              <a:rPr sz="704" b="0" dirty="0" err="1">
                <a:solidFill>
                  <a:srgbClr val="999999"/>
                </a:solidFill>
                <a:latin typeface="Apple SD Gothic Neo"/>
              </a:rPr>
              <a:t>즉각</a:t>
            </a:r>
            <a:r>
              <a:rPr sz="704" b="0" dirty="0">
                <a:solidFill>
                  <a:srgbClr val="999999"/>
                </a:solidFill>
                <a:latin typeface="Apple SD Gothic Neo"/>
              </a:rPr>
              <a:t> </a:t>
            </a:r>
            <a:r>
              <a:rPr sz="704" b="0" dirty="0" err="1">
                <a:solidFill>
                  <a:srgbClr val="999999"/>
                </a:solidFill>
                <a:latin typeface="Apple SD Gothic Neo"/>
              </a:rPr>
              <a:t>대응</a:t>
            </a:r>
            <a:r>
              <a:rPr sz="704" b="0" dirty="0">
                <a:solidFill>
                  <a:srgbClr val="999999"/>
                </a:solidFill>
                <a:latin typeface="Apple SD Gothic Neo"/>
              </a:rPr>
              <a:t> </a:t>
            </a:r>
            <a:r>
              <a:rPr sz="704" b="0" dirty="0" err="1">
                <a:solidFill>
                  <a:srgbClr val="999999"/>
                </a:solidFill>
                <a:latin typeface="Apple SD Gothic Neo"/>
              </a:rPr>
              <a:t>필요</a:t>
            </a:r>
            <a:endParaRPr sz="704" b="0" dirty="0">
              <a:solidFill>
                <a:srgbClr val="999999"/>
              </a:solidFill>
              <a:latin typeface="Apple SD Gothic Neo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918873" y="3759099"/>
            <a:ext cx="569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이상점수 분석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34758" y="3493652"/>
            <a:ext cx="569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FFFFFF"/>
                </a:solidFill>
                <a:latin typeface="Apple SD Gothic Neo"/>
              </a:rPr>
              <a:t>디바이스 관리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18873" y="4269951"/>
            <a:ext cx="979637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추세 차트 / 이력 조회</a:t>
            </a:r>
          </a:p>
        </p:txBody>
      </p:sp>
      <p:sp>
        <p:nvSpPr>
          <p:cNvPr id="62" name="TextBox 61">
            <a:hlinkClick r:id="rId7" action="ppaction://hlinksldjump"/>
          </p:cNvPr>
          <p:cNvSpPr txBox="1"/>
          <p:nvPr/>
        </p:nvSpPr>
        <p:spPr>
          <a:xfrm>
            <a:off x="4278852" y="4273680"/>
            <a:ext cx="596731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 dirty="0" err="1">
                <a:solidFill>
                  <a:srgbClr val="FFFFFF"/>
                </a:solidFill>
                <a:latin typeface="Apple SD Gothic Neo"/>
              </a:rPr>
              <a:t>전체</a:t>
            </a:r>
            <a:r>
              <a:rPr sz="822" b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sz="822" b="0" dirty="0" err="1">
                <a:solidFill>
                  <a:srgbClr val="FFFFFF"/>
                </a:solidFill>
                <a:latin typeface="Apple SD Gothic Neo"/>
              </a:rPr>
              <a:t>이력</a:t>
            </a:r>
            <a:r>
              <a:rPr sz="822" b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sz="822" b="0" dirty="0" err="1">
                <a:solidFill>
                  <a:srgbClr val="FFFFFF"/>
                </a:solidFill>
                <a:latin typeface="Apple SD Gothic Neo"/>
              </a:rPr>
              <a:t>보기</a:t>
            </a:r>
            <a:endParaRPr sz="822" b="0" dirty="0">
              <a:solidFill>
                <a:srgbClr val="FFFFFF"/>
              </a:solidFill>
              <a:latin typeface="Apple SD Gothic Neo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158976" y="4273680"/>
            <a:ext cx="488595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FFFFFF"/>
                </a:solidFill>
                <a:latin typeface="Apple SD Gothic Neo"/>
              </a:rPr>
              <a:t>AI 이상탐지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15823" y="6496070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333333"/>
                </a:solidFill>
                <a:latin typeface="Apple SD Gothic Neo"/>
              </a:rPr>
              <a:t>전압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50117" y="6496070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333333"/>
                </a:solidFill>
                <a:latin typeface="Apple SD Gothic Neo"/>
              </a:rPr>
              <a:t>전류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84411" y="6496070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333333"/>
                </a:solidFill>
                <a:latin typeface="Apple SD Gothic Neo"/>
              </a:rPr>
              <a:t>온도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18704" y="6496070"/>
            <a:ext cx="218487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333333"/>
                </a:solidFill>
                <a:latin typeface="Apple SD Gothic Neo"/>
              </a:rPr>
              <a:t>SOC</a:t>
            </a:r>
          </a:p>
        </p:txBody>
      </p:sp>
      <p:sp>
        <p:nvSpPr>
          <p:cNvPr id="17" name="Rounded Rectangle 29">
            <a:hlinkClick r:id="rId8" action="ppaction://hlinksldjump"/>
            <a:extLst>
              <a:ext uri="{FF2B5EF4-FFF2-40B4-BE49-F238E27FC236}">
                <a16:creationId xmlns:a16="http://schemas.microsoft.com/office/drawing/2014/main" id="{0B267DDE-E5AB-1319-2086-36B8FF444A2C}"/>
              </a:ext>
            </a:extLst>
          </p:cNvPr>
          <p:cNvSpPr/>
          <p:nvPr/>
        </p:nvSpPr>
        <p:spPr>
          <a:xfrm>
            <a:off x="3450117" y="2952969"/>
            <a:ext cx="905468" cy="21627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상세 보기</a:t>
            </a:r>
            <a:endParaRPr sz="800" dirty="0"/>
          </a:p>
        </p:txBody>
      </p:sp>
      <p:sp>
        <p:nvSpPr>
          <p:cNvPr id="72" name="Rounded Rectangle 22">
            <a:extLst>
              <a:ext uri="{FF2B5EF4-FFF2-40B4-BE49-F238E27FC236}">
                <a16:creationId xmlns:a16="http://schemas.microsoft.com/office/drawing/2014/main" id="{3B1AD1AA-4D16-59D6-F24E-C27324F416C0}"/>
              </a:ext>
            </a:extLst>
          </p:cNvPr>
          <p:cNvSpPr/>
          <p:nvPr/>
        </p:nvSpPr>
        <p:spPr>
          <a:xfrm>
            <a:off x="7224617" y="2894007"/>
            <a:ext cx="4232236" cy="1085792"/>
          </a:xfrm>
          <a:prstGeom prst="roundRect">
            <a:avLst>
              <a:gd name="adj" fmla="val 4121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9E60FC0-31D0-CF4C-0BBF-64FBFB9B00D3}"/>
              </a:ext>
            </a:extLst>
          </p:cNvPr>
          <p:cNvSpPr txBox="1"/>
          <p:nvPr/>
        </p:nvSpPr>
        <p:spPr>
          <a:xfrm>
            <a:off x="7351396" y="2990957"/>
            <a:ext cx="41296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939" b="1" dirty="0">
                <a:solidFill>
                  <a:srgbClr val="333333"/>
                </a:solidFill>
                <a:latin typeface="Apple SD Gothic Neo"/>
              </a:rPr>
              <a:t>경고</a:t>
            </a:r>
            <a:endParaRPr sz="939" b="1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523D3E-DC3B-4A12-C7BF-C44D53FB15D2}"/>
              </a:ext>
            </a:extLst>
          </p:cNvPr>
          <p:cNvSpPr txBox="1"/>
          <p:nvPr/>
        </p:nvSpPr>
        <p:spPr>
          <a:xfrm>
            <a:off x="7351396" y="3214688"/>
            <a:ext cx="1483075" cy="3087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latin typeface="Apple SD Gothic Neo"/>
              </a:rPr>
              <a:t>미확인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Apple SD Gothic Neo"/>
              </a:rPr>
              <a:t>3</a:t>
            </a: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latin typeface="Apple SD Gothic Neo"/>
              </a:rPr>
              <a:t>건</a:t>
            </a:r>
            <a:endParaRPr sz="1400" b="1" dirty="0">
              <a:solidFill>
                <a:schemeClr val="bg1">
                  <a:lumMod val="50000"/>
                </a:schemeClr>
              </a:solidFill>
              <a:latin typeface="Apple SD Gothic Neo"/>
            </a:endParaRPr>
          </a:p>
        </p:txBody>
      </p:sp>
      <p:sp>
        <p:nvSpPr>
          <p:cNvPr id="77" name="Rounded Rectangle 29">
            <a:hlinkClick r:id="rId9" action="ppaction://hlinksldjump"/>
            <a:extLst>
              <a:ext uri="{FF2B5EF4-FFF2-40B4-BE49-F238E27FC236}">
                <a16:creationId xmlns:a16="http://schemas.microsoft.com/office/drawing/2014/main" id="{3BBA6578-5ECB-34D3-2184-EA75092282E6}"/>
              </a:ext>
            </a:extLst>
          </p:cNvPr>
          <p:cNvSpPr/>
          <p:nvPr/>
        </p:nvSpPr>
        <p:spPr>
          <a:xfrm>
            <a:off x="7882640" y="2949939"/>
            <a:ext cx="905468" cy="21627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상세 보기</a:t>
            </a:r>
            <a:endParaRPr sz="800" dirty="0"/>
          </a:p>
        </p:txBody>
      </p:sp>
      <p:sp>
        <p:nvSpPr>
          <p:cNvPr id="970" name="메뉴-설정">
            <a:hlinkClick r:id="rId10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1467462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4"/>
            <a:ext cx="2282052" cy="290849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4" y="472590"/>
            <a:ext cx="781309" cy="13423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4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1070240" y="480048"/>
            <a:ext cx="335480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59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15" y="465133"/>
            <a:ext cx="149153" cy="14915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74631" y="461404"/>
            <a:ext cx="1879337" cy="15661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18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482" y="975984"/>
            <a:ext cx="154863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1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3" name="TextBox 12">
            <a:hlinkClick r:id="rId5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18" b="1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5" name="TextBox 14">
            <a:hlinkClick r:id="rId6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18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68587" y="1264491"/>
            <a:ext cx="2071373" cy="843027"/>
          </a:xfrm>
          <a:prstGeom prst="roundRect">
            <a:avLst>
              <a:gd name="adj" fmla="val 5281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959281" y="1264491"/>
            <a:ext cx="2071373" cy="843027"/>
          </a:xfrm>
          <a:prstGeom prst="roundRect">
            <a:avLst>
              <a:gd name="adj" fmla="val 5281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49976" y="1264491"/>
            <a:ext cx="2071373" cy="843027"/>
          </a:xfrm>
          <a:prstGeom prst="roundRect">
            <a:avLst>
              <a:gd name="adj" fmla="val 5281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340672" y="1264491"/>
            <a:ext cx="2071373" cy="843027"/>
          </a:xfrm>
          <a:prstGeom prst="roundRect">
            <a:avLst>
              <a:gd name="adj" fmla="val 5281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92093" y="957877"/>
            <a:ext cx="648702" cy="13358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4" b="1">
                <a:solidFill>
                  <a:srgbClr val="333333"/>
                </a:solidFill>
                <a:latin typeface="Apple SD Gothic Neo"/>
              </a:rPr>
              <a:t>이상점수 표시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9440" y="969009"/>
            <a:ext cx="908207" cy="11132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1" b="0">
                <a:solidFill>
                  <a:srgbClr val="999999"/>
                </a:solidFill>
                <a:latin typeface="Apple SD Gothic Neo"/>
              </a:rPr>
              <a:t>실시간 대시보드 · AI 분석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68587" y="2226261"/>
            <a:ext cx="4262067" cy="210956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149976" y="2226261"/>
            <a:ext cx="4262067" cy="2115104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149976" y="4430422"/>
            <a:ext cx="4262067" cy="2115104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95367" y="1360970"/>
            <a:ext cx="489643" cy="11132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1" b="0">
                <a:solidFill>
                  <a:srgbClr val="999999"/>
                </a:solidFill>
                <a:latin typeface="Apple SD Gothic Neo"/>
              </a:rPr>
              <a:t>현재 이상점수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95367" y="1561348"/>
            <a:ext cx="417863" cy="24490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636" b="1" dirty="0">
                <a:solidFill>
                  <a:srgbClr val="C00000"/>
                </a:solidFill>
                <a:latin typeface="Apple SD Gothic Neo"/>
              </a:rPr>
              <a:t>8</a:t>
            </a:r>
            <a:r>
              <a:rPr lang="en-US" altLang="ko-KR" sz="1636" b="1" dirty="0">
                <a:solidFill>
                  <a:srgbClr val="C00000"/>
                </a:solidFill>
                <a:latin typeface="Apple SD Gothic Neo"/>
              </a:rPr>
              <a:t>2</a:t>
            </a:r>
            <a:endParaRPr sz="1636" b="1" dirty="0">
              <a:solidFill>
                <a:srgbClr val="C00000"/>
              </a:solidFill>
              <a:latin typeface="Apple SD Gothic Neo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95367" y="1899718"/>
            <a:ext cx="541382" cy="11132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1" b="0">
                <a:solidFill>
                  <a:srgbClr val="999999"/>
                </a:solidFill>
                <a:latin typeface="Apple SD Gothic Neo"/>
              </a:rPr>
              <a:t>위험 수준: 높음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76758" y="4749543"/>
            <a:ext cx="4023422" cy="1499126"/>
          </a:xfrm>
          <a:prstGeom prst="roundRect">
            <a:avLst>
              <a:gd name="adj" fmla="val 2970"/>
            </a:avLst>
          </a:prstGeom>
          <a:solidFill>
            <a:srgbClr val="E8E8E8"/>
          </a:solidFill>
          <a:ln w="9525">
            <a:solidFill>
              <a:srgbClr val="D0D0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76758" y="4526900"/>
            <a:ext cx="1363825" cy="13358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4" b="1">
                <a:solidFill>
                  <a:srgbClr val="333333"/>
                </a:solidFill>
                <a:latin typeface="Apple SD Gothic Neo"/>
              </a:rPr>
              <a:t>이상점수 추세 (최근 24시간)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76758" y="6337726"/>
            <a:ext cx="1071227" cy="11132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1" b="0">
                <a:solidFill>
                  <a:srgbClr val="999999"/>
                </a:solidFill>
                <a:latin typeface="Apple SD Gothic Neo"/>
              </a:rPr>
              <a:t>1시간 단위 평균 이상점수 변화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39608" y="5439735"/>
            <a:ext cx="897719" cy="118743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884355" y="5439735"/>
            <a:ext cx="808227" cy="11874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59" b="0">
                <a:solidFill>
                  <a:srgbClr val="999999"/>
                </a:solidFill>
                <a:latin typeface="Apple SD Gothic Neo"/>
              </a:rPr>
              <a:t>이상점수 시계열 차트</a:t>
            </a:r>
          </a:p>
        </p:txBody>
      </p:sp>
      <p:sp>
        <p:nvSpPr>
          <p:cNvPr id="900" name="실시간대시보드로 버튼">
            <a:hlinkClick r:id="rId5" action="ppaction://hlinksldjump"/>
          </p:cNvPr>
          <p:cNvSpPr/>
          <p:nvPr/>
        </p:nvSpPr>
        <p:spPr>
          <a:xfrm>
            <a:off x="2792093" y="480048"/>
            <a:ext cx="1574800" cy="304800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22" b="0">
                <a:solidFill>
                  <a:srgbClr val="333333"/>
                </a:solidFill>
                <a:latin typeface="Apple SD Gothic Neo"/>
              </a:rPr>
              <a:t>← 실시간 대시보드로</a:t>
            </a:r>
          </a:p>
        </p:txBody>
      </p:sp>
      <p:sp>
        <p:nvSpPr>
          <p:cNvPr id="2" name="Rounded Rectangle 21">
            <a:extLst>
              <a:ext uri="{FF2B5EF4-FFF2-40B4-BE49-F238E27FC236}">
                <a16:creationId xmlns:a16="http://schemas.microsoft.com/office/drawing/2014/main" id="{A4EB073C-BE4C-6AA2-A0AB-3E2B3DFA8602}"/>
              </a:ext>
            </a:extLst>
          </p:cNvPr>
          <p:cNvSpPr/>
          <p:nvPr/>
        </p:nvSpPr>
        <p:spPr>
          <a:xfrm>
            <a:off x="2768600" y="4432300"/>
            <a:ext cx="4267200" cy="2120900"/>
          </a:xfrm>
          <a:prstGeom prst="roundRect">
            <a:avLst>
              <a:gd name="adj" fmla="val 166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F8E0C9-A668-C0B8-C18A-164AA9711B4B}"/>
              </a:ext>
            </a:extLst>
          </p:cNvPr>
          <p:cNvSpPr txBox="1"/>
          <p:nvPr/>
        </p:nvSpPr>
        <p:spPr>
          <a:xfrm>
            <a:off x="2895600" y="4508500"/>
            <a:ext cx="1614554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상태별 판정 기준 안내</a:t>
            </a:r>
          </a:p>
        </p:txBody>
      </p:sp>
      <p:sp>
        <p:nvSpPr>
          <p:cNvPr id="16" name="Rounded Rectangle 35">
            <a:extLst>
              <a:ext uri="{FF2B5EF4-FFF2-40B4-BE49-F238E27FC236}">
                <a16:creationId xmlns:a16="http://schemas.microsoft.com/office/drawing/2014/main" id="{5B99CCF5-3003-878F-D0B6-EADE9B320FB4}"/>
              </a:ext>
            </a:extLst>
          </p:cNvPr>
          <p:cNvSpPr/>
          <p:nvPr/>
        </p:nvSpPr>
        <p:spPr>
          <a:xfrm>
            <a:off x="2895600" y="4762500"/>
            <a:ext cx="4013200" cy="5080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36">
            <a:extLst>
              <a:ext uri="{FF2B5EF4-FFF2-40B4-BE49-F238E27FC236}">
                <a16:creationId xmlns:a16="http://schemas.microsoft.com/office/drawing/2014/main" id="{0B328796-8F5D-F9D0-A39A-C4123BA5F10D}"/>
              </a:ext>
            </a:extLst>
          </p:cNvPr>
          <p:cNvSpPr/>
          <p:nvPr/>
        </p:nvSpPr>
        <p:spPr>
          <a:xfrm>
            <a:off x="2895600" y="5346700"/>
            <a:ext cx="4013200" cy="5080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37">
            <a:extLst>
              <a:ext uri="{FF2B5EF4-FFF2-40B4-BE49-F238E27FC236}">
                <a16:creationId xmlns:a16="http://schemas.microsoft.com/office/drawing/2014/main" id="{AE742DE4-C2D8-60DA-2554-76666AC42062}"/>
              </a:ext>
            </a:extLst>
          </p:cNvPr>
          <p:cNvSpPr/>
          <p:nvPr/>
        </p:nvSpPr>
        <p:spPr>
          <a:xfrm>
            <a:off x="2895600" y="5930900"/>
            <a:ext cx="4013200" cy="508000"/>
          </a:xfrm>
          <a:prstGeom prst="roundRect">
            <a:avLst>
              <a:gd name="adj" fmla="val 5454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6" name="TextBox 895">
            <a:extLst>
              <a:ext uri="{FF2B5EF4-FFF2-40B4-BE49-F238E27FC236}">
                <a16:creationId xmlns:a16="http://schemas.microsoft.com/office/drawing/2014/main" id="{4454C321-AF8A-ED38-5796-721C6495F754}"/>
              </a:ext>
            </a:extLst>
          </p:cNvPr>
          <p:cNvSpPr txBox="1"/>
          <p:nvPr/>
        </p:nvSpPr>
        <p:spPr>
          <a:xfrm>
            <a:off x="3429000" y="4838700"/>
            <a:ext cx="16510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 dirty="0" err="1">
                <a:solidFill>
                  <a:srgbClr val="999999"/>
                </a:solidFill>
                <a:latin typeface="Apple SD Gothic Neo"/>
              </a:rPr>
              <a:t>이상점수</a:t>
            </a:r>
            <a:r>
              <a:rPr sz="704" b="0" dirty="0">
                <a:solidFill>
                  <a:srgbClr val="999999"/>
                </a:solidFill>
                <a:latin typeface="Apple SD Gothic Neo"/>
              </a:rPr>
              <a:t> </a:t>
            </a:r>
            <a:r>
              <a:rPr lang="en-US" sz="704" dirty="0">
                <a:solidFill>
                  <a:srgbClr val="999999"/>
                </a:solidFill>
                <a:latin typeface="Apple SD Gothic Neo"/>
              </a:rPr>
              <a:t>0</a:t>
            </a:r>
            <a:r>
              <a:rPr sz="704" b="0" dirty="0">
                <a:solidFill>
                  <a:srgbClr val="999999"/>
                </a:solidFill>
                <a:latin typeface="Apple SD Gothic Neo"/>
              </a:rPr>
              <a:t> ~ </a:t>
            </a:r>
            <a:r>
              <a:rPr lang="en-US" sz="704" dirty="0">
                <a:solidFill>
                  <a:srgbClr val="999999"/>
                </a:solidFill>
                <a:latin typeface="Apple SD Gothic Neo"/>
              </a:rPr>
              <a:t>59</a:t>
            </a:r>
            <a:endParaRPr sz="704" b="0" dirty="0">
              <a:solidFill>
                <a:srgbClr val="999999"/>
              </a:solidFill>
              <a:latin typeface="Apple SD Gothic Neo"/>
            </a:endParaRPr>
          </a:p>
        </p:txBody>
      </p:sp>
      <p:sp>
        <p:nvSpPr>
          <p:cNvPr id="897" name="TextBox 896">
            <a:extLst>
              <a:ext uri="{FF2B5EF4-FFF2-40B4-BE49-F238E27FC236}">
                <a16:creationId xmlns:a16="http://schemas.microsoft.com/office/drawing/2014/main" id="{D863BD1A-EB6E-51C1-D09B-BC75B35BACA9}"/>
              </a:ext>
            </a:extLst>
          </p:cNvPr>
          <p:cNvSpPr txBox="1"/>
          <p:nvPr/>
        </p:nvSpPr>
        <p:spPr>
          <a:xfrm>
            <a:off x="3009900" y="5054600"/>
            <a:ext cx="3860800" cy="152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04" b="0" dirty="0" err="1">
                <a:solidFill>
                  <a:srgbClr val="999999"/>
                </a:solidFill>
                <a:latin typeface="Apple SD Gothic Neo"/>
              </a:rPr>
              <a:t>기준 범위 내 정상 상태 — 추가 조치 불필요</a:t>
            </a:r>
          </a:p>
        </p:txBody>
      </p:sp>
      <p:sp>
        <p:nvSpPr>
          <p:cNvPr id="898" name="TextBox 897">
            <a:extLst>
              <a:ext uri="{FF2B5EF4-FFF2-40B4-BE49-F238E27FC236}">
                <a16:creationId xmlns:a16="http://schemas.microsoft.com/office/drawing/2014/main" id="{F6EB5273-56F3-E31E-8AC5-A2C2F9766F4C}"/>
              </a:ext>
            </a:extLst>
          </p:cNvPr>
          <p:cNvSpPr txBox="1"/>
          <p:nvPr/>
        </p:nvSpPr>
        <p:spPr>
          <a:xfrm>
            <a:off x="3429000" y="5422900"/>
            <a:ext cx="16510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 dirty="0" err="1">
                <a:solidFill>
                  <a:srgbClr val="999999"/>
                </a:solidFill>
                <a:latin typeface="Apple SD Gothic Neo"/>
              </a:rPr>
              <a:t>이상점수</a:t>
            </a:r>
            <a:r>
              <a:rPr sz="704" b="0" dirty="0">
                <a:solidFill>
                  <a:srgbClr val="999999"/>
                </a:solidFill>
                <a:latin typeface="Apple SD Gothic Neo"/>
              </a:rPr>
              <a:t> 60 ~ 84</a:t>
            </a:r>
          </a:p>
        </p:txBody>
      </p:sp>
      <p:sp>
        <p:nvSpPr>
          <p:cNvPr id="899" name="TextBox 898">
            <a:extLst>
              <a:ext uri="{FF2B5EF4-FFF2-40B4-BE49-F238E27FC236}">
                <a16:creationId xmlns:a16="http://schemas.microsoft.com/office/drawing/2014/main" id="{4D1EEDC2-3D20-86B3-FF1B-06906D127380}"/>
              </a:ext>
            </a:extLst>
          </p:cNvPr>
          <p:cNvSpPr txBox="1"/>
          <p:nvPr/>
        </p:nvSpPr>
        <p:spPr>
          <a:xfrm>
            <a:off x="3009900" y="5638800"/>
            <a:ext cx="3860800" cy="152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이상 징후 감지 — 모니터링 강화·추이 관찰</a:t>
            </a:r>
          </a:p>
        </p:txBody>
      </p:sp>
      <p:sp>
        <p:nvSpPr>
          <p:cNvPr id="901" name="TextBox 900">
            <a:extLst>
              <a:ext uri="{FF2B5EF4-FFF2-40B4-BE49-F238E27FC236}">
                <a16:creationId xmlns:a16="http://schemas.microsoft.com/office/drawing/2014/main" id="{1CD01A1A-A2F3-6346-6AD3-045C6E8B1FB9}"/>
              </a:ext>
            </a:extLst>
          </p:cNvPr>
          <p:cNvSpPr txBox="1"/>
          <p:nvPr/>
        </p:nvSpPr>
        <p:spPr>
          <a:xfrm>
            <a:off x="3429000" y="6007100"/>
            <a:ext cx="16510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 dirty="0" err="1">
                <a:solidFill>
                  <a:srgbClr val="999999"/>
                </a:solidFill>
                <a:latin typeface="Apple SD Gothic Neo"/>
              </a:rPr>
              <a:t>이상점수</a:t>
            </a:r>
            <a:r>
              <a:rPr sz="704" b="0" dirty="0">
                <a:solidFill>
                  <a:srgbClr val="999999"/>
                </a:solidFill>
                <a:latin typeface="Apple SD Gothic Neo"/>
              </a:rPr>
              <a:t> 85 </a:t>
            </a:r>
            <a:r>
              <a:rPr sz="704" b="0" dirty="0" err="1">
                <a:solidFill>
                  <a:srgbClr val="999999"/>
                </a:solidFill>
                <a:latin typeface="Apple SD Gothic Neo"/>
              </a:rPr>
              <a:t>이상</a:t>
            </a:r>
            <a:endParaRPr sz="704" b="0" dirty="0">
              <a:solidFill>
                <a:srgbClr val="999999"/>
              </a:solidFill>
              <a:latin typeface="Apple SD Gothic Neo"/>
            </a:endParaRPr>
          </a:p>
        </p:txBody>
      </p:sp>
      <p:sp>
        <p:nvSpPr>
          <p:cNvPr id="902" name="TextBox 901">
            <a:extLst>
              <a:ext uri="{FF2B5EF4-FFF2-40B4-BE49-F238E27FC236}">
                <a16:creationId xmlns:a16="http://schemas.microsoft.com/office/drawing/2014/main" id="{4C23233F-0EED-50CA-1230-D58F76A3B8C1}"/>
              </a:ext>
            </a:extLst>
          </p:cNvPr>
          <p:cNvSpPr txBox="1"/>
          <p:nvPr/>
        </p:nvSpPr>
        <p:spPr>
          <a:xfrm>
            <a:off x="3009900" y="6223000"/>
            <a:ext cx="3860800" cy="152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심각한 이상 — 즉시 점검 및 조치 필요</a:t>
            </a:r>
          </a:p>
        </p:txBody>
      </p:sp>
      <p:sp>
        <p:nvSpPr>
          <p:cNvPr id="903" name="TextBox 902">
            <a:extLst>
              <a:ext uri="{FF2B5EF4-FFF2-40B4-BE49-F238E27FC236}">
                <a16:creationId xmlns:a16="http://schemas.microsoft.com/office/drawing/2014/main" id="{521177E2-AF3F-1C4C-1A53-D79C00B8A468}"/>
              </a:ext>
            </a:extLst>
          </p:cNvPr>
          <p:cNvSpPr txBox="1"/>
          <p:nvPr/>
        </p:nvSpPr>
        <p:spPr>
          <a:xfrm>
            <a:off x="3009900" y="4838700"/>
            <a:ext cx="3810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정상</a:t>
            </a:r>
          </a:p>
        </p:txBody>
      </p:sp>
      <p:sp>
        <p:nvSpPr>
          <p:cNvPr id="904" name="TextBox 903">
            <a:extLst>
              <a:ext uri="{FF2B5EF4-FFF2-40B4-BE49-F238E27FC236}">
                <a16:creationId xmlns:a16="http://schemas.microsoft.com/office/drawing/2014/main" id="{C7382578-2F3B-94D3-65DA-780628911948}"/>
              </a:ext>
            </a:extLst>
          </p:cNvPr>
          <p:cNvSpPr txBox="1"/>
          <p:nvPr/>
        </p:nvSpPr>
        <p:spPr>
          <a:xfrm>
            <a:off x="3009900" y="5422900"/>
            <a:ext cx="3810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주의</a:t>
            </a:r>
          </a:p>
        </p:txBody>
      </p:sp>
      <p:sp>
        <p:nvSpPr>
          <p:cNvPr id="905" name="TextBox 904">
            <a:extLst>
              <a:ext uri="{FF2B5EF4-FFF2-40B4-BE49-F238E27FC236}">
                <a16:creationId xmlns:a16="http://schemas.microsoft.com/office/drawing/2014/main" id="{7A7E26CC-1F59-3060-D221-E9E182F865B3}"/>
              </a:ext>
            </a:extLst>
          </p:cNvPr>
          <p:cNvSpPr txBox="1"/>
          <p:nvPr/>
        </p:nvSpPr>
        <p:spPr>
          <a:xfrm>
            <a:off x="3009900" y="6007100"/>
            <a:ext cx="3810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경고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26" name="Rounded Rectangle 41">
            <a:extLst>
              <a:ext uri="{FF2B5EF4-FFF2-40B4-BE49-F238E27FC236}">
                <a16:creationId xmlns:a16="http://schemas.microsoft.com/office/drawing/2014/main" id="{373CFC72-25E5-0189-6BD3-F59B5A620BE6}"/>
              </a:ext>
            </a:extLst>
          </p:cNvPr>
          <p:cNvSpPr/>
          <p:nvPr/>
        </p:nvSpPr>
        <p:spPr>
          <a:xfrm>
            <a:off x="4137857" y="1542769"/>
            <a:ext cx="464124" cy="27593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hlinkClick r:id="rId8" action="ppaction://hlinksldjump"/>
            <a:extLst>
              <a:ext uri="{FF2B5EF4-FFF2-40B4-BE49-F238E27FC236}">
                <a16:creationId xmlns:a16="http://schemas.microsoft.com/office/drawing/2014/main" id="{DA689F57-816D-2E6F-91D6-F623E568A85F}"/>
              </a:ext>
            </a:extLst>
          </p:cNvPr>
          <p:cNvSpPr txBox="1"/>
          <p:nvPr/>
        </p:nvSpPr>
        <p:spPr>
          <a:xfrm>
            <a:off x="4279553" y="1617346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822" b="0" dirty="0">
                <a:solidFill>
                  <a:srgbClr val="FFFFFF"/>
                </a:solidFill>
                <a:latin typeface="Apple SD Gothic Neo"/>
              </a:rPr>
              <a:t>분석</a:t>
            </a:r>
            <a:endParaRPr sz="822" b="0" dirty="0">
              <a:solidFill>
                <a:srgbClr val="FFFFFF"/>
              </a:solidFill>
              <a:latin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2521285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92093" y="1214630"/>
            <a:ext cx="8643458" cy="7606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3" name="TextBox 12">
            <a:hlinkClick r:id="rId5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1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5" name="TextBox 14">
            <a:hlinkClick r:id="rId6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2093" y="961069"/>
            <a:ext cx="928016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정상/주의/경고 판정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8873" y="1311580"/>
            <a:ext cx="678067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판정 결과 요약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8819" y="5331273"/>
            <a:ext cx="596731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위험 등급 감지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92093" y="2094637"/>
            <a:ext cx="5839368" cy="1846476"/>
          </a:xfrm>
          <a:prstGeom prst="roundRect">
            <a:avLst>
              <a:gd name="adj" fmla="val 2423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792093" y="4030606"/>
            <a:ext cx="5839368" cy="917295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750784" y="2094637"/>
            <a:ext cx="2684767" cy="3117313"/>
          </a:xfrm>
          <a:prstGeom prst="roundRect">
            <a:avLst>
              <a:gd name="adj" fmla="val 166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18873" y="1535311"/>
            <a:ext cx="514813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최종 판정 등급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8873" y="1706837"/>
            <a:ext cx="255076" cy="17152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174" b="1">
                <a:solidFill>
                  <a:srgbClr val="333333"/>
                </a:solidFill>
                <a:latin typeface="Apple SD Gothic Neo"/>
              </a:rPr>
              <a:t>주의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1094" y="1565141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판정 시각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1094" y="1736668"/>
            <a:ext cx="906691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2024-06-12 14:32:07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3314" y="1565141"/>
            <a:ext cx="48964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대상 디바이스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3314" y="1736668"/>
            <a:ext cx="665016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BAT-NODE-047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534" y="1565141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판정 모델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534" y="1736668"/>
            <a:ext cx="949806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Anomaly Detector v2.1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18873" y="2191587"/>
            <a:ext cx="1017042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이상점수 및 판정 근거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18873" y="2926868"/>
            <a:ext cx="514813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주요 기여 특징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18873" y="4127556"/>
            <a:ext cx="1017042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이상 이벤트 저장 상태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18873" y="4724170"/>
            <a:ext cx="687156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이상 이벤트 저장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77564" y="2191587"/>
            <a:ext cx="1017042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상태별 판정 기준 안내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77564" y="2415317"/>
            <a:ext cx="2431206" cy="820345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877564" y="3354986"/>
            <a:ext cx="2431206" cy="820345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877564" y="4294654"/>
            <a:ext cx="2431206" cy="820345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04345" y="2713625"/>
            <a:ext cx="819180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이상점수 0.00 ~ 0.59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4345" y="2914982"/>
            <a:ext cx="2161797" cy="22373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센서 수치가 기준 범위 내에 있으며 추가 조치가 필요하지 않습니다.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4345" y="3653293"/>
            <a:ext cx="82197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이상점수 0.60 ~ 0.84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4345" y="3854651"/>
            <a:ext cx="2112856" cy="22373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잠재적 이상 징후가 감지되었습니다. 모니터링을 강화하고 추이를 관찰하십시오.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4345" y="4592962"/>
            <a:ext cx="703703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이상점수 0.85 이상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4345" y="4794319"/>
            <a:ext cx="2138025" cy="22373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심각한 이상이 감지되었습니다. 즉시 점검 및 조치가 필요합니다.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18873" y="2415317"/>
            <a:ext cx="30972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이상점수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18873" y="2586844"/>
            <a:ext cx="423806" cy="2461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644" b="1">
                <a:solidFill>
                  <a:srgbClr val="333333"/>
                </a:solidFill>
                <a:latin typeface="Apple SD Gothic Neo"/>
              </a:rPr>
              <a:t>0.73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0393" y="2454820"/>
            <a:ext cx="455501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임계값(주의)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0393" y="2626347"/>
            <a:ext cx="319282" cy="17152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174" b="1">
                <a:solidFill>
                  <a:srgbClr val="333333"/>
                </a:solidFill>
                <a:latin typeface="Apple SD Gothic Neo"/>
              </a:rPr>
              <a:t>0.60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2029" y="2454820"/>
            <a:ext cx="455501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임계값(경고)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2029" y="2626347"/>
            <a:ext cx="317884" cy="17152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174" b="1">
                <a:solidFill>
                  <a:srgbClr val="333333"/>
                </a:solidFill>
                <a:latin typeface="Apple SD Gothic Neo"/>
              </a:rPr>
              <a:t>0.85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18873" y="3128226"/>
            <a:ext cx="437440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셀 전압 편차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35298" y="3128226"/>
            <a:ext cx="453521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기여도 38%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18873" y="3329583"/>
            <a:ext cx="412270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온도 상승률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10128" y="3329583"/>
            <a:ext cx="44524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기여도 27%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18873" y="3530941"/>
            <a:ext cx="514813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내부 저항 변화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12671" y="3530941"/>
            <a:ext cx="435809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기여도 21%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18873" y="3732298"/>
            <a:ext cx="514813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방전 패턴 이상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12671" y="3732298"/>
            <a:ext cx="439421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기여도 14%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18873" y="4351286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저장 여부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18873" y="4522813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저장 완료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20583" y="4351286"/>
            <a:ext cx="346433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이벤트 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20583" y="4522813"/>
            <a:ext cx="88804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EVT-20240612-4821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22293" y="4351286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저장 시각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22293" y="4522813"/>
            <a:ext cx="914499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2024-06-12 14:32:09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04345" y="2512267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정상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04345" y="3451936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주의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04345" y="439160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경고</a:t>
            </a:r>
          </a:p>
        </p:txBody>
      </p:sp>
      <p:sp>
        <p:nvSpPr>
          <p:cNvPr id="950" name="실시간대시보드로 버튼">
            <a:hlinkClick r:id="rId5" action="ppaction://hlinksldjump"/>
          </p:cNvPr>
          <p:cNvSpPr/>
          <p:nvPr/>
        </p:nvSpPr>
        <p:spPr>
          <a:xfrm>
            <a:off x="2792093" y="480048"/>
            <a:ext cx="1574800" cy="304800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22" b="0">
                <a:solidFill>
                  <a:srgbClr val="333333"/>
                </a:solidFill>
                <a:latin typeface="Apple SD Gothic Neo"/>
              </a:rPr>
              <a:t>← 실시간 대시보드로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07008" y="1219129"/>
            <a:ext cx="8643458" cy="113356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92092" y="2472020"/>
            <a:ext cx="8643458" cy="113356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92093" y="3720413"/>
            <a:ext cx="8643458" cy="113356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92093" y="5226865"/>
            <a:ext cx="8658373" cy="1267807"/>
          </a:xfrm>
          <a:prstGeom prst="roundRect">
            <a:avLst>
              <a:gd name="adj" fmla="val 3529"/>
            </a:avLst>
          </a:prstGeom>
          <a:noFill/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6" name="TextBox 15">
            <a:hlinkClick r:id="rId5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1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8" name="TextBox 17">
            <a:hlinkClick r:id="rId6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92093" y="961069"/>
            <a:ext cx="442334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활성 경고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2093" y="4973304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최근 해결된 경고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99550" y="5234323"/>
            <a:ext cx="8643458" cy="27593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18873" y="1311580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긴급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8873" y="1512937"/>
            <a:ext cx="955749" cy="17152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174" b="1">
                <a:solidFill>
                  <a:srgbClr val="333333"/>
                </a:solidFill>
                <a:latin typeface="Apple SD Gothic Neo"/>
              </a:rPr>
              <a:t>배터리 과열 위험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18873" y="1773957"/>
            <a:ext cx="1753955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센서 ID: BAT-001 | 온도: 65°C | 임계값: 60°C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18873" y="2564471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심각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18873" y="2765829"/>
            <a:ext cx="1114808" cy="17152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174" b="1">
                <a:solidFill>
                  <a:srgbClr val="333333"/>
                </a:solidFill>
                <a:latin typeface="Apple SD Gothic Neo"/>
              </a:rPr>
              <a:t>충전 회로 이상 감지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8873" y="3026848"/>
            <a:ext cx="1825036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센서 ID: BAT-003 | 전류: 8.5A | 정상범위: 5~7A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18873" y="3817362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주의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18873" y="4018720"/>
            <a:ext cx="955749" cy="17152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174" b="1">
                <a:solidFill>
                  <a:srgbClr val="333333"/>
                </a:solidFill>
                <a:latin typeface="Apple SD Gothic Neo"/>
              </a:rPr>
              <a:t>배터리 용량 저하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18873" y="4279739"/>
            <a:ext cx="2152475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센서 ID: BAT-002 | 용량: 78% | 유지보수 권장: 80% 이하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03958" y="5308900"/>
            <a:ext cx="361465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경고 내용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64823" y="5308900"/>
            <a:ext cx="167798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센서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5687" y="5308900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발생시간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6552" y="5308900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해결시간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63974" y="6688572"/>
            <a:ext cx="388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333333"/>
                </a:solidFill>
                <a:latin typeface="Apple SD Gothic Neo"/>
              </a:rPr>
              <a:t>모두 해제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10413" y="1975314"/>
            <a:ext cx="644740" cy="275934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110413" y="3228205"/>
            <a:ext cx="644740" cy="275934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844646" y="3228205"/>
            <a:ext cx="464124" cy="27593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0110413" y="4481096"/>
            <a:ext cx="644740" cy="275934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844646" y="4481096"/>
            <a:ext cx="464124" cy="27593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2903958" y="5584834"/>
            <a:ext cx="780726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064823" y="5584834"/>
            <a:ext cx="1034521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225687" y="5584834"/>
            <a:ext cx="1288315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9386552" y="5584834"/>
            <a:ext cx="1542110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2903958" y="5830938"/>
            <a:ext cx="917412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064823" y="5830938"/>
            <a:ext cx="1171206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225687" y="5830938"/>
            <a:ext cx="1424884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9386552" y="5830938"/>
            <a:ext cx="897835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2903958" y="6077041"/>
            <a:ext cx="1054097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5064823" y="6077041"/>
            <a:ext cx="1307775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7225687" y="6077041"/>
            <a:ext cx="780726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9386552" y="6077041"/>
            <a:ext cx="1034521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2903958" y="6323145"/>
            <a:ext cx="1190666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5064823" y="6323145"/>
            <a:ext cx="1444461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7225687" y="6323145"/>
            <a:ext cx="917412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386552" y="6323145"/>
            <a:ext cx="1171206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252109" y="2049891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 dirty="0" err="1">
                <a:solidFill>
                  <a:srgbClr val="333333"/>
                </a:solidFill>
                <a:latin typeface="Apple SD Gothic Neo"/>
              </a:rPr>
              <a:t>상세보기</a:t>
            </a:r>
            <a:endParaRPr sz="822" b="0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252109" y="3302782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333333"/>
                </a:solidFill>
                <a:latin typeface="Apple SD Gothic Neo"/>
              </a:rPr>
              <a:t>상세보기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86342" y="3302782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FFFFFF"/>
                </a:solidFill>
                <a:latin typeface="Apple SD Gothic Neo"/>
              </a:rPr>
              <a:t>확인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52109" y="4555673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333333"/>
                </a:solidFill>
                <a:latin typeface="Apple SD Gothic Neo"/>
              </a:rPr>
              <a:t>상세보기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86342" y="4555673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FFFFFF"/>
                </a:solidFill>
                <a:latin typeface="Apple SD Gothic Neo"/>
              </a:rPr>
              <a:t>기록</a:t>
            </a:r>
          </a:p>
        </p:txBody>
      </p:sp>
      <p:sp>
        <p:nvSpPr>
          <p:cNvPr id="19" name="Rounded Rectangle 41">
            <a:extLst>
              <a:ext uri="{FF2B5EF4-FFF2-40B4-BE49-F238E27FC236}">
                <a16:creationId xmlns:a16="http://schemas.microsoft.com/office/drawing/2014/main" id="{364F7434-A836-5E29-0D10-6D6BD9DF55E0}"/>
              </a:ext>
            </a:extLst>
          </p:cNvPr>
          <p:cNvSpPr/>
          <p:nvPr/>
        </p:nvSpPr>
        <p:spPr>
          <a:xfrm>
            <a:off x="10844646" y="1975314"/>
            <a:ext cx="464124" cy="27593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F42795-68F6-DF81-14E4-0E5C1D898A4F}"/>
              </a:ext>
            </a:extLst>
          </p:cNvPr>
          <p:cNvSpPr txBox="1"/>
          <p:nvPr/>
        </p:nvSpPr>
        <p:spPr>
          <a:xfrm>
            <a:off x="10986342" y="2049891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 dirty="0" err="1">
                <a:solidFill>
                  <a:srgbClr val="FFFFFF"/>
                </a:solidFill>
                <a:latin typeface="Apple SD Gothic Neo"/>
              </a:rPr>
              <a:t>확인</a:t>
            </a:r>
            <a:endParaRPr sz="822" b="0" dirty="0">
              <a:solidFill>
                <a:srgbClr val="FFFFFF"/>
              </a:solidFill>
              <a:latin typeface="Apple SD Gothic Neo"/>
            </a:endParaRPr>
          </a:p>
        </p:txBody>
      </p:sp>
      <p:sp>
        <p:nvSpPr>
          <p:cNvPr id="951" name="실시간대시보드로 버튼">
            <a:hlinkClick r:id="rId5" action="ppaction://hlinksldjump"/>
          </p:cNvPr>
          <p:cNvSpPr/>
          <p:nvPr/>
        </p:nvSpPr>
        <p:spPr>
          <a:xfrm>
            <a:off x="2792093" y="480048"/>
            <a:ext cx="1574800" cy="304800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22" b="0">
                <a:solidFill>
                  <a:srgbClr val="333333"/>
                </a:solidFill>
                <a:latin typeface="Apple SD Gothic Neo"/>
              </a:rPr>
              <a:t>← 실시간 대시보드로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5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4" y="472591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1070241" y="480048"/>
            <a:ext cx="335479" cy="11932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15" y="465133"/>
            <a:ext cx="149153" cy="1491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74631" y="461404"/>
            <a:ext cx="1879337" cy="15661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482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1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92093" y="1760960"/>
            <a:ext cx="8643458" cy="2242241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792093" y="5027674"/>
            <a:ext cx="8658374" cy="1945853"/>
          </a:xfrm>
          <a:prstGeom prst="roundRect">
            <a:avLst>
              <a:gd name="adj" fmla="val 1986"/>
            </a:avLst>
          </a:prstGeom>
          <a:noFill/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92093" y="4280260"/>
            <a:ext cx="442335" cy="11597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이력 목록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18873" y="1844722"/>
            <a:ext cx="8404812" cy="2074717"/>
          </a:xfrm>
          <a:prstGeom prst="roundRect">
            <a:avLst>
              <a:gd name="adj" fmla="val 1863"/>
            </a:avLst>
          </a:prstGeom>
          <a:solidFill>
            <a:srgbClr val="E8E8E8"/>
          </a:solidFill>
          <a:ln w="9525">
            <a:solidFill>
              <a:srgbClr val="D0D0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99551" y="5034117"/>
            <a:ext cx="8643458" cy="238399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92093" y="961034"/>
            <a:ext cx="1190200" cy="1344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추세 차트 / 이력 조회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4088" y="1503232"/>
            <a:ext cx="374632" cy="18041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728382" y="1503232"/>
            <a:ext cx="374632" cy="18041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162676" y="1503232"/>
            <a:ext cx="412387" cy="18041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44844" y="2830535"/>
            <a:ext cx="1352871" cy="103092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782684" y="4737729"/>
            <a:ext cx="883153" cy="238399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92093" y="1535448"/>
            <a:ext cx="442335" cy="11597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추세 차트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91038" y="1535448"/>
            <a:ext cx="180732" cy="10953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333333"/>
                </a:solidFill>
                <a:latin typeface="Apple SD Gothic Neo"/>
              </a:rPr>
              <a:t>전압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25332" y="1535448"/>
            <a:ext cx="180732" cy="10953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333333"/>
                </a:solidFill>
                <a:latin typeface="Apple SD Gothic Neo"/>
              </a:rPr>
              <a:t>온도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9626" y="1535448"/>
            <a:ext cx="218487" cy="10953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333333"/>
                </a:solidFill>
                <a:latin typeface="Apple SD Gothic Neo"/>
              </a:rPr>
              <a:t>SOC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9591" y="2830535"/>
            <a:ext cx="1263379" cy="1030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전압·온도·SOC 시계열 추세 차트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4370" y="4080520"/>
            <a:ext cx="611181" cy="966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단위: V / °C /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92093" y="4879479"/>
            <a:ext cx="347482" cy="966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총 248건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24379" y="4802161"/>
            <a:ext cx="599761" cy="10953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333333"/>
                </a:solidFill>
                <a:latin typeface="Apple SD Gothic Neo"/>
              </a:rPr>
              <a:t>CSV 내보내기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03958" y="5098549"/>
            <a:ext cx="167797" cy="1030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시각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38671" y="5098549"/>
            <a:ext cx="458997" cy="1030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디바이스 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73501" y="5098549"/>
            <a:ext cx="167797" cy="1030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지표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8214" y="5098549"/>
            <a:ext cx="251697" cy="1030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측정값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3044" y="5098549"/>
            <a:ext cx="251697" cy="1030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임계값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7756" y="5098549"/>
            <a:ext cx="167797" cy="1030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12587" y="5098549"/>
            <a:ext cx="167797" cy="1030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비고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16082" y="1161741"/>
            <a:ext cx="464125" cy="238399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3258897" y="4589535"/>
            <a:ext cx="464125" cy="38659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2903958" y="5336948"/>
            <a:ext cx="410289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138671" y="5336948"/>
            <a:ext cx="543712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373501" y="5336948"/>
            <a:ext cx="677018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608214" y="5336948"/>
            <a:ext cx="810441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843044" y="5336948"/>
            <a:ext cx="533458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077756" y="5336948"/>
            <a:ext cx="666880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0312587" y="5336948"/>
            <a:ext cx="800187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2903958" y="5549574"/>
            <a:ext cx="482070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138671" y="5549574"/>
            <a:ext cx="615609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373501" y="5549574"/>
            <a:ext cx="748799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6608214" y="5549574"/>
            <a:ext cx="471932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7843044" y="5549574"/>
            <a:ext cx="605238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9077756" y="5549574"/>
            <a:ext cx="738661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0312587" y="5549574"/>
            <a:ext cx="461678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2903958" y="5762201"/>
            <a:ext cx="553967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4138671" y="5762201"/>
            <a:ext cx="687389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5373501" y="5762201"/>
            <a:ext cx="410289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6608214" y="5762201"/>
            <a:ext cx="543712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7843044" y="5762201"/>
            <a:ext cx="677018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9077756" y="5762201"/>
            <a:ext cx="810441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10312587" y="5762201"/>
            <a:ext cx="533458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2903958" y="5974827"/>
            <a:ext cx="625747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4138671" y="5974827"/>
            <a:ext cx="759169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5373501" y="5974827"/>
            <a:ext cx="482070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6608214" y="5974827"/>
            <a:ext cx="615609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7843044" y="5974827"/>
            <a:ext cx="748799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9077756" y="5974827"/>
            <a:ext cx="471932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10312587" y="5974827"/>
            <a:ext cx="605238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2903958" y="6187453"/>
            <a:ext cx="697527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4138671" y="6187453"/>
            <a:ext cx="420660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5373501" y="6187453"/>
            <a:ext cx="553967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6608214" y="6187453"/>
            <a:ext cx="687389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7843044" y="6187453"/>
            <a:ext cx="410289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9077756" y="6187453"/>
            <a:ext cx="543712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10312587" y="6187453"/>
            <a:ext cx="677134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2903958" y="6400080"/>
            <a:ext cx="769423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4138671" y="6400080"/>
            <a:ext cx="492440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5373501" y="6400080"/>
            <a:ext cx="625747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6608214" y="6400080"/>
            <a:ext cx="759169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7843044" y="6400080"/>
            <a:ext cx="482070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9077756" y="6400080"/>
            <a:ext cx="615609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10312587" y="6400080"/>
            <a:ext cx="748914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2903958" y="6612706"/>
            <a:ext cx="430798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4138671" y="6612706"/>
            <a:ext cx="564221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5373501" y="6612706"/>
            <a:ext cx="697527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6608214" y="6612706"/>
            <a:ext cx="420660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7843044" y="6612706"/>
            <a:ext cx="553967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9077756" y="6612706"/>
            <a:ext cx="687389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10312587" y="6612706"/>
            <a:ext cx="410406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2903958" y="6825332"/>
            <a:ext cx="502578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4138671" y="6825332"/>
            <a:ext cx="636118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5373501" y="6825332"/>
            <a:ext cx="769423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6608214" y="6825332"/>
            <a:ext cx="492440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7843044" y="6825332"/>
            <a:ext cx="625747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9077756" y="6825332"/>
            <a:ext cx="759169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10312587" y="6825332"/>
            <a:ext cx="482187" cy="77319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457778" y="1226173"/>
            <a:ext cx="180732" cy="10953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FFFFFF"/>
                </a:solidFill>
                <a:latin typeface="Apple SD Gothic Neo"/>
              </a:rPr>
              <a:t>조회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258897" y="4447784"/>
            <a:ext cx="445364" cy="1030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심각도 필터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220939" y="1161288"/>
            <a:ext cx="464125" cy="23865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4744724" y="1161288"/>
            <a:ext cx="464125" cy="23865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5268511" y="1161288"/>
            <a:ext cx="464125" cy="23865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5792296" y="1161288"/>
            <a:ext cx="464125" cy="23865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8" name="Picture 10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6579" y="4744172"/>
            <a:ext cx="89493" cy="77319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4220939" y="1033271"/>
            <a:ext cx="445364" cy="1030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조회 시작일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44724" y="1033271"/>
            <a:ext cx="445364" cy="1030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조회 종료일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268511" y="1033271"/>
            <a:ext cx="335479" cy="1030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디바이스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92296" y="1033271"/>
            <a:ext cx="361465" cy="1030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지표 항목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355847" y="4728064"/>
            <a:ext cx="180732" cy="10953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 dirty="0" err="1">
                <a:solidFill>
                  <a:srgbClr val="333333"/>
                </a:solidFill>
                <a:latin typeface="Apple SD Gothic Neo"/>
              </a:rPr>
              <a:t>전체</a:t>
            </a:r>
            <a:endParaRPr sz="822" b="0" dirty="0">
              <a:solidFill>
                <a:srgbClr val="333333"/>
              </a:solidFill>
              <a:latin typeface="Apple SD Gothic Neo"/>
            </a:endParaRP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8621" y="1241755"/>
            <a:ext cx="89493" cy="77319"/>
          </a:xfrm>
          <a:prstGeom prst="rect">
            <a:avLst/>
          </a:prstGeom>
        </p:spPr>
      </p:pic>
      <p:pic>
        <p:nvPicPr>
          <p:cNvPr id="115" name="Picture 1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2406" y="1241755"/>
            <a:ext cx="89493" cy="77319"/>
          </a:xfrm>
          <a:prstGeom prst="rect">
            <a:avLst/>
          </a:prstGeom>
        </p:spPr>
      </p:pic>
      <p:pic>
        <p:nvPicPr>
          <p:cNvPr id="116" name="Picture 1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6193" y="1241755"/>
            <a:ext cx="89493" cy="77319"/>
          </a:xfrm>
          <a:prstGeom prst="rect">
            <a:avLst/>
          </a:prstGeom>
        </p:spPr>
      </p:pic>
      <p:pic>
        <p:nvPicPr>
          <p:cNvPr id="117" name="Picture 1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9979" y="1241755"/>
            <a:ext cx="89493" cy="77319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4317888" y="1226210"/>
            <a:ext cx="180732" cy="10953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오늘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841675" y="1226210"/>
            <a:ext cx="180732" cy="10953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오늘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365461" y="1226210"/>
            <a:ext cx="180732" cy="10953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전체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889246" y="1226210"/>
            <a:ext cx="180732" cy="10953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전압</a:t>
            </a:r>
          </a:p>
        </p:txBody>
      </p:sp>
      <p:sp>
        <p:nvSpPr>
          <p:cNvPr id="900" name="실시간대시보드로 버튼">
            <a:hlinkClick r:id="rId5" action="ppaction://hlinksldjump"/>
          </p:cNvPr>
          <p:cNvSpPr/>
          <p:nvPr/>
        </p:nvSpPr>
        <p:spPr>
          <a:xfrm>
            <a:off x="2792093" y="480048"/>
            <a:ext cx="1574800" cy="304800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22" b="0" dirty="0">
                <a:solidFill>
                  <a:srgbClr val="333333"/>
                </a:solidFill>
                <a:latin typeface="Apple SD Gothic Neo"/>
              </a:rPr>
              <a:t>← 실시간 대시보드로</a:t>
            </a:r>
          </a:p>
        </p:txBody>
      </p:sp>
      <p:sp>
        <p:nvSpPr>
          <p:cNvPr id="970" name="메뉴-설정">
            <a:hlinkClick r:id="rId11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15" name="Rounded Rectangle 41">
            <a:extLst>
              <a:ext uri="{FF2B5EF4-FFF2-40B4-BE49-F238E27FC236}">
                <a16:creationId xmlns:a16="http://schemas.microsoft.com/office/drawing/2014/main" id="{11B06A3C-2CB4-C320-A8DE-89EE91435FB3}"/>
              </a:ext>
            </a:extLst>
          </p:cNvPr>
          <p:cNvSpPr/>
          <p:nvPr/>
        </p:nvSpPr>
        <p:spPr>
          <a:xfrm>
            <a:off x="4827276" y="4725967"/>
            <a:ext cx="714021" cy="27593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hlinkClick r:id="rId12" action="ppaction://hlinksldjump"/>
            <a:extLst>
              <a:ext uri="{FF2B5EF4-FFF2-40B4-BE49-F238E27FC236}">
                <a16:creationId xmlns:a16="http://schemas.microsoft.com/office/drawing/2014/main" id="{035C6B45-5C59-DE50-5C44-092C168971DA}"/>
              </a:ext>
            </a:extLst>
          </p:cNvPr>
          <p:cNvSpPr txBox="1"/>
          <p:nvPr/>
        </p:nvSpPr>
        <p:spPr>
          <a:xfrm>
            <a:off x="5075162" y="4811729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ko-KR" altLang="en-US" sz="822" b="0" dirty="0">
                <a:solidFill>
                  <a:srgbClr val="FFFFFF"/>
                </a:solidFill>
                <a:latin typeface="Apple SD Gothic Neo"/>
              </a:rPr>
              <a:t>자세히 보기</a:t>
            </a:r>
            <a:endParaRPr sz="822" b="0" dirty="0">
              <a:solidFill>
                <a:srgbClr val="FFFFFF"/>
              </a:solidFill>
              <a:latin typeface="Apple SD Gothic Ne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92093" y="1214630"/>
            <a:ext cx="8643458" cy="1640691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92093" y="2974644"/>
            <a:ext cx="8643458" cy="181221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92093" y="4906185"/>
            <a:ext cx="8643458" cy="917295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5" name="TextBox 14">
            <a:hlinkClick r:id="rId5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1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7" name="TextBox 16">
            <a:hlinkClick r:id="rId6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2093" y="961069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이상 이벤트 저장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8873" y="131158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이벤트 기본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8873" y="3071594"/>
            <a:ext cx="678067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이상 분석 결과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8873" y="5003134"/>
            <a:ext cx="442334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권장 조치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92119" y="5942803"/>
            <a:ext cx="464124" cy="275934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645735" y="5942803"/>
            <a:ext cx="789816" cy="27593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18873" y="3295324"/>
            <a:ext cx="514813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주요 지표 변화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18873" y="4145501"/>
            <a:ext cx="444315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AI 판정 사유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33815" y="6017380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7431" y="6017380"/>
            <a:ext cx="506423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FFFFFF"/>
                </a:solidFill>
                <a:latin typeface="Apple SD Gothic Neo"/>
              </a:rPr>
              <a:t>저장 및 알림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18873" y="3511597"/>
            <a:ext cx="587292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918873" y="3727870"/>
            <a:ext cx="587292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918873" y="3944143"/>
            <a:ext cx="587292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918873" y="4361774"/>
            <a:ext cx="587292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918873" y="4578046"/>
            <a:ext cx="587292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918873" y="5241780"/>
            <a:ext cx="587292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918873" y="5428223"/>
            <a:ext cx="587292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2918873" y="5614665"/>
            <a:ext cx="587292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18873" y="1535311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탐지 시간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76533" y="1535311"/>
            <a:ext cx="23223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심각도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18873" y="1982772"/>
            <a:ext cx="269059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센서 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3873" y="1982772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센서 위치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18873" y="2430233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이상 유형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76533" y="2430233"/>
            <a:ext cx="23223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신뢰도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18873" y="1751583"/>
            <a:ext cx="234334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1076533" y="1751583"/>
            <a:ext cx="162554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2918873" y="2199045"/>
            <a:ext cx="188307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0973873" y="2199045"/>
            <a:ext cx="234334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2918873" y="2646506"/>
            <a:ext cx="234334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1076533" y="2646506"/>
            <a:ext cx="162554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59" y="316677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92093" y="2233303"/>
            <a:ext cx="8643458" cy="89492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92093" y="3501110"/>
            <a:ext cx="8643458" cy="529496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6" name="TextBox 15">
            <a:hlinkClick r:id="rId6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1">
                <a:solidFill>
                  <a:srgbClr val="333333"/>
                </a:solidFill>
                <a:latin typeface="Apple SD Gothic Neo"/>
              </a:rPr>
              <a:t>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2093" y="961069"/>
            <a:ext cx="442334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알림 센터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2093" y="1979742"/>
            <a:ext cx="678067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알림 발송 설정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92093" y="3247549"/>
            <a:ext cx="442334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알림 이력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18873" y="2755341"/>
            <a:ext cx="8389897" cy="27593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18873" y="2330253"/>
            <a:ext cx="713374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SNS 알림 발송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18873" y="2553984"/>
            <a:ext cx="2961983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카카오톡, 문자 등 외부 채널을 통해 이상 이벤트 알림을 담당자에게 즉시 발송합니다.</a:t>
            </a:r>
          </a:p>
        </p:txBody>
      </p:sp>
      <p:sp>
        <p:nvSpPr>
          <p:cNvPr id="24" name="TextBox 23">
            <a:hlinkClick r:id="rId7" action="ppaction://hlinksldjump"/>
          </p:cNvPr>
          <p:cNvSpPr txBox="1"/>
          <p:nvPr/>
        </p:nvSpPr>
        <p:spPr>
          <a:xfrm>
            <a:off x="6606000" y="2829918"/>
            <a:ext cx="1015644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FFFFFF"/>
                </a:solidFill>
                <a:latin typeface="Apple SD Gothic Neo"/>
              </a:rPr>
              <a:t>SNS 알림 발송으로 이동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92093" y="1214630"/>
            <a:ext cx="2026626" cy="645789"/>
          </a:xfrm>
          <a:prstGeom prst="roundRect">
            <a:avLst>
              <a:gd name="adj" fmla="val 6928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997703" y="1214630"/>
            <a:ext cx="2026626" cy="645789"/>
          </a:xfrm>
          <a:prstGeom prst="roundRect">
            <a:avLst>
              <a:gd name="adj" fmla="val 6928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203314" y="1214630"/>
            <a:ext cx="2026626" cy="645789"/>
          </a:xfrm>
          <a:prstGeom prst="roundRect">
            <a:avLst>
              <a:gd name="adj" fmla="val 6928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408925" y="1214630"/>
            <a:ext cx="2026626" cy="645789"/>
          </a:xfrm>
          <a:prstGeom prst="roundRect">
            <a:avLst>
              <a:gd name="adj" fmla="val 6928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18873" y="1311580"/>
            <a:ext cx="592303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오늘 발송된 알림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18873" y="1512937"/>
            <a:ext cx="256008" cy="2461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644" b="1">
                <a:solidFill>
                  <a:srgbClr val="333333"/>
                </a:solidFill>
                <a:latin typeface="Apple SD Gothic Neo"/>
              </a:rPr>
              <a:t>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4484" y="1311580"/>
            <a:ext cx="412270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미확인 알림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4484" y="1512937"/>
            <a:ext cx="118274" cy="2461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644" b="1">
                <a:solidFill>
                  <a:srgbClr val="333333"/>
                </a:solidFill>
                <a:latin typeface="Apple SD Gothic Neo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0095" y="1311580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발송 실패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0095" y="1512937"/>
            <a:ext cx="124683" cy="2461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644" b="1">
                <a:solidFill>
                  <a:srgbClr val="333333"/>
                </a:solidFill>
                <a:latin typeface="Apple SD Gothic Neo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35705" y="1311580"/>
            <a:ext cx="412270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마지막 발송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5705" y="1512937"/>
            <a:ext cx="523087" cy="2461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644" b="1">
                <a:solidFill>
                  <a:srgbClr val="333333"/>
                </a:solidFill>
                <a:latin typeface="Apple SD Gothic Neo"/>
              </a:rPr>
              <a:t>3분 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18873" y="3598060"/>
            <a:ext cx="678067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알림 이력 조회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18873" y="3821790"/>
            <a:ext cx="2526058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과거에 발송된 모든 알림 기록을 날짜·채널·상태별로 확인할 수 있습니다.</a:t>
            </a:r>
          </a:p>
        </p:txBody>
      </p:sp>
      <p:sp>
        <p:nvSpPr>
          <p:cNvPr id="17" name="Rounded Rectangle 29">
            <a:hlinkClick r:id="rId8" action="ppaction://hlinksldjump"/>
            <a:extLst>
              <a:ext uri="{FF2B5EF4-FFF2-40B4-BE49-F238E27FC236}">
                <a16:creationId xmlns:a16="http://schemas.microsoft.com/office/drawing/2014/main" id="{C161862D-59F6-F3C0-D6BE-D46C578086F8}"/>
              </a:ext>
            </a:extLst>
          </p:cNvPr>
          <p:cNvSpPr/>
          <p:nvPr/>
        </p:nvSpPr>
        <p:spPr>
          <a:xfrm>
            <a:off x="10401234" y="3701767"/>
            <a:ext cx="905468" cy="21627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이력 조회</a:t>
            </a:r>
            <a:endParaRPr sz="800" dirty="0"/>
          </a:p>
        </p:txBody>
      </p:sp>
      <p:sp>
        <p:nvSpPr>
          <p:cNvPr id="970" name="메뉴-설정">
            <a:hlinkClick r:id="rId9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995052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1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2093" y="961069"/>
            <a:ext cx="678067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알림 이력 조회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1758" y="1535311"/>
            <a:ext cx="1745098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792093" y="1378699"/>
            <a:ext cx="464124" cy="4474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375540" y="1378699"/>
            <a:ext cx="464124" cy="4474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958988" y="1378699"/>
            <a:ext cx="464124" cy="4474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67523" y="1602430"/>
            <a:ext cx="1342383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792093" y="1945483"/>
            <a:ext cx="3877997" cy="522038"/>
          </a:xfrm>
          <a:prstGeom prst="roundRect">
            <a:avLst>
              <a:gd name="adj" fmla="val 8571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792093" y="2527183"/>
            <a:ext cx="3877997" cy="305765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792093" y="2892609"/>
            <a:ext cx="3877997" cy="305765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792093" y="3258036"/>
            <a:ext cx="3877997" cy="305765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792093" y="3623463"/>
            <a:ext cx="3877997" cy="305765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792093" y="3988889"/>
            <a:ext cx="3877997" cy="305765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792093" y="4354316"/>
            <a:ext cx="3877997" cy="305765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792093" y="4719742"/>
            <a:ext cx="3877997" cy="305765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849074" y="1945483"/>
            <a:ext cx="4586477" cy="3616978"/>
          </a:xfrm>
          <a:prstGeom prst="roundRect">
            <a:avLst>
              <a:gd name="adj" fmla="val 1237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8708" y="1606159"/>
            <a:ext cx="149154" cy="14915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792093" y="1214630"/>
            <a:ext cx="361465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알림 유형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75540" y="1214630"/>
            <a:ext cx="167798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기간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58988" y="1214630"/>
            <a:ext cx="361465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확인 상태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67523" y="1602430"/>
            <a:ext cx="1342383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9775" y="1557684"/>
            <a:ext cx="89492" cy="89492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3222" y="1557684"/>
            <a:ext cx="89492" cy="89492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6670" y="1557684"/>
            <a:ext cx="89492" cy="8949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889043" y="1539039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전체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2490" y="1539039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오늘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55937" y="1539039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전체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75855" y="2042433"/>
            <a:ext cx="442334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알림 상세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75855" y="2467521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발송 대상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75855" y="2885152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발송 채널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75855" y="3302782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알림 내용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75855" y="3936685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발송 결과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75855" y="4734658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확인 처리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75855" y="5152288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비고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918873" y="2258706"/>
            <a:ext cx="2537012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975855" y="2683794"/>
            <a:ext cx="303294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975855" y="3101425"/>
            <a:ext cx="303294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975855" y="3519055"/>
            <a:ext cx="303294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975855" y="3735328"/>
            <a:ext cx="303294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975855" y="4950931"/>
            <a:ext cx="303294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975855" y="5368561"/>
            <a:ext cx="1299851" cy="74577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6975855" y="4138043"/>
            <a:ext cx="1384566" cy="507123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449913" y="4138043"/>
            <a:ext cx="1384683" cy="507123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9924088" y="4138043"/>
            <a:ext cx="1384683" cy="507123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918873" y="2042433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유형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2383" y="2042433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발송 시각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66603" y="2042433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18873" y="2624133"/>
            <a:ext cx="412270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임계값 초과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69790" y="2624133"/>
            <a:ext cx="782591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2025-07-10 08:32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71703" y="2624133"/>
            <a:ext cx="23223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미확인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18873" y="2989559"/>
            <a:ext cx="444315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AI 예측 경보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01834" y="2989559"/>
            <a:ext cx="76091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2025-07-10 07:15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2074" y="2989559"/>
            <a:ext cx="23223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확인됨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18873" y="3354986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센서 이상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92416" y="3354986"/>
            <a:ext cx="800186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2025-07-09 23:44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11925" y="3354986"/>
            <a:ext cx="23223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확인됨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18873" y="3720413"/>
            <a:ext cx="360533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SNS 발송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18052" y="3720413"/>
            <a:ext cx="768258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2025-07-09 21:10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05633" y="3720413"/>
            <a:ext cx="23223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확인됨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18873" y="4085839"/>
            <a:ext cx="412270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시스템 알림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69790" y="4085839"/>
            <a:ext cx="785621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2025-07-09 18:55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74733" y="4085839"/>
            <a:ext cx="23223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확인됨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18873" y="4451266"/>
            <a:ext cx="412270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임계값 초과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69790" y="4451266"/>
            <a:ext cx="78014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2025-07-09 15:22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69256" y="4451266"/>
            <a:ext cx="23223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미확인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18873" y="4816692"/>
            <a:ext cx="444315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AI 예측 경보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01834" y="4816692"/>
            <a:ext cx="783873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2025-07-09 12:08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05030" y="4816692"/>
            <a:ext cx="23223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확인됨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75855" y="2266164"/>
            <a:ext cx="412270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임계값 초과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47786" y="2266164"/>
            <a:ext cx="782591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2025-07-10 08:32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02635" y="4234993"/>
            <a:ext cx="23223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이메일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02635" y="4436350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발송 완료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76693" y="4234993"/>
            <a:ext cx="192268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SMS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76693" y="4436350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발송 완료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050868" y="4234993"/>
            <a:ext cx="30972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카카오톡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50868" y="4436350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발송 실패</a:t>
            </a:r>
          </a:p>
        </p:txBody>
      </p:sp>
      <p:sp>
        <p:nvSpPr>
          <p:cNvPr id="970" name="메뉴-설정">
            <a:hlinkClick r:id="rId10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92093" y="3944143"/>
            <a:ext cx="8658373" cy="1267807"/>
          </a:xfrm>
          <a:prstGeom prst="roundRect">
            <a:avLst>
              <a:gd name="adj" fmla="val 3529"/>
            </a:avLst>
          </a:prstGeom>
          <a:noFill/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3" name="TextBox 12">
            <a:hlinkClick r:id="rId5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5" name="TextBox 14">
            <a:hlinkClick r:id="rId6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1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2093" y="961069"/>
            <a:ext cx="713374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SNS 알림 발송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2093" y="3690582"/>
            <a:ext cx="678067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발송 실패 목록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92093" y="1214630"/>
            <a:ext cx="8643458" cy="499665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792093" y="1833618"/>
            <a:ext cx="8643458" cy="499665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792093" y="2452606"/>
            <a:ext cx="8643458" cy="499665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792093" y="3071594"/>
            <a:ext cx="8643458" cy="499665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99550" y="3951601"/>
            <a:ext cx="8643458" cy="27593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798268" y="5411839"/>
            <a:ext cx="644740" cy="275934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03958" y="4026178"/>
            <a:ext cx="361465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알림 유형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2626" y="4026178"/>
            <a:ext cx="167798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채널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1411" y="4026178"/>
            <a:ext cx="361465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실패 건수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0079" y="4026178"/>
            <a:ext cx="445364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마지막 시도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8748" y="4026178"/>
            <a:ext cx="167798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28195" y="5486415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 dirty="0" err="1">
                <a:solidFill>
                  <a:srgbClr val="333333"/>
                </a:solidFill>
                <a:latin typeface="Apple SD Gothic Neo"/>
              </a:rPr>
              <a:t>새로고침</a:t>
            </a:r>
            <a:endParaRPr sz="822" b="0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903958" y="4302112"/>
            <a:ext cx="60791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632626" y="4302112"/>
            <a:ext cx="805547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361411" y="4302112"/>
            <a:ext cx="1003059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090079" y="4302112"/>
            <a:ext cx="1200571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818748" y="4302112"/>
            <a:ext cx="790282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2903958" y="4548216"/>
            <a:ext cx="714306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632626" y="4548216"/>
            <a:ext cx="911935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361411" y="4548216"/>
            <a:ext cx="1109447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090079" y="4548216"/>
            <a:ext cx="699042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818748" y="4548216"/>
            <a:ext cx="896670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2903958" y="4794319"/>
            <a:ext cx="820695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632626" y="4794319"/>
            <a:ext cx="1018324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361411" y="4794319"/>
            <a:ext cx="60791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090079" y="4794319"/>
            <a:ext cx="805430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818748" y="4794319"/>
            <a:ext cx="1003059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2903958" y="5040423"/>
            <a:ext cx="927084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632626" y="5040423"/>
            <a:ext cx="1124712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361411" y="5040423"/>
            <a:ext cx="714306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090079" y="5040423"/>
            <a:ext cx="911819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9818748" y="5040423"/>
            <a:ext cx="1109447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614623" y="1408530"/>
            <a:ext cx="69414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1,234건 / 1,250건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79644" y="2027518"/>
            <a:ext cx="629126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987건 / 1,000건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15322" y="2646506"/>
            <a:ext cx="693448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2,156건 / 2,156건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63502" y="3265494"/>
            <a:ext cx="345268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0건 / 0건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18873" y="1311580"/>
            <a:ext cx="41296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카카오톡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18873" y="1505480"/>
            <a:ext cx="30972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활성화됨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18873" y="1930568"/>
            <a:ext cx="545460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문자 메시지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18873" y="2124468"/>
            <a:ext cx="30972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활성화됨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18873" y="2549556"/>
            <a:ext cx="309727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이메일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18873" y="2743456"/>
            <a:ext cx="30972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활성화됨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18873" y="3168544"/>
            <a:ext cx="339092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앱 푸시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18873" y="3362444"/>
            <a:ext cx="387101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비활성화됨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92093" y="2494322"/>
            <a:ext cx="8643458" cy="2289510"/>
          </a:xfrm>
          <a:prstGeom prst="roundRect">
            <a:avLst>
              <a:gd name="adj" fmla="val 195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6" name="TextBox 15">
            <a:hlinkClick r:id="rId6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18873" y="2807545"/>
            <a:ext cx="8404812" cy="1513910"/>
          </a:xfrm>
          <a:prstGeom prst="roundRect">
            <a:avLst>
              <a:gd name="adj" fmla="val 2955"/>
            </a:avLst>
          </a:prstGeom>
          <a:noFill/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792093" y="1251918"/>
            <a:ext cx="4262067" cy="869520"/>
          </a:xfrm>
          <a:prstGeom prst="roundRect">
            <a:avLst>
              <a:gd name="adj" fmla="val 514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26331" y="2815003"/>
            <a:ext cx="8389897" cy="27593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278182" y="4410948"/>
            <a:ext cx="970548" cy="27593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338222" y="4410948"/>
            <a:ext cx="970548" cy="27593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18873" y="1348868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릴레이 상태 요약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18873" y="2591272"/>
            <a:ext cx="387101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1">
                <a:solidFill>
                  <a:srgbClr val="333333"/>
                </a:solidFill>
                <a:latin typeface="Apple SD Gothic Neo"/>
              </a:rPr>
              <a:t>차단 목록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95466" y="2591272"/>
            <a:ext cx="388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복구 목록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30739" y="2889580"/>
            <a:ext cx="375098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릴레이 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8718" y="2889580"/>
            <a:ext cx="167798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위치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6697" y="2889580"/>
            <a:ext cx="167798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4677" y="2889580"/>
            <a:ext cx="445364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마지막 변경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42656" y="2889580"/>
            <a:ext cx="251697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담당자</a:t>
            </a:r>
          </a:p>
        </p:txBody>
      </p:sp>
      <p:sp>
        <p:nvSpPr>
          <p:cNvPr id="41" name="TextBox 40">
            <a:hlinkClick r:id="rId7" action="ppaction://hlinksldjump"/>
          </p:cNvPr>
          <p:cNvSpPr txBox="1"/>
          <p:nvPr/>
        </p:nvSpPr>
        <p:spPr>
          <a:xfrm>
            <a:off x="9419878" y="4485524"/>
            <a:ext cx="687156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FFFFFF"/>
                </a:solidFill>
                <a:latin typeface="Apple SD Gothic Neo"/>
              </a:rPr>
              <a:t>릴레이 차단 실행</a:t>
            </a:r>
          </a:p>
        </p:txBody>
      </p:sp>
      <p:sp>
        <p:nvSpPr>
          <p:cNvPr id="42" name="TextBox 41">
            <a:hlinkClick r:id="rId8" action="ppaction://hlinksldjump"/>
          </p:cNvPr>
          <p:cNvSpPr txBox="1"/>
          <p:nvPr/>
        </p:nvSpPr>
        <p:spPr>
          <a:xfrm>
            <a:off x="10479918" y="4485524"/>
            <a:ext cx="687156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FFFFFF"/>
                </a:solidFill>
                <a:latin typeface="Apple SD Gothic Neo"/>
              </a:rPr>
              <a:t>릴레이 복구 실행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30739" y="3165514"/>
            <a:ext cx="587642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4708718" y="3165514"/>
            <a:ext cx="778629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386697" y="3165514"/>
            <a:ext cx="969616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8064677" y="3165514"/>
            <a:ext cx="1160602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742656" y="3165514"/>
            <a:ext cx="763947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3030739" y="3411618"/>
            <a:ext cx="690419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4708718" y="3411618"/>
            <a:ext cx="881405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6386697" y="3411618"/>
            <a:ext cx="1072392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064677" y="3411618"/>
            <a:ext cx="675736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9742656" y="3411618"/>
            <a:ext cx="866723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3030739" y="3657721"/>
            <a:ext cx="793311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4708718" y="3657721"/>
            <a:ext cx="98429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6386697" y="3657721"/>
            <a:ext cx="587642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8064677" y="3657721"/>
            <a:ext cx="778629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9742656" y="3657721"/>
            <a:ext cx="969616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3030739" y="3903825"/>
            <a:ext cx="89608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4708718" y="3903825"/>
            <a:ext cx="1087074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6386697" y="3903825"/>
            <a:ext cx="690419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064677" y="3903825"/>
            <a:ext cx="881405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9742656" y="3903825"/>
            <a:ext cx="1072392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3030739" y="4149929"/>
            <a:ext cx="998980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4708718" y="4149929"/>
            <a:ext cx="602325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6386697" y="4149929"/>
            <a:ext cx="793311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8064677" y="4149929"/>
            <a:ext cx="98429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9742656" y="4149929"/>
            <a:ext cx="587642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918873" y="1572599"/>
            <a:ext cx="412270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전체 릴레이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18873" y="1773957"/>
            <a:ext cx="256008" cy="2461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644" b="1">
                <a:solidFill>
                  <a:srgbClr val="333333"/>
                </a:solidFill>
                <a:latin typeface="Apple SD Gothic Neo"/>
              </a:rPr>
              <a:t>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14626" y="1572599"/>
            <a:ext cx="25740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차단 중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14626" y="1773957"/>
            <a:ext cx="130276" cy="2461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644" b="1">
                <a:solidFill>
                  <a:srgbClr val="333333"/>
                </a:solidFill>
                <a:latin typeface="Apple SD Gothic Neo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710495" y="1572599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복구 완료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710495" y="1773957"/>
            <a:ext cx="223614" cy="2461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644" b="1">
                <a:solidFill>
                  <a:srgbClr val="333333"/>
                </a:solidFill>
                <a:latin typeface="Apple SD Gothic Neo"/>
              </a:rPr>
              <a:t>21</a:t>
            </a:r>
          </a:p>
        </p:txBody>
      </p:sp>
      <p:sp>
        <p:nvSpPr>
          <p:cNvPr id="970" name="메뉴-설정">
            <a:hlinkClick r:id="rId9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971" name="TextBox 릴레이 제어 탭">
            <a:hlinkClick r:id="rId9" action="ppaction://hlinksldjump"/>
          </p:cNvPr>
          <p:cNvSpPr txBox="1"/>
          <p:nvPr/>
        </p:nvSpPr>
        <p:spPr>
          <a:xfrm>
            <a:off x="2788920" y="960120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u="sng">
                <a:solidFill>
                  <a:srgbClr val="999999"/>
                </a:solidFill>
                <a:latin typeface="Apple SD Gothic Neo"/>
              </a:rPr>
              <a:t>릴레이 제어</a:t>
            </a:r>
          </a:p>
        </p:txBody>
      </p:sp>
      <p:sp>
        <p:nvSpPr>
          <p:cNvPr id="972" name="TextBox 알림 설정 탭">
            <a:hlinkClick r:id="rId10" action="ppaction://hlinksldjump"/>
          </p:cNvPr>
          <p:cNvSpPr txBox="1"/>
          <p:nvPr/>
        </p:nvSpPr>
        <p:spPr>
          <a:xfrm>
            <a:off x="3511296" y="960120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알림 설정</a:t>
            </a:r>
          </a:p>
        </p:txBody>
      </p:sp>
      <p:sp>
        <p:nvSpPr>
          <p:cNvPr id="973" name="TextBox 계정 설정 탭">
            <a:hlinkClick r:id="rId11" action="ppaction://hlinksldjump"/>
          </p:cNvPr>
          <p:cNvSpPr txBox="1"/>
          <p:nvPr/>
        </p:nvSpPr>
        <p:spPr>
          <a:xfrm>
            <a:off x="4233672" y="950976"/>
            <a:ext cx="53035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dirty="0" err="1">
                <a:solidFill>
                  <a:srgbClr val="333333"/>
                </a:solidFill>
                <a:latin typeface="Apple SD Gothic Neo"/>
              </a:rPr>
              <a:t>계정</a:t>
            </a:r>
            <a:r>
              <a:rPr sz="750" b="0" dirty="0">
                <a:solidFill>
                  <a:srgbClr val="333333"/>
                </a:solidFill>
                <a:latin typeface="Apple SD Gothic Neo"/>
              </a:rPr>
              <a:t> </a:t>
            </a:r>
            <a:r>
              <a:rPr sz="750" b="0" dirty="0" err="1">
                <a:solidFill>
                  <a:srgbClr val="333333"/>
                </a:solidFill>
                <a:latin typeface="Apple SD Gothic Neo"/>
              </a:rPr>
              <a:t>설정</a:t>
            </a:r>
            <a:endParaRPr sz="750" b="1" dirty="0">
              <a:solidFill>
                <a:srgbClr val="333333"/>
              </a:solidFill>
              <a:latin typeface="Apple SD Gothic Ne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92093" y="1214630"/>
            <a:ext cx="8643458" cy="7606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92093" y="2094637"/>
            <a:ext cx="8643458" cy="1931541"/>
          </a:xfrm>
          <a:prstGeom prst="roundRect">
            <a:avLst>
              <a:gd name="adj" fmla="val 23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6" name="TextBox 15">
            <a:hlinkClick r:id="rId6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2093" y="961069"/>
            <a:ext cx="545460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 dirty="0" err="1">
                <a:solidFill>
                  <a:srgbClr val="333333"/>
                </a:solidFill>
                <a:latin typeface="Apple SD Gothic Neo"/>
              </a:rPr>
              <a:t>릴레이</a:t>
            </a:r>
            <a:r>
              <a:rPr sz="939" b="1" dirty="0">
                <a:solidFill>
                  <a:srgbClr val="333333"/>
                </a:solidFill>
                <a:latin typeface="Apple SD Gothic Neo"/>
              </a:rPr>
              <a:t> </a:t>
            </a:r>
            <a:r>
              <a:rPr lang="ko-KR" altLang="en-US" sz="939" b="1" dirty="0">
                <a:solidFill>
                  <a:srgbClr val="333333"/>
                </a:solidFill>
                <a:latin typeface="Apple SD Gothic Neo"/>
              </a:rPr>
              <a:t>차단</a:t>
            </a:r>
            <a:endParaRPr sz="939" b="1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918873" y="2415317"/>
            <a:ext cx="8404812" cy="1513910"/>
          </a:xfrm>
          <a:prstGeom prst="roundRect">
            <a:avLst>
              <a:gd name="adj" fmla="val 2955"/>
            </a:avLst>
          </a:prstGeom>
          <a:noFill/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18873" y="1311580"/>
            <a:ext cx="442334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현재 상태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8873" y="2191587"/>
            <a:ext cx="442334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차단 이력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92093" y="4145501"/>
            <a:ext cx="442334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 dirty="0" err="1">
                <a:solidFill>
                  <a:srgbClr val="333333"/>
                </a:solidFill>
                <a:latin typeface="Apple SD Gothic Neo"/>
              </a:rPr>
              <a:t>차단</a:t>
            </a:r>
            <a:r>
              <a:rPr sz="939" b="1" dirty="0">
                <a:solidFill>
                  <a:srgbClr val="333333"/>
                </a:solidFill>
                <a:latin typeface="Apple SD Gothic Neo"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331" y="2422775"/>
            <a:ext cx="8389897" cy="27593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209810" y="6293314"/>
            <a:ext cx="464124" cy="275934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763427" y="6293314"/>
            <a:ext cx="672124" cy="27593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30739" y="2497352"/>
            <a:ext cx="361465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차단 시간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8213" y="2497352"/>
            <a:ext cx="167798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5687" y="2497352"/>
            <a:ext cx="167798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3161" y="2497352"/>
            <a:ext cx="251697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조치자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51506" y="6367891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05123" y="6367891"/>
            <a:ext cx="388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FFFFFF"/>
                </a:solidFill>
                <a:latin typeface="Apple SD Gothic Neo"/>
              </a:rPr>
              <a:t>차단 요청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30739" y="2773286"/>
            <a:ext cx="755440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28213" y="2773286"/>
            <a:ext cx="1000961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225687" y="2773286"/>
            <a:ext cx="1246482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323161" y="2773286"/>
            <a:ext cx="1492003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030739" y="3019390"/>
            <a:ext cx="887581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128213" y="3019390"/>
            <a:ext cx="1133102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225687" y="3019390"/>
            <a:ext cx="1378623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323161" y="3019390"/>
            <a:ext cx="868704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030739" y="3265494"/>
            <a:ext cx="1019839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128213" y="3265494"/>
            <a:ext cx="1265360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225687" y="3265494"/>
            <a:ext cx="755440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323161" y="3265494"/>
            <a:ext cx="1000961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3030739" y="3511597"/>
            <a:ext cx="1151979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128213" y="3511597"/>
            <a:ext cx="1397500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225687" y="3511597"/>
            <a:ext cx="887581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323161" y="3511597"/>
            <a:ext cx="1133102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3030739" y="3757701"/>
            <a:ext cx="1284237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128213" y="3757701"/>
            <a:ext cx="77431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225687" y="3757701"/>
            <a:ext cx="1019839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323161" y="3757701"/>
            <a:ext cx="1265360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2792093" y="4615335"/>
            <a:ext cx="8643458" cy="65627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918873" y="1535311"/>
            <a:ext cx="412270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시스템 상태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18873" y="1706837"/>
            <a:ext cx="382673" cy="17152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174" b="1">
                <a:solidFill>
                  <a:srgbClr val="333333"/>
                </a:solidFill>
                <a:latin typeface="Apple SD Gothic Neo"/>
              </a:rPr>
              <a:t>차단됨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03314" y="1557684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차단 시간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92093" y="4413977"/>
            <a:ext cx="3895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dirty="0">
                <a:solidFill>
                  <a:srgbClr val="333333"/>
                </a:solidFill>
                <a:latin typeface="Apple SD Gothic Neo"/>
              </a:rPr>
              <a:t>차단 사유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03314" y="1744126"/>
            <a:ext cx="2873773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9109" y="5905514"/>
            <a:ext cx="89492" cy="89492"/>
          </a:xfrm>
          <a:prstGeom prst="rect">
            <a:avLst/>
          </a:prstGeom>
        </p:spPr>
      </p:pic>
      <p:sp>
        <p:nvSpPr>
          <p:cNvPr id="970" name="메뉴-설정">
            <a:hlinkClick r:id="rId8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92093" y="1214630"/>
            <a:ext cx="8643458" cy="7606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92093" y="2094637"/>
            <a:ext cx="8643458" cy="1931541"/>
          </a:xfrm>
          <a:prstGeom prst="roundRect">
            <a:avLst>
              <a:gd name="adj" fmla="val 23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6" name="TextBox 15">
            <a:hlinkClick r:id="rId6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2093" y="961069"/>
            <a:ext cx="545460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 dirty="0" err="1">
                <a:solidFill>
                  <a:srgbClr val="333333"/>
                </a:solidFill>
                <a:latin typeface="Apple SD Gothic Neo"/>
              </a:rPr>
              <a:t>릴레이</a:t>
            </a:r>
            <a:r>
              <a:rPr sz="939" b="1" dirty="0">
                <a:solidFill>
                  <a:srgbClr val="333333"/>
                </a:solidFill>
                <a:latin typeface="Apple SD Gothic Neo"/>
              </a:rPr>
              <a:t> </a:t>
            </a:r>
            <a:r>
              <a:rPr lang="ko-KR" altLang="en-US" sz="939" b="1" dirty="0">
                <a:solidFill>
                  <a:srgbClr val="333333"/>
                </a:solidFill>
                <a:latin typeface="Apple SD Gothic Neo"/>
              </a:rPr>
              <a:t>차단</a:t>
            </a:r>
            <a:endParaRPr sz="939" b="1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918873" y="2415317"/>
            <a:ext cx="8404812" cy="1513910"/>
          </a:xfrm>
          <a:prstGeom prst="roundRect">
            <a:avLst>
              <a:gd name="adj" fmla="val 2955"/>
            </a:avLst>
          </a:prstGeom>
          <a:noFill/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18873" y="1311580"/>
            <a:ext cx="442334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현재 상태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8873" y="2191587"/>
            <a:ext cx="442334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차단 이력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92093" y="4145501"/>
            <a:ext cx="442334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 dirty="0" err="1">
                <a:solidFill>
                  <a:srgbClr val="333333"/>
                </a:solidFill>
                <a:latin typeface="Apple SD Gothic Neo"/>
              </a:rPr>
              <a:t>차단</a:t>
            </a:r>
            <a:r>
              <a:rPr sz="939" b="1" dirty="0">
                <a:solidFill>
                  <a:srgbClr val="333333"/>
                </a:solidFill>
                <a:latin typeface="Apple SD Gothic Neo"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331" y="2422775"/>
            <a:ext cx="8389897" cy="27593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209810" y="6293314"/>
            <a:ext cx="464124" cy="275934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763427" y="6293314"/>
            <a:ext cx="672124" cy="27593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30739" y="2497352"/>
            <a:ext cx="361465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차단 시간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8213" y="2497352"/>
            <a:ext cx="167798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5687" y="2497352"/>
            <a:ext cx="167798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3161" y="2497352"/>
            <a:ext cx="251697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조치자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51506" y="6367891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05123" y="6367891"/>
            <a:ext cx="388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FFFFFF"/>
                </a:solidFill>
                <a:latin typeface="Apple SD Gothic Neo"/>
              </a:rPr>
              <a:t>차단 요청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30739" y="2773286"/>
            <a:ext cx="755440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28213" y="2773286"/>
            <a:ext cx="1000961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225687" y="2773286"/>
            <a:ext cx="1246482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323161" y="2773286"/>
            <a:ext cx="1492003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030739" y="3019390"/>
            <a:ext cx="887581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128213" y="3019390"/>
            <a:ext cx="1133102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225687" y="3019390"/>
            <a:ext cx="1378623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323161" y="3019390"/>
            <a:ext cx="868704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030739" y="3265494"/>
            <a:ext cx="1019839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128213" y="3265494"/>
            <a:ext cx="1265360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225687" y="3265494"/>
            <a:ext cx="755440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323161" y="3265494"/>
            <a:ext cx="1000961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3030739" y="3511597"/>
            <a:ext cx="1151979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128213" y="3511597"/>
            <a:ext cx="1397500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225687" y="3511597"/>
            <a:ext cx="887581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323161" y="3511597"/>
            <a:ext cx="1133102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3030739" y="3757701"/>
            <a:ext cx="1284237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128213" y="3757701"/>
            <a:ext cx="77431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225687" y="3757701"/>
            <a:ext cx="1019839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323161" y="3757701"/>
            <a:ext cx="1265360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2792093" y="4615335"/>
            <a:ext cx="8643458" cy="65627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918873" y="1535311"/>
            <a:ext cx="412270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시스템 상태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18873" y="1706837"/>
            <a:ext cx="382673" cy="17152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174" b="1">
                <a:solidFill>
                  <a:srgbClr val="333333"/>
                </a:solidFill>
                <a:latin typeface="Apple SD Gothic Neo"/>
              </a:rPr>
              <a:t>차단됨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03314" y="1557684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차단 시간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92093" y="4413977"/>
            <a:ext cx="3895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dirty="0">
                <a:solidFill>
                  <a:srgbClr val="333333"/>
                </a:solidFill>
                <a:latin typeface="Apple SD Gothic Neo"/>
              </a:rPr>
              <a:t>차단 사유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03314" y="1744126"/>
            <a:ext cx="2873773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9109" y="5905514"/>
            <a:ext cx="89492" cy="89492"/>
          </a:xfrm>
          <a:prstGeom prst="rect">
            <a:avLst/>
          </a:prstGeom>
        </p:spPr>
      </p:pic>
      <p:sp>
        <p:nvSpPr>
          <p:cNvPr id="970" name="메뉴-설정">
            <a:hlinkClick r:id="rId8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980" name="로딩 오버레이"/>
          <p:cNvSpPr/>
          <p:nvPr/>
        </p:nvSpPr>
        <p:spPr>
          <a:xfrm>
            <a:off x="571500" y="304800"/>
            <a:ext cx="11036300" cy="70104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81" name="로딩 팝업 카드"/>
          <p:cNvSpPr/>
          <p:nvPr/>
        </p:nvSpPr>
        <p:spPr>
          <a:xfrm>
            <a:off x="3810000" y="2108200"/>
            <a:ext cx="457200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2" name="로딩 스피너"/>
          <p:cNvSpPr/>
          <p:nvPr/>
        </p:nvSpPr>
        <p:spPr>
          <a:xfrm>
            <a:off x="5803900" y="2489200"/>
            <a:ext cx="584200" cy="584200"/>
          </a:xfrm>
          <a:prstGeom prst="donut">
            <a:avLst>
              <a:gd name="adj" fmla="val 16000"/>
            </a:avLst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83" name="로딩 제목"/>
          <p:cNvSpPr txBox="1"/>
          <p:nvPr/>
        </p:nvSpPr>
        <p:spPr>
          <a:xfrm>
            <a:off x="3810000" y="3200400"/>
            <a:ext cx="4572000" cy="254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ko-KR" altLang="en-US" sz="1400" b="1">
                <a:solidFill>
                  <a:srgbClr val="333333"/>
                </a:solidFill>
                <a:latin typeface="Apple SD Gothic Neo"/>
                <a:ea typeface="Apple SD Gothic Neo"/>
              </a:rPr>
              <a:t>차단 중…</a:t>
            </a:r>
          </a:p>
        </p:txBody>
      </p:sp>
      <p:sp>
        <p:nvSpPr>
          <p:cNvPr id="984" name="로딩 안내"/>
          <p:cNvSpPr txBox="1"/>
          <p:nvPr/>
        </p:nvSpPr>
        <p:spPr>
          <a:xfrm>
            <a:off x="3810000" y="3530600"/>
            <a:ext cx="4572000" cy="381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ko-KR" altLang="en-US" sz="900" b="0">
                <a:solidFill>
                  <a:srgbClr val="666666"/>
                </a:solidFill>
                <a:latin typeface="Apple SD Gothic Neo"/>
                <a:ea typeface="Apple SD Gothic Neo"/>
              </a:rPr>
              <a:t>릴레이 차단을 실행하고 있습니다.</a:t>
            </a:r>
          </a:p>
          <a:p>
            <a:pPr algn="ctr"/>
            <a:r>
              <a:rPr lang="ko-KR" altLang="en-US" sz="900" b="0">
                <a:solidFill>
                  <a:srgbClr val="666666"/>
                </a:solidFill>
                <a:latin typeface="Apple SD Gothic Neo"/>
                <a:ea typeface="Apple SD Gothic Neo"/>
              </a:rPr>
              <a:t>잠시만 기다려 주세요.</a:t>
            </a:r>
          </a:p>
        </p:txBody>
      </p:sp>
      <p:sp>
        <p:nvSpPr>
          <p:cNvPr id="985" name="진행바 트랙"/>
          <p:cNvSpPr/>
          <p:nvPr/>
        </p:nvSpPr>
        <p:spPr>
          <a:xfrm>
            <a:off x="4191000" y="4140200"/>
            <a:ext cx="3810000" cy="101600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86" name="진행바 채움"/>
          <p:cNvSpPr/>
          <p:nvPr/>
        </p:nvSpPr>
        <p:spPr>
          <a:xfrm>
            <a:off x="4191000" y="4140200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92093" y="1214630"/>
            <a:ext cx="8643458" cy="753226"/>
          </a:xfrm>
          <a:prstGeom prst="roundRect">
            <a:avLst>
              <a:gd name="adj" fmla="val 594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92093" y="2087179"/>
            <a:ext cx="8643458" cy="939668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92093" y="3146171"/>
            <a:ext cx="8643458" cy="1633233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5" name="TextBox 14">
            <a:hlinkClick r:id="rId5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 dirty="0" err="1">
                <a:solidFill>
                  <a:srgbClr val="666666"/>
                </a:solidFill>
                <a:latin typeface="Apple SD Gothic Neo"/>
              </a:rPr>
              <a:t>대시보드</a:t>
            </a:r>
            <a:endParaRPr sz="822" b="0" dirty="0">
              <a:solidFill>
                <a:srgbClr val="666666"/>
              </a:solidFill>
              <a:latin typeface="Apple SD Gothic Neo"/>
            </a:endParaRPr>
          </a:p>
        </p:txBody>
      </p:sp>
      <p:sp>
        <p:nvSpPr>
          <p:cNvPr id="17" name="TextBox 16">
            <a:hlinkClick r:id="rId6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 dirty="0" err="1">
                <a:solidFill>
                  <a:srgbClr val="666666"/>
                </a:solidFill>
                <a:latin typeface="Apple SD Gothic Neo"/>
              </a:rPr>
              <a:t>알림</a:t>
            </a:r>
            <a:endParaRPr sz="822" b="0" dirty="0">
              <a:solidFill>
                <a:srgbClr val="666666"/>
              </a:solidFill>
              <a:latin typeface="Apple SD Gothic Neo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918873" y="3660751"/>
            <a:ext cx="8404812" cy="1021703"/>
          </a:xfrm>
          <a:prstGeom prst="roundRect">
            <a:avLst>
              <a:gd name="adj" fmla="val 4379"/>
            </a:avLst>
          </a:prstGeom>
          <a:noFill/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18873" y="1311580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차단 상태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8873" y="2184129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차단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8873" y="2601760"/>
            <a:ext cx="56713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영향받은 배터리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18873" y="2803117"/>
            <a:ext cx="154980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0개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8873" y="3243121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상세 로그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18873" y="2400402"/>
            <a:ext cx="587292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918873" y="3459394"/>
            <a:ext cx="587292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926331" y="3668209"/>
            <a:ext cx="8389897" cy="27593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92093" y="961069"/>
            <a:ext cx="442334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차단 확인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52934" y="1512937"/>
            <a:ext cx="357969" cy="357969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18873" y="1606159"/>
            <a:ext cx="255076" cy="17152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174" b="1">
                <a:solidFill>
                  <a:srgbClr val="333333"/>
                </a:solidFill>
                <a:latin typeface="Apple SD Gothic Neo"/>
              </a:rPr>
              <a:t>성공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9333" y="1609887"/>
            <a:ext cx="245171" cy="16406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115" b="1">
                <a:solidFill>
                  <a:srgbClr val="666666"/>
                </a:solidFill>
                <a:latin typeface="Apple SD Gothic Neo"/>
              </a:rPr>
              <a:t>체크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30739" y="3742786"/>
            <a:ext cx="167798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타입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27371" y="3742786"/>
            <a:ext cx="251697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메시지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4003" y="3742786"/>
            <a:ext cx="167798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시각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30739" y="4018720"/>
            <a:ext cx="1035103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827371" y="4018720"/>
            <a:ext cx="1371515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624003" y="4018720"/>
            <a:ext cx="1707927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030739" y="4264824"/>
            <a:ext cx="1216185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827371" y="4264824"/>
            <a:ext cx="1552597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624003" y="4264824"/>
            <a:ext cx="1889009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3030739" y="4510927"/>
            <a:ext cx="1397384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827371" y="4510927"/>
            <a:ext cx="1733795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624003" y="4510927"/>
            <a:ext cx="1035103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hlinkClick r:id="rId7" action="ppaction://hlinksldjump"/>
            <a:extLst>
              <a:ext uri="{FF2B5EF4-FFF2-40B4-BE49-F238E27FC236}">
                <a16:creationId xmlns:a16="http://schemas.microsoft.com/office/drawing/2014/main" id="{3AC0DFF8-FF87-122E-7227-F0F5D2773CA4}"/>
              </a:ext>
            </a:extLst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  <a:endParaRPr sz="822" b="0" dirty="0">
              <a:solidFill>
                <a:srgbClr val="666666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AAFF61-1668-286E-CD4F-B968203E4EE8}"/>
              </a:ext>
            </a:extLst>
          </p:cNvPr>
          <p:cNvSpPr txBox="1"/>
          <p:nvPr/>
        </p:nvSpPr>
        <p:spPr>
          <a:xfrm>
            <a:off x="4569819" y="883720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 dirty="0" err="1">
                <a:solidFill>
                  <a:srgbClr val="FFFFFF"/>
                </a:solidFill>
                <a:latin typeface="Apple SD Gothic Neo"/>
              </a:rPr>
              <a:t>확인</a:t>
            </a:r>
            <a:endParaRPr sz="822" b="0" dirty="0">
              <a:solidFill>
                <a:srgbClr val="FFFFFF"/>
              </a:solidFill>
              <a:latin typeface="Apple SD Gothic Neo"/>
            </a:endParaRPr>
          </a:p>
        </p:txBody>
      </p:sp>
      <p:sp>
        <p:nvSpPr>
          <p:cNvPr id="47" name="실시간대시보드로 버튼">
            <a:hlinkClick r:id="rId7" action="ppaction://hlinksldjump"/>
            <a:extLst>
              <a:ext uri="{FF2B5EF4-FFF2-40B4-BE49-F238E27FC236}">
                <a16:creationId xmlns:a16="http://schemas.microsoft.com/office/drawing/2014/main" id="{571FFDE9-6D57-E0A2-107E-BA01A79658AD}"/>
              </a:ext>
            </a:extLst>
          </p:cNvPr>
          <p:cNvSpPr/>
          <p:nvPr/>
        </p:nvSpPr>
        <p:spPr>
          <a:xfrm>
            <a:off x="3352935" y="859007"/>
            <a:ext cx="595566" cy="304800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22" b="0" dirty="0">
                <a:solidFill>
                  <a:srgbClr val="333333"/>
                </a:solidFill>
                <a:latin typeface="Apple SD Gothic Neo"/>
              </a:rPr>
              <a:t>돌아가기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2093" y="961069"/>
            <a:ext cx="545460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릴레이 복구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92093" y="1214630"/>
            <a:ext cx="8643458" cy="1931541"/>
          </a:xfrm>
          <a:prstGeom prst="roundRect">
            <a:avLst>
              <a:gd name="adj" fmla="val 23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792093" y="3265494"/>
            <a:ext cx="8643458" cy="1856964"/>
          </a:xfrm>
          <a:prstGeom prst="roundRect">
            <a:avLst>
              <a:gd name="adj" fmla="val 2409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918873" y="1535311"/>
            <a:ext cx="8404812" cy="1513910"/>
          </a:xfrm>
          <a:prstGeom prst="roundRect">
            <a:avLst>
              <a:gd name="adj" fmla="val 2955"/>
            </a:avLst>
          </a:prstGeom>
          <a:noFill/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18873" y="131158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릴레이 상태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8873" y="3362444"/>
            <a:ext cx="442334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복구 작업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331" y="1542768"/>
            <a:ext cx="8389897" cy="27593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18873" y="3586174"/>
            <a:ext cx="2087220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선택된 릴레이를 복구합니다. 이 작업은 되돌릴 수 없습니다.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18873" y="4003805"/>
            <a:ext cx="8389897" cy="65627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30739" y="1617345"/>
            <a:ext cx="375098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릴레이 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27371" y="1617345"/>
            <a:ext cx="167798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24003" y="1617345"/>
            <a:ext cx="613045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마지막 업데이트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8873" y="3802447"/>
            <a:ext cx="3895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333333"/>
                </a:solidFill>
                <a:latin typeface="Apple SD Gothic Neo"/>
              </a:rPr>
              <a:t>   </a:t>
            </a:r>
            <a:r>
              <a:rPr sz="822" b="0" dirty="0" err="1">
                <a:solidFill>
                  <a:srgbClr val="333333"/>
                </a:solidFill>
                <a:latin typeface="Apple SD Gothic Neo"/>
              </a:rPr>
              <a:t>복구</a:t>
            </a:r>
            <a:r>
              <a:rPr sz="822" b="0" dirty="0">
                <a:solidFill>
                  <a:srgbClr val="333333"/>
                </a:solidFill>
                <a:latin typeface="Apple SD Gothic Neo"/>
              </a:rPr>
              <a:t> </a:t>
            </a:r>
            <a:r>
              <a:rPr sz="822" b="0" dirty="0" err="1">
                <a:solidFill>
                  <a:srgbClr val="333333"/>
                </a:solidFill>
                <a:latin typeface="Apple SD Gothic Neo"/>
              </a:rPr>
              <a:t>사유</a:t>
            </a:r>
            <a:endParaRPr sz="822" b="0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18873" y="4003805"/>
            <a:ext cx="8389897" cy="65627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969696"/>
                </a:solidFill>
                <a:latin typeface="Apple SD Gothic Neo"/>
              </a:rPr>
              <a:t>   </a:t>
            </a:r>
            <a:r>
              <a:rPr sz="822" b="0" dirty="0" err="1">
                <a:solidFill>
                  <a:srgbClr val="969696"/>
                </a:solidFill>
                <a:latin typeface="Apple SD Gothic Neo"/>
              </a:rPr>
              <a:t>복구</a:t>
            </a:r>
            <a:r>
              <a:rPr sz="822" b="0" dirty="0">
                <a:solidFill>
                  <a:srgbClr val="969696"/>
                </a:solidFill>
                <a:latin typeface="Apple SD Gothic Neo"/>
              </a:rPr>
              <a:t> </a:t>
            </a:r>
            <a:r>
              <a:rPr sz="822" b="0" dirty="0" err="1">
                <a:solidFill>
                  <a:srgbClr val="969696"/>
                </a:solidFill>
                <a:latin typeface="Apple SD Gothic Neo"/>
              </a:rPr>
              <a:t>사유</a:t>
            </a:r>
            <a:endParaRPr sz="822" b="0" dirty="0">
              <a:solidFill>
                <a:srgbClr val="969696"/>
              </a:solidFill>
              <a:latin typeface="Apple SD Gothic Neo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030739" y="1893279"/>
            <a:ext cx="1035103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827371" y="1893279"/>
            <a:ext cx="1371515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624003" y="1893279"/>
            <a:ext cx="1707927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030739" y="2139383"/>
            <a:ext cx="1216185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827371" y="2139383"/>
            <a:ext cx="1552597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624003" y="2139383"/>
            <a:ext cx="1889009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030739" y="2385487"/>
            <a:ext cx="1397384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827371" y="2385487"/>
            <a:ext cx="1733795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624003" y="2385487"/>
            <a:ext cx="1035103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030739" y="2631590"/>
            <a:ext cx="1578466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827371" y="2631590"/>
            <a:ext cx="1914877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624003" y="2631590"/>
            <a:ext cx="1216185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3030739" y="2877694"/>
            <a:ext cx="1759664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827371" y="2877694"/>
            <a:ext cx="1060972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624003" y="2877694"/>
            <a:ext cx="1397384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0112860" y="4749573"/>
            <a:ext cx="464124" cy="275934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0636646" y="4749573"/>
            <a:ext cx="672124" cy="27593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254556" y="4824150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78342" y="4824150"/>
            <a:ext cx="388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FFFFFF"/>
                </a:solidFill>
                <a:latin typeface="Apple SD Gothic Neo"/>
              </a:rPr>
              <a:t>복구 실행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F3F89-D6D1-9955-2DC7-85E9CC271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E024E8-3626-DF43-682A-7778B430CACF}"/>
              </a:ext>
            </a:extLst>
          </p:cNvPr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C56E5B-5147-17E9-F1B4-BD88682EA5B2}"/>
              </a:ext>
            </a:extLst>
          </p:cNvPr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18DC0F-A73E-5FB3-7763-03719D25F19E}"/>
              </a:ext>
            </a:extLst>
          </p:cNvPr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1F3D0-37E1-DA7E-AA66-ED1E6388576C}"/>
              </a:ext>
            </a:extLst>
          </p:cNvPr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3B376B-86BC-B63B-57DE-EFE2D8D316FB}"/>
              </a:ext>
            </a:extLst>
          </p:cNvPr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  <a:extLst>
              <a:ext uri="{FF2B5EF4-FFF2-40B4-BE49-F238E27FC236}">
                <a16:creationId xmlns:a16="http://schemas.microsoft.com/office/drawing/2014/main" id="{4AB3EC1D-E19B-28A1-87B7-10E8C6BE28EB}"/>
              </a:ext>
            </a:extLst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31632C-13E0-14D7-C5CD-9E2B14CB7B4A}"/>
              </a:ext>
            </a:extLst>
          </p:cNvPr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7D457D24-0490-D072-843C-0A2363D87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7A47BA-C2A8-040C-25FA-A8E28442A114}"/>
              </a:ext>
            </a:extLst>
          </p:cNvPr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4F0BB1-C738-6C8F-78C5-0A59DFB507F7}"/>
              </a:ext>
            </a:extLst>
          </p:cNvPr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2" name="TextBox 11">
            <a:hlinkClick r:id="rId5" action="ppaction://hlinksldjump"/>
            <a:extLst>
              <a:ext uri="{FF2B5EF4-FFF2-40B4-BE49-F238E27FC236}">
                <a16:creationId xmlns:a16="http://schemas.microsoft.com/office/drawing/2014/main" id="{D6ECE71D-AF66-8E5F-0A7B-E5F9C60849DF}"/>
              </a:ext>
            </a:extLst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4" name="TextBox 13">
            <a:hlinkClick r:id="rId6" action="ppaction://hlinksldjump"/>
            <a:extLst>
              <a:ext uri="{FF2B5EF4-FFF2-40B4-BE49-F238E27FC236}">
                <a16:creationId xmlns:a16="http://schemas.microsoft.com/office/drawing/2014/main" id="{8F6DD7EA-6DB5-112E-B68D-861923F1D74F}"/>
              </a:ext>
            </a:extLst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5714BA-0C15-3460-2F37-B8898A9681A9}"/>
              </a:ext>
            </a:extLst>
          </p:cNvPr>
          <p:cNvSpPr txBox="1"/>
          <p:nvPr/>
        </p:nvSpPr>
        <p:spPr>
          <a:xfrm>
            <a:off x="2792093" y="961069"/>
            <a:ext cx="545460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릴레이 복구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B8B365F-ECB0-1BEA-08E7-78B5A0C60C52}"/>
              </a:ext>
            </a:extLst>
          </p:cNvPr>
          <p:cNvSpPr/>
          <p:nvPr/>
        </p:nvSpPr>
        <p:spPr>
          <a:xfrm>
            <a:off x="2792093" y="1214630"/>
            <a:ext cx="8643458" cy="1931541"/>
          </a:xfrm>
          <a:prstGeom prst="roundRect">
            <a:avLst>
              <a:gd name="adj" fmla="val 23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A829B28-96AA-D7AD-F579-F19CC209B279}"/>
              </a:ext>
            </a:extLst>
          </p:cNvPr>
          <p:cNvSpPr/>
          <p:nvPr/>
        </p:nvSpPr>
        <p:spPr>
          <a:xfrm>
            <a:off x="2792093" y="3265494"/>
            <a:ext cx="8643458" cy="1856964"/>
          </a:xfrm>
          <a:prstGeom prst="roundRect">
            <a:avLst>
              <a:gd name="adj" fmla="val 2409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C0D6331-50DE-2C75-04A7-33EE10826587}"/>
              </a:ext>
            </a:extLst>
          </p:cNvPr>
          <p:cNvSpPr/>
          <p:nvPr/>
        </p:nvSpPr>
        <p:spPr>
          <a:xfrm>
            <a:off x="2918873" y="1535311"/>
            <a:ext cx="8404812" cy="1513910"/>
          </a:xfrm>
          <a:prstGeom prst="roundRect">
            <a:avLst>
              <a:gd name="adj" fmla="val 2955"/>
            </a:avLst>
          </a:prstGeom>
          <a:noFill/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EEB5D0-8223-0951-E361-15B3BA25F3D9}"/>
              </a:ext>
            </a:extLst>
          </p:cNvPr>
          <p:cNvSpPr txBox="1"/>
          <p:nvPr/>
        </p:nvSpPr>
        <p:spPr>
          <a:xfrm>
            <a:off x="2918873" y="131158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릴레이 상태 확인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041361-5331-604B-168A-266CB31A2B0D}"/>
              </a:ext>
            </a:extLst>
          </p:cNvPr>
          <p:cNvSpPr txBox="1"/>
          <p:nvPr/>
        </p:nvSpPr>
        <p:spPr>
          <a:xfrm>
            <a:off x="2918873" y="3362444"/>
            <a:ext cx="442334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복구 작업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2570C4-0E38-630A-A77F-2D3E9854C9F1}"/>
              </a:ext>
            </a:extLst>
          </p:cNvPr>
          <p:cNvSpPr/>
          <p:nvPr/>
        </p:nvSpPr>
        <p:spPr>
          <a:xfrm>
            <a:off x="2926331" y="1542768"/>
            <a:ext cx="8389897" cy="27593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9D8CDD-B0DE-3BA4-E2CE-366F65D9A531}"/>
              </a:ext>
            </a:extLst>
          </p:cNvPr>
          <p:cNvSpPr txBox="1"/>
          <p:nvPr/>
        </p:nvSpPr>
        <p:spPr>
          <a:xfrm>
            <a:off x="2918873" y="3586174"/>
            <a:ext cx="2087220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선택된 릴레이를 복구합니다. 이 작업은 되돌릴 수 없습니다.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CF90A00-3D68-0823-A25D-8897FA2CE372}"/>
              </a:ext>
            </a:extLst>
          </p:cNvPr>
          <p:cNvSpPr/>
          <p:nvPr/>
        </p:nvSpPr>
        <p:spPr>
          <a:xfrm>
            <a:off x="2918873" y="4003805"/>
            <a:ext cx="8389897" cy="65627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75E1AC-436A-7985-B08B-04D7D6D153C1}"/>
              </a:ext>
            </a:extLst>
          </p:cNvPr>
          <p:cNvSpPr txBox="1"/>
          <p:nvPr/>
        </p:nvSpPr>
        <p:spPr>
          <a:xfrm>
            <a:off x="3030739" y="1617345"/>
            <a:ext cx="375098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릴레이 ID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BACDA3-EED0-4421-776D-E7628DD5307D}"/>
              </a:ext>
            </a:extLst>
          </p:cNvPr>
          <p:cNvSpPr txBox="1"/>
          <p:nvPr/>
        </p:nvSpPr>
        <p:spPr>
          <a:xfrm>
            <a:off x="5827371" y="1617345"/>
            <a:ext cx="167798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상태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1E3C55-B707-F37B-016B-A7C7461C29E9}"/>
              </a:ext>
            </a:extLst>
          </p:cNvPr>
          <p:cNvSpPr txBox="1"/>
          <p:nvPr/>
        </p:nvSpPr>
        <p:spPr>
          <a:xfrm>
            <a:off x="8624003" y="1617345"/>
            <a:ext cx="613045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999999"/>
                </a:solidFill>
                <a:latin typeface="Apple SD Gothic Neo"/>
              </a:rPr>
              <a:t>마지막 업데이트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EF6961-EA43-8AD6-541A-63F63D58BF37}"/>
              </a:ext>
            </a:extLst>
          </p:cNvPr>
          <p:cNvSpPr txBox="1"/>
          <p:nvPr/>
        </p:nvSpPr>
        <p:spPr>
          <a:xfrm>
            <a:off x="2918873" y="3802447"/>
            <a:ext cx="3895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333333"/>
                </a:solidFill>
                <a:latin typeface="Apple SD Gothic Neo"/>
              </a:rPr>
              <a:t>   </a:t>
            </a:r>
            <a:r>
              <a:rPr sz="822" b="0" dirty="0" err="1">
                <a:solidFill>
                  <a:srgbClr val="333333"/>
                </a:solidFill>
                <a:latin typeface="Apple SD Gothic Neo"/>
              </a:rPr>
              <a:t>복구</a:t>
            </a:r>
            <a:r>
              <a:rPr sz="822" b="0" dirty="0">
                <a:solidFill>
                  <a:srgbClr val="333333"/>
                </a:solidFill>
                <a:latin typeface="Apple SD Gothic Neo"/>
              </a:rPr>
              <a:t> </a:t>
            </a:r>
            <a:r>
              <a:rPr sz="822" b="0" dirty="0" err="1">
                <a:solidFill>
                  <a:srgbClr val="333333"/>
                </a:solidFill>
                <a:latin typeface="Apple SD Gothic Neo"/>
              </a:rPr>
              <a:t>사유</a:t>
            </a:r>
            <a:endParaRPr sz="822" b="0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D2FB9E-08F3-B2F3-A037-40392EAC47B2}"/>
              </a:ext>
            </a:extLst>
          </p:cNvPr>
          <p:cNvSpPr txBox="1"/>
          <p:nvPr/>
        </p:nvSpPr>
        <p:spPr>
          <a:xfrm>
            <a:off x="2918873" y="4003805"/>
            <a:ext cx="8389897" cy="65627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0" dirty="0">
                <a:solidFill>
                  <a:srgbClr val="969696"/>
                </a:solidFill>
                <a:latin typeface="Apple SD Gothic Neo"/>
              </a:rPr>
              <a:t>   </a:t>
            </a:r>
            <a:r>
              <a:rPr sz="822" b="0" dirty="0" err="1">
                <a:solidFill>
                  <a:srgbClr val="969696"/>
                </a:solidFill>
                <a:latin typeface="Apple SD Gothic Neo"/>
              </a:rPr>
              <a:t>복구</a:t>
            </a:r>
            <a:r>
              <a:rPr sz="822" b="0" dirty="0">
                <a:solidFill>
                  <a:srgbClr val="969696"/>
                </a:solidFill>
                <a:latin typeface="Apple SD Gothic Neo"/>
              </a:rPr>
              <a:t> </a:t>
            </a:r>
            <a:r>
              <a:rPr sz="822" b="0" dirty="0" err="1">
                <a:solidFill>
                  <a:srgbClr val="969696"/>
                </a:solidFill>
                <a:latin typeface="Apple SD Gothic Neo"/>
              </a:rPr>
              <a:t>사유</a:t>
            </a:r>
            <a:endParaRPr sz="822" b="0" dirty="0">
              <a:solidFill>
                <a:srgbClr val="969696"/>
              </a:solidFill>
              <a:latin typeface="Apple SD Gothic Neo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3570D51-765D-A0D2-CA3C-DCAA836EE05A}"/>
              </a:ext>
            </a:extLst>
          </p:cNvPr>
          <p:cNvSpPr/>
          <p:nvPr/>
        </p:nvSpPr>
        <p:spPr>
          <a:xfrm>
            <a:off x="3030739" y="1893279"/>
            <a:ext cx="1035103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733AA9E-F8E9-3A50-B8AC-643D861D7F70}"/>
              </a:ext>
            </a:extLst>
          </p:cNvPr>
          <p:cNvSpPr/>
          <p:nvPr/>
        </p:nvSpPr>
        <p:spPr>
          <a:xfrm>
            <a:off x="5827371" y="1893279"/>
            <a:ext cx="1371515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422643D-5C61-92F8-F9F2-D0CA76B3E4EF}"/>
              </a:ext>
            </a:extLst>
          </p:cNvPr>
          <p:cNvSpPr/>
          <p:nvPr/>
        </p:nvSpPr>
        <p:spPr>
          <a:xfrm>
            <a:off x="8624003" y="1893279"/>
            <a:ext cx="1707927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C0A50F8-B350-0AED-776D-76222035B3A7}"/>
              </a:ext>
            </a:extLst>
          </p:cNvPr>
          <p:cNvSpPr/>
          <p:nvPr/>
        </p:nvSpPr>
        <p:spPr>
          <a:xfrm>
            <a:off x="3030739" y="2139383"/>
            <a:ext cx="1216185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80D41AE-2B0B-BC9F-8693-23B13A33C7C5}"/>
              </a:ext>
            </a:extLst>
          </p:cNvPr>
          <p:cNvSpPr/>
          <p:nvPr/>
        </p:nvSpPr>
        <p:spPr>
          <a:xfrm>
            <a:off x="5827371" y="2139383"/>
            <a:ext cx="1552597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49FFCE7-73FA-4AE6-3639-497347057383}"/>
              </a:ext>
            </a:extLst>
          </p:cNvPr>
          <p:cNvSpPr/>
          <p:nvPr/>
        </p:nvSpPr>
        <p:spPr>
          <a:xfrm>
            <a:off x="8624003" y="2139383"/>
            <a:ext cx="1889009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E20ED30-5140-DA23-BBE4-9241047E0D10}"/>
              </a:ext>
            </a:extLst>
          </p:cNvPr>
          <p:cNvSpPr/>
          <p:nvPr/>
        </p:nvSpPr>
        <p:spPr>
          <a:xfrm>
            <a:off x="3030739" y="2385487"/>
            <a:ext cx="1397384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957EBDA-9FD2-DFA8-75FC-CC9A33054757}"/>
              </a:ext>
            </a:extLst>
          </p:cNvPr>
          <p:cNvSpPr/>
          <p:nvPr/>
        </p:nvSpPr>
        <p:spPr>
          <a:xfrm>
            <a:off x="5827371" y="2385487"/>
            <a:ext cx="1733795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A2CDE6A-C52A-4B1B-F30E-93F5ED92A3B8}"/>
              </a:ext>
            </a:extLst>
          </p:cNvPr>
          <p:cNvSpPr/>
          <p:nvPr/>
        </p:nvSpPr>
        <p:spPr>
          <a:xfrm>
            <a:off x="8624003" y="2385487"/>
            <a:ext cx="1035103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658DE88-3875-3EE5-A79C-24111B38A60D}"/>
              </a:ext>
            </a:extLst>
          </p:cNvPr>
          <p:cNvSpPr/>
          <p:nvPr/>
        </p:nvSpPr>
        <p:spPr>
          <a:xfrm>
            <a:off x="3030739" y="2631590"/>
            <a:ext cx="1578466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55E4507-C3D5-B263-0AF9-97C78BEF9613}"/>
              </a:ext>
            </a:extLst>
          </p:cNvPr>
          <p:cNvSpPr/>
          <p:nvPr/>
        </p:nvSpPr>
        <p:spPr>
          <a:xfrm>
            <a:off x="5827371" y="2631590"/>
            <a:ext cx="1914877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9FB686F-B007-E390-F4E7-24088C8875B5}"/>
              </a:ext>
            </a:extLst>
          </p:cNvPr>
          <p:cNvSpPr/>
          <p:nvPr/>
        </p:nvSpPr>
        <p:spPr>
          <a:xfrm>
            <a:off x="8624003" y="2631590"/>
            <a:ext cx="1216185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FEE309D-FF74-7D64-ADBB-24BF717CAC3E}"/>
              </a:ext>
            </a:extLst>
          </p:cNvPr>
          <p:cNvSpPr/>
          <p:nvPr/>
        </p:nvSpPr>
        <p:spPr>
          <a:xfrm>
            <a:off x="3030739" y="2877694"/>
            <a:ext cx="1759664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F0F9648-6299-9DAA-5B08-64579EBEB8AB}"/>
              </a:ext>
            </a:extLst>
          </p:cNvPr>
          <p:cNvSpPr/>
          <p:nvPr/>
        </p:nvSpPr>
        <p:spPr>
          <a:xfrm>
            <a:off x="5827371" y="2877694"/>
            <a:ext cx="1060972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55FCF98-7F9B-B0FA-F882-9F73F6E2C543}"/>
              </a:ext>
            </a:extLst>
          </p:cNvPr>
          <p:cNvSpPr/>
          <p:nvPr/>
        </p:nvSpPr>
        <p:spPr>
          <a:xfrm>
            <a:off x="8624003" y="2877694"/>
            <a:ext cx="1397384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B87BF83F-4486-0268-385A-009FF0E7A719}"/>
              </a:ext>
            </a:extLst>
          </p:cNvPr>
          <p:cNvSpPr/>
          <p:nvPr/>
        </p:nvSpPr>
        <p:spPr>
          <a:xfrm>
            <a:off x="10112860" y="4749573"/>
            <a:ext cx="464124" cy="275934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439E355-4B82-5B91-329F-A088F00CBBF6}"/>
              </a:ext>
            </a:extLst>
          </p:cNvPr>
          <p:cNvSpPr/>
          <p:nvPr/>
        </p:nvSpPr>
        <p:spPr>
          <a:xfrm>
            <a:off x="10636646" y="4749573"/>
            <a:ext cx="672124" cy="27593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143D82-BA88-0FFF-F263-6E30F5744726}"/>
              </a:ext>
            </a:extLst>
          </p:cNvPr>
          <p:cNvSpPr txBox="1"/>
          <p:nvPr/>
        </p:nvSpPr>
        <p:spPr>
          <a:xfrm>
            <a:off x="10254556" y="4824150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E3FA64-8544-952B-8B60-52D382C73BE3}"/>
              </a:ext>
            </a:extLst>
          </p:cNvPr>
          <p:cNvSpPr txBox="1"/>
          <p:nvPr/>
        </p:nvSpPr>
        <p:spPr>
          <a:xfrm>
            <a:off x="10778342" y="4824150"/>
            <a:ext cx="388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FFFFFF"/>
                </a:solidFill>
                <a:latin typeface="Apple SD Gothic Neo"/>
              </a:rPr>
              <a:t>복구 실행</a:t>
            </a:r>
          </a:p>
        </p:txBody>
      </p:sp>
      <p:sp>
        <p:nvSpPr>
          <p:cNvPr id="970" name="메뉴-설정">
            <a:hlinkClick r:id="rId7" action="ppaction://hlinksldjump"/>
            <a:extLst>
              <a:ext uri="{FF2B5EF4-FFF2-40B4-BE49-F238E27FC236}">
                <a16:creationId xmlns:a16="http://schemas.microsoft.com/office/drawing/2014/main" id="{EDC1C6E0-87E9-710D-E342-B5E8898E635E}"/>
              </a:ext>
            </a:extLst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990" name="로딩 오버레이"/>
          <p:cNvSpPr/>
          <p:nvPr/>
        </p:nvSpPr>
        <p:spPr>
          <a:xfrm>
            <a:off x="571500" y="304800"/>
            <a:ext cx="11036300" cy="70104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1" name="로딩 팝업 카드"/>
          <p:cNvSpPr/>
          <p:nvPr/>
        </p:nvSpPr>
        <p:spPr>
          <a:xfrm>
            <a:off x="3810000" y="2108200"/>
            <a:ext cx="457200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2" name="로딩 스피너"/>
          <p:cNvSpPr/>
          <p:nvPr/>
        </p:nvSpPr>
        <p:spPr>
          <a:xfrm>
            <a:off x="5803900" y="2489200"/>
            <a:ext cx="584200" cy="584200"/>
          </a:xfrm>
          <a:prstGeom prst="donut">
            <a:avLst>
              <a:gd name="adj" fmla="val 16000"/>
            </a:avLst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3" name="로딩 제목"/>
          <p:cNvSpPr txBox="1"/>
          <p:nvPr/>
        </p:nvSpPr>
        <p:spPr>
          <a:xfrm>
            <a:off x="3810000" y="3200400"/>
            <a:ext cx="4572000" cy="254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ko-KR" altLang="en-US" sz="1400" b="1">
                <a:solidFill>
                  <a:srgbClr val="333333"/>
                </a:solidFill>
                <a:latin typeface="Apple SD Gothic Neo"/>
                <a:ea typeface="Apple SD Gothic Neo"/>
              </a:rPr>
              <a:t>복구 중…</a:t>
            </a:r>
          </a:p>
        </p:txBody>
      </p:sp>
      <p:sp>
        <p:nvSpPr>
          <p:cNvPr id="994" name="로딩 안내"/>
          <p:cNvSpPr txBox="1"/>
          <p:nvPr/>
        </p:nvSpPr>
        <p:spPr>
          <a:xfrm>
            <a:off x="3810000" y="3530600"/>
            <a:ext cx="4572000" cy="381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ctr"/>
            <a:r>
              <a:rPr lang="ko-KR" altLang="en-US" sz="900" b="0">
                <a:solidFill>
                  <a:srgbClr val="666666"/>
                </a:solidFill>
                <a:latin typeface="Apple SD Gothic Neo"/>
                <a:ea typeface="Apple SD Gothic Neo"/>
              </a:rPr>
              <a:t>릴레이 복구를 실행하고 있습니다.</a:t>
            </a:r>
          </a:p>
          <a:p>
            <a:pPr algn="ctr"/>
            <a:r>
              <a:rPr lang="ko-KR" altLang="en-US" sz="900" b="0">
                <a:solidFill>
                  <a:srgbClr val="666666"/>
                </a:solidFill>
                <a:latin typeface="Apple SD Gothic Neo"/>
                <a:ea typeface="Apple SD Gothic Neo"/>
              </a:rPr>
              <a:t>잠시만 기다려 주세요.</a:t>
            </a:r>
          </a:p>
        </p:txBody>
      </p:sp>
      <p:sp>
        <p:nvSpPr>
          <p:cNvPr id="995" name="진행바 트랙"/>
          <p:cNvSpPr/>
          <p:nvPr/>
        </p:nvSpPr>
        <p:spPr>
          <a:xfrm>
            <a:off x="4191000" y="4140200"/>
            <a:ext cx="3810000" cy="101600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6" name="진행바 채움"/>
          <p:cNvSpPr/>
          <p:nvPr/>
        </p:nvSpPr>
        <p:spPr>
          <a:xfrm>
            <a:off x="4191000" y="4140200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403028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92093" y="1214630"/>
            <a:ext cx="8643458" cy="76814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92093" y="2102095"/>
            <a:ext cx="8643458" cy="723396"/>
          </a:xfrm>
          <a:prstGeom prst="roundRect">
            <a:avLst>
              <a:gd name="adj" fmla="val 6185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92093" y="2944813"/>
            <a:ext cx="8643458" cy="85017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5" name="TextBox 14">
            <a:hlinkClick r:id="rId5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7" name="TextBox 16">
            <a:hlinkClick r:id="rId6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2093" y="961069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릴레이 복구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8873" y="1311580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복구 상태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8873" y="1512937"/>
            <a:ext cx="255076" cy="171527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174" b="1">
                <a:solidFill>
                  <a:srgbClr val="333333"/>
                </a:solidFill>
                <a:latin typeface="Apple SD Gothic Neo"/>
              </a:rPr>
              <a:t>성공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8873" y="1773957"/>
            <a:ext cx="1495499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릴레이 복구가 정상적으로 완료되었습니다.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18873" y="2199045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복구 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8873" y="2616675"/>
            <a:ext cx="899816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2024-01-15 14:32:45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18873" y="3041763"/>
            <a:ext cx="334897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세부 사항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18873" y="2415317"/>
            <a:ext cx="5872928" cy="8949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700940" y="3914312"/>
            <a:ext cx="644740" cy="275934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5003" y="3914312"/>
            <a:ext cx="970548" cy="27593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18873" y="3243121"/>
            <a:ext cx="883852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장비 ID: BAT-001-REL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18873" y="3414647"/>
            <a:ext cx="798788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복구 모드: 자동 재설정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18873" y="3586174"/>
            <a:ext cx="714540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상태 코드: 0x0000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2636" y="3988889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333333"/>
                </a:solidFill>
                <a:latin typeface="Apple SD Gothic Neo"/>
              </a:rPr>
              <a:t>이전으로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6699" y="3988889"/>
            <a:ext cx="687156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FFFFFF"/>
                </a:solidFill>
                <a:latin typeface="Apple SD Gothic Neo"/>
              </a:rPr>
              <a:t>센서 수집 상태로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18" name="실시간대시보드로 버튼">
            <a:hlinkClick r:id="rId7" action="ppaction://hlinksldjump"/>
            <a:extLst>
              <a:ext uri="{FF2B5EF4-FFF2-40B4-BE49-F238E27FC236}">
                <a16:creationId xmlns:a16="http://schemas.microsoft.com/office/drawing/2014/main" id="{8DA784C4-D4A5-B658-B45E-3A8DB1649612}"/>
              </a:ext>
            </a:extLst>
          </p:cNvPr>
          <p:cNvSpPr/>
          <p:nvPr/>
        </p:nvSpPr>
        <p:spPr>
          <a:xfrm>
            <a:off x="3717661" y="875265"/>
            <a:ext cx="595566" cy="304800"/>
          </a:xfrm>
          <a:prstGeom prst="roundRect">
            <a:avLst>
              <a:gd name="adj" fmla="val 16216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22" b="0" dirty="0">
                <a:solidFill>
                  <a:srgbClr val="333333"/>
                </a:solidFill>
                <a:latin typeface="Apple SD Gothic Neo"/>
              </a:rPr>
              <a:t>돌아가기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92093" y="1214630"/>
            <a:ext cx="8643458" cy="1081364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92093" y="2415317"/>
            <a:ext cx="8643458" cy="1081364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92093" y="3616005"/>
            <a:ext cx="8643458" cy="1081364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92093" y="4816692"/>
            <a:ext cx="8643458" cy="1081364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6" name="TextBox 15">
            <a:hlinkClick r:id="rId5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8" name="TextBox 17">
            <a:hlinkClick r:id="rId6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8873" y="1311580"/>
            <a:ext cx="545460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온도 상태 기준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8873" y="2512267"/>
            <a:ext cx="545460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전압 상태 기준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18873" y="3712955"/>
            <a:ext cx="545460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전류 상태 기준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8873" y="4913642"/>
            <a:ext cx="591837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SOC 상태 기준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1426" y="6017380"/>
            <a:ext cx="464124" cy="275934"/>
          </a:xfrm>
          <a:prstGeom prst="roundRect">
            <a:avLst>
              <a:gd name="adj" fmla="val 16216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13122" y="6091957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sz="822" b="0">
                <a:solidFill>
                  <a:srgbClr val="FFFFFF"/>
                </a:solidFill>
                <a:latin typeface="Apple SD Gothic Neo"/>
              </a:rPr>
              <a:t>저장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18873" y="1535311"/>
            <a:ext cx="534623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경고 온도 기준 (°C)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75167" y="1535311"/>
            <a:ext cx="534623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위험 온도 기준 (°C)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1461" y="1535311"/>
            <a:ext cx="534623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차단 온도 기준 (°C)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18873" y="2735998"/>
            <a:ext cx="488711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경고 전압 기준 (V)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5167" y="2735998"/>
            <a:ext cx="488711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위험 전압 기준 (V)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1461" y="2735998"/>
            <a:ext cx="488711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차단 전압 기준 (V)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18873" y="3936685"/>
            <a:ext cx="488711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경고 전류 기준 (A)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75167" y="3936685"/>
            <a:ext cx="488711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위험 전류 기준 (A)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31461" y="3936685"/>
            <a:ext cx="488711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차단 전류 기준 (A)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18873" y="5137373"/>
            <a:ext cx="726542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최소 경고 SOC 기준 (%)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75167" y="5137373"/>
            <a:ext cx="726542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최소 위험 SOC 기준 (%)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31461" y="5137373"/>
            <a:ext cx="726542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최대 경고 SOC 기준 (%)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18873" y="1923110"/>
            <a:ext cx="2677309" cy="275934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775167" y="1923110"/>
            <a:ext cx="2677309" cy="275934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631461" y="1923110"/>
            <a:ext cx="2677309" cy="275934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918873" y="3123798"/>
            <a:ext cx="2677309" cy="275934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775167" y="3123798"/>
            <a:ext cx="2677309" cy="275934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631461" y="3123798"/>
            <a:ext cx="2677309" cy="275934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2918873" y="4324485"/>
            <a:ext cx="2677309" cy="275934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775167" y="4324485"/>
            <a:ext cx="2677309" cy="275934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631461" y="4324485"/>
            <a:ext cx="2677309" cy="275934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2918873" y="5525173"/>
            <a:ext cx="2677309" cy="275934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775167" y="5525173"/>
            <a:ext cx="2677309" cy="275934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631461" y="5525173"/>
            <a:ext cx="2677309" cy="275934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18873" y="1721753"/>
            <a:ext cx="27849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예: 60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75167" y="1721753"/>
            <a:ext cx="278731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예: 80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31461" y="1721753"/>
            <a:ext cx="27849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예: 90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18873" y="2922440"/>
            <a:ext cx="302153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예: 4.3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75167" y="2922440"/>
            <a:ext cx="30098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예: 4.5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31461" y="2922440"/>
            <a:ext cx="295627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예: 4.7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18873" y="4123128"/>
            <a:ext cx="276517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예: 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75167" y="4123128"/>
            <a:ext cx="269875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예: 70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31461" y="4123128"/>
            <a:ext cx="27849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예: 90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18873" y="5323815"/>
            <a:ext cx="260436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예: 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75167" y="5323815"/>
            <a:ext cx="211961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예: 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31461" y="5323815"/>
            <a:ext cx="277216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333333"/>
                </a:solidFill>
                <a:latin typeface="Apple SD Gothic Neo"/>
              </a:rPr>
              <a:t>예: 95</a:t>
            </a:r>
          </a:p>
        </p:txBody>
      </p:sp>
      <p:sp>
        <p:nvSpPr>
          <p:cNvPr id="970" name="메뉴-설정">
            <a:hlinkClick r:id="rId7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971" name="TextBox 릴레이 제어 탭">
            <a:hlinkClick r:id="rId7" action="ppaction://hlinksldjump"/>
          </p:cNvPr>
          <p:cNvSpPr txBox="1"/>
          <p:nvPr/>
        </p:nvSpPr>
        <p:spPr>
          <a:xfrm>
            <a:off x="2788920" y="960120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릴레이 제어</a:t>
            </a:r>
          </a:p>
        </p:txBody>
      </p:sp>
      <p:sp>
        <p:nvSpPr>
          <p:cNvPr id="972" name="TextBox 알림 설정 탭">
            <a:hlinkClick r:id="rId8" action="ppaction://hlinksldjump"/>
          </p:cNvPr>
          <p:cNvSpPr txBox="1"/>
          <p:nvPr/>
        </p:nvSpPr>
        <p:spPr>
          <a:xfrm>
            <a:off x="3511296" y="960120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u="sng">
                <a:solidFill>
                  <a:srgbClr val="999999"/>
                </a:solidFill>
                <a:latin typeface="Apple SD Gothic Neo"/>
              </a:rPr>
              <a:t>알림 설정</a:t>
            </a:r>
          </a:p>
        </p:txBody>
      </p:sp>
      <p:sp>
        <p:nvSpPr>
          <p:cNvPr id="973" name="TextBox 계정 설정 탭">
            <a:hlinkClick r:id="rId9" action="ppaction://hlinksldjump"/>
          </p:cNvPr>
          <p:cNvSpPr txBox="1"/>
          <p:nvPr/>
        </p:nvSpPr>
        <p:spPr>
          <a:xfrm>
            <a:off x="4233672" y="950976"/>
            <a:ext cx="53035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dirty="0" err="1">
                <a:solidFill>
                  <a:srgbClr val="333333"/>
                </a:solidFill>
                <a:latin typeface="Apple SD Gothic Neo"/>
              </a:rPr>
              <a:t>계정</a:t>
            </a:r>
            <a:r>
              <a:rPr sz="750" b="0" dirty="0">
                <a:solidFill>
                  <a:srgbClr val="333333"/>
                </a:solidFill>
                <a:latin typeface="Apple SD Gothic Neo"/>
              </a:rPr>
              <a:t> </a:t>
            </a:r>
            <a:r>
              <a:rPr sz="750" b="0" dirty="0" err="1">
                <a:solidFill>
                  <a:srgbClr val="333333"/>
                </a:solidFill>
                <a:latin typeface="Apple SD Gothic Neo"/>
              </a:rPr>
              <a:t>설정</a:t>
            </a:r>
            <a:endParaRPr sz="750" b="1" dirty="0">
              <a:solidFill>
                <a:srgbClr val="333333"/>
              </a:solidFill>
              <a:latin typeface="Apple SD Gothic Ne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6" name="TextBox 15">
            <a:hlinkClick r:id="rId4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8" name="TextBox 17">
            <a:hlinkClick r:id="rId5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970" name="메뉴-설정">
            <a:hlinkClick r:id="rId6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971" name="TextBox 970">
            <a:hlinkClick r:id="rId6" action="ppaction://hlinksldjump"/>
          </p:cNvPr>
          <p:cNvSpPr txBox="1"/>
          <p:nvPr/>
        </p:nvSpPr>
        <p:spPr>
          <a:xfrm>
            <a:off x="2788920" y="960120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릴레이 제어</a:t>
            </a:r>
          </a:p>
        </p:txBody>
      </p:sp>
      <p:sp>
        <p:nvSpPr>
          <p:cNvPr id="972" name="TextBox 971">
            <a:hlinkClick r:id="rId7" action="ppaction://hlinksldjump"/>
          </p:cNvPr>
          <p:cNvSpPr txBox="1"/>
          <p:nvPr/>
        </p:nvSpPr>
        <p:spPr>
          <a:xfrm>
            <a:off x="3511296" y="960120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알림 설정</a:t>
            </a:r>
          </a:p>
        </p:txBody>
      </p:sp>
      <p:sp>
        <p:nvSpPr>
          <p:cNvPr id="973" name="TextBox 972">
            <a:hlinkClick r:id="rId8" action="ppaction://hlinksldjump"/>
          </p:cNvPr>
          <p:cNvSpPr txBox="1"/>
          <p:nvPr/>
        </p:nvSpPr>
        <p:spPr>
          <a:xfrm>
            <a:off x="4233672" y="950976"/>
            <a:ext cx="53035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dirty="0" err="1">
                <a:solidFill>
                  <a:srgbClr val="333333"/>
                </a:solidFill>
                <a:latin typeface="Apple SD Gothic Neo"/>
              </a:rPr>
              <a:t>계정</a:t>
            </a:r>
            <a:r>
              <a:rPr sz="750" b="1" dirty="0">
                <a:solidFill>
                  <a:srgbClr val="333333"/>
                </a:solidFill>
                <a:latin typeface="Apple SD Gothic Neo"/>
              </a:rPr>
              <a:t> </a:t>
            </a:r>
            <a:r>
              <a:rPr sz="750" b="1" dirty="0" err="1">
                <a:solidFill>
                  <a:srgbClr val="333333"/>
                </a:solidFill>
                <a:latin typeface="Apple SD Gothic Neo"/>
              </a:rPr>
              <a:t>설정</a:t>
            </a:r>
            <a:endParaRPr sz="750" b="1" dirty="0">
              <a:solidFill>
                <a:srgbClr val="333333"/>
              </a:solidFill>
              <a:latin typeface="Apple SD Gothic Neo"/>
            </a:endParaRPr>
          </a:p>
        </p:txBody>
      </p:sp>
      <p:sp>
        <p:nvSpPr>
          <p:cNvPr id="974" name="Rounded Rectangle 973"/>
          <p:cNvSpPr/>
          <p:nvPr/>
        </p:nvSpPr>
        <p:spPr>
          <a:xfrm>
            <a:off x="4233672" y="1078992"/>
            <a:ext cx="530352" cy="18288"/>
          </a:xfrm>
          <a:prstGeom prst="roundRect">
            <a:avLst>
              <a:gd name="adj" fmla="val 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5" name="Rounded Rectangle 974"/>
          <p:cNvSpPr/>
          <p:nvPr/>
        </p:nvSpPr>
        <p:spPr>
          <a:xfrm>
            <a:off x="2788920" y="1216152"/>
            <a:ext cx="8641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6" name="TextBox 975"/>
          <p:cNvSpPr txBox="1"/>
          <p:nvPr/>
        </p:nvSpPr>
        <p:spPr>
          <a:xfrm>
            <a:off x="2990088" y="1325880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아이디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2990088" y="1600200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  <a:latin typeface="Apple SD Gothic Neo"/>
              </a:rPr>
              <a:t>user_example</a:t>
            </a:r>
          </a:p>
        </p:txBody>
      </p:sp>
      <p:sp>
        <p:nvSpPr>
          <p:cNvPr id="978" name="Rounded Rectangle 977"/>
          <p:cNvSpPr/>
          <p:nvPr/>
        </p:nvSpPr>
        <p:spPr>
          <a:xfrm>
            <a:off x="10424159" y="1453896"/>
            <a:ext cx="804672" cy="27432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79" name="Rounded Rectangle 978"/>
          <p:cNvSpPr/>
          <p:nvPr/>
        </p:nvSpPr>
        <p:spPr>
          <a:xfrm>
            <a:off x="2788920" y="2075688"/>
            <a:ext cx="8641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0" name="TextBox 979"/>
          <p:cNvSpPr txBox="1"/>
          <p:nvPr/>
        </p:nvSpPr>
        <p:spPr>
          <a:xfrm>
            <a:off x="2990088" y="2185416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비밀번호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2990088" y="2459736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  <a:latin typeface="Apple SD Gothic Neo"/>
              </a:rPr>
              <a:t>••••••••••</a:t>
            </a:r>
          </a:p>
        </p:txBody>
      </p:sp>
      <p:sp>
        <p:nvSpPr>
          <p:cNvPr id="982" name="Rounded Rectangle 981"/>
          <p:cNvSpPr/>
          <p:nvPr/>
        </p:nvSpPr>
        <p:spPr>
          <a:xfrm>
            <a:off x="10424159" y="2313432"/>
            <a:ext cx="804672" cy="27432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83" name="Rounded Rectangle 982"/>
          <p:cNvSpPr/>
          <p:nvPr/>
        </p:nvSpPr>
        <p:spPr>
          <a:xfrm>
            <a:off x="2788920" y="2935224"/>
            <a:ext cx="8641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4" name="TextBox 983"/>
          <p:cNvSpPr txBox="1"/>
          <p:nvPr/>
        </p:nvSpPr>
        <p:spPr>
          <a:xfrm>
            <a:off x="2990088" y="3044952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전화번호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2990088" y="331927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  <a:latin typeface="Apple SD Gothic Neo"/>
              </a:rPr>
              <a:t>010-****-****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10424159" y="3172968"/>
            <a:ext cx="804672" cy="27432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87" name="Rounded Rectangle 986"/>
          <p:cNvSpPr/>
          <p:nvPr/>
        </p:nvSpPr>
        <p:spPr>
          <a:xfrm>
            <a:off x="2788920" y="3794760"/>
            <a:ext cx="8641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8" name="TextBox 987"/>
          <p:cNvSpPr txBox="1"/>
          <p:nvPr/>
        </p:nvSpPr>
        <p:spPr>
          <a:xfrm>
            <a:off x="2990088" y="3904488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이메일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2990088" y="4178808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  <a:latin typeface="Apple SD Gothic Neo"/>
              </a:rPr>
              <a:t>user@example.com</a:t>
            </a:r>
          </a:p>
        </p:txBody>
      </p:sp>
      <p:sp>
        <p:nvSpPr>
          <p:cNvPr id="990" name="Rounded Rectangle 989"/>
          <p:cNvSpPr/>
          <p:nvPr/>
        </p:nvSpPr>
        <p:spPr>
          <a:xfrm>
            <a:off x="10424159" y="4032504"/>
            <a:ext cx="804672" cy="27432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2788920" y="4754880"/>
            <a:ext cx="8641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20" b="0">
                <a:solidFill>
                  <a:srgbClr val="999999"/>
                </a:solidFill>
                <a:latin typeface="Apple SD Gothic Neo"/>
              </a:rPr>
              <a:t>개인정보 수정은 각 항목의 수정하기 버튼을 눌러 팝업에서 진행합니다.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6" name="TextBox 15">
            <a:hlinkClick r:id="rId4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8" name="TextBox 17">
            <a:hlinkClick r:id="rId5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970" name="메뉴-설정">
            <a:hlinkClick r:id="rId6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971" name="TextBox 970"/>
          <p:cNvSpPr txBox="1"/>
          <p:nvPr/>
        </p:nvSpPr>
        <p:spPr>
          <a:xfrm>
            <a:off x="2788920" y="960120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릴레이 제어</a:t>
            </a:r>
          </a:p>
        </p:txBody>
      </p:sp>
      <p:sp>
        <p:nvSpPr>
          <p:cNvPr id="972" name="TextBox 971"/>
          <p:cNvSpPr txBox="1"/>
          <p:nvPr/>
        </p:nvSpPr>
        <p:spPr>
          <a:xfrm>
            <a:off x="3511296" y="960120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알림 설정</a:t>
            </a:r>
          </a:p>
        </p:txBody>
      </p:sp>
      <p:sp>
        <p:nvSpPr>
          <p:cNvPr id="973" name="TextBox 972"/>
          <p:cNvSpPr txBox="1"/>
          <p:nvPr/>
        </p:nvSpPr>
        <p:spPr>
          <a:xfrm>
            <a:off x="4233672" y="950976"/>
            <a:ext cx="53035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333333"/>
                </a:solidFill>
                <a:latin typeface="Apple SD Gothic Neo"/>
              </a:rPr>
              <a:t>계정 설정</a:t>
            </a:r>
          </a:p>
        </p:txBody>
      </p:sp>
      <p:sp>
        <p:nvSpPr>
          <p:cNvPr id="974" name="Rounded Rectangle 973"/>
          <p:cNvSpPr/>
          <p:nvPr/>
        </p:nvSpPr>
        <p:spPr>
          <a:xfrm>
            <a:off x="4233672" y="1078992"/>
            <a:ext cx="530352" cy="18288"/>
          </a:xfrm>
          <a:prstGeom prst="roundRect">
            <a:avLst>
              <a:gd name="adj" fmla="val 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5" name="Rounded Rectangle 974"/>
          <p:cNvSpPr/>
          <p:nvPr/>
        </p:nvSpPr>
        <p:spPr>
          <a:xfrm>
            <a:off x="2788920" y="1216152"/>
            <a:ext cx="8641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6" name="TextBox 975"/>
          <p:cNvSpPr txBox="1"/>
          <p:nvPr/>
        </p:nvSpPr>
        <p:spPr>
          <a:xfrm>
            <a:off x="2990088" y="1325880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아이디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2990088" y="1600200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  <a:latin typeface="Apple SD Gothic Neo"/>
              </a:rPr>
              <a:t>user_example</a:t>
            </a:r>
          </a:p>
        </p:txBody>
      </p:sp>
      <p:sp>
        <p:nvSpPr>
          <p:cNvPr id="978" name="Rounded Rectangle 977"/>
          <p:cNvSpPr/>
          <p:nvPr/>
        </p:nvSpPr>
        <p:spPr>
          <a:xfrm>
            <a:off x="10424159" y="1453896"/>
            <a:ext cx="804672" cy="27432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79" name="Rounded Rectangle 978"/>
          <p:cNvSpPr/>
          <p:nvPr/>
        </p:nvSpPr>
        <p:spPr>
          <a:xfrm>
            <a:off x="2788920" y="2075688"/>
            <a:ext cx="8641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0" name="TextBox 979"/>
          <p:cNvSpPr txBox="1"/>
          <p:nvPr/>
        </p:nvSpPr>
        <p:spPr>
          <a:xfrm>
            <a:off x="2990088" y="2185416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비밀번호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2990088" y="2459736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  <a:latin typeface="Apple SD Gothic Neo"/>
              </a:rPr>
              <a:t>••••••••••</a:t>
            </a:r>
          </a:p>
        </p:txBody>
      </p:sp>
      <p:sp>
        <p:nvSpPr>
          <p:cNvPr id="982" name="Rounded Rectangle 981"/>
          <p:cNvSpPr/>
          <p:nvPr/>
        </p:nvSpPr>
        <p:spPr>
          <a:xfrm>
            <a:off x="10424159" y="2313432"/>
            <a:ext cx="804672" cy="27432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83" name="Rounded Rectangle 982"/>
          <p:cNvSpPr/>
          <p:nvPr/>
        </p:nvSpPr>
        <p:spPr>
          <a:xfrm>
            <a:off x="2788920" y="2935224"/>
            <a:ext cx="8641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4" name="TextBox 983"/>
          <p:cNvSpPr txBox="1"/>
          <p:nvPr/>
        </p:nvSpPr>
        <p:spPr>
          <a:xfrm>
            <a:off x="2990088" y="3044952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전화번호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2990088" y="331927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  <a:latin typeface="Apple SD Gothic Neo"/>
              </a:rPr>
              <a:t>010-****-****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10424159" y="3172968"/>
            <a:ext cx="804672" cy="27432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87" name="Rounded Rectangle 986"/>
          <p:cNvSpPr/>
          <p:nvPr/>
        </p:nvSpPr>
        <p:spPr>
          <a:xfrm>
            <a:off x="2788920" y="3794760"/>
            <a:ext cx="8641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8" name="TextBox 987"/>
          <p:cNvSpPr txBox="1"/>
          <p:nvPr/>
        </p:nvSpPr>
        <p:spPr>
          <a:xfrm>
            <a:off x="2990088" y="3904488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이메일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2990088" y="4178808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  <a:latin typeface="Apple SD Gothic Neo"/>
              </a:rPr>
              <a:t>user@example.com</a:t>
            </a:r>
          </a:p>
        </p:txBody>
      </p:sp>
      <p:sp>
        <p:nvSpPr>
          <p:cNvPr id="990" name="Rounded Rectangle 989"/>
          <p:cNvSpPr/>
          <p:nvPr/>
        </p:nvSpPr>
        <p:spPr>
          <a:xfrm>
            <a:off x="10424159" y="4032504"/>
            <a:ext cx="804672" cy="27432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2788920" y="4754880"/>
            <a:ext cx="8641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20" b="0">
                <a:solidFill>
                  <a:srgbClr val="999999"/>
                </a:solidFill>
                <a:latin typeface="Apple SD Gothic Neo"/>
              </a:rPr>
              <a:t>개인정보 수정은 각 항목의 수정하기 버튼을 눌러 팝업에서 진행합니다.</a:t>
            </a:r>
          </a:p>
        </p:txBody>
      </p:sp>
      <p:sp>
        <p:nvSpPr>
          <p:cNvPr id="992" name="Rounded Rectangle 991"/>
          <p:cNvSpPr/>
          <p:nvPr/>
        </p:nvSpPr>
        <p:spPr>
          <a:xfrm>
            <a:off x="576072" y="301752"/>
            <a:ext cx="11036808" cy="7013448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3" name="Rounded Rectangle 992"/>
          <p:cNvSpPr/>
          <p:nvPr/>
        </p:nvSpPr>
        <p:spPr>
          <a:xfrm>
            <a:off x="3813048" y="2491740"/>
            <a:ext cx="45720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4" name="TextBox 993"/>
          <p:cNvSpPr txBox="1"/>
          <p:nvPr/>
        </p:nvSpPr>
        <p:spPr>
          <a:xfrm>
            <a:off x="4078224" y="2720340"/>
            <a:ext cx="4041648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333333"/>
                </a:solidFill>
                <a:latin typeface="Apple SD Gothic Neo"/>
              </a:rPr>
              <a:t>아이디 수정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4078224" y="3058668"/>
            <a:ext cx="40416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pple SD Gothic Neo"/>
              </a:rPr>
              <a:t>새 아이디</a:t>
            </a:r>
          </a:p>
        </p:txBody>
      </p:sp>
      <p:sp>
        <p:nvSpPr>
          <p:cNvPr id="996" name="Rounded Rectangle 995"/>
          <p:cNvSpPr/>
          <p:nvPr/>
        </p:nvSpPr>
        <p:spPr>
          <a:xfrm>
            <a:off x="4078224" y="3241548"/>
            <a:ext cx="4041648" cy="3017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7" name="TextBox 996"/>
          <p:cNvSpPr txBox="1"/>
          <p:nvPr/>
        </p:nvSpPr>
        <p:spPr>
          <a:xfrm>
            <a:off x="4206240" y="3241548"/>
            <a:ext cx="38221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969696"/>
                </a:solidFill>
                <a:latin typeface="Apple SD Gothic Neo"/>
              </a:rPr>
              <a:t>새 아이디를 입력하세요</a:t>
            </a:r>
          </a:p>
        </p:txBody>
      </p:sp>
      <p:sp>
        <p:nvSpPr>
          <p:cNvPr id="998" name="Rounded Rectangle 997"/>
          <p:cNvSpPr/>
          <p:nvPr/>
        </p:nvSpPr>
        <p:spPr>
          <a:xfrm>
            <a:off x="7370064" y="4338828"/>
            <a:ext cx="749808" cy="301752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FFFFFF"/>
                </a:solidFill>
                <a:latin typeface="Apple SD Gothic Neo"/>
              </a:rPr>
              <a:t>수정 완료</a:t>
            </a:r>
          </a:p>
        </p:txBody>
      </p:sp>
      <p:sp>
        <p:nvSpPr>
          <p:cNvPr id="999" name="Rounded Rectangle 998"/>
          <p:cNvSpPr/>
          <p:nvPr/>
        </p:nvSpPr>
        <p:spPr>
          <a:xfrm>
            <a:off x="6757416" y="4338828"/>
            <a:ext cx="521207" cy="301752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6" name="TextBox 15">
            <a:hlinkClick r:id="rId4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8" name="TextBox 17">
            <a:hlinkClick r:id="rId5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970" name="메뉴-설정">
            <a:hlinkClick r:id="rId6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971" name="TextBox 970"/>
          <p:cNvSpPr txBox="1"/>
          <p:nvPr/>
        </p:nvSpPr>
        <p:spPr>
          <a:xfrm>
            <a:off x="2788920" y="960120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릴레이 제어</a:t>
            </a:r>
          </a:p>
        </p:txBody>
      </p:sp>
      <p:sp>
        <p:nvSpPr>
          <p:cNvPr id="972" name="TextBox 971"/>
          <p:cNvSpPr txBox="1"/>
          <p:nvPr/>
        </p:nvSpPr>
        <p:spPr>
          <a:xfrm>
            <a:off x="3511296" y="960120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알림 설정</a:t>
            </a:r>
          </a:p>
        </p:txBody>
      </p:sp>
      <p:sp>
        <p:nvSpPr>
          <p:cNvPr id="973" name="TextBox 972"/>
          <p:cNvSpPr txBox="1"/>
          <p:nvPr/>
        </p:nvSpPr>
        <p:spPr>
          <a:xfrm>
            <a:off x="4233672" y="950976"/>
            <a:ext cx="53035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333333"/>
                </a:solidFill>
                <a:latin typeface="Apple SD Gothic Neo"/>
              </a:rPr>
              <a:t>계정 설정</a:t>
            </a:r>
          </a:p>
        </p:txBody>
      </p:sp>
      <p:sp>
        <p:nvSpPr>
          <p:cNvPr id="974" name="Rounded Rectangle 973"/>
          <p:cNvSpPr/>
          <p:nvPr/>
        </p:nvSpPr>
        <p:spPr>
          <a:xfrm>
            <a:off x="4233672" y="1078992"/>
            <a:ext cx="530352" cy="18288"/>
          </a:xfrm>
          <a:prstGeom prst="roundRect">
            <a:avLst>
              <a:gd name="adj" fmla="val 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5" name="Rounded Rectangle 974"/>
          <p:cNvSpPr/>
          <p:nvPr/>
        </p:nvSpPr>
        <p:spPr>
          <a:xfrm>
            <a:off x="2788920" y="1216152"/>
            <a:ext cx="8641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6" name="TextBox 975"/>
          <p:cNvSpPr txBox="1"/>
          <p:nvPr/>
        </p:nvSpPr>
        <p:spPr>
          <a:xfrm>
            <a:off x="2990088" y="1325880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아이디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2990088" y="1600200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  <a:latin typeface="Apple SD Gothic Neo"/>
              </a:rPr>
              <a:t>user_example</a:t>
            </a:r>
          </a:p>
        </p:txBody>
      </p:sp>
      <p:sp>
        <p:nvSpPr>
          <p:cNvPr id="978" name="Rounded Rectangle 977"/>
          <p:cNvSpPr/>
          <p:nvPr/>
        </p:nvSpPr>
        <p:spPr>
          <a:xfrm>
            <a:off x="10424159" y="1453896"/>
            <a:ext cx="804672" cy="27432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79" name="Rounded Rectangle 978"/>
          <p:cNvSpPr/>
          <p:nvPr/>
        </p:nvSpPr>
        <p:spPr>
          <a:xfrm>
            <a:off x="2788920" y="2075688"/>
            <a:ext cx="8641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0" name="TextBox 979"/>
          <p:cNvSpPr txBox="1"/>
          <p:nvPr/>
        </p:nvSpPr>
        <p:spPr>
          <a:xfrm>
            <a:off x="2990088" y="2185416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비밀번호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2990088" y="2459736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  <a:latin typeface="Apple SD Gothic Neo"/>
              </a:rPr>
              <a:t>••••••••••</a:t>
            </a:r>
          </a:p>
        </p:txBody>
      </p:sp>
      <p:sp>
        <p:nvSpPr>
          <p:cNvPr id="982" name="Rounded Rectangle 981"/>
          <p:cNvSpPr/>
          <p:nvPr/>
        </p:nvSpPr>
        <p:spPr>
          <a:xfrm>
            <a:off x="10424159" y="2313432"/>
            <a:ext cx="804672" cy="27432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83" name="Rounded Rectangle 982"/>
          <p:cNvSpPr/>
          <p:nvPr/>
        </p:nvSpPr>
        <p:spPr>
          <a:xfrm>
            <a:off x="2788920" y="2935224"/>
            <a:ext cx="8641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4" name="TextBox 983"/>
          <p:cNvSpPr txBox="1"/>
          <p:nvPr/>
        </p:nvSpPr>
        <p:spPr>
          <a:xfrm>
            <a:off x="2990088" y="3044952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전화번호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2990088" y="331927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  <a:latin typeface="Apple SD Gothic Neo"/>
              </a:rPr>
              <a:t>010-****-****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10424159" y="3172968"/>
            <a:ext cx="804672" cy="27432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87" name="Rounded Rectangle 986"/>
          <p:cNvSpPr/>
          <p:nvPr/>
        </p:nvSpPr>
        <p:spPr>
          <a:xfrm>
            <a:off x="2788920" y="3794760"/>
            <a:ext cx="8641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8" name="TextBox 987"/>
          <p:cNvSpPr txBox="1"/>
          <p:nvPr/>
        </p:nvSpPr>
        <p:spPr>
          <a:xfrm>
            <a:off x="2990088" y="3904488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이메일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2990088" y="4178808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  <a:latin typeface="Apple SD Gothic Neo"/>
              </a:rPr>
              <a:t>user@example.com</a:t>
            </a:r>
          </a:p>
        </p:txBody>
      </p:sp>
      <p:sp>
        <p:nvSpPr>
          <p:cNvPr id="990" name="Rounded Rectangle 989"/>
          <p:cNvSpPr/>
          <p:nvPr/>
        </p:nvSpPr>
        <p:spPr>
          <a:xfrm>
            <a:off x="10424159" y="4032504"/>
            <a:ext cx="804672" cy="27432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2788920" y="4754880"/>
            <a:ext cx="8641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20" b="0">
                <a:solidFill>
                  <a:srgbClr val="999999"/>
                </a:solidFill>
                <a:latin typeface="Apple SD Gothic Neo"/>
              </a:rPr>
              <a:t>개인정보 수정은 각 항목의 수정하기 버튼을 눌러 팝업에서 진행합니다.</a:t>
            </a:r>
          </a:p>
        </p:txBody>
      </p:sp>
      <p:sp>
        <p:nvSpPr>
          <p:cNvPr id="992" name="Rounded Rectangle 991"/>
          <p:cNvSpPr/>
          <p:nvPr/>
        </p:nvSpPr>
        <p:spPr>
          <a:xfrm>
            <a:off x="576072" y="301752"/>
            <a:ext cx="11036808" cy="7013448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3" name="Rounded Rectangle 992"/>
          <p:cNvSpPr/>
          <p:nvPr/>
        </p:nvSpPr>
        <p:spPr>
          <a:xfrm>
            <a:off x="3813048" y="1851660"/>
            <a:ext cx="4572000" cy="36118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4" name="TextBox 993"/>
          <p:cNvSpPr txBox="1"/>
          <p:nvPr/>
        </p:nvSpPr>
        <p:spPr>
          <a:xfrm>
            <a:off x="4078224" y="2080260"/>
            <a:ext cx="4041648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333333"/>
                </a:solidFill>
                <a:latin typeface="Apple SD Gothic Neo"/>
              </a:rPr>
              <a:t>비밀번호 변경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4078224" y="2418588"/>
            <a:ext cx="40416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pple SD Gothic Neo"/>
              </a:rPr>
              <a:t>현재 비밀번호</a:t>
            </a:r>
          </a:p>
        </p:txBody>
      </p:sp>
      <p:sp>
        <p:nvSpPr>
          <p:cNvPr id="996" name="Rounded Rectangle 995"/>
          <p:cNvSpPr/>
          <p:nvPr/>
        </p:nvSpPr>
        <p:spPr>
          <a:xfrm>
            <a:off x="4078224" y="2601468"/>
            <a:ext cx="4041648" cy="3017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7" name="TextBox 996"/>
          <p:cNvSpPr txBox="1"/>
          <p:nvPr/>
        </p:nvSpPr>
        <p:spPr>
          <a:xfrm>
            <a:off x="4206240" y="2601468"/>
            <a:ext cx="38221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969696"/>
                </a:solidFill>
                <a:latin typeface="Apple SD Gothic Neo"/>
              </a:rPr>
              <a:t>현재 비밀번호 입력</a:t>
            </a:r>
          </a:p>
        </p:txBody>
      </p:sp>
      <p:sp>
        <p:nvSpPr>
          <p:cNvPr id="998" name="TextBox 997"/>
          <p:cNvSpPr txBox="1"/>
          <p:nvPr/>
        </p:nvSpPr>
        <p:spPr>
          <a:xfrm>
            <a:off x="4078224" y="3076956"/>
            <a:ext cx="40416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pple SD Gothic Neo"/>
              </a:rPr>
              <a:t>새 비밀번호</a:t>
            </a:r>
          </a:p>
        </p:txBody>
      </p:sp>
      <p:sp>
        <p:nvSpPr>
          <p:cNvPr id="999" name="Rounded Rectangle 998"/>
          <p:cNvSpPr/>
          <p:nvPr/>
        </p:nvSpPr>
        <p:spPr>
          <a:xfrm>
            <a:off x="4078224" y="3259836"/>
            <a:ext cx="4041648" cy="3017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0" name="TextBox 999"/>
          <p:cNvSpPr txBox="1"/>
          <p:nvPr/>
        </p:nvSpPr>
        <p:spPr>
          <a:xfrm>
            <a:off x="4206240" y="3259836"/>
            <a:ext cx="38221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969696"/>
                </a:solidFill>
                <a:latin typeface="Apple SD Gothic Neo"/>
              </a:rPr>
              <a:t>새 비밀번호 입력</a:t>
            </a:r>
          </a:p>
        </p:txBody>
      </p:sp>
      <p:sp>
        <p:nvSpPr>
          <p:cNvPr id="1001" name="TextBox 1000"/>
          <p:cNvSpPr txBox="1"/>
          <p:nvPr/>
        </p:nvSpPr>
        <p:spPr>
          <a:xfrm>
            <a:off x="4078224" y="3735324"/>
            <a:ext cx="40416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pple SD Gothic Neo"/>
              </a:rPr>
              <a:t>비밀번호 확인</a:t>
            </a:r>
          </a:p>
        </p:txBody>
      </p:sp>
      <p:sp>
        <p:nvSpPr>
          <p:cNvPr id="1002" name="Rounded Rectangle 1001"/>
          <p:cNvSpPr/>
          <p:nvPr/>
        </p:nvSpPr>
        <p:spPr>
          <a:xfrm>
            <a:off x="4078224" y="3918204"/>
            <a:ext cx="4041648" cy="3017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TextBox 1002"/>
          <p:cNvSpPr txBox="1"/>
          <p:nvPr/>
        </p:nvSpPr>
        <p:spPr>
          <a:xfrm>
            <a:off x="4206240" y="3918204"/>
            <a:ext cx="38221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969696"/>
                </a:solidFill>
                <a:latin typeface="Apple SD Gothic Neo"/>
              </a:rPr>
              <a:t>새 비밀번호 재입력</a:t>
            </a:r>
          </a:p>
        </p:txBody>
      </p:sp>
      <p:sp>
        <p:nvSpPr>
          <p:cNvPr id="1004" name="Rounded Rectangle 1003"/>
          <p:cNvSpPr/>
          <p:nvPr/>
        </p:nvSpPr>
        <p:spPr>
          <a:xfrm>
            <a:off x="7370064" y="4978907"/>
            <a:ext cx="749808" cy="301752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FFFFFF"/>
                </a:solidFill>
                <a:latin typeface="Apple SD Gothic Neo"/>
              </a:rPr>
              <a:t>변경 완료</a:t>
            </a:r>
          </a:p>
        </p:txBody>
      </p:sp>
      <p:sp>
        <p:nvSpPr>
          <p:cNvPr id="1005" name="Rounded Rectangle 1004"/>
          <p:cNvSpPr/>
          <p:nvPr/>
        </p:nvSpPr>
        <p:spPr>
          <a:xfrm>
            <a:off x="6757416" y="4978907"/>
            <a:ext cx="521207" cy="301752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6" name="TextBox 15">
            <a:hlinkClick r:id="rId4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8" name="TextBox 17">
            <a:hlinkClick r:id="rId5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970" name="메뉴-설정">
            <a:hlinkClick r:id="rId6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971" name="TextBox 970"/>
          <p:cNvSpPr txBox="1"/>
          <p:nvPr/>
        </p:nvSpPr>
        <p:spPr>
          <a:xfrm>
            <a:off x="2788920" y="960120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릴레이 제어</a:t>
            </a:r>
          </a:p>
        </p:txBody>
      </p:sp>
      <p:sp>
        <p:nvSpPr>
          <p:cNvPr id="972" name="TextBox 971"/>
          <p:cNvSpPr txBox="1"/>
          <p:nvPr/>
        </p:nvSpPr>
        <p:spPr>
          <a:xfrm>
            <a:off x="3511296" y="960120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알림 설정</a:t>
            </a:r>
          </a:p>
        </p:txBody>
      </p:sp>
      <p:sp>
        <p:nvSpPr>
          <p:cNvPr id="973" name="TextBox 972"/>
          <p:cNvSpPr txBox="1"/>
          <p:nvPr/>
        </p:nvSpPr>
        <p:spPr>
          <a:xfrm>
            <a:off x="4233672" y="950976"/>
            <a:ext cx="53035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333333"/>
                </a:solidFill>
                <a:latin typeface="Apple SD Gothic Neo"/>
              </a:rPr>
              <a:t>계정 설정</a:t>
            </a:r>
          </a:p>
        </p:txBody>
      </p:sp>
      <p:sp>
        <p:nvSpPr>
          <p:cNvPr id="974" name="Rounded Rectangle 973"/>
          <p:cNvSpPr/>
          <p:nvPr/>
        </p:nvSpPr>
        <p:spPr>
          <a:xfrm>
            <a:off x="4233672" y="1078992"/>
            <a:ext cx="530352" cy="18288"/>
          </a:xfrm>
          <a:prstGeom prst="roundRect">
            <a:avLst>
              <a:gd name="adj" fmla="val 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5" name="Rounded Rectangle 974"/>
          <p:cNvSpPr/>
          <p:nvPr/>
        </p:nvSpPr>
        <p:spPr>
          <a:xfrm>
            <a:off x="2788920" y="1216152"/>
            <a:ext cx="8641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6" name="TextBox 975"/>
          <p:cNvSpPr txBox="1"/>
          <p:nvPr/>
        </p:nvSpPr>
        <p:spPr>
          <a:xfrm>
            <a:off x="2990088" y="1325880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아이디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2990088" y="1600200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  <a:latin typeface="Apple SD Gothic Neo"/>
              </a:rPr>
              <a:t>user_example</a:t>
            </a:r>
          </a:p>
        </p:txBody>
      </p:sp>
      <p:sp>
        <p:nvSpPr>
          <p:cNvPr id="978" name="Rounded Rectangle 977"/>
          <p:cNvSpPr/>
          <p:nvPr/>
        </p:nvSpPr>
        <p:spPr>
          <a:xfrm>
            <a:off x="10424159" y="1453896"/>
            <a:ext cx="804672" cy="27432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79" name="Rounded Rectangle 978"/>
          <p:cNvSpPr/>
          <p:nvPr/>
        </p:nvSpPr>
        <p:spPr>
          <a:xfrm>
            <a:off x="2788920" y="2075688"/>
            <a:ext cx="8641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0" name="TextBox 979"/>
          <p:cNvSpPr txBox="1"/>
          <p:nvPr/>
        </p:nvSpPr>
        <p:spPr>
          <a:xfrm>
            <a:off x="2990088" y="2185416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비밀번호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2990088" y="2459736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  <a:latin typeface="Apple SD Gothic Neo"/>
              </a:rPr>
              <a:t>••••••••••</a:t>
            </a:r>
          </a:p>
        </p:txBody>
      </p:sp>
      <p:sp>
        <p:nvSpPr>
          <p:cNvPr id="982" name="Rounded Rectangle 981"/>
          <p:cNvSpPr/>
          <p:nvPr/>
        </p:nvSpPr>
        <p:spPr>
          <a:xfrm>
            <a:off x="10424159" y="2313432"/>
            <a:ext cx="804672" cy="27432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83" name="Rounded Rectangle 982"/>
          <p:cNvSpPr/>
          <p:nvPr/>
        </p:nvSpPr>
        <p:spPr>
          <a:xfrm>
            <a:off x="2788920" y="2935224"/>
            <a:ext cx="8641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4" name="TextBox 983"/>
          <p:cNvSpPr txBox="1"/>
          <p:nvPr/>
        </p:nvSpPr>
        <p:spPr>
          <a:xfrm>
            <a:off x="2990088" y="3044952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전화번호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2990088" y="331927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  <a:latin typeface="Apple SD Gothic Neo"/>
              </a:rPr>
              <a:t>010-****-****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10424159" y="3172968"/>
            <a:ext cx="804672" cy="27432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87" name="Rounded Rectangle 986"/>
          <p:cNvSpPr/>
          <p:nvPr/>
        </p:nvSpPr>
        <p:spPr>
          <a:xfrm>
            <a:off x="2788920" y="3794760"/>
            <a:ext cx="8641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8" name="TextBox 987"/>
          <p:cNvSpPr txBox="1"/>
          <p:nvPr/>
        </p:nvSpPr>
        <p:spPr>
          <a:xfrm>
            <a:off x="2990088" y="3904488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이메일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2990088" y="4178808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  <a:latin typeface="Apple SD Gothic Neo"/>
              </a:rPr>
              <a:t>user@example.com</a:t>
            </a:r>
          </a:p>
        </p:txBody>
      </p:sp>
      <p:sp>
        <p:nvSpPr>
          <p:cNvPr id="990" name="Rounded Rectangle 989"/>
          <p:cNvSpPr/>
          <p:nvPr/>
        </p:nvSpPr>
        <p:spPr>
          <a:xfrm>
            <a:off x="10424159" y="4032504"/>
            <a:ext cx="804672" cy="27432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2788920" y="4754880"/>
            <a:ext cx="8641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20" b="0">
                <a:solidFill>
                  <a:srgbClr val="999999"/>
                </a:solidFill>
                <a:latin typeface="Apple SD Gothic Neo"/>
              </a:rPr>
              <a:t>개인정보 수정은 각 항목의 수정하기 버튼을 눌러 팝업에서 진행합니다.</a:t>
            </a:r>
          </a:p>
        </p:txBody>
      </p:sp>
      <p:sp>
        <p:nvSpPr>
          <p:cNvPr id="992" name="Rounded Rectangle 991"/>
          <p:cNvSpPr/>
          <p:nvPr/>
        </p:nvSpPr>
        <p:spPr>
          <a:xfrm>
            <a:off x="576072" y="301752"/>
            <a:ext cx="11036808" cy="7013448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3" name="Rounded Rectangle 992"/>
          <p:cNvSpPr/>
          <p:nvPr/>
        </p:nvSpPr>
        <p:spPr>
          <a:xfrm>
            <a:off x="3813048" y="2491740"/>
            <a:ext cx="45720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4" name="TextBox 993"/>
          <p:cNvSpPr txBox="1"/>
          <p:nvPr/>
        </p:nvSpPr>
        <p:spPr>
          <a:xfrm>
            <a:off x="4078224" y="2720340"/>
            <a:ext cx="4041648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333333"/>
                </a:solidFill>
                <a:latin typeface="Apple SD Gothic Neo"/>
              </a:rPr>
              <a:t>전화번호 수정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4078224" y="3058668"/>
            <a:ext cx="40416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pple SD Gothic Neo"/>
              </a:rPr>
              <a:t>새 전화번호</a:t>
            </a:r>
          </a:p>
        </p:txBody>
      </p:sp>
      <p:sp>
        <p:nvSpPr>
          <p:cNvPr id="996" name="Rounded Rectangle 995"/>
          <p:cNvSpPr/>
          <p:nvPr/>
        </p:nvSpPr>
        <p:spPr>
          <a:xfrm>
            <a:off x="4078224" y="3241548"/>
            <a:ext cx="4041648" cy="3017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7" name="TextBox 996"/>
          <p:cNvSpPr txBox="1"/>
          <p:nvPr/>
        </p:nvSpPr>
        <p:spPr>
          <a:xfrm>
            <a:off x="4206240" y="3241548"/>
            <a:ext cx="38221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969696"/>
                </a:solidFill>
                <a:latin typeface="Apple SD Gothic Neo"/>
              </a:rPr>
              <a:t>010-0000-0000</a:t>
            </a:r>
          </a:p>
        </p:txBody>
      </p:sp>
      <p:sp>
        <p:nvSpPr>
          <p:cNvPr id="998" name="Rounded Rectangle 997"/>
          <p:cNvSpPr/>
          <p:nvPr/>
        </p:nvSpPr>
        <p:spPr>
          <a:xfrm>
            <a:off x="7370064" y="4338828"/>
            <a:ext cx="749808" cy="301752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FFFFFF"/>
                </a:solidFill>
                <a:latin typeface="Apple SD Gothic Neo"/>
              </a:rPr>
              <a:t>수정 완료</a:t>
            </a:r>
          </a:p>
        </p:txBody>
      </p:sp>
      <p:sp>
        <p:nvSpPr>
          <p:cNvPr id="999" name="Rounded Rectangle 998"/>
          <p:cNvSpPr/>
          <p:nvPr/>
        </p:nvSpPr>
        <p:spPr>
          <a:xfrm>
            <a:off x="6757416" y="4338828"/>
            <a:ext cx="521207" cy="301752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7160" y="304792"/>
            <a:ext cx="11037375" cy="7010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7160" y="304792"/>
            <a:ext cx="11037375" cy="477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68866" y="394285"/>
            <a:ext cx="2282052" cy="2908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7160" y="782084"/>
            <a:ext cx="2035948" cy="6532933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145" y="472590"/>
            <a:ext cx="781309" cy="13423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39" b="1">
                <a:solidFill>
                  <a:srgbClr val="333333"/>
                </a:solidFill>
                <a:latin typeface="Apple SD Gothic Neo"/>
              </a:rPr>
              <a:t>배터리 안전 관제</a:t>
            </a:r>
          </a:p>
        </p:txBody>
      </p:sp>
      <p:sp>
        <p:nvSpPr>
          <p:cNvPr id="7" name="TextBox 6">
            <a:hlinkClick r:id="rId2" action="ppaction://hlinksldjump"/>
          </p:cNvPr>
          <p:cNvSpPr txBox="1"/>
          <p:nvPr/>
        </p:nvSpPr>
        <p:spPr>
          <a:xfrm>
            <a:off x="11070241" y="480048"/>
            <a:ext cx="335479" cy="1193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63" b="0">
                <a:solidFill>
                  <a:srgbClr val="666666"/>
                </a:solidFill>
                <a:latin typeface="Apple SD Gothic Neo"/>
              </a:rPr>
              <a:t>로그아웃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816" y="465133"/>
            <a:ext cx="149154" cy="1491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74631" y="461404"/>
            <a:ext cx="1879337" cy="15661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969696"/>
                </a:solidFill>
                <a:latin typeface="Apple SD Gothic Neo"/>
              </a:rPr>
              <a:t>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483" y="975984"/>
            <a:ext cx="154864" cy="1118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704" b="0">
                <a:solidFill>
                  <a:srgbClr val="999999"/>
                </a:solidFill>
                <a:latin typeface="Apple SD Gothic Neo"/>
              </a:rPr>
              <a:t>메뉴</a:t>
            </a:r>
          </a:p>
        </p:txBody>
      </p:sp>
      <p:sp>
        <p:nvSpPr>
          <p:cNvPr id="16" name="TextBox 15">
            <a:hlinkClick r:id="rId4" action="ppaction://hlinksldjump"/>
          </p:cNvPr>
          <p:cNvSpPr txBox="1"/>
          <p:nvPr/>
        </p:nvSpPr>
        <p:spPr>
          <a:xfrm>
            <a:off x="696483" y="1251918"/>
            <a:ext cx="361348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대시보드</a:t>
            </a:r>
          </a:p>
        </p:txBody>
      </p:sp>
      <p:sp>
        <p:nvSpPr>
          <p:cNvPr id="18" name="TextBox 17">
            <a:hlinkClick r:id="rId5" action="ppaction://hlinksldjump"/>
          </p:cNvPr>
          <p:cNvSpPr txBox="1"/>
          <p:nvPr/>
        </p:nvSpPr>
        <p:spPr>
          <a:xfrm>
            <a:off x="696483" y="154276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822" b="0">
                <a:solidFill>
                  <a:srgbClr val="666666"/>
                </a:solidFill>
                <a:latin typeface="Apple SD Gothic Neo"/>
              </a:rPr>
              <a:t>알림</a:t>
            </a:r>
          </a:p>
        </p:txBody>
      </p:sp>
      <p:sp>
        <p:nvSpPr>
          <p:cNvPr id="970" name="메뉴-설정">
            <a:hlinkClick r:id="rId6" action="ppaction://hlinksldjump"/>
          </p:cNvPr>
          <p:cNvSpPr txBox="1"/>
          <p:nvPr/>
        </p:nvSpPr>
        <p:spPr>
          <a:xfrm>
            <a:off x="696483" y="1833618"/>
            <a:ext cx="180732" cy="12678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ko-KR" altLang="en-US" sz="822" b="1" dirty="0">
                <a:solidFill>
                  <a:srgbClr val="66666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설정</a:t>
            </a:r>
          </a:p>
        </p:txBody>
      </p:sp>
      <p:sp>
        <p:nvSpPr>
          <p:cNvPr id="971" name="TextBox 970"/>
          <p:cNvSpPr txBox="1"/>
          <p:nvPr/>
        </p:nvSpPr>
        <p:spPr>
          <a:xfrm>
            <a:off x="2788920" y="960120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릴레이 제어</a:t>
            </a:r>
          </a:p>
        </p:txBody>
      </p:sp>
      <p:sp>
        <p:nvSpPr>
          <p:cNvPr id="972" name="TextBox 971"/>
          <p:cNvSpPr txBox="1"/>
          <p:nvPr/>
        </p:nvSpPr>
        <p:spPr>
          <a:xfrm>
            <a:off x="3511296" y="960120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알림 설정</a:t>
            </a:r>
          </a:p>
        </p:txBody>
      </p:sp>
      <p:sp>
        <p:nvSpPr>
          <p:cNvPr id="973" name="TextBox 972"/>
          <p:cNvSpPr txBox="1"/>
          <p:nvPr/>
        </p:nvSpPr>
        <p:spPr>
          <a:xfrm>
            <a:off x="4233672" y="950976"/>
            <a:ext cx="53035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333333"/>
                </a:solidFill>
                <a:latin typeface="Apple SD Gothic Neo"/>
              </a:rPr>
              <a:t>계정 설정</a:t>
            </a:r>
          </a:p>
        </p:txBody>
      </p:sp>
      <p:sp>
        <p:nvSpPr>
          <p:cNvPr id="974" name="Rounded Rectangle 973"/>
          <p:cNvSpPr/>
          <p:nvPr/>
        </p:nvSpPr>
        <p:spPr>
          <a:xfrm>
            <a:off x="4233672" y="1078992"/>
            <a:ext cx="530352" cy="18288"/>
          </a:xfrm>
          <a:prstGeom prst="roundRect">
            <a:avLst>
              <a:gd name="adj" fmla="val 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5" name="Rounded Rectangle 974"/>
          <p:cNvSpPr/>
          <p:nvPr/>
        </p:nvSpPr>
        <p:spPr>
          <a:xfrm>
            <a:off x="2788920" y="1216152"/>
            <a:ext cx="8641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6" name="TextBox 975"/>
          <p:cNvSpPr txBox="1"/>
          <p:nvPr/>
        </p:nvSpPr>
        <p:spPr>
          <a:xfrm>
            <a:off x="2990088" y="1325880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아이디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2990088" y="1600200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  <a:latin typeface="Apple SD Gothic Neo"/>
              </a:rPr>
              <a:t>user_example</a:t>
            </a:r>
          </a:p>
        </p:txBody>
      </p:sp>
      <p:sp>
        <p:nvSpPr>
          <p:cNvPr id="978" name="Rounded Rectangle 977"/>
          <p:cNvSpPr/>
          <p:nvPr/>
        </p:nvSpPr>
        <p:spPr>
          <a:xfrm>
            <a:off x="10424159" y="1453896"/>
            <a:ext cx="804672" cy="27432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79" name="Rounded Rectangle 978"/>
          <p:cNvSpPr/>
          <p:nvPr/>
        </p:nvSpPr>
        <p:spPr>
          <a:xfrm>
            <a:off x="2788920" y="2075688"/>
            <a:ext cx="8641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0" name="TextBox 979"/>
          <p:cNvSpPr txBox="1"/>
          <p:nvPr/>
        </p:nvSpPr>
        <p:spPr>
          <a:xfrm>
            <a:off x="2990088" y="2185416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비밀번호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2990088" y="2459736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  <a:latin typeface="Apple SD Gothic Neo"/>
              </a:rPr>
              <a:t>••••••••••</a:t>
            </a:r>
          </a:p>
        </p:txBody>
      </p:sp>
      <p:sp>
        <p:nvSpPr>
          <p:cNvPr id="982" name="Rounded Rectangle 981"/>
          <p:cNvSpPr/>
          <p:nvPr/>
        </p:nvSpPr>
        <p:spPr>
          <a:xfrm>
            <a:off x="10424159" y="2313432"/>
            <a:ext cx="804672" cy="27432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83" name="Rounded Rectangle 982"/>
          <p:cNvSpPr/>
          <p:nvPr/>
        </p:nvSpPr>
        <p:spPr>
          <a:xfrm>
            <a:off x="2788920" y="2935224"/>
            <a:ext cx="8641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4" name="TextBox 983"/>
          <p:cNvSpPr txBox="1"/>
          <p:nvPr/>
        </p:nvSpPr>
        <p:spPr>
          <a:xfrm>
            <a:off x="2990088" y="3044952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전화번호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2990088" y="331927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  <a:latin typeface="Apple SD Gothic Neo"/>
              </a:rPr>
              <a:t>010-****-****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10424159" y="3172968"/>
            <a:ext cx="804672" cy="27432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87" name="Rounded Rectangle 986"/>
          <p:cNvSpPr/>
          <p:nvPr/>
        </p:nvSpPr>
        <p:spPr>
          <a:xfrm>
            <a:off x="2788920" y="3794760"/>
            <a:ext cx="86410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8" name="TextBox 987"/>
          <p:cNvSpPr txBox="1"/>
          <p:nvPr/>
        </p:nvSpPr>
        <p:spPr>
          <a:xfrm>
            <a:off x="2990088" y="3904488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Apple SD Gothic Neo"/>
              </a:rPr>
              <a:t>이메일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2990088" y="4178808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333333"/>
                </a:solidFill>
                <a:latin typeface="Apple SD Gothic Neo"/>
              </a:rPr>
              <a:t>user@example.com</a:t>
            </a:r>
          </a:p>
        </p:txBody>
      </p:sp>
      <p:sp>
        <p:nvSpPr>
          <p:cNvPr id="990" name="Rounded Rectangle 989"/>
          <p:cNvSpPr/>
          <p:nvPr/>
        </p:nvSpPr>
        <p:spPr>
          <a:xfrm>
            <a:off x="10424159" y="4032504"/>
            <a:ext cx="804672" cy="27432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수정하기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2788920" y="4754880"/>
            <a:ext cx="8641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20" b="0">
                <a:solidFill>
                  <a:srgbClr val="999999"/>
                </a:solidFill>
                <a:latin typeface="Apple SD Gothic Neo"/>
              </a:rPr>
              <a:t>개인정보 수정은 각 항목의 수정하기 버튼을 눌러 팝업에서 진행합니다.</a:t>
            </a:r>
          </a:p>
        </p:txBody>
      </p:sp>
      <p:sp>
        <p:nvSpPr>
          <p:cNvPr id="992" name="Rounded Rectangle 991"/>
          <p:cNvSpPr/>
          <p:nvPr/>
        </p:nvSpPr>
        <p:spPr>
          <a:xfrm>
            <a:off x="576072" y="301752"/>
            <a:ext cx="11036808" cy="7013448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3" name="Rounded Rectangle 992"/>
          <p:cNvSpPr/>
          <p:nvPr/>
        </p:nvSpPr>
        <p:spPr>
          <a:xfrm>
            <a:off x="3813048" y="2491740"/>
            <a:ext cx="45720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4" name="TextBox 993"/>
          <p:cNvSpPr txBox="1"/>
          <p:nvPr/>
        </p:nvSpPr>
        <p:spPr>
          <a:xfrm>
            <a:off x="4078224" y="2720340"/>
            <a:ext cx="4041648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333333"/>
                </a:solidFill>
                <a:latin typeface="Apple SD Gothic Neo"/>
              </a:rPr>
              <a:t>이메일 수정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4078224" y="3058668"/>
            <a:ext cx="40416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pple SD Gothic Neo"/>
              </a:rPr>
              <a:t>새 이메일 주소</a:t>
            </a:r>
          </a:p>
        </p:txBody>
      </p:sp>
      <p:sp>
        <p:nvSpPr>
          <p:cNvPr id="996" name="Rounded Rectangle 995"/>
          <p:cNvSpPr/>
          <p:nvPr/>
        </p:nvSpPr>
        <p:spPr>
          <a:xfrm>
            <a:off x="4078224" y="3241548"/>
            <a:ext cx="4041648" cy="3017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7" name="TextBox 996"/>
          <p:cNvSpPr txBox="1"/>
          <p:nvPr/>
        </p:nvSpPr>
        <p:spPr>
          <a:xfrm>
            <a:off x="4206240" y="3241548"/>
            <a:ext cx="38221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969696"/>
                </a:solidFill>
                <a:latin typeface="Apple SD Gothic Neo"/>
              </a:rPr>
              <a:t>예: user@example.com</a:t>
            </a:r>
          </a:p>
        </p:txBody>
      </p:sp>
      <p:sp>
        <p:nvSpPr>
          <p:cNvPr id="998" name="Rounded Rectangle 997"/>
          <p:cNvSpPr/>
          <p:nvPr/>
        </p:nvSpPr>
        <p:spPr>
          <a:xfrm>
            <a:off x="7370064" y="4338828"/>
            <a:ext cx="749808" cy="301752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FFFFFF"/>
                </a:solidFill>
                <a:latin typeface="Apple SD Gothic Neo"/>
              </a:rPr>
              <a:t>수정 완료</a:t>
            </a:r>
          </a:p>
        </p:txBody>
      </p:sp>
      <p:sp>
        <p:nvSpPr>
          <p:cNvPr id="999" name="Rounded Rectangle 998"/>
          <p:cNvSpPr/>
          <p:nvPr/>
        </p:nvSpPr>
        <p:spPr>
          <a:xfrm>
            <a:off x="6757416" y="4338828"/>
            <a:ext cx="521207" cy="301752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9525">
            <a:solidFill>
              <a:srgbClr val="CB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333333"/>
                </a:solidFill>
                <a:latin typeface="Apple SD Gothic Neo"/>
              </a:rPr>
              <a:t>취소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7FAF99E-4C64-3A4B-B8A2-D1D85F0C4E7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8fff4c6-487f-45ed-a67e-e9de530c868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2512</Words>
  <Application>Microsoft Macintosh PowerPoint</Application>
  <PresentationFormat>사용자 지정</PresentationFormat>
  <Paragraphs>956</Paragraphs>
  <Slides>31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Apple SD Gothic Neo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정재환</cp:lastModifiedBy>
  <cp:revision>26</cp:revision>
  <dcterms:created xsi:type="dcterms:W3CDTF">2013-01-27T09:14:16Z</dcterms:created>
  <dcterms:modified xsi:type="dcterms:W3CDTF">2026-06-29T08:29:10Z</dcterms:modified>
  <cp:category/>
</cp:coreProperties>
</file>