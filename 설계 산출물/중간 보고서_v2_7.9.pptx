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3"/>
  </p:notesMasterIdLst>
  <p:sldIdLst>
    <p:sldId id="378" r:id="rId2"/>
    <p:sldId id="400" r:id="rId3"/>
    <p:sldId id="334" r:id="rId4"/>
    <p:sldId id="379" r:id="rId5"/>
    <p:sldId id="401" r:id="rId6"/>
    <p:sldId id="315" r:id="rId7"/>
    <p:sldId id="511" r:id="rId8"/>
    <p:sldId id="261" r:id="rId9"/>
    <p:sldId id="262" r:id="rId10"/>
    <p:sldId id="522" r:id="rId11"/>
    <p:sldId id="265" r:id="rId12"/>
    <p:sldId id="264" r:id="rId13"/>
    <p:sldId id="365" r:id="rId14"/>
    <p:sldId id="387" r:id="rId15"/>
    <p:sldId id="402" r:id="rId16"/>
    <p:sldId id="403" r:id="rId17"/>
    <p:sldId id="404" r:id="rId18"/>
    <p:sldId id="384" r:id="rId19"/>
    <p:sldId id="385" r:id="rId20"/>
    <p:sldId id="386" r:id="rId21"/>
    <p:sldId id="381" r:id="rId22"/>
    <p:sldId id="382" r:id="rId23"/>
    <p:sldId id="323" r:id="rId24"/>
    <p:sldId id="405" r:id="rId25"/>
    <p:sldId id="396" r:id="rId26"/>
    <p:sldId id="397" r:id="rId27"/>
    <p:sldId id="266" r:id="rId28"/>
    <p:sldId id="267" r:id="rId29"/>
    <p:sldId id="268" r:id="rId30"/>
    <p:sldId id="270" r:id="rId31"/>
    <p:sldId id="271" r:id="rId32"/>
    <p:sldId id="272" r:id="rId33"/>
    <p:sldId id="273" r:id="rId34"/>
    <p:sldId id="274" r:id="rId35"/>
    <p:sldId id="275" r:id="rId36"/>
    <p:sldId id="276" r:id="rId37"/>
    <p:sldId id="277" r:id="rId38"/>
    <p:sldId id="281" r:id="rId39"/>
    <p:sldId id="278" r:id="rId40"/>
    <p:sldId id="279" r:id="rId41"/>
    <p:sldId id="280" r:id="rId42"/>
    <p:sldId id="282" r:id="rId43"/>
    <p:sldId id="283" r:id="rId44"/>
    <p:sldId id="289" r:id="rId45"/>
    <p:sldId id="523" r:id="rId46"/>
    <p:sldId id="288" r:id="rId47"/>
    <p:sldId id="284" r:id="rId48"/>
    <p:sldId id="290" r:id="rId49"/>
    <p:sldId id="291" r:id="rId50"/>
    <p:sldId id="285" r:id="rId51"/>
    <p:sldId id="295" r:id="rId52"/>
    <p:sldId id="292" r:id="rId53"/>
    <p:sldId id="293" r:id="rId54"/>
    <p:sldId id="524" r:id="rId55"/>
    <p:sldId id="286" r:id="rId56"/>
    <p:sldId id="325" r:id="rId57"/>
    <p:sldId id="309" r:id="rId58"/>
    <p:sldId id="406" r:id="rId59"/>
    <p:sldId id="407" r:id="rId60"/>
    <p:sldId id="408" r:id="rId61"/>
    <p:sldId id="409" r:id="rId62"/>
    <p:sldId id="390" r:id="rId63"/>
    <p:sldId id="391" r:id="rId64"/>
    <p:sldId id="392" r:id="rId65"/>
    <p:sldId id="393" r:id="rId66"/>
    <p:sldId id="394" r:id="rId67"/>
    <p:sldId id="395" r:id="rId68"/>
    <p:sldId id="398" r:id="rId69"/>
    <p:sldId id="399" r:id="rId70"/>
    <p:sldId id="500" r:id="rId71"/>
    <p:sldId id="501" r:id="rId72"/>
    <p:sldId id="502" r:id="rId73"/>
    <p:sldId id="344" r:id="rId74"/>
    <p:sldId id="257" r:id="rId75"/>
    <p:sldId id="347" r:id="rId76"/>
    <p:sldId id="348" r:id="rId77"/>
    <p:sldId id="350" r:id="rId78"/>
    <p:sldId id="351" r:id="rId79"/>
    <p:sldId id="383" r:id="rId80"/>
    <p:sldId id="355" r:id="rId81"/>
    <p:sldId id="357" r:id="rId82"/>
    <p:sldId id="353" r:id="rId83"/>
    <p:sldId id="354" r:id="rId84"/>
    <p:sldId id="517" r:id="rId85"/>
    <p:sldId id="322" r:id="rId86"/>
    <p:sldId id="324" r:id="rId87"/>
    <p:sldId id="518" r:id="rId88"/>
    <p:sldId id="359" r:id="rId89"/>
    <p:sldId id="356" r:id="rId90"/>
    <p:sldId id="326" r:id="rId91"/>
    <p:sldId id="328" r:id="rId92"/>
    <p:sldId id="519" r:id="rId93"/>
    <p:sldId id="330" r:id="rId94"/>
    <p:sldId id="520" r:id="rId95"/>
    <p:sldId id="503" r:id="rId96"/>
    <p:sldId id="504" r:id="rId97"/>
    <p:sldId id="512" r:id="rId98"/>
    <p:sldId id="513" r:id="rId99"/>
    <p:sldId id="516" r:id="rId100"/>
    <p:sldId id="263" r:id="rId101"/>
    <p:sldId id="410" r:id="rId102"/>
    <p:sldId id="388" r:id="rId103"/>
    <p:sldId id="389" r:id="rId104"/>
    <p:sldId id="505" r:id="rId105"/>
    <p:sldId id="506" r:id="rId106"/>
    <p:sldId id="507" r:id="rId107"/>
    <p:sldId id="508" r:id="rId108"/>
    <p:sldId id="509" r:id="rId109"/>
    <p:sldId id="510" r:id="rId110"/>
    <p:sldId id="358" r:id="rId111"/>
    <p:sldId id="514" r:id="rId112"/>
    <p:sldId id="515" r:id="rId113"/>
    <p:sldId id="329" r:id="rId114"/>
    <p:sldId id="352" r:id="rId115"/>
    <p:sldId id="521" r:id="rId116"/>
    <p:sldId id="287" r:id="rId117"/>
    <p:sldId id="361" r:id="rId118"/>
    <p:sldId id="362" r:id="rId119"/>
    <p:sldId id="360" r:id="rId120"/>
    <p:sldId id="364" r:id="rId121"/>
    <p:sldId id="294" r:id="rId122"/>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3169E0CE-11EE-4B75-8E1C-292EFB0E2495}">
          <p14:sldIdLst>
            <p14:sldId id="378"/>
          </p14:sldIdLst>
        </p14:section>
        <p14:section name="프로젝트 개요" id="{9EA9BABC-CBE5-44C1-8E4A-6137E63BDD21}">
          <p14:sldIdLst>
            <p14:sldId id="400"/>
            <p14:sldId id="334"/>
            <p14:sldId id="379"/>
            <p14:sldId id="401"/>
            <p14:sldId id="315"/>
            <p14:sldId id="511"/>
          </p14:sldIdLst>
        </p14:section>
        <p14:section name="시장·사용자 조사" id="{B8503A8D-7B4A-49C1-B9BE-3D089F5AC161}">
          <p14:sldIdLst>
            <p14:sldId id="261"/>
            <p14:sldId id="262"/>
            <p14:sldId id="522"/>
            <p14:sldId id="265"/>
            <p14:sldId id="264"/>
          </p14:sldIdLst>
        </p14:section>
        <p14:section name="요구사항 정의" id="{EED4EA47-6C29-4D3A-B8CD-548DC09C9302}">
          <p14:sldIdLst>
            <p14:sldId id="365"/>
            <p14:sldId id="387"/>
          </p14:sldIdLst>
        </p14:section>
        <p14:section name="유즈케이스 정의" id="{362FC6B2-EF44-4E23-9CBF-57986764E054}">
          <p14:sldIdLst>
            <p14:sldId id="402"/>
            <p14:sldId id="403"/>
            <p14:sldId id="404"/>
            <p14:sldId id="384"/>
            <p14:sldId id="385"/>
            <p14:sldId id="386"/>
          </p14:sldIdLst>
        </p14:section>
        <p14:section name="서비스 설계" id="{63153143-5D38-427A-9750-38CF9F491D43}">
          <p14:sldIdLst>
            <p14:sldId id="381"/>
            <p14:sldId id="382"/>
            <p14:sldId id="323"/>
          </p14:sldIdLst>
        </p14:section>
        <p14:section name="UI/UX 정의" id="{7506BCB7-5577-4C6A-B5E1-81E6C9D5FC33}">
          <p14:sldIdLst>
            <p14:sldId id="405"/>
            <p14:sldId id="396"/>
            <p14:sldId id="397"/>
          </p14:sldIdLst>
        </p14:section>
        <p14:section name="시스템 개요" id="{D269D924-49A5-4395-8E0F-5E9D03306AB2}">
          <p14:sldIdLst>
            <p14:sldId id="266"/>
            <p14:sldId id="267"/>
            <p14:sldId id="268"/>
          </p14:sldIdLst>
        </p14:section>
        <p14:section name="부품 리스트" id="{7A1844BC-0775-42A8-B384-D5C4577222D2}">
          <p14:sldIdLst>
            <p14:sldId id="270"/>
            <p14:sldId id="271"/>
            <p14:sldId id="272"/>
            <p14:sldId id="273"/>
            <p14:sldId id="274"/>
            <p14:sldId id="275"/>
          </p14:sldIdLst>
        </p14:section>
        <p14:section name="회로 설계" id="{DCA1366C-464A-4D4C-9F18-0C17B5DDCAFE}">
          <p14:sldIdLst>
            <p14:sldId id="276"/>
            <p14:sldId id="277"/>
            <p14:sldId id="281"/>
            <p14:sldId id="278"/>
            <p14:sldId id="279"/>
            <p14:sldId id="280"/>
          </p14:sldIdLst>
        </p14:section>
        <p14:section name="핵심 State 정의" id="{7ED47349-276C-4031-B4D3-594767B02AA5}">
          <p14:sldIdLst>
            <p14:sldId id="282"/>
          </p14:sldIdLst>
        </p14:section>
        <p14:section name="모드별 세부 동작 메커니즘" id="{76D24D47-B922-41DB-9506-F667DDBF8DC1}">
          <p14:sldIdLst>
            <p14:sldId id="283"/>
            <p14:sldId id="289"/>
            <p14:sldId id="523"/>
            <p14:sldId id="288"/>
            <p14:sldId id="284"/>
            <p14:sldId id="290"/>
            <p14:sldId id="291"/>
            <p14:sldId id="285"/>
            <p14:sldId id="295"/>
            <p14:sldId id="292"/>
            <p14:sldId id="293"/>
            <p14:sldId id="524"/>
            <p14:sldId id="286"/>
          </p14:sldIdLst>
        </p14:section>
        <p14:section name="메뉴 구성도" id="{1D660811-1624-44C6-A843-C8DF0307FDE9}">
          <p14:sldIdLst>
            <p14:sldId id="325"/>
            <p14:sldId id="309"/>
          </p14:sldIdLst>
        </p14:section>
        <p14:section name="화면 설계" id="{9C4B4CB6-6142-44D1-8B26-8675C278DA29}">
          <p14:sldIdLst>
            <p14:sldId id="406"/>
            <p14:sldId id="407"/>
            <p14:sldId id="408"/>
            <p14:sldId id="409"/>
            <p14:sldId id="390"/>
            <p14:sldId id="391"/>
            <p14:sldId id="392"/>
            <p14:sldId id="393"/>
            <p14:sldId id="394"/>
            <p14:sldId id="395"/>
            <p14:sldId id="398"/>
            <p14:sldId id="399"/>
          </p14:sldIdLst>
        </p14:section>
        <p14:section name="ERD (엔티티 관계도)" id="{3D9E77D0-B610-4B78-8268-D11A7BE84379}">
          <p14:sldIdLst>
            <p14:sldId id="500"/>
            <p14:sldId id="501"/>
            <p14:sldId id="502"/>
          </p14:sldIdLst>
        </p14:section>
        <p14:section name="플로우차트 (User/Admin)" id="{775F1A17-4002-4914-85D8-B361E44FAF42}">
          <p14:sldIdLst>
            <p14:sldId id="344"/>
            <p14:sldId id="257"/>
            <p14:sldId id="347"/>
            <p14:sldId id="348"/>
            <p14:sldId id="350"/>
            <p14:sldId id="351"/>
          </p14:sldIdLst>
        </p14:section>
        <p14:section name="AI 입력·특징 설계" id="{E0BFDD55-8DA7-4CDF-92D2-E8919A89701D}">
          <p14:sldIdLst>
            <p14:sldId id="383"/>
            <p14:sldId id="355"/>
            <p14:sldId id="357"/>
            <p14:sldId id="353"/>
          </p14:sldIdLst>
        </p14:section>
        <p14:section name="Auto-Encoder 모델 설계" id="{0A271761-EEB5-487F-9C3D-7EC041F14729}">
          <p14:sldIdLst>
            <p14:sldId id="354"/>
            <p14:sldId id="517"/>
            <p14:sldId id="322"/>
            <p14:sldId id="324"/>
          </p14:sldIdLst>
        </p14:section>
        <p14:section name="Informer·Hybrid 결합 근거" id="{D1C9BE69-8E62-47C1-96FB-1A89CF6B9962}">
          <p14:sldIdLst>
            <p14:sldId id="518"/>
            <p14:sldId id="359"/>
            <p14:sldId id="356"/>
          </p14:sldIdLst>
        </p14:section>
        <p14:section name="Hybrid AI Algorithm 설계·검증" id="{34605E55-82F0-4A55-AE2E-8BD129394587}">
          <p14:sldIdLst>
            <p14:sldId id="326"/>
            <p14:sldId id="328"/>
            <p14:sldId id="519"/>
            <p14:sldId id="330"/>
            <p14:sldId id="520"/>
          </p14:sldIdLst>
        </p14:section>
        <p14:section name="데이터 수집·처리 정의서" id="{6A60BFD6-982C-4D98-AF87-68C39BC7390B}">
          <p14:sldIdLst>
            <p14:sldId id="503"/>
            <p14:sldId id="504"/>
          </p14:sldIdLst>
        </p14:section>
        <p14:section name="실제 구현 검증·프로그램 목록" id="{6B61541E-7D44-40C8-9870-AAEB643DD6B9}">
          <p14:sldIdLst>
            <p14:sldId id="512"/>
            <p14:sldId id="513"/>
            <p14:sldId id="516"/>
            <p14:sldId id="263"/>
            <p14:sldId id="410"/>
            <p14:sldId id="388"/>
            <p14:sldId id="389"/>
          </p14:sldIdLst>
        </p14:section>
        <p14:section name="테이블 정의서" id="{9E314A3D-1ABE-4ED6-A010-2BD5B722A0AF}">
          <p14:sldIdLst>
            <p14:sldId id="505"/>
            <p14:sldId id="506"/>
            <p14:sldId id="507"/>
            <p14:sldId id="508"/>
            <p14:sldId id="509"/>
            <p14:sldId id="510"/>
          </p14:sldIdLst>
        </p14:section>
        <p14:section name="핵심 소스코드" id="{578E3F76-28F6-44F0-B525-29808179C7FF}">
          <p14:sldIdLst>
            <p14:sldId id="358"/>
            <p14:sldId id="514"/>
            <p14:sldId id="515"/>
            <p14:sldId id="329"/>
            <p14:sldId id="352"/>
            <p14:sldId id="521"/>
          </p14:sldIdLst>
        </p14:section>
        <p14:section name="참조 자료" id="{CC243876-4D4E-4F16-81CB-D83087FB49D9}">
          <p14:sldIdLst>
            <p14:sldId id="287"/>
            <p14:sldId id="361"/>
            <p14:sldId id="362"/>
            <p14:sldId id="360"/>
            <p14:sldId id="364"/>
          </p14:sldIdLst>
        </p14:section>
        <p14:section name="마무리" id="{ACEACD4B-F34D-4101-AC55-6EBCED00DDFD}">
          <p14:sldIdLst>
            <p14:sldId id="29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1E8E911-0CB3-8B38-B243-BD927FA74830}" name="이 상민" initials="상이" userId="S::lsm@fkiims.onmicrosoft.com::64505b25-1d12-486c-9a86-910d06e2088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0452"/>
    <a:srgbClr val="3B5AA8"/>
    <a:srgbClr val="003399"/>
    <a:srgbClr val="77787B"/>
    <a:srgbClr val="9999FF"/>
    <a:srgbClr val="E2E6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보통 스타일 3 - 강조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밝은 스타일 1 - 강조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7AC3CCA-C797-4891-BE02-D94E43425B78}" styleName="보통 스타일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38B1855-1B75-4FBE-930C-398BA8C253C6}" styleName="테마 스타일 2 - 강조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94754" autoAdjust="0"/>
  </p:normalViewPr>
  <p:slideViewPr>
    <p:cSldViewPr>
      <p:cViewPr varScale="1">
        <p:scale>
          <a:sx n="120" d="100"/>
          <a:sy n="120" d="100"/>
        </p:scale>
        <p:origin x="184" y="27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notesMaster" Target="notesMasters/notesMaster1.xml"/><Relationship Id="rId128" Type="http://schemas.microsoft.com/office/2018/10/relationships/authors" Target="author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_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_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_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____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____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시장규모(억$)</c:v>
                </c:pt>
              </c:strCache>
            </c:strRef>
          </c:tx>
          <c:spPr>
            <a:solidFill>
              <a:srgbClr val="3B5BA7"/>
            </a:solidFill>
            <a:effectLst/>
          </c:spPr>
          <c:invertIfNegative val="0"/>
          <c:dLbls>
            <c:numFmt formatCode="#,##0" sourceLinked="0"/>
            <c:spPr>
              <a:noFill/>
              <a:ln>
                <a:noFill/>
              </a:ln>
              <a:effectLst/>
            </c:spPr>
            <c:txPr>
              <a:bodyPr/>
              <a:lstStyle/>
              <a:p>
                <a:pPr>
                  <a:defRPr sz="900" b="0" i="0" u="none" strike="noStrike">
                    <a:solidFill>
                      <a:srgbClr val="1E293B"/>
                    </a:solidFill>
                    <a:latin typeface="맑은 고딕"/>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2025</c:v>
                </c:pt>
                <c:pt idx="1">
                  <c:v>2026</c:v>
                </c:pt>
                <c:pt idx="2">
                  <c:v>2030(추정)</c:v>
                </c:pt>
                <c:pt idx="3">
                  <c:v>2035</c:v>
                </c:pt>
              </c:strCache>
            </c:strRef>
          </c:cat>
          <c:val>
            <c:numRef>
              <c:f>Sheet1!$B$2:$B$5</c:f>
              <c:numCache>
                <c:formatCode>General</c:formatCode>
                <c:ptCount val="4"/>
                <c:pt idx="0">
                  <c:v>42</c:v>
                </c:pt>
                <c:pt idx="1">
                  <c:v>45</c:v>
                </c:pt>
                <c:pt idx="2">
                  <c:v>78</c:v>
                </c:pt>
                <c:pt idx="3">
                  <c:v>132</c:v>
                </c:pt>
              </c:numCache>
            </c:numRef>
          </c:val>
          <c:extLst>
            <c:ext xmlns:c16="http://schemas.microsoft.com/office/drawing/2014/chart" uri="{C3380CC4-5D6E-409C-BE32-E72D297353CC}">
              <c16:uniqueId val="{00000000-20A0-432B-A7CB-732BEA90205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맑은 고딕"/>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맑은 고딕"/>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화재건수</c:v>
                </c:pt>
              </c:strCache>
            </c:strRef>
          </c:tx>
          <c:spPr>
            <a:solidFill>
              <a:srgbClr val="3B5BA7"/>
            </a:solidFill>
            <a:effectLst/>
          </c:spPr>
          <c:invertIfNegative val="0"/>
          <c:dLbls>
            <c:numFmt formatCode="#,##0" sourceLinked="0"/>
            <c:spPr>
              <a:noFill/>
              <a:ln>
                <a:noFill/>
              </a:ln>
              <a:effectLst/>
            </c:spPr>
            <c:txPr>
              <a:bodyPr/>
              <a:lstStyle/>
              <a:p>
                <a:pPr>
                  <a:defRPr sz="900" b="0" i="0" u="none" strike="noStrike">
                    <a:solidFill>
                      <a:srgbClr val="1E293B"/>
                    </a:solidFill>
                    <a:latin typeface="맑은 고딕"/>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2023년</c:v>
                </c:pt>
                <c:pt idx="1">
                  <c:v>2024년</c:v>
                </c:pt>
                <c:pt idx="2">
                  <c:v>2025년 1~5월</c:v>
                </c:pt>
              </c:strCache>
            </c:strRef>
          </c:cat>
          <c:val>
            <c:numRef>
              <c:f>Sheet1!$B$2:$B$4</c:f>
              <c:numCache>
                <c:formatCode>General</c:formatCode>
                <c:ptCount val="3"/>
                <c:pt idx="0">
                  <c:v>73</c:v>
                </c:pt>
                <c:pt idx="1">
                  <c:v>74</c:v>
                </c:pt>
                <c:pt idx="2">
                  <c:v>72</c:v>
                </c:pt>
              </c:numCache>
            </c:numRef>
          </c:val>
          <c:extLst>
            <c:ext xmlns:c16="http://schemas.microsoft.com/office/drawing/2014/chart" uri="{C3380CC4-5D6E-409C-BE32-E72D297353CC}">
              <c16:uniqueId val="{00000000-DBDE-43B9-A33B-9DB2C9F7358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맑은 고딕"/>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맑은 고딕"/>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900" b="0" i="0" u="none" strike="noStrike">
                <a:solidFill>
                  <a:srgbClr val="000000"/>
                </a:solidFill>
                <a:latin typeface="맑은 고딕"/>
              </a:defRPr>
            </a:pPr>
            <a:r>
              <a:rPr lang="ko-KR" altLang="en-US" sz="900" b="0" i="0" u="none" strike="noStrike" dirty="0">
                <a:solidFill>
                  <a:srgbClr val="000000"/>
                </a:solidFill>
                <a:latin typeface="맑은 고딕"/>
              </a:rPr>
              <a:t>발생 위치</a:t>
            </a:r>
          </a:p>
        </c:rich>
      </c:tx>
      <c:layout>
        <c:manualLayout>
          <c:xMode val="edge"/>
          <c:yMode val="edge"/>
          <c:x val="0.37229278292876111"/>
          <c:y val="0.11288439991859973"/>
        </c:manualLayout>
      </c:layout>
      <c:overlay val="0"/>
    </c:title>
    <c:autoTitleDeleted val="0"/>
    <c:plotArea>
      <c:layout/>
      <c:doughnutChart>
        <c:varyColors val="1"/>
        <c:ser>
          <c:idx val="0"/>
          <c:order val="0"/>
          <c:tx>
            <c:strRef>
              <c:f>Sheet1!$B$1</c:f>
              <c:strCache>
                <c:ptCount val="1"/>
                <c:pt idx="0">
                  <c:v>발생 위치</c:v>
                </c:pt>
              </c:strCache>
            </c:strRef>
          </c:tx>
          <c:spPr>
            <a:solidFill>
              <a:schemeClr val="accent1"/>
            </a:solidFill>
            <a:ln w="9525" cap="flat">
              <a:solidFill>
                <a:srgbClr val="F9F9F9"/>
              </a:solidFill>
              <a:prstDash val="solid"/>
              <a:round/>
            </a:ln>
            <a:effectLst/>
          </c:spPr>
          <c:dPt>
            <c:idx val="0"/>
            <c:bubble3D val="0"/>
            <c:spPr>
              <a:solidFill>
                <a:srgbClr val="3B5BA7"/>
              </a:solidFill>
              <a:effectLst/>
            </c:spPr>
            <c:extLst>
              <c:ext xmlns:c16="http://schemas.microsoft.com/office/drawing/2014/chart" uri="{C3380CC4-5D6E-409C-BE32-E72D297353CC}">
                <c16:uniqueId val="{00000001-582A-42A0-9AEB-7D47EC9D59DC}"/>
              </c:ext>
            </c:extLst>
          </c:dPt>
          <c:dPt>
            <c:idx val="1"/>
            <c:bubble3D val="0"/>
            <c:spPr>
              <a:solidFill>
                <a:srgbClr val="CBD5E1"/>
              </a:solidFill>
              <a:effectLst/>
            </c:spPr>
            <c:extLst>
              <c:ext xmlns:c16="http://schemas.microsoft.com/office/drawing/2014/chart" uri="{C3380CC4-5D6E-409C-BE32-E72D297353CC}">
                <c16:uniqueId val="{00000003-582A-42A0-9AEB-7D47EC9D59DC}"/>
              </c:ext>
            </c:extLst>
          </c:dPt>
          <c:dLbls>
            <c:dLbl>
              <c:idx val="0"/>
              <c:numFmt formatCode="0%" sourceLinked="0"/>
              <c:spPr/>
              <c:txPr>
                <a:bodyPr/>
                <a:lstStyle/>
                <a:p>
                  <a:pPr>
                    <a:defRPr sz="800" b="0" i="0" u="none" strike="noStrike">
                      <a:solidFill>
                        <a:srgbClr val="000000"/>
                      </a:solidFill>
                      <a:latin typeface="맑은 고딕"/>
                    </a:defRPr>
                  </a:pPr>
                  <a:endParaRPr lang="ko-K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582A-42A0-9AEB-7D47EC9D59DC}"/>
                </c:ext>
              </c:extLst>
            </c:dLbl>
            <c:dLbl>
              <c:idx val="1"/>
              <c:numFmt formatCode="0%" sourceLinked="0"/>
              <c:spPr/>
              <c:txPr>
                <a:bodyPr/>
                <a:lstStyle/>
                <a:p>
                  <a:pPr>
                    <a:defRPr sz="800" b="0" i="0" u="none" strike="noStrike">
                      <a:solidFill>
                        <a:srgbClr val="000000"/>
                      </a:solidFill>
                      <a:latin typeface="맑은 고딕"/>
                    </a:defRPr>
                  </a:pPr>
                  <a:endParaRPr lang="ko-K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582A-42A0-9AEB-7D47EC9D59DC}"/>
                </c:ext>
              </c:extLst>
            </c:dLbl>
            <c:numFmt formatCode="0%" sourceLinked="0"/>
            <c:spPr>
              <a:noFill/>
              <a:ln>
                <a:noFill/>
              </a:ln>
              <a:effectLst/>
            </c:spPr>
            <c:txPr>
              <a:bodyPr/>
              <a:lstStyle/>
              <a:p>
                <a:pPr>
                  <a:defRPr sz="1800" b="0" i="0" u="none" strike="noStrike">
                    <a:solidFill>
                      <a:srgbClr val="000000"/>
                    </a:solidFill>
                    <a:latin typeface="Arial"/>
                  </a:defRPr>
                </a:pPr>
                <a:endParaRPr lang="ko-KR"/>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객실 좌석/선반</c:v>
                </c:pt>
                <c:pt idx="1">
                  <c:v>기타(수하물칸 등)</c:v>
                </c:pt>
              </c:strCache>
            </c:strRef>
          </c:cat>
          <c:val>
            <c:numRef>
              <c:f>Sheet1!$B$2:$B$3</c:f>
              <c:numCache>
                <c:formatCode>General</c:formatCode>
                <c:ptCount val="2"/>
                <c:pt idx="0">
                  <c:v>10</c:v>
                </c:pt>
                <c:pt idx="1">
                  <c:v>3</c:v>
                </c:pt>
              </c:numCache>
            </c:numRef>
          </c:val>
          <c:extLst>
            <c:ext xmlns:c16="http://schemas.microsoft.com/office/drawing/2014/chart" uri="{C3380CC4-5D6E-409C-BE32-E72D297353CC}">
              <c16:uniqueId val="{00000004-582A-42A0-9AEB-7D47EC9D59DC}"/>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700">
              <a:latin typeface="맑은 고딕"/>
              <a:cs typeface="맑은 고딕"/>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응답수(명)</c:v>
                </c:pt>
              </c:strCache>
            </c:strRef>
          </c:tx>
          <c:spPr>
            <a:solidFill>
              <a:srgbClr val="3B5BA7"/>
            </a:solidFill>
            <a:effectLst/>
          </c:spPr>
          <c:invertIfNegative val="0"/>
          <c:dLbls>
            <c:numFmt formatCode="#,##0" sourceLinked="0"/>
            <c:spPr>
              <a:noFill/>
              <a:ln>
                <a:noFill/>
              </a:ln>
              <a:effectLst/>
            </c:spPr>
            <c:txPr>
              <a:bodyPr/>
              <a:lstStyle/>
              <a:p>
                <a:pPr>
                  <a:defRPr sz="750" b="0" i="0" u="none" strike="noStrike">
                    <a:solidFill>
                      <a:srgbClr val="1E293B"/>
                    </a:solidFill>
                    <a:latin typeface="맑은 고딕"/>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알림체계 미흡</c:v>
                </c:pt>
                <c:pt idx="1">
                  <c:v>데이터 유실/노이즈</c:v>
                </c:pt>
                <c:pt idx="2">
                  <c:v>실시간 통합관제 부재</c:v>
                </c:pt>
                <c:pt idx="3">
                  <c:v>사후 대응만 가능</c:v>
                </c:pt>
              </c:strCache>
            </c:strRef>
          </c:cat>
          <c:val>
            <c:numRef>
              <c:f>Sheet1!$B$2:$B$5</c:f>
              <c:numCache>
                <c:formatCode>General</c:formatCode>
                <c:ptCount val="4"/>
                <c:pt idx="0">
                  <c:v>11</c:v>
                </c:pt>
                <c:pt idx="1">
                  <c:v>12</c:v>
                </c:pt>
                <c:pt idx="2">
                  <c:v>18</c:v>
                </c:pt>
                <c:pt idx="3">
                  <c:v>26</c:v>
                </c:pt>
              </c:numCache>
            </c:numRef>
          </c:val>
          <c:extLst>
            <c:ext xmlns:c16="http://schemas.microsoft.com/office/drawing/2014/chart" uri="{C3380CC4-5D6E-409C-BE32-E72D297353CC}">
              <c16:uniqueId val="{00000000-1951-4289-AB8A-83FA1BCDCBB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50" b="0" i="0" u="none" strike="noStrike">
                <a:solidFill>
                  <a:srgbClr val="64748B"/>
                </a:solidFill>
                <a:latin typeface="맑은 고딕"/>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750" b="0" i="0" u="none" strike="noStrike">
                <a:solidFill>
                  <a:srgbClr val="64748B"/>
                </a:solidFill>
                <a:latin typeface="맑은 고딕"/>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필요성</c:v>
                </c:pt>
              </c:strCache>
            </c:strRef>
          </c:tx>
          <c:spPr>
            <a:solidFill>
              <a:schemeClr val="accent1"/>
            </a:solidFill>
            <a:ln w="9525" cap="flat">
              <a:solidFill>
                <a:srgbClr val="F9F9F9"/>
              </a:solidFill>
              <a:prstDash val="solid"/>
              <a:round/>
            </a:ln>
            <a:effectLst/>
          </c:spPr>
          <c:dPt>
            <c:idx val="0"/>
            <c:bubble3D val="0"/>
            <c:spPr>
              <a:solidFill>
                <a:srgbClr val="3B5BA7"/>
              </a:solidFill>
              <a:effectLst/>
            </c:spPr>
            <c:extLst>
              <c:ext xmlns:c16="http://schemas.microsoft.com/office/drawing/2014/chart" uri="{C3380CC4-5D6E-409C-BE32-E72D297353CC}">
                <c16:uniqueId val="{00000001-A05F-4E24-8501-C1A6A427CED7}"/>
              </c:ext>
            </c:extLst>
          </c:dPt>
          <c:dPt>
            <c:idx val="1"/>
            <c:bubble3D val="0"/>
            <c:spPr>
              <a:solidFill>
                <a:srgbClr val="5B8FD9"/>
              </a:solidFill>
              <a:effectLst/>
            </c:spPr>
            <c:extLst>
              <c:ext xmlns:c16="http://schemas.microsoft.com/office/drawing/2014/chart" uri="{C3380CC4-5D6E-409C-BE32-E72D297353CC}">
                <c16:uniqueId val="{00000003-A05F-4E24-8501-C1A6A427CED7}"/>
              </c:ext>
            </c:extLst>
          </c:dPt>
          <c:dPt>
            <c:idx val="2"/>
            <c:bubble3D val="0"/>
            <c:spPr>
              <a:solidFill>
                <a:srgbClr val="CBD5E1"/>
              </a:solidFill>
              <a:effectLst/>
            </c:spPr>
            <c:extLst>
              <c:ext xmlns:c16="http://schemas.microsoft.com/office/drawing/2014/chart" uri="{C3380CC4-5D6E-409C-BE32-E72D297353CC}">
                <c16:uniqueId val="{00000005-A05F-4E24-8501-C1A6A427CED7}"/>
              </c:ext>
            </c:extLst>
          </c:dPt>
          <c:dPt>
            <c:idx val="3"/>
            <c:bubble3D val="0"/>
            <c:spPr>
              <a:solidFill>
                <a:srgbClr val="94A3B8"/>
              </a:solidFill>
              <a:effectLst/>
            </c:spPr>
            <c:extLst>
              <c:ext xmlns:c16="http://schemas.microsoft.com/office/drawing/2014/chart" uri="{C3380CC4-5D6E-409C-BE32-E72D297353CC}">
                <c16:uniqueId val="{00000007-A05F-4E24-8501-C1A6A427CED7}"/>
              </c:ext>
            </c:extLst>
          </c:dPt>
          <c:dLbls>
            <c:dLbl>
              <c:idx val="0"/>
              <c:numFmt formatCode="0%" sourceLinked="0"/>
              <c:spPr/>
              <c:txPr>
                <a:bodyPr/>
                <a:lstStyle/>
                <a:p>
                  <a:pPr>
                    <a:defRPr sz="700" b="0" i="0" u="none" strike="noStrike">
                      <a:solidFill>
                        <a:srgbClr val="000000"/>
                      </a:solidFill>
                      <a:latin typeface="맑은 고딕"/>
                    </a:defRPr>
                  </a:pPr>
                  <a:endParaRPr lang="ko-K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A05F-4E24-8501-C1A6A427CED7}"/>
                </c:ext>
              </c:extLst>
            </c:dLbl>
            <c:dLbl>
              <c:idx val="1"/>
              <c:numFmt formatCode="0%" sourceLinked="0"/>
              <c:spPr/>
              <c:txPr>
                <a:bodyPr/>
                <a:lstStyle/>
                <a:p>
                  <a:pPr>
                    <a:defRPr sz="700" b="0" i="0" u="none" strike="noStrike">
                      <a:solidFill>
                        <a:srgbClr val="000000"/>
                      </a:solidFill>
                      <a:latin typeface="맑은 고딕"/>
                    </a:defRPr>
                  </a:pPr>
                  <a:endParaRPr lang="ko-K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A05F-4E24-8501-C1A6A427CED7}"/>
                </c:ext>
              </c:extLst>
            </c:dLbl>
            <c:dLbl>
              <c:idx val="2"/>
              <c:numFmt formatCode="0%" sourceLinked="0"/>
              <c:spPr/>
              <c:txPr>
                <a:bodyPr/>
                <a:lstStyle/>
                <a:p>
                  <a:pPr>
                    <a:defRPr sz="700" b="0" i="0" u="none" strike="noStrike">
                      <a:solidFill>
                        <a:srgbClr val="000000"/>
                      </a:solidFill>
                      <a:latin typeface="맑은 고딕"/>
                    </a:defRPr>
                  </a:pPr>
                  <a:endParaRPr lang="ko-K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A05F-4E24-8501-C1A6A427CED7}"/>
                </c:ext>
              </c:extLst>
            </c:dLbl>
            <c:dLbl>
              <c:idx val="3"/>
              <c:numFmt formatCode="0%" sourceLinked="0"/>
              <c:spPr/>
              <c:txPr>
                <a:bodyPr/>
                <a:lstStyle/>
                <a:p>
                  <a:pPr>
                    <a:defRPr sz="700" b="0" i="0" u="none" strike="noStrike">
                      <a:solidFill>
                        <a:srgbClr val="000000"/>
                      </a:solidFill>
                      <a:latin typeface="맑은 고딕"/>
                    </a:defRPr>
                  </a:pPr>
                  <a:endParaRPr lang="ko-K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A05F-4E24-8501-C1A6A427CED7}"/>
                </c:ext>
              </c:extLst>
            </c:dLbl>
            <c:numFmt formatCode="0%" sourceLinked="0"/>
            <c:spPr>
              <a:noFill/>
              <a:ln>
                <a:noFill/>
              </a:ln>
              <a:effectLst/>
            </c:spPr>
            <c:txPr>
              <a:bodyPr/>
              <a:lstStyle/>
              <a:p>
                <a:pPr>
                  <a:defRPr sz="1800" b="0" i="0" u="none" strike="noStrike">
                    <a:solidFill>
                      <a:srgbClr val="000000"/>
                    </a:solidFill>
                    <a:latin typeface="Arial"/>
                  </a:defRPr>
                </a:pPr>
                <a:endParaRPr lang="ko-KR"/>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매우 필요</c:v>
                </c:pt>
                <c:pt idx="1">
                  <c:v>필요</c:v>
                </c:pt>
                <c:pt idx="2">
                  <c:v>보통</c:v>
                </c:pt>
                <c:pt idx="3">
                  <c:v>불필요</c:v>
                </c:pt>
              </c:strCache>
            </c:strRef>
          </c:cat>
          <c:val>
            <c:numRef>
              <c:f>Sheet1!$B$2:$B$5</c:f>
              <c:numCache>
                <c:formatCode>General</c:formatCode>
                <c:ptCount val="4"/>
                <c:pt idx="0">
                  <c:v>40</c:v>
                </c:pt>
                <c:pt idx="1">
                  <c:v>38</c:v>
                </c:pt>
                <c:pt idx="2">
                  <c:v>15</c:v>
                </c:pt>
                <c:pt idx="3">
                  <c:v>7</c:v>
                </c:pt>
              </c:numCache>
            </c:numRef>
          </c:val>
          <c:extLst>
            <c:ext xmlns:c16="http://schemas.microsoft.com/office/drawing/2014/chart" uri="{C3380CC4-5D6E-409C-BE32-E72D297353CC}">
              <c16:uniqueId val="{00000008-A05F-4E24-8501-C1A6A427CED7}"/>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r"/>
      <c:overlay val="0"/>
      <c:txPr>
        <a:bodyPr/>
        <a:lstStyle/>
        <a:p>
          <a:pPr>
            <a:defRPr sz="700">
              <a:latin typeface="맑은 고딕"/>
              <a:cs typeface="맑은 고딕"/>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선호기능</c:v>
                </c:pt>
              </c:strCache>
            </c:strRef>
          </c:tx>
          <c:spPr>
            <a:solidFill>
              <a:schemeClr val="accent1"/>
            </a:solidFill>
            <a:ln w="9525" cap="flat">
              <a:solidFill>
                <a:srgbClr val="F9F9F9"/>
              </a:solidFill>
              <a:prstDash val="solid"/>
              <a:round/>
            </a:ln>
            <a:effectLst/>
          </c:spPr>
          <c:dPt>
            <c:idx val="0"/>
            <c:bubble3D val="0"/>
            <c:spPr>
              <a:solidFill>
                <a:srgbClr val="1D4ED8"/>
              </a:solidFill>
              <a:effectLst/>
            </c:spPr>
            <c:extLst>
              <c:ext xmlns:c16="http://schemas.microsoft.com/office/drawing/2014/chart" uri="{C3380CC4-5D6E-409C-BE32-E72D297353CC}">
                <c16:uniqueId val="{00000001-A55F-44BD-8DDC-CA10340BC046}"/>
              </c:ext>
            </c:extLst>
          </c:dPt>
          <c:dPt>
            <c:idx val="1"/>
            <c:bubble3D val="0"/>
            <c:spPr>
              <a:solidFill>
                <a:srgbClr val="3B5BA7"/>
              </a:solidFill>
              <a:effectLst/>
            </c:spPr>
            <c:extLst>
              <c:ext xmlns:c16="http://schemas.microsoft.com/office/drawing/2014/chart" uri="{C3380CC4-5D6E-409C-BE32-E72D297353CC}">
                <c16:uniqueId val="{00000003-A55F-44BD-8DDC-CA10340BC046}"/>
              </c:ext>
            </c:extLst>
          </c:dPt>
          <c:dPt>
            <c:idx val="2"/>
            <c:bubble3D val="0"/>
            <c:spPr>
              <a:solidFill>
                <a:srgbClr val="8FADDC"/>
              </a:solidFill>
              <a:effectLst/>
            </c:spPr>
            <c:extLst>
              <c:ext xmlns:c16="http://schemas.microsoft.com/office/drawing/2014/chart" uri="{C3380CC4-5D6E-409C-BE32-E72D297353CC}">
                <c16:uniqueId val="{00000005-A55F-44BD-8DDC-CA10340BC046}"/>
              </c:ext>
            </c:extLst>
          </c:dPt>
          <c:dPt>
            <c:idx val="3"/>
            <c:bubble3D val="0"/>
            <c:spPr>
              <a:solidFill>
                <a:srgbClr val="CBD5E1"/>
              </a:solidFill>
              <a:effectLst/>
            </c:spPr>
            <c:extLst>
              <c:ext xmlns:c16="http://schemas.microsoft.com/office/drawing/2014/chart" uri="{C3380CC4-5D6E-409C-BE32-E72D297353CC}">
                <c16:uniqueId val="{00000007-A55F-44BD-8DDC-CA10340BC046}"/>
              </c:ext>
            </c:extLst>
          </c:dPt>
          <c:dLbls>
            <c:dLbl>
              <c:idx val="0"/>
              <c:numFmt formatCode="0%" sourceLinked="0"/>
              <c:spPr/>
              <c:txPr>
                <a:bodyPr/>
                <a:lstStyle/>
                <a:p>
                  <a:pPr>
                    <a:defRPr sz="650" b="0" i="0" u="none" strike="noStrike">
                      <a:solidFill>
                        <a:srgbClr val="000000"/>
                      </a:solidFill>
                      <a:latin typeface="맑은 고딕"/>
                    </a:defRPr>
                  </a:pPr>
                  <a:endParaRPr lang="ko-K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A55F-44BD-8DDC-CA10340BC046}"/>
                </c:ext>
              </c:extLst>
            </c:dLbl>
            <c:dLbl>
              <c:idx val="1"/>
              <c:numFmt formatCode="0%" sourceLinked="0"/>
              <c:spPr/>
              <c:txPr>
                <a:bodyPr/>
                <a:lstStyle/>
                <a:p>
                  <a:pPr>
                    <a:defRPr sz="650" b="0" i="0" u="none" strike="noStrike">
                      <a:solidFill>
                        <a:srgbClr val="000000"/>
                      </a:solidFill>
                      <a:latin typeface="맑은 고딕"/>
                    </a:defRPr>
                  </a:pPr>
                  <a:endParaRPr lang="ko-K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A55F-44BD-8DDC-CA10340BC046}"/>
                </c:ext>
              </c:extLst>
            </c:dLbl>
            <c:dLbl>
              <c:idx val="2"/>
              <c:numFmt formatCode="0%" sourceLinked="0"/>
              <c:spPr/>
              <c:txPr>
                <a:bodyPr/>
                <a:lstStyle/>
                <a:p>
                  <a:pPr>
                    <a:defRPr sz="650" b="0" i="0" u="none" strike="noStrike">
                      <a:solidFill>
                        <a:srgbClr val="000000"/>
                      </a:solidFill>
                      <a:latin typeface="맑은 고딕"/>
                    </a:defRPr>
                  </a:pPr>
                  <a:endParaRPr lang="ko-K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A55F-44BD-8DDC-CA10340BC046}"/>
                </c:ext>
              </c:extLst>
            </c:dLbl>
            <c:dLbl>
              <c:idx val="3"/>
              <c:numFmt formatCode="0%" sourceLinked="0"/>
              <c:spPr/>
              <c:txPr>
                <a:bodyPr/>
                <a:lstStyle/>
                <a:p>
                  <a:pPr>
                    <a:defRPr sz="650" b="0" i="0" u="none" strike="noStrike">
                      <a:solidFill>
                        <a:srgbClr val="000000"/>
                      </a:solidFill>
                      <a:latin typeface="맑은 고딕"/>
                    </a:defRPr>
                  </a:pPr>
                  <a:endParaRPr lang="ko-K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A55F-44BD-8DDC-CA10340BC046}"/>
                </c:ext>
              </c:extLst>
            </c:dLbl>
            <c:numFmt formatCode="0%" sourceLinked="0"/>
            <c:spPr>
              <a:noFill/>
              <a:ln>
                <a:noFill/>
              </a:ln>
              <a:effectLst/>
            </c:spPr>
            <c:txPr>
              <a:bodyPr/>
              <a:lstStyle/>
              <a:p>
                <a:pPr>
                  <a:defRPr sz="1800" b="0" i="0" u="none" strike="noStrike">
                    <a:solidFill>
                      <a:srgbClr val="000000"/>
                    </a:solidFill>
                    <a:latin typeface="Arial"/>
                  </a:defRPr>
                </a:pPr>
                <a:endParaRPr lang="ko-KR"/>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AI 조기경보/예측</c:v>
                </c:pt>
                <c:pt idx="1">
                  <c:v>실시간 대시보드</c:v>
                </c:pt>
                <c:pt idx="2">
                  <c:v>자동 차단</c:v>
                </c:pt>
                <c:pt idx="3">
                  <c:v>모바일 알림</c:v>
                </c:pt>
              </c:strCache>
            </c:strRef>
          </c:cat>
          <c:val>
            <c:numRef>
              <c:f>Sheet1!$B$2:$B$5</c:f>
              <c:numCache>
                <c:formatCode>General</c:formatCode>
                <c:ptCount val="4"/>
                <c:pt idx="0">
                  <c:v>39</c:v>
                </c:pt>
                <c:pt idx="1">
                  <c:v>27</c:v>
                </c:pt>
                <c:pt idx="2">
                  <c:v>20</c:v>
                </c:pt>
                <c:pt idx="3">
                  <c:v>14</c:v>
                </c:pt>
              </c:numCache>
            </c:numRef>
          </c:val>
          <c:extLst>
            <c:ext xmlns:c16="http://schemas.microsoft.com/office/drawing/2014/chart" uri="{C3380CC4-5D6E-409C-BE32-E72D297353CC}">
              <c16:uniqueId val="{00000008-A55F-44BD-8DDC-CA10340BC046}"/>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r"/>
      <c:overlay val="0"/>
      <c:txPr>
        <a:bodyPr/>
        <a:lstStyle/>
        <a:p>
          <a:pPr>
            <a:defRPr sz="650">
              <a:latin typeface="맑은 고딕"/>
              <a:cs typeface="맑은 고딕"/>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6AA5D5A-343A-4C1A-BC9D-610EC8B80F49}" type="datetimeFigureOut">
              <a:rPr lang="ko-KR" altLang="en-US" smtClean="0"/>
              <a:pPr/>
              <a:t>2026. 7. 9.</a:t>
            </a:fld>
            <a:endParaRPr lang="ko-KR" altLang="en-US"/>
          </a:p>
        </p:txBody>
      </p:sp>
      <p:sp>
        <p:nvSpPr>
          <p:cNvPr id="4" name="슬라이드 이미지 개체 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BFD85EE-51FF-49B2-AE4A-EF643293EA7A}" type="slidenum">
              <a:rPr lang="ko-KR" altLang="en-US" smtClean="0"/>
              <a:pPr/>
              <a:t>‹#›</a:t>
            </a:fld>
            <a:endParaRPr lang="ko-KR" altLang="en-US"/>
          </a:p>
        </p:txBody>
      </p:sp>
    </p:spTree>
    <p:extLst>
      <p:ext uri="{BB962C8B-B14F-4D97-AF65-F5344CB8AC3E}">
        <p14:creationId xmlns:p14="http://schemas.microsoft.com/office/powerpoint/2010/main" val="336548210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646488" y="944563"/>
            <a:ext cx="3400425" cy="2551112"/>
          </a:xfrm>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96EF99E3-28B6-4D79-81EE-6B731A5C817C}" type="slidenum">
              <a:rPr lang="ko-KR" altLang="en-US" smtClean="0"/>
              <a:t>8</a:t>
            </a:fld>
            <a:endParaRPr lang="ko-KR" altLang="en-US"/>
          </a:p>
        </p:txBody>
      </p:sp>
    </p:spTree>
    <p:extLst>
      <p:ext uri="{BB962C8B-B14F-4D97-AF65-F5344CB8AC3E}">
        <p14:creationId xmlns:p14="http://schemas.microsoft.com/office/powerpoint/2010/main" val="22915584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2CCB9-67E3-78B5-F7EE-8ACA951EFAB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E5CF91E-2022-FFD4-CB3B-67E97A696D15}"/>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114DBE3A-6E02-84B6-D334-C2618BE58B2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EC23F19E-4B63-EE6F-D639-33FBB37D2CE6}"/>
              </a:ext>
            </a:extLst>
          </p:cNvPr>
          <p:cNvSpPr>
            <a:spLocks noGrp="1"/>
          </p:cNvSpPr>
          <p:nvPr>
            <p:ph type="sldNum" sz="quarter" idx="5"/>
          </p:nvPr>
        </p:nvSpPr>
        <p:spPr/>
        <p:txBody>
          <a:bodyPr/>
          <a:lstStyle/>
          <a:p>
            <a:fld id="{96EF99E3-28B6-4D79-81EE-6B731A5C817C}" type="slidenum">
              <a:rPr lang="ko-KR" altLang="en-US" smtClean="0"/>
              <a:t>9</a:t>
            </a:fld>
            <a:endParaRPr lang="ko-KR" altLang="en-US"/>
          </a:p>
        </p:txBody>
      </p:sp>
    </p:spTree>
    <p:extLst>
      <p:ext uri="{BB962C8B-B14F-4D97-AF65-F5344CB8AC3E}">
        <p14:creationId xmlns:p14="http://schemas.microsoft.com/office/powerpoint/2010/main" val="33440101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CC823-FFD0-5F63-228F-6495B5442E2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101944E-66C1-F428-4E0C-0C57BACA3565}"/>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8F1CA2CA-0F0C-8E11-328A-51D9491F6E9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9DF1BA6A-4CAD-77EA-B26A-1BB9EA3CD325}"/>
              </a:ext>
            </a:extLst>
          </p:cNvPr>
          <p:cNvSpPr>
            <a:spLocks noGrp="1"/>
          </p:cNvSpPr>
          <p:nvPr>
            <p:ph type="sldNum" sz="quarter" idx="5"/>
          </p:nvPr>
        </p:nvSpPr>
        <p:spPr/>
        <p:txBody>
          <a:bodyPr/>
          <a:lstStyle/>
          <a:p>
            <a:fld id="{96EF99E3-28B6-4D79-81EE-6B731A5C817C}" type="slidenum">
              <a:rPr lang="ko-KR" altLang="en-US" smtClean="0"/>
              <a:t>10</a:t>
            </a:fld>
            <a:endParaRPr lang="ko-KR" altLang="en-US"/>
          </a:p>
        </p:txBody>
      </p:sp>
    </p:spTree>
    <p:extLst>
      <p:ext uri="{BB962C8B-B14F-4D97-AF65-F5344CB8AC3E}">
        <p14:creationId xmlns:p14="http://schemas.microsoft.com/office/powerpoint/2010/main" val="5726439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C27C6-C525-1DEE-69C5-F1E1D425C91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776EF46-D7CE-385F-29B2-68164C09CC93}"/>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304FAF23-3B9E-7F14-E7D8-8FE3DDE47D7D}"/>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DA777ADE-6BC9-41A2-9809-0E784DE8C768}"/>
              </a:ext>
            </a:extLst>
          </p:cNvPr>
          <p:cNvSpPr>
            <a:spLocks noGrp="1"/>
          </p:cNvSpPr>
          <p:nvPr>
            <p:ph type="sldNum" sz="quarter" idx="5"/>
          </p:nvPr>
        </p:nvSpPr>
        <p:spPr/>
        <p:txBody>
          <a:bodyPr/>
          <a:lstStyle/>
          <a:p>
            <a:fld id="{96EF99E3-28B6-4D79-81EE-6B731A5C817C}" type="slidenum">
              <a:rPr lang="ko-KR" altLang="en-US" smtClean="0"/>
              <a:t>11</a:t>
            </a:fld>
            <a:endParaRPr lang="ko-KR" altLang="en-US"/>
          </a:p>
        </p:txBody>
      </p:sp>
    </p:spTree>
    <p:extLst>
      <p:ext uri="{BB962C8B-B14F-4D97-AF65-F5344CB8AC3E}">
        <p14:creationId xmlns:p14="http://schemas.microsoft.com/office/powerpoint/2010/main" val="32859633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55B78-544C-C044-6BD5-46161863ABE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B7F516D-8CA9-7501-4BBB-2CDF08F156EA}"/>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26ACF6BD-B88E-8EE4-8936-547A2BEF8276}"/>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D8995744-3DF4-6106-7139-BE5F5D925B26}"/>
              </a:ext>
            </a:extLst>
          </p:cNvPr>
          <p:cNvSpPr>
            <a:spLocks noGrp="1"/>
          </p:cNvSpPr>
          <p:nvPr>
            <p:ph type="sldNum" sz="quarter" idx="5"/>
          </p:nvPr>
        </p:nvSpPr>
        <p:spPr/>
        <p:txBody>
          <a:bodyPr/>
          <a:lstStyle/>
          <a:p>
            <a:fld id="{96EF99E3-28B6-4D79-81EE-6B731A5C817C}" type="slidenum">
              <a:rPr lang="ko-KR" altLang="en-US" smtClean="0"/>
              <a:t>12</a:t>
            </a:fld>
            <a:endParaRPr lang="ko-KR" altLang="en-US"/>
          </a:p>
        </p:txBody>
      </p:sp>
    </p:spTree>
    <p:extLst>
      <p:ext uri="{BB962C8B-B14F-4D97-AF65-F5344CB8AC3E}">
        <p14:creationId xmlns:p14="http://schemas.microsoft.com/office/powerpoint/2010/main" val="40971383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BFD85EE-51FF-49B2-AE4A-EF643293EA7A}" type="slidenum">
              <a:rPr lang="ko-KR" altLang="en-US" smtClean="0"/>
              <a:pPr/>
              <a:t>21</a:t>
            </a:fld>
            <a:endParaRPr lang="ko-KR" altLang="en-US"/>
          </a:p>
        </p:txBody>
      </p:sp>
    </p:spTree>
    <p:extLst>
      <p:ext uri="{BB962C8B-B14F-4D97-AF65-F5344CB8AC3E}">
        <p14:creationId xmlns:p14="http://schemas.microsoft.com/office/powerpoint/2010/main" val="41493340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804DC-75A0-CC3D-0ACE-63CD841504D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15B0590-C1F7-3FE9-D7D8-6231ADB310E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C6E218F-6653-1522-A69A-FBDBAF2A4A27}"/>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58B4A3D-08D5-BBA5-47B2-4336C62021D5}"/>
              </a:ext>
            </a:extLst>
          </p:cNvPr>
          <p:cNvSpPr>
            <a:spLocks noGrp="1"/>
          </p:cNvSpPr>
          <p:nvPr>
            <p:ph type="sldNum" sz="quarter" idx="5"/>
          </p:nvPr>
        </p:nvSpPr>
        <p:spPr/>
        <p:txBody>
          <a:bodyPr/>
          <a:lstStyle/>
          <a:p>
            <a:fld id="{2BFD85EE-51FF-49B2-AE4A-EF643293EA7A}" type="slidenum">
              <a:rPr lang="ko-KR" altLang="en-US" smtClean="0"/>
              <a:pPr/>
              <a:t>22</a:t>
            </a:fld>
            <a:endParaRPr lang="ko-KR" altLang="en-US"/>
          </a:p>
        </p:txBody>
      </p:sp>
    </p:spTree>
    <p:extLst>
      <p:ext uri="{BB962C8B-B14F-4D97-AF65-F5344CB8AC3E}">
        <p14:creationId xmlns:p14="http://schemas.microsoft.com/office/powerpoint/2010/main" val="4212284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1150C-46DB-A51C-12E3-BB37E501BBB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46482F2-9676-4761-A2A5-C90A434BCA43}"/>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5E162C6B-94C7-A1C3-ABD5-927B7B215EBF}"/>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472442C7-3C12-CD76-197A-86B3D03BD8E0}"/>
              </a:ext>
            </a:extLst>
          </p:cNvPr>
          <p:cNvSpPr>
            <a:spLocks noGrp="1"/>
          </p:cNvSpPr>
          <p:nvPr>
            <p:ph type="sldNum" sz="quarter" idx="5"/>
          </p:nvPr>
        </p:nvSpPr>
        <p:spPr/>
        <p:txBody>
          <a:bodyPr/>
          <a:lstStyle/>
          <a:p>
            <a:fld id="{96EF99E3-28B6-4D79-81EE-6B731A5C817C}" type="slidenum">
              <a:rPr lang="ko-KR" altLang="en-US" smtClean="0"/>
              <a:t>27</a:t>
            </a:fld>
            <a:endParaRPr lang="ko-KR" altLang="en-US"/>
          </a:p>
        </p:txBody>
      </p:sp>
    </p:spTree>
    <p:extLst>
      <p:ext uri="{BB962C8B-B14F-4D97-AF65-F5344CB8AC3E}">
        <p14:creationId xmlns:p14="http://schemas.microsoft.com/office/powerpoint/2010/main" val="41770497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5697C-ACC2-1AAB-B214-57AF330A37B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0E1E867-EF04-FE49-DB59-68E01442F381}"/>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CAA10B73-6058-B432-EA97-AD8558545DB7}"/>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5526DA5B-C9D9-2A63-B165-7FF0E29D028C}"/>
              </a:ext>
            </a:extLst>
          </p:cNvPr>
          <p:cNvSpPr>
            <a:spLocks noGrp="1"/>
          </p:cNvSpPr>
          <p:nvPr>
            <p:ph type="sldNum" sz="quarter" idx="5"/>
          </p:nvPr>
        </p:nvSpPr>
        <p:spPr/>
        <p:txBody>
          <a:bodyPr/>
          <a:lstStyle/>
          <a:p>
            <a:fld id="{96EF99E3-28B6-4D79-81EE-6B731A5C817C}" type="slidenum">
              <a:rPr lang="ko-KR" altLang="en-US" smtClean="0"/>
              <a:t>28</a:t>
            </a:fld>
            <a:endParaRPr lang="ko-KR" altLang="en-US"/>
          </a:p>
        </p:txBody>
      </p:sp>
    </p:spTree>
    <p:extLst>
      <p:ext uri="{BB962C8B-B14F-4D97-AF65-F5344CB8AC3E}">
        <p14:creationId xmlns:p14="http://schemas.microsoft.com/office/powerpoint/2010/main" val="36236059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673BB-2DBE-F8A9-7A12-FC091A388CF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F9292B2-894F-BB70-5A79-1A9B99FD5EAE}"/>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6551F9EB-6E9A-127A-A053-7348D3144CD7}"/>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50E5C54F-A095-AB28-6844-1184BB5533F0}"/>
              </a:ext>
            </a:extLst>
          </p:cNvPr>
          <p:cNvSpPr>
            <a:spLocks noGrp="1"/>
          </p:cNvSpPr>
          <p:nvPr>
            <p:ph type="sldNum" sz="quarter" idx="5"/>
          </p:nvPr>
        </p:nvSpPr>
        <p:spPr/>
        <p:txBody>
          <a:bodyPr/>
          <a:lstStyle/>
          <a:p>
            <a:fld id="{96EF99E3-28B6-4D79-81EE-6B731A5C817C}" type="slidenum">
              <a:rPr lang="ko-KR" altLang="en-US" smtClean="0"/>
              <a:t>29</a:t>
            </a:fld>
            <a:endParaRPr lang="ko-KR" altLang="en-US"/>
          </a:p>
        </p:txBody>
      </p:sp>
    </p:spTree>
    <p:extLst>
      <p:ext uri="{BB962C8B-B14F-4D97-AF65-F5344CB8AC3E}">
        <p14:creationId xmlns:p14="http://schemas.microsoft.com/office/powerpoint/2010/main" val="2330094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79AEA-BFA2-3C1F-27D4-AF3E8A837C7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FA44D38-558F-AA9A-E18E-4033F14399AF}"/>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A7986F8B-4F61-F3FA-D975-9BB57BC4B5B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B712C9BD-56D2-7C89-CC73-AA46D8029A33}"/>
              </a:ext>
            </a:extLst>
          </p:cNvPr>
          <p:cNvSpPr>
            <a:spLocks noGrp="1"/>
          </p:cNvSpPr>
          <p:nvPr>
            <p:ph type="sldNum" sz="quarter" idx="5"/>
          </p:nvPr>
        </p:nvSpPr>
        <p:spPr/>
        <p:txBody>
          <a:bodyPr/>
          <a:lstStyle/>
          <a:p>
            <a:fld id="{96EF99E3-28B6-4D79-81EE-6B731A5C817C}" type="slidenum">
              <a:rPr lang="ko-KR" altLang="en-US" smtClean="0"/>
              <a:t>30</a:t>
            </a:fld>
            <a:endParaRPr lang="ko-KR" altLang="en-US"/>
          </a:p>
        </p:txBody>
      </p:sp>
    </p:spTree>
    <p:extLst>
      <p:ext uri="{BB962C8B-B14F-4D97-AF65-F5344CB8AC3E}">
        <p14:creationId xmlns:p14="http://schemas.microsoft.com/office/powerpoint/2010/main" val="15963256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94526-B2A8-A77E-6376-9A08AA94349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3A20821-C109-6E29-3727-F942840D34D8}"/>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26247209-FE88-3C5A-D3D4-D2BB4C6F6049}"/>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CAD53CC6-FDF6-56B9-30DC-A7BAA83ED106}"/>
              </a:ext>
            </a:extLst>
          </p:cNvPr>
          <p:cNvSpPr>
            <a:spLocks noGrp="1"/>
          </p:cNvSpPr>
          <p:nvPr>
            <p:ph type="sldNum" sz="quarter" idx="5"/>
          </p:nvPr>
        </p:nvSpPr>
        <p:spPr/>
        <p:txBody>
          <a:bodyPr/>
          <a:lstStyle/>
          <a:p>
            <a:fld id="{96EF99E3-28B6-4D79-81EE-6B731A5C817C}" type="slidenum">
              <a:rPr lang="ko-KR" altLang="en-US" smtClean="0"/>
              <a:t>31</a:t>
            </a:fld>
            <a:endParaRPr lang="ko-KR" altLang="en-US"/>
          </a:p>
        </p:txBody>
      </p:sp>
    </p:spTree>
    <p:extLst>
      <p:ext uri="{BB962C8B-B14F-4D97-AF65-F5344CB8AC3E}">
        <p14:creationId xmlns:p14="http://schemas.microsoft.com/office/powerpoint/2010/main" val="12103963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C97D4-00A1-E205-6BE6-5F01A0E7A9D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1E145B6-91E9-FE77-349D-140A9DA0AA25}"/>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617691AE-A0D3-F33D-6B3C-115B31FEDC9E}"/>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57F30CB-2F5A-7D03-90C3-D5E593E01E55}"/>
              </a:ext>
            </a:extLst>
          </p:cNvPr>
          <p:cNvSpPr>
            <a:spLocks noGrp="1"/>
          </p:cNvSpPr>
          <p:nvPr>
            <p:ph type="sldNum" sz="quarter" idx="5"/>
          </p:nvPr>
        </p:nvSpPr>
        <p:spPr/>
        <p:txBody>
          <a:bodyPr/>
          <a:lstStyle/>
          <a:p>
            <a:fld id="{96EF99E3-28B6-4D79-81EE-6B731A5C817C}" type="slidenum">
              <a:rPr lang="ko-KR" altLang="en-US" smtClean="0"/>
              <a:t>32</a:t>
            </a:fld>
            <a:endParaRPr lang="ko-KR" altLang="en-US"/>
          </a:p>
        </p:txBody>
      </p:sp>
    </p:spTree>
    <p:extLst>
      <p:ext uri="{BB962C8B-B14F-4D97-AF65-F5344CB8AC3E}">
        <p14:creationId xmlns:p14="http://schemas.microsoft.com/office/powerpoint/2010/main" val="13903914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5AD3E-013E-23D4-6190-765D445C268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307DDC0-7560-43B2-43FE-2792FF74D682}"/>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6EF49102-616F-46BC-455A-D5BEB3744779}"/>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1C292C6F-6E35-722D-00EC-2C67A9108BD9}"/>
              </a:ext>
            </a:extLst>
          </p:cNvPr>
          <p:cNvSpPr>
            <a:spLocks noGrp="1"/>
          </p:cNvSpPr>
          <p:nvPr>
            <p:ph type="sldNum" sz="quarter" idx="5"/>
          </p:nvPr>
        </p:nvSpPr>
        <p:spPr/>
        <p:txBody>
          <a:bodyPr/>
          <a:lstStyle/>
          <a:p>
            <a:fld id="{96EF99E3-28B6-4D79-81EE-6B731A5C817C}" type="slidenum">
              <a:rPr lang="ko-KR" altLang="en-US" smtClean="0"/>
              <a:t>33</a:t>
            </a:fld>
            <a:endParaRPr lang="ko-KR" altLang="en-US"/>
          </a:p>
        </p:txBody>
      </p:sp>
    </p:spTree>
    <p:extLst>
      <p:ext uri="{BB962C8B-B14F-4D97-AF65-F5344CB8AC3E}">
        <p14:creationId xmlns:p14="http://schemas.microsoft.com/office/powerpoint/2010/main" val="7518695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BFA15-0161-00BC-C694-A69E02BF0F0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DEC9D81-F814-730C-1532-403D43DE61AA}"/>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0217E309-CEF5-77C3-F165-4D9DB57BFA4B}"/>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B2D78760-1E0C-ADB3-770B-973F00D105EA}"/>
              </a:ext>
            </a:extLst>
          </p:cNvPr>
          <p:cNvSpPr>
            <a:spLocks noGrp="1"/>
          </p:cNvSpPr>
          <p:nvPr>
            <p:ph type="sldNum" sz="quarter" idx="5"/>
          </p:nvPr>
        </p:nvSpPr>
        <p:spPr/>
        <p:txBody>
          <a:bodyPr/>
          <a:lstStyle/>
          <a:p>
            <a:fld id="{96EF99E3-28B6-4D79-81EE-6B731A5C817C}" type="slidenum">
              <a:rPr lang="ko-KR" altLang="en-US" smtClean="0"/>
              <a:t>34</a:t>
            </a:fld>
            <a:endParaRPr lang="ko-KR" altLang="en-US"/>
          </a:p>
        </p:txBody>
      </p:sp>
    </p:spTree>
    <p:extLst>
      <p:ext uri="{BB962C8B-B14F-4D97-AF65-F5344CB8AC3E}">
        <p14:creationId xmlns:p14="http://schemas.microsoft.com/office/powerpoint/2010/main" val="38619691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98C65-7B12-BB0D-CAB7-9F3334C38C5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AC50FA6-9B00-C5E8-0F1D-9EBC6342AD6E}"/>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77B0B2D1-01CD-5EFD-84FE-52A945206EE7}"/>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CE8B4CD0-3578-52DD-A107-EC2058644FD1}"/>
              </a:ext>
            </a:extLst>
          </p:cNvPr>
          <p:cNvSpPr>
            <a:spLocks noGrp="1"/>
          </p:cNvSpPr>
          <p:nvPr>
            <p:ph type="sldNum" sz="quarter" idx="5"/>
          </p:nvPr>
        </p:nvSpPr>
        <p:spPr/>
        <p:txBody>
          <a:bodyPr/>
          <a:lstStyle/>
          <a:p>
            <a:fld id="{96EF99E3-28B6-4D79-81EE-6B731A5C817C}" type="slidenum">
              <a:rPr lang="ko-KR" altLang="en-US" smtClean="0"/>
              <a:t>35</a:t>
            </a:fld>
            <a:endParaRPr lang="ko-KR" altLang="en-US"/>
          </a:p>
        </p:txBody>
      </p:sp>
    </p:spTree>
    <p:extLst>
      <p:ext uri="{BB962C8B-B14F-4D97-AF65-F5344CB8AC3E}">
        <p14:creationId xmlns:p14="http://schemas.microsoft.com/office/powerpoint/2010/main" val="24658656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77FDF-E736-0F78-FF43-2011DA47472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4DFC90D-A2B6-D3D7-D76F-323B3BD64194}"/>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7263B251-AC96-DD15-6792-48CDDE8FBFDB}"/>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32D90679-19F2-CA25-9324-B7BE93D86CD0}"/>
              </a:ext>
            </a:extLst>
          </p:cNvPr>
          <p:cNvSpPr>
            <a:spLocks noGrp="1"/>
          </p:cNvSpPr>
          <p:nvPr>
            <p:ph type="sldNum" sz="quarter" idx="5"/>
          </p:nvPr>
        </p:nvSpPr>
        <p:spPr/>
        <p:txBody>
          <a:bodyPr/>
          <a:lstStyle/>
          <a:p>
            <a:fld id="{96EF99E3-28B6-4D79-81EE-6B731A5C817C}" type="slidenum">
              <a:rPr lang="ko-KR" altLang="en-US" smtClean="0"/>
              <a:t>36</a:t>
            </a:fld>
            <a:endParaRPr lang="ko-KR" altLang="en-US"/>
          </a:p>
        </p:txBody>
      </p:sp>
    </p:spTree>
    <p:extLst>
      <p:ext uri="{BB962C8B-B14F-4D97-AF65-F5344CB8AC3E}">
        <p14:creationId xmlns:p14="http://schemas.microsoft.com/office/powerpoint/2010/main" val="1667241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4A12F-EA26-872F-3D59-427A2428AC4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9395DD2-7CA8-F0BC-3C44-A54B49CAB96C}"/>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5CE36EC7-F6BB-EF0A-B2E5-B9D519F22F22}"/>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34829B32-5B70-3CBF-4895-A0E51D2CB0C7}"/>
              </a:ext>
            </a:extLst>
          </p:cNvPr>
          <p:cNvSpPr>
            <a:spLocks noGrp="1"/>
          </p:cNvSpPr>
          <p:nvPr>
            <p:ph type="sldNum" sz="quarter" idx="5"/>
          </p:nvPr>
        </p:nvSpPr>
        <p:spPr/>
        <p:txBody>
          <a:bodyPr/>
          <a:lstStyle/>
          <a:p>
            <a:fld id="{96EF99E3-28B6-4D79-81EE-6B731A5C817C}" type="slidenum">
              <a:rPr lang="ko-KR" altLang="en-US" smtClean="0"/>
              <a:t>37</a:t>
            </a:fld>
            <a:endParaRPr lang="ko-KR" altLang="en-US"/>
          </a:p>
        </p:txBody>
      </p:sp>
    </p:spTree>
    <p:extLst>
      <p:ext uri="{BB962C8B-B14F-4D97-AF65-F5344CB8AC3E}">
        <p14:creationId xmlns:p14="http://schemas.microsoft.com/office/powerpoint/2010/main" val="41082604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E37E7-F355-1860-C719-F1358F205BA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B622AB7-F731-4D11-9F9C-5AF07664A8BD}"/>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DBDE1EB0-100A-A470-CF4B-746E86888AD1}"/>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E7A2A215-B5A7-410D-2C63-04BF33D3BE83}"/>
              </a:ext>
            </a:extLst>
          </p:cNvPr>
          <p:cNvSpPr>
            <a:spLocks noGrp="1"/>
          </p:cNvSpPr>
          <p:nvPr>
            <p:ph type="sldNum" sz="quarter" idx="5"/>
          </p:nvPr>
        </p:nvSpPr>
        <p:spPr/>
        <p:txBody>
          <a:bodyPr/>
          <a:lstStyle/>
          <a:p>
            <a:fld id="{96EF99E3-28B6-4D79-81EE-6B731A5C817C}" type="slidenum">
              <a:rPr lang="ko-KR" altLang="en-US" smtClean="0"/>
              <a:t>38</a:t>
            </a:fld>
            <a:endParaRPr lang="ko-KR" altLang="en-US"/>
          </a:p>
        </p:txBody>
      </p:sp>
    </p:spTree>
    <p:extLst>
      <p:ext uri="{BB962C8B-B14F-4D97-AF65-F5344CB8AC3E}">
        <p14:creationId xmlns:p14="http://schemas.microsoft.com/office/powerpoint/2010/main" val="16888203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1DDFA-EFCB-2CD9-EF73-260C428D63F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6F6CBEB-8164-2164-B6BA-38980A1BFD08}"/>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99DCB5FC-34CB-5546-AF15-F4DA45A77007}"/>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23DE9D2D-08C6-9CC2-AADC-F6B4B407C946}"/>
              </a:ext>
            </a:extLst>
          </p:cNvPr>
          <p:cNvSpPr>
            <a:spLocks noGrp="1"/>
          </p:cNvSpPr>
          <p:nvPr>
            <p:ph type="sldNum" sz="quarter" idx="5"/>
          </p:nvPr>
        </p:nvSpPr>
        <p:spPr/>
        <p:txBody>
          <a:bodyPr/>
          <a:lstStyle/>
          <a:p>
            <a:fld id="{96EF99E3-28B6-4D79-81EE-6B731A5C817C}" type="slidenum">
              <a:rPr lang="ko-KR" altLang="en-US" smtClean="0"/>
              <a:t>39</a:t>
            </a:fld>
            <a:endParaRPr lang="ko-KR" altLang="en-US"/>
          </a:p>
        </p:txBody>
      </p:sp>
    </p:spTree>
    <p:extLst>
      <p:ext uri="{BB962C8B-B14F-4D97-AF65-F5344CB8AC3E}">
        <p14:creationId xmlns:p14="http://schemas.microsoft.com/office/powerpoint/2010/main" val="26172616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BF180-3A0B-2BD8-4D24-9F137EB51C1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7CD4D53-D694-97DE-CC6E-1129A2EF514E}"/>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A85CA0D0-7EB0-C271-56D7-C69688D9D29B}"/>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B447CFAF-3A34-D68F-BFEA-DABB25A22D2D}"/>
              </a:ext>
            </a:extLst>
          </p:cNvPr>
          <p:cNvSpPr>
            <a:spLocks noGrp="1"/>
          </p:cNvSpPr>
          <p:nvPr>
            <p:ph type="sldNum" sz="quarter" idx="5"/>
          </p:nvPr>
        </p:nvSpPr>
        <p:spPr/>
        <p:txBody>
          <a:bodyPr/>
          <a:lstStyle/>
          <a:p>
            <a:fld id="{96EF99E3-28B6-4D79-81EE-6B731A5C817C}" type="slidenum">
              <a:rPr lang="ko-KR" altLang="en-US" smtClean="0"/>
              <a:t>40</a:t>
            </a:fld>
            <a:endParaRPr lang="ko-KR" altLang="en-US"/>
          </a:p>
        </p:txBody>
      </p:sp>
    </p:spTree>
    <p:extLst>
      <p:ext uri="{BB962C8B-B14F-4D97-AF65-F5344CB8AC3E}">
        <p14:creationId xmlns:p14="http://schemas.microsoft.com/office/powerpoint/2010/main" val="15615032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E174B-173C-B801-948B-B29F7384CF1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D683CB4-C95C-E152-0B5D-3881455E935E}"/>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5137DE86-C1CB-FBE9-6320-42FDC7AAE1BE}"/>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8B7860BE-3947-207A-CCDF-62D6A160FDC8}"/>
              </a:ext>
            </a:extLst>
          </p:cNvPr>
          <p:cNvSpPr>
            <a:spLocks noGrp="1"/>
          </p:cNvSpPr>
          <p:nvPr>
            <p:ph type="sldNum" sz="quarter" idx="5"/>
          </p:nvPr>
        </p:nvSpPr>
        <p:spPr/>
        <p:txBody>
          <a:bodyPr/>
          <a:lstStyle/>
          <a:p>
            <a:fld id="{96EF99E3-28B6-4D79-81EE-6B731A5C817C}" type="slidenum">
              <a:rPr lang="ko-KR" altLang="en-US" smtClean="0"/>
              <a:t>41</a:t>
            </a:fld>
            <a:endParaRPr lang="ko-KR" altLang="en-US"/>
          </a:p>
        </p:txBody>
      </p:sp>
    </p:spTree>
    <p:extLst>
      <p:ext uri="{BB962C8B-B14F-4D97-AF65-F5344CB8AC3E}">
        <p14:creationId xmlns:p14="http://schemas.microsoft.com/office/powerpoint/2010/main" val="31995650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4495A-1D46-48FB-C95C-B203D87804F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817AD17-A46A-5E19-083B-5889AEBECDF6}"/>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693BC303-E2A7-A34B-E2A4-8AF50618FD36}"/>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91314699-BB3D-6CDA-7F90-486F5040A085}"/>
              </a:ext>
            </a:extLst>
          </p:cNvPr>
          <p:cNvSpPr>
            <a:spLocks noGrp="1"/>
          </p:cNvSpPr>
          <p:nvPr>
            <p:ph type="sldNum" sz="quarter" idx="5"/>
          </p:nvPr>
        </p:nvSpPr>
        <p:spPr/>
        <p:txBody>
          <a:bodyPr/>
          <a:lstStyle/>
          <a:p>
            <a:fld id="{96EF99E3-28B6-4D79-81EE-6B731A5C817C}" type="slidenum">
              <a:rPr lang="ko-KR" altLang="en-US" smtClean="0"/>
              <a:t>42</a:t>
            </a:fld>
            <a:endParaRPr lang="ko-KR" altLang="en-US"/>
          </a:p>
        </p:txBody>
      </p:sp>
    </p:spTree>
    <p:extLst>
      <p:ext uri="{BB962C8B-B14F-4D97-AF65-F5344CB8AC3E}">
        <p14:creationId xmlns:p14="http://schemas.microsoft.com/office/powerpoint/2010/main" val="3417096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E5312-7612-58B4-2B65-9BB0AAA4E04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52F9EE6-120D-FCB0-D071-4D63A8526A28}"/>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3421D094-7390-87D2-D1BA-7181566B317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E9717F8E-3034-A05C-D634-3A355F40B61B}"/>
              </a:ext>
            </a:extLst>
          </p:cNvPr>
          <p:cNvSpPr>
            <a:spLocks noGrp="1"/>
          </p:cNvSpPr>
          <p:nvPr>
            <p:ph type="sldNum" sz="quarter" idx="5"/>
          </p:nvPr>
        </p:nvSpPr>
        <p:spPr/>
        <p:txBody>
          <a:bodyPr/>
          <a:lstStyle/>
          <a:p>
            <a:fld id="{96EF99E3-28B6-4D79-81EE-6B731A5C817C}" type="slidenum">
              <a:rPr lang="ko-KR" altLang="en-US" smtClean="0"/>
              <a:t>43</a:t>
            </a:fld>
            <a:endParaRPr lang="ko-KR" altLang="en-US"/>
          </a:p>
        </p:txBody>
      </p:sp>
    </p:spTree>
    <p:extLst>
      <p:ext uri="{BB962C8B-B14F-4D97-AF65-F5344CB8AC3E}">
        <p14:creationId xmlns:p14="http://schemas.microsoft.com/office/powerpoint/2010/main" val="20273037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20C81-E89F-ACFC-204B-3C50A21B041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7B1FA7E-A11F-E832-3662-B513F72C0352}"/>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D559920A-73E3-E7AF-EF03-E81BD11A07C3}"/>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D750B11-5A63-2CC2-E024-7F17B615FBEC}"/>
              </a:ext>
            </a:extLst>
          </p:cNvPr>
          <p:cNvSpPr>
            <a:spLocks noGrp="1"/>
          </p:cNvSpPr>
          <p:nvPr>
            <p:ph type="sldNum" sz="quarter" idx="5"/>
          </p:nvPr>
        </p:nvSpPr>
        <p:spPr/>
        <p:txBody>
          <a:bodyPr/>
          <a:lstStyle/>
          <a:p>
            <a:fld id="{96EF99E3-28B6-4D79-81EE-6B731A5C817C}" type="slidenum">
              <a:rPr lang="ko-KR" altLang="en-US" smtClean="0"/>
              <a:t>44</a:t>
            </a:fld>
            <a:endParaRPr lang="ko-KR" altLang="en-US"/>
          </a:p>
        </p:txBody>
      </p:sp>
    </p:spTree>
    <p:extLst>
      <p:ext uri="{BB962C8B-B14F-4D97-AF65-F5344CB8AC3E}">
        <p14:creationId xmlns:p14="http://schemas.microsoft.com/office/powerpoint/2010/main" val="14004943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1B24D-431E-96D2-50A2-348A9CC34E7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D24EFB8-6E42-8467-2BE9-CDF5303DC16E}"/>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029D53E1-8CD2-9AA0-B670-F15B89FF948C}"/>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754D2436-5358-92BC-8AF4-43EAB1094588}"/>
              </a:ext>
            </a:extLst>
          </p:cNvPr>
          <p:cNvSpPr>
            <a:spLocks noGrp="1"/>
          </p:cNvSpPr>
          <p:nvPr>
            <p:ph type="sldNum" sz="quarter" idx="5"/>
          </p:nvPr>
        </p:nvSpPr>
        <p:spPr/>
        <p:txBody>
          <a:bodyPr/>
          <a:lstStyle/>
          <a:p>
            <a:fld id="{96EF99E3-28B6-4D79-81EE-6B731A5C817C}" type="slidenum">
              <a:rPr lang="ko-KR" altLang="en-US" smtClean="0"/>
              <a:t>45</a:t>
            </a:fld>
            <a:endParaRPr lang="ko-KR" altLang="en-US"/>
          </a:p>
        </p:txBody>
      </p:sp>
    </p:spTree>
    <p:extLst>
      <p:ext uri="{BB962C8B-B14F-4D97-AF65-F5344CB8AC3E}">
        <p14:creationId xmlns:p14="http://schemas.microsoft.com/office/powerpoint/2010/main" val="34299471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41E8B-FF25-CFDA-6235-CB78984FBF5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707318A-530E-7A2D-D256-E62E35FEEA26}"/>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C1230094-FFE1-318F-7884-344A021E2701}"/>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3AFC9E57-2DE4-1DF3-8B72-BF93F71D995C}"/>
              </a:ext>
            </a:extLst>
          </p:cNvPr>
          <p:cNvSpPr>
            <a:spLocks noGrp="1"/>
          </p:cNvSpPr>
          <p:nvPr>
            <p:ph type="sldNum" sz="quarter" idx="5"/>
          </p:nvPr>
        </p:nvSpPr>
        <p:spPr/>
        <p:txBody>
          <a:bodyPr/>
          <a:lstStyle/>
          <a:p>
            <a:fld id="{96EF99E3-28B6-4D79-81EE-6B731A5C817C}" type="slidenum">
              <a:rPr lang="ko-KR" altLang="en-US" smtClean="0"/>
              <a:t>46</a:t>
            </a:fld>
            <a:endParaRPr lang="ko-KR" altLang="en-US"/>
          </a:p>
        </p:txBody>
      </p:sp>
    </p:spTree>
    <p:extLst>
      <p:ext uri="{BB962C8B-B14F-4D97-AF65-F5344CB8AC3E}">
        <p14:creationId xmlns:p14="http://schemas.microsoft.com/office/powerpoint/2010/main" val="1320660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C478E-4A63-0680-A80C-BA70FC727E6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291DBC6-6990-1627-704F-525983F68742}"/>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997B02AA-191F-56B5-6831-E33EDCB5781A}"/>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6D327825-0184-A59A-0E73-74B281D92B46}"/>
              </a:ext>
            </a:extLst>
          </p:cNvPr>
          <p:cNvSpPr>
            <a:spLocks noGrp="1"/>
          </p:cNvSpPr>
          <p:nvPr>
            <p:ph type="sldNum" sz="quarter" idx="5"/>
          </p:nvPr>
        </p:nvSpPr>
        <p:spPr/>
        <p:txBody>
          <a:bodyPr/>
          <a:lstStyle/>
          <a:p>
            <a:fld id="{96EF99E3-28B6-4D79-81EE-6B731A5C817C}" type="slidenum">
              <a:rPr lang="ko-KR" altLang="en-US" smtClean="0"/>
              <a:t>47</a:t>
            </a:fld>
            <a:endParaRPr lang="ko-KR" altLang="en-US"/>
          </a:p>
        </p:txBody>
      </p:sp>
    </p:spTree>
    <p:extLst>
      <p:ext uri="{BB962C8B-B14F-4D97-AF65-F5344CB8AC3E}">
        <p14:creationId xmlns:p14="http://schemas.microsoft.com/office/powerpoint/2010/main" val="36761044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B34EA-580B-9DF7-1703-A59CBBD510D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7567F95-CEAC-33F5-AC0E-8E630A0A0650}"/>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ABCF0B7B-D6A5-D533-83DC-5C33BC8F455C}"/>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547B1EAA-8474-0788-7E27-357C13F483E4}"/>
              </a:ext>
            </a:extLst>
          </p:cNvPr>
          <p:cNvSpPr>
            <a:spLocks noGrp="1"/>
          </p:cNvSpPr>
          <p:nvPr>
            <p:ph type="sldNum" sz="quarter" idx="5"/>
          </p:nvPr>
        </p:nvSpPr>
        <p:spPr/>
        <p:txBody>
          <a:bodyPr/>
          <a:lstStyle/>
          <a:p>
            <a:fld id="{96EF99E3-28B6-4D79-81EE-6B731A5C817C}" type="slidenum">
              <a:rPr lang="ko-KR" altLang="en-US" smtClean="0"/>
              <a:t>48</a:t>
            </a:fld>
            <a:endParaRPr lang="ko-KR" altLang="en-US"/>
          </a:p>
        </p:txBody>
      </p:sp>
    </p:spTree>
    <p:extLst>
      <p:ext uri="{BB962C8B-B14F-4D97-AF65-F5344CB8AC3E}">
        <p14:creationId xmlns:p14="http://schemas.microsoft.com/office/powerpoint/2010/main" val="24921858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F85D-98B8-F2DB-6BB5-6F6EE0BBBA1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B48F5AB-C4C4-C4C8-7C6E-95515FB0002B}"/>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28075708-6635-6A01-541E-08D0EA011DD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D8EA989D-160A-8D6E-ECA9-9AE446092D21}"/>
              </a:ext>
            </a:extLst>
          </p:cNvPr>
          <p:cNvSpPr>
            <a:spLocks noGrp="1"/>
          </p:cNvSpPr>
          <p:nvPr>
            <p:ph type="sldNum" sz="quarter" idx="5"/>
          </p:nvPr>
        </p:nvSpPr>
        <p:spPr/>
        <p:txBody>
          <a:bodyPr/>
          <a:lstStyle/>
          <a:p>
            <a:fld id="{96EF99E3-28B6-4D79-81EE-6B731A5C817C}" type="slidenum">
              <a:rPr lang="ko-KR" altLang="en-US" smtClean="0"/>
              <a:t>49</a:t>
            </a:fld>
            <a:endParaRPr lang="ko-KR" altLang="en-US"/>
          </a:p>
        </p:txBody>
      </p:sp>
    </p:spTree>
    <p:extLst>
      <p:ext uri="{BB962C8B-B14F-4D97-AF65-F5344CB8AC3E}">
        <p14:creationId xmlns:p14="http://schemas.microsoft.com/office/powerpoint/2010/main" val="6844302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FABBB-4B5F-BE06-EEFC-C910998662D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510C563-E233-2332-1914-E91038C0778F}"/>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EF280761-FFD8-1237-3A45-81EF00C42E0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70034B3A-8974-57E7-059C-B14A5F8075A5}"/>
              </a:ext>
            </a:extLst>
          </p:cNvPr>
          <p:cNvSpPr>
            <a:spLocks noGrp="1"/>
          </p:cNvSpPr>
          <p:nvPr>
            <p:ph type="sldNum" sz="quarter" idx="5"/>
          </p:nvPr>
        </p:nvSpPr>
        <p:spPr/>
        <p:txBody>
          <a:bodyPr/>
          <a:lstStyle/>
          <a:p>
            <a:fld id="{96EF99E3-28B6-4D79-81EE-6B731A5C817C}" type="slidenum">
              <a:rPr lang="ko-KR" altLang="en-US" smtClean="0"/>
              <a:t>50</a:t>
            </a:fld>
            <a:endParaRPr lang="ko-KR" altLang="en-US"/>
          </a:p>
        </p:txBody>
      </p:sp>
    </p:spTree>
    <p:extLst>
      <p:ext uri="{BB962C8B-B14F-4D97-AF65-F5344CB8AC3E}">
        <p14:creationId xmlns:p14="http://schemas.microsoft.com/office/powerpoint/2010/main" val="1105746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EC3C8-900B-E2F1-99AE-86E3FEE5339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7CA4995-EDED-38B8-78EC-B489E7F1DC59}"/>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D20DC668-6215-8EE9-1469-BF70B53FDAD2}"/>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34742961-532E-B622-9307-4D5372769A4A}"/>
              </a:ext>
            </a:extLst>
          </p:cNvPr>
          <p:cNvSpPr>
            <a:spLocks noGrp="1"/>
          </p:cNvSpPr>
          <p:nvPr>
            <p:ph type="sldNum" sz="quarter" idx="5"/>
          </p:nvPr>
        </p:nvSpPr>
        <p:spPr/>
        <p:txBody>
          <a:bodyPr/>
          <a:lstStyle/>
          <a:p>
            <a:fld id="{96EF99E3-28B6-4D79-81EE-6B731A5C817C}" type="slidenum">
              <a:rPr lang="ko-KR" altLang="en-US" smtClean="0"/>
              <a:t>51</a:t>
            </a:fld>
            <a:endParaRPr lang="ko-KR" altLang="en-US"/>
          </a:p>
        </p:txBody>
      </p:sp>
    </p:spTree>
    <p:extLst>
      <p:ext uri="{BB962C8B-B14F-4D97-AF65-F5344CB8AC3E}">
        <p14:creationId xmlns:p14="http://schemas.microsoft.com/office/powerpoint/2010/main" val="10712310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1DB55-0D93-B194-BE5C-FA874EE1AB9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3AB3451-65EA-D41B-BE75-F53A39E26C07}"/>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CE3826A3-976F-3C54-CE49-04E90E6C8C51}"/>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1C37CD42-16F2-2310-A051-9D33804567DC}"/>
              </a:ext>
            </a:extLst>
          </p:cNvPr>
          <p:cNvSpPr>
            <a:spLocks noGrp="1"/>
          </p:cNvSpPr>
          <p:nvPr>
            <p:ph type="sldNum" sz="quarter" idx="5"/>
          </p:nvPr>
        </p:nvSpPr>
        <p:spPr/>
        <p:txBody>
          <a:bodyPr/>
          <a:lstStyle/>
          <a:p>
            <a:fld id="{96EF99E3-28B6-4D79-81EE-6B731A5C817C}" type="slidenum">
              <a:rPr lang="ko-KR" altLang="en-US" smtClean="0"/>
              <a:t>52</a:t>
            </a:fld>
            <a:endParaRPr lang="ko-KR" altLang="en-US"/>
          </a:p>
        </p:txBody>
      </p:sp>
    </p:spTree>
    <p:extLst>
      <p:ext uri="{BB962C8B-B14F-4D97-AF65-F5344CB8AC3E}">
        <p14:creationId xmlns:p14="http://schemas.microsoft.com/office/powerpoint/2010/main" val="9456354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2CC8F-ADDC-3D92-FB3C-FB8D2B7B956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AD53BF9-A40C-1AE2-B43F-391879312605}"/>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087C8BB3-F99A-56EA-EF26-197F362478E1}"/>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873D8642-D6BE-783C-C730-9371650824B3}"/>
              </a:ext>
            </a:extLst>
          </p:cNvPr>
          <p:cNvSpPr>
            <a:spLocks noGrp="1"/>
          </p:cNvSpPr>
          <p:nvPr>
            <p:ph type="sldNum" sz="quarter" idx="5"/>
          </p:nvPr>
        </p:nvSpPr>
        <p:spPr/>
        <p:txBody>
          <a:bodyPr/>
          <a:lstStyle/>
          <a:p>
            <a:fld id="{96EF99E3-28B6-4D79-81EE-6B731A5C817C}" type="slidenum">
              <a:rPr lang="ko-KR" altLang="en-US" smtClean="0"/>
              <a:t>53</a:t>
            </a:fld>
            <a:endParaRPr lang="ko-KR" altLang="en-US"/>
          </a:p>
        </p:txBody>
      </p:sp>
    </p:spTree>
    <p:extLst>
      <p:ext uri="{BB962C8B-B14F-4D97-AF65-F5344CB8AC3E}">
        <p14:creationId xmlns:p14="http://schemas.microsoft.com/office/powerpoint/2010/main" val="33030909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C5A70-AB17-DD2B-FA2C-D7116C7B96A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B00E3A2-5EDB-86D5-0D3F-EBF0D3CCCDD2}"/>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343E2693-134E-754E-26FD-5287196DD2D6}"/>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7FA83447-229C-A0B1-1DA1-79843A83A68F}"/>
              </a:ext>
            </a:extLst>
          </p:cNvPr>
          <p:cNvSpPr>
            <a:spLocks noGrp="1"/>
          </p:cNvSpPr>
          <p:nvPr>
            <p:ph type="sldNum" sz="quarter" idx="5"/>
          </p:nvPr>
        </p:nvSpPr>
        <p:spPr/>
        <p:txBody>
          <a:bodyPr/>
          <a:lstStyle/>
          <a:p>
            <a:fld id="{96EF99E3-28B6-4D79-81EE-6B731A5C817C}" type="slidenum">
              <a:rPr lang="ko-KR" altLang="en-US" smtClean="0"/>
              <a:t>54</a:t>
            </a:fld>
            <a:endParaRPr lang="ko-KR" altLang="en-US"/>
          </a:p>
        </p:txBody>
      </p:sp>
    </p:spTree>
    <p:extLst>
      <p:ext uri="{BB962C8B-B14F-4D97-AF65-F5344CB8AC3E}">
        <p14:creationId xmlns:p14="http://schemas.microsoft.com/office/powerpoint/2010/main" val="3510050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EE998-CC7D-6325-3192-1553B87B3648}"/>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B9894EB-04D6-997A-D2B7-BB388D5D2158}"/>
              </a:ext>
            </a:extLst>
          </p:cNvPr>
          <p:cNvSpPr>
            <a:spLocks noGrp="1" noRot="1" noChangeAspect="1"/>
          </p:cNvSpPr>
          <p:nvPr>
            <p:ph type="sldImg"/>
          </p:nvPr>
        </p:nvSpPr>
        <p:spPr>
          <a:xfrm>
            <a:off x="3646488" y="944563"/>
            <a:ext cx="3400425" cy="2551112"/>
          </a:xfrm>
        </p:spPr>
      </p:sp>
      <p:sp>
        <p:nvSpPr>
          <p:cNvPr id="3" name="슬라이드 노트 개체 틀 2">
            <a:extLst>
              <a:ext uri="{FF2B5EF4-FFF2-40B4-BE49-F238E27FC236}">
                <a16:creationId xmlns:a16="http://schemas.microsoft.com/office/drawing/2014/main" id="{009BE089-2AD3-A9A8-991A-6EBCF171834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F9EA7498-6B02-882F-F663-64EEA38DDD65}"/>
              </a:ext>
            </a:extLst>
          </p:cNvPr>
          <p:cNvSpPr>
            <a:spLocks noGrp="1"/>
          </p:cNvSpPr>
          <p:nvPr>
            <p:ph type="sldNum" sz="quarter" idx="5"/>
          </p:nvPr>
        </p:nvSpPr>
        <p:spPr/>
        <p:txBody>
          <a:bodyPr/>
          <a:lstStyle/>
          <a:p>
            <a:fld id="{96EF99E3-28B6-4D79-81EE-6B731A5C817C}" type="slidenum">
              <a:rPr lang="ko-KR" altLang="en-US" smtClean="0"/>
              <a:t>55</a:t>
            </a:fld>
            <a:endParaRPr lang="ko-KR" altLang="en-US"/>
          </a:p>
        </p:txBody>
      </p:sp>
    </p:spTree>
    <p:extLst>
      <p:ext uri="{BB962C8B-B14F-4D97-AF65-F5344CB8AC3E}">
        <p14:creationId xmlns:p14="http://schemas.microsoft.com/office/powerpoint/2010/main" val="15676163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42164594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5007877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35362015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39685156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35173739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25963147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E0A192E0-38B5-4226-B6DA-46C3116F55EC}" type="slidenum">
              <a:rPr lang="ko-KR" altLang="en-US" smtClean="0"/>
              <a:t>87</a:t>
            </a:fld>
            <a:endParaRPr lang="ko-KR" altLang="en-US"/>
          </a:p>
        </p:txBody>
      </p:sp>
    </p:spTree>
    <p:extLst>
      <p:ext uri="{BB962C8B-B14F-4D97-AF65-F5344CB8AC3E}">
        <p14:creationId xmlns:p14="http://schemas.microsoft.com/office/powerpoint/2010/main" val="7472693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PlaceHolder 1"/>
          <p:cNvSpPr>
            <a:spLocks noGrp="1" noRot="1" noChangeAspect="1"/>
          </p:cNvSpPr>
          <p:nvPr>
            <p:ph type="sldImg"/>
          </p:nvPr>
        </p:nvSpPr>
        <p:spPr>
          <a:xfrm>
            <a:off x="1143000" y="685800"/>
            <a:ext cx="4572000" cy="3429000"/>
          </a:xfrm>
          <a:prstGeom prst="rect">
            <a:avLst/>
          </a:prstGeom>
          <a:ln w="0">
            <a:noFill/>
          </a:ln>
        </p:spPr>
      </p:sp>
      <p:sp>
        <p:nvSpPr>
          <p:cNvPr id="25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257"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strike="noStrike" spc="-1">
                <a:solidFill>
                  <a:srgbClr val="000000"/>
                </a:solidFill>
                <a:latin typeface="Times New Roman"/>
              </a:defRPr>
            </a:lvl1pPr>
          </a:lstStyle>
          <a:p>
            <a:pPr indent="0" algn="r">
              <a:lnSpc>
                <a:spcPct val="100000"/>
              </a:lnSpc>
              <a:buNone/>
            </a:pPr>
            <a:fld id="{6C83EC48-F6DF-416F-9E31-6CAF8699321E}" type="slidenum">
              <a:rPr lang="en-US" sz="1200" b="0" strike="noStrike" spc="-1">
                <a:solidFill>
                  <a:srgbClr val="000000"/>
                </a:solidFill>
                <a:latin typeface="Times New Roman"/>
              </a:rPr>
              <a:t>100</a:t>
            </a:fld>
            <a:endParaRPr lang="en-US" sz="1200" b="0" strike="noStrike" spc="-1">
              <a:solidFill>
                <a:srgbClr val="000000"/>
              </a:solidFill>
              <a:latin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2BFD85EE-51FF-49B2-AE4A-EF643293EA7A}" type="slidenum">
              <a:rPr lang="ko-KR" altLang="en-US" smtClean="0"/>
              <a:pPr/>
              <a:t>121</a:t>
            </a:fld>
            <a:endParaRPr lang="ko-KR" altLang="en-US"/>
          </a:p>
        </p:txBody>
      </p:sp>
    </p:spTree>
    <p:extLst>
      <p:ext uri="{BB962C8B-B14F-4D97-AF65-F5344CB8AC3E}">
        <p14:creationId xmlns:p14="http://schemas.microsoft.com/office/powerpoint/2010/main" val="3877216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5"/>
            <a:ext cx="7772400" cy="1470025"/>
          </a:xfrm>
        </p:spPr>
        <p:txBody>
          <a:bodyPr/>
          <a:lstStyle/>
          <a:p>
            <a:r>
              <a:rPr lang="ko-KR" altLang="en-US"/>
              <a:t>마스터 제목 스타일 편집</a:t>
            </a:r>
          </a:p>
        </p:txBody>
      </p:sp>
      <p:sp>
        <p:nvSpPr>
          <p:cNvPr id="3" name="부제목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p:txBody>
          <a:bodyPr/>
          <a:lstStyle/>
          <a:p>
            <a:fld id="{94F08C18-F846-4F83-9E4A-EF96E909B73F}" type="datetime1">
              <a:rPr lang="ko-KR" altLang="en-US" smtClean="0"/>
              <a:pPr/>
              <a:t>2026. 7. 9.</a:t>
            </a:fld>
            <a:endParaRPr lang="ko-KR" altLang="en-US"/>
          </a:p>
        </p:txBody>
      </p:sp>
      <p:sp>
        <p:nvSpPr>
          <p:cNvPr id="5" name="바닥글 개체 틀 4"/>
          <p:cNvSpPr>
            <a:spLocks noGrp="1"/>
          </p:cNvSpPr>
          <p:nvPr>
            <p:ph type="ftr" sz="quarter" idx="11"/>
          </p:nvPr>
        </p:nvSpPr>
        <p:spPr/>
        <p:txBody>
          <a:bodyPr/>
          <a:lstStyle/>
          <a:p>
            <a:r>
              <a:rPr lang="ko-KR" altLang="en-US"/>
              <a:t>한이음 ▶ 프로그램 설계서</a:t>
            </a:r>
          </a:p>
        </p:txBody>
      </p:sp>
      <p:sp>
        <p:nvSpPr>
          <p:cNvPr id="6" name="슬라이드 번호 개체 틀 5"/>
          <p:cNvSpPr>
            <a:spLocks noGrp="1"/>
          </p:cNvSpPr>
          <p:nvPr>
            <p:ph type="sldNum" sz="quarter" idx="12"/>
          </p:nvPr>
        </p:nvSpPr>
        <p:spPr/>
        <p:txBody>
          <a:bodyPr/>
          <a:lstStyle/>
          <a:p>
            <a:fld id="{343FC95C-4A71-4760-A575-4AE7075BB6F0}" type="slidenum">
              <a:rPr lang="ko-KR" altLang="en-US" smtClean="0"/>
              <a:pPr/>
              <a:t>‹#›</a:t>
            </a:fld>
            <a:endParaRPr lang="ko-KR" altLang="en-US"/>
          </a:p>
        </p:txBody>
      </p:sp>
    </p:spTree>
    <p:extLst>
      <p:ext uri="{BB962C8B-B14F-4D97-AF65-F5344CB8AC3E}">
        <p14:creationId xmlns:p14="http://schemas.microsoft.com/office/powerpoint/2010/main" val="2712705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8A3DBE8A-08A0-4AE2-B806-C9B9A473B0ED}" type="datetime1">
              <a:rPr lang="ko-KR" altLang="en-US" smtClean="0"/>
              <a:pPr/>
              <a:t>2026. 7. 9.</a:t>
            </a:fld>
            <a:endParaRPr lang="ko-KR" altLang="en-US"/>
          </a:p>
        </p:txBody>
      </p:sp>
      <p:sp>
        <p:nvSpPr>
          <p:cNvPr id="5" name="바닥글 개체 틀 4"/>
          <p:cNvSpPr>
            <a:spLocks noGrp="1"/>
          </p:cNvSpPr>
          <p:nvPr>
            <p:ph type="ftr" sz="quarter" idx="11"/>
          </p:nvPr>
        </p:nvSpPr>
        <p:spPr/>
        <p:txBody>
          <a:bodyPr/>
          <a:lstStyle/>
          <a:p>
            <a:r>
              <a:rPr lang="ko-KR" altLang="en-US"/>
              <a:t>한이음 ▶ 프로그램 설계서</a:t>
            </a:r>
          </a:p>
        </p:txBody>
      </p:sp>
      <p:sp>
        <p:nvSpPr>
          <p:cNvPr id="6" name="슬라이드 번호 개체 틀 5"/>
          <p:cNvSpPr>
            <a:spLocks noGrp="1"/>
          </p:cNvSpPr>
          <p:nvPr>
            <p:ph type="sldNum" sz="quarter" idx="12"/>
          </p:nvPr>
        </p:nvSpPr>
        <p:spPr>
          <a:xfrm>
            <a:off x="6553200" y="6617245"/>
            <a:ext cx="2133600" cy="196131"/>
          </a:xfrm>
        </p:spPr>
        <p:txBody>
          <a:bodyPr/>
          <a:lstStyle/>
          <a:p>
            <a:fld id="{343FC95C-4A71-4760-A575-4AE7075BB6F0}" type="slidenum">
              <a:rPr lang="ko-KR" altLang="en-US" smtClean="0"/>
              <a:pPr/>
              <a:t>‹#›</a:t>
            </a:fld>
            <a:endParaRPr lang="ko-KR" altLang="en-US"/>
          </a:p>
        </p:txBody>
      </p:sp>
    </p:spTree>
    <p:extLst>
      <p:ext uri="{BB962C8B-B14F-4D97-AF65-F5344CB8AC3E}">
        <p14:creationId xmlns:p14="http://schemas.microsoft.com/office/powerpoint/2010/main" val="3740300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7FE13E15-7006-4370-B5F6-60D7104AE3B4}" type="datetime1">
              <a:rPr lang="ko-KR" altLang="en-US" smtClean="0"/>
              <a:pPr/>
              <a:t>2026. 7. 9.</a:t>
            </a:fld>
            <a:endParaRPr lang="ko-KR" altLang="en-US"/>
          </a:p>
        </p:txBody>
      </p:sp>
      <p:sp>
        <p:nvSpPr>
          <p:cNvPr id="5" name="바닥글 개체 틀 4"/>
          <p:cNvSpPr>
            <a:spLocks noGrp="1"/>
          </p:cNvSpPr>
          <p:nvPr>
            <p:ph type="ftr" sz="quarter" idx="11"/>
          </p:nvPr>
        </p:nvSpPr>
        <p:spPr/>
        <p:txBody>
          <a:bodyPr/>
          <a:lstStyle/>
          <a:p>
            <a:r>
              <a:rPr lang="ko-KR" altLang="en-US"/>
              <a:t>한이음 ▶ 프로그램 설계서</a:t>
            </a:r>
          </a:p>
        </p:txBody>
      </p:sp>
      <p:sp>
        <p:nvSpPr>
          <p:cNvPr id="6" name="슬라이드 번호 개체 틀 5"/>
          <p:cNvSpPr>
            <a:spLocks noGrp="1"/>
          </p:cNvSpPr>
          <p:nvPr>
            <p:ph type="sldNum" sz="quarter" idx="12"/>
          </p:nvPr>
        </p:nvSpPr>
        <p:spPr/>
        <p:txBody>
          <a:bodyPr/>
          <a:lstStyle/>
          <a:p>
            <a:fld id="{343FC95C-4A71-4760-A575-4AE7075BB6F0}" type="slidenum">
              <a:rPr lang="ko-KR" altLang="en-US" smtClean="0"/>
              <a:pPr/>
              <a:t>‹#›</a:t>
            </a:fld>
            <a:endParaRPr lang="ko-KR" altLang="en-US"/>
          </a:p>
        </p:txBody>
      </p:sp>
    </p:spTree>
    <p:extLst>
      <p:ext uri="{BB962C8B-B14F-4D97-AF65-F5344CB8AC3E}">
        <p14:creationId xmlns:p14="http://schemas.microsoft.com/office/powerpoint/2010/main" val="1002832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F7D10D11-2C95-44F2-9DFC-D0C737CB5390}" type="datetime1">
              <a:rPr lang="ko-KR" altLang="en-US" smtClean="0"/>
              <a:pPr/>
              <a:t>2026. 7. 9.</a:t>
            </a:fld>
            <a:endParaRPr lang="ko-KR" altLang="en-US"/>
          </a:p>
        </p:txBody>
      </p:sp>
      <p:sp>
        <p:nvSpPr>
          <p:cNvPr id="6" name="바닥글 개체 틀 5"/>
          <p:cNvSpPr>
            <a:spLocks noGrp="1"/>
          </p:cNvSpPr>
          <p:nvPr>
            <p:ph type="ftr" sz="quarter" idx="11"/>
          </p:nvPr>
        </p:nvSpPr>
        <p:spPr/>
        <p:txBody>
          <a:bodyPr/>
          <a:lstStyle/>
          <a:p>
            <a:r>
              <a:rPr lang="ko-KR" altLang="en-US"/>
              <a:t>한이음 ▶ 프로그램 설계서</a:t>
            </a:r>
          </a:p>
        </p:txBody>
      </p:sp>
      <p:sp>
        <p:nvSpPr>
          <p:cNvPr id="7" name="슬라이드 번호 개체 틀 6"/>
          <p:cNvSpPr>
            <a:spLocks noGrp="1"/>
          </p:cNvSpPr>
          <p:nvPr>
            <p:ph type="sldNum" sz="quarter" idx="12"/>
          </p:nvPr>
        </p:nvSpPr>
        <p:spPr/>
        <p:txBody>
          <a:bodyPr/>
          <a:lstStyle/>
          <a:p>
            <a:fld id="{343FC95C-4A71-4760-A575-4AE7075BB6F0}" type="slidenum">
              <a:rPr lang="ko-KR" altLang="en-US" smtClean="0"/>
              <a:pPr/>
              <a:t>‹#›</a:t>
            </a:fld>
            <a:endParaRPr lang="ko-KR" altLang="en-US"/>
          </a:p>
        </p:txBody>
      </p:sp>
    </p:spTree>
    <p:extLst>
      <p:ext uri="{BB962C8B-B14F-4D97-AF65-F5344CB8AC3E}">
        <p14:creationId xmlns:p14="http://schemas.microsoft.com/office/powerpoint/2010/main" val="3771583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A5135845-0C4F-469E-8726-3EBFD71077A7}" type="datetime1">
              <a:rPr lang="ko-KR" altLang="en-US" smtClean="0"/>
              <a:pPr/>
              <a:t>2026. 7. 9.</a:t>
            </a:fld>
            <a:endParaRPr lang="ko-KR" altLang="en-US"/>
          </a:p>
        </p:txBody>
      </p:sp>
      <p:sp>
        <p:nvSpPr>
          <p:cNvPr id="8" name="바닥글 개체 틀 7"/>
          <p:cNvSpPr>
            <a:spLocks noGrp="1"/>
          </p:cNvSpPr>
          <p:nvPr>
            <p:ph type="ftr" sz="quarter" idx="11"/>
          </p:nvPr>
        </p:nvSpPr>
        <p:spPr/>
        <p:txBody>
          <a:bodyPr/>
          <a:lstStyle/>
          <a:p>
            <a:r>
              <a:rPr lang="ko-KR" altLang="en-US"/>
              <a:t>한이음 ▶ 프로그램 설계서</a:t>
            </a:r>
          </a:p>
        </p:txBody>
      </p:sp>
      <p:sp>
        <p:nvSpPr>
          <p:cNvPr id="9" name="슬라이드 번호 개체 틀 8"/>
          <p:cNvSpPr>
            <a:spLocks noGrp="1"/>
          </p:cNvSpPr>
          <p:nvPr>
            <p:ph type="sldNum" sz="quarter" idx="12"/>
          </p:nvPr>
        </p:nvSpPr>
        <p:spPr/>
        <p:txBody>
          <a:bodyPr/>
          <a:lstStyle/>
          <a:p>
            <a:fld id="{343FC95C-4A71-4760-A575-4AE7075BB6F0}" type="slidenum">
              <a:rPr lang="ko-KR" altLang="en-US" smtClean="0"/>
              <a:pPr/>
              <a:t>‹#›</a:t>
            </a:fld>
            <a:endParaRPr lang="ko-KR" altLang="en-US"/>
          </a:p>
        </p:txBody>
      </p:sp>
    </p:spTree>
    <p:extLst>
      <p:ext uri="{BB962C8B-B14F-4D97-AF65-F5344CB8AC3E}">
        <p14:creationId xmlns:p14="http://schemas.microsoft.com/office/powerpoint/2010/main" val="1282997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C80FC019-3CDA-4483-987D-B12D1EB4D233}" type="datetime1">
              <a:rPr lang="ko-KR" altLang="en-US" smtClean="0"/>
              <a:pPr/>
              <a:t>2026. 7. 9.</a:t>
            </a:fld>
            <a:endParaRPr lang="ko-KR" altLang="en-US"/>
          </a:p>
        </p:txBody>
      </p:sp>
      <p:sp>
        <p:nvSpPr>
          <p:cNvPr id="4" name="바닥글 개체 틀 3"/>
          <p:cNvSpPr>
            <a:spLocks noGrp="1"/>
          </p:cNvSpPr>
          <p:nvPr>
            <p:ph type="ftr" sz="quarter" idx="11"/>
          </p:nvPr>
        </p:nvSpPr>
        <p:spPr/>
        <p:txBody>
          <a:bodyPr/>
          <a:lstStyle/>
          <a:p>
            <a:r>
              <a:rPr lang="ko-KR" altLang="en-US"/>
              <a:t>한이음 ▶ 프로그램 설계서</a:t>
            </a:r>
          </a:p>
        </p:txBody>
      </p:sp>
      <p:sp>
        <p:nvSpPr>
          <p:cNvPr id="5" name="슬라이드 번호 개체 틀 4"/>
          <p:cNvSpPr>
            <a:spLocks noGrp="1"/>
          </p:cNvSpPr>
          <p:nvPr>
            <p:ph type="sldNum" sz="quarter" idx="12"/>
          </p:nvPr>
        </p:nvSpPr>
        <p:spPr/>
        <p:txBody>
          <a:bodyPr/>
          <a:lstStyle/>
          <a:p>
            <a:fld id="{343FC95C-4A71-4760-A575-4AE7075BB6F0}" type="slidenum">
              <a:rPr lang="ko-KR" altLang="en-US" smtClean="0"/>
              <a:pPr/>
              <a:t>‹#›</a:t>
            </a:fld>
            <a:endParaRPr lang="ko-KR" altLang="en-US"/>
          </a:p>
        </p:txBody>
      </p:sp>
    </p:spTree>
    <p:extLst>
      <p:ext uri="{BB962C8B-B14F-4D97-AF65-F5344CB8AC3E}">
        <p14:creationId xmlns:p14="http://schemas.microsoft.com/office/powerpoint/2010/main" val="2445998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45936E48-2907-481B-8F8C-35E94B4338B9}" type="datetime1">
              <a:rPr lang="ko-KR" altLang="en-US" smtClean="0"/>
              <a:pPr/>
              <a:t>2026. 7. 9.</a:t>
            </a:fld>
            <a:endParaRPr lang="ko-KR" altLang="en-US"/>
          </a:p>
        </p:txBody>
      </p:sp>
      <p:sp>
        <p:nvSpPr>
          <p:cNvPr id="3" name="바닥글 개체 틀 2"/>
          <p:cNvSpPr>
            <a:spLocks noGrp="1"/>
          </p:cNvSpPr>
          <p:nvPr>
            <p:ph type="ftr" sz="quarter" idx="11"/>
          </p:nvPr>
        </p:nvSpPr>
        <p:spPr/>
        <p:txBody>
          <a:bodyPr/>
          <a:lstStyle/>
          <a:p>
            <a:r>
              <a:rPr lang="ko-KR" altLang="en-US"/>
              <a:t>한이음 ▶ 프로그램 설계서</a:t>
            </a:r>
          </a:p>
        </p:txBody>
      </p:sp>
      <p:sp>
        <p:nvSpPr>
          <p:cNvPr id="4" name="슬라이드 번호 개체 틀 3"/>
          <p:cNvSpPr>
            <a:spLocks noGrp="1"/>
          </p:cNvSpPr>
          <p:nvPr>
            <p:ph type="sldNum" sz="quarter" idx="12"/>
          </p:nvPr>
        </p:nvSpPr>
        <p:spPr/>
        <p:txBody>
          <a:bodyPr/>
          <a:lstStyle/>
          <a:p>
            <a:fld id="{343FC95C-4A71-4760-A575-4AE7075BB6F0}" type="slidenum">
              <a:rPr lang="ko-KR" altLang="en-US" smtClean="0"/>
              <a:pPr/>
              <a:t>‹#›</a:t>
            </a:fld>
            <a:endParaRPr lang="ko-KR" altLang="en-US"/>
          </a:p>
        </p:txBody>
      </p:sp>
    </p:spTree>
    <p:extLst>
      <p:ext uri="{BB962C8B-B14F-4D97-AF65-F5344CB8AC3E}">
        <p14:creationId xmlns:p14="http://schemas.microsoft.com/office/powerpoint/2010/main" val="3259381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76D1E666-04C9-40C3-88DF-F7C22C7A6172}" type="datetime1">
              <a:rPr lang="ko-KR" altLang="en-US" smtClean="0"/>
              <a:pPr/>
              <a:t>2026. 7. 9.</a:t>
            </a:fld>
            <a:endParaRPr lang="ko-KR" altLang="en-US"/>
          </a:p>
        </p:txBody>
      </p:sp>
      <p:sp>
        <p:nvSpPr>
          <p:cNvPr id="6" name="바닥글 개체 틀 5"/>
          <p:cNvSpPr>
            <a:spLocks noGrp="1"/>
          </p:cNvSpPr>
          <p:nvPr>
            <p:ph type="ftr" sz="quarter" idx="11"/>
          </p:nvPr>
        </p:nvSpPr>
        <p:spPr/>
        <p:txBody>
          <a:bodyPr/>
          <a:lstStyle/>
          <a:p>
            <a:r>
              <a:rPr lang="ko-KR" altLang="en-US"/>
              <a:t>한이음 ▶ 프로그램 설계서</a:t>
            </a:r>
          </a:p>
        </p:txBody>
      </p:sp>
      <p:sp>
        <p:nvSpPr>
          <p:cNvPr id="7" name="슬라이드 번호 개체 틀 6"/>
          <p:cNvSpPr>
            <a:spLocks noGrp="1"/>
          </p:cNvSpPr>
          <p:nvPr>
            <p:ph type="sldNum" sz="quarter" idx="12"/>
          </p:nvPr>
        </p:nvSpPr>
        <p:spPr/>
        <p:txBody>
          <a:bodyPr/>
          <a:lstStyle/>
          <a:p>
            <a:fld id="{343FC95C-4A71-4760-A575-4AE7075BB6F0}" type="slidenum">
              <a:rPr lang="ko-KR" altLang="en-US" smtClean="0"/>
              <a:pPr/>
              <a:t>‹#›</a:t>
            </a:fld>
            <a:endParaRPr lang="ko-KR" altLang="en-US"/>
          </a:p>
        </p:txBody>
      </p:sp>
    </p:spTree>
    <p:extLst>
      <p:ext uri="{BB962C8B-B14F-4D97-AF65-F5344CB8AC3E}">
        <p14:creationId xmlns:p14="http://schemas.microsoft.com/office/powerpoint/2010/main" val="3490461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21D27B48-006F-4BC1-BDC8-3C8CA726AC13}" type="datetime1">
              <a:rPr lang="ko-KR" altLang="en-US" smtClean="0"/>
              <a:pPr/>
              <a:t>2026. 7. 9.</a:t>
            </a:fld>
            <a:endParaRPr lang="ko-KR" altLang="en-US"/>
          </a:p>
        </p:txBody>
      </p:sp>
      <p:sp>
        <p:nvSpPr>
          <p:cNvPr id="6" name="바닥글 개체 틀 5"/>
          <p:cNvSpPr>
            <a:spLocks noGrp="1"/>
          </p:cNvSpPr>
          <p:nvPr>
            <p:ph type="ftr" sz="quarter" idx="11"/>
          </p:nvPr>
        </p:nvSpPr>
        <p:spPr/>
        <p:txBody>
          <a:bodyPr/>
          <a:lstStyle/>
          <a:p>
            <a:r>
              <a:rPr lang="ko-KR" altLang="en-US"/>
              <a:t>한이음 ▶ 프로그램 설계서</a:t>
            </a:r>
          </a:p>
        </p:txBody>
      </p:sp>
      <p:sp>
        <p:nvSpPr>
          <p:cNvPr id="7" name="슬라이드 번호 개체 틀 6"/>
          <p:cNvSpPr>
            <a:spLocks noGrp="1"/>
          </p:cNvSpPr>
          <p:nvPr>
            <p:ph type="sldNum" sz="quarter" idx="12"/>
          </p:nvPr>
        </p:nvSpPr>
        <p:spPr/>
        <p:txBody>
          <a:bodyPr/>
          <a:lstStyle/>
          <a:p>
            <a:fld id="{343FC95C-4A71-4760-A575-4AE7075BB6F0}" type="slidenum">
              <a:rPr lang="ko-KR" altLang="en-US" smtClean="0"/>
              <a:pPr/>
              <a:t>‹#›</a:t>
            </a:fld>
            <a:endParaRPr lang="ko-KR" altLang="en-US"/>
          </a:p>
        </p:txBody>
      </p:sp>
    </p:spTree>
    <p:extLst>
      <p:ext uri="{BB962C8B-B14F-4D97-AF65-F5344CB8AC3E}">
        <p14:creationId xmlns:p14="http://schemas.microsoft.com/office/powerpoint/2010/main" val="1113004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B022DE9A-8BD0-4588-90EC-B8326F0668FE}" type="datetime1">
              <a:rPr lang="ko-KR" altLang="en-US" smtClean="0"/>
              <a:pPr/>
              <a:t>2026. 7. 9.</a:t>
            </a:fld>
            <a:endParaRPr lang="ko-KR" altLang="en-US"/>
          </a:p>
        </p:txBody>
      </p:sp>
      <p:sp>
        <p:nvSpPr>
          <p:cNvPr id="5" name="바닥글 개체 틀 4"/>
          <p:cNvSpPr>
            <a:spLocks noGrp="1"/>
          </p:cNvSpPr>
          <p:nvPr>
            <p:ph type="ftr" sz="quarter" idx="11"/>
          </p:nvPr>
        </p:nvSpPr>
        <p:spPr/>
        <p:txBody>
          <a:bodyPr/>
          <a:lstStyle/>
          <a:p>
            <a:r>
              <a:rPr lang="ko-KR" altLang="en-US"/>
              <a:t>한이음 ▶ 프로그램 설계서</a:t>
            </a:r>
          </a:p>
        </p:txBody>
      </p:sp>
      <p:sp>
        <p:nvSpPr>
          <p:cNvPr id="6" name="슬라이드 번호 개체 틀 5"/>
          <p:cNvSpPr>
            <a:spLocks noGrp="1"/>
          </p:cNvSpPr>
          <p:nvPr>
            <p:ph type="sldNum" sz="quarter" idx="12"/>
          </p:nvPr>
        </p:nvSpPr>
        <p:spPr/>
        <p:txBody>
          <a:bodyPr/>
          <a:lstStyle/>
          <a:p>
            <a:fld id="{343FC95C-4A71-4760-A575-4AE7075BB6F0}" type="slidenum">
              <a:rPr lang="ko-KR" altLang="en-US" smtClean="0"/>
              <a:pPr/>
              <a:t>‹#›</a:t>
            </a:fld>
            <a:endParaRPr lang="ko-KR" altLang="en-US"/>
          </a:p>
        </p:txBody>
      </p:sp>
    </p:spTree>
    <p:extLst>
      <p:ext uri="{BB962C8B-B14F-4D97-AF65-F5344CB8AC3E}">
        <p14:creationId xmlns:p14="http://schemas.microsoft.com/office/powerpoint/2010/main" val="2053435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74638"/>
            <a:ext cx="2057400" cy="5851525"/>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57200" y="274638"/>
            <a:ext cx="6019800" cy="5851525"/>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77F8B5EE-9957-45ED-8881-249F27AAE9BD}" type="datetime1">
              <a:rPr lang="ko-KR" altLang="en-US" smtClean="0"/>
              <a:pPr/>
              <a:t>2026. 7. 9.</a:t>
            </a:fld>
            <a:endParaRPr lang="ko-KR" altLang="en-US"/>
          </a:p>
        </p:txBody>
      </p:sp>
      <p:sp>
        <p:nvSpPr>
          <p:cNvPr id="5" name="바닥글 개체 틀 4"/>
          <p:cNvSpPr>
            <a:spLocks noGrp="1"/>
          </p:cNvSpPr>
          <p:nvPr>
            <p:ph type="ftr" sz="quarter" idx="11"/>
          </p:nvPr>
        </p:nvSpPr>
        <p:spPr/>
        <p:txBody>
          <a:bodyPr/>
          <a:lstStyle/>
          <a:p>
            <a:r>
              <a:rPr lang="ko-KR" altLang="en-US"/>
              <a:t>한이음 ▶ 프로그램 설계서</a:t>
            </a:r>
          </a:p>
        </p:txBody>
      </p:sp>
      <p:sp>
        <p:nvSpPr>
          <p:cNvPr id="6" name="슬라이드 번호 개체 틀 5"/>
          <p:cNvSpPr>
            <a:spLocks noGrp="1"/>
          </p:cNvSpPr>
          <p:nvPr>
            <p:ph type="sldNum" sz="quarter" idx="12"/>
          </p:nvPr>
        </p:nvSpPr>
        <p:spPr/>
        <p:txBody>
          <a:bodyPr/>
          <a:lstStyle/>
          <a:p>
            <a:fld id="{343FC95C-4A71-4760-A575-4AE7075BB6F0}" type="slidenum">
              <a:rPr lang="ko-KR" altLang="en-US" smtClean="0"/>
              <a:pPr/>
              <a:t>‹#›</a:t>
            </a:fld>
            <a:endParaRPr lang="ko-KR" altLang="en-US"/>
          </a:p>
        </p:txBody>
      </p:sp>
    </p:spTree>
    <p:extLst>
      <p:ext uri="{BB962C8B-B14F-4D97-AF65-F5344CB8AC3E}">
        <p14:creationId xmlns:p14="http://schemas.microsoft.com/office/powerpoint/2010/main" val="38839821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5976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26EC2E-D34C-4476-B4C7-64731BF56572}" type="datetime1">
              <a:rPr lang="ko-KR" altLang="en-US" smtClean="0"/>
              <a:pPr/>
              <a:t>2026. 7. 9.</a:t>
            </a:fld>
            <a:endParaRPr lang="ko-KR" altLang="en-US"/>
          </a:p>
        </p:txBody>
      </p:sp>
      <p:sp>
        <p:nvSpPr>
          <p:cNvPr id="5" name="바닥글 개체 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ko-KR" altLang="en-US"/>
              <a:t>한이음 ▶ 프로그램 설계서</a:t>
            </a:r>
          </a:p>
        </p:txBody>
      </p:sp>
      <p:sp>
        <p:nvSpPr>
          <p:cNvPr id="6" name="슬라이드 번호 개체 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3FC95C-4A71-4760-A575-4AE7075BB6F0}" type="slidenum">
              <a:rPr lang="ko-KR" altLang="en-US" smtClean="0"/>
              <a:pPr/>
              <a:t>‹#›</a:t>
            </a:fld>
            <a:endParaRPr lang="ko-KR" altLang="en-US"/>
          </a:p>
        </p:txBody>
      </p:sp>
    </p:spTree>
    <p:extLst>
      <p:ext uri="{BB962C8B-B14F-4D97-AF65-F5344CB8AC3E}">
        <p14:creationId xmlns:p14="http://schemas.microsoft.com/office/powerpoint/2010/main" val="8058839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7"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hart" Target="../charts/chart6.xml"/><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image" Target="../media/image11.jpg"/><Relationship Id="rId7"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11.jpg"/><Relationship Id="rId7"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3" Type="http://schemas.openxmlformats.org/officeDocument/2006/relationships/image" Target="../media/image11.jpg"/><Relationship Id="rId7"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3" Type="http://schemas.openxmlformats.org/officeDocument/2006/relationships/image" Target="../media/image11.jpg"/><Relationship Id="rId7"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2.png"/></Relationships>
</file>

<file path=ppt/slides/_rels/slide35.xml.rels><?xml version="1.0" encoding="UTF-8" standalone="yes"?>
<Relationships xmlns="http://schemas.openxmlformats.org/package/2006/relationships"><Relationship Id="rId3" Type="http://schemas.openxmlformats.org/officeDocument/2006/relationships/image" Target="../media/image11.jpg"/><Relationship Id="rId7"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12.png"/></Relationships>
</file>

<file path=ppt/slides/_rels/slide3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12.png"/></Relationships>
</file>

<file path=ppt/slides/_rels/slide3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6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6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notesSlide" Target="../notesSlides/notesSlide37.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3.png"/></Relationships>
</file>

<file path=ppt/slides/_rels/slide74.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50.svg"/></Relationships>
</file>

<file path=ppt/slides/_rels/slide7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52.svg"/></Relationships>
</file>

<file path=ppt/slides/_rels/slide76.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notesSlide" Target="../notesSlides/notesSlide40.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3.png"/></Relationships>
</file>

<file path=ppt/slides/_rels/slide77.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55.svg"/></Relationships>
</file>

<file path=ppt/slides/_rels/slide78.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notesSlide" Target="../notesSlides/notesSlide42.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3.png"/></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8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xml"/><Relationship Id="rId4" Type="http://schemas.openxmlformats.org/officeDocument/2006/relationships/image" Target="../media/image73.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image" Target="../media/image2.png"/></Relationships>
</file>

<file path=ppt/slides/_rels/slide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80.png"/></Relationships>
</file>

<file path=ppt/slides/_rels/slide11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83.png"/></Relationships>
</file>

<file path=ppt/slides/_rels/slide12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86.png"/><Relationship Id="rId4" Type="http://schemas.openxmlformats.org/officeDocument/2006/relationships/image" Target="../media/image85.png"/></Relationships>
</file>

<file path=ppt/slides/_rels/slide1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직사각형 19"/>
          <p:cNvSpPr/>
          <p:nvPr/>
        </p:nvSpPr>
        <p:spPr>
          <a:xfrm>
            <a:off x="0" y="4509120"/>
            <a:ext cx="9144000" cy="2348880"/>
          </a:xfrm>
          <a:prstGeom prst="rect">
            <a:avLst/>
          </a:prstGeom>
          <a:solidFill>
            <a:srgbClr val="E2E6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Picture 13"/>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036"/>
          <a:stretch/>
        </p:blipFill>
        <p:spPr bwMode="auto">
          <a:xfrm rot="21600000">
            <a:off x="0" y="764704"/>
            <a:ext cx="4716016" cy="35243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TextBox 18"/>
          <p:cNvSpPr txBox="1"/>
          <p:nvPr/>
        </p:nvSpPr>
        <p:spPr>
          <a:xfrm>
            <a:off x="1115616" y="1916832"/>
            <a:ext cx="7082388" cy="861774"/>
          </a:xfrm>
          <a:prstGeom prst="rect">
            <a:avLst/>
          </a:prstGeom>
          <a:noFill/>
        </p:spPr>
        <p:txBody>
          <a:bodyPr wrap="none" rtlCol="0">
            <a:spAutoFit/>
          </a:bodyPr>
          <a:lstStyle/>
          <a:p>
            <a:r>
              <a:rPr lang="en-US" altLang="ko-KR" sz="5000" b="1" spc="-150" dirty="0">
                <a:solidFill>
                  <a:schemeClr val="accent2">
                    <a:lumMod val="75000"/>
                  </a:schemeClr>
                </a:solidFill>
              </a:rPr>
              <a:t>SW</a:t>
            </a:r>
            <a:r>
              <a:rPr lang="ko-KR" altLang="en-US" sz="5000" b="1" spc="-150" dirty="0">
                <a:solidFill>
                  <a:schemeClr val="accent2">
                    <a:lumMod val="75000"/>
                  </a:schemeClr>
                </a:solidFill>
              </a:rPr>
              <a:t>개발</a:t>
            </a:r>
            <a:r>
              <a:rPr lang="en-US" altLang="ko-KR" sz="5000" b="1" spc="-150" dirty="0">
                <a:solidFill>
                  <a:schemeClr val="accent2">
                    <a:lumMod val="75000"/>
                  </a:schemeClr>
                </a:solidFill>
              </a:rPr>
              <a:t>/HW</a:t>
            </a:r>
            <a:r>
              <a:rPr lang="ko-KR" altLang="en-US" sz="5000" b="1" spc="-150" dirty="0">
                <a:solidFill>
                  <a:schemeClr val="accent2">
                    <a:lumMod val="75000"/>
                  </a:schemeClr>
                </a:solidFill>
              </a:rPr>
              <a:t>제작 설계서</a:t>
            </a:r>
          </a:p>
        </p:txBody>
      </p:sp>
      <p:sp>
        <p:nvSpPr>
          <p:cNvPr id="9" name="TextBox 8"/>
          <p:cNvSpPr txBox="1"/>
          <p:nvPr/>
        </p:nvSpPr>
        <p:spPr>
          <a:xfrm>
            <a:off x="1763688" y="3933056"/>
            <a:ext cx="6389869" cy="830997"/>
          </a:xfrm>
          <a:prstGeom prst="rect">
            <a:avLst/>
          </a:prstGeom>
          <a:noFill/>
        </p:spPr>
        <p:txBody>
          <a:bodyPr wrap="square" rtlCol="0">
            <a:spAutoFit/>
          </a:bodyPr>
          <a:lstStyle/>
          <a:p>
            <a:r>
              <a:rPr lang="ko-KR" altLang="en-US" sz="2400" b="1" spc="-150" dirty="0">
                <a:solidFill>
                  <a:srgbClr val="77787B"/>
                </a:solidFill>
              </a:rPr>
              <a:t>프로젝트 명 </a:t>
            </a:r>
            <a:r>
              <a:rPr lang="en-US" altLang="ko-KR" sz="2400" b="1" spc="-150" dirty="0">
                <a:solidFill>
                  <a:srgbClr val="77787B"/>
                </a:solidFill>
              </a:rPr>
              <a:t>:</a:t>
            </a:r>
            <a:r>
              <a:rPr lang="ko-KR" altLang="en-US" sz="2400" b="1" spc="-150" dirty="0">
                <a:solidFill>
                  <a:srgbClr val="77787B"/>
                </a:solidFill>
              </a:rPr>
              <a:t> </a:t>
            </a:r>
            <a:r>
              <a:rPr lang="ko-KR" altLang="ko-KR" sz="2400" b="1" dirty="0"/>
              <a:t>스마트 배터리 실측 데이터 활용 AI 이상 </a:t>
            </a:r>
            <a:r>
              <a:rPr lang="ko-KR" altLang="ko-KR" sz="2400" b="1" dirty="0" err="1"/>
              <a:t>탐지·진단</a:t>
            </a:r>
            <a:r>
              <a:rPr lang="ko-KR" altLang="ko-KR" sz="2400" b="1" dirty="0"/>
              <a:t> 알고리즘 및 시스템 구축</a:t>
            </a:r>
            <a:endParaRPr lang="ko-KR" altLang="en-US" sz="2400" b="1" spc="-150" dirty="0">
              <a:solidFill>
                <a:srgbClr val="77787B"/>
              </a:solidFill>
            </a:endParaRPr>
          </a:p>
        </p:txBody>
      </p:sp>
      <p:sp>
        <p:nvSpPr>
          <p:cNvPr id="25" name="TextBox 24"/>
          <p:cNvSpPr txBox="1"/>
          <p:nvPr/>
        </p:nvSpPr>
        <p:spPr>
          <a:xfrm>
            <a:off x="808680" y="4754468"/>
            <a:ext cx="7526640" cy="783420"/>
          </a:xfrm>
          <a:prstGeom prst="rect">
            <a:avLst/>
          </a:prstGeom>
          <a:noFill/>
        </p:spPr>
        <p:txBody>
          <a:bodyPr wrap="square" rtlCol="0">
            <a:spAutoFit/>
          </a:bodyPr>
          <a:lstStyle/>
          <a:p>
            <a:pPr algn="ctr" eaLnBrk="0" latinLnBrk="0" hangingPunct="0">
              <a:lnSpc>
                <a:spcPct val="150000"/>
              </a:lnSpc>
              <a:buClr>
                <a:schemeClr val="tx2">
                  <a:lumMod val="40000"/>
                  <a:lumOff val="60000"/>
                </a:schemeClr>
              </a:buClr>
              <a:buSzPct val="120000"/>
            </a:pPr>
            <a:r>
              <a:rPr lang="en-US" altLang="ko-KR" sz="1600" dirty="0">
                <a:solidFill>
                  <a:schemeClr val="tx1">
                    <a:lumMod val="75000"/>
                    <a:lumOff val="25000"/>
                  </a:schemeClr>
                </a:solidFill>
              </a:rPr>
              <a:t>2026. 07. 09</a:t>
            </a:r>
          </a:p>
          <a:p>
            <a:pPr algn="ctr" eaLnBrk="0" latinLnBrk="0" hangingPunct="0">
              <a:lnSpc>
                <a:spcPct val="150000"/>
              </a:lnSpc>
              <a:buClr>
                <a:schemeClr val="tx2">
                  <a:lumMod val="40000"/>
                  <a:lumOff val="60000"/>
                </a:schemeClr>
              </a:buClr>
              <a:buSzPct val="120000"/>
            </a:pPr>
            <a:r>
              <a:rPr lang="ko-KR" altLang="en-US" sz="1600" dirty="0">
                <a:solidFill>
                  <a:schemeClr val="tx1">
                    <a:lumMod val="75000"/>
                    <a:lumOff val="25000"/>
                  </a:schemeClr>
                </a:solidFill>
                <a:latin typeface="+mn-ea"/>
              </a:rPr>
              <a:t>배터리 </a:t>
            </a:r>
            <a:r>
              <a:rPr lang="ko-KR" altLang="en-US" sz="1600" dirty="0" err="1">
                <a:solidFill>
                  <a:schemeClr val="tx1">
                    <a:lumMod val="75000"/>
                    <a:lumOff val="25000"/>
                  </a:schemeClr>
                </a:solidFill>
                <a:latin typeface="+mn-ea"/>
              </a:rPr>
              <a:t>열폭주</a:t>
            </a:r>
            <a:r>
              <a:rPr lang="ko-KR" altLang="en-US" sz="1600" dirty="0">
                <a:solidFill>
                  <a:schemeClr val="tx1">
                    <a:lumMod val="75000"/>
                    <a:lumOff val="25000"/>
                  </a:schemeClr>
                </a:solidFill>
                <a:latin typeface="+mn-ea"/>
              </a:rPr>
              <a:t> 단속반</a:t>
            </a:r>
            <a:endParaRPr lang="en-US" altLang="ko-KR" sz="1600" dirty="0">
              <a:solidFill>
                <a:schemeClr val="tx1">
                  <a:lumMod val="75000"/>
                  <a:lumOff val="25000"/>
                </a:schemeClr>
              </a:solidFill>
              <a:latin typeface="+mn-ea"/>
            </a:endParaRPr>
          </a:p>
        </p:txBody>
      </p:sp>
      <p:pic>
        <p:nvPicPr>
          <p:cNvPr id="6" name="그림 5">
            <a:extLst>
              <a:ext uri="{FF2B5EF4-FFF2-40B4-BE49-F238E27FC236}">
                <a16:creationId xmlns:a16="http://schemas.microsoft.com/office/drawing/2014/main" id="{193D47B2-ECB2-FCC5-FD1D-67B018129541}"/>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Tree>
    <p:extLst>
      <p:ext uri="{BB962C8B-B14F-4D97-AF65-F5344CB8AC3E}">
        <p14:creationId xmlns:p14="http://schemas.microsoft.com/office/powerpoint/2010/main" val="22357277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0BB803E8-B66B-4CAB-A7FA-6A6D32F2BB97}"/>
              </a:ext>
            </a:extLst>
          </p:cNvPr>
          <p:cNvSpPr txBox="1"/>
          <p:nvPr/>
        </p:nvSpPr>
        <p:spPr>
          <a:xfrm>
            <a:off x="8440376" y="6642556"/>
            <a:ext cx="617754" cy="390620"/>
          </a:xfrm>
          <a:prstGeom prst="rect">
            <a:avLst/>
          </a:prstGeom>
          <a:noFill/>
        </p:spPr>
        <p:txBody>
          <a:bodyPr wrap="square">
            <a:spAutoFit/>
          </a:bodyPr>
          <a:lstStyle/>
          <a:p>
            <a:r>
              <a:rPr lang="en-US" altLang="ko-KR" sz="969"/>
              <a:t>&lt; 1 / 1 &gt;</a:t>
            </a:r>
            <a:endParaRPr lang="ko-KR" altLang="en-US" sz="1662"/>
          </a:p>
        </p:txBody>
      </p:sp>
      <p:sp>
        <p:nvSpPr>
          <p:cNvPr id="21" name="TextBox 20"/>
          <p:cNvSpPr txBox="1"/>
          <p:nvPr/>
        </p:nvSpPr>
        <p:spPr>
          <a:xfrm>
            <a:off x="457200" y="1383100"/>
            <a:ext cx="8229600" cy="868680"/>
          </a:xfrm>
          <a:prstGeom prst="rect">
            <a:avLst/>
          </a:prstGeom>
          <a:noFill/>
        </p:spPr>
        <p:txBody>
          <a:bodyPr wrap="square">
            <a:spAutoFit/>
          </a:bodyPr>
          <a:lstStyle/>
          <a:p>
            <a:pPr algn="ctr"/>
            <a:r>
              <a:rPr sz="2400" b="1">
                <a:solidFill>
                  <a:srgbClr val="1F3864"/>
                </a:solidFill>
                <a:latin typeface="맑은 고딕"/>
              </a:rPr>
              <a:t>스마트 배터리 실측 데이터 기반 AI 이상탐지·진단 시스템</a:t>
            </a:r>
          </a:p>
        </p:txBody>
      </p:sp>
      <p:sp>
        <p:nvSpPr>
          <p:cNvPr id="22" name="TextBox 21"/>
          <p:cNvSpPr txBox="1"/>
          <p:nvPr/>
        </p:nvSpPr>
        <p:spPr>
          <a:xfrm>
            <a:off x="457200" y="2270068"/>
            <a:ext cx="8229600" cy="457200"/>
          </a:xfrm>
          <a:prstGeom prst="rect">
            <a:avLst/>
          </a:prstGeom>
          <a:noFill/>
        </p:spPr>
        <p:txBody>
          <a:bodyPr wrap="square">
            <a:spAutoFit/>
          </a:bodyPr>
          <a:lstStyle/>
          <a:p>
            <a:pPr algn="ctr"/>
            <a:r>
              <a:rPr sz="1300">
                <a:solidFill>
                  <a:srgbClr val="595959"/>
                </a:solidFill>
                <a:latin typeface="맑은 고딕"/>
              </a:rPr>
              <a:t>배터리 열폭주 전조 조기 탐지 · 정상패턴 학습 기반 예측형 안전 관리</a:t>
            </a:r>
          </a:p>
        </p:txBody>
      </p:sp>
      <p:sp>
        <p:nvSpPr>
          <p:cNvPr id="23" name="Rounded Rectangle 22"/>
          <p:cNvSpPr/>
          <p:nvPr/>
        </p:nvSpPr>
        <p:spPr>
          <a:xfrm>
            <a:off x="457200" y="2937580"/>
            <a:ext cx="3977639" cy="3429000"/>
          </a:xfrm>
          <a:prstGeom prst="roundRect">
            <a:avLst/>
          </a:prstGeom>
          <a:solidFill>
            <a:srgbClr val="F2F5FB"/>
          </a:solidFill>
          <a:ln w="15875">
            <a:solidFill>
              <a:srgbClr val="C0502C"/>
            </a:solidFill>
          </a:ln>
          <a:effectLst/>
        </p:spPr>
        <p:style>
          <a:lnRef idx="1">
            <a:schemeClr val="accent1"/>
          </a:lnRef>
          <a:fillRef idx="3">
            <a:schemeClr val="accent1"/>
          </a:fillRef>
          <a:effectRef idx="2">
            <a:schemeClr val="accent1"/>
          </a:effectRef>
          <a:fontRef idx="minor">
            <a:schemeClr val="lt1"/>
          </a:fontRef>
        </p:style>
        <p:txBody>
          <a:bodyPr wrap="square" lIns="201168" tIns="164592" rIns="201168" bIns="137160" rtlCol="0" anchor="ctr"/>
          <a:lstStyle/>
          <a:p>
            <a:pPr algn="l">
              <a:spcAft>
                <a:spcPts val="600"/>
              </a:spcAft>
            </a:pPr>
            <a:r>
              <a:rPr sz="1500" b="1">
                <a:solidFill>
                  <a:srgbClr val="C0502C"/>
                </a:solidFill>
                <a:latin typeface="맑은 고딕"/>
              </a:rPr>
              <a:t>추진 배경</a:t>
            </a:r>
          </a:p>
          <a:p>
            <a:pPr algn="l">
              <a:lnSpc>
                <a:spcPct val="105000"/>
              </a:lnSpc>
              <a:spcAft>
                <a:spcPts val="500"/>
              </a:spcAft>
            </a:pPr>
            <a:r>
              <a:rPr sz="1050">
                <a:solidFill>
                  <a:srgbClr val="333333"/>
                </a:solidFill>
                <a:latin typeface="맑은 고딕"/>
              </a:rPr>
              <a:t>• 항공기 기내 보조배터리 발화·전기차 화재 등 Li-ion 배터리 안전 문제가 사회적 이슈로 부상</a:t>
            </a:r>
          </a:p>
          <a:p>
            <a:pPr algn="l">
              <a:lnSpc>
                <a:spcPct val="105000"/>
              </a:lnSpc>
              <a:spcAft>
                <a:spcPts val="500"/>
              </a:spcAft>
            </a:pPr>
            <a:r>
              <a:rPr sz="1050">
                <a:solidFill>
                  <a:srgbClr val="333333"/>
                </a:solidFill>
                <a:latin typeface="맑은 고딕"/>
              </a:rPr>
              <a:t>• 기존 보조배터리는 단순 보호회로(PCM) 기반 → 이상 발생 전 전조 증상 사전 인지 곤란</a:t>
            </a:r>
          </a:p>
          <a:p>
            <a:pPr algn="l">
              <a:lnSpc>
                <a:spcPct val="105000"/>
              </a:lnSpc>
              <a:spcAft>
                <a:spcPts val="500"/>
              </a:spcAft>
            </a:pPr>
            <a:r>
              <a:rPr sz="1050">
                <a:solidFill>
                  <a:srgbClr val="333333"/>
                </a:solidFill>
                <a:latin typeface="맑은 고딕"/>
              </a:rPr>
              <a:t>• 현재 배터리 관리 방식은 임계치 기반 차단(사후 대응) 중심으로 예측 기반 기술 부재</a:t>
            </a:r>
          </a:p>
          <a:p>
            <a:pPr algn="l">
              <a:lnSpc>
                <a:spcPct val="105000"/>
              </a:lnSpc>
              <a:spcAft>
                <a:spcPts val="500"/>
              </a:spcAft>
            </a:pPr>
            <a:r>
              <a:rPr sz="1050">
                <a:solidFill>
                  <a:srgbClr val="333333"/>
                </a:solidFill>
                <a:latin typeface="맑은 고딕"/>
              </a:rPr>
              <a:t>• 내부 단락·열폭주·출력 불안정은 발생 전 미세한 전압·임피던스 변화를 동반 → 조기 탐지 필요</a:t>
            </a:r>
          </a:p>
        </p:txBody>
      </p:sp>
      <p:sp>
        <p:nvSpPr>
          <p:cNvPr id="24" name="Rounded Rectangle 23"/>
          <p:cNvSpPr/>
          <p:nvPr/>
        </p:nvSpPr>
        <p:spPr>
          <a:xfrm>
            <a:off x="4709160" y="2937580"/>
            <a:ext cx="3977639" cy="3429000"/>
          </a:xfrm>
          <a:prstGeom prst="roundRect">
            <a:avLst/>
          </a:prstGeom>
          <a:solidFill>
            <a:srgbClr val="F2F5FB"/>
          </a:solidFill>
          <a:ln w="15875">
            <a:solidFill>
              <a:srgbClr val="2E74B5"/>
            </a:solidFill>
          </a:ln>
          <a:effectLst/>
        </p:spPr>
        <p:style>
          <a:lnRef idx="1">
            <a:schemeClr val="accent1"/>
          </a:lnRef>
          <a:fillRef idx="3">
            <a:schemeClr val="accent1"/>
          </a:fillRef>
          <a:effectRef idx="2">
            <a:schemeClr val="accent1"/>
          </a:effectRef>
          <a:fontRef idx="minor">
            <a:schemeClr val="lt1"/>
          </a:fontRef>
        </p:style>
        <p:txBody>
          <a:bodyPr wrap="square" lIns="201168" tIns="164592" rIns="201168" bIns="137160" rtlCol="0" anchor="ctr"/>
          <a:lstStyle/>
          <a:p>
            <a:pPr algn="l">
              <a:spcAft>
                <a:spcPts val="600"/>
              </a:spcAft>
            </a:pPr>
            <a:r>
              <a:rPr sz="1500" b="1" dirty="0" err="1">
                <a:solidFill>
                  <a:srgbClr val="2E74B5"/>
                </a:solidFill>
                <a:latin typeface="맑은 고딕"/>
              </a:rPr>
              <a:t>프로젝트</a:t>
            </a:r>
            <a:r>
              <a:rPr sz="1500" b="1" dirty="0">
                <a:solidFill>
                  <a:srgbClr val="2E74B5"/>
                </a:solidFill>
                <a:latin typeface="맑은 고딕"/>
              </a:rPr>
              <a:t> </a:t>
            </a:r>
            <a:r>
              <a:rPr sz="1500" b="1" dirty="0" err="1">
                <a:solidFill>
                  <a:srgbClr val="2E74B5"/>
                </a:solidFill>
                <a:latin typeface="맑은 고딕"/>
              </a:rPr>
              <a:t>목적</a:t>
            </a:r>
            <a:endParaRPr sz="1500" b="1" dirty="0">
              <a:solidFill>
                <a:srgbClr val="2E74B5"/>
              </a:solidFill>
              <a:latin typeface="맑은 고딕"/>
            </a:endParaRPr>
          </a:p>
          <a:p>
            <a:pPr algn="l">
              <a:lnSpc>
                <a:spcPct val="105000"/>
              </a:lnSpc>
              <a:spcAft>
                <a:spcPts val="500"/>
              </a:spcAft>
            </a:pPr>
            <a:r>
              <a:rPr sz="1050" dirty="0">
                <a:solidFill>
                  <a:srgbClr val="333333"/>
                </a:solidFill>
                <a:latin typeface="맑은 고딕"/>
              </a:rPr>
              <a:t>• 1셀 Li-ion </a:t>
            </a:r>
            <a:r>
              <a:rPr sz="1050" dirty="0" err="1">
                <a:solidFill>
                  <a:srgbClr val="333333"/>
                </a:solidFill>
                <a:latin typeface="맑은 고딕"/>
              </a:rPr>
              <a:t>스마트</a:t>
            </a:r>
            <a:r>
              <a:rPr sz="1050" dirty="0">
                <a:solidFill>
                  <a:srgbClr val="333333"/>
                </a:solidFill>
                <a:latin typeface="맑은 고딕"/>
              </a:rPr>
              <a:t> </a:t>
            </a:r>
            <a:r>
              <a:rPr sz="1050" dirty="0" err="1">
                <a:solidFill>
                  <a:srgbClr val="333333"/>
                </a:solidFill>
                <a:latin typeface="맑은 고딕"/>
              </a:rPr>
              <a:t>배터리팩</a:t>
            </a:r>
            <a:r>
              <a:rPr sz="1050" dirty="0">
                <a:solidFill>
                  <a:srgbClr val="333333"/>
                </a:solidFill>
                <a:latin typeface="맑은 고딕"/>
              </a:rPr>
              <a:t> + Fuel </a:t>
            </a:r>
            <a:r>
              <a:rPr sz="1050" dirty="0" err="1">
                <a:solidFill>
                  <a:srgbClr val="333333"/>
                </a:solidFill>
                <a:latin typeface="맑은 고딕"/>
              </a:rPr>
              <a:t>Gauge·다중</a:t>
            </a:r>
            <a:r>
              <a:rPr sz="1050" dirty="0">
                <a:solidFill>
                  <a:srgbClr val="333333"/>
                </a:solidFill>
                <a:latin typeface="맑은 고딕"/>
              </a:rPr>
              <a:t> </a:t>
            </a:r>
            <a:r>
              <a:rPr sz="1050" dirty="0" err="1">
                <a:solidFill>
                  <a:srgbClr val="333333"/>
                </a:solidFill>
                <a:latin typeface="맑은 고딕"/>
              </a:rPr>
              <a:t>센서로</a:t>
            </a:r>
            <a:r>
              <a:rPr sz="1050" dirty="0">
                <a:solidFill>
                  <a:srgbClr val="333333"/>
                </a:solidFill>
                <a:latin typeface="맑은 고딕"/>
              </a:rPr>
              <a:t> </a:t>
            </a:r>
            <a:r>
              <a:rPr sz="1050" dirty="0" err="1">
                <a:solidFill>
                  <a:srgbClr val="333333"/>
                </a:solidFill>
                <a:latin typeface="맑은 고딕"/>
              </a:rPr>
              <a:t>전압·전류·온도·SOC</a:t>
            </a:r>
            <a:r>
              <a:rPr sz="1050" dirty="0">
                <a:solidFill>
                  <a:srgbClr val="333333"/>
                </a:solidFill>
                <a:latin typeface="맑은 고딕"/>
              </a:rPr>
              <a:t> </a:t>
            </a:r>
            <a:r>
              <a:rPr sz="1050" dirty="0" err="1">
                <a:solidFill>
                  <a:srgbClr val="333333"/>
                </a:solidFill>
                <a:latin typeface="맑은 고딕"/>
              </a:rPr>
              <a:t>실측</a:t>
            </a:r>
            <a:r>
              <a:rPr sz="1050" dirty="0">
                <a:solidFill>
                  <a:srgbClr val="333333"/>
                </a:solidFill>
                <a:latin typeface="맑은 고딕"/>
              </a:rPr>
              <a:t> </a:t>
            </a:r>
            <a:r>
              <a:rPr sz="1050" dirty="0" err="1">
                <a:solidFill>
                  <a:srgbClr val="333333"/>
                </a:solidFill>
                <a:latin typeface="맑은 고딕"/>
              </a:rPr>
              <a:t>데이터</a:t>
            </a:r>
            <a:r>
              <a:rPr sz="1050" dirty="0">
                <a:solidFill>
                  <a:srgbClr val="333333"/>
                </a:solidFill>
                <a:latin typeface="맑은 고딕"/>
              </a:rPr>
              <a:t> </a:t>
            </a:r>
            <a:r>
              <a:rPr sz="1050" dirty="0" err="1">
                <a:solidFill>
                  <a:srgbClr val="333333"/>
                </a:solidFill>
                <a:latin typeface="맑은 고딕"/>
              </a:rPr>
              <a:t>수집</a:t>
            </a:r>
            <a:endParaRPr sz="1050" dirty="0">
              <a:solidFill>
                <a:srgbClr val="333333"/>
              </a:solidFill>
              <a:latin typeface="맑은 고딕"/>
            </a:endParaRPr>
          </a:p>
          <a:p>
            <a:pPr algn="l">
              <a:lnSpc>
                <a:spcPct val="105000"/>
              </a:lnSpc>
              <a:spcAft>
                <a:spcPts val="500"/>
              </a:spcAft>
            </a:pPr>
            <a:r>
              <a:rPr sz="1050" dirty="0">
                <a:solidFill>
                  <a:srgbClr val="333333"/>
                </a:solidFill>
                <a:latin typeface="맑은 고딕"/>
              </a:rPr>
              <a:t>• LSTM-</a:t>
            </a:r>
            <a:r>
              <a:rPr sz="1050" dirty="0" err="1">
                <a:solidFill>
                  <a:srgbClr val="333333"/>
                </a:solidFill>
                <a:latin typeface="맑은 고딕"/>
              </a:rPr>
              <a:t>AutoEncoder</a:t>
            </a:r>
            <a:r>
              <a:rPr sz="1050" dirty="0">
                <a:solidFill>
                  <a:srgbClr val="333333"/>
                </a:solidFill>
                <a:latin typeface="맑은 고딕"/>
              </a:rPr>
              <a:t> </a:t>
            </a:r>
            <a:r>
              <a:rPr sz="1050" dirty="0" err="1">
                <a:solidFill>
                  <a:srgbClr val="333333"/>
                </a:solidFill>
                <a:latin typeface="맑은 고딕"/>
              </a:rPr>
              <a:t>기반</a:t>
            </a:r>
            <a:r>
              <a:rPr sz="1050" dirty="0">
                <a:solidFill>
                  <a:srgbClr val="333333"/>
                </a:solidFill>
                <a:latin typeface="맑은 고딕"/>
              </a:rPr>
              <a:t> </a:t>
            </a:r>
            <a:r>
              <a:rPr sz="1050" dirty="0" err="1">
                <a:solidFill>
                  <a:srgbClr val="333333"/>
                </a:solidFill>
                <a:latin typeface="맑은 고딕"/>
              </a:rPr>
              <a:t>AI로</a:t>
            </a:r>
            <a:r>
              <a:rPr sz="1050" dirty="0">
                <a:solidFill>
                  <a:srgbClr val="333333"/>
                </a:solidFill>
                <a:latin typeface="맑은 고딕"/>
              </a:rPr>
              <a:t> </a:t>
            </a:r>
            <a:r>
              <a:rPr sz="1050" dirty="0" err="1">
                <a:solidFill>
                  <a:srgbClr val="333333"/>
                </a:solidFill>
                <a:latin typeface="맑은 고딕"/>
              </a:rPr>
              <a:t>정상</a:t>
            </a:r>
            <a:r>
              <a:rPr sz="1050" dirty="0">
                <a:solidFill>
                  <a:srgbClr val="333333"/>
                </a:solidFill>
                <a:latin typeface="맑은 고딕"/>
              </a:rPr>
              <a:t> </a:t>
            </a:r>
            <a:r>
              <a:rPr sz="1050" dirty="0" err="1">
                <a:solidFill>
                  <a:srgbClr val="333333"/>
                </a:solidFill>
                <a:latin typeface="맑은 고딕"/>
              </a:rPr>
              <a:t>패턴을</a:t>
            </a:r>
            <a:r>
              <a:rPr sz="1050" dirty="0">
                <a:solidFill>
                  <a:srgbClr val="333333"/>
                </a:solidFill>
                <a:latin typeface="맑은 고딕"/>
              </a:rPr>
              <a:t> </a:t>
            </a:r>
            <a:r>
              <a:rPr sz="1050" dirty="0" err="1">
                <a:solidFill>
                  <a:srgbClr val="333333"/>
                </a:solidFill>
                <a:latin typeface="맑은 고딕"/>
              </a:rPr>
              <a:t>학습</a:t>
            </a:r>
            <a:r>
              <a:rPr sz="1050" dirty="0">
                <a:solidFill>
                  <a:srgbClr val="333333"/>
                </a:solidFill>
                <a:latin typeface="맑은 고딕"/>
              </a:rPr>
              <a:t>, </a:t>
            </a:r>
            <a:r>
              <a:rPr sz="1050" dirty="0" err="1">
                <a:solidFill>
                  <a:srgbClr val="333333"/>
                </a:solidFill>
                <a:latin typeface="맑은 고딕"/>
              </a:rPr>
              <a:t>정상에서</a:t>
            </a:r>
            <a:r>
              <a:rPr sz="1050" dirty="0">
                <a:solidFill>
                  <a:srgbClr val="333333"/>
                </a:solidFill>
                <a:latin typeface="맑은 고딕"/>
              </a:rPr>
              <a:t> </a:t>
            </a:r>
            <a:r>
              <a:rPr sz="1050" dirty="0" err="1">
                <a:solidFill>
                  <a:srgbClr val="333333"/>
                </a:solidFill>
                <a:latin typeface="맑은 고딕"/>
              </a:rPr>
              <a:t>벗어나는</a:t>
            </a:r>
            <a:r>
              <a:rPr sz="1050" dirty="0">
                <a:solidFill>
                  <a:srgbClr val="333333"/>
                </a:solidFill>
                <a:latin typeface="맑은 고딕"/>
              </a:rPr>
              <a:t> </a:t>
            </a:r>
            <a:r>
              <a:rPr sz="1050" dirty="0" err="1">
                <a:solidFill>
                  <a:srgbClr val="333333"/>
                </a:solidFill>
                <a:latin typeface="맑은 고딕"/>
              </a:rPr>
              <a:t>이상</a:t>
            </a:r>
            <a:r>
              <a:rPr sz="1050" dirty="0">
                <a:solidFill>
                  <a:srgbClr val="333333"/>
                </a:solidFill>
                <a:latin typeface="맑은 고딕"/>
              </a:rPr>
              <a:t> </a:t>
            </a:r>
            <a:r>
              <a:rPr sz="1050" dirty="0" err="1">
                <a:solidFill>
                  <a:srgbClr val="333333"/>
                </a:solidFill>
                <a:latin typeface="맑은 고딕"/>
              </a:rPr>
              <a:t>징후를</a:t>
            </a:r>
            <a:r>
              <a:rPr sz="1050" dirty="0">
                <a:solidFill>
                  <a:srgbClr val="333333"/>
                </a:solidFill>
                <a:latin typeface="맑은 고딕"/>
              </a:rPr>
              <a:t> </a:t>
            </a:r>
            <a:r>
              <a:rPr sz="1050" dirty="0" err="1">
                <a:solidFill>
                  <a:srgbClr val="333333"/>
                </a:solidFill>
                <a:latin typeface="맑은 고딕"/>
              </a:rPr>
              <a:t>조기</a:t>
            </a:r>
            <a:r>
              <a:rPr sz="1050" dirty="0">
                <a:solidFill>
                  <a:srgbClr val="333333"/>
                </a:solidFill>
                <a:latin typeface="맑은 고딕"/>
              </a:rPr>
              <a:t> </a:t>
            </a:r>
            <a:r>
              <a:rPr sz="1050" dirty="0" err="1">
                <a:solidFill>
                  <a:srgbClr val="333333"/>
                </a:solidFill>
                <a:latin typeface="맑은 고딕"/>
              </a:rPr>
              <a:t>탐지</a:t>
            </a:r>
            <a:endParaRPr sz="1050" dirty="0">
              <a:solidFill>
                <a:srgbClr val="333333"/>
              </a:solidFill>
              <a:latin typeface="맑은 고딕"/>
            </a:endParaRPr>
          </a:p>
          <a:p>
            <a:pPr algn="l">
              <a:lnSpc>
                <a:spcPct val="105000"/>
              </a:lnSpc>
              <a:spcAft>
                <a:spcPts val="500"/>
              </a:spcAft>
            </a:pPr>
            <a:r>
              <a:rPr sz="1050" dirty="0">
                <a:solidFill>
                  <a:srgbClr val="333333"/>
                </a:solidFill>
                <a:latin typeface="맑은 고딕"/>
              </a:rPr>
              <a:t>• </a:t>
            </a:r>
            <a:r>
              <a:rPr sz="1050" dirty="0" err="1">
                <a:solidFill>
                  <a:srgbClr val="333333"/>
                </a:solidFill>
                <a:latin typeface="맑은 고딕"/>
              </a:rPr>
              <a:t>임계치</a:t>
            </a:r>
            <a:r>
              <a:rPr sz="1050" dirty="0">
                <a:solidFill>
                  <a:srgbClr val="333333"/>
                </a:solidFill>
                <a:latin typeface="맑은 고딕"/>
              </a:rPr>
              <a:t> </a:t>
            </a:r>
            <a:r>
              <a:rPr sz="1050" dirty="0" err="1">
                <a:solidFill>
                  <a:srgbClr val="333333"/>
                </a:solidFill>
                <a:latin typeface="맑은 고딕"/>
              </a:rPr>
              <a:t>사후</a:t>
            </a:r>
            <a:r>
              <a:rPr sz="1050" dirty="0">
                <a:solidFill>
                  <a:srgbClr val="333333"/>
                </a:solidFill>
                <a:latin typeface="맑은 고딕"/>
              </a:rPr>
              <a:t> </a:t>
            </a:r>
            <a:r>
              <a:rPr sz="1050" dirty="0" err="1">
                <a:solidFill>
                  <a:srgbClr val="333333"/>
                </a:solidFill>
                <a:latin typeface="맑은 고딕"/>
              </a:rPr>
              <a:t>차단이</a:t>
            </a:r>
            <a:r>
              <a:rPr sz="1050" dirty="0">
                <a:solidFill>
                  <a:srgbClr val="333333"/>
                </a:solidFill>
                <a:latin typeface="맑은 고딕"/>
              </a:rPr>
              <a:t> </a:t>
            </a:r>
            <a:r>
              <a:rPr sz="1050" dirty="0" err="1">
                <a:solidFill>
                  <a:srgbClr val="333333"/>
                </a:solidFill>
                <a:latin typeface="맑은 고딕"/>
              </a:rPr>
              <a:t>아닌</a:t>
            </a:r>
            <a:r>
              <a:rPr sz="1050" dirty="0">
                <a:solidFill>
                  <a:srgbClr val="333333"/>
                </a:solidFill>
                <a:latin typeface="맑은 고딕"/>
              </a:rPr>
              <a:t>, </a:t>
            </a:r>
            <a:r>
              <a:rPr sz="1050" dirty="0" err="1">
                <a:solidFill>
                  <a:srgbClr val="333333"/>
                </a:solidFill>
                <a:latin typeface="맑은 고딕"/>
              </a:rPr>
              <a:t>정상패턴</a:t>
            </a:r>
            <a:r>
              <a:rPr sz="1050" dirty="0">
                <a:solidFill>
                  <a:srgbClr val="333333"/>
                </a:solidFill>
                <a:latin typeface="맑은 고딕"/>
              </a:rPr>
              <a:t> </a:t>
            </a:r>
            <a:r>
              <a:rPr sz="1050" dirty="0" err="1">
                <a:solidFill>
                  <a:srgbClr val="333333"/>
                </a:solidFill>
                <a:latin typeface="맑은 고딕"/>
              </a:rPr>
              <a:t>학습</a:t>
            </a:r>
            <a:r>
              <a:rPr sz="1050" dirty="0">
                <a:solidFill>
                  <a:srgbClr val="333333"/>
                </a:solidFill>
                <a:latin typeface="맑은 고딕"/>
              </a:rPr>
              <a:t> </a:t>
            </a:r>
            <a:r>
              <a:rPr sz="1050" dirty="0" err="1">
                <a:solidFill>
                  <a:srgbClr val="333333"/>
                </a:solidFill>
                <a:latin typeface="맑은 고딕"/>
              </a:rPr>
              <a:t>기반</a:t>
            </a:r>
            <a:r>
              <a:rPr sz="1050" dirty="0">
                <a:solidFill>
                  <a:srgbClr val="333333"/>
                </a:solidFill>
                <a:latin typeface="맑은 고딕"/>
              </a:rPr>
              <a:t> </a:t>
            </a:r>
            <a:r>
              <a:rPr sz="1050" dirty="0" err="1">
                <a:solidFill>
                  <a:srgbClr val="333333"/>
                </a:solidFill>
                <a:latin typeface="맑은 고딕"/>
              </a:rPr>
              <a:t>사전</a:t>
            </a:r>
            <a:r>
              <a:rPr sz="1050" dirty="0">
                <a:solidFill>
                  <a:srgbClr val="333333"/>
                </a:solidFill>
                <a:latin typeface="맑은 고딕"/>
              </a:rPr>
              <a:t> </a:t>
            </a:r>
            <a:r>
              <a:rPr sz="1050" dirty="0" err="1">
                <a:solidFill>
                  <a:srgbClr val="333333"/>
                </a:solidFill>
                <a:latin typeface="맑은 고딕"/>
              </a:rPr>
              <a:t>예측형</a:t>
            </a:r>
            <a:r>
              <a:rPr sz="1050" dirty="0">
                <a:solidFill>
                  <a:srgbClr val="333333"/>
                </a:solidFill>
                <a:latin typeface="맑은 고딕"/>
              </a:rPr>
              <a:t> </a:t>
            </a:r>
            <a:r>
              <a:rPr sz="1050" dirty="0" err="1">
                <a:solidFill>
                  <a:srgbClr val="333333"/>
                </a:solidFill>
                <a:latin typeface="맑은 고딕"/>
              </a:rPr>
              <a:t>배터리</a:t>
            </a:r>
            <a:r>
              <a:rPr sz="1050" dirty="0">
                <a:solidFill>
                  <a:srgbClr val="333333"/>
                </a:solidFill>
                <a:latin typeface="맑은 고딕"/>
              </a:rPr>
              <a:t> </a:t>
            </a:r>
            <a:r>
              <a:rPr sz="1050" dirty="0" err="1">
                <a:solidFill>
                  <a:srgbClr val="333333"/>
                </a:solidFill>
                <a:latin typeface="맑은 고딕"/>
              </a:rPr>
              <a:t>안전</a:t>
            </a:r>
            <a:r>
              <a:rPr sz="1050" dirty="0">
                <a:solidFill>
                  <a:srgbClr val="333333"/>
                </a:solidFill>
                <a:latin typeface="맑은 고딕"/>
              </a:rPr>
              <a:t> </a:t>
            </a:r>
            <a:r>
              <a:rPr sz="1050" dirty="0" err="1">
                <a:solidFill>
                  <a:srgbClr val="333333"/>
                </a:solidFill>
                <a:latin typeface="맑은 고딕"/>
              </a:rPr>
              <a:t>관리</a:t>
            </a:r>
            <a:r>
              <a:rPr sz="1050" dirty="0">
                <a:solidFill>
                  <a:srgbClr val="333333"/>
                </a:solidFill>
                <a:latin typeface="맑은 고딕"/>
              </a:rPr>
              <a:t> </a:t>
            </a:r>
            <a:r>
              <a:rPr sz="1050" dirty="0" err="1">
                <a:solidFill>
                  <a:srgbClr val="333333"/>
                </a:solidFill>
                <a:latin typeface="맑은 고딕"/>
              </a:rPr>
              <a:t>체계</a:t>
            </a:r>
            <a:r>
              <a:rPr sz="1050" dirty="0">
                <a:solidFill>
                  <a:srgbClr val="333333"/>
                </a:solidFill>
                <a:latin typeface="맑은 고딕"/>
              </a:rPr>
              <a:t> </a:t>
            </a:r>
            <a:r>
              <a:rPr sz="1050" dirty="0" err="1">
                <a:solidFill>
                  <a:srgbClr val="333333"/>
                </a:solidFill>
                <a:latin typeface="맑은 고딕"/>
              </a:rPr>
              <a:t>구축</a:t>
            </a:r>
            <a:endParaRPr sz="1050" dirty="0">
              <a:solidFill>
                <a:srgbClr val="333333"/>
              </a:solidFill>
              <a:latin typeface="맑은 고딕"/>
            </a:endParaRPr>
          </a:p>
          <a:p>
            <a:pPr algn="l">
              <a:lnSpc>
                <a:spcPct val="105000"/>
              </a:lnSpc>
              <a:spcAft>
                <a:spcPts val="500"/>
              </a:spcAft>
            </a:pPr>
            <a:r>
              <a:rPr sz="1050" dirty="0">
                <a:solidFill>
                  <a:srgbClr val="333333"/>
                </a:solidFill>
                <a:latin typeface="맑은 고딕"/>
              </a:rPr>
              <a:t>• </a:t>
            </a:r>
            <a:r>
              <a:rPr sz="1050" dirty="0" err="1">
                <a:solidFill>
                  <a:srgbClr val="333333"/>
                </a:solidFill>
                <a:latin typeface="맑은 고딕"/>
              </a:rPr>
              <a:t>웹</a:t>
            </a:r>
            <a:r>
              <a:rPr sz="1050" dirty="0">
                <a:solidFill>
                  <a:srgbClr val="333333"/>
                </a:solidFill>
                <a:latin typeface="맑은 고딕"/>
              </a:rPr>
              <a:t> </a:t>
            </a:r>
            <a:r>
              <a:rPr sz="1050" dirty="0" err="1">
                <a:solidFill>
                  <a:srgbClr val="333333"/>
                </a:solidFill>
                <a:latin typeface="맑은 고딕"/>
              </a:rPr>
              <a:t>대시보드로</a:t>
            </a:r>
            <a:r>
              <a:rPr sz="1050" dirty="0">
                <a:solidFill>
                  <a:srgbClr val="333333"/>
                </a:solidFill>
                <a:latin typeface="맑은 고딕"/>
              </a:rPr>
              <a:t> </a:t>
            </a:r>
            <a:r>
              <a:rPr sz="1050" dirty="0" err="1">
                <a:solidFill>
                  <a:srgbClr val="333333"/>
                </a:solidFill>
                <a:latin typeface="맑은 고딕"/>
              </a:rPr>
              <a:t>상태·이상</a:t>
            </a:r>
            <a:r>
              <a:rPr sz="1050" dirty="0">
                <a:solidFill>
                  <a:srgbClr val="333333"/>
                </a:solidFill>
                <a:latin typeface="맑은 고딕"/>
              </a:rPr>
              <a:t> </a:t>
            </a:r>
            <a:r>
              <a:rPr sz="1050" dirty="0" err="1">
                <a:solidFill>
                  <a:srgbClr val="333333"/>
                </a:solidFill>
                <a:latin typeface="맑은 고딕"/>
              </a:rPr>
              <a:t>점수·경고를</a:t>
            </a:r>
            <a:r>
              <a:rPr sz="1050" dirty="0">
                <a:solidFill>
                  <a:srgbClr val="333333"/>
                </a:solidFill>
                <a:latin typeface="맑은 고딕"/>
              </a:rPr>
              <a:t> </a:t>
            </a:r>
            <a:r>
              <a:rPr sz="1050" dirty="0" err="1">
                <a:solidFill>
                  <a:srgbClr val="333333"/>
                </a:solidFill>
                <a:latin typeface="맑은 고딕"/>
              </a:rPr>
              <a:t>실시간</a:t>
            </a:r>
            <a:r>
              <a:rPr sz="1050" dirty="0">
                <a:solidFill>
                  <a:srgbClr val="333333"/>
                </a:solidFill>
                <a:latin typeface="맑은 고딕"/>
              </a:rPr>
              <a:t> </a:t>
            </a:r>
            <a:r>
              <a:rPr sz="1050" dirty="0" err="1">
                <a:solidFill>
                  <a:srgbClr val="333333"/>
                </a:solidFill>
                <a:latin typeface="맑은 고딕"/>
              </a:rPr>
              <a:t>시각화하는</a:t>
            </a:r>
            <a:r>
              <a:rPr sz="1050" dirty="0">
                <a:solidFill>
                  <a:srgbClr val="333333"/>
                </a:solidFill>
                <a:latin typeface="맑은 고딕"/>
              </a:rPr>
              <a:t> </a:t>
            </a:r>
            <a:r>
              <a:rPr sz="1050" dirty="0" err="1">
                <a:solidFill>
                  <a:srgbClr val="333333"/>
                </a:solidFill>
                <a:latin typeface="맑은 고딕"/>
              </a:rPr>
              <a:t>통합</a:t>
            </a:r>
            <a:r>
              <a:rPr sz="1050" dirty="0">
                <a:solidFill>
                  <a:srgbClr val="333333"/>
                </a:solidFill>
                <a:latin typeface="맑은 고딕"/>
              </a:rPr>
              <a:t> </a:t>
            </a:r>
            <a:r>
              <a:rPr sz="1050" dirty="0" err="1">
                <a:solidFill>
                  <a:srgbClr val="333333"/>
                </a:solidFill>
                <a:latin typeface="맑은 고딕"/>
              </a:rPr>
              <a:t>관제</a:t>
            </a:r>
            <a:r>
              <a:rPr sz="1050" dirty="0">
                <a:solidFill>
                  <a:srgbClr val="333333"/>
                </a:solidFill>
                <a:latin typeface="맑은 고딕"/>
              </a:rPr>
              <a:t> </a:t>
            </a:r>
            <a:r>
              <a:rPr sz="1050" dirty="0" err="1">
                <a:solidFill>
                  <a:srgbClr val="333333"/>
                </a:solidFill>
                <a:latin typeface="맑은 고딕"/>
              </a:rPr>
              <a:t>플랫폼</a:t>
            </a:r>
            <a:r>
              <a:rPr sz="1050" dirty="0">
                <a:solidFill>
                  <a:srgbClr val="333333"/>
                </a:solidFill>
                <a:latin typeface="맑은 고딕"/>
              </a:rPr>
              <a:t> </a:t>
            </a:r>
            <a:r>
              <a:rPr sz="1050" dirty="0" err="1">
                <a:solidFill>
                  <a:srgbClr val="333333"/>
                </a:solidFill>
                <a:latin typeface="맑은 고딕"/>
              </a:rPr>
              <a:t>완성</a:t>
            </a:r>
            <a:endParaRPr sz="1050" dirty="0">
              <a:solidFill>
                <a:srgbClr val="333333"/>
              </a:solidFill>
              <a:latin typeface="맑은 고딕"/>
            </a:endParaRPr>
          </a:p>
        </p:txBody>
      </p:sp>
      <p:sp>
        <p:nvSpPr>
          <p:cNvPr id="2" name="직사각형 1">
            <a:extLst>
              <a:ext uri="{FF2B5EF4-FFF2-40B4-BE49-F238E27FC236}">
                <a16:creationId xmlns:a16="http://schemas.microsoft.com/office/drawing/2014/main" id="{8C3C1999-4387-32FD-5B19-C8F054381A95}"/>
              </a:ext>
            </a:extLst>
          </p:cNvPr>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 name="직선 연결선 21">
            <a:extLst>
              <a:ext uri="{FF2B5EF4-FFF2-40B4-BE49-F238E27FC236}">
                <a16:creationId xmlns:a16="http://schemas.microsoft.com/office/drawing/2014/main" id="{0302D963-C314-0F65-7406-2A36DE4ABB3F}"/>
              </a:ext>
            </a:extLst>
          </p:cNvPr>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 name="직선 연결선 24">
            <a:extLst>
              <a:ext uri="{FF2B5EF4-FFF2-40B4-BE49-F238E27FC236}">
                <a16:creationId xmlns:a16="http://schemas.microsoft.com/office/drawing/2014/main" id="{BC667E4A-6410-4EAB-53EE-052B8B7F9CB7}"/>
              </a:ext>
            </a:extLst>
          </p:cNvPr>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5" name="제목 12">
            <a:extLst>
              <a:ext uri="{FF2B5EF4-FFF2-40B4-BE49-F238E27FC236}">
                <a16:creationId xmlns:a16="http://schemas.microsoft.com/office/drawing/2014/main" id="{065B5A2B-373F-A600-CF23-58C15C2A8AD8}"/>
              </a:ext>
            </a:extLst>
          </p:cNvPr>
          <p:cNvSpPr txBox="1">
            <a:spLocks/>
          </p:cNvSpPr>
          <p:nvPr/>
        </p:nvSpPr>
        <p:spPr>
          <a:xfrm>
            <a:off x="323528" y="692696"/>
            <a:ext cx="2808312"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ko-KR" altLang="en-US" sz="1700" b="1" i="0" u="none" strike="noStrike" kern="1200" cap="none" spc="-50" normalizeH="0" baseline="0" noProof="0" dirty="0">
                <a:ln>
                  <a:noFill/>
                </a:ln>
                <a:solidFill>
                  <a:schemeClr val="bg1"/>
                </a:solidFill>
                <a:effectLst/>
                <a:uLnTx/>
                <a:uFillTx/>
                <a:latin typeface="+mn-ea"/>
                <a:cs typeface="+mj-cs"/>
              </a:rPr>
              <a:t>프로젝트 소개</a:t>
            </a:r>
          </a:p>
        </p:txBody>
      </p:sp>
      <p:pic>
        <p:nvPicPr>
          <p:cNvPr id="6" name="Picture 2">
            <a:extLst>
              <a:ext uri="{FF2B5EF4-FFF2-40B4-BE49-F238E27FC236}">
                <a16:creationId xmlns:a16="http://schemas.microsoft.com/office/drawing/2014/main" id="{F0653A18-98E3-646A-646C-AC8510803C64}"/>
              </a:ext>
            </a:extLst>
          </p:cNvPr>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7" name="막힌 원호 31">
            <a:extLst>
              <a:ext uri="{FF2B5EF4-FFF2-40B4-BE49-F238E27FC236}">
                <a16:creationId xmlns:a16="http://schemas.microsoft.com/office/drawing/2014/main" id="{26C4D0D1-F555-1B28-D333-86947B90B75C}"/>
              </a:ext>
            </a:extLst>
          </p:cNvPr>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8" name="그림 7">
            <a:extLst>
              <a:ext uri="{FF2B5EF4-FFF2-40B4-BE49-F238E27FC236}">
                <a16:creationId xmlns:a16="http://schemas.microsoft.com/office/drawing/2014/main" id="{B7F88A4C-A2A8-17A6-B4F8-1485D7589558}"/>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0BB803E8-B66B-4CAB-A7FA-6A6D32F2BB97}"/>
              </a:ext>
            </a:extLst>
          </p:cNvPr>
          <p:cNvSpPr txBox="1"/>
          <p:nvPr/>
        </p:nvSpPr>
        <p:spPr>
          <a:xfrm>
            <a:off x="8440376" y="6311016"/>
            <a:ext cx="617754" cy="390620"/>
          </a:xfrm>
          <a:prstGeom prst="rect">
            <a:avLst/>
          </a:prstGeom>
          <a:noFill/>
        </p:spPr>
        <p:txBody>
          <a:bodyPr wrap="square">
            <a:spAutoFit/>
          </a:bodyPr>
          <a:lstStyle/>
          <a:p>
            <a:r>
              <a:rPr lang="en-US" altLang="ko-KR" sz="969"/>
              <a:t>&lt; 1 / 1 &gt;</a:t>
            </a:r>
            <a:endParaRPr lang="ko-KR" altLang="en-US" sz="1662"/>
          </a:p>
        </p:txBody>
      </p:sp>
      <p:pic>
        <p:nvPicPr>
          <p:cNvPr id="7" name="Picture 0">
            <a:extLst>
              <a:ext uri="{FF2B5EF4-FFF2-40B4-BE49-F238E27FC236}">
                <a16:creationId xmlns:a16="http://schemas.microsoft.com/office/drawing/2014/main" id="{605C9BB6-4E72-458C-9824-E2ABB039B155}"/>
              </a:ext>
            </a:extLst>
          </p:cNvPr>
          <p:cNvPicPr>
            <a:picLocks noChangeAspect="1"/>
          </p:cNvPicPr>
          <p:nvPr/>
        </p:nvPicPr>
        <p:blipFill>
          <a:blip r:embed="rId2"/>
          <a:stretch>
            <a:fillRect/>
          </a:stretch>
        </p:blipFill>
        <p:spPr>
          <a:xfrm>
            <a:off x="3779912" y="2276872"/>
            <a:ext cx="4994328" cy="3521204"/>
          </a:xfrm>
          <a:prstGeom prst="rect">
            <a:avLst/>
          </a:prstGeom>
          <a:noFill/>
          <a:ln>
            <a:noFill/>
          </a:ln>
          <a:effectLst/>
        </p:spPr>
      </p:pic>
      <p:pic>
        <p:nvPicPr>
          <p:cNvPr id="8" name="Picture 1">
            <a:extLst>
              <a:ext uri="{FF2B5EF4-FFF2-40B4-BE49-F238E27FC236}">
                <a16:creationId xmlns:a16="http://schemas.microsoft.com/office/drawing/2014/main" id="{961679FF-2530-4C13-A9F0-6540734A80F3}"/>
              </a:ext>
            </a:extLst>
          </p:cNvPr>
          <p:cNvPicPr>
            <a:picLocks noChangeAspect="1"/>
          </p:cNvPicPr>
          <p:nvPr/>
        </p:nvPicPr>
        <p:blipFill>
          <a:blip r:embed="rId3"/>
          <a:srcRect b="1"/>
          <a:stretch>
            <a:fillRect/>
          </a:stretch>
        </p:blipFill>
        <p:spPr>
          <a:xfrm>
            <a:off x="134092" y="2691748"/>
            <a:ext cx="3354448" cy="2691451"/>
          </a:xfrm>
          <a:prstGeom prst="rect">
            <a:avLst/>
          </a:prstGeom>
          <a:noFill/>
          <a:ln>
            <a:noFill/>
          </a:ln>
          <a:effectLst/>
        </p:spPr>
      </p:pic>
      <p:pic>
        <p:nvPicPr>
          <p:cNvPr id="9" name="Picture 2" descr="파워포인트에 사용할 넓은 화살표 : 네이버 블로그">
            <a:extLst>
              <a:ext uri="{FF2B5EF4-FFF2-40B4-BE49-F238E27FC236}">
                <a16:creationId xmlns:a16="http://schemas.microsoft.com/office/drawing/2014/main" id="{C761DCE7-BBAE-4AAA-A355-3EAB02C668D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5400000">
            <a:off x="2845541" y="4002502"/>
            <a:ext cx="982415" cy="429807"/>
          </a:xfrm>
          <a:prstGeom prst="rect">
            <a:avLst/>
          </a:prstGeom>
          <a:noFill/>
          <a:extLst>
            <a:ext uri="{909E8E84-426E-40DD-AFC4-6F175D3DCCD1}">
              <a14:hiddenFill xmlns:a14="http://schemas.microsoft.com/office/drawing/2010/main">
                <a:solidFill>
                  <a:srgbClr val="FFFFFF"/>
                </a:solidFill>
              </a14:hiddenFill>
            </a:ext>
          </a:extLst>
        </p:spPr>
      </p:pic>
      <p:sp>
        <p:nvSpPr>
          <p:cNvPr id="2" name="직사각형 1">
            <a:extLst>
              <a:ext uri="{FF2B5EF4-FFF2-40B4-BE49-F238E27FC236}">
                <a16:creationId xmlns:a16="http://schemas.microsoft.com/office/drawing/2014/main" id="{CCEBFAB0-B492-90A9-7810-8A295A3FAF0D}"/>
              </a:ext>
            </a:extLst>
          </p:cNvPr>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 name="직선 연결선 21">
            <a:extLst>
              <a:ext uri="{FF2B5EF4-FFF2-40B4-BE49-F238E27FC236}">
                <a16:creationId xmlns:a16="http://schemas.microsoft.com/office/drawing/2014/main" id="{57CDC681-C647-99E2-0AB4-73FDA436B6A8}"/>
              </a:ext>
            </a:extLst>
          </p:cNvPr>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 name="직선 연결선 24">
            <a:extLst>
              <a:ext uri="{FF2B5EF4-FFF2-40B4-BE49-F238E27FC236}">
                <a16:creationId xmlns:a16="http://schemas.microsoft.com/office/drawing/2014/main" id="{51BCF467-46CC-1B2A-95E9-BD8C0460EEF4}"/>
              </a:ext>
            </a:extLst>
          </p:cNvPr>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5" name="제목 12">
            <a:extLst>
              <a:ext uri="{FF2B5EF4-FFF2-40B4-BE49-F238E27FC236}">
                <a16:creationId xmlns:a16="http://schemas.microsoft.com/office/drawing/2014/main" id="{6BEABB9B-335D-6B2A-73AF-D9EFDB5751FF}"/>
              </a:ext>
            </a:extLst>
          </p:cNvPr>
          <p:cNvSpPr txBox="1">
            <a:spLocks/>
          </p:cNvSpPr>
          <p:nvPr/>
        </p:nvSpPr>
        <p:spPr>
          <a:xfrm>
            <a:off x="323528" y="692696"/>
            <a:ext cx="2808312"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ko-KR" altLang="en-US" sz="1700" b="1" i="0" u="none" strike="noStrike" kern="1200" cap="none" spc="-50" normalizeH="0" baseline="0" noProof="0" dirty="0">
                <a:ln>
                  <a:noFill/>
                </a:ln>
                <a:solidFill>
                  <a:schemeClr val="bg1"/>
                </a:solidFill>
                <a:effectLst/>
                <a:uLnTx/>
                <a:uFillTx/>
                <a:latin typeface="+mn-ea"/>
                <a:cs typeface="+mj-cs"/>
              </a:rPr>
              <a:t>프로젝트 소개</a:t>
            </a:r>
          </a:p>
        </p:txBody>
      </p:sp>
      <p:pic>
        <p:nvPicPr>
          <p:cNvPr id="6" name="Picture 2">
            <a:extLst>
              <a:ext uri="{FF2B5EF4-FFF2-40B4-BE49-F238E27FC236}">
                <a16:creationId xmlns:a16="http://schemas.microsoft.com/office/drawing/2014/main" id="{8053CA5F-B8D0-9D14-B4E3-DB2CF00CE5BF}"/>
              </a:ext>
            </a:extLst>
          </p:cNvPr>
          <p:cNvPicPr>
            <a:picLocks noChangeAspect="1" noChangeArrowheads="1"/>
          </p:cNvPicPr>
          <p:nvPr/>
        </p:nvPicPr>
        <p:blipFill>
          <a:blip r:embed="rId5" cstate="print"/>
          <a:srcRect/>
          <a:stretch>
            <a:fillRect/>
          </a:stretch>
        </p:blipFill>
        <p:spPr bwMode="auto">
          <a:xfrm>
            <a:off x="8676456" y="476671"/>
            <a:ext cx="454960" cy="158965"/>
          </a:xfrm>
          <a:prstGeom prst="rect">
            <a:avLst/>
          </a:prstGeom>
          <a:noFill/>
          <a:ln w="9525">
            <a:noFill/>
            <a:miter lim="800000"/>
            <a:headEnd/>
            <a:tailEnd/>
          </a:ln>
        </p:spPr>
      </p:pic>
      <p:sp>
        <p:nvSpPr>
          <p:cNvPr id="10" name="막힌 원호 31">
            <a:extLst>
              <a:ext uri="{FF2B5EF4-FFF2-40B4-BE49-F238E27FC236}">
                <a16:creationId xmlns:a16="http://schemas.microsoft.com/office/drawing/2014/main" id="{50CCE34D-2FBC-3670-F80B-EB5C7107F1E4}"/>
              </a:ext>
            </a:extLst>
          </p:cNvPr>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11" name="그림 10">
            <a:extLst>
              <a:ext uri="{FF2B5EF4-FFF2-40B4-BE49-F238E27FC236}">
                <a16:creationId xmlns:a16="http://schemas.microsoft.com/office/drawing/2014/main" id="{3F62D43E-E914-07BF-1A35-0E5CE90BC87D}"/>
              </a:ext>
            </a:extLst>
          </p:cNvPr>
          <p:cNvPicPr>
            <a:picLocks noChangeAspect="1"/>
          </p:cNvPicPr>
          <p:nvPr/>
        </p:nvPicPr>
        <p:blipFill>
          <a:blip r:embed="rId6"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Tree>
    <p:extLst>
      <p:ext uri="{BB962C8B-B14F-4D97-AF65-F5344CB8AC3E}">
        <p14:creationId xmlns:p14="http://schemas.microsoft.com/office/powerpoint/2010/main" val="992320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표 4">
            <a:extLst>
              <a:ext uri="{FF2B5EF4-FFF2-40B4-BE49-F238E27FC236}">
                <a16:creationId xmlns:a16="http://schemas.microsoft.com/office/drawing/2014/main" id="{4A8E3B76-0A7E-4F17-9181-CD8E40064BF0}"/>
              </a:ext>
            </a:extLst>
          </p:cNvPr>
          <p:cNvGraphicFramePr>
            <a:graphicFrameLocks noGrp="1"/>
          </p:cNvGraphicFramePr>
          <p:nvPr>
            <p:extLst>
              <p:ext uri="{D42A27DB-BD31-4B8C-83A1-F6EECF244321}">
                <p14:modId xmlns:p14="http://schemas.microsoft.com/office/powerpoint/2010/main" val="778924420"/>
              </p:ext>
            </p:extLst>
          </p:nvPr>
        </p:nvGraphicFramePr>
        <p:xfrm>
          <a:off x="289416" y="4252402"/>
          <a:ext cx="8409197" cy="1757440"/>
        </p:xfrm>
        <a:graphic>
          <a:graphicData uri="http://schemas.openxmlformats.org/drawingml/2006/table">
            <a:tbl>
              <a:tblPr firstRow="1" bandRow="1">
                <a:tableStyleId>{5C22544A-7EE6-4342-B048-85BDC9FD1C3A}</a:tableStyleId>
              </a:tblPr>
              <a:tblGrid>
                <a:gridCol w="1970201">
                  <a:extLst>
                    <a:ext uri="{9D8B030D-6E8A-4147-A177-3AD203B41FA5}">
                      <a16:colId xmlns:a16="http://schemas.microsoft.com/office/drawing/2014/main" val="1624285504"/>
                    </a:ext>
                  </a:extLst>
                </a:gridCol>
                <a:gridCol w="3359055">
                  <a:extLst>
                    <a:ext uri="{9D8B030D-6E8A-4147-A177-3AD203B41FA5}">
                      <a16:colId xmlns:a16="http://schemas.microsoft.com/office/drawing/2014/main" val="688804388"/>
                    </a:ext>
                  </a:extLst>
                </a:gridCol>
                <a:gridCol w="913818">
                  <a:extLst>
                    <a:ext uri="{9D8B030D-6E8A-4147-A177-3AD203B41FA5}">
                      <a16:colId xmlns:a16="http://schemas.microsoft.com/office/drawing/2014/main" val="628126029"/>
                    </a:ext>
                  </a:extLst>
                </a:gridCol>
                <a:gridCol w="2166123">
                  <a:extLst>
                    <a:ext uri="{9D8B030D-6E8A-4147-A177-3AD203B41FA5}">
                      <a16:colId xmlns:a16="http://schemas.microsoft.com/office/drawing/2014/main" val="1975919213"/>
                    </a:ext>
                  </a:extLst>
                </a:gridCol>
              </a:tblGrid>
              <a:tr h="351488">
                <a:tc>
                  <a:txBody>
                    <a:bodyPr/>
                    <a:lstStyle/>
                    <a:p>
                      <a:pPr algn="ctr" latinLnBrk="1"/>
                      <a:r>
                        <a:rPr lang="ko-KR" altLang="en-US" sz="900" dirty="0">
                          <a:solidFill>
                            <a:schemeClr val="tx1"/>
                          </a:solidFill>
                        </a:rPr>
                        <a:t>구분</a:t>
                      </a:r>
                    </a:p>
                  </a:txBody>
                  <a:tcPr marL="68580" marR="68580" marT="34290" marB="3429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latinLnBrk="1"/>
                      <a:r>
                        <a:rPr lang="ko-KR" altLang="en-US" sz="900" b="1" kern="1200">
                          <a:solidFill>
                            <a:schemeClr val="tx1"/>
                          </a:solidFill>
                          <a:latin typeface="+mn-lt"/>
                          <a:ea typeface="+mn-ea"/>
                          <a:cs typeface="+mn-cs"/>
                        </a:rPr>
                        <a:t>세부 항목</a:t>
                      </a:r>
                    </a:p>
                  </a:txBody>
                  <a:tcPr marL="68580" marR="68580" marT="34290" marB="3429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latinLnBrk="1"/>
                      <a:r>
                        <a:rPr lang="ko-KR" altLang="en-US" sz="900" b="1" kern="1200">
                          <a:solidFill>
                            <a:schemeClr val="tx1"/>
                          </a:solidFill>
                          <a:latin typeface="+mn-lt"/>
                          <a:ea typeface="+mn-ea"/>
                          <a:cs typeface="+mn-cs"/>
                        </a:rPr>
                        <a:t>담당자</a:t>
                      </a:r>
                    </a:p>
                  </a:txBody>
                  <a:tcPr marL="68580" marR="68580" marT="34290" marB="3429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latinLnBrk="1"/>
                      <a:r>
                        <a:rPr lang="ko-KR" altLang="en-US" sz="900" b="1" kern="1200">
                          <a:solidFill>
                            <a:schemeClr val="tx1"/>
                          </a:solidFill>
                          <a:latin typeface="+mn-lt"/>
                          <a:ea typeface="+mn-ea"/>
                          <a:cs typeface="+mn-cs"/>
                        </a:rPr>
                        <a:t>비고</a:t>
                      </a:r>
                    </a:p>
                  </a:txBody>
                  <a:tcPr marL="68580" marR="68580" marT="34290" marB="3429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28761462"/>
                  </a:ext>
                </a:extLst>
              </a:tr>
              <a:tr h="351488">
                <a:tc>
                  <a:txBody>
                    <a:bodyPr/>
                    <a:lstStyle/>
                    <a:p>
                      <a:pPr latinLnBrk="1"/>
                      <a:r>
                        <a:rPr lang="en-US" altLang="ko-KR" sz="900"/>
                        <a:t>PCB </a:t>
                      </a:r>
                      <a:r>
                        <a:rPr lang="ko-KR" altLang="en-US" sz="900"/>
                        <a:t>회로 설계 및 개발 </a:t>
                      </a:r>
                    </a:p>
                  </a:txBody>
                  <a:tcPr marL="68580" marR="68580" marT="34290" marB="3429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atinLnBrk="1"/>
                      <a:r>
                        <a:rPr lang="en-US" altLang="ko-KR" sz="900" kern="1200">
                          <a:solidFill>
                            <a:schemeClr val="dk1"/>
                          </a:solidFill>
                          <a:latin typeface="+mn-lt"/>
                          <a:ea typeface="+mn-ea"/>
                          <a:cs typeface="+mn-cs"/>
                        </a:rPr>
                        <a:t>Ki-cad </a:t>
                      </a:r>
                      <a:r>
                        <a:rPr lang="ko-KR" altLang="en-US" sz="900" kern="1200">
                          <a:solidFill>
                            <a:schemeClr val="dk1"/>
                          </a:solidFill>
                          <a:latin typeface="+mn-lt"/>
                          <a:ea typeface="+mn-ea"/>
                          <a:cs typeface="+mn-cs"/>
                        </a:rPr>
                        <a:t>기반 </a:t>
                      </a:r>
                      <a:r>
                        <a:rPr lang="en-US" altLang="ko-KR" sz="900" kern="1200">
                          <a:solidFill>
                            <a:schemeClr val="dk1"/>
                          </a:solidFill>
                          <a:latin typeface="+mn-lt"/>
                          <a:ea typeface="+mn-ea"/>
                          <a:cs typeface="+mn-cs"/>
                        </a:rPr>
                        <a:t>PCB </a:t>
                      </a:r>
                      <a:r>
                        <a:rPr lang="ko-KR" altLang="en-US" sz="900" kern="1200">
                          <a:solidFill>
                            <a:schemeClr val="dk1"/>
                          </a:solidFill>
                          <a:latin typeface="+mn-lt"/>
                          <a:ea typeface="+mn-ea"/>
                          <a:cs typeface="+mn-cs"/>
                        </a:rPr>
                        <a:t>설계</a:t>
                      </a:r>
                      <a:r>
                        <a:rPr lang="en-US" altLang="ko-KR" sz="900" kern="1200">
                          <a:solidFill>
                            <a:schemeClr val="dk1"/>
                          </a:solidFill>
                          <a:latin typeface="+mn-lt"/>
                          <a:ea typeface="+mn-ea"/>
                          <a:cs typeface="+mn-cs"/>
                        </a:rPr>
                        <a:t>, art-works, </a:t>
                      </a:r>
                      <a:r>
                        <a:rPr lang="ko-KR" altLang="en-US" sz="900" kern="1200">
                          <a:solidFill>
                            <a:schemeClr val="dk1"/>
                          </a:solidFill>
                          <a:latin typeface="+mn-lt"/>
                          <a:ea typeface="+mn-ea"/>
                          <a:cs typeface="+mn-cs"/>
                        </a:rPr>
                        <a:t>시뮬레이터 및 테스트</a:t>
                      </a:r>
                    </a:p>
                  </a:txBody>
                  <a:tcPr marL="68580" marR="68580" marT="34290" marB="3429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r>
                        <a:rPr lang="ko-KR" altLang="en-US" sz="900" kern="1200">
                          <a:solidFill>
                            <a:schemeClr val="dk1"/>
                          </a:solidFill>
                          <a:latin typeface="+mn-lt"/>
                          <a:ea typeface="+mn-ea"/>
                          <a:cs typeface="+mn-cs"/>
                        </a:rPr>
                        <a:t>김경모 </a:t>
                      </a:r>
                    </a:p>
                  </a:txBody>
                  <a:tcPr marL="68580" marR="68580" marT="34290" marB="3429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endParaRPr lang="ko-KR" altLang="en-US" sz="900" u="sng" kern="1200" dirty="0">
                        <a:solidFill>
                          <a:srgbClr val="0000CC"/>
                        </a:solidFill>
                        <a:latin typeface="+mn-lt"/>
                        <a:ea typeface="+mn-ea"/>
                        <a:cs typeface="+mn-cs"/>
                      </a:endParaRPr>
                    </a:p>
                  </a:txBody>
                  <a:tcPr marL="68580" marR="68580" marT="34290" marB="3429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87147873"/>
                  </a:ext>
                </a:extLst>
              </a:tr>
              <a:tr h="351488">
                <a:tc>
                  <a:txBody>
                    <a:bodyPr/>
                    <a:lstStyle/>
                    <a:p>
                      <a:pPr latinLnBrk="1"/>
                      <a:r>
                        <a:rPr lang="ko-KR" altLang="en-US" sz="900" dirty="0"/>
                        <a:t>데이터 수집 및 파이프라인 구축</a:t>
                      </a:r>
                    </a:p>
                  </a:txBody>
                  <a:tcPr marL="68580" marR="68580" marT="34290" marB="3429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atinLnBrk="1"/>
                      <a:r>
                        <a:rPr lang="ko-KR" altLang="en-US" sz="900" kern="1200">
                          <a:solidFill>
                            <a:schemeClr val="dk1"/>
                          </a:solidFill>
                          <a:latin typeface="+mn-lt"/>
                          <a:ea typeface="+mn-ea"/>
                          <a:cs typeface="+mn-cs"/>
                        </a:rPr>
                        <a:t>라즈베리파이</a:t>
                      </a:r>
                      <a:r>
                        <a:rPr lang="en-US" altLang="ko-KR" sz="900" kern="1200">
                          <a:solidFill>
                            <a:schemeClr val="dk1"/>
                          </a:solidFill>
                          <a:latin typeface="+mn-lt"/>
                          <a:ea typeface="+mn-ea"/>
                          <a:cs typeface="+mn-cs"/>
                        </a:rPr>
                        <a:t>, Apache Kafka, PostgreSQL DB, </a:t>
                      </a:r>
                      <a:r>
                        <a:rPr lang="ko-KR" altLang="en-US" sz="900" kern="1200">
                          <a:solidFill>
                            <a:schemeClr val="dk1"/>
                          </a:solidFill>
                          <a:latin typeface="+mn-lt"/>
                          <a:ea typeface="+mn-ea"/>
                          <a:cs typeface="+mn-cs"/>
                        </a:rPr>
                        <a:t>웹서버</a:t>
                      </a:r>
                    </a:p>
                  </a:txBody>
                  <a:tcPr marL="68580" marR="68580" marT="34290" marB="3429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r>
                        <a:rPr lang="ko-KR" altLang="en-US" sz="900" kern="1200">
                          <a:solidFill>
                            <a:schemeClr val="dk1"/>
                          </a:solidFill>
                          <a:latin typeface="+mn-lt"/>
                          <a:ea typeface="+mn-ea"/>
                          <a:cs typeface="+mn-cs"/>
                        </a:rPr>
                        <a:t>김근우</a:t>
                      </a:r>
                      <a:endParaRPr lang="en-US" altLang="ko-KR" sz="900" kern="1200">
                        <a:solidFill>
                          <a:schemeClr val="dk1"/>
                        </a:solidFill>
                        <a:latin typeface="+mn-lt"/>
                        <a:ea typeface="+mn-ea"/>
                        <a:cs typeface="+mn-cs"/>
                      </a:endParaRPr>
                    </a:p>
                    <a:p>
                      <a:pPr algn="ctr" latinLnBrk="1"/>
                      <a:r>
                        <a:rPr lang="en-US" altLang="ko-KR" sz="900" kern="1200">
                          <a:solidFill>
                            <a:schemeClr val="dk1"/>
                          </a:solidFill>
                          <a:latin typeface="+mn-lt"/>
                          <a:ea typeface="+mn-ea"/>
                          <a:cs typeface="+mn-cs"/>
                        </a:rPr>
                        <a:t>(</a:t>
                      </a:r>
                      <a:r>
                        <a:rPr lang="ko-KR" altLang="en-US" sz="900" kern="1200">
                          <a:solidFill>
                            <a:schemeClr val="dk1"/>
                          </a:solidFill>
                          <a:latin typeface="+mn-lt"/>
                          <a:ea typeface="+mn-ea"/>
                          <a:cs typeface="+mn-cs"/>
                        </a:rPr>
                        <a:t>정재환</a:t>
                      </a:r>
                      <a:r>
                        <a:rPr lang="en-US" altLang="ko-KR" sz="900" kern="1200">
                          <a:solidFill>
                            <a:schemeClr val="dk1"/>
                          </a:solidFill>
                          <a:latin typeface="+mn-lt"/>
                          <a:ea typeface="+mn-ea"/>
                          <a:cs typeface="+mn-cs"/>
                        </a:rPr>
                        <a:t>)</a:t>
                      </a:r>
                      <a:endParaRPr lang="ko-KR" altLang="en-US" sz="900" kern="1200">
                        <a:solidFill>
                          <a:schemeClr val="dk1"/>
                        </a:solidFill>
                        <a:latin typeface="+mn-lt"/>
                        <a:ea typeface="+mn-ea"/>
                        <a:cs typeface="+mn-cs"/>
                      </a:endParaRPr>
                    </a:p>
                  </a:txBody>
                  <a:tcPr marL="68580" marR="68580" marT="34290" marB="3429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endParaRPr lang="ko-KR" altLang="en-US" sz="900" kern="1200">
                        <a:solidFill>
                          <a:schemeClr val="dk1"/>
                        </a:solidFill>
                        <a:latin typeface="+mn-lt"/>
                        <a:ea typeface="+mn-ea"/>
                        <a:cs typeface="+mn-cs"/>
                      </a:endParaRPr>
                    </a:p>
                  </a:txBody>
                  <a:tcPr marL="68580" marR="68580" marT="34290" marB="3429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59742376"/>
                  </a:ext>
                </a:extLst>
              </a:tr>
              <a:tr h="351488">
                <a:tc>
                  <a:txBody>
                    <a:bodyPr/>
                    <a:lstStyle/>
                    <a:p>
                      <a:pPr latinLnBrk="1"/>
                      <a:r>
                        <a:rPr lang="ko-KR" altLang="en-US" sz="900"/>
                        <a:t>열폭주 이상 징후 </a:t>
                      </a:r>
                      <a:r>
                        <a:rPr lang="en-US" altLang="ko-KR" sz="900"/>
                        <a:t>AI  </a:t>
                      </a:r>
                      <a:r>
                        <a:rPr lang="ko-KR" altLang="en-US" sz="900"/>
                        <a:t>모델 구현 </a:t>
                      </a:r>
                    </a:p>
                  </a:txBody>
                  <a:tcPr marL="68580" marR="68580" marT="34290" marB="3429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atinLnBrk="1"/>
                      <a:r>
                        <a:rPr lang="en-US" altLang="ko-KR" sz="900" kern="1200" dirty="0">
                          <a:solidFill>
                            <a:schemeClr val="dk1"/>
                          </a:solidFill>
                          <a:latin typeface="+mn-lt"/>
                          <a:ea typeface="+mn-ea"/>
                          <a:cs typeface="+mn-cs"/>
                        </a:rPr>
                        <a:t>Auto-Encoder or </a:t>
                      </a:r>
                      <a:r>
                        <a:rPr lang="ko-KR" altLang="en-US" sz="900" kern="1200" dirty="0">
                          <a:solidFill>
                            <a:schemeClr val="dk1"/>
                          </a:solidFill>
                          <a:latin typeface="+mn-lt"/>
                          <a:ea typeface="+mn-ea"/>
                          <a:cs typeface="+mn-cs"/>
                        </a:rPr>
                        <a:t>기타 딥러닝 알고리즘 튜닝을 통한 모델 구현</a:t>
                      </a:r>
                    </a:p>
                  </a:txBody>
                  <a:tcPr marL="68580" marR="68580" marT="34290" marB="3429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r>
                        <a:rPr lang="ko-KR" altLang="en-US" sz="900" kern="1200">
                          <a:solidFill>
                            <a:schemeClr val="dk1"/>
                          </a:solidFill>
                          <a:latin typeface="+mn-lt"/>
                          <a:ea typeface="+mn-ea"/>
                          <a:cs typeface="+mn-cs"/>
                        </a:rPr>
                        <a:t>서민기</a:t>
                      </a:r>
                    </a:p>
                  </a:txBody>
                  <a:tcPr marL="68580" marR="68580" marT="34290" marB="3429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endParaRPr lang="ko-KR" altLang="en-US" sz="900" kern="1200">
                        <a:solidFill>
                          <a:schemeClr val="dk1"/>
                        </a:solidFill>
                        <a:latin typeface="+mn-lt"/>
                        <a:ea typeface="+mn-ea"/>
                        <a:cs typeface="+mn-cs"/>
                      </a:endParaRPr>
                    </a:p>
                  </a:txBody>
                  <a:tcPr marL="68580" marR="68580" marT="34290" marB="3429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8334118"/>
                  </a:ext>
                </a:extLst>
              </a:tr>
              <a:tr h="351488">
                <a:tc>
                  <a:txBody>
                    <a:bodyPr/>
                    <a:lstStyle/>
                    <a:p>
                      <a:pPr latinLnBrk="1"/>
                      <a:r>
                        <a:rPr lang="ko-KR" altLang="en-US" sz="900"/>
                        <a:t>웹 모니터링 및 통계 대시보드 </a:t>
                      </a:r>
                    </a:p>
                  </a:txBody>
                  <a:tcPr marL="68580" marR="68580" marT="34290" marB="3429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latinLnBrk="1">
                        <a:buFont typeface="Arial" panose="020B0604020202020204" pitchFamily="34" charset="0"/>
                        <a:buChar char="•"/>
                      </a:pPr>
                      <a:r>
                        <a:rPr lang="en-US" altLang="ko-KR" sz="900" kern="1200" dirty="0">
                          <a:solidFill>
                            <a:schemeClr val="dk1"/>
                          </a:solidFill>
                          <a:latin typeface="+mn-lt"/>
                          <a:ea typeface="+mn-ea"/>
                          <a:cs typeface="+mn-cs"/>
                        </a:rPr>
                        <a:t>React(</a:t>
                      </a:r>
                      <a:r>
                        <a:rPr lang="en-US" altLang="ko-KR" sz="900" kern="1200" dirty="0" err="1">
                          <a:solidFill>
                            <a:schemeClr val="dk1"/>
                          </a:solidFill>
                          <a:latin typeface="+mn-lt"/>
                          <a:ea typeface="+mn-ea"/>
                          <a:cs typeface="+mn-cs"/>
                        </a:rPr>
                        <a:t>javascript</a:t>
                      </a:r>
                      <a:r>
                        <a:rPr lang="en-US" altLang="ko-KR" sz="900" kern="1200" dirty="0">
                          <a:solidFill>
                            <a:schemeClr val="dk1"/>
                          </a:solidFill>
                          <a:latin typeface="+mn-lt"/>
                          <a:ea typeface="+mn-ea"/>
                          <a:cs typeface="+mn-cs"/>
                        </a:rPr>
                        <a:t>) + </a:t>
                      </a:r>
                      <a:r>
                        <a:rPr lang="en-US" altLang="ko-KR" sz="900" kern="1200" dirty="0" err="1">
                          <a:solidFill>
                            <a:schemeClr val="dk1"/>
                          </a:solidFill>
                          <a:latin typeface="+mn-lt"/>
                          <a:ea typeface="+mn-ea"/>
                          <a:cs typeface="+mn-cs"/>
                        </a:rPr>
                        <a:t>Springboot</a:t>
                      </a:r>
                      <a:endParaRPr lang="en-US" altLang="ko-KR" sz="900" kern="1200" dirty="0">
                        <a:solidFill>
                          <a:schemeClr val="dk1"/>
                        </a:solidFill>
                        <a:latin typeface="+mn-lt"/>
                        <a:ea typeface="+mn-ea"/>
                        <a:cs typeface="+mn-cs"/>
                      </a:endParaRPr>
                    </a:p>
                  </a:txBody>
                  <a:tcPr marL="68580" marR="68580" marT="34290" marB="3429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r>
                        <a:rPr lang="ko-KR" altLang="en-US" sz="900" kern="1200">
                          <a:solidFill>
                            <a:schemeClr val="dk1"/>
                          </a:solidFill>
                          <a:latin typeface="+mn-lt"/>
                          <a:ea typeface="+mn-ea"/>
                          <a:cs typeface="+mn-cs"/>
                        </a:rPr>
                        <a:t>정재환</a:t>
                      </a:r>
                    </a:p>
                  </a:txBody>
                  <a:tcPr marL="68580" marR="68580" marT="34290" marB="3429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endParaRPr lang="ko-KR" altLang="en-US" sz="900" kern="1200" dirty="0">
                        <a:solidFill>
                          <a:schemeClr val="dk1"/>
                        </a:solidFill>
                        <a:latin typeface="+mn-lt"/>
                        <a:ea typeface="+mn-ea"/>
                        <a:cs typeface="+mn-cs"/>
                      </a:endParaRPr>
                    </a:p>
                  </a:txBody>
                  <a:tcPr marL="68580" marR="68580" marT="34290" marB="3429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71435039"/>
                  </a:ext>
                </a:extLst>
              </a:tr>
            </a:tbl>
          </a:graphicData>
        </a:graphic>
      </p:graphicFrame>
      <p:sp>
        <p:nvSpPr>
          <p:cNvPr id="20" name="TextBox 19">
            <a:extLst>
              <a:ext uri="{FF2B5EF4-FFF2-40B4-BE49-F238E27FC236}">
                <a16:creationId xmlns:a16="http://schemas.microsoft.com/office/drawing/2014/main" id="{0BB803E8-B66B-4CAB-A7FA-6A6D32F2BB97}"/>
              </a:ext>
            </a:extLst>
          </p:cNvPr>
          <p:cNvSpPr txBox="1"/>
          <p:nvPr/>
        </p:nvSpPr>
        <p:spPr>
          <a:xfrm>
            <a:off x="8440376" y="6311016"/>
            <a:ext cx="617754" cy="390620"/>
          </a:xfrm>
          <a:prstGeom prst="rect">
            <a:avLst/>
          </a:prstGeom>
          <a:noFill/>
        </p:spPr>
        <p:txBody>
          <a:bodyPr wrap="square">
            <a:spAutoFit/>
          </a:bodyPr>
          <a:lstStyle/>
          <a:p>
            <a:r>
              <a:rPr lang="en-US" altLang="ko-KR" sz="969"/>
              <a:t>&lt; 1 / 1 &gt;</a:t>
            </a:r>
            <a:endParaRPr lang="ko-KR" altLang="en-US" sz="1662"/>
          </a:p>
        </p:txBody>
      </p:sp>
      <p:pic>
        <p:nvPicPr>
          <p:cNvPr id="1026" name="Picture 2" descr="드림 팀 템플릿">
            <a:extLst>
              <a:ext uri="{FF2B5EF4-FFF2-40B4-BE49-F238E27FC236}">
                <a16:creationId xmlns:a16="http://schemas.microsoft.com/office/drawing/2014/main" id="{7F47451F-275C-4A1B-B3C1-B21E6681717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321" t="17264" r="5623" b="38093"/>
          <a:stretch/>
        </p:blipFill>
        <p:spPr bwMode="auto">
          <a:xfrm>
            <a:off x="513826" y="1484784"/>
            <a:ext cx="7960374" cy="2296184"/>
          </a:xfrm>
          <a:prstGeom prst="rect">
            <a:avLst/>
          </a:prstGeom>
          <a:noFill/>
          <a:extLst>
            <a:ext uri="{909E8E84-426E-40DD-AFC4-6F175D3DCCD1}">
              <a14:hiddenFill xmlns:a14="http://schemas.microsoft.com/office/drawing/2010/main">
                <a:solidFill>
                  <a:srgbClr val="FFFFFF"/>
                </a:solidFill>
              </a14:hiddenFill>
            </a:ext>
          </a:extLst>
        </p:spPr>
      </p:pic>
      <p:sp>
        <p:nvSpPr>
          <p:cNvPr id="2" name="직사각형 1">
            <a:extLst>
              <a:ext uri="{FF2B5EF4-FFF2-40B4-BE49-F238E27FC236}">
                <a16:creationId xmlns:a16="http://schemas.microsoft.com/office/drawing/2014/main" id="{B0B527BE-8FCA-4631-5C30-CA0F301EA6AC}"/>
              </a:ext>
            </a:extLst>
          </p:cNvPr>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 name="직선 연결선 21">
            <a:extLst>
              <a:ext uri="{FF2B5EF4-FFF2-40B4-BE49-F238E27FC236}">
                <a16:creationId xmlns:a16="http://schemas.microsoft.com/office/drawing/2014/main" id="{7B77A655-36B4-F484-3D97-50D251F9F1F3}"/>
              </a:ext>
            </a:extLst>
          </p:cNvPr>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 name="직선 연결선 24">
            <a:extLst>
              <a:ext uri="{FF2B5EF4-FFF2-40B4-BE49-F238E27FC236}">
                <a16:creationId xmlns:a16="http://schemas.microsoft.com/office/drawing/2014/main" id="{E15E597B-E077-D68F-55C8-6F538FB1DC6B}"/>
              </a:ext>
            </a:extLst>
          </p:cNvPr>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6" name="제목 12">
            <a:extLst>
              <a:ext uri="{FF2B5EF4-FFF2-40B4-BE49-F238E27FC236}">
                <a16:creationId xmlns:a16="http://schemas.microsoft.com/office/drawing/2014/main" id="{29A1AF32-C7D0-06E0-E5AB-0505C9C73F76}"/>
              </a:ext>
            </a:extLst>
          </p:cNvPr>
          <p:cNvSpPr txBox="1">
            <a:spLocks/>
          </p:cNvSpPr>
          <p:nvPr/>
        </p:nvSpPr>
        <p:spPr>
          <a:xfrm>
            <a:off x="323528" y="692696"/>
            <a:ext cx="2808312"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ko-KR" altLang="en-US" sz="1700" b="1" i="0" u="none" strike="noStrike" kern="1200" cap="none" spc="-50" normalizeH="0" baseline="0" noProof="0" dirty="0">
                <a:ln>
                  <a:noFill/>
                </a:ln>
                <a:solidFill>
                  <a:schemeClr val="bg1"/>
                </a:solidFill>
                <a:effectLst/>
                <a:uLnTx/>
                <a:uFillTx/>
                <a:latin typeface="+mn-ea"/>
                <a:cs typeface="+mj-cs"/>
              </a:rPr>
              <a:t>팀프로젝트 역할 정리</a:t>
            </a:r>
          </a:p>
        </p:txBody>
      </p:sp>
      <p:pic>
        <p:nvPicPr>
          <p:cNvPr id="7" name="Picture 2">
            <a:extLst>
              <a:ext uri="{FF2B5EF4-FFF2-40B4-BE49-F238E27FC236}">
                <a16:creationId xmlns:a16="http://schemas.microsoft.com/office/drawing/2014/main" id="{ECA96A03-70CF-24D3-399D-95520D9B85A2}"/>
              </a:ext>
            </a:extLst>
          </p:cNvPr>
          <p:cNvPicPr>
            <a:picLocks noChangeAspect="1" noChangeArrowheads="1"/>
          </p:cNvPicPr>
          <p:nvPr/>
        </p:nvPicPr>
        <p:blipFill>
          <a:blip r:embed="rId3" cstate="print"/>
          <a:srcRect/>
          <a:stretch>
            <a:fillRect/>
          </a:stretch>
        </p:blipFill>
        <p:spPr bwMode="auto">
          <a:xfrm>
            <a:off x="8676456" y="476671"/>
            <a:ext cx="454960" cy="158965"/>
          </a:xfrm>
          <a:prstGeom prst="rect">
            <a:avLst/>
          </a:prstGeom>
          <a:noFill/>
          <a:ln w="9525">
            <a:noFill/>
            <a:miter lim="800000"/>
            <a:headEnd/>
            <a:tailEnd/>
          </a:ln>
        </p:spPr>
      </p:pic>
      <p:sp>
        <p:nvSpPr>
          <p:cNvPr id="8" name="막힌 원호 31">
            <a:extLst>
              <a:ext uri="{FF2B5EF4-FFF2-40B4-BE49-F238E27FC236}">
                <a16:creationId xmlns:a16="http://schemas.microsoft.com/office/drawing/2014/main" id="{663852A3-B771-0C11-532D-248BB25CEBFC}"/>
              </a:ext>
            </a:extLst>
          </p:cNvPr>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9" name="그림 8">
            <a:extLst>
              <a:ext uri="{FF2B5EF4-FFF2-40B4-BE49-F238E27FC236}">
                <a16:creationId xmlns:a16="http://schemas.microsoft.com/office/drawing/2014/main" id="{98A41339-C66B-5578-511D-648E8BE840D1}"/>
              </a:ext>
            </a:extLst>
          </p:cNvPr>
          <p:cNvPicPr>
            <a:picLocks noChangeAspect="1"/>
          </p:cNvPicPr>
          <p:nvPr/>
        </p:nvPicPr>
        <p:blipFill>
          <a:blip r:embed="rId4"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1027" name="얼굴사진 자리1"/>
          <p:cNvSpPr/>
          <p:nvPr/>
        </p:nvSpPr>
        <p:spPr>
          <a:xfrm>
            <a:off x="801655" y="2032697"/>
            <a:ext cx="1207289" cy="1207278"/>
          </a:xfrm>
          <a:prstGeom prst="ellipse">
            <a:avLst/>
          </a:prstGeom>
          <a:solidFill>
            <a:srgbClr val="E7E7E7"/>
          </a:solidFill>
          <a:ln w="31750">
            <a:solidFill>
              <a:srgbClr val="E92D9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666666"/>
                </a:solidFill>
              </a:rPr>
              <a:t>얼굴 사진</a:t>
            </a:r>
          </a:p>
          <a:p>
            <a:pPr algn="ctr"/>
            <a:r>
              <a:rPr sz="1100" b="1">
                <a:solidFill>
                  <a:srgbClr val="666666"/>
                </a:solidFill>
              </a:rPr>
              <a:t>넣는 자리</a:t>
            </a:r>
          </a:p>
        </p:txBody>
      </p:sp>
      <p:sp>
        <p:nvSpPr>
          <p:cNvPr id="1028" name="얼굴사진 자리2"/>
          <p:cNvSpPr/>
          <p:nvPr/>
        </p:nvSpPr>
        <p:spPr>
          <a:xfrm>
            <a:off x="2809042" y="2032697"/>
            <a:ext cx="1207289" cy="1207278"/>
          </a:xfrm>
          <a:prstGeom prst="ellipse">
            <a:avLst/>
          </a:prstGeom>
          <a:solidFill>
            <a:srgbClr val="E7E7E7"/>
          </a:solidFill>
          <a:ln w="31750">
            <a:solidFill>
              <a:srgbClr val="C730C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666666"/>
                </a:solidFill>
              </a:rPr>
              <a:t>얼굴 사진</a:t>
            </a:r>
          </a:p>
          <a:p>
            <a:pPr algn="ctr"/>
            <a:r>
              <a:rPr sz="1100" b="1">
                <a:solidFill>
                  <a:srgbClr val="666666"/>
                </a:solidFill>
              </a:rPr>
              <a:t>넣는 자리</a:t>
            </a:r>
          </a:p>
        </p:txBody>
      </p:sp>
      <p:sp>
        <p:nvSpPr>
          <p:cNvPr id="1029" name="얼굴사진 자리3"/>
          <p:cNvSpPr/>
          <p:nvPr/>
        </p:nvSpPr>
        <p:spPr>
          <a:xfrm>
            <a:off x="4816429" y="2032697"/>
            <a:ext cx="1207289" cy="1207278"/>
          </a:xfrm>
          <a:prstGeom prst="ellipse">
            <a:avLst/>
          </a:prstGeom>
          <a:solidFill>
            <a:srgbClr val="E7E7E7"/>
          </a:solidFill>
          <a:ln w="31750">
            <a:solidFill>
              <a:srgbClr val="4FA6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666666"/>
                </a:solidFill>
              </a:rPr>
              <a:t>얼굴 사진</a:t>
            </a:r>
          </a:p>
          <a:p>
            <a:pPr algn="ctr"/>
            <a:r>
              <a:rPr sz="1100" b="1">
                <a:solidFill>
                  <a:srgbClr val="666666"/>
                </a:solidFill>
              </a:rPr>
              <a:t>넣는 자리</a:t>
            </a:r>
          </a:p>
        </p:txBody>
      </p:sp>
      <p:sp>
        <p:nvSpPr>
          <p:cNvPr id="1030" name="얼굴사진 자리4"/>
          <p:cNvSpPr/>
          <p:nvPr/>
        </p:nvSpPr>
        <p:spPr>
          <a:xfrm>
            <a:off x="6841675" y="2032697"/>
            <a:ext cx="1207289" cy="1207278"/>
          </a:xfrm>
          <a:prstGeom prst="ellipse">
            <a:avLst/>
          </a:prstGeom>
          <a:solidFill>
            <a:srgbClr val="E7E7E7"/>
          </a:solidFill>
          <a:ln w="31750">
            <a:solidFill>
              <a:srgbClr val="4774E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666666"/>
                </a:solidFill>
              </a:rPr>
              <a:t>얼굴 사진</a:t>
            </a:r>
          </a:p>
          <a:p>
            <a:pPr algn="ctr"/>
            <a:r>
              <a:rPr sz="1100" b="1">
                <a:solidFill>
                  <a:srgbClr val="666666"/>
                </a:solidFill>
              </a:rPr>
              <a:t>넣는 자리</a:t>
            </a:r>
          </a:p>
        </p:txBody>
      </p:sp>
    </p:spTree>
    <p:extLst>
      <p:ext uri="{BB962C8B-B14F-4D97-AF65-F5344CB8AC3E}">
        <p14:creationId xmlns:p14="http://schemas.microsoft.com/office/powerpoint/2010/main" val="726528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0BB803E8-B66B-4CAB-A7FA-6A6D32F2BB97}"/>
              </a:ext>
            </a:extLst>
          </p:cNvPr>
          <p:cNvSpPr txBox="1"/>
          <p:nvPr/>
        </p:nvSpPr>
        <p:spPr>
          <a:xfrm>
            <a:off x="8440376" y="6311016"/>
            <a:ext cx="617754" cy="390620"/>
          </a:xfrm>
          <a:prstGeom prst="rect">
            <a:avLst/>
          </a:prstGeom>
          <a:noFill/>
        </p:spPr>
        <p:txBody>
          <a:bodyPr wrap="square">
            <a:spAutoFit/>
          </a:bodyPr>
          <a:lstStyle/>
          <a:p>
            <a:r>
              <a:rPr lang="en-US" altLang="ko-KR" sz="969"/>
              <a:t>&lt; 1 / 1 &gt;</a:t>
            </a:r>
            <a:endParaRPr lang="ko-KR" altLang="en-US" sz="1662"/>
          </a:p>
        </p:txBody>
      </p:sp>
      <p:graphicFrame>
        <p:nvGraphicFramePr>
          <p:cNvPr id="21" name="Table 20"/>
          <p:cNvGraphicFramePr>
            <a:graphicFrameLocks noGrp="1"/>
          </p:cNvGraphicFramePr>
          <p:nvPr>
            <p:extLst>
              <p:ext uri="{D42A27DB-BD31-4B8C-83A1-F6EECF244321}">
                <p14:modId xmlns:p14="http://schemas.microsoft.com/office/powerpoint/2010/main" val="355977462"/>
              </p:ext>
            </p:extLst>
          </p:nvPr>
        </p:nvGraphicFramePr>
        <p:xfrm>
          <a:off x="323528" y="1525428"/>
          <a:ext cx="7982712" cy="4617720"/>
        </p:xfrm>
        <a:graphic>
          <a:graphicData uri="http://schemas.openxmlformats.org/drawingml/2006/table">
            <a:tbl>
              <a:tblPr>
                <a:tableStyleId>{5C22544A-7EE6-4342-B048-85BDC9FD1C3A}</a:tableStyleId>
              </a:tblPr>
              <a:tblGrid>
                <a:gridCol w="864096">
                  <a:extLst>
                    <a:ext uri="{9D8B030D-6E8A-4147-A177-3AD203B41FA5}">
                      <a16:colId xmlns:a16="http://schemas.microsoft.com/office/drawing/2014/main" val="20000"/>
                    </a:ext>
                  </a:extLst>
                </a:gridCol>
                <a:gridCol w="2592336">
                  <a:extLst>
                    <a:ext uri="{9D8B030D-6E8A-4147-A177-3AD203B41FA5}">
                      <a16:colId xmlns:a16="http://schemas.microsoft.com/office/drawing/2014/main" val="20001"/>
                    </a:ext>
                  </a:extLst>
                </a:gridCol>
                <a:gridCol w="429768">
                  <a:extLst>
                    <a:ext uri="{9D8B030D-6E8A-4147-A177-3AD203B41FA5}">
                      <a16:colId xmlns:a16="http://schemas.microsoft.com/office/drawing/2014/main" val="20002"/>
                    </a:ext>
                  </a:extLst>
                </a:gridCol>
                <a:gridCol w="429768">
                  <a:extLst>
                    <a:ext uri="{9D8B030D-6E8A-4147-A177-3AD203B41FA5}">
                      <a16:colId xmlns:a16="http://schemas.microsoft.com/office/drawing/2014/main" val="20003"/>
                    </a:ext>
                  </a:extLst>
                </a:gridCol>
                <a:gridCol w="429768">
                  <a:extLst>
                    <a:ext uri="{9D8B030D-6E8A-4147-A177-3AD203B41FA5}">
                      <a16:colId xmlns:a16="http://schemas.microsoft.com/office/drawing/2014/main" val="20004"/>
                    </a:ext>
                  </a:extLst>
                </a:gridCol>
                <a:gridCol w="429768">
                  <a:extLst>
                    <a:ext uri="{9D8B030D-6E8A-4147-A177-3AD203B41FA5}">
                      <a16:colId xmlns:a16="http://schemas.microsoft.com/office/drawing/2014/main" val="20005"/>
                    </a:ext>
                  </a:extLst>
                </a:gridCol>
                <a:gridCol w="429768">
                  <a:extLst>
                    <a:ext uri="{9D8B030D-6E8A-4147-A177-3AD203B41FA5}">
                      <a16:colId xmlns:a16="http://schemas.microsoft.com/office/drawing/2014/main" val="20006"/>
                    </a:ext>
                  </a:extLst>
                </a:gridCol>
                <a:gridCol w="429768">
                  <a:extLst>
                    <a:ext uri="{9D8B030D-6E8A-4147-A177-3AD203B41FA5}">
                      <a16:colId xmlns:a16="http://schemas.microsoft.com/office/drawing/2014/main" val="20007"/>
                    </a:ext>
                  </a:extLst>
                </a:gridCol>
                <a:gridCol w="429768">
                  <a:extLst>
                    <a:ext uri="{9D8B030D-6E8A-4147-A177-3AD203B41FA5}">
                      <a16:colId xmlns:a16="http://schemas.microsoft.com/office/drawing/2014/main" val="20008"/>
                    </a:ext>
                  </a:extLst>
                </a:gridCol>
                <a:gridCol w="429768">
                  <a:extLst>
                    <a:ext uri="{9D8B030D-6E8A-4147-A177-3AD203B41FA5}">
                      <a16:colId xmlns:a16="http://schemas.microsoft.com/office/drawing/2014/main" val="20009"/>
                    </a:ext>
                  </a:extLst>
                </a:gridCol>
                <a:gridCol w="429768">
                  <a:extLst>
                    <a:ext uri="{9D8B030D-6E8A-4147-A177-3AD203B41FA5}">
                      <a16:colId xmlns:a16="http://schemas.microsoft.com/office/drawing/2014/main" val="20010"/>
                    </a:ext>
                  </a:extLst>
                </a:gridCol>
                <a:gridCol w="658368">
                  <a:extLst>
                    <a:ext uri="{9D8B030D-6E8A-4147-A177-3AD203B41FA5}">
                      <a16:colId xmlns:a16="http://schemas.microsoft.com/office/drawing/2014/main" val="20011"/>
                    </a:ext>
                  </a:extLst>
                </a:gridCol>
              </a:tblGrid>
              <a:tr h="237744">
                <a:tc rowSpan="2">
                  <a:txBody>
                    <a:bodyPr/>
                    <a:lstStyle/>
                    <a:p>
                      <a:pPr algn="ctr"/>
                      <a:r>
                        <a:rPr sz="900" b="1" dirty="0" err="1">
                          <a:solidFill>
                            <a:srgbClr val="FFFFFF"/>
                          </a:solidFill>
                          <a:latin typeface="맑은 고딕"/>
                        </a:rPr>
                        <a:t>구분</a:t>
                      </a:r>
                      <a:endParaRPr sz="900" b="1" dirty="0">
                        <a:solidFill>
                          <a:srgbClr val="FFFFFF"/>
                        </a:solidFill>
                        <a:latin typeface="맑은 고딕"/>
                      </a:endParaRPr>
                    </a:p>
                  </a:txBody>
                  <a:tcPr anchor="ctr">
                    <a:solidFill>
                      <a:srgbClr val="4472C4"/>
                    </a:solidFill>
                  </a:tcPr>
                </a:tc>
                <a:tc rowSpan="2">
                  <a:txBody>
                    <a:bodyPr/>
                    <a:lstStyle/>
                    <a:p>
                      <a:pPr algn="ctr"/>
                      <a:r>
                        <a:rPr sz="900" b="1" dirty="0" err="1">
                          <a:solidFill>
                            <a:srgbClr val="FFFFFF"/>
                          </a:solidFill>
                          <a:latin typeface="맑은 고딕"/>
                        </a:rPr>
                        <a:t>추진</a:t>
                      </a:r>
                      <a:r>
                        <a:rPr sz="900" b="1" dirty="0">
                          <a:solidFill>
                            <a:srgbClr val="FFFFFF"/>
                          </a:solidFill>
                          <a:latin typeface="맑은 고딕"/>
                        </a:rPr>
                        <a:t> </a:t>
                      </a:r>
                      <a:r>
                        <a:rPr sz="900" b="1" dirty="0" err="1">
                          <a:solidFill>
                            <a:srgbClr val="FFFFFF"/>
                          </a:solidFill>
                          <a:latin typeface="맑은 고딕"/>
                        </a:rPr>
                        <a:t>내용</a:t>
                      </a:r>
                      <a:endParaRPr sz="900" b="1" dirty="0">
                        <a:solidFill>
                          <a:srgbClr val="FFFFFF"/>
                        </a:solidFill>
                        <a:latin typeface="맑은 고딕"/>
                      </a:endParaRPr>
                    </a:p>
                  </a:txBody>
                  <a:tcPr anchor="ctr">
                    <a:solidFill>
                      <a:srgbClr val="4472C4"/>
                    </a:solidFill>
                  </a:tcPr>
                </a:tc>
                <a:tc gridSpan="9">
                  <a:txBody>
                    <a:bodyPr/>
                    <a:lstStyle/>
                    <a:p>
                      <a:pPr algn="ctr"/>
                      <a:r>
                        <a:rPr sz="900" b="1">
                          <a:solidFill>
                            <a:srgbClr val="FFFFFF"/>
                          </a:solidFill>
                          <a:latin typeface="맑은 고딕"/>
                        </a:rPr>
                        <a:t>추진 일정 (2026년)</a:t>
                      </a:r>
                    </a:p>
                  </a:txBody>
                  <a:tcPr anchor="ctr">
                    <a:solidFill>
                      <a:srgbClr val="4472C4"/>
                    </a:solidFill>
                  </a:tcPr>
                </a:tc>
                <a:tc hMerge="1">
                  <a:txBody>
                    <a:bodyPr/>
                    <a:lstStyle/>
                    <a:p>
                      <a:endParaRPr/>
                    </a:p>
                  </a:txBody>
                  <a:tcPr>
                    <a:solidFill>
                      <a:srgbClr val="4472C4"/>
                    </a:solidFill>
                  </a:tcPr>
                </a:tc>
                <a:tc hMerge="1">
                  <a:txBody>
                    <a:bodyPr/>
                    <a:lstStyle/>
                    <a:p>
                      <a:endParaRPr/>
                    </a:p>
                  </a:txBody>
                  <a:tcPr>
                    <a:solidFill>
                      <a:srgbClr val="4472C4"/>
                    </a:solidFill>
                  </a:tcPr>
                </a:tc>
                <a:tc hMerge="1">
                  <a:txBody>
                    <a:bodyPr/>
                    <a:lstStyle/>
                    <a:p>
                      <a:endParaRPr/>
                    </a:p>
                  </a:txBody>
                  <a:tcPr>
                    <a:solidFill>
                      <a:srgbClr val="4472C4"/>
                    </a:solidFill>
                  </a:tcPr>
                </a:tc>
                <a:tc hMerge="1">
                  <a:txBody>
                    <a:bodyPr/>
                    <a:lstStyle/>
                    <a:p>
                      <a:endParaRPr/>
                    </a:p>
                  </a:txBody>
                  <a:tcPr>
                    <a:solidFill>
                      <a:srgbClr val="4472C4"/>
                    </a:solidFill>
                  </a:tcPr>
                </a:tc>
                <a:tc hMerge="1">
                  <a:txBody>
                    <a:bodyPr/>
                    <a:lstStyle/>
                    <a:p>
                      <a:endParaRPr/>
                    </a:p>
                  </a:txBody>
                  <a:tcPr>
                    <a:solidFill>
                      <a:srgbClr val="4472C4"/>
                    </a:solidFill>
                  </a:tcPr>
                </a:tc>
                <a:tc hMerge="1">
                  <a:txBody>
                    <a:bodyPr/>
                    <a:lstStyle/>
                    <a:p>
                      <a:endParaRPr/>
                    </a:p>
                  </a:txBody>
                  <a:tcPr>
                    <a:solidFill>
                      <a:srgbClr val="4472C4"/>
                    </a:solidFill>
                  </a:tcPr>
                </a:tc>
                <a:tc hMerge="1">
                  <a:txBody>
                    <a:bodyPr/>
                    <a:lstStyle/>
                    <a:p>
                      <a:endParaRPr/>
                    </a:p>
                  </a:txBody>
                  <a:tcPr>
                    <a:solidFill>
                      <a:srgbClr val="4472C4"/>
                    </a:solidFill>
                  </a:tcPr>
                </a:tc>
                <a:tc hMerge="1">
                  <a:txBody>
                    <a:bodyPr/>
                    <a:lstStyle/>
                    <a:p>
                      <a:endParaRPr/>
                    </a:p>
                  </a:txBody>
                  <a:tcPr>
                    <a:solidFill>
                      <a:srgbClr val="4472C4"/>
                    </a:solidFill>
                  </a:tcPr>
                </a:tc>
                <a:tc rowSpan="2">
                  <a:txBody>
                    <a:bodyPr/>
                    <a:lstStyle/>
                    <a:p>
                      <a:pPr algn="ctr"/>
                      <a:r>
                        <a:rPr sz="900" b="1" dirty="0" err="1">
                          <a:solidFill>
                            <a:srgbClr val="FFFFFF"/>
                          </a:solidFill>
                          <a:latin typeface="맑은 고딕"/>
                        </a:rPr>
                        <a:t>진척도</a:t>
                      </a:r>
                      <a:endParaRPr sz="900" b="1" dirty="0">
                        <a:solidFill>
                          <a:srgbClr val="FFFFFF"/>
                        </a:solidFill>
                        <a:latin typeface="맑은 고딕"/>
                      </a:endParaRPr>
                    </a:p>
                  </a:txBody>
                  <a:tcPr anchor="ctr">
                    <a:solidFill>
                      <a:srgbClr val="4472C4"/>
                    </a:solidFill>
                  </a:tcPr>
                </a:tc>
                <a:extLst>
                  <a:ext uri="{0D108BD9-81ED-4DB2-BD59-A6C34878D82A}">
                    <a16:rowId xmlns:a16="http://schemas.microsoft.com/office/drawing/2014/main" val="10000"/>
                  </a:ext>
                </a:extLst>
              </a:tr>
              <a:tr h="219456">
                <a:tc vMerge="1">
                  <a:txBody>
                    <a:bodyPr/>
                    <a:lstStyle/>
                    <a:p>
                      <a:endParaRPr/>
                    </a:p>
                  </a:txBody>
                  <a:tcP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tcPr>
                </a:tc>
                <a:tc vMerge="1">
                  <a:txBody>
                    <a:bodyPr/>
                    <a:lstStyle/>
                    <a:p>
                      <a:endParaRPr/>
                    </a:p>
                  </a:txBody>
                  <a:tcP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tcPr>
                </a:tc>
                <a:tc>
                  <a:txBody>
                    <a:bodyPr/>
                    <a:lstStyle/>
                    <a:p>
                      <a:pPr algn="ctr"/>
                      <a:r>
                        <a:rPr sz="800" b="1">
                          <a:solidFill>
                            <a:srgbClr val="FFFFFF"/>
                          </a:solidFill>
                          <a:latin typeface="맑은 고딕"/>
                        </a:rPr>
                        <a:t>2월</a:t>
                      </a:r>
                    </a:p>
                  </a:txBody>
                  <a:tcPr anchor="ctr">
                    <a:solidFill>
                      <a:srgbClr val="8EAADB"/>
                    </a:solidFill>
                  </a:tcPr>
                </a:tc>
                <a:tc>
                  <a:txBody>
                    <a:bodyPr/>
                    <a:lstStyle/>
                    <a:p>
                      <a:pPr algn="ctr"/>
                      <a:r>
                        <a:rPr sz="800" b="1">
                          <a:solidFill>
                            <a:srgbClr val="FFFFFF"/>
                          </a:solidFill>
                          <a:latin typeface="맑은 고딕"/>
                        </a:rPr>
                        <a:t>3월</a:t>
                      </a:r>
                    </a:p>
                  </a:txBody>
                  <a:tcPr anchor="ctr">
                    <a:solidFill>
                      <a:srgbClr val="8EAADB"/>
                    </a:solidFill>
                  </a:tcPr>
                </a:tc>
                <a:tc>
                  <a:txBody>
                    <a:bodyPr/>
                    <a:lstStyle/>
                    <a:p>
                      <a:pPr algn="ctr"/>
                      <a:r>
                        <a:rPr sz="800" b="1">
                          <a:solidFill>
                            <a:srgbClr val="FFFFFF"/>
                          </a:solidFill>
                          <a:latin typeface="맑은 고딕"/>
                        </a:rPr>
                        <a:t>4월</a:t>
                      </a:r>
                    </a:p>
                  </a:txBody>
                  <a:tcPr anchor="ctr">
                    <a:solidFill>
                      <a:srgbClr val="8EAADB"/>
                    </a:solidFill>
                  </a:tcPr>
                </a:tc>
                <a:tc>
                  <a:txBody>
                    <a:bodyPr/>
                    <a:lstStyle/>
                    <a:p>
                      <a:pPr algn="ctr"/>
                      <a:r>
                        <a:rPr sz="800" b="1">
                          <a:solidFill>
                            <a:srgbClr val="FFFFFF"/>
                          </a:solidFill>
                          <a:latin typeface="맑은 고딕"/>
                        </a:rPr>
                        <a:t>5월</a:t>
                      </a:r>
                    </a:p>
                  </a:txBody>
                  <a:tcPr anchor="ctr">
                    <a:solidFill>
                      <a:srgbClr val="8EAADB"/>
                    </a:solidFill>
                  </a:tcPr>
                </a:tc>
                <a:tc>
                  <a:txBody>
                    <a:bodyPr/>
                    <a:lstStyle/>
                    <a:p>
                      <a:pPr algn="ctr"/>
                      <a:r>
                        <a:rPr sz="800" b="1">
                          <a:solidFill>
                            <a:srgbClr val="FFFFFF"/>
                          </a:solidFill>
                          <a:latin typeface="맑은 고딕"/>
                        </a:rPr>
                        <a:t>6월</a:t>
                      </a:r>
                    </a:p>
                  </a:txBody>
                  <a:tcPr anchor="ctr">
                    <a:solidFill>
                      <a:srgbClr val="8EAADB"/>
                    </a:solidFill>
                  </a:tcPr>
                </a:tc>
                <a:tc>
                  <a:txBody>
                    <a:bodyPr/>
                    <a:lstStyle/>
                    <a:p>
                      <a:pPr algn="ctr"/>
                      <a:r>
                        <a:rPr sz="800" b="1">
                          <a:solidFill>
                            <a:srgbClr val="FFFFFF"/>
                          </a:solidFill>
                          <a:latin typeface="맑은 고딕"/>
                        </a:rPr>
                        <a:t>7월</a:t>
                      </a:r>
                    </a:p>
                  </a:txBody>
                  <a:tcPr anchor="ctr">
                    <a:solidFill>
                      <a:srgbClr val="8EAADB"/>
                    </a:solidFill>
                  </a:tcPr>
                </a:tc>
                <a:tc>
                  <a:txBody>
                    <a:bodyPr/>
                    <a:lstStyle/>
                    <a:p>
                      <a:pPr algn="ctr"/>
                      <a:r>
                        <a:rPr sz="800" b="1">
                          <a:solidFill>
                            <a:srgbClr val="FFFFFF"/>
                          </a:solidFill>
                          <a:latin typeface="맑은 고딕"/>
                        </a:rPr>
                        <a:t>8월</a:t>
                      </a:r>
                    </a:p>
                  </a:txBody>
                  <a:tcPr anchor="ctr">
                    <a:solidFill>
                      <a:srgbClr val="8EAADB"/>
                    </a:solidFill>
                  </a:tcPr>
                </a:tc>
                <a:tc>
                  <a:txBody>
                    <a:bodyPr/>
                    <a:lstStyle/>
                    <a:p>
                      <a:pPr algn="ctr"/>
                      <a:r>
                        <a:rPr sz="800" b="1">
                          <a:solidFill>
                            <a:srgbClr val="FFFFFF"/>
                          </a:solidFill>
                          <a:latin typeface="맑은 고딕"/>
                        </a:rPr>
                        <a:t>9월</a:t>
                      </a:r>
                    </a:p>
                  </a:txBody>
                  <a:tcPr anchor="ctr">
                    <a:solidFill>
                      <a:srgbClr val="8EAADB"/>
                    </a:solidFill>
                  </a:tcPr>
                </a:tc>
                <a:tc>
                  <a:txBody>
                    <a:bodyPr/>
                    <a:lstStyle/>
                    <a:p>
                      <a:pPr algn="ctr"/>
                      <a:r>
                        <a:rPr sz="800" b="1">
                          <a:solidFill>
                            <a:srgbClr val="FFFFFF"/>
                          </a:solidFill>
                          <a:latin typeface="맑은 고딕"/>
                        </a:rPr>
                        <a:t>10월</a:t>
                      </a:r>
                    </a:p>
                  </a:txBody>
                  <a:tcPr anchor="ctr">
                    <a:solidFill>
                      <a:srgbClr val="8EAADB"/>
                    </a:solidFill>
                  </a:tcPr>
                </a:tc>
                <a:tc vMerge="1">
                  <a:txBody>
                    <a:bodyPr/>
                    <a:lstStyle/>
                    <a:p>
                      <a:endParaRPr/>
                    </a:p>
                  </a:txBody>
                  <a:tcP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tcPr>
                </a:tc>
                <a:extLst>
                  <a:ext uri="{0D108BD9-81ED-4DB2-BD59-A6C34878D82A}">
                    <a16:rowId xmlns:a16="http://schemas.microsoft.com/office/drawing/2014/main" val="10001"/>
                  </a:ext>
                </a:extLst>
              </a:tr>
              <a:tr h="416052">
                <a:tc>
                  <a:txBody>
                    <a:bodyPr/>
                    <a:lstStyle/>
                    <a:p>
                      <a:pPr algn="ctr"/>
                      <a:r>
                        <a:rPr sz="800" b="1">
                          <a:solidFill>
                            <a:srgbClr val="333333"/>
                          </a:solidFill>
                          <a:latin typeface="맑은 고딕"/>
                        </a:rPr>
                        <a:t>계획</a:t>
                      </a:r>
                    </a:p>
                  </a:txBody>
                  <a:tcPr anchor="ctr">
                    <a:solidFill>
                      <a:srgbClr val="FFFFFF"/>
                    </a:solidFill>
                  </a:tcPr>
                </a:tc>
                <a:tc>
                  <a:txBody>
                    <a:bodyPr/>
                    <a:lstStyle/>
                    <a:p>
                      <a:pPr algn="l"/>
                      <a:r>
                        <a:rPr sz="750" b="0" dirty="0" err="1">
                          <a:solidFill>
                            <a:srgbClr val="333333"/>
                          </a:solidFill>
                          <a:latin typeface="맑은 고딕"/>
                        </a:rPr>
                        <a:t>프로젝트</a:t>
                      </a:r>
                      <a:r>
                        <a:rPr sz="750" b="0" dirty="0">
                          <a:solidFill>
                            <a:srgbClr val="333333"/>
                          </a:solidFill>
                          <a:latin typeface="맑은 고딕"/>
                        </a:rPr>
                        <a:t> </a:t>
                      </a:r>
                      <a:r>
                        <a:rPr sz="750" b="0" dirty="0" err="1">
                          <a:solidFill>
                            <a:srgbClr val="333333"/>
                          </a:solidFill>
                          <a:latin typeface="맑은 고딕"/>
                        </a:rPr>
                        <a:t>요구사항</a:t>
                      </a:r>
                      <a:r>
                        <a:rPr sz="750" b="0" dirty="0">
                          <a:solidFill>
                            <a:srgbClr val="333333"/>
                          </a:solidFill>
                          <a:latin typeface="맑은 고딕"/>
                        </a:rPr>
                        <a:t> </a:t>
                      </a:r>
                      <a:r>
                        <a:rPr sz="750" b="0" dirty="0" err="1">
                          <a:solidFill>
                            <a:srgbClr val="333333"/>
                          </a:solidFill>
                          <a:latin typeface="맑은 고딕"/>
                        </a:rPr>
                        <a:t>정의</a:t>
                      </a:r>
                      <a:r>
                        <a:rPr sz="750" b="0" dirty="0">
                          <a:solidFill>
                            <a:srgbClr val="333333"/>
                          </a:solidFill>
                          <a:latin typeface="맑은 고딕"/>
                        </a:rPr>
                        <a:t>, </a:t>
                      </a:r>
                      <a:r>
                        <a:rPr sz="750" b="0" dirty="0" err="1">
                          <a:solidFill>
                            <a:srgbClr val="333333"/>
                          </a:solidFill>
                          <a:latin typeface="맑은 고딕"/>
                        </a:rPr>
                        <a:t>팀원별</a:t>
                      </a:r>
                      <a:r>
                        <a:rPr sz="750" b="0" dirty="0">
                          <a:solidFill>
                            <a:srgbClr val="333333"/>
                          </a:solidFill>
                          <a:latin typeface="맑은 고딕"/>
                        </a:rPr>
                        <a:t> </a:t>
                      </a:r>
                      <a:r>
                        <a:rPr sz="750" b="0" dirty="0" err="1">
                          <a:solidFill>
                            <a:srgbClr val="333333"/>
                          </a:solidFill>
                          <a:latin typeface="맑은 고딕"/>
                        </a:rPr>
                        <a:t>역할</a:t>
                      </a:r>
                      <a:r>
                        <a:rPr sz="750" b="0" dirty="0">
                          <a:solidFill>
                            <a:srgbClr val="333333"/>
                          </a:solidFill>
                          <a:latin typeface="맑은 고딕"/>
                        </a:rPr>
                        <a:t> </a:t>
                      </a:r>
                      <a:r>
                        <a:rPr sz="750" b="0" dirty="0" err="1">
                          <a:solidFill>
                            <a:srgbClr val="333333"/>
                          </a:solidFill>
                          <a:latin typeface="맑은 고딕"/>
                        </a:rPr>
                        <a:t>확정</a:t>
                      </a:r>
                      <a:r>
                        <a:rPr sz="750" b="0" dirty="0">
                          <a:solidFill>
                            <a:srgbClr val="333333"/>
                          </a:solidFill>
                          <a:latin typeface="맑은 고딕"/>
                        </a:rPr>
                        <a:t>, </a:t>
                      </a:r>
                      <a:r>
                        <a:rPr sz="750" b="0" dirty="0" err="1">
                          <a:solidFill>
                            <a:srgbClr val="333333"/>
                          </a:solidFill>
                          <a:latin typeface="맑은 고딕"/>
                        </a:rPr>
                        <a:t>부품</a:t>
                      </a:r>
                      <a:r>
                        <a:rPr sz="750" b="0" dirty="0">
                          <a:solidFill>
                            <a:srgbClr val="333333"/>
                          </a:solidFill>
                          <a:latin typeface="맑은 고딕"/>
                        </a:rPr>
                        <a:t> </a:t>
                      </a:r>
                      <a:r>
                        <a:rPr sz="750" b="0" dirty="0" err="1">
                          <a:solidFill>
                            <a:srgbClr val="333333"/>
                          </a:solidFill>
                          <a:latin typeface="맑은 고딕"/>
                        </a:rPr>
                        <a:t>선정</a:t>
                      </a:r>
                      <a:endParaRPr sz="750" b="0" dirty="0">
                        <a:solidFill>
                          <a:srgbClr val="333333"/>
                        </a:solidFill>
                        <a:latin typeface="맑은 고딕"/>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70AD47"/>
                    </a:solidFill>
                  </a:tcPr>
                </a:tc>
                <a:tc>
                  <a:txBody>
                    <a:bodyPr/>
                    <a:lstStyle/>
                    <a:p>
                      <a:pPr algn="ctr"/>
                      <a:endParaRPr/>
                    </a:p>
                  </a:txBody>
                  <a:tcPr anchor="ctr">
                    <a:solidFill>
                      <a:srgbClr val="70AD47"/>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r>
                        <a:rPr sz="750" b="1">
                          <a:solidFill>
                            <a:srgbClr val="70AD47"/>
                          </a:solidFill>
                          <a:latin typeface="맑은 고딕"/>
                        </a:rPr>
                        <a:t>완료</a:t>
                      </a:r>
                    </a:p>
                    <a:p>
                      <a:pPr algn="ctr"/>
                      <a:r>
                        <a:rPr sz="750" b="1">
                          <a:solidFill>
                            <a:srgbClr val="70AD47"/>
                          </a:solidFill>
                          <a:latin typeface="맑은 고딕"/>
                        </a:rPr>
                        <a:t>100%</a:t>
                      </a:r>
                    </a:p>
                  </a:txBody>
                  <a:tcPr anchor="ctr">
                    <a:solidFill>
                      <a:srgbClr val="F7F9FC"/>
                    </a:solidFill>
                  </a:tcPr>
                </a:tc>
                <a:extLst>
                  <a:ext uri="{0D108BD9-81ED-4DB2-BD59-A6C34878D82A}">
                    <a16:rowId xmlns:a16="http://schemas.microsoft.com/office/drawing/2014/main" val="10002"/>
                  </a:ext>
                </a:extLst>
              </a:tr>
              <a:tr h="416052">
                <a:tc>
                  <a:txBody>
                    <a:bodyPr/>
                    <a:lstStyle/>
                    <a:p>
                      <a:pPr algn="ctr"/>
                      <a:r>
                        <a:rPr sz="800" b="1">
                          <a:solidFill>
                            <a:srgbClr val="333333"/>
                          </a:solidFill>
                          <a:latin typeface="맑은 고딕"/>
                        </a:rPr>
                        <a:t>분석</a:t>
                      </a:r>
                    </a:p>
                  </a:txBody>
                  <a:tcPr anchor="ctr">
                    <a:solidFill>
                      <a:srgbClr val="FFFFFF"/>
                    </a:solidFill>
                  </a:tcPr>
                </a:tc>
                <a:tc>
                  <a:txBody>
                    <a:bodyPr/>
                    <a:lstStyle/>
                    <a:p>
                      <a:pPr algn="l"/>
                      <a:r>
                        <a:rPr sz="750" b="0" dirty="0" err="1">
                          <a:solidFill>
                            <a:srgbClr val="333333"/>
                          </a:solidFill>
                          <a:latin typeface="맑은 고딕"/>
                        </a:rPr>
                        <a:t>배터리</a:t>
                      </a:r>
                      <a:r>
                        <a:rPr sz="750" b="0" dirty="0">
                          <a:solidFill>
                            <a:srgbClr val="333333"/>
                          </a:solidFill>
                          <a:latin typeface="맑은 고딕"/>
                        </a:rPr>
                        <a:t> </a:t>
                      </a:r>
                      <a:r>
                        <a:rPr sz="750" b="0" dirty="0" err="1">
                          <a:solidFill>
                            <a:srgbClr val="333333"/>
                          </a:solidFill>
                          <a:latin typeface="맑은 고딕"/>
                        </a:rPr>
                        <a:t>열화</a:t>
                      </a:r>
                      <a:r>
                        <a:rPr sz="750" b="0" dirty="0">
                          <a:solidFill>
                            <a:srgbClr val="333333"/>
                          </a:solidFill>
                          <a:latin typeface="맑은 고딕"/>
                        </a:rPr>
                        <a:t> </a:t>
                      </a:r>
                      <a:r>
                        <a:rPr sz="750" b="0" dirty="0" err="1">
                          <a:solidFill>
                            <a:srgbClr val="333333"/>
                          </a:solidFill>
                          <a:latin typeface="맑은 고딕"/>
                        </a:rPr>
                        <a:t>특성·시계열</a:t>
                      </a:r>
                      <a:r>
                        <a:rPr sz="750" b="0" dirty="0">
                          <a:solidFill>
                            <a:srgbClr val="333333"/>
                          </a:solidFill>
                          <a:latin typeface="맑은 고딕"/>
                        </a:rPr>
                        <a:t> AI </a:t>
                      </a:r>
                      <a:r>
                        <a:rPr sz="750" b="0" dirty="0" err="1">
                          <a:solidFill>
                            <a:srgbClr val="333333"/>
                          </a:solidFill>
                          <a:latin typeface="맑은 고딕"/>
                        </a:rPr>
                        <a:t>선행</a:t>
                      </a:r>
                      <a:r>
                        <a:rPr sz="750" b="0" dirty="0">
                          <a:solidFill>
                            <a:srgbClr val="333333"/>
                          </a:solidFill>
                          <a:latin typeface="맑은 고딕"/>
                        </a:rPr>
                        <a:t> </a:t>
                      </a:r>
                      <a:r>
                        <a:rPr sz="750" b="0" dirty="0" err="1">
                          <a:solidFill>
                            <a:srgbClr val="333333"/>
                          </a:solidFill>
                          <a:latin typeface="맑은 고딕"/>
                        </a:rPr>
                        <a:t>논문</a:t>
                      </a:r>
                      <a:r>
                        <a:rPr sz="750" b="0" dirty="0">
                          <a:solidFill>
                            <a:srgbClr val="333333"/>
                          </a:solidFill>
                          <a:latin typeface="맑은 고딕"/>
                        </a:rPr>
                        <a:t> </a:t>
                      </a:r>
                      <a:r>
                        <a:rPr sz="750" b="0" dirty="0" err="1">
                          <a:solidFill>
                            <a:srgbClr val="333333"/>
                          </a:solidFill>
                          <a:latin typeface="맑은 고딕"/>
                        </a:rPr>
                        <a:t>분석</a:t>
                      </a:r>
                      <a:r>
                        <a:rPr sz="750" b="0" dirty="0">
                          <a:solidFill>
                            <a:srgbClr val="333333"/>
                          </a:solidFill>
                          <a:latin typeface="맑은 고딕"/>
                        </a:rPr>
                        <a:t>, </a:t>
                      </a:r>
                      <a:r>
                        <a:rPr sz="750" b="0" dirty="0" err="1">
                          <a:solidFill>
                            <a:srgbClr val="333333"/>
                          </a:solidFill>
                          <a:latin typeface="맑은 고딕"/>
                        </a:rPr>
                        <a:t>센서</a:t>
                      </a:r>
                      <a:r>
                        <a:rPr sz="750" b="0" dirty="0">
                          <a:solidFill>
                            <a:srgbClr val="333333"/>
                          </a:solidFill>
                          <a:latin typeface="맑은 고딕"/>
                        </a:rPr>
                        <a:t> I2C </a:t>
                      </a:r>
                      <a:r>
                        <a:rPr sz="750" b="0" dirty="0" err="1">
                          <a:solidFill>
                            <a:srgbClr val="333333"/>
                          </a:solidFill>
                          <a:latin typeface="맑은 고딕"/>
                        </a:rPr>
                        <a:t>통신</a:t>
                      </a:r>
                      <a:r>
                        <a:rPr sz="750" b="0" dirty="0">
                          <a:solidFill>
                            <a:srgbClr val="333333"/>
                          </a:solidFill>
                          <a:latin typeface="맑은 고딕"/>
                        </a:rPr>
                        <a:t> </a:t>
                      </a:r>
                      <a:r>
                        <a:rPr sz="750" b="0" dirty="0" err="1">
                          <a:solidFill>
                            <a:srgbClr val="333333"/>
                          </a:solidFill>
                          <a:latin typeface="맑은 고딕"/>
                        </a:rPr>
                        <a:t>규격</a:t>
                      </a:r>
                      <a:r>
                        <a:rPr sz="750" b="0" dirty="0">
                          <a:solidFill>
                            <a:srgbClr val="333333"/>
                          </a:solidFill>
                          <a:latin typeface="맑은 고딕"/>
                        </a:rPr>
                        <a:t>(Datasheet) </a:t>
                      </a:r>
                      <a:r>
                        <a:rPr sz="750" b="0" dirty="0" err="1">
                          <a:solidFill>
                            <a:srgbClr val="333333"/>
                          </a:solidFill>
                          <a:latin typeface="맑은 고딕"/>
                        </a:rPr>
                        <a:t>분석</a:t>
                      </a:r>
                      <a:endParaRPr sz="750" b="0" dirty="0">
                        <a:solidFill>
                          <a:srgbClr val="333333"/>
                        </a:solidFill>
                        <a:latin typeface="맑은 고딕"/>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70AD47"/>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r>
                        <a:rPr sz="750" b="1">
                          <a:solidFill>
                            <a:srgbClr val="70AD47"/>
                          </a:solidFill>
                          <a:latin typeface="맑은 고딕"/>
                        </a:rPr>
                        <a:t>완료</a:t>
                      </a:r>
                    </a:p>
                    <a:p>
                      <a:pPr algn="ctr"/>
                      <a:r>
                        <a:rPr sz="750" b="1">
                          <a:solidFill>
                            <a:srgbClr val="70AD47"/>
                          </a:solidFill>
                          <a:latin typeface="맑은 고딕"/>
                        </a:rPr>
                        <a:t>100%</a:t>
                      </a:r>
                    </a:p>
                  </a:txBody>
                  <a:tcPr anchor="ctr">
                    <a:solidFill>
                      <a:srgbClr val="F7F9FC"/>
                    </a:solidFill>
                  </a:tcPr>
                </a:tc>
                <a:extLst>
                  <a:ext uri="{0D108BD9-81ED-4DB2-BD59-A6C34878D82A}">
                    <a16:rowId xmlns:a16="http://schemas.microsoft.com/office/drawing/2014/main" val="10003"/>
                  </a:ext>
                </a:extLst>
              </a:tr>
              <a:tr h="416052">
                <a:tc>
                  <a:txBody>
                    <a:bodyPr/>
                    <a:lstStyle/>
                    <a:p>
                      <a:pPr algn="ctr"/>
                      <a:r>
                        <a:rPr sz="800" b="1">
                          <a:solidFill>
                            <a:srgbClr val="333333"/>
                          </a:solidFill>
                          <a:latin typeface="맑은 고딕"/>
                        </a:rPr>
                        <a:t>설계</a:t>
                      </a:r>
                    </a:p>
                  </a:txBody>
                  <a:tcPr anchor="ctr">
                    <a:solidFill>
                      <a:srgbClr val="FFFFFF"/>
                    </a:solidFill>
                  </a:tcPr>
                </a:tc>
                <a:tc>
                  <a:txBody>
                    <a:bodyPr/>
                    <a:lstStyle/>
                    <a:p>
                      <a:pPr algn="l"/>
                      <a:r>
                        <a:rPr sz="750" b="0" dirty="0">
                          <a:solidFill>
                            <a:srgbClr val="333333"/>
                          </a:solidFill>
                          <a:latin typeface="맑은 고딕"/>
                        </a:rPr>
                        <a:t>1S </a:t>
                      </a:r>
                      <a:r>
                        <a:rPr sz="750" b="0" dirty="0" err="1">
                          <a:solidFill>
                            <a:srgbClr val="333333"/>
                          </a:solidFill>
                          <a:latin typeface="맑은 고딕"/>
                        </a:rPr>
                        <a:t>배터리팩</a:t>
                      </a:r>
                      <a:r>
                        <a:rPr sz="750" b="0" dirty="0">
                          <a:solidFill>
                            <a:srgbClr val="333333"/>
                          </a:solidFill>
                          <a:latin typeface="맑은 고딕"/>
                        </a:rPr>
                        <a:t> </a:t>
                      </a:r>
                      <a:r>
                        <a:rPr sz="750" b="0" dirty="0" err="1">
                          <a:solidFill>
                            <a:srgbClr val="333333"/>
                          </a:solidFill>
                          <a:latin typeface="맑은 고딕"/>
                        </a:rPr>
                        <a:t>회로도</a:t>
                      </a:r>
                      <a:r>
                        <a:rPr sz="750" b="0" dirty="0">
                          <a:solidFill>
                            <a:srgbClr val="333333"/>
                          </a:solidFill>
                          <a:latin typeface="맑은 고딕"/>
                        </a:rPr>
                        <a:t>(BMS·TP4056) </a:t>
                      </a:r>
                      <a:r>
                        <a:rPr sz="750" b="0" dirty="0" err="1">
                          <a:solidFill>
                            <a:srgbClr val="333333"/>
                          </a:solidFill>
                          <a:latin typeface="맑은 고딕"/>
                        </a:rPr>
                        <a:t>및</a:t>
                      </a:r>
                      <a:r>
                        <a:rPr sz="750" b="0" dirty="0">
                          <a:solidFill>
                            <a:srgbClr val="333333"/>
                          </a:solidFill>
                          <a:latin typeface="맑은 고딕"/>
                        </a:rPr>
                        <a:t> DB </a:t>
                      </a:r>
                      <a:r>
                        <a:rPr sz="750" b="0" dirty="0" err="1">
                          <a:solidFill>
                            <a:srgbClr val="333333"/>
                          </a:solidFill>
                          <a:latin typeface="맑은 고딕"/>
                        </a:rPr>
                        <a:t>스키마</a:t>
                      </a:r>
                      <a:r>
                        <a:rPr sz="750" b="0" dirty="0">
                          <a:solidFill>
                            <a:srgbClr val="333333"/>
                          </a:solidFill>
                          <a:latin typeface="맑은 고딕"/>
                        </a:rPr>
                        <a:t> </a:t>
                      </a:r>
                      <a:r>
                        <a:rPr sz="750" b="0" dirty="0" err="1">
                          <a:solidFill>
                            <a:srgbClr val="333333"/>
                          </a:solidFill>
                          <a:latin typeface="맑은 고딕"/>
                        </a:rPr>
                        <a:t>설계</a:t>
                      </a:r>
                      <a:r>
                        <a:rPr sz="750" b="0" dirty="0">
                          <a:solidFill>
                            <a:srgbClr val="333333"/>
                          </a:solidFill>
                          <a:latin typeface="맑은 고딕"/>
                        </a:rPr>
                        <a:t>, </a:t>
                      </a:r>
                      <a:r>
                        <a:rPr sz="750" b="0" dirty="0" err="1">
                          <a:solidFill>
                            <a:srgbClr val="333333"/>
                          </a:solidFill>
                          <a:latin typeface="맑은 고딕"/>
                        </a:rPr>
                        <a:t>시스템</a:t>
                      </a:r>
                      <a:r>
                        <a:rPr sz="750" b="0" dirty="0">
                          <a:solidFill>
                            <a:srgbClr val="333333"/>
                          </a:solidFill>
                          <a:latin typeface="맑은 고딕"/>
                        </a:rPr>
                        <a:t> </a:t>
                      </a:r>
                      <a:r>
                        <a:rPr sz="750" b="0" dirty="0" err="1">
                          <a:solidFill>
                            <a:srgbClr val="333333"/>
                          </a:solidFill>
                          <a:latin typeface="맑은 고딕"/>
                        </a:rPr>
                        <a:t>아키텍처</a:t>
                      </a:r>
                      <a:r>
                        <a:rPr sz="750" b="0" dirty="0">
                          <a:solidFill>
                            <a:srgbClr val="333333"/>
                          </a:solidFill>
                          <a:latin typeface="맑은 고딕"/>
                        </a:rPr>
                        <a:t> </a:t>
                      </a:r>
                      <a:r>
                        <a:rPr sz="750" b="0" dirty="0" err="1">
                          <a:solidFill>
                            <a:srgbClr val="333333"/>
                          </a:solidFill>
                          <a:latin typeface="맑은 고딕"/>
                        </a:rPr>
                        <a:t>확정</a:t>
                      </a:r>
                      <a:endParaRPr sz="750" b="0" dirty="0">
                        <a:solidFill>
                          <a:srgbClr val="333333"/>
                        </a:solidFill>
                        <a:latin typeface="맑은 고딕"/>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70AD47"/>
                    </a:solidFill>
                  </a:tcPr>
                </a:tc>
                <a:tc>
                  <a:txBody>
                    <a:bodyPr/>
                    <a:lstStyle/>
                    <a:p>
                      <a:pPr algn="ctr"/>
                      <a:endParaRPr/>
                    </a:p>
                  </a:txBody>
                  <a:tcPr anchor="ctr">
                    <a:solidFill>
                      <a:srgbClr val="70AD47"/>
                    </a:solidFill>
                  </a:tcPr>
                </a:tc>
                <a:tc>
                  <a:txBody>
                    <a:bodyPr/>
                    <a:lstStyle/>
                    <a:p>
                      <a:pPr algn="ctr"/>
                      <a:endParaRPr/>
                    </a:p>
                  </a:txBody>
                  <a:tcPr anchor="ctr">
                    <a:solidFill>
                      <a:srgbClr val="FFC000"/>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r>
                        <a:rPr sz="750" b="1">
                          <a:solidFill>
                            <a:srgbClr val="C08A00"/>
                          </a:solidFill>
                          <a:latin typeface="맑은 고딕"/>
                        </a:rPr>
                        <a:t>진행</a:t>
                      </a:r>
                    </a:p>
                    <a:p>
                      <a:pPr algn="ctr"/>
                      <a:r>
                        <a:rPr sz="750" b="1">
                          <a:solidFill>
                            <a:srgbClr val="C08A00"/>
                          </a:solidFill>
                          <a:latin typeface="맑은 고딕"/>
                        </a:rPr>
                        <a:t>90%</a:t>
                      </a:r>
                    </a:p>
                  </a:txBody>
                  <a:tcPr anchor="ctr">
                    <a:solidFill>
                      <a:srgbClr val="F7F9FC"/>
                    </a:solidFill>
                  </a:tcPr>
                </a:tc>
                <a:extLst>
                  <a:ext uri="{0D108BD9-81ED-4DB2-BD59-A6C34878D82A}">
                    <a16:rowId xmlns:a16="http://schemas.microsoft.com/office/drawing/2014/main" val="10004"/>
                  </a:ext>
                </a:extLst>
              </a:tr>
              <a:tr h="416052">
                <a:tc>
                  <a:txBody>
                    <a:bodyPr/>
                    <a:lstStyle/>
                    <a:p>
                      <a:pPr algn="ctr"/>
                      <a:r>
                        <a:rPr sz="800" b="1">
                          <a:solidFill>
                            <a:srgbClr val="333333"/>
                          </a:solidFill>
                          <a:latin typeface="맑은 고딕"/>
                        </a:rPr>
                        <a:t>개발</a:t>
                      </a:r>
                    </a:p>
                    <a:p>
                      <a:pPr algn="ctr"/>
                      <a:r>
                        <a:rPr sz="800" b="1">
                          <a:solidFill>
                            <a:srgbClr val="333333"/>
                          </a:solidFill>
                          <a:latin typeface="맑은 고딕"/>
                        </a:rPr>
                        <a:t>(H/W·펌웨어)</a:t>
                      </a:r>
                    </a:p>
                  </a:txBody>
                  <a:tcPr anchor="ctr">
                    <a:solidFill>
                      <a:srgbClr val="FFFFFF"/>
                    </a:solidFill>
                  </a:tcPr>
                </a:tc>
                <a:tc>
                  <a:txBody>
                    <a:bodyPr/>
                    <a:lstStyle/>
                    <a:p>
                      <a:pPr algn="l"/>
                      <a:r>
                        <a:rPr sz="750" b="0" dirty="0" err="1">
                          <a:solidFill>
                            <a:srgbClr val="333333"/>
                          </a:solidFill>
                          <a:latin typeface="맑은 고딕"/>
                        </a:rPr>
                        <a:t>배터리팩</a:t>
                      </a:r>
                      <a:r>
                        <a:rPr sz="750" b="0" dirty="0">
                          <a:solidFill>
                            <a:srgbClr val="333333"/>
                          </a:solidFill>
                          <a:latin typeface="맑은 고딕"/>
                        </a:rPr>
                        <a:t> </a:t>
                      </a:r>
                      <a:r>
                        <a:rPr sz="750" b="0" dirty="0" err="1">
                          <a:solidFill>
                            <a:srgbClr val="333333"/>
                          </a:solidFill>
                          <a:latin typeface="맑은 고딕"/>
                        </a:rPr>
                        <a:t>제작</a:t>
                      </a:r>
                      <a:r>
                        <a:rPr sz="750" b="0" dirty="0">
                          <a:solidFill>
                            <a:srgbClr val="333333"/>
                          </a:solidFill>
                          <a:latin typeface="맑은 고딕"/>
                        </a:rPr>
                        <a:t> </a:t>
                      </a:r>
                      <a:r>
                        <a:rPr sz="750" b="0" dirty="0" err="1">
                          <a:solidFill>
                            <a:srgbClr val="333333"/>
                          </a:solidFill>
                          <a:latin typeface="맑은 고딕"/>
                        </a:rPr>
                        <a:t>및</a:t>
                      </a:r>
                      <a:r>
                        <a:rPr sz="750" b="0" dirty="0">
                          <a:solidFill>
                            <a:srgbClr val="333333"/>
                          </a:solidFill>
                          <a:latin typeface="맑은 고딕"/>
                        </a:rPr>
                        <a:t> </a:t>
                      </a:r>
                      <a:r>
                        <a:rPr sz="750" b="0" dirty="0" err="1">
                          <a:solidFill>
                            <a:srgbClr val="333333"/>
                          </a:solidFill>
                          <a:latin typeface="맑은 고딕"/>
                        </a:rPr>
                        <a:t>라즈베리파이</a:t>
                      </a:r>
                      <a:r>
                        <a:rPr sz="750" b="0" dirty="0">
                          <a:solidFill>
                            <a:srgbClr val="333333"/>
                          </a:solidFill>
                          <a:latin typeface="맑은 고딕"/>
                        </a:rPr>
                        <a:t> </a:t>
                      </a:r>
                      <a:r>
                        <a:rPr sz="750" b="0" dirty="0" err="1">
                          <a:solidFill>
                            <a:srgbClr val="333333"/>
                          </a:solidFill>
                          <a:latin typeface="맑은 고딕"/>
                        </a:rPr>
                        <a:t>기반</a:t>
                      </a:r>
                      <a:r>
                        <a:rPr sz="750" b="0" dirty="0">
                          <a:solidFill>
                            <a:srgbClr val="333333"/>
                          </a:solidFill>
                          <a:latin typeface="맑은 고딕"/>
                        </a:rPr>
                        <a:t> </a:t>
                      </a:r>
                      <a:r>
                        <a:rPr sz="750" b="0" dirty="0" err="1">
                          <a:solidFill>
                            <a:srgbClr val="333333"/>
                          </a:solidFill>
                          <a:latin typeface="맑은 고딕"/>
                        </a:rPr>
                        <a:t>다중</a:t>
                      </a:r>
                      <a:r>
                        <a:rPr sz="750" b="0" dirty="0">
                          <a:solidFill>
                            <a:srgbClr val="333333"/>
                          </a:solidFill>
                          <a:latin typeface="맑은 고딕"/>
                        </a:rPr>
                        <a:t> </a:t>
                      </a:r>
                      <a:r>
                        <a:rPr sz="750" b="0" dirty="0" err="1">
                          <a:solidFill>
                            <a:srgbClr val="333333"/>
                          </a:solidFill>
                          <a:latin typeface="맑은 고딕"/>
                        </a:rPr>
                        <a:t>센서</a:t>
                      </a:r>
                      <a:r>
                        <a:rPr sz="750" b="0" dirty="0">
                          <a:solidFill>
                            <a:srgbClr val="333333"/>
                          </a:solidFill>
                          <a:latin typeface="맑은 고딕"/>
                        </a:rPr>
                        <a:t> </a:t>
                      </a:r>
                      <a:r>
                        <a:rPr sz="750" b="0" dirty="0" err="1">
                          <a:solidFill>
                            <a:srgbClr val="333333"/>
                          </a:solidFill>
                          <a:latin typeface="맑은 고딕"/>
                        </a:rPr>
                        <a:t>데이터</a:t>
                      </a:r>
                      <a:r>
                        <a:rPr sz="750" b="0" dirty="0">
                          <a:solidFill>
                            <a:srgbClr val="333333"/>
                          </a:solidFill>
                          <a:latin typeface="맑은 고딕"/>
                        </a:rPr>
                        <a:t> </a:t>
                      </a:r>
                      <a:r>
                        <a:rPr sz="750" b="0" dirty="0" err="1">
                          <a:solidFill>
                            <a:srgbClr val="333333"/>
                          </a:solidFill>
                          <a:latin typeface="맑은 고딕"/>
                        </a:rPr>
                        <a:t>계측</a:t>
                      </a:r>
                      <a:r>
                        <a:rPr sz="750" b="0" dirty="0">
                          <a:solidFill>
                            <a:srgbClr val="333333"/>
                          </a:solidFill>
                          <a:latin typeface="맑은 고딕"/>
                        </a:rPr>
                        <a:t>/</a:t>
                      </a:r>
                      <a:r>
                        <a:rPr sz="750" b="0" dirty="0" err="1">
                          <a:solidFill>
                            <a:srgbClr val="333333"/>
                          </a:solidFill>
                          <a:latin typeface="맑은 고딕"/>
                        </a:rPr>
                        <a:t>로깅</a:t>
                      </a:r>
                      <a:r>
                        <a:rPr sz="750" b="0" dirty="0">
                          <a:solidFill>
                            <a:srgbClr val="333333"/>
                          </a:solidFill>
                          <a:latin typeface="맑은 고딕"/>
                        </a:rPr>
                        <a:t> </a:t>
                      </a:r>
                      <a:r>
                        <a:rPr sz="750" b="0" dirty="0" err="1">
                          <a:solidFill>
                            <a:srgbClr val="333333"/>
                          </a:solidFill>
                          <a:latin typeface="맑은 고딕"/>
                        </a:rPr>
                        <a:t>시스템</a:t>
                      </a:r>
                      <a:r>
                        <a:rPr sz="750" b="0" dirty="0">
                          <a:solidFill>
                            <a:srgbClr val="333333"/>
                          </a:solidFill>
                          <a:latin typeface="맑은 고딕"/>
                        </a:rPr>
                        <a:t> </a:t>
                      </a:r>
                      <a:r>
                        <a:rPr sz="750" b="0" dirty="0" err="1">
                          <a:solidFill>
                            <a:srgbClr val="333333"/>
                          </a:solidFill>
                          <a:latin typeface="맑은 고딕"/>
                        </a:rPr>
                        <a:t>구현</a:t>
                      </a:r>
                      <a:endParaRPr sz="750" b="0" dirty="0">
                        <a:solidFill>
                          <a:srgbClr val="333333"/>
                        </a:solidFill>
                        <a:latin typeface="맑은 고딕"/>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70AD47"/>
                    </a:solidFill>
                  </a:tcPr>
                </a:tc>
                <a:tc>
                  <a:txBody>
                    <a:bodyPr/>
                    <a:lstStyle/>
                    <a:p>
                      <a:pPr algn="ctr"/>
                      <a:endParaRPr/>
                    </a:p>
                  </a:txBody>
                  <a:tcPr anchor="ctr">
                    <a:solidFill>
                      <a:srgbClr val="70AD47"/>
                    </a:solidFill>
                  </a:tcPr>
                </a:tc>
                <a:tc>
                  <a:txBody>
                    <a:bodyPr/>
                    <a:lstStyle/>
                    <a:p>
                      <a:pPr algn="ctr"/>
                      <a:endParaRPr/>
                    </a:p>
                  </a:txBody>
                  <a:tcPr anchor="ctr">
                    <a:solidFill>
                      <a:srgbClr val="FFC000"/>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r>
                        <a:rPr sz="750" b="1">
                          <a:solidFill>
                            <a:srgbClr val="C08A00"/>
                          </a:solidFill>
                          <a:latin typeface="맑은 고딕"/>
                        </a:rPr>
                        <a:t>진행</a:t>
                      </a:r>
                    </a:p>
                    <a:p>
                      <a:pPr algn="ctr"/>
                      <a:r>
                        <a:rPr sz="750" b="1">
                          <a:solidFill>
                            <a:srgbClr val="C08A00"/>
                          </a:solidFill>
                          <a:latin typeface="맑은 고딕"/>
                        </a:rPr>
                        <a:t>70%</a:t>
                      </a:r>
                    </a:p>
                  </a:txBody>
                  <a:tcPr anchor="ctr">
                    <a:solidFill>
                      <a:srgbClr val="F7F9FC"/>
                    </a:solidFill>
                  </a:tcPr>
                </a:tc>
                <a:extLst>
                  <a:ext uri="{0D108BD9-81ED-4DB2-BD59-A6C34878D82A}">
                    <a16:rowId xmlns:a16="http://schemas.microsoft.com/office/drawing/2014/main" val="10005"/>
                  </a:ext>
                </a:extLst>
              </a:tr>
              <a:tr h="416052">
                <a:tc>
                  <a:txBody>
                    <a:bodyPr/>
                    <a:lstStyle/>
                    <a:p>
                      <a:pPr algn="ctr"/>
                      <a:r>
                        <a:rPr sz="800" b="1">
                          <a:solidFill>
                            <a:srgbClr val="333333"/>
                          </a:solidFill>
                          <a:latin typeface="맑은 고딕"/>
                        </a:rPr>
                        <a:t>개발</a:t>
                      </a:r>
                    </a:p>
                    <a:p>
                      <a:pPr algn="ctr"/>
                      <a:r>
                        <a:rPr sz="800" b="1">
                          <a:solidFill>
                            <a:srgbClr val="333333"/>
                          </a:solidFill>
                          <a:latin typeface="맑은 고딕"/>
                        </a:rPr>
                        <a:t>(AI 모델링)</a:t>
                      </a:r>
                    </a:p>
                  </a:txBody>
                  <a:tcPr anchor="ctr">
                    <a:solidFill>
                      <a:srgbClr val="FFFFFF"/>
                    </a:solidFill>
                  </a:tcPr>
                </a:tc>
                <a:tc>
                  <a:txBody>
                    <a:bodyPr/>
                    <a:lstStyle/>
                    <a:p>
                      <a:pPr algn="l"/>
                      <a:r>
                        <a:rPr sz="750" b="0" dirty="0" err="1">
                          <a:solidFill>
                            <a:srgbClr val="333333"/>
                          </a:solidFill>
                          <a:latin typeface="맑은 고딕"/>
                        </a:rPr>
                        <a:t>정상</a:t>
                      </a:r>
                      <a:r>
                        <a:rPr sz="750" b="0" dirty="0">
                          <a:solidFill>
                            <a:srgbClr val="333333"/>
                          </a:solidFill>
                          <a:latin typeface="맑은 고딕"/>
                        </a:rPr>
                        <a:t> </a:t>
                      </a:r>
                      <a:r>
                        <a:rPr sz="750" b="0" dirty="0" err="1">
                          <a:solidFill>
                            <a:srgbClr val="333333"/>
                          </a:solidFill>
                          <a:latin typeface="맑은 고딕"/>
                        </a:rPr>
                        <a:t>데이터</a:t>
                      </a:r>
                      <a:r>
                        <a:rPr sz="750" b="0" dirty="0">
                          <a:solidFill>
                            <a:srgbClr val="333333"/>
                          </a:solidFill>
                          <a:latin typeface="맑은 고딕"/>
                        </a:rPr>
                        <a:t> </a:t>
                      </a:r>
                      <a:r>
                        <a:rPr sz="750" b="0" dirty="0" err="1">
                          <a:solidFill>
                            <a:srgbClr val="333333"/>
                          </a:solidFill>
                          <a:latin typeface="맑은 고딕"/>
                        </a:rPr>
                        <a:t>수집</a:t>
                      </a:r>
                      <a:r>
                        <a:rPr sz="750" b="0" dirty="0">
                          <a:solidFill>
                            <a:srgbClr val="333333"/>
                          </a:solidFill>
                          <a:latin typeface="맑은 고딕"/>
                        </a:rPr>
                        <a:t> </a:t>
                      </a:r>
                      <a:r>
                        <a:rPr sz="750" b="0" dirty="0" err="1">
                          <a:solidFill>
                            <a:srgbClr val="333333"/>
                          </a:solidFill>
                          <a:latin typeface="맑은 고딕"/>
                        </a:rPr>
                        <a:t>및</a:t>
                      </a:r>
                      <a:r>
                        <a:rPr sz="750" b="0" dirty="0">
                          <a:solidFill>
                            <a:srgbClr val="333333"/>
                          </a:solidFill>
                          <a:latin typeface="맑은 고딕"/>
                        </a:rPr>
                        <a:t> TensorFlow </a:t>
                      </a:r>
                      <a:r>
                        <a:rPr sz="750" b="0" dirty="0" err="1">
                          <a:solidFill>
                            <a:srgbClr val="333333"/>
                          </a:solidFill>
                          <a:latin typeface="맑은 고딕"/>
                        </a:rPr>
                        <a:t>기반</a:t>
                      </a:r>
                      <a:r>
                        <a:rPr sz="750" b="0" dirty="0">
                          <a:solidFill>
                            <a:srgbClr val="333333"/>
                          </a:solidFill>
                          <a:latin typeface="맑은 고딕"/>
                        </a:rPr>
                        <a:t> LSTM-</a:t>
                      </a:r>
                      <a:r>
                        <a:rPr sz="750" b="0" dirty="0" err="1">
                          <a:solidFill>
                            <a:srgbClr val="333333"/>
                          </a:solidFill>
                          <a:latin typeface="맑은 고딕"/>
                        </a:rPr>
                        <a:t>AutoEncoder</a:t>
                      </a:r>
                      <a:r>
                        <a:rPr sz="750" b="0" dirty="0">
                          <a:solidFill>
                            <a:srgbClr val="333333"/>
                          </a:solidFill>
                          <a:latin typeface="맑은 고딕"/>
                        </a:rPr>
                        <a:t> </a:t>
                      </a:r>
                      <a:r>
                        <a:rPr sz="750" b="0" dirty="0" err="1">
                          <a:solidFill>
                            <a:srgbClr val="333333"/>
                          </a:solidFill>
                          <a:latin typeface="맑은 고딕"/>
                        </a:rPr>
                        <a:t>알고리즘</a:t>
                      </a:r>
                      <a:r>
                        <a:rPr sz="750" b="0" dirty="0">
                          <a:solidFill>
                            <a:srgbClr val="333333"/>
                          </a:solidFill>
                          <a:latin typeface="맑은 고딕"/>
                        </a:rPr>
                        <a:t> </a:t>
                      </a:r>
                      <a:r>
                        <a:rPr sz="750" b="0" dirty="0" err="1">
                          <a:solidFill>
                            <a:srgbClr val="333333"/>
                          </a:solidFill>
                          <a:latin typeface="맑은 고딕"/>
                        </a:rPr>
                        <a:t>학습</a:t>
                      </a:r>
                      <a:r>
                        <a:rPr sz="750" b="0" dirty="0">
                          <a:solidFill>
                            <a:srgbClr val="333333"/>
                          </a:solidFill>
                          <a:latin typeface="맑은 고딕"/>
                        </a:rPr>
                        <a:t>/</a:t>
                      </a:r>
                      <a:r>
                        <a:rPr sz="750" b="0" dirty="0" err="1">
                          <a:solidFill>
                            <a:srgbClr val="333333"/>
                          </a:solidFill>
                          <a:latin typeface="맑은 고딕"/>
                        </a:rPr>
                        <a:t>최적화</a:t>
                      </a:r>
                      <a:endParaRPr sz="750" b="0" dirty="0">
                        <a:solidFill>
                          <a:srgbClr val="333333"/>
                        </a:solidFill>
                        <a:latin typeface="맑은 고딕"/>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70AD47"/>
                    </a:solidFill>
                  </a:tcPr>
                </a:tc>
                <a:tc>
                  <a:txBody>
                    <a:bodyPr/>
                    <a:lstStyle/>
                    <a:p>
                      <a:pPr algn="ctr"/>
                      <a:endParaRPr/>
                    </a:p>
                  </a:txBody>
                  <a:tcPr anchor="ctr">
                    <a:solidFill>
                      <a:srgbClr val="FFC000"/>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r>
                        <a:rPr sz="750" b="1">
                          <a:solidFill>
                            <a:srgbClr val="C08A00"/>
                          </a:solidFill>
                          <a:latin typeface="맑은 고딕"/>
                        </a:rPr>
                        <a:t>진행</a:t>
                      </a:r>
                    </a:p>
                    <a:p>
                      <a:pPr algn="ctr"/>
                      <a:r>
                        <a:rPr sz="750" b="1">
                          <a:solidFill>
                            <a:srgbClr val="C08A00"/>
                          </a:solidFill>
                          <a:latin typeface="맑은 고딕"/>
                        </a:rPr>
                        <a:t>50%</a:t>
                      </a:r>
                    </a:p>
                  </a:txBody>
                  <a:tcPr anchor="ctr">
                    <a:solidFill>
                      <a:srgbClr val="F7F9FC"/>
                    </a:solidFill>
                  </a:tcPr>
                </a:tc>
                <a:extLst>
                  <a:ext uri="{0D108BD9-81ED-4DB2-BD59-A6C34878D82A}">
                    <a16:rowId xmlns:a16="http://schemas.microsoft.com/office/drawing/2014/main" val="10006"/>
                  </a:ext>
                </a:extLst>
              </a:tr>
              <a:tr h="416052">
                <a:tc>
                  <a:txBody>
                    <a:bodyPr/>
                    <a:lstStyle/>
                    <a:p>
                      <a:pPr algn="ctr"/>
                      <a:r>
                        <a:rPr sz="800" b="1">
                          <a:solidFill>
                            <a:srgbClr val="333333"/>
                          </a:solidFill>
                          <a:latin typeface="맑은 고딕"/>
                        </a:rPr>
                        <a:t>개발</a:t>
                      </a:r>
                    </a:p>
                    <a:p>
                      <a:pPr algn="ctr"/>
                      <a:r>
                        <a:rPr sz="800" b="1">
                          <a:solidFill>
                            <a:srgbClr val="333333"/>
                          </a:solidFill>
                          <a:latin typeface="맑은 고딕"/>
                        </a:rPr>
                        <a:t>(DB·웹)</a:t>
                      </a:r>
                    </a:p>
                  </a:txBody>
                  <a:tcPr anchor="ctr">
                    <a:solidFill>
                      <a:srgbClr val="FFFFFF"/>
                    </a:solidFill>
                  </a:tcPr>
                </a:tc>
                <a:tc>
                  <a:txBody>
                    <a:bodyPr/>
                    <a:lstStyle/>
                    <a:p>
                      <a:pPr algn="l"/>
                      <a:r>
                        <a:rPr sz="750" b="0" dirty="0">
                          <a:solidFill>
                            <a:srgbClr val="333333"/>
                          </a:solidFill>
                          <a:latin typeface="맑은 고딕"/>
                        </a:rPr>
                        <a:t>DB </a:t>
                      </a:r>
                      <a:r>
                        <a:rPr sz="750" b="0" dirty="0" err="1">
                          <a:solidFill>
                            <a:srgbClr val="333333"/>
                          </a:solidFill>
                          <a:latin typeface="맑은 고딕"/>
                        </a:rPr>
                        <a:t>적재</a:t>
                      </a:r>
                      <a:r>
                        <a:rPr sz="750" b="0" dirty="0">
                          <a:solidFill>
                            <a:srgbClr val="333333"/>
                          </a:solidFill>
                          <a:latin typeface="맑은 고딕"/>
                        </a:rPr>
                        <a:t> </a:t>
                      </a:r>
                      <a:r>
                        <a:rPr sz="750" b="0" dirty="0" err="1">
                          <a:solidFill>
                            <a:srgbClr val="333333"/>
                          </a:solidFill>
                          <a:latin typeface="맑은 고딕"/>
                        </a:rPr>
                        <a:t>파이프라인</a:t>
                      </a:r>
                      <a:r>
                        <a:rPr sz="750" b="0" dirty="0">
                          <a:solidFill>
                            <a:srgbClr val="333333"/>
                          </a:solidFill>
                          <a:latin typeface="맑은 고딕"/>
                        </a:rPr>
                        <a:t> </a:t>
                      </a:r>
                      <a:r>
                        <a:rPr sz="750" b="0" dirty="0" err="1">
                          <a:solidFill>
                            <a:srgbClr val="333333"/>
                          </a:solidFill>
                          <a:latin typeface="맑은 고딕"/>
                        </a:rPr>
                        <a:t>구축</a:t>
                      </a:r>
                      <a:r>
                        <a:rPr sz="750" b="0" dirty="0">
                          <a:solidFill>
                            <a:srgbClr val="333333"/>
                          </a:solidFill>
                          <a:latin typeface="맑은 고딕"/>
                        </a:rPr>
                        <a:t> </a:t>
                      </a:r>
                      <a:r>
                        <a:rPr sz="750" b="0" dirty="0" err="1">
                          <a:solidFill>
                            <a:srgbClr val="333333"/>
                          </a:solidFill>
                          <a:latin typeface="맑은 고딕"/>
                        </a:rPr>
                        <a:t>및</a:t>
                      </a:r>
                      <a:r>
                        <a:rPr sz="750" b="0" dirty="0">
                          <a:solidFill>
                            <a:srgbClr val="333333"/>
                          </a:solidFill>
                          <a:latin typeface="맑은 고딕"/>
                        </a:rPr>
                        <a:t> React/Spring Boot </a:t>
                      </a:r>
                      <a:r>
                        <a:rPr sz="750" b="0" dirty="0" err="1">
                          <a:solidFill>
                            <a:srgbClr val="333333"/>
                          </a:solidFill>
                          <a:latin typeface="맑은 고딕"/>
                        </a:rPr>
                        <a:t>기반</a:t>
                      </a:r>
                      <a:r>
                        <a:rPr sz="750" b="0" dirty="0">
                          <a:solidFill>
                            <a:srgbClr val="333333"/>
                          </a:solidFill>
                          <a:latin typeface="맑은 고딕"/>
                        </a:rPr>
                        <a:t> </a:t>
                      </a:r>
                      <a:r>
                        <a:rPr sz="750" b="0" dirty="0" err="1">
                          <a:solidFill>
                            <a:srgbClr val="333333"/>
                          </a:solidFill>
                          <a:latin typeface="맑은 고딕"/>
                        </a:rPr>
                        <a:t>모니터링</a:t>
                      </a:r>
                      <a:r>
                        <a:rPr sz="750" b="0" dirty="0">
                          <a:solidFill>
                            <a:srgbClr val="333333"/>
                          </a:solidFill>
                          <a:latin typeface="맑은 고딕"/>
                        </a:rPr>
                        <a:t> UI </a:t>
                      </a:r>
                      <a:r>
                        <a:rPr sz="750" b="0" dirty="0" err="1">
                          <a:solidFill>
                            <a:srgbClr val="333333"/>
                          </a:solidFill>
                          <a:latin typeface="맑은 고딕"/>
                        </a:rPr>
                        <a:t>개발</a:t>
                      </a:r>
                      <a:endParaRPr sz="750" b="0" dirty="0">
                        <a:solidFill>
                          <a:srgbClr val="333333"/>
                        </a:solidFill>
                        <a:latin typeface="맑은 고딕"/>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C000"/>
                    </a:solidFill>
                  </a:tcPr>
                </a:tc>
                <a:tc>
                  <a:txBody>
                    <a:bodyPr/>
                    <a:lstStyle/>
                    <a:p>
                      <a:pPr algn="ctr"/>
                      <a:endParaRPr/>
                    </a:p>
                  </a:txBody>
                  <a:tcPr anchor="ctr">
                    <a:solidFill>
                      <a:srgbClr val="BDD7EE"/>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r>
                        <a:rPr sz="750" b="1">
                          <a:solidFill>
                            <a:srgbClr val="C08A00"/>
                          </a:solidFill>
                          <a:latin typeface="맑은 고딕"/>
                        </a:rPr>
                        <a:t>진행</a:t>
                      </a:r>
                    </a:p>
                    <a:p>
                      <a:pPr algn="ctr"/>
                      <a:r>
                        <a:rPr sz="750" b="1">
                          <a:solidFill>
                            <a:srgbClr val="C08A00"/>
                          </a:solidFill>
                          <a:latin typeface="맑은 고딕"/>
                        </a:rPr>
                        <a:t>35%</a:t>
                      </a:r>
                    </a:p>
                  </a:txBody>
                  <a:tcPr anchor="ctr">
                    <a:solidFill>
                      <a:srgbClr val="F7F9FC"/>
                    </a:solidFill>
                  </a:tcPr>
                </a:tc>
                <a:extLst>
                  <a:ext uri="{0D108BD9-81ED-4DB2-BD59-A6C34878D82A}">
                    <a16:rowId xmlns:a16="http://schemas.microsoft.com/office/drawing/2014/main" val="10007"/>
                  </a:ext>
                </a:extLst>
              </a:tr>
              <a:tr h="416052">
                <a:tc>
                  <a:txBody>
                    <a:bodyPr/>
                    <a:lstStyle/>
                    <a:p>
                      <a:pPr algn="ctr"/>
                      <a:r>
                        <a:rPr sz="800" b="1">
                          <a:solidFill>
                            <a:srgbClr val="333333"/>
                          </a:solidFill>
                          <a:latin typeface="맑은 고딕"/>
                        </a:rPr>
                        <a:t>테스트</a:t>
                      </a:r>
                    </a:p>
                  </a:txBody>
                  <a:tcPr anchor="ctr">
                    <a:solidFill>
                      <a:srgbClr val="FFFFFF"/>
                    </a:solidFill>
                  </a:tcPr>
                </a:tc>
                <a:tc>
                  <a:txBody>
                    <a:bodyPr/>
                    <a:lstStyle/>
                    <a:p>
                      <a:pPr algn="l"/>
                      <a:r>
                        <a:rPr sz="750" b="0" dirty="0">
                          <a:solidFill>
                            <a:srgbClr val="333333"/>
                          </a:solidFill>
                          <a:latin typeface="맑은 고딕"/>
                        </a:rPr>
                        <a:t>H/W-S/W </a:t>
                      </a:r>
                      <a:r>
                        <a:rPr sz="750" b="0" dirty="0" err="1">
                          <a:solidFill>
                            <a:srgbClr val="333333"/>
                          </a:solidFill>
                          <a:latin typeface="맑은 고딕"/>
                        </a:rPr>
                        <a:t>연동</a:t>
                      </a:r>
                      <a:r>
                        <a:rPr sz="750" b="0" dirty="0">
                          <a:solidFill>
                            <a:srgbClr val="333333"/>
                          </a:solidFill>
                          <a:latin typeface="맑은 고딕"/>
                        </a:rPr>
                        <a:t> </a:t>
                      </a:r>
                      <a:r>
                        <a:rPr sz="750" b="0" dirty="0" err="1">
                          <a:solidFill>
                            <a:srgbClr val="333333"/>
                          </a:solidFill>
                          <a:latin typeface="맑은 고딕"/>
                        </a:rPr>
                        <a:t>테스트</a:t>
                      </a:r>
                      <a:r>
                        <a:rPr sz="750" b="0" dirty="0">
                          <a:solidFill>
                            <a:srgbClr val="333333"/>
                          </a:solidFill>
                          <a:latin typeface="맑은 고딕"/>
                        </a:rPr>
                        <a:t>, </a:t>
                      </a:r>
                      <a:r>
                        <a:rPr sz="750" b="0" dirty="0" err="1">
                          <a:solidFill>
                            <a:srgbClr val="333333"/>
                          </a:solidFill>
                          <a:latin typeface="맑은 고딕"/>
                        </a:rPr>
                        <a:t>임의</a:t>
                      </a:r>
                      <a:r>
                        <a:rPr sz="750" b="0" dirty="0">
                          <a:solidFill>
                            <a:srgbClr val="333333"/>
                          </a:solidFill>
                          <a:latin typeface="맑은 고딕"/>
                        </a:rPr>
                        <a:t> </a:t>
                      </a:r>
                      <a:r>
                        <a:rPr sz="750" b="0" dirty="0" err="1">
                          <a:solidFill>
                            <a:srgbClr val="333333"/>
                          </a:solidFill>
                          <a:latin typeface="맑은 고딕"/>
                        </a:rPr>
                        <a:t>이상</a:t>
                      </a:r>
                      <a:r>
                        <a:rPr sz="750" b="0" dirty="0">
                          <a:solidFill>
                            <a:srgbClr val="333333"/>
                          </a:solidFill>
                          <a:latin typeface="맑은 고딕"/>
                        </a:rPr>
                        <a:t> </a:t>
                      </a:r>
                      <a:r>
                        <a:rPr sz="750" b="0" dirty="0" err="1">
                          <a:solidFill>
                            <a:srgbClr val="333333"/>
                          </a:solidFill>
                          <a:latin typeface="맑은 고딕"/>
                        </a:rPr>
                        <a:t>환경</a:t>
                      </a:r>
                      <a:r>
                        <a:rPr sz="750" b="0" dirty="0">
                          <a:solidFill>
                            <a:srgbClr val="333333"/>
                          </a:solidFill>
                          <a:latin typeface="맑은 고딕"/>
                        </a:rPr>
                        <a:t>(</a:t>
                      </a:r>
                      <a:r>
                        <a:rPr sz="750" b="0" dirty="0" err="1">
                          <a:solidFill>
                            <a:srgbClr val="333333"/>
                          </a:solidFill>
                          <a:latin typeface="맑은 고딕"/>
                        </a:rPr>
                        <a:t>과열</a:t>
                      </a:r>
                      <a:r>
                        <a:rPr sz="750" b="0" dirty="0">
                          <a:solidFill>
                            <a:srgbClr val="333333"/>
                          </a:solidFill>
                          <a:latin typeface="맑은 고딕"/>
                        </a:rPr>
                        <a:t>/</a:t>
                      </a:r>
                      <a:r>
                        <a:rPr sz="750" b="0" dirty="0" err="1">
                          <a:solidFill>
                            <a:srgbClr val="333333"/>
                          </a:solidFill>
                          <a:latin typeface="맑은 고딕"/>
                        </a:rPr>
                        <a:t>과부하</a:t>
                      </a:r>
                      <a:r>
                        <a:rPr sz="750" b="0" dirty="0">
                          <a:solidFill>
                            <a:srgbClr val="333333"/>
                          </a:solidFill>
                          <a:latin typeface="맑은 고딕"/>
                        </a:rPr>
                        <a:t>) </a:t>
                      </a:r>
                      <a:r>
                        <a:rPr sz="750" b="0" dirty="0" err="1">
                          <a:solidFill>
                            <a:srgbClr val="333333"/>
                          </a:solidFill>
                          <a:latin typeface="맑은 고딕"/>
                        </a:rPr>
                        <a:t>조성을</a:t>
                      </a:r>
                      <a:r>
                        <a:rPr sz="750" b="0" dirty="0">
                          <a:solidFill>
                            <a:srgbClr val="333333"/>
                          </a:solidFill>
                          <a:latin typeface="맑은 고딕"/>
                        </a:rPr>
                        <a:t> </a:t>
                      </a:r>
                      <a:r>
                        <a:rPr sz="750" b="0" dirty="0" err="1">
                          <a:solidFill>
                            <a:srgbClr val="333333"/>
                          </a:solidFill>
                          <a:latin typeface="맑은 고딕"/>
                        </a:rPr>
                        <a:t>통한</a:t>
                      </a:r>
                      <a:r>
                        <a:rPr sz="750" b="0" dirty="0">
                          <a:solidFill>
                            <a:srgbClr val="333333"/>
                          </a:solidFill>
                          <a:latin typeface="맑은 고딕"/>
                        </a:rPr>
                        <a:t> AI </a:t>
                      </a:r>
                      <a:r>
                        <a:rPr sz="750" b="0" dirty="0" err="1">
                          <a:solidFill>
                            <a:srgbClr val="333333"/>
                          </a:solidFill>
                          <a:latin typeface="맑은 고딕"/>
                        </a:rPr>
                        <a:t>탐지율·신뢰성</a:t>
                      </a:r>
                      <a:r>
                        <a:rPr sz="750" b="0" dirty="0">
                          <a:solidFill>
                            <a:srgbClr val="333333"/>
                          </a:solidFill>
                          <a:latin typeface="맑은 고딕"/>
                        </a:rPr>
                        <a:t> </a:t>
                      </a:r>
                      <a:r>
                        <a:rPr sz="750" b="0" dirty="0" err="1">
                          <a:solidFill>
                            <a:srgbClr val="333333"/>
                          </a:solidFill>
                          <a:latin typeface="맑은 고딕"/>
                        </a:rPr>
                        <a:t>검증</a:t>
                      </a:r>
                      <a:endParaRPr sz="750" b="0" dirty="0">
                        <a:solidFill>
                          <a:srgbClr val="333333"/>
                        </a:solidFill>
                        <a:latin typeface="맑은 고딕"/>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BDD7EE"/>
                    </a:solidFill>
                  </a:tcPr>
                </a:tc>
                <a:tc>
                  <a:txBody>
                    <a:bodyPr/>
                    <a:lstStyle/>
                    <a:p>
                      <a:pPr algn="ctr"/>
                      <a:endParaRPr/>
                    </a:p>
                  </a:txBody>
                  <a:tcPr anchor="ctr">
                    <a:solidFill>
                      <a:srgbClr val="BDD7EE"/>
                    </a:solidFill>
                  </a:tcPr>
                </a:tc>
                <a:tc>
                  <a:txBody>
                    <a:bodyPr/>
                    <a:lstStyle/>
                    <a:p>
                      <a:pPr algn="ctr"/>
                      <a:endParaRPr/>
                    </a:p>
                  </a:txBody>
                  <a:tcPr anchor="ctr">
                    <a:solidFill>
                      <a:srgbClr val="FFFFFF"/>
                    </a:solidFill>
                  </a:tcPr>
                </a:tc>
                <a:tc>
                  <a:txBody>
                    <a:bodyPr/>
                    <a:lstStyle/>
                    <a:p>
                      <a:pPr algn="ctr"/>
                      <a:r>
                        <a:rPr sz="750" b="1">
                          <a:solidFill>
                            <a:srgbClr val="808080"/>
                          </a:solidFill>
                          <a:latin typeface="맑은 고딕"/>
                        </a:rPr>
                        <a:t>예정</a:t>
                      </a:r>
                    </a:p>
                  </a:txBody>
                  <a:tcPr anchor="ctr">
                    <a:solidFill>
                      <a:srgbClr val="F7F9FC"/>
                    </a:solidFill>
                  </a:tcPr>
                </a:tc>
                <a:extLst>
                  <a:ext uri="{0D108BD9-81ED-4DB2-BD59-A6C34878D82A}">
                    <a16:rowId xmlns:a16="http://schemas.microsoft.com/office/drawing/2014/main" val="10008"/>
                  </a:ext>
                </a:extLst>
              </a:tr>
              <a:tr h="416052">
                <a:tc>
                  <a:txBody>
                    <a:bodyPr/>
                    <a:lstStyle/>
                    <a:p>
                      <a:pPr algn="ctr"/>
                      <a:r>
                        <a:rPr sz="800" b="1">
                          <a:solidFill>
                            <a:srgbClr val="333333"/>
                          </a:solidFill>
                          <a:latin typeface="맑은 고딕"/>
                        </a:rPr>
                        <a:t>종료</a:t>
                      </a:r>
                    </a:p>
                  </a:txBody>
                  <a:tcPr anchor="ctr">
                    <a:solidFill>
                      <a:srgbClr val="FFFFFF"/>
                    </a:solidFill>
                  </a:tcPr>
                </a:tc>
                <a:tc>
                  <a:txBody>
                    <a:bodyPr/>
                    <a:lstStyle/>
                    <a:p>
                      <a:pPr algn="l"/>
                      <a:r>
                        <a:rPr sz="750" b="0" dirty="0" err="1">
                          <a:solidFill>
                            <a:srgbClr val="333333"/>
                          </a:solidFill>
                          <a:latin typeface="맑은 고딕"/>
                        </a:rPr>
                        <a:t>최종</a:t>
                      </a:r>
                      <a:r>
                        <a:rPr sz="750" b="0" dirty="0">
                          <a:solidFill>
                            <a:srgbClr val="333333"/>
                          </a:solidFill>
                          <a:latin typeface="맑은 고딕"/>
                        </a:rPr>
                        <a:t> </a:t>
                      </a:r>
                      <a:r>
                        <a:rPr sz="750" b="0" dirty="0" err="1">
                          <a:solidFill>
                            <a:srgbClr val="333333"/>
                          </a:solidFill>
                          <a:latin typeface="맑은 고딕"/>
                        </a:rPr>
                        <a:t>결과</a:t>
                      </a:r>
                      <a:r>
                        <a:rPr sz="750" b="0" dirty="0">
                          <a:solidFill>
                            <a:srgbClr val="333333"/>
                          </a:solidFill>
                          <a:latin typeface="맑은 고딕"/>
                        </a:rPr>
                        <a:t> </a:t>
                      </a:r>
                      <a:r>
                        <a:rPr sz="750" b="0" dirty="0" err="1">
                          <a:solidFill>
                            <a:srgbClr val="333333"/>
                          </a:solidFill>
                          <a:latin typeface="맑은 고딕"/>
                        </a:rPr>
                        <a:t>보고서</a:t>
                      </a:r>
                      <a:r>
                        <a:rPr sz="750" b="0" dirty="0">
                          <a:solidFill>
                            <a:srgbClr val="333333"/>
                          </a:solidFill>
                          <a:latin typeface="맑은 고딕"/>
                        </a:rPr>
                        <a:t> </a:t>
                      </a:r>
                      <a:r>
                        <a:rPr sz="750" b="0" dirty="0" err="1">
                          <a:solidFill>
                            <a:srgbClr val="333333"/>
                          </a:solidFill>
                          <a:latin typeface="맑은 고딕"/>
                        </a:rPr>
                        <a:t>작성</a:t>
                      </a:r>
                      <a:r>
                        <a:rPr sz="750" b="0" dirty="0">
                          <a:solidFill>
                            <a:srgbClr val="333333"/>
                          </a:solidFill>
                          <a:latin typeface="맑은 고딕"/>
                        </a:rPr>
                        <a:t>, </a:t>
                      </a:r>
                      <a:r>
                        <a:rPr sz="750" b="0" dirty="0" err="1">
                          <a:solidFill>
                            <a:srgbClr val="333333"/>
                          </a:solidFill>
                          <a:latin typeface="맑은 고딕"/>
                        </a:rPr>
                        <a:t>프로젝트</a:t>
                      </a:r>
                      <a:r>
                        <a:rPr sz="750" b="0" dirty="0">
                          <a:solidFill>
                            <a:srgbClr val="333333"/>
                          </a:solidFill>
                          <a:latin typeface="맑은 고딕"/>
                        </a:rPr>
                        <a:t> </a:t>
                      </a:r>
                      <a:r>
                        <a:rPr sz="750" b="0" dirty="0" err="1">
                          <a:solidFill>
                            <a:srgbClr val="333333"/>
                          </a:solidFill>
                          <a:latin typeface="맑은 고딕"/>
                        </a:rPr>
                        <a:t>시연</a:t>
                      </a:r>
                      <a:r>
                        <a:rPr sz="750" b="0" dirty="0">
                          <a:solidFill>
                            <a:srgbClr val="333333"/>
                          </a:solidFill>
                          <a:latin typeface="맑은 고딕"/>
                        </a:rPr>
                        <a:t> </a:t>
                      </a:r>
                      <a:r>
                        <a:rPr sz="750" b="0" dirty="0" err="1">
                          <a:solidFill>
                            <a:srgbClr val="333333"/>
                          </a:solidFill>
                          <a:latin typeface="맑은 고딕"/>
                        </a:rPr>
                        <a:t>영상</a:t>
                      </a:r>
                      <a:r>
                        <a:rPr sz="750" b="0" dirty="0">
                          <a:solidFill>
                            <a:srgbClr val="333333"/>
                          </a:solidFill>
                          <a:latin typeface="맑은 고딕"/>
                        </a:rPr>
                        <a:t> </a:t>
                      </a:r>
                      <a:r>
                        <a:rPr sz="750" b="0" dirty="0" err="1">
                          <a:solidFill>
                            <a:srgbClr val="333333"/>
                          </a:solidFill>
                          <a:latin typeface="맑은 고딕"/>
                        </a:rPr>
                        <a:t>제작</a:t>
                      </a:r>
                      <a:r>
                        <a:rPr sz="750" b="0" dirty="0">
                          <a:solidFill>
                            <a:srgbClr val="333333"/>
                          </a:solidFill>
                          <a:latin typeface="맑은 고딕"/>
                        </a:rPr>
                        <a:t>, </a:t>
                      </a:r>
                      <a:r>
                        <a:rPr sz="750" b="0" dirty="0" err="1">
                          <a:solidFill>
                            <a:srgbClr val="333333"/>
                          </a:solidFill>
                          <a:latin typeface="맑은 고딕"/>
                        </a:rPr>
                        <a:t>한이음</a:t>
                      </a:r>
                      <a:r>
                        <a:rPr sz="750" b="0" dirty="0">
                          <a:solidFill>
                            <a:srgbClr val="333333"/>
                          </a:solidFill>
                          <a:latin typeface="맑은 고딕"/>
                        </a:rPr>
                        <a:t> </a:t>
                      </a:r>
                      <a:r>
                        <a:rPr sz="750" b="0" dirty="0" err="1">
                          <a:solidFill>
                            <a:srgbClr val="333333"/>
                          </a:solidFill>
                          <a:latin typeface="맑은 고딕"/>
                        </a:rPr>
                        <a:t>공모전</a:t>
                      </a:r>
                      <a:r>
                        <a:rPr sz="750" b="0" dirty="0">
                          <a:solidFill>
                            <a:srgbClr val="333333"/>
                          </a:solidFill>
                          <a:latin typeface="맑은 고딕"/>
                        </a:rPr>
                        <a:t> </a:t>
                      </a:r>
                      <a:r>
                        <a:rPr sz="750" b="0" dirty="0" err="1">
                          <a:solidFill>
                            <a:srgbClr val="333333"/>
                          </a:solidFill>
                          <a:latin typeface="맑은 고딕"/>
                        </a:rPr>
                        <a:t>출품</a:t>
                      </a:r>
                      <a:r>
                        <a:rPr sz="750" b="0" dirty="0">
                          <a:solidFill>
                            <a:srgbClr val="333333"/>
                          </a:solidFill>
                          <a:latin typeface="맑은 고딕"/>
                        </a:rPr>
                        <a:t> </a:t>
                      </a:r>
                      <a:r>
                        <a:rPr sz="750" b="0" dirty="0" err="1">
                          <a:solidFill>
                            <a:srgbClr val="333333"/>
                          </a:solidFill>
                          <a:latin typeface="맑은 고딕"/>
                        </a:rPr>
                        <a:t>마무리</a:t>
                      </a:r>
                      <a:endParaRPr sz="750" b="0" dirty="0">
                        <a:solidFill>
                          <a:srgbClr val="333333"/>
                        </a:solidFill>
                        <a:latin typeface="맑은 고딕"/>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BDD7EE"/>
                    </a:solidFill>
                  </a:tcPr>
                </a:tc>
                <a:tc>
                  <a:txBody>
                    <a:bodyPr/>
                    <a:lstStyle/>
                    <a:p>
                      <a:pPr algn="ctr"/>
                      <a:endParaRPr/>
                    </a:p>
                  </a:txBody>
                  <a:tcPr anchor="ctr">
                    <a:solidFill>
                      <a:srgbClr val="BDD7EE"/>
                    </a:solidFill>
                  </a:tcPr>
                </a:tc>
                <a:tc>
                  <a:txBody>
                    <a:bodyPr/>
                    <a:lstStyle/>
                    <a:p>
                      <a:pPr algn="ctr"/>
                      <a:r>
                        <a:rPr sz="750" b="1">
                          <a:solidFill>
                            <a:srgbClr val="808080"/>
                          </a:solidFill>
                          <a:latin typeface="맑은 고딕"/>
                        </a:rPr>
                        <a:t>예정</a:t>
                      </a:r>
                    </a:p>
                  </a:txBody>
                  <a:tcPr anchor="ctr">
                    <a:solidFill>
                      <a:srgbClr val="F7F9FC"/>
                    </a:solidFill>
                  </a:tcPr>
                </a:tc>
                <a:extLst>
                  <a:ext uri="{0D108BD9-81ED-4DB2-BD59-A6C34878D82A}">
                    <a16:rowId xmlns:a16="http://schemas.microsoft.com/office/drawing/2014/main" val="10009"/>
                  </a:ext>
                </a:extLst>
              </a:tr>
              <a:tr h="416052">
                <a:tc>
                  <a:txBody>
                    <a:bodyPr/>
                    <a:lstStyle/>
                    <a:p>
                      <a:pPr algn="ctr"/>
                      <a:r>
                        <a:rPr sz="800" b="1">
                          <a:solidFill>
                            <a:srgbClr val="333333"/>
                          </a:solidFill>
                          <a:latin typeface="맑은 고딕"/>
                        </a:rPr>
                        <a:t>온라인</a:t>
                      </a:r>
                    </a:p>
                    <a:p>
                      <a:pPr algn="ctr"/>
                      <a:r>
                        <a:rPr sz="800" b="1">
                          <a:solidFill>
                            <a:srgbClr val="333333"/>
                          </a:solidFill>
                          <a:latin typeface="맑은 고딕"/>
                        </a:rPr>
                        <a:t>미팅</a:t>
                      </a:r>
                    </a:p>
                  </a:txBody>
                  <a:tcPr anchor="ctr">
                    <a:solidFill>
                      <a:srgbClr val="FFFFFF"/>
                    </a:solidFill>
                  </a:tcPr>
                </a:tc>
                <a:tc>
                  <a:txBody>
                    <a:bodyPr/>
                    <a:lstStyle/>
                    <a:p>
                      <a:pPr algn="l"/>
                      <a:r>
                        <a:rPr sz="750" b="0" dirty="0" err="1">
                          <a:solidFill>
                            <a:srgbClr val="333333"/>
                          </a:solidFill>
                          <a:latin typeface="맑은 고딕"/>
                        </a:rPr>
                        <a:t>주</a:t>
                      </a:r>
                      <a:r>
                        <a:rPr sz="750" b="0" dirty="0">
                          <a:solidFill>
                            <a:srgbClr val="333333"/>
                          </a:solidFill>
                          <a:latin typeface="맑은 고딕"/>
                        </a:rPr>
                        <a:t> 1회 </a:t>
                      </a:r>
                      <a:r>
                        <a:rPr sz="750" b="0" dirty="0" err="1">
                          <a:solidFill>
                            <a:srgbClr val="333333"/>
                          </a:solidFill>
                          <a:latin typeface="맑은 고딕"/>
                        </a:rPr>
                        <a:t>온라인</a:t>
                      </a:r>
                      <a:r>
                        <a:rPr sz="750" b="0" dirty="0">
                          <a:solidFill>
                            <a:srgbClr val="333333"/>
                          </a:solidFill>
                          <a:latin typeface="맑은 고딕"/>
                        </a:rPr>
                        <a:t> </a:t>
                      </a:r>
                      <a:r>
                        <a:rPr sz="750" b="0" dirty="0" err="1">
                          <a:solidFill>
                            <a:srgbClr val="333333"/>
                          </a:solidFill>
                          <a:latin typeface="맑은 고딕"/>
                        </a:rPr>
                        <a:t>회의로</a:t>
                      </a:r>
                      <a:r>
                        <a:rPr sz="750" b="0" dirty="0">
                          <a:solidFill>
                            <a:srgbClr val="333333"/>
                          </a:solidFill>
                          <a:latin typeface="맑은 고딕"/>
                        </a:rPr>
                        <a:t> </a:t>
                      </a:r>
                      <a:r>
                        <a:rPr sz="750" b="0" dirty="0" err="1">
                          <a:solidFill>
                            <a:srgbClr val="333333"/>
                          </a:solidFill>
                          <a:latin typeface="맑은 고딕"/>
                        </a:rPr>
                        <a:t>각</a:t>
                      </a:r>
                      <a:r>
                        <a:rPr sz="750" b="0" dirty="0">
                          <a:solidFill>
                            <a:srgbClr val="333333"/>
                          </a:solidFill>
                          <a:latin typeface="맑은 고딕"/>
                        </a:rPr>
                        <a:t> </a:t>
                      </a:r>
                      <a:r>
                        <a:rPr sz="750" b="0" dirty="0" err="1">
                          <a:solidFill>
                            <a:srgbClr val="333333"/>
                          </a:solidFill>
                          <a:latin typeface="맑은 고딕"/>
                        </a:rPr>
                        <a:t>팀원의</a:t>
                      </a:r>
                      <a:r>
                        <a:rPr sz="750" b="0" dirty="0">
                          <a:solidFill>
                            <a:srgbClr val="333333"/>
                          </a:solidFill>
                          <a:latin typeface="맑은 고딕"/>
                        </a:rPr>
                        <a:t> </a:t>
                      </a:r>
                      <a:r>
                        <a:rPr sz="750" b="0" dirty="0" err="1">
                          <a:solidFill>
                            <a:srgbClr val="333333"/>
                          </a:solidFill>
                          <a:latin typeface="맑은 고딕"/>
                        </a:rPr>
                        <a:t>진행</a:t>
                      </a:r>
                      <a:r>
                        <a:rPr sz="750" b="0" dirty="0">
                          <a:solidFill>
                            <a:srgbClr val="333333"/>
                          </a:solidFill>
                          <a:latin typeface="맑은 고딕"/>
                        </a:rPr>
                        <a:t> </a:t>
                      </a:r>
                      <a:r>
                        <a:rPr sz="750" b="0" dirty="0" err="1">
                          <a:solidFill>
                            <a:srgbClr val="333333"/>
                          </a:solidFill>
                          <a:latin typeface="맑은 고딕"/>
                        </a:rPr>
                        <a:t>결과·이슈</a:t>
                      </a:r>
                      <a:r>
                        <a:rPr sz="750" b="0" dirty="0">
                          <a:solidFill>
                            <a:srgbClr val="333333"/>
                          </a:solidFill>
                          <a:latin typeface="맑은 고딕"/>
                        </a:rPr>
                        <a:t> </a:t>
                      </a:r>
                      <a:r>
                        <a:rPr sz="750" b="0" dirty="0" err="1">
                          <a:solidFill>
                            <a:srgbClr val="333333"/>
                          </a:solidFill>
                          <a:latin typeface="맑은 고딕"/>
                        </a:rPr>
                        <a:t>공유</a:t>
                      </a:r>
                      <a:r>
                        <a:rPr sz="750" b="0" dirty="0">
                          <a:solidFill>
                            <a:srgbClr val="333333"/>
                          </a:solidFill>
                          <a:latin typeface="맑은 고딕"/>
                        </a:rPr>
                        <a:t> (</a:t>
                      </a:r>
                      <a:r>
                        <a:rPr sz="750" b="0" dirty="0" err="1">
                          <a:solidFill>
                            <a:srgbClr val="333333"/>
                          </a:solidFill>
                          <a:latin typeface="맑은 고딕"/>
                        </a:rPr>
                        <a:t>매월</a:t>
                      </a:r>
                      <a:r>
                        <a:rPr sz="750" b="0" dirty="0">
                          <a:solidFill>
                            <a:srgbClr val="333333"/>
                          </a:solidFill>
                          <a:latin typeface="맑은 고딕"/>
                        </a:rPr>
                        <a:t> </a:t>
                      </a:r>
                      <a:r>
                        <a:rPr sz="750" b="0" dirty="0" err="1">
                          <a:solidFill>
                            <a:srgbClr val="333333"/>
                          </a:solidFill>
                          <a:latin typeface="맑은 고딕"/>
                        </a:rPr>
                        <a:t>진행</a:t>
                      </a:r>
                      <a:r>
                        <a:rPr sz="750" b="0" dirty="0">
                          <a:solidFill>
                            <a:srgbClr val="333333"/>
                          </a:solidFill>
                          <a:latin typeface="맑은 고딕"/>
                        </a:rPr>
                        <a:t>)</a:t>
                      </a: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70AD47"/>
                    </a:solidFill>
                  </a:tcPr>
                </a:tc>
                <a:tc>
                  <a:txBody>
                    <a:bodyPr/>
                    <a:lstStyle/>
                    <a:p>
                      <a:pPr algn="ctr"/>
                      <a:endParaRPr/>
                    </a:p>
                  </a:txBody>
                  <a:tcPr anchor="ctr">
                    <a:solidFill>
                      <a:srgbClr val="70AD47"/>
                    </a:solidFill>
                  </a:tcPr>
                </a:tc>
                <a:tc>
                  <a:txBody>
                    <a:bodyPr/>
                    <a:lstStyle/>
                    <a:p>
                      <a:pPr algn="ctr"/>
                      <a:endParaRPr/>
                    </a:p>
                  </a:txBody>
                  <a:tcPr anchor="ctr">
                    <a:solidFill>
                      <a:srgbClr val="70AD47"/>
                    </a:solidFill>
                  </a:tcPr>
                </a:tc>
                <a:tc>
                  <a:txBody>
                    <a:bodyPr/>
                    <a:lstStyle/>
                    <a:p>
                      <a:pPr algn="ctr"/>
                      <a:endParaRPr/>
                    </a:p>
                  </a:txBody>
                  <a:tcPr anchor="ctr">
                    <a:solidFill>
                      <a:srgbClr val="70AD47"/>
                    </a:solidFill>
                  </a:tcPr>
                </a:tc>
                <a:tc>
                  <a:txBody>
                    <a:bodyPr/>
                    <a:lstStyle/>
                    <a:p>
                      <a:pPr algn="ctr"/>
                      <a:endParaRPr/>
                    </a:p>
                  </a:txBody>
                  <a:tcPr anchor="ctr">
                    <a:solidFill>
                      <a:srgbClr val="FFC000"/>
                    </a:solidFill>
                  </a:tcPr>
                </a:tc>
                <a:tc>
                  <a:txBody>
                    <a:bodyPr/>
                    <a:lstStyle/>
                    <a:p>
                      <a:pPr algn="ctr"/>
                      <a:endParaRPr/>
                    </a:p>
                  </a:txBody>
                  <a:tcPr anchor="ctr">
                    <a:solidFill>
                      <a:srgbClr val="BDD7EE"/>
                    </a:solidFill>
                  </a:tcPr>
                </a:tc>
                <a:tc>
                  <a:txBody>
                    <a:bodyPr/>
                    <a:lstStyle/>
                    <a:p>
                      <a:pPr algn="ctr"/>
                      <a:endParaRPr/>
                    </a:p>
                  </a:txBody>
                  <a:tcPr anchor="ctr">
                    <a:solidFill>
                      <a:srgbClr val="BDD7EE"/>
                    </a:solidFill>
                  </a:tcPr>
                </a:tc>
                <a:tc>
                  <a:txBody>
                    <a:bodyPr/>
                    <a:lstStyle/>
                    <a:p>
                      <a:pPr algn="ctr"/>
                      <a:endParaRPr/>
                    </a:p>
                  </a:txBody>
                  <a:tcPr anchor="ctr">
                    <a:solidFill>
                      <a:srgbClr val="BDD7EE"/>
                    </a:solidFill>
                  </a:tcPr>
                </a:tc>
                <a:tc>
                  <a:txBody>
                    <a:bodyPr/>
                    <a:lstStyle/>
                    <a:p>
                      <a:pPr algn="ctr"/>
                      <a:r>
                        <a:rPr sz="750" b="1">
                          <a:solidFill>
                            <a:srgbClr val="C08A00"/>
                          </a:solidFill>
                          <a:latin typeface="맑은 고딕"/>
                        </a:rPr>
                        <a:t>진행</a:t>
                      </a:r>
                    </a:p>
                    <a:p>
                      <a:pPr algn="ctr"/>
                      <a:r>
                        <a:rPr sz="750" b="1">
                          <a:solidFill>
                            <a:srgbClr val="C08A00"/>
                          </a:solidFill>
                          <a:latin typeface="맑은 고딕"/>
                        </a:rPr>
                        <a:t>매월</a:t>
                      </a:r>
                    </a:p>
                  </a:txBody>
                  <a:tcPr anchor="ctr">
                    <a:solidFill>
                      <a:srgbClr val="F7F9FC"/>
                    </a:solidFill>
                  </a:tcPr>
                </a:tc>
                <a:extLst>
                  <a:ext uri="{0D108BD9-81ED-4DB2-BD59-A6C34878D82A}">
                    <a16:rowId xmlns:a16="http://schemas.microsoft.com/office/drawing/2014/main" val="10010"/>
                  </a:ext>
                </a:extLst>
              </a:tr>
              <a:tr h="416052">
                <a:tc>
                  <a:txBody>
                    <a:bodyPr/>
                    <a:lstStyle/>
                    <a:p>
                      <a:pPr algn="ctr"/>
                      <a:r>
                        <a:rPr sz="800" b="1">
                          <a:solidFill>
                            <a:srgbClr val="333333"/>
                          </a:solidFill>
                          <a:latin typeface="맑은 고딕"/>
                        </a:rPr>
                        <a:t>오프라인</a:t>
                      </a:r>
                    </a:p>
                    <a:p>
                      <a:pPr algn="ctr"/>
                      <a:r>
                        <a:rPr sz="800" b="1">
                          <a:solidFill>
                            <a:srgbClr val="333333"/>
                          </a:solidFill>
                          <a:latin typeface="맑은 고딕"/>
                        </a:rPr>
                        <a:t>미팅</a:t>
                      </a:r>
                    </a:p>
                  </a:txBody>
                  <a:tcPr anchor="ctr">
                    <a:solidFill>
                      <a:srgbClr val="FFFFFF"/>
                    </a:solidFill>
                  </a:tcPr>
                </a:tc>
                <a:tc>
                  <a:txBody>
                    <a:bodyPr/>
                    <a:lstStyle/>
                    <a:p>
                      <a:pPr algn="l"/>
                      <a:r>
                        <a:rPr sz="750" b="0" dirty="0" err="1">
                          <a:solidFill>
                            <a:srgbClr val="333333"/>
                          </a:solidFill>
                          <a:latin typeface="맑은 고딕"/>
                        </a:rPr>
                        <a:t>멘토링</a:t>
                      </a:r>
                      <a:r>
                        <a:rPr sz="750" b="0" dirty="0">
                          <a:solidFill>
                            <a:srgbClr val="333333"/>
                          </a:solidFill>
                          <a:latin typeface="맑은 고딕"/>
                        </a:rPr>
                        <a:t> </a:t>
                      </a:r>
                      <a:r>
                        <a:rPr sz="750" b="0" dirty="0" err="1">
                          <a:solidFill>
                            <a:srgbClr val="333333"/>
                          </a:solidFill>
                          <a:latin typeface="맑은 고딕"/>
                        </a:rPr>
                        <a:t>및</a:t>
                      </a:r>
                      <a:r>
                        <a:rPr sz="750" b="0" dirty="0">
                          <a:solidFill>
                            <a:srgbClr val="333333"/>
                          </a:solidFill>
                          <a:latin typeface="맑은 고딕"/>
                        </a:rPr>
                        <a:t> H/W </a:t>
                      </a:r>
                      <a:r>
                        <a:rPr sz="750" b="0" dirty="0" err="1">
                          <a:solidFill>
                            <a:srgbClr val="333333"/>
                          </a:solidFill>
                          <a:latin typeface="맑은 고딕"/>
                        </a:rPr>
                        <a:t>제작·통합</a:t>
                      </a:r>
                      <a:r>
                        <a:rPr sz="750" b="0" dirty="0">
                          <a:solidFill>
                            <a:srgbClr val="333333"/>
                          </a:solidFill>
                          <a:latin typeface="맑은 고딕"/>
                        </a:rPr>
                        <a:t> </a:t>
                      </a:r>
                      <a:r>
                        <a:rPr sz="750" b="0" dirty="0" err="1">
                          <a:solidFill>
                            <a:srgbClr val="333333"/>
                          </a:solidFill>
                          <a:latin typeface="맑은 고딕"/>
                        </a:rPr>
                        <a:t>테스트를</a:t>
                      </a:r>
                      <a:r>
                        <a:rPr sz="750" b="0" dirty="0">
                          <a:solidFill>
                            <a:srgbClr val="333333"/>
                          </a:solidFill>
                          <a:latin typeface="맑은 고딕"/>
                        </a:rPr>
                        <a:t> </a:t>
                      </a:r>
                      <a:r>
                        <a:rPr sz="750" b="0" dirty="0" err="1">
                          <a:solidFill>
                            <a:srgbClr val="333333"/>
                          </a:solidFill>
                          <a:latin typeface="맑은 고딕"/>
                        </a:rPr>
                        <a:t>위한</a:t>
                      </a:r>
                      <a:r>
                        <a:rPr sz="750" b="0" dirty="0">
                          <a:solidFill>
                            <a:srgbClr val="333333"/>
                          </a:solidFill>
                          <a:latin typeface="맑은 고딕"/>
                        </a:rPr>
                        <a:t> </a:t>
                      </a:r>
                      <a:r>
                        <a:rPr sz="750" b="0" dirty="0" err="1">
                          <a:solidFill>
                            <a:srgbClr val="333333"/>
                          </a:solidFill>
                          <a:latin typeface="맑은 고딕"/>
                        </a:rPr>
                        <a:t>팀원</a:t>
                      </a:r>
                      <a:r>
                        <a:rPr sz="750" b="0" dirty="0">
                          <a:solidFill>
                            <a:srgbClr val="333333"/>
                          </a:solidFill>
                          <a:latin typeface="맑은 고딕"/>
                        </a:rPr>
                        <a:t> </a:t>
                      </a:r>
                      <a:r>
                        <a:rPr sz="750" b="0" dirty="0" err="1">
                          <a:solidFill>
                            <a:srgbClr val="333333"/>
                          </a:solidFill>
                          <a:latin typeface="맑은 고딕"/>
                        </a:rPr>
                        <a:t>대면</a:t>
                      </a:r>
                      <a:r>
                        <a:rPr sz="750" b="0" dirty="0">
                          <a:solidFill>
                            <a:srgbClr val="333333"/>
                          </a:solidFill>
                          <a:latin typeface="맑은 고딕"/>
                        </a:rPr>
                        <a:t> </a:t>
                      </a:r>
                      <a:r>
                        <a:rPr sz="750" b="0" dirty="0" err="1">
                          <a:solidFill>
                            <a:srgbClr val="333333"/>
                          </a:solidFill>
                          <a:latin typeface="맑은 고딕"/>
                        </a:rPr>
                        <a:t>모임</a:t>
                      </a:r>
                      <a:r>
                        <a:rPr sz="750" b="0" dirty="0">
                          <a:solidFill>
                            <a:srgbClr val="333333"/>
                          </a:solidFill>
                          <a:latin typeface="맑은 고딕"/>
                        </a:rPr>
                        <a:t> (8월 </a:t>
                      </a:r>
                      <a:r>
                        <a:rPr sz="750" b="0" dirty="0" err="1">
                          <a:solidFill>
                            <a:srgbClr val="333333"/>
                          </a:solidFill>
                          <a:latin typeface="맑은 고딕"/>
                        </a:rPr>
                        <a:t>예정</a:t>
                      </a:r>
                      <a:r>
                        <a:rPr sz="750" b="0" dirty="0">
                          <a:solidFill>
                            <a:srgbClr val="333333"/>
                          </a:solidFill>
                          <a:latin typeface="맑은 고딕"/>
                        </a:rPr>
                        <a:t>)</a:t>
                      </a: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endParaRPr/>
                    </a:p>
                  </a:txBody>
                  <a:tcPr anchor="ctr">
                    <a:solidFill>
                      <a:srgbClr val="BDD7EE"/>
                    </a:solidFill>
                  </a:tcPr>
                </a:tc>
                <a:tc>
                  <a:txBody>
                    <a:bodyPr/>
                    <a:lstStyle/>
                    <a:p>
                      <a:pPr algn="ctr"/>
                      <a:endParaRPr/>
                    </a:p>
                  </a:txBody>
                  <a:tcPr anchor="ctr">
                    <a:solidFill>
                      <a:srgbClr val="FFFFFF"/>
                    </a:solidFill>
                  </a:tcPr>
                </a:tc>
                <a:tc>
                  <a:txBody>
                    <a:bodyPr/>
                    <a:lstStyle/>
                    <a:p>
                      <a:pPr algn="ctr"/>
                      <a:endParaRPr/>
                    </a:p>
                  </a:txBody>
                  <a:tcPr anchor="ctr">
                    <a:solidFill>
                      <a:srgbClr val="FFFFFF"/>
                    </a:solidFill>
                  </a:tcPr>
                </a:tc>
                <a:tc>
                  <a:txBody>
                    <a:bodyPr/>
                    <a:lstStyle/>
                    <a:p>
                      <a:pPr algn="ctr"/>
                      <a:r>
                        <a:rPr sz="750" b="1" dirty="0" err="1">
                          <a:solidFill>
                            <a:srgbClr val="808080"/>
                          </a:solidFill>
                          <a:latin typeface="맑은 고딕"/>
                        </a:rPr>
                        <a:t>예정</a:t>
                      </a:r>
                      <a:endParaRPr sz="750" b="1" dirty="0">
                        <a:solidFill>
                          <a:srgbClr val="808080"/>
                        </a:solidFill>
                        <a:latin typeface="맑은 고딕"/>
                      </a:endParaRPr>
                    </a:p>
                    <a:p>
                      <a:pPr algn="ctr"/>
                      <a:r>
                        <a:rPr sz="750" b="1" dirty="0">
                          <a:solidFill>
                            <a:srgbClr val="808080"/>
                          </a:solidFill>
                          <a:latin typeface="맑은 고딕"/>
                        </a:rPr>
                        <a:t>8월</a:t>
                      </a:r>
                    </a:p>
                  </a:txBody>
                  <a:tcPr anchor="ctr">
                    <a:solidFill>
                      <a:srgbClr val="F7F9FC"/>
                    </a:solidFill>
                  </a:tcPr>
                </a:tc>
                <a:extLst>
                  <a:ext uri="{0D108BD9-81ED-4DB2-BD59-A6C34878D82A}">
                    <a16:rowId xmlns:a16="http://schemas.microsoft.com/office/drawing/2014/main" val="10011"/>
                  </a:ext>
                </a:extLst>
              </a:tr>
            </a:tbl>
          </a:graphicData>
        </a:graphic>
      </p:graphicFrame>
      <p:sp>
        <p:nvSpPr>
          <p:cNvPr id="22" name="TextBox 21"/>
          <p:cNvSpPr txBox="1"/>
          <p:nvPr/>
        </p:nvSpPr>
        <p:spPr>
          <a:xfrm>
            <a:off x="323528" y="6302526"/>
            <a:ext cx="8375904" cy="230832"/>
          </a:xfrm>
          <a:prstGeom prst="rect">
            <a:avLst/>
          </a:prstGeom>
          <a:noFill/>
        </p:spPr>
        <p:txBody>
          <a:bodyPr wrap="square">
            <a:spAutoFit/>
          </a:bodyPr>
          <a:lstStyle/>
          <a:p>
            <a:pPr algn="l"/>
            <a:r>
              <a:rPr sz="900" b="1" dirty="0">
                <a:solidFill>
                  <a:srgbClr val="70AD47"/>
                </a:solidFill>
                <a:latin typeface="맑은 고딕"/>
              </a:rPr>
              <a:t>■ </a:t>
            </a:r>
            <a:r>
              <a:rPr sz="900" b="0" dirty="0" err="1">
                <a:solidFill>
                  <a:srgbClr val="333333"/>
                </a:solidFill>
                <a:latin typeface="맑은 고딕"/>
              </a:rPr>
              <a:t>완료</a:t>
            </a:r>
            <a:r>
              <a:rPr sz="900" b="0" dirty="0">
                <a:solidFill>
                  <a:srgbClr val="333333"/>
                </a:solidFill>
                <a:latin typeface="맑은 고딕"/>
              </a:rPr>
              <a:t>(</a:t>
            </a:r>
            <a:r>
              <a:rPr sz="900" b="0" dirty="0" err="1">
                <a:solidFill>
                  <a:srgbClr val="333333"/>
                </a:solidFill>
                <a:latin typeface="맑은 고딕"/>
              </a:rPr>
              <a:t>경과</a:t>
            </a:r>
            <a:r>
              <a:rPr sz="900" b="0" dirty="0">
                <a:solidFill>
                  <a:srgbClr val="333333"/>
                </a:solidFill>
                <a:latin typeface="맑은 고딕"/>
              </a:rPr>
              <a:t>)   </a:t>
            </a:r>
            <a:r>
              <a:rPr sz="900" b="1" dirty="0">
                <a:solidFill>
                  <a:srgbClr val="FFC000"/>
                </a:solidFill>
                <a:latin typeface="맑은 고딕"/>
              </a:rPr>
              <a:t>■ </a:t>
            </a:r>
            <a:r>
              <a:rPr sz="900" b="0" dirty="0" err="1">
                <a:solidFill>
                  <a:srgbClr val="333333"/>
                </a:solidFill>
                <a:latin typeface="맑은 고딕"/>
              </a:rPr>
              <a:t>진행중</a:t>
            </a:r>
            <a:r>
              <a:rPr sz="900" b="0" dirty="0">
                <a:solidFill>
                  <a:srgbClr val="333333"/>
                </a:solidFill>
                <a:latin typeface="맑은 고딕"/>
              </a:rPr>
              <a:t>(현재·7월)   </a:t>
            </a:r>
            <a:r>
              <a:rPr sz="900" b="1" dirty="0">
                <a:solidFill>
                  <a:srgbClr val="BDD7EE"/>
                </a:solidFill>
                <a:latin typeface="맑은 고딕"/>
              </a:rPr>
              <a:t>■ </a:t>
            </a:r>
            <a:r>
              <a:rPr sz="900" b="0" dirty="0" err="1">
                <a:solidFill>
                  <a:srgbClr val="333333"/>
                </a:solidFill>
                <a:latin typeface="맑은 고딕"/>
              </a:rPr>
              <a:t>예정</a:t>
            </a:r>
            <a:endParaRPr sz="800" b="0" dirty="0">
              <a:solidFill>
                <a:srgbClr val="808080"/>
              </a:solidFill>
              <a:latin typeface="맑은 고딕"/>
            </a:endParaRPr>
          </a:p>
        </p:txBody>
      </p:sp>
      <p:sp>
        <p:nvSpPr>
          <p:cNvPr id="2" name="직사각형 1">
            <a:extLst>
              <a:ext uri="{FF2B5EF4-FFF2-40B4-BE49-F238E27FC236}">
                <a16:creationId xmlns:a16="http://schemas.microsoft.com/office/drawing/2014/main" id="{689A1CA8-0408-19B0-EA29-8E42D8440664}"/>
              </a:ext>
            </a:extLst>
          </p:cNvPr>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 name="직선 연결선 21">
            <a:extLst>
              <a:ext uri="{FF2B5EF4-FFF2-40B4-BE49-F238E27FC236}">
                <a16:creationId xmlns:a16="http://schemas.microsoft.com/office/drawing/2014/main" id="{89E75E32-A31E-01F8-63CC-962C7CE27E1A}"/>
              </a:ext>
            </a:extLst>
          </p:cNvPr>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 name="직선 연결선 24">
            <a:extLst>
              <a:ext uri="{FF2B5EF4-FFF2-40B4-BE49-F238E27FC236}">
                <a16:creationId xmlns:a16="http://schemas.microsoft.com/office/drawing/2014/main" id="{88CDFA99-0503-BD94-D074-490951C2C6CF}"/>
              </a:ext>
            </a:extLst>
          </p:cNvPr>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5" name="제목 12">
            <a:extLst>
              <a:ext uri="{FF2B5EF4-FFF2-40B4-BE49-F238E27FC236}">
                <a16:creationId xmlns:a16="http://schemas.microsoft.com/office/drawing/2014/main" id="{983A76BC-A172-CEEF-BC5D-233D632086E2}"/>
              </a:ext>
            </a:extLst>
          </p:cNvPr>
          <p:cNvSpPr txBox="1">
            <a:spLocks/>
          </p:cNvSpPr>
          <p:nvPr/>
        </p:nvSpPr>
        <p:spPr>
          <a:xfrm>
            <a:off x="323528" y="692696"/>
            <a:ext cx="2808312"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ko-KR" altLang="en-US" sz="1700" b="1" i="0" u="none" strike="noStrike" kern="1200" cap="none" spc="-50" normalizeH="0" baseline="0" noProof="0" dirty="0">
                <a:ln>
                  <a:noFill/>
                </a:ln>
                <a:solidFill>
                  <a:schemeClr val="bg1"/>
                </a:solidFill>
                <a:effectLst/>
                <a:uLnTx/>
                <a:uFillTx/>
                <a:latin typeface="+mn-ea"/>
                <a:cs typeface="+mj-cs"/>
              </a:rPr>
              <a:t>일정 및 진척도</a:t>
            </a:r>
            <a:endParaRPr kumimoji="0" lang="en-US" altLang="ko-KR" sz="1700" b="1" i="0" u="none" strike="noStrike" kern="1200" cap="none" spc="-50" normalizeH="0" baseline="0" noProof="0" dirty="0">
              <a:ln>
                <a:noFill/>
              </a:ln>
              <a:solidFill>
                <a:schemeClr val="bg1"/>
              </a:solidFill>
              <a:effectLst/>
              <a:uLnTx/>
              <a:uFillTx/>
              <a:latin typeface="+mn-ea"/>
              <a:cs typeface="+mj-cs"/>
            </a:endParaRPr>
          </a:p>
          <a:p>
            <a:pPr marL="0" marR="0" lvl="0" indent="0" algn="l" defTabSz="914400" rtl="0" eaLnBrk="1" fontAlgn="auto" latinLnBrk="1" hangingPunct="1">
              <a:lnSpc>
                <a:spcPct val="100000"/>
              </a:lnSpc>
              <a:spcBef>
                <a:spcPct val="0"/>
              </a:spcBef>
              <a:spcAft>
                <a:spcPts val="0"/>
              </a:spcAft>
              <a:buClrTx/>
              <a:buSzTx/>
              <a:buFontTx/>
              <a:buNone/>
              <a:tabLst/>
              <a:defRPr/>
            </a:pPr>
            <a:endParaRPr kumimoji="0" lang="ko-KR" altLang="en-US" sz="1700" b="1" i="0" u="none" strike="noStrike" kern="1200" cap="none" spc="-50" normalizeH="0" baseline="0" noProof="0" dirty="0">
              <a:ln>
                <a:noFill/>
              </a:ln>
              <a:solidFill>
                <a:schemeClr val="bg1"/>
              </a:solidFill>
              <a:effectLst/>
              <a:uLnTx/>
              <a:uFillTx/>
              <a:latin typeface="+mn-ea"/>
              <a:cs typeface="+mj-cs"/>
            </a:endParaRPr>
          </a:p>
        </p:txBody>
      </p:sp>
      <p:pic>
        <p:nvPicPr>
          <p:cNvPr id="6" name="Picture 2">
            <a:extLst>
              <a:ext uri="{FF2B5EF4-FFF2-40B4-BE49-F238E27FC236}">
                <a16:creationId xmlns:a16="http://schemas.microsoft.com/office/drawing/2014/main" id="{548DE141-E8C2-AAEE-4354-D349EF31449F}"/>
              </a:ext>
            </a:extLst>
          </p:cNvPr>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7" name="막힌 원호 31">
            <a:extLst>
              <a:ext uri="{FF2B5EF4-FFF2-40B4-BE49-F238E27FC236}">
                <a16:creationId xmlns:a16="http://schemas.microsoft.com/office/drawing/2014/main" id="{6F360BCA-3DEA-CB1C-32BA-AE48CC3E3DB2}"/>
              </a:ext>
            </a:extLst>
          </p:cNvPr>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8" name="그림 7">
            <a:extLst>
              <a:ext uri="{FF2B5EF4-FFF2-40B4-BE49-F238E27FC236}">
                <a16:creationId xmlns:a16="http://schemas.microsoft.com/office/drawing/2014/main" id="{B28B7AAA-9F89-31BD-A610-DC98B48C6CC0}"/>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Tree>
    <p:extLst>
      <p:ext uri="{BB962C8B-B14F-4D97-AF65-F5344CB8AC3E}">
        <p14:creationId xmlns:p14="http://schemas.microsoft.com/office/powerpoint/2010/main" val="40789252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직사각형 20"/>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2" name="직선 연결선 21"/>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직선 연결선 24"/>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8" name="제목 12"/>
          <p:cNvSpPr txBox="1">
            <a:spLocks/>
          </p:cNvSpPr>
          <p:nvPr/>
        </p:nvSpPr>
        <p:spPr>
          <a:xfrm>
            <a:off x="323528" y="692696"/>
            <a:ext cx="2808312"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ko-KR" altLang="en-US" sz="1700" b="1" i="0" u="none" strike="noStrike" kern="1200" cap="none" spc="-50" normalizeH="0" baseline="0" noProof="0" dirty="0">
                <a:ln>
                  <a:noFill/>
                </a:ln>
                <a:solidFill>
                  <a:schemeClr val="bg1"/>
                </a:solidFill>
                <a:effectLst/>
                <a:uLnTx/>
                <a:uFillTx/>
                <a:latin typeface="+mn-ea"/>
                <a:cs typeface="+mj-cs"/>
              </a:rPr>
              <a:t>수행 단계별 주요 산출물</a:t>
            </a:r>
          </a:p>
        </p:txBody>
      </p:sp>
      <p:pic>
        <p:nvPicPr>
          <p:cNvPr id="30"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2" name="막힌 원호 31"/>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aphicFrame>
        <p:nvGraphicFramePr>
          <p:cNvPr id="2" name="표 1"/>
          <p:cNvGraphicFramePr>
            <a:graphicFrameLocks noGrp="1"/>
          </p:cNvGraphicFramePr>
          <p:nvPr>
            <p:extLst>
              <p:ext uri="{D42A27DB-BD31-4B8C-83A1-F6EECF244321}">
                <p14:modId xmlns:p14="http://schemas.microsoft.com/office/powerpoint/2010/main" val="469683191"/>
              </p:ext>
            </p:extLst>
          </p:nvPr>
        </p:nvGraphicFramePr>
        <p:xfrm>
          <a:off x="1187625" y="1510757"/>
          <a:ext cx="7416822" cy="4565600"/>
        </p:xfrm>
        <a:graphic>
          <a:graphicData uri="http://schemas.openxmlformats.org/drawingml/2006/table">
            <a:tbl>
              <a:tblPr>
                <a:tableStyleId>{5940675A-B579-460E-94D1-54222C63F5DA}</a:tableStyleId>
              </a:tblPr>
              <a:tblGrid>
                <a:gridCol w="1440159">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gridCol w="1272141">
                  <a:extLst>
                    <a:ext uri="{9D8B030D-6E8A-4147-A177-3AD203B41FA5}">
                      <a16:colId xmlns:a16="http://schemas.microsoft.com/office/drawing/2014/main" val="20002"/>
                    </a:ext>
                  </a:extLst>
                </a:gridCol>
                <a:gridCol w="1272141">
                  <a:extLst>
                    <a:ext uri="{9D8B030D-6E8A-4147-A177-3AD203B41FA5}">
                      <a16:colId xmlns:a16="http://schemas.microsoft.com/office/drawing/2014/main" val="20003"/>
                    </a:ext>
                  </a:extLst>
                </a:gridCol>
                <a:gridCol w="1272141">
                  <a:extLst>
                    <a:ext uri="{9D8B030D-6E8A-4147-A177-3AD203B41FA5}">
                      <a16:colId xmlns:a16="http://schemas.microsoft.com/office/drawing/2014/main" val="20004"/>
                    </a:ext>
                  </a:extLst>
                </a:gridCol>
              </a:tblGrid>
              <a:tr h="250066">
                <a:tc rowSpan="2">
                  <a:txBody>
                    <a:bodyPr/>
                    <a:lstStyle/>
                    <a:p>
                      <a:pPr marL="0" marR="0" indent="0" algn="ctr" fontAlgn="base" latinLnBrk="0">
                        <a:lnSpc>
                          <a:spcPct val="130000"/>
                        </a:lnSpc>
                        <a:spcBef>
                          <a:spcPts val="0"/>
                        </a:spcBef>
                        <a:spcAft>
                          <a:spcPts val="0"/>
                        </a:spcAft>
                      </a:pPr>
                      <a:r>
                        <a:rPr lang="ko-KR" altLang="en-US" sz="900" b="1" kern="0" spc="0" dirty="0">
                          <a:effectLst/>
                        </a:rPr>
                        <a:t>단계</a:t>
                      </a:r>
                      <a:endParaRPr lang="ko-KR" altLang="en-US" sz="800" b="1" kern="0" spc="0" dirty="0">
                        <a:solidFill>
                          <a:srgbClr val="000000"/>
                        </a:solidFill>
                        <a:effectLst/>
                      </a:endParaRPr>
                    </a:p>
                  </a:txBody>
                  <a:tcPr marL="46460" marR="46460" marT="12845" marB="12845" anchor="ctr">
                    <a:solidFill>
                      <a:schemeClr val="accent6">
                        <a:lumMod val="20000"/>
                        <a:lumOff val="80000"/>
                      </a:schemeClr>
                    </a:solidFill>
                  </a:tcPr>
                </a:tc>
                <a:tc rowSpan="2">
                  <a:txBody>
                    <a:bodyPr/>
                    <a:lstStyle/>
                    <a:p>
                      <a:pPr marL="0" marR="0" indent="0" algn="ctr" fontAlgn="base" latinLnBrk="0">
                        <a:lnSpc>
                          <a:spcPct val="130000"/>
                        </a:lnSpc>
                        <a:spcBef>
                          <a:spcPts val="0"/>
                        </a:spcBef>
                        <a:spcAft>
                          <a:spcPts val="0"/>
                        </a:spcAft>
                      </a:pPr>
                      <a:r>
                        <a:rPr lang="ko-KR" altLang="en-US" sz="900" b="1" kern="0" spc="0" dirty="0">
                          <a:effectLst/>
                        </a:rPr>
                        <a:t>산출물</a:t>
                      </a:r>
                      <a:endParaRPr lang="ko-KR" altLang="en-US" sz="800" b="1" kern="0" spc="0" dirty="0">
                        <a:solidFill>
                          <a:srgbClr val="000000"/>
                        </a:solidFill>
                        <a:effectLst/>
                      </a:endParaRPr>
                    </a:p>
                  </a:txBody>
                  <a:tcPr marL="46460" marR="46460" marT="12845" marB="12845" anchor="ctr">
                    <a:solidFill>
                      <a:schemeClr val="accent6">
                        <a:lumMod val="20000"/>
                        <a:lumOff val="80000"/>
                      </a:schemeClr>
                    </a:solidFill>
                  </a:tcPr>
                </a:tc>
                <a:tc>
                  <a:txBody>
                    <a:bodyPr/>
                    <a:lstStyle/>
                    <a:p>
                      <a:pPr marL="0" marR="0" indent="0" algn="ctr" fontAlgn="base" latinLnBrk="0">
                        <a:lnSpc>
                          <a:spcPct val="130000"/>
                        </a:lnSpc>
                        <a:spcBef>
                          <a:spcPts val="0"/>
                        </a:spcBef>
                        <a:spcAft>
                          <a:spcPts val="0"/>
                        </a:spcAft>
                      </a:pPr>
                      <a:r>
                        <a:rPr lang="ko-KR" altLang="en-US" sz="700" b="1" kern="0" spc="0" dirty="0">
                          <a:effectLst/>
                        </a:rPr>
                        <a:t>일반</a:t>
                      </a:r>
                      <a:endParaRPr lang="ko-KR" altLang="en-US" sz="800" b="1" kern="0" spc="0" dirty="0">
                        <a:solidFill>
                          <a:srgbClr val="000000"/>
                        </a:solidFill>
                        <a:effectLst/>
                      </a:endParaRPr>
                    </a:p>
                  </a:txBody>
                  <a:tcPr marL="46460" marR="46460" marT="12845" marB="12845" anchor="ctr">
                    <a:solidFill>
                      <a:schemeClr val="accent6">
                        <a:lumMod val="60000"/>
                        <a:lumOff val="40000"/>
                      </a:schemeClr>
                    </a:solidFill>
                  </a:tcPr>
                </a:tc>
                <a:tc>
                  <a:txBody>
                    <a:bodyPr/>
                    <a:lstStyle/>
                    <a:p>
                      <a:pPr marL="0" marR="0" indent="0" algn="ctr" fontAlgn="base" latinLnBrk="0">
                        <a:lnSpc>
                          <a:spcPct val="130000"/>
                        </a:lnSpc>
                        <a:spcBef>
                          <a:spcPts val="0"/>
                        </a:spcBef>
                        <a:spcAft>
                          <a:spcPts val="0"/>
                        </a:spcAft>
                      </a:pPr>
                      <a:r>
                        <a:rPr lang="ko-KR" altLang="en-US" sz="700" b="1" kern="0" spc="0" dirty="0">
                          <a:effectLst/>
                        </a:rPr>
                        <a:t>응용 소프트웨어</a:t>
                      </a:r>
                      <a:endParaRPr lang="ko-KR" altLang="en-US" sz="800" b="1" kern="0" spc="0" dirty="0">
                        <a:solidFill>
                          <a:srgbClr val="000000"/>
                        </a:solidFill>
                        <a:effectLst/>
                      </a:endParaRPr>
                    </a:p>
                  </a:txBody>
                  <a:tcPr marL="46460" marR="46460" marT="12845" marB="12845" anchor="ctr">
                    <a:solidFill>
                      <a:schemeClr val="accent6">
                        <a:lumMod val="40000"/>
                        <a:lumOff val="60000"/>
                      </a:schemeClr>
                    </a:solidFill>
                  </a:tcPr>
                </a:tc>
                <a:tc>
                  <a:txBody>
                    <a:bodyPr/>
                    <a:lstStyle/>
                    <a:p>
                      <a:pPr marL="0" marR="0" indent="0" algn="ctr" fontAlgn="base" latinLnBrk="0">
                        <a:lnSpc>
                          <a:spcPct val="130000"/>
                        </a:lnSpc>
                        <a:spcBef>
                          <a:spcPts val="0"/>
                        </a:spcBef>
                        <a:spcAft>
                          <a:spcPts val="0"/>
                        </a:spcAft>
                      </a:pPr>
                      <a:r>
                        <a:rPr lang="ko-KR" altLang="en-US" sz="700" b="1" kern="0" spc="0" dirty="0">
                          <a:effectLst/>
                        </a:rPr>
                        <a:t>응용 하드웨어</a:t>
                      </a:r>
                      <a:endParaRPr lang="ko-KR" altLang="en-US" sz="800" b="1" kern="0" spc="0" dirty="0">
                        <a:solidFill>
                          <a:srgbClr val="000000"/>
                        </a:solidFill>
                        <a:effectLst/>
                      </a:endParaRPr>
                    </a:p>
                  </a:txBody>
                  <a:tcPr marL="46460" marR="46460" marT="12845" marB="12845" anchor="ctr">
                    <a:solidFill>
                      <a:schemeClr val="accent6">
                        <a:lumMod val="40000"/>
                        <a:lumOff val="60000"/>
                      </a:schemeClr>
                    </a:solidFill>
                  </a:tcPr>
                </a:tc>
                <a:extLst>
                  <a:ext uri="{0D108BD9-81ED-4DB2-BD59-A6C34878D82A}">
                    <a16:rowId xmlns:a16="http://schemas.microsoft.com/office/drawing/2014/main" val="10000"/>
                  </a:ext>
                </a:extLst>
              </a:tr>
              <a:tr h="476408">
                <a:tc vMerge="1">
                  <a:txBody>
                    <a:bodyPr/>
                    <a:lstStyle/>
                    <a:p>
                      <a:pPr latinLnBrk="1"/>
                      <a:endParaRPr lang="ko-KR" altLang="en-US"/>
                    </a:p>
                  </a:txBody>
                  <a:tcPr/>
                </a:tc>
                <a:tc vMerge="1">
                  <a:txBody>
                    <a:bodyPr/>
                    <a:lstStyle/>
                    <a:p>
                      <a:pPr latinLnBrk="1"/>
                      <a:endParaRPr lang="ko-KR" altLang="en-US"/>
                    </a:p>
                  </a:txBody>
                  <a:tcPr/>
                </a:tc>
                <a:tc>
                  <a:txBody>
                    <a:bodyPr/>
                    <a:lstStyle/>
                    <a:p>
                      <a:pPr marL="0" marR="0" indent="-171450" algn="ctr" fontAlgn="base" latinLnBrk="1">
                        <a:lnSpc>
                          <a:spcPct val="150000"/>
                        </a:lnSpc>
                        <a:spcBef>
                          <a:spcPts val="0"/>
                        </a:spcBef>
                        <a:spcAft>
                          <a:spcPts val="0"/>
                        </a:spcAft>
                      </a:pPr>
                      <a:r>
                        <a:rPr lang="ko-KR" altLang="en-US" sz="700" b="1" kern="0" spc="0" dirty="0">
                          <a:effectLst/>
                        </a:rPr>
                        <a:t>∙모바일 </a:t>
                      </a:r>
                      <a:r>
                        <a:rPr lang="en-US" sz="700" b="1" kern="0" spc="0" dirty="0">
                          <a:effectLst/>
                        </a:rPr>
                        <a:t>APP</a:t>
                      </a:r>
                      <a:endParaRPr lang="en-US" sz="800" b="1" kern="0" spc="0" dirty="0">
                        <a:effectLst/>
                      </a:endParaRPr>
                    </a:p>
                    <a:p>
                      <a:pPr marL="0" marR="0" indent="-171450" algn="ctr" fontAlgn="base" latinLnBrk="1">
                        <a:lnSpc>
                          <a:spcPct val="150000"/>
                        </a:lnSpc>
                        <a:spcBef>
                          <a:spcPts val="0"/>
                        </a:spcBef>
                        <a:spcAft>
                          <a:spcPts val="0"/>
                        </a:spcAft>
                      </a:pPr>
                      <a:r>
                        <a:rPr lang="en-US" sz="700" b="1" kern="0" spc="0" dirty="0">
                          <a:effectLst/>
                        </a:rPr>
                        <a:t>∙Web </a:t>
                      </a:r>
                      <a:r>
                        <a:rPr lang="ko-KR" altLang="en-US" sz="700" b="1" kern="0" spc="0" dirty="0">
                          <a:effectLst/>
                        </a:rPr>
                        <a:t>등</a:t>
                      </a:r>
                      <a:endParaRPr lang="ko-KR" altLang="en-US" sz="800" b="1" kern="0" spc="0" dirty="0">
                        <a:solidFill>
                          <a:srgbClr val="000000"/>
                        </a:solidFill>
                        <a:effectLst/>
                      </a:endParaRPr>
                    </a:p>
                  </a:txBody>
                  <a:tcPr marL="46460" marR="46460" marT="12845" marB="12845" anchor="ctr">
                    <a:solidFill>
                      <a:schemeClr val="accent6">
                        <a:lumMod val="60000"/>
                        <a:lumOff val="40000"/>
                      </a:schemeClr>
                    </a:solidFill>
                  </a:tcPr>
                </a:tc>
                <a:tc>
                  <a:txBody>
                    <a:bodyPr/>
                    <a:lstStyle/>
                    <a:p>
                      <a:pPr marL="0" marR="0" indent="-171450" algn="ctr" fontAlgn="base" latinLnBrk="1">
                        <a:lnSpc>
                          <a:spcPct val="150000"/>
                        </a:lnSpc>
                        <a:spcBef>
                          <a:spcPts val="0"/>
                        </a:spcBef>
                        <a:spcAft>
                          <a:spcPts val="0"/>
                        </a:spcAft>
                      </a:pPr>
                      <a:r>
                        <a:rPr lang="ko-KR" altLang="en-US" sz="700" b="1" kern="0" spc="0" dirty="0">
                          <a:effectLst/>
                        </a:rPr>
                        <a:t>∙</a:t>
                      </a:r>
                      <a:r>
                        <a:rPr lang="ko-KR" altLang="en-US" sz="700" b="1" kern="0" spc="0" dirty="0" err="1">
                          <a:effectLst/>
                        </a:rPr>
                        <a:t>빅데이터</a:t>
                      </a:r>
                      <a:endParaRPr lang="ko-KR" altLang="en-US" sz="800" b="1" kern="0" spc="0" dirty="0">
                        <a:effectLst/>
                      </a:endParaRPr>
                    </a:p>
                    <a:p>
                      <a:pPr marL="0" marR="0" indent="-171450" algn="ctr" fontAlgn="base" latinLnBrk="1">
                        <a:lnSpc>
                          <a:spcPct val="150000"/>
                        </a:lnSpc>
                        <a:spcBef>
                          <a:spcPts val="0"/>
                        </a:spcBef>
                        <a:spcAft>
                          <a:spcPts val="0"/>
                        </a:spcAft>
                      </a:pPr>
                      <a:r>
                        <a:rPr lang="ko-KR" altLang="en-US" sz="700" b="1" kern="0" spc="0" dirty="0">
                          <a:effectLst/>
                        </a:rPr>
                        <a:t>∙인공지능</a:t>
                      </a:r>
                      <a:endParaRPr lang="ko-KR" altLang="en-US" sz="800" b="1" kern="0" spc="0" dirty="0">
                        <a:effectLst/>
                      </a:endParaRPr>
                    </a:p>
                    <a:p>
                      <a:pPr marL="0" marR="0" indent="-171450" algn="ctr" fontAlgn="base" latinLnBrk="1">
                        <a:lnSpc>
                          <a:spcPct val="150000"/>
                        </a:lnSpc>
                        <a:spcBef>
                          <a:spcPts val="0"/>
                        </a:spcBef>
                        <a:spcAft>
                          <a:spcPts val="0"/>
                        </a:spcAft>
                      </a:pPr>
                      <a:r>
                        <a:rPr lang="ko-KR" altLang="en-US" sz="700" b="1" kern="0" spc="0" dirty="0">
                          <a:effectLst/>
                        </a:rPr>
                        <a:t>∙블록체인 등</a:t>
                      </a:r>
                      <a:endParaRPr lang="ko-KR" altLang="en-US" sz="800" b="1" kern="0" spc="0" dirty="0">
                        <a:solidFill>
                          <a:srgbClr val="000000"/>
                        </a:solidFill>
                        <a:effectLst/>
                      </a:endParaRPr>
                    </a:p>
                  </a:txBody>
                  <a:tcPr marL="46460" marR="46460" marT="12845" marB="12845" anchor="ctr">
                    <a:solidFill>
                      <a:schemeClr val="accent6">
                        <a:lumMod val="40000"/>
                        <a:lumOff val="60000"/>
                      </a:schemeClr>
                    </a:solidFill>
                  </a:tcPr>
                </a:tc>
                <a:tc>
                  <a:txBody>
                    <a:bodyPr/>
                    <a:lstStyle/>
                    <a:p>
                      <a:pPr marL="0" marR="0" indent="-171450" algn="ctr" fontAlgn="base" latinLnBrk="1">
                        <a:lnSpc>
                          <a:spcPct val="150000"/>
                        </a:lnSpc>
                        <a:spcBef>
                          <a:spcPts val="0"/>
                        </a:spcBef>
                        <a:spcAft>
                          <a:spcPts val="0"/>
                        </a:spcAft>
                      </a:pPr>
                      <a:r>
                        <a:rPr lang="en-US" sz="700" b="1" kern="0" spc="0" dirty="0">
                          <a:effectLst/>
                        </a:rPr>
                        <a:t>∙</a:t>
                      </a:r>
                      <a:r>
                        <a:rPr lang="en-US" sz="700" b="1" kern="0" spc="0" dirty="0" err="1">
                          <a:effectLst/>
                        </a:rPr>
                        <a:t>IoT</a:t>
                      </a:r>
                      <a:endParaRPr lang="en-US" sz="800" b="1" kern="0" spc="0" dirty="0">
                        <a:effectLst/>
                      </a:endParaRPr>
                    </a:p>
                    <a:p>
                      <a:pPr marL="0" marR="0" indent="-171450" algn="ctr" fontAlgn="base" latinLnBrk="1">
                        <a:lnSpc>
                          <a:spcPct val="150000"/>
                        </a:lnSpc>
                        <a:spcBef>
                          <a:spcPts val="0"/>
                        </a:spcBef>
                        <a:spcAft>
                          <a:spcPts val="0"/>
                        </a:spcAft>
                      </a:pPr>
                      <a:r>
                        <a:rPr lang="en-US" sz="700" b="1" kern="0" spc="0" dirty="0">
                          <a:effectLst/>
                        </a:rPr>
                        <a:t>∙</a:t>
                      </a:r>
                      <a:r>
                        <a:rPr lang="ko-KR" altLang="en-US" sz="700" b="1" kern="0" spc="0" dirty="0">
                          <a:effectLst/>
                        </a:rPr>
                        <a:t>로봇</a:t>
                      </a:r>
                      <a:endParaRPr lang="ko-KR" altLang="en-US" sz="800" b="1" kern="0" spc="0" dirty="0">
                        <a:effectLst/>
                      </a:endParaRPr>
                    </a:p>
                    <a:p>
                      <a:pPr marL="0" marR="0" indent="-171450" algn="ctr" fontAlgn="base" latinLnBrk="1">
                        <a:lnSpc>
                          <a:spcPct val="150000"/>
                        </a:lnSpc>
                        <a:spcBef>
                          <a:spcPts val="0"/>
                        </a:spcBef>
                        <a:spcAft>
                          <a:spcPts val="0"/>
                        </a:spcAft>
                      </a:pPr>
                      <a:r>
                        <a:rPr lang="ko-KR" altLang="en-US" sz="700" b="1" kern="0" spc="0" dirty="0">
                          <a:effectLst/>
                        </a:rPr>
                        <a:t>∙</a:t>
                      </a:r>
                      <a:r>
                        <a:rPr lang="ko-KR" altLang="en-US" sz="700" b="1" kern="0" spc="0" dirty="0" err="1">
                          <a:effectLst/>
                        </a:rPr>
                        <a:t>드론</a:t>
                      </a:r>
                      <a:r>
                        <a:rPr lang="ko-KR" altLang="en-US" sz="700" b="1" kern="0" spc="0" dirty="0">
                          <a:effectLst/>
                        </a:rPr>
                        <a:t> 등</a:t>
                      </a:r>
                      <a:endParaRPr lang="ko-KR" altLang="en-US" sz="800" b="1" kern="0" spc="0" dirty="0">
                        <a:solidFill>
                          <a:srgbClr val="000000"/>
                        </a:solidFill>
                        <a:effectLst/>
                      </a:endParaRPr>
                    </a:p>
                  </a:txBody>
                  <a:tcPr marL="46460" marR="46460" marT="12845" marB="12845" anchor="ctr">
                    <a:solidFill>
                      <a:schemeClr val="accent6">
                        <a:lumMod val="40000"/>
                        <a:lumOff val="60000"/>
                      </a:schemeClr>
                    </a:solidFill>
                  </a:tcPr>
                </a:tc>
                <a:extLst>
                  <a:ext uri="{0D108BD9-81ED-4DB2-BD59-A6C34878D82A}">
                    <a16:rowId xmlns:a16="http://schemas.microsoft.com/office/drawing/2014/main" val="10001"/>
                  </a:ext>
                </a:extLst>
              </a:tr>
              <a:tr h="200599">
                <a:tc rowSpan="3">
                  <a:txBody>
                    <a:bodyPr/>
                    <a:lstStyle/>
                    <a:p>
                      <a:pPr marL="0" marR="0" indent="0" algn="ctr" fontAlgn="base" latinLnBrk="0">
                        <a:lnSpc>
                          <a:spcPct val="160000"/>
                        </a:lnSpc>
                        <a:spcBef>
                          <a:spcPts val="0"/>
                        </a:spcBef>
                        <a:spcAft>
                          <a:spcPts val="0"/>
                        </a:spcAft>
                      </a:pPr>
                      <a:r>
                        <a:rPr lang="ko-KR" altLang="en-US" sz="900" b="1" kern="0" spc="0" dirty="0">
                          <a:effectLst/>
                        </a:rPr>
                        <a:t>환경 분석</a:t>
                      </a:r>
                      <a:endParaRPr lang="ko-KR" altLang="en-US" sz="900" b="1" kern="0" spc="0" dirty="0">
                        <a:solidFill>
                          <a:srgbClr val="000000"/>
                        </a:solidFill>
                        <a:effectLst/>
                      </a:endParaRPr>
                    </a:p>
                  </a:txBody>
                  <a:tcPr marL="46460" marR="46460" marT="12845" marB="12845" anchor="ctr"/>
                </a:tc>
                <a:tc>
                  <a:txBody>
                    <a:bodyPr/>
                    <a:lstStyle/>
                    <a:p>
                      <a:pPr marL="215900" marR="25400" indent="-152400" algn="ctr" fontAlgn="base" latinLnBrk="1">
                        <a:lnSpc>
                          <a:spcPct val="160000"/>
                        </a:lnSpc>
                        <a:spcBef>
                          <a:spcPts val="0"/>
                        </a:spcBef>
                        <a:spcAft>
                          <a:spcPts val="0"/>
                        </a:spcAft>
                      </a:pPr>
                      <a:r>
                        <a:rPr lang="ko-KR" altLang="en-US" sz="800" kern="0" spc="0" dirty="0">
                          <a:effectLst/>
                        </a:rPr>
                        <a:t>시장</a:t>
                      </a:r>
                      <a:r>
                        <a:rPr lang="en-US" altLang="ko-KR" sz="800" kern="0" spc="0" dirty="0">
                          <a:effectLst/>
                        </a:rPr>
                        <a:t>/</a:t>
                      </a:r>
                      <a:r>
                        <a:rPr lang="ko-KR" altLang="en-US" sz="800" kern="0" spc="0" dirty="0">
                          <a:effectLst/>
                        </a:rPr>
                        <a:t>기술 환경 분석서</a:t>
                      </a:r>
                      <a:endParaRPr lang="ko-KR" altLang="en-US" sz="900" kern="0" spc="0" dirty="0">
                        <a:solidFill>
                          <a:srgbClr val="000000"/>
                        </a:solidFill>
                        <a:effectLst/>
                      </a:endParaRPr>
                    </a:p>
                  </a:txBody>
                  <a:tcPr marL="46460" marR="46460" marT="12845" marB="12845" anchor="ctr">
                    <a:solidFill>
                      <a:srgbClr val="00B050"/>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solidFill>
                      <a:schemeClr val="bg1">
                        <a:lumMod val="95000"/>
                      </a:schemeClr>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extLst>
                  <a:ext uri="{0D108BD9-81ED-4DB2-BD59-A6C34878D82A}">
                    <a16:rowId xmlns:a16="http://schemas.microsoft.com/office/drawing/2014/main" val="10002"/>
                  </a:ext>
                </a:extLst>
              </a:tr>
              <a:tr h="200599">
                <a:tc vMerge="1">
                  <a:txBody>
                    <a:bodyPr/>
                    <a:lstStyle/>
                    <a:p>
                      <a:pPr latinLnBrk="1"/>
                      <a:endParaRPr lang="ko-KR" altLang="en-US"/>
                    </a:p>
                  </a:txBody>
                  <a:tcPr/>
                </a:tc>
                <a:tc>
                  <a:txBody>
                    <a:bodyPr/>
                    <a:lstStyle/>
                    <a:p>
                      <a:pPr marL="215900" marR="25400" indent="-152400" algn="ctr" fontAlgn="base" latinLnBrk="1">
                        <a:lnSpc>
                          <a:spcPct val="160000"/>
                        </a:lnSpc>
                        <a:spcBef>
                          <a:spcPts val="0"/>
                        </a:spcBef>
                        <a:spcAft>
                          <a:spcPts val="0"/>
                        </a:spcAft>
                      </a:pPr>
                      <a:r>
                        <a:rPr lang="ko-KR" altLang="en-US" sz="800" kern="0" spc="0" dirty="0">
                          <a:effectLst/>
                        </a:rPr>
                        <a:t>설문조사 결과서</a:t>
                      </a:r>
                      <a:endParaRPr lang="ko-KR" altLang="en-US" sz="900" kern="0" spc="0" dirty="0">
                        <a:solidFill>
                          <a:srgbClr val="000000"/>
                        </a:solidFill>
                        <a:effectLst/>
                      </a:endParaRPr>
                    </a:p>
                  </a:txBody>
                  <a:tcPr marL="46460" marR="46460" marT="12845" marB="12845" anchor="ctr">
                    <a:solidFill>
                      <a:srgbClr val="00B050"/>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solidFill>
                      <a:schemeClr val="bg1">
                        <a:lumMod val="95000"/>
                      </a:schemeClr>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extLst>
                  <a:ext uri="{0D108BD9-81ED-4DB2-BD59-A6C34878D82A}">
                    <a16:rowId xmlns:a16="http://schemas.microsoft.com/office/drawing/2014/main" val="10003"/>
                  </a:ext>
                </a:extLst>
              </a:tr>
              <a:tr h="200599">
                <a:tc vMerge="1">
                  <a:txBody>
                    <a:bodyPr/>
                    <a:lstStyle/>
                    <a:p>
                      <a:pPr latinLnBrk="1"/>
                      <a:endParaRPr lang="ko-KR" altLang="en-US"/>
                    </a:p>
                  </a:txBody>
                  <a:tcPr/>
                </a:tc>
                <a:tc>
                  <a:txBody>
                    <a:bodyPr/>
                    <a:lstStyle/>
                    <a:p>
                      <a:pPr marL="215900" marR="25400" indent="-152400" algn="ctr" fontAlgn="base" latinLnBrk="1">
                        <a:lnSpc>
                          <a:spcPct val="160000"/>
                        </a:lnSpc>
                        <a:spcBef>
                          <a:spcPts val="0"/>
                        </a:spcBef>
                        <a:spcAft>
                          <a:spcPts val="0"/>
                        </a:spcAft>
                      </a:pPr>
                      <a:r>
                        <a:rPr lang="ko-KR" altLang="en-US" sz="800" kern="0" spc="0" dirty="0">
                          <a:effectLst/>
                        </a:rPr>
                        <a:t>인터뷰 결과서</a:t>
                      </a:r>
                      <a:endParaRPr lang="ko-KR" altLang="en-US" sz="900" kern="0" spc="0" dirty="0">
                        <a:solidFill>
                          <a:srgbClr val="000000"/>
                        </a:solidFill>
                        <a:effectLst/>
                      </a:endParaRPr>
                    </a:p>
                  </a:txBody>
                  <a:tcPr marL="46460" marR="46460" marT="12845" marB="12845" anchor="ctr">
                    <a:solidFill>
                      <a:srgbClr val="00B050"/>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solidFill>
                      <a:schemeClr val="bg1">
                        <a:lumMod val="95000"/>
                      </a:schemeClr>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extLst>
                  <a:ext uri="{0D108BD9-81ED-4DB2-BD59-A6C34878D82A}">
                    <a16:rowId xmlns:a16="http://schemas.microsoft.com/office/drawing/2014/main" val="10004"/>
                  </a:ext>
                </a:extLst>
              </a:tr>
              <a:tr h="200599">
                <a:tc rowSpan="2">
                  <a:txBody>
                    <a:bodyPr/>
                    <a:lstStyle/>
                    <a:p>
                      <a:pPr marL="0" marR="0" indent="0" algn="ctr" fontAlgn="base" latinLnBrk="0">
                        <a:lnSpc>
                          <a:spcPct val="160000"/>
                        </a:lnSpc>
                        <a:spcBef>
                          <a:spcPts val="0"/>
                        </a:spcBef>
                        <a:spcAft>
                          <a:spcPts val="0"/>
                        </a:spcAft>
                      </a:pPr>
                      <a:r>
                        <a:rPr lang="ko-KR" altLang="en-US" sz="900" b="1" kern="0" spc="0" dirty="0">
                          <a:effectLst/>
                        </a:rPr>
                        <a:t>요구사항 분석</a:t>
                      </a:r>
                      <a:endParaRPr lang="ko-KR" altLang="en-US" sz="900" b="1" kern="0" spc="0" dirty="0">
                        <a:solidFill>
                          <a:srgbClr val="000000"/>
                        </a:solidFill>
                        <a:effectLst/>
                      </a:endParaRPr>
                    </a:p>
                  </a:txBody>
                  <a:tcPr marL="46460" marR="46460" marT="12845" marB="12845" anchor="ctr"/>
                </a:tc>
                <a:tc>
                  <a:txBody>
                    <a:bodyPr/>
                    <a:lstStyle/>
                    <a:p>
                      <a:pPr marL="215900" marR="25400" indent="-152400" algn="ctr" fontAlgn="base" latinLnBrk="1">
                        <a:lnSpc>
                          <a:spcPct val="160000"/>
                        </a:lnSpc>
                        <a:spcBef>
                          <a:spcPts val="0"/>
                        </a:spcBef>
                        <a:spcAft>
                          <a:spcPts val="0"/>
                        </a:spcAft>
                      </a:pPr>
                      <a:r>
                        <a:rPr lang="ko-KR" altLang="en-US" sz="800" kern="0" spc="0" dirty="0">
                          <a:effectLst/>
                        </a:rPr>
                        <a:t>요구사항 정의서</a:t>
                      </a:r>
                      <a:endParaRPr lang="ko-KR" altLang="en-US" sz="900" kern="0" spc="0" dirty="0">
                        <a:solidFill>
                          <a:srgbClr val="000000"/>
                        </a:solidFill>
                        <a:effectLst/>
                      </a:endParaRPr>
                    </a:p>
                  </a:txBody>
                  <a:tcPr marL="46460" marR="46460" marT="12845" marB="12845" anchor="ctr">
                    <a:solidFill>
                      <a:srgbClr val="C00000"/>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solidFill>
                      <a:schemeClr val="bg1">
                        <a:lumMod val="95000"/>
                      </a:schemeClr>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extLst>
                  <a:ext uri="{0D108BD9-81ED-4DB2-BD59-A6C34878D82A}">
                    <a16:rowId xmlns:a16="http://schemas.microsoft.com/office/drawing/2014/main" val="10005"/>
                  </a:ext>
                </a:extLst>
              </a:tr>
              <a:tr h="200599">
                <a:tc vMerge="1">
                  <a:txBody>
                    <a:bodyPr/>
                    <a:lstStyle/>
                    <a:p>
                      <a:pPr latinLnBrk="1"/>
                      <a:endParaRPr lang="ko-KR" altLang="en-US"/>
                    </a:p>
                  </a:txBody>
                  <a:tcPr/>
                </a:tc>
                <a:tc>
                  <a:txBody>
                    <a:bodyPr/>
                    <a:lstStyle/>
                    <a:p>
                      <a:pPr marL="215900" marR="25400" indent="-152400" algn="ctr" fontAlgn="base" latinLnBrk="1">
                        <a:lnSpc>
                          <a:spcPct val="160000"/>
                        </a:lnSpc>
                        <a:spcBef>
                          <a:spcPts val="0"/>
                        </a:spcBef>
                        <a:spcAft>
                          <a:spcPts val="0"/>
                        </a:spcAft>
                      </a:pPr>
                      <a:r>
                        <a:rPr lang="ko-KR" altLang="en-US" sz="800" kern="0" spc="0" dirty="0" err="1">
                          <a:effectLst/>
                        </a:rPr>
                        <a:t>유즈케이스</a:t>
                      </a:r>
                      <a:r>
                        <a:rPr lang="ko-KR" altLang="en-US" sz="800" kern="0" spc="0" dirty="0">
                          <a:effectLst/>
                        </a:rPr>
                        <a:t> 정의서</a:t>
                      </a:r>
                      <a:endParaRPr lang="ko-KR" altLang="en-US" sz="900" kern="0" spc="0" dirty="0">
                        <a:solidFill>
                          <a:srgbClr val="000000"/>
                        </a:solidFill>
                        <a:effectLst/>
                      </a:endParaRPr>
                    </a:p>
                  </a:txBody>
                  <a:tcPr marL="46460" marR="46460" marT="12845" marB="12845" anchor="ctr">
                    <a:solidFill>
                      <a:srgbClr val="C00000"/>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solidFill>
                      <a:schemeClr val="bg1">
                        <a:lumMod val="95000"/>
                      </a:schemeClr>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extLst>
                  <a:ext uri="{0D108BD9-81ED-4DB2-BD59-A6C34878D82A}">
                    <a16:rowId xmlns:a16="http://schemas.microsoft.com/office/drawing/2014/main" val="10006"/>
                  </a:ext>
                </a:extLst>
              </a:tr>
              <a:tr h="219639">
                <a:tc rowSpan="4">
                  <a:txBody>
                    <a:bodyPr/>
                    <a:lstStyle/>
                    <a:p>
                      <a:pPr marL="0" marR="0" indent="0" algn="ctr" fontAlgn="base" latinLnBrk="0">
                        <a:lnSpc>
                          <a:spcPct val="160000"/>
                        </a:lnSpc>
                        <a:spcBef>
                          <a:spcPts val="0"/>
                        </a:spcBef>
                        <a:spcAft>
                          <a:spcPts val="0"/>
                        </a:spcAft>
                      </a:pPr>
                      <a:r>
                        <a:rPr lang="ko-KR" altLang="en-US" sz="900" b="1" kern="0" spc="0" dirty="0">
                          <a:effectLst/>
                        </a:rPr>
                        <a:t>아키텍처 설계</a:t>
                      </a:r>
                      <a:endParaRPr lang="ko-KR" altLang="en-US" sz="900" b="1" kern="0" spc="0" dirty="0">
                        <a:solidFill>
                          <a:srgbClr val="000000"/>
                        </a:solidFill>
                        <a:effectLst/>
                      </a:endParaRPr>
                    </a:p>
                  </a:txBody>
                  <a:tcPr marL="46460" marR="46460" marT="12845" marB="12845" anchor="ctr"/>
                </a:tc>
                <a:tc>
                  <a:txBody>
                    <a:bodyPr/>
                    <a:lstStyle/>
                    <a:p>
                      <a:pPr marL="215900" marR="25400" indent="-152400" algn="ctr" fontAlgn="base" latinLnBrk="0">
                        <a:lnSpc>
                          <a:spcPct val="160000"/>
                        </a:lnSpc>
                        <a:spcBef>
                          <a:spcPts val="0"/>
                        </a:spcBef>
                        <a:spcAft>
                          <a:spcPts val="0"/>
                        </a:spcAft>
                      </a:pPr>
                      <a:r>
                        <a:rPr lang="ko-KR" altLang="en-US" sz="800" kern="0" spc="0" dirty="0">
                          <a:effectLst/>
                        </a:rPr>
                        <a:t>서비스 구성도</a:t>
                      </a:r>
                      <a:r>
                        <a:rPr lang="en-US" altLang="ko-KR" sz="800" kern="0" spc="0" dirty="0">
                          <a:effectLst/>
                        </a:rPr>
                        <a:t>(</a:t>
                      </a:r>
                      <a:r>
                        <a:rPr lang="ko-KR" altLang="en-US" sz="800" kern="0" spc="0" dirty="0">
                          <a:effectLst/>
                        </a:rPr>
                        <a:t>시스템 구성도</a:t>
                      </a:r>
                      <a:r>
                        <a:rPr lang="en-US" altLang="ko-KR" sz="800" kern="0" spc="0" dirty="0">
                          <a:effectLst/>
                        </a:rPr>
                        <a:t>)</a:t>
                      </a:r>
                      <a:endParaRPr lang="ko-KR" altLang="en-US" sz="900" kern="0" spc="0" dirty="0">
                        <a:solidFill>
                          <a:srgbClr val="000000"/>
                        </a:solidFill>
                        <a:effectLst/>
                      </a:endParaRPr>
                    </a:p>
                  </a:txBody>
                  <a:tcPr marL="46460" marR="46460" marT="12845" marB="12845" anchor="ctr">
                    <a:solidFill>
                      <a:srgbClr val="FFFF00"/>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solidFill>
                      <a:schemeClr val="bg1">
                        <a:lumMod val="95000"/>
                      </a:schemeClr>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extLst>
                  <a:ext uri="{0D108BD9-81ED-4DB2-BD59-A6C34878D82A}">
                    <a16:rowId xmlns:a16="http://schemas.microsoft.com/office/drawing/2014/main" val="10007"/>
                  </a:ext>
                </a:extLst>
              </a:tr>
              <a:tr h="200599">
                <a:tc vMerge="1">
                  <a:txBody>
                    <a:bodyPr/>
                    <a:lstStyle/>
                    <a:p>
                      <a:pPr latinLnBrk="1"/>
                      <a:endParaRPr lang="ko-KR" altLang="en-US"/>
                    </a:p>
                  </a:txBody>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서비스 흐름도</a:t>
                      </a:r>
                      <a:r>
                        <a:rPr lang="en-US" altLang="ko-KR" sz="800" kern="0" spc="0" dirty="0">
                          <a:effectLst/>
                        </a:rPr>
                        <a:t>(</a:t>
                      </a:r>
                      <a:r>
                        <a:rPr lang="ko-KR" altLang="en-US" sz="800" kern="0" spc="0" dirty="0">
                          <a:effectLst/>
                        </a:rPr>
                        <a:t>데이터 흐름도</a:t>
                      </a:r>
                      <a:r>
                        <a:rPr lang="en-US" altLang="ko-KR" sz="800" kern="0" spc="0" dirty="0">
                          <a:effectLst/>
                        </a:rPr>
                        <a:t>)</a:t>
                      </a:r>
                      <a:endParaRPr lang="ko-KR" altLang="en-US" sz="900" kern="0" spc="0" dirty="0">
                        <a:solidFill>
                          <a:srgbClr val="000000"/>
                        </a:solidFill>
                        <a:effectLst/>
                      </a:endParaRPr>
                    </a:p>
                  </a:txBody>
                  <a:tcPr marL="46460" marR="46460" marT="12845" marB="12845" anchor="ctr">
                    <a:solidFill>
                      <a:srgbClr val="FFFF00"/>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solidFill>
                      <a:schemeClr val="bg1">
                        <a:lumMod val="95000"/>
                      </a:schemeClr>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tc>
                  <a:txBody>
                    <a:bodyPr/>
                    <a:lstStyle/>
                    <a:p>
                      <a:pPr marL="215900" marR="25400" indent="-152400" algn="ctr" fontAlgn="base" latinLnBrk="0">
                        <a:lnSpc>
                          <a:spcPct val="160000"/>
                        </a:lnSpc>
                        <a:spcBef>
                          <a:spcPts val="0"/>
                        </a:spcBef>
                        <a:spcAft>
                          <a:spcPts val="0"/>
                        </a:spcAft>
                      </a:pPr>
                      <a:r>
                        <a:rPr lang="ko-KR" altLang="en-US" sz="800" kern="0" spc="0">
                          <a:effectLst/>
                        </a:rPr>
                        <a:t>△</a:t>
                      </a:r>
                      <a:endParaRPr lang="ko-KR" altLang="en-US" sz="900" kern="0" spc="0">
                        <a:solidFill>
                          <a:srgbClr val="000000"/>
                        </a:solidFill>
                        <a:effectLst/>
                      </a:endParaRPr>
                    </a:p>
                  </a:txBody>
                  <a:tcPr marL="46460" marR="46460" marT="12845" marB="12845" anchor="ctr"/>
                </a:tc>
                <a:extLst>
                  <a:ext uri="{0D108BD9-81ED-4DB2-BD59-A6C34878D82A}">
                    <a16:rowId xmlns:a16="http://schemas.microsoft.com/office/drawing/2014/main" val="10008"/>
                  </a:ext>
                </a:extLst>
              </a:tr>
              <a:tr h="200599">
                <a:tc vMerge="1">
                  <a:txBody>
                    <a:bodyPr/>
                    <a:lstStyle/>
                    <a:p>
                      <a:pPr latinLnBrk="1"/>
                      <a:endParaRPr lang="ko-KR" altLang="en-US"/>
                    </a:p>
                  </a:txBody>
                  <a:tcPr/>
                </a:tc>
                <a:tc>
                  <a:txBody>
                    <a:bodyPr/>
                    <a:lstStyle/>
                    <a:p>
                      <a:pPr marL="215900" marR="25400" indent="-152400" algn="ctr" fontAlgn="base" latinLnBrk="0">
                        <a:lnSpc>
                          <a:spcPct val="160000"/>
                        </a:lnSpc>
                        <a:spcBef>
                          <a:spcPts val="0"/>
                        </a:spcBef>
                        <a:spcAft>
                          <a:spcPts val="0"/>
                        </a:spcAft>
                      </a:pPr>
                      <a:r>
                        <a:rPr lang="en-US" sz="800" kern="0" spc="0" dirty="0">
                          <a:effectLst/>
                        </a:rPr>
                        <a:t>UI/UX </a:t>
                      </a:r>
                      <a:r>
                        <a:rPr lang="ko-KR" altLang="en-US" sz="800" kern="0" spc="0" dirty="0">
                          <a:effectLst/>
                        </a:rPr>
                        <a:t>정의서</a:t>
                      </a:r>
                      <a:endParaRPr lang="ko-KR" altLang="en-US" sz="900" kern="0" spc="0" dirty="0">
                        <a:solidFill>
                          <a:srgbClr val="000000"/>
                        </a:solidFill>
                        <a:effectLst/>
                      </a:endParaRPr>
                    </a:p>
                  </a:txBody>
                  <a:tcPr marL="46460" marR="46460" marT="12845" marB="12845" anchor="ctr">
                    <a:solidFill>
                      <a:srgbClr val="C00000"/>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solidFill>
                      <a:schemeClr val="bg1">
                        <a:lumMod val="95000"/>
                      </a:schemeClr>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extLst>
                  <a:ext uri="{0D108BD9-81ED-4DB2-BD59-A6C34878D82A}">
                    <a16:rowId xmlns:a16="http://schemas.microsoft.com/office/drawing/2014/main" val="10009"/>
                  </a:ext>
                </a:extLst>
              </a:tr>
              <a:tr h="200599">
                <a:tc vMerge="1">
                  <a:txBody>
                    <a:bodyPr/>
                    <a:lstStyle/>
                    <a:p>
                      <a:pPr latinLnBrk="1"/>
                      <a:endParaRPr lang="ko-KR" altLang="en-US"/>
                    </a:p>
                  </a:txBody>
                  <a:tcPr/>
                </a:tc>
                <a:tc>
                  <a:txBody>
                    <a:bodyPr/>
                    <a:lstStyle/>
                    <a:p>
                      <a:pPr marL="215900" marR="25400" indent="-152400" algn="ctr" fontAlgn="base" latinLnBrk="1">
                        <a:lnSpc>
                          <a:spcPct val="160000"/>
                        </a:lnSpc>
                        <a:spcBef>
                          <a:spcPts val="0"/>
                        </a:spcBef>
                        <a:spcAft>
                          <a:spcPts val="0"/>
                        </a:spcAft>
                      </a:pPr>
                      <a:r>
                        <a:rPr lang="ko-KR" altLang="en-US" sz="800" kern="0" spc="0" dirty="0">
                          <a:effectLst/>
                        </a:rPr>
                        <a:t>하드웨어</a:t>
                      </a:r>
                      <a:r>
                        <a:rPr lang="en-US" altLang="ko-KR" sz="800" kern="0" spc="0" dirty="0">
                          <a:effectLst/>
                        </a:rPr>
                        <a:t>/</a:t>
                      </a:r>
                      <a:r>
                        <a:rPr lang="ko-KR" altLang="en-US" sz="800" kern="0" spc="0" dirty="0">
                          <a:effectLst/>
                        </a:rPr>
                        <a:t>센서 구성도</a:t>
                      </a:r>
                      <a:endParaRPr lang="ko-KR" altLang="en-US" sz="900" kern="0" spc="0" dirty="0">
                        <a:solidFill>
                          <a:srgbClr val="000000"/>
                        </a:solidFill>
                        <a:effectLst/>
                      </a:endParaRPr>
                    </a:p>
                  </a:txBody>
                  <a:tcPr marL="46460" marR="46460" marT="12845" marB="12845" anchor="ctr">
                    <a:solidFill>
                      <a:srgbClr val="00B050"/>
                    </a:solidFill>
                  </a:tcPr>
                </a:tc>
                <a:tc>
                  <a:txBody>
                    <a:bodyPr/>
                    <a:lstStyle/>
                    <a:p>
                      <a:pPr marL="215900" marR="25400" indent="-152400" algn="ctr" fontAlgn="base" latinLnBrk="0">
                        <a:lnSpc>
                          <a:spcPct val="160000"/>
                        </a:lnSpc>
                        <a:spcBef>
                          <a:spcPts val="0"/>
                        </a:spcBef>
                        <a:spcAft>
                          <a:spcPts val="0"/>
                        </a:spcAft>
                      </a:pPr>
                      <a:r>
                        <a:rPr lang="en-US" sz="800" kern="0" spc="0" dirty="0">
                          <a:effectLst/>
                        </a:rPr>
                        <a:t>-</a:t>
                      </a:r>
                      <a:endParaRPr lang="en-US" sz="900" kern="0" spc="0" dirty="0">
                        <a:solidFill>
                          <a:srgbClr val="000000"/>
                        </a:solidFill>
                        <a:effectLst/>
                      </a:endParaRPr>
                    </a:p>
                  </a:txBody>
                  <a:tcPr marL="46460" marR="46460" marT="12845" marB="12845" anchor="ctr">
                    <a:solidFill>
                      <a:schemeClr val="bg1">
                        <a:lumMod val="95000"/>
                      </a:schemeClr>
                    </a:solidFill>
                  </a:tcPr>
                </a:tc>
                <a:tc>
                  <a:txBody>
                    <a:bodyPr/>
                    <a:lstStyle/>
                    <a:p>
                      <a:pPr marL="215900" marR="25400" indent="-152400" algn="ctr" fontAlgn="base" latinLnBrk="0">
                        <a:lnSpc>
                          <a:spcPct val="160000"/>
                        </a:lnSpc>
                        <a:spcBef>
                          <a:spcPts val="0"/>
                        </a:spcBef>
                        <a:spcAft>
                          <a:spcPts val="0"/>
                        </a:spcAft>
                      </a:pPr>
                      <a:r>
                        <a:rPr lang="en-US" sz="800" kern="0" spc="0" dirty="0">
                          <a:effectLst/>
                        </a:rPr>
                        <a:t>-</a:t>
                      </a:r>
                      <a:endParaRPr lang="en-US" sz="900" kern="0" spc="0" dirty="0">
                        <a:solidFill>
                          <a:srgbClr val="000000"/>
                        </a:solidFill>
                        <a:effectLst/>
                      </a:endParaRPr>
                    </a:p>
                  </a:txBody>
                  <a:tcPr marL="46460" marR="46460" marT="12845" marB="12845" anchor="ctr"/>
                </a:tc>
                <a:tc>
                  <a:txBody>
                    <a:bodyPr/>
                    <a:lstStyle/>
                    <a:p>
                      <a:pPr marL="215900" marR="25400" indent="-152400" algn="ctr" fontAlgn="base" latinLnBrk="0">
                        <a:lnSpc>
                          <a:spcPct val="160000"/>
                        </a:lnSpc>
                        <a:spcBef>
                          <a:spcPts val="0"/>
                        </a:spcBef>
                        <a:spcAft>
                          <a:spcPts val="0"/>
                        </a:spcAft>
                      </a:pPr>
                      <a:r>
                        <a:rPr lang="ko-KR" altLang="en-US" sz="800" kern="0" spc="0">
                          <a:effectLst/>
                        </a:rPr>
                        <a:t>○</a:t>
                      </a:r>
                      <a:endParaRPr lang="ko-KR" altLang="en-US" sz="900" kern="0" spc="0">
                        <a:solidFill>
                          <a:srgbClr val="000000"/>
                        </a:solidFill>
                        <a:effectLst/>
                      </a:endParaRPr>
                    </a:p>
                  </a:txBody>
                  <a:tcPr marL="46460" marR="46460" marT="12845" marB="12845" anchor="ctr"/>
                </a:tc>
                <a:extLst>
                  <a:ext uri="{0D108BD9-81ED-4DB2-BD59-A6C34878D82A}">
                    <a16:rowId xmlns:a16="http://schemas.microsoft.com/office/drawing/2014/main" val="10010"/>
                  </a:ext>
                </a:extLst>
              </a:tr>
              <a:tr h="200599">
                <a:tc rowSpan="7">
                  <a:txBody>
                    <a:bodyPr/>
                    <a:lstStyle/>
                    <a:p>
                      <a:pPr marL="0" marR="0" indent="0" algn="ctr" fontAlgn="base" latinLnBrk="0">
                        <a:lnSpc>
                          <a:spcPct val="160000"/>
                        </a:lnSpc>
                        <a:spcBef>
                          <a:spcPts val="0"/>
                        </a:spcBef>
                        <a:spcAft>
                          <a:spcPts val="0"/>
                        </a:spcAft>
                      </a:pPr>
                      <a:r>
                        <a:rPr lang="ko-KR" altLang="en-US" sz="900" b="1" kern="0" spc="0" dirty="0">
                          <a:effectLst/>
                        </a:rPr>
                        <a:t>기능 설계</a:t>
                      </a:r>
                      <a:endParaRPr lang="ko-KR" altLang="en-US" sz="900" b="1" kern="0" spc="0" dirty="0">
                        <a:solidFill>
                          <a:srgbClr val="000000"/>
                        </a:solidFill>
                        <a:effectLst/>
                      </a:endParaRPr>
                    </a:p>
                  </a:txBody>
                  <a:tcPr marL="46460" marR="46460" marT="12845" marB="12845" anchor="ctr"/>
                </a:tc>
                <a:tc>
                  <a:txBody>
                    <a:bodyPr/>
                    <a:lstStyle/>
                    <a:p>
                      <a:pPr marL="215900" marR="25400" indent="-152400" algn="ctr" fontAlgn="base" latinLnBrk="1">
                        <a:lnSpc>
                          <a:spcPct val="160000"/>
                        </a:lnSpc>
                        <a:spcBef>
                          <a:spcPts val="0"/>
                        </a:spcBef>
                        <a:spcAft>
                          <a:spcPts val="0"/>
                        </a:spcAft>
                      </a:pPr>
                      <a:r>
                        <a:rPr lang="ko-KR" altLang="en-US" sz="800" kern="0" spc="0" dirty="0">
                          <a:effectLst/>
                        </a:rPr>
                        <a:t>메뉴 구성도</a:t>
                      </a:r>
                      <a:endParaRPr lang="ko-KR" altLang="en-US" sz="900" kern="0" spc="0" dirty="0">
                        <a:solidFill>
                          <a:srgbClr val="000000"/>
                        </a:solidFill>
                        <a:effectLst/>
                      </a:endParaRPr>
                    </a:p>
                  </a:txBody>
                  <a:tcPr marL="46460" marR="46460" marT="12845" marB="12845" anchor="ctr">
                    <a:solidFill>
                      <a:srgbClr val="C00000"/>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solidFill>
                      <a:schemeClr val="bg1">
                        <a:lumMod val="95000"/>
                      </a:schemeClr>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tc>
                  <a:txBody>
                    <a:bodyPr/>
                    <a:lstStyle/>
                    <a:p>
                      <a:pPr marL="215900" marR="25400" indent="-152400" algn="ctr" fontAlgn="base" latinLnBrk="0">
                        <a:lnSpc>
                          <a:spcPct val="160000"/>
                        </a:lnSpc>
                        <a:spcBef>
                          <a:spcPts val="0"/>
                        </a:spcBef>
                        <a:spcAft>
                          <a:spcPts val="0"/>
                        </a:spcAft>
                      </a:pPr>
                      <a:r>
                        <a:rPr lang="ko-KR" altLang="en-US" sz="800" kern="0" spc="0">
                          <a:effectLst/>
                        </a:rPr>
                        <a:t>○</a:t>
                      </a:r>
                      <a:endParaRPr lang="ko-KR" altLang="en-US" sz="900" kern="0" spc="0">
                        <a:solidFill>
                          <a:srgbClr val="000000"/>
                        </a:solidFill>
                        <a:effectLst/>
                      </a:endParaRPr>
                    </a:p>
                  </a:txBody>
                  <a:tcPr marL="46460" marR="46460" marT="12845" marB="12845" anchor="ctr"/>
                </a:tc>
                <a:extLst>
                  <a:ext uri="{0D108BD9-81ED-4DB2-BD59-A6C34878D82A}">
                    <a16:rowId xmlns:a16="http://schemas.microsoft.com/office/drawing/2014/main" val="10011"/>
                  </a:ext>
                </a:extLst>
              </a:tr>
              <a:tr h="200599">
                <a:tc vMerge="1">
                  <a:txBody>
                    <a:bodyPr/>
                    <a:lstStyle/>
                    <a:p>
                      <a:pPr latinLnBrk="1"/>
                      <a:endParaRPr lang="ko-KR" altLang="en-US"/>
                    </a:p>
                  </a:txBody>
                  <a:tcPr/>
                </a:tc>
                <a:tc>
                  <a:txBody>
                    <a:bodyPr/>
                    <a:lstStyle/>
                    <a:p>
                      <a:pPr marL="215900" marR="25400" indent="-152400" algn="ctr" fontAlgn="base" latinLnBrk="1">
                        <a:lnSpc>
                          <a:spcPct val="160000"/>
                        </a:lnSpc>
                        <a:spcBef>
                          <a:spcPts val="0"/>
                        </a:spcBef>
                        <a:spcAft>
                          <a:spcPts val="0"/>
                        </a:spcAft>
                      </a:pPr>
                      <a:r>
                        <a:rPr lang="ko-KR" altLang="en-US" sz="800" kern="0" spc="0" dirty="0">
                          <a:effectLst/>
                        </a:rPr>
                        <a:t>화면 설계서</a:t>
                      </a:r>
                      <a:endParaRPr lang="ko-KR" altLang="en-US" sz="900" kern="0" spc="0" dirty="0">
                        <a:solidFill>
                          <a:srgbClr val="000000"/>
                        </a:solidFill>
                        <a:effectLst/>
                      </a:endParaRPr>
                    </a:p>
                  </a:txBody>
                  <a:tcPr marL="46460" marR="46460" marT="12845" marB="12845" anchor="ctr">
                    <a:solidFill>
                      <a:srgbClr val="C00000"/>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solidFill>
                      <a:schemeClr val="bg1">
                        <a:lumMod val="95000"/>
                      </a:schemeClr>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tc>
                  <a:txBody>
                    <a:bodyPr/>
                    <a:lstStyle/>
                    <a:p>
                      <a:pPr marL="215900" marR="25400" indent="-152400" algn="ctr" fontAlgn="base" latinLnBrk="0">
                        <a:lnSpc>
                          <a:spcPct val="160000"/>
                        </a:lnSpc>
                        <a:spcBef>
                          <a:spcPts val="0"/>
                        </a:spcBef>
                        <a:spcAft>
                          <a:spcPts val="0"/>
                        </a:spcAft>
                      </a:pPr>
                      <a:r>
                        <a:rPr lang="ko-KR" altLang="en-US" sz="800" kern="0" spc="0">
                          <a:effectLst/>
                        </a:rPr>
                        <a:t>△</a:t>
                      </a:r>
                      <a:endParaRPr lang="ko-KR" altLang="en-US" sz="900" kern="0" spc="0">
                        <a:solidFill>
                          <a:srgbClr val="000000"/>
                        </a:solidFill>
                        <a:effectLst/>
                      </a:endParaRPr>
                    </a:p>
                  </a:txBody>
                  <a:tcPr marL="46460" marR="46460" marT="12845" marB="12845" anchor="ctr"/>
                </a:tc>
                <a:extLst>
                  <a:ext uri="{0D108BD9-81ED-4DB2-BD59-A6C34878D82A}">
                    <a16:rowId xmlns:a16="http://schemas.microsoft.com/office/drawing/2014/main" val="10012"/>
                  </a:ext>
                </a:extLst>
              </a:tr>
              <a:tr h="200599">
                <a:tc vMerge="1">
                  <a:txBody>
                    <a:bodyPr/>
                    <a:lstStyle/>
                    <a:p>
                      <a:pPr latinLnBrk="1"/>
                      <a:endParaRPr lang="ko-KR" altLang="en-US"/>
                    </a:p>
                  </a:txBody>
                  <a:tcPr/>
                </a:tc>
                <a:tc>
                  <a:txBody>
                    <a:bodyPr/>
                    <a:lstStyle/>
                    <a:p>
                      <a:pPr marL="215900" marR="25400" indent="-152400" algn="ctr" fontAlgn="base" latinLnBrk="1">
                        <a:lnSpc>
                          <a:spcPct val="160000"/>
                        </a:lnSpc>
                        <a:spcBef>
                          <a:spcPts val="0"/>
                        </a:spcBef>
                        <a:spcAft>
                          <a:spcPts val="0"/>
                        </a:spcAft>
                      </a:pPr>
                      <a:r>
                        <a:rPr lang="ko-KR" altLang="en-US" sz="800" kern="0" spc="0" dirty="0" err="1">
                          <a:effectLst/>
                        </a:rPr>
                        <a:t>엔티티</a:t>
                      </a:r>
                      <a:r>
                        <a:rPr lang="ko-KR" altLang="en-US" sz="800" kern="0" spc="0" dirty="0">
                          <a:effectLst/>
                        </a:rPr>
                        <a:t> 관계도</a:t>
                      </a:r>
                      <a:endParaRPr lang="ko-KR" altLang="en-US" sz="900" kern="0" spc="0" dirty="0">
                        <a:solidFill>
                          <a:srgbClr val="000000"/>
                        </a:solidFill>
                        <a:effectLst/>
                      </a:endParaRPr>
                    </a:p>
                  </a:txBody>
                  <a:tcPr marL="46460" marR="46460" marT="12845" marB="12845" anchor="ctr">
                    <a:solidFill>
                      <a:srgbClr val="3B5AA8"/>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solidFill>
                      <a:schemeClr val="bg1">
                        <a:lumMod val="95000"/>
                      </a:schemeClr>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extLst>
                  <a:ext uri="{0D108BD9-81ED-4DB2-BD59-A6C34878D82A}">
                    <a16:rowId xmlns:a16="http://schemas.microsoft.com/office/drawing/2014/main" val="10013"/>
                  </a:ext>
                </a:extLst>
              </a:tr>
              <a:tr h="200599">
                <a:tc vMerge="1">
                  <a:txBody>
                    <a:bodyPr/>
                    <a:lstStyle/>
                    <a:p>
                      <a:pPr latinLnBrk="1"/>
                      <a:endParaRPr lang="ko-KR" altLang="en-US"/>
                    </a:p>
                  </a:txBody>
                  <a:tcPr/>
                </a:tc>
                <a:tc>
                  <a:txBody>
                    <a:bodyPr/>
                    <a:lstStyle/>
                    <a:p>
                      <a:pPr marL="215900" marR="25400" indent="-152400" algn="ctr" fontAlgn="base" latinLnBrk="1">
                        <a:lnSpc>
                          <a:spcPct val="160000"/>
                        </a:lnSpc>
                        <a:spcBef>
                          <a:spcPts val="0"/>
                        </a:spcBef>
                        <a:spcAft>
                          <a:spcPts val="0"/>
                        </a:spcAft>
                      </a:pPr>
                      <a:r>
                        <a:rPr lang="ko-KR" altLang="en-US" sz="800" kern="0" spc="0" dirty="0">
                          <a:effectLst/>
                        </a:rPr>
                        <a:t>기능 처리도</a:t>
                      </a:r>
                      <a:r>
                        <a:rPr lang="en-US" altLang="ko-KR" sz="800" kern="0" spc="0" dirty="0">
                          <a:effectLst/>
                        </a:rPr>
                        <a:t>(</a:t>
                      </a:r>
                      <a:r>
                        <a:rPr lang="ko-KR" altLang="en-US" sz="800" kern="0" spc="0" dirty="0">
                          <a:effectLst/>
                        </a:rPr>
                        <a:t>기능 흐름도</a:t>
                      </a:r>
                      <a:r>
                        <a:rPr lang="en-US" altLang="ko-KR" sz="800" kern="0" spc="0" dirty="0">
                          <a:effectLst/>
                        </a:rPr>
                        <a:t>)</a:t>
                      </a:r>
                      <a:endParaRPr lang="ko-KR" altLang="en-US" sz="900" kern="0" spc="0" dirty="0">
                        <a:solidFill>
                          <a:srgbClr val="000000"/>
                        </a:solidFill>
                        <a:effectLst/>
                      </a:endParaRPr>
                    </a:p>
                  </a:txBody>
                  <a:tcPr marL="46460" marR="46460" marT="12845" marB="12845" anchor="ctr">
                    <a:solidFill>
                      <a:schemeClr val="accent2"/>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solidFill>
                      <a:schemeClr val="bg1">
                        <a:lumMod val="95000"/>
                      </a:schemeClr>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extLst>
                  <a:ext uri="{0D108BD9-81ED-4DB2-BD59-A6C34878D82A}">
                    <a16:rowId xmlns:a16="http://schemas.microsoft.com/office/drawing/2014/main" val="10014"/>
                  </a:ext>
                </a:extLst>
              </a:tr>
              <a:tr h="200599">
                <a:tc vMerge="1">
                  <a:txBody>
                    <a:bodyPr/>
                    <a:lstStyle/>
                    <a:p>
                      <a:pPr latinLnBrk="1"/>
                      <a:endParaRPr lang="ko-KR" altLang="en-US"/>
                    </a:p>
                  </a:txBody>
                  <a:tcPr/>
                </a:tc>
                <a:tc>
                  <a:txBody>
                    <a:bodyPr/>
                    <a:lstStyle/>
                    <a:p>
                      <a:pPr marL="215900" marR="25400" indent="-152400" algn="ctr" fontAlgn="base" latinLnBrk="1">
                        <a:lnSpc>
                          <a:spcPct val="160000"/>
                        </a:lnSpc>
                        <a:spcBef>
                          <a:spcPts val="0"/>
                        </a:spcBef>
                        <a:spcAft>
                          <a:spcPts val="0"/>
                        </a:spcAft>
                      </a:pPr>
                      <a:r>
                        <a:rPr lang="ko-KR" altLang="en-US" sz="800" kern="0" spc="0" dirty="0">
                          <a:effectLst/>
                        </a:rPr>
                        <a:t>알고리즘 명세서</a:t>
                      </a:r>
                      <a:r>
                        <a:rPr lang="en-US" altLang="ko-KR" sz="800" kern="0" spc="0" dirty="0">
                          <a:effectLst/>
                        </a:rPr>
                        <a:t>/</a:t>
                      </a:r>
                      <a:r>
                        <a:rPr lang="ko-KR" altLang="en-US" sz="800" kern="0" spc="0" dirty="0">
                          <a:effectLst/>
                        </a:rPr>
                        <a:t>설명서</a:t>
                      </a:r>
                      <a:endParaRPr lang="ko-KR" altLang="en-US" sz="900" kern="0" spc="0" dirty="0">
                        <a:solidFill>
                          <a:srgbClr val="000000"/>
                        </a:solidFill>
                        <a:effectLst/>
                      </a:endParaRPr>
                    </a:p>
                  </a:txBody>
                  <a:tcPr marL="46460" marR="46460" marT="12845" marB="12845" anchor="ctr">
                    <a:solidFill>
                      <a:srgbClr val="FFFF00"/>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solidFill>
                      <a:schemeClr val="bg1">
                        <a:lumMod val="95000"/>
                      </a:schemeClr>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extLst>
                  <a:ext uri="{0D108BD9-81ED-4DB2-BD59-A6C34878D82A}">
                    <a16:rowId xmlns:a16="http://schemas.microsoft.com/office/drawing/2014/main" val="10015"/>
                  </a:ext>
                </a:extLst>
              </a:tr>
              <a:tr h="200599">
                <a:tc vMerge="1">
                  <a:txBody>
                    <a:bodyPr/>
                    <a:lstStyle/>
                    <a:p>
                      <a:pPr latinLnBrk="1"/>
                      <a:endParaRPr lang="ko-KR" altLang="en-US"/>
                    </a:p>
                  </a:txBody>
                  <a:tcPr/>
                </a:tc>
                <a:tc>
                  <a:txBody>
                    <a:bodyPr/>
                    <a:lstStyle/>
                    <a:p>
                      <a:pPr marL="215900" marR="25400" indent="-152400" algn="ctr" fontAlgn="base" latinLnBrk="1">
                        <a:lnSpc>
                          <a:spcPct val="160000"/>
                        </a:lnSpc>
                        <a:spcBef>
                          <a:spcPts val="0"/>
                        </a:spcBef>
                        <a:spcAft>
                          <a:spcPts val="0"/>
                        </a:spcAft>
                      </a:pPr>
                      <a:r>
                        <a:rPr lang="ko-KR" altLang="en-US" sz="800" kern="0" spc="0" dirty="0">
                          <a:effectLst/>
                        </a:rPr>
                        <a:t>데이터 수집처리 정의서</a:t>
                      </a:r>
                      <a:endParaRPr lang="ko-KR" altLang="en-US" sz="900" kern="0" spc="0" dirty="0">
                        <a:solidFill>
                          <a:srgbClr val="000000"/>
                        </a:solidFill>
                        <a:effectLst/>
                      </a:endParaRPr>
                    </a:p>
                  </a:txBody>
                  <a:tcPr marL="46460" marR="46460" marT="12845" marB="12845" anchor="ctr">
                    <a:solidFill>
                      <a:srgbClr val="3B5AA8"/>
                    </a:solidFill>
                  </a:tcPr>
                </a:tc>
                <a:tc>
                  <a:txBody>
                    <a:bodyPr/>
                    <a:lstStyle/>
                    <a:p>
                      <a:pPr marL="215900" marR="25400" indent="-152400" algn="ctr" fontAlgn="base" latinLnBrk="0">
                        <a:lnSpc>
                          <a:spcPct val="160000"/>
                        </a:lnSpc>
                        <a:spcBef>
                          <a:spcPts val="0"/>
                        </a:spcBef>
                        <a:spcAft>
                          <a:spcPts val="0"/>
                        </a:spcAft>
                      </a:pPr>
                      <a:r>
                        <a:rPr lang="en-US" sz="800" kern="0" spc="0" dirty="0">
                          <a:effectLst/>
                        </a:rPr>
                        <a:t>-</a:t>
                      </a:r>
                      <a:endParaRPr lang="en-US" sz="900" kern="0" spc="0" dirty="0">
                        <a:solidFill>
                          <a:srgbClr val="000000"/>
                        </a:solidFill>
                        <a:effectLst/>
                      </a:endParaRPr>
                    </a:p>
                  </a:txBody>
                  <a:tcPr marL="46460" marR="46460" marT="12845" marB="12845" anchor="ctr">
                    <a:solidFill>
                      <a:schemeClr val="bg1">
                        <a:lumMod val="95000"/>
                      </a:schemeClr>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tc>
                  <a:txBody>
                    <a:bodyPr/>
                    <a:lstStyle/>
                    <a:p>
                      <a:pPr marL="215900" marR="25400" indent="-152400" algn="ctr" fontAlgn="base" latinLnBrk="0">
                        <a:lnSpc>
                          <a:spcPct val="160000"/>
                        </a:lnSpc>
                        <a:spcBef>
                          <a:spcPts val="0"/>
                        </a:spcBef>
                        <a:spcAft>
                          <a:spcPts val="0"/>
                        </a:spcAft>
                      </a:pPr>
                      <a:r>
                        <a:rPr lang="en-US" sz="800" kern="0" spc="0" dirty="0">
                          <a:effectLst/>
                        </a:rPr>
                        <a:t>-</a:t>
                      </a:r>
                      <a:endParaRPr lang="en-US" sz="900" kern="0" spc="0" dirty="0">
                        <a:solidFill>
                          <a:srgbClr val="000000"/>
                        </a:solidFill>
                        <a:effectLst/>
                      </a:endParaRPr>
                    </a:p>
                  </a:txBody>
                  <a:tcPr marL="46460" marR="46460" marT="12845" marB="12845" anchor="ctr"/>
                </a:tc>
                <a:extLst>
                  <a:ext uri="{0D108BD9-81ED-4DB2-BD59-A6C34878D82A}">
                    <a16:rowId xmlns:a16="http://schemas.microsoft.com/office/drawing/2014/main" val="10016"/>
                  </a:ext>
                </a:extLst>
              </a:tr>
              <a:tr h="200599">
                <a:tc vMerge="1">
                  <a:txBody>
                    <a:bodyPr/>
                    <a:lstStyle/>
                    <a:p>
                      <a:pPr latinLnBrk="1"/>
                      <a:endParaRPr lang="ko-KR" altLang="en-US"/>
                    </a:p>
                  </a:txBody>
                  <a:tcPr/>
                </a:tc>
                <a:tc>
                  <a:txBody>
                    <a:bodyPr/>
                    <a:lstStyle/>
                    <a:p>
                      <a:pPr marL="215900" marR="25400" indent="-152400" algn="ctr" fontAlgn="base" latinLnBrk="1">
                        <a:lnSpc>
                          <a:spcPct val="160000"/>
                        </a:lnSpc>
                        <a:spcBef>
                          <a:spcPts val="0"/>
                        </a:spcBef>
                        <a:spcAft>
                          <a:spcPts val="0"/>
                        </a:spcAft>
                      </a:pPr>
                      <a:r>
                        <a:rPr lang="ko-KR" altLang="en-US" sz="800" kern="0" spc="0" dirty="0">
                          <a:effectLst/>
                        </a:rPr>
                        <a:t>하드웨어 설계도</a:t>
                      </a:r>
                      <a:endParaRPr lang="ko-KR" altLang="en-US" sz="900" kern="0" spc="0" dirty="0">
                        <a:solidFill>
                          <a:srgbClr val="000000"/>
                        </a:solidFill>
                        <a:effectLst/>
                      </a:endParaRPr>
                    </a:p>
                  </a:txBody>
                  <a:tcPr marL="46460" marR="46460" marT="12845" marB="12845" anchor="ctr">
                    <a:solidFill>
                      <a:srgbClr val="00B050"/>
                    </a:solidFill>
                  </a:tcPr>
                </a:tc>
                <a:tc>
                  <a:txBody>
                    <a:bodyPr/>
                    <a:lstStyle/>
                    <a:p>
                      <a:pPr marL="215900" marR="25400" indent="-152400" algn="ctr" fontAlgn="base" latinLnBrk="0">
                        <a:lnSpc>
                          <a:spcPct val="160000"/>
                        </a:lnSpc>
                        <a:spcBef>
                          <a:spcPts val="0"/>
                        </a:spcBef>
                        <a:spcAft>
                          <a:spcPts val="0"/>
                        </a:spcAft>
                      </a:pPr>
                      <a:r>
                        <a:rPr lang="en-US" sz="800" kern="0" spc="0" dirty="0">
                          <a:effectLst/>
                        </a:rPr>
                        <a:t>-</a:t>
                      </a:r>
                      <a:endParaRPr lang="en-US" sz="900" kern="0" spc="0" dirty="0">
                        <a:solidFill>
                          <a:srgbClr val="000000"/>
                        </a:solidFill>
                        <a:effectLst/>
                      </a:endParaRPr>
                    </a:p>
                  </a:txBody>
                  <a:tcPr marL="46460" marR="46460" marT="12845" marB="12845" anchor="ctr">
                    <a:solidFill>
                      <a:schemeClr val="bg1">
                        <a:lumMod val="95000"/>
                      </a:schemeClr>
                    </a:solidFill>
                  </a:tcPr>
                </a:tc>
                <a:tc>
                  <a:txBody>
                    <a:bodyPr/>
                    <a:lstStyle/>
                    <a:p>
                      <a:pPr marL="215900" marR="25400" indent="-152400" algn="ctr" fontAlgn="base" latinLnBrk="0">
                        <a:lnSpc>
                          <a:spcPct val="160000"/>
                        </a:lnSpc>
                        <a:spcBef>
                          <a:spcPts val="0"/>
                        </a:spcBef>
                        <a:spcAft>
                          <a:spcPts val="0"/>
                        </a:spcAft>
                      </a:pPr>
                      <a:r>
                        <a:rPr lang="en-US" sz="800" kern="0" spc="0" dirty="0">
                          <a:effectLst/>
                        </a:rPr>
                        <a:t>-</a:t>
                      </a:r>
                      <a:endParaRPr lang="en-US" sz="900" kern="0" spc="0" dirty="0">
                        <a:solidFill>
                          <a:srgbClr val="000000"/>
                        </a:solidFill>
                        <a:effectLst/>
                      </a:endParaRPr>
                    </a:p>
                  </a:txBody>
                  <a:tcPr marL="46460" marR="46460" marT="12845" marB="12845" anchor="ct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extLst>
                  <a:ext uri="{0D108BD9-81ED-4DB2-BD59-A6C34878D82A}">
                    <a16:rowId xmlns:a16="http://schemas.microsoft.com/office/drawing/2014/main" val="10017"/>
                  </a:ext>
                </a:extLst>
              </a:tr>
              <a:tr h="200599">
                <a:tc rowSpan="3">
                  <a:txBody>
                    <a:bodyPr/>
                    <a:lstStyle/>
                    <a:p>
                      <a:pPr marL="0" marR="0" indent="0" algn="ctr" fontAlgn="base" latinLnBrk="0">
                        <a:lnSpc>
                          <a:spcPct val="160000"/>
                        </a:lnSpc>
                        <a:spcBef>
                          <a:spcPts val="0"/>
                        </a:spcBef>
                        <a:spcAft>
                          <a:spcPts val="0"/>
                        </a:spcAft>
                      </a:pPr>
                      <a:r>
                        <a:rPr lang="ko-KR" altLang="en-US" sz="900" b="1" kern="0" spc="0" dirty="0">
                          <a:effectLst/>
                        </a:rPr>
                        <a:t>개발 </a:t>
                      </a:r>
                      <a:r>
                        <a:rPr lang="en-US" altLang="ko-KR" sz="900" b="1" kern="0" spc="0" dirty="0">
                          <a:effectLst/>
                        </a:rPr>
                        <a:t>/ </a:t>
                      </a:r>
                      <a:r>
                        <a:rPr lang="ko-KR" altLang="en-US" sz="900" b="1" kern="0" spc="0" dirty="0">
                          <a:effectLst/>
                        </a:rPr>
                        <a:t>구현</a:t>
                      </a:r>
                      <a:endParaRPr lang="ko-KR" altLang="en-US" sz="900" b="1" kern="0" spc="0" dirty="0">
                        <a:solidFill>
                          <a:srgbClr val="000000"/>
                        </a:solidFill>
                        <a:effectLst/>
                      </a:endParaRPr>
                    </a:p>
                  </a:txBody>
                  <a:tcPr marL="46460" marR="46460" marT="12845" marB="12845" anchor="ctr"/>
                </a:tc>
                <a:tc>
                  <a:txBody>
                    <a:bodyPr/>
                    <a:lstStyle/>
                    <a:p>
                      <a:pPr marL="215900" marR="25400" indent="-152400" algn="ctr" fontAlgn="base" latinLnBrk="1">
                        <a:lnSpc>
                          <a:spcPct val="160000"/>
                        </a:lnSpc>
                        <a:spcBef>
                          <a:spcPts val="0"/>
                        </a:spcBef>
                        <a:spcAft>
                          <a:spcPts val="0"/>
                        </a:spcAft>
                      </a:pPr>
                      <a:r>
                        <a:rPr lang="ko-KR" altLang="en-US" sz="800" kern="0" spc="0" dirty="0">
                          <a:effectLst/>
                        </a:rPr>
                        <a:t>프로그램 목록</a:t>
                      </a:r>
                      <a:endParaRPr lang="ko-KR" altLang="en-US" sz="900" kern="0" spc="0" dirty="0">
                        <a:solidFill>
                          <a:srgbClr val="000000"/>
                        </a:solidFill>
                        <a:effectLst/>
                      </a:endParaRPr>
                    </a:p>
                  </a:txBody>
                  <a:tcPr marL="46460" marR="46460" marT="12845" marB="12845" anchor="ctr">
                    <a:solidFill>
                      <a:srgbClr val="C00000"/>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solidFill>
                      <a:schemeClr val="bg1">
                        <a:lumMod val="95000"/>
                      </a:schemeClr>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extLst>
                  <a:ext uri="{0D108BD9-81ED-4DB2-BD59-A6C34878D82A}">
                    <a16:rowId xmlns:a16="http://schemas.microsoft.com/office/drawing/2014/main" val="10018"/>
                  </a:ext>
                </a:extLst>
              </a:tr>
              <a:tr h="200599">
                <a:tc vMerge="1">
                  <a:txBody>
                    <a:bodyPr/>
                    <a:lstStyle/>
                    <a:p>
                      <a:pPr latinLnBrk="1"/>
                      <a:endParaRPr lang="ko-KR" altLang="en-US"/>
                    </a:p>
                  </a:txBody>
                  <a:tcPr/>
                </a:tc>
                <a:tc>
                  <a:txBody>
                    <a:bodyPr/>
                    <a:lstStyle/>
                    <a:p>
                      <a:pPr marL="215900" marR="25400" indent="-152400" algn="ctr" fontAlgn="base" latinLnBrk="1">
                        <a:lnSpc>
                          <a:spcPct val="160000"/>
                        </a:lnSpc>
                        <a:spcBef>
                          <a:spcPts val="0"/>
                        </a:spcBef>
                        <a:spcAft>
                          <a:spcPts val="0"/>
                        </a:spcAft>
                      </a:pPr>
                      <a:r>
                        <a:rPr lang="ko-KR" altLang="en-US" sz="800" kern="0" spc="0" dirty="0">
                          <a:effectLst/>
                        </a:rPr>
                        <a:t>테이블 정의서</a:t>
                      </a:r>
                      <a:endParaRPr lang="ko-KR" altLang="en-US" sz="900" kern="0" spc="0" dirty="0">
                        <a:solidFill>
                          <a:srgbClr val="000000"/>
                        </a:solidFill>
                        <a:effectLst/>
                      </a:endParaRPr>
                    </a:p>
                  </a:txBody>
                  <a:tcPr marL="46460" marR="46460" marT="12845" marB="12845" anchor="ctr">
                    <a:solidFill>
                      <a:srgbClr val="3B5AA8"/>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solidFill>
                      <a:schemeClr val="bg1">
                        <a:lumMod val="95000"/>
                      </a:schemeClr>
                    </a:solidFill>
                  </a:tcPr>
                </a:tc>
                <a:tc>
                  <a:txBody>
                    <a:bodyPr/>
                    <a:lstStyle/>
                    <a:p>
                      <a:pPr marL="215900" marR="25400" indent="-152400" algn="ctr" fontAlgn="base" latinLnBrk="0">
                        <a:lnSpc>
                          <a:spcPct val="160000"/>
                        </a:lnSpc>
                        <a:spcBef>
                          <a:spcPts val="0"/>
                        </a:spcBef>
                        <a:spcAft>
                          <a:spcPts val="0"/>
                        </a:spcAft>
                      </a:pPr>
                      <a:r>
                        <a:rPr lang="ko-KR" altLang="en-US" sz="800" kern="0" spc="0">
                          <a:effectLst/>
                        </a:rPr>
                        <a:t>○</a:t>
                      </a:r>
                      <a:endParaRPr lang="ko-KR" altLang="en-US" sz="900" kern="0" spc="0">
                        <a:solidFill>
                          <a:srgbClr val="000000"/>
                        </a:solidFill>
                        <a:effectLst/>
                      </a:endParaRPr>
                    </a:p>
                  </a:txBody>
                  <a:tcPr marL="46460" marR="46460" marT="12845" marB="12845" anchor="ct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extLst>
                  <a:ext uri="{0D108BD9-81ED-4DB2-BD59-A6C34878D82A}">
                    <a16:rowId xmlns:a16="http://schemas.microsoft.com/office/drawing/2014/main" val="10019"/>
                  </a:ext>
                </a:extLst>
              </a:tr>
              <a:tr h="200599">
                <a:tc vMerge="1">
                  <a:txBody>
                    <a:bodyPr/>
                    <a:lstStyle/>
                    <a:p>
                      <a:pPr latinLnBrk="1"/>
                      <a:endParaRPr lang="ko-KR" altLang="en-US"/>
                    </a:p>
                  </a:txBody>
                  <a:tcPr/>
                </a:tc>
                <a:tc>
                  <a:txBody>
                    <a:bodyPr/>
                    <a:lstStyle/>
                    <a:p>
                      <a:pPr marL="215900" marR="25400" indent="-152400" algn="ctr" fontAlgn="base" latinLnBrk="1">
                        <a:lnSpc>
                          <a:spcPct val="160000"/>
                        </a:lnSpc>
                        <a:spcBef>
                          <a:spcPts val="0"/>
                        </a:spcBef>
                        <a:spcAft>
                          <a:spcPts val="0"/>
                        </a:spcAft>
                      </a:pPr>
                      <a:r>
                        <a:rPr lang="ko-KR" altLang="en-US" sz="800" kern="0" spc="0" dirty="0">
                          <a:effectLst/>
                        </a:rPr>
                        <a:t>핵심 소스코드</a:t>
                      </a:r>
                      <a:endParaRPr lang="ko-KR" altLang="en-US" sz="900" kern="0" spc="0" dirty="0">
                        <a:solidFill>
                          <a:srgbClr val="000000"/>
                        </a:solidFill>
                        <a:effectLst/>
                      </a:endParaRPr>
                    </a:p>
                  </a:txBody>
                  <a:tcPr marL="46460" marR="46460" marT="12845" marB="12845" anchor="ct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solidFill>
                      <a:schemeClr val="bg1">
                        <a:lumMod val="95000"/>
                      </a:schemeClr>
                    </a:solidFill>
                  </a:tcP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tc>
                  <a:txBody>
                    <a:bodyPr/>
                    <a:lstStyle/>
                    <a:p>
                      <a:pPr marL="215900" marR="25400" indent="-152400" algn="ctr" fontAlgn="base" latinLnBrk="0">
                        <a:lnSpc>
                          <a:spcPct val="160000"/>
                        </a:lnSpc>
                        <a:spcBef>
                          <a:spcPts val="0"/>
                        </a:spcBef>
                        <a:spcAft>
                          <a:spcPts val="0"/>
                        </a:spcAft>
                      </a:pPr>
                      <a:r>
                        <a:rPr lang="ko-KR" altLang="en-US" sz="800" kern="0" spc="0" dirty="0">
                          <a:effectLst/>
                        </a:rPr>
                        <a:t>○</a:t>
                      </a:r>
                      <a:endParaRPr lang="ko-KR" altLang="en-US" sz="900" kern="0" spc="0" dirty="0">
                        <a:solidFill>
                          <a:srgbClr val="000000"/>
                        </a:solidFill>
                        <a:effectLst/>
                      </a:endParaRPr>
                    </a:p>
                  </a:txBody>
                  <a:tcPr marL="46460" marR="46460" marT="12845" marB="12845" anchor="ctr"/>
                </a:tc>
                <a:extLst>
                  <a:ext uri="{0D108BD9-81ED-4DB2-BD59-A6C34878D82A}">
                    <a16:rowId xmlns:a16="http://schemas.microsoft.com/office/drawing/2014/main" val="10020"/>
                  </a:ext>
                </a:extLst>
              </a:tr>
            </a:tbl>
          </a:graphicData>
        </a:graphic>
      </p:graphicFrame>
      <p:sp>
        <p:nvSpPr>
          <p:cNvPr id="3" name="TextBox 2"/>
          <p:cNvSpPr txBox="1"/>
          <p:nvPr/>
        </p:nvSpPr>
        <p:spPr>
          <a:xfrm>
            <a:off x="1187624" y="6453336"/>
            <a:ext cx="3456384" cy="323165"/>
          </a:xfrm>
          <a:prstGeom prst="rect">
            <a:avLst/>
          </a:prstGeom>
          <a:noFill/>
        </p:spPr>
        <p:txBody>
          <a:bodyPr wrap="square" rtlCol="0">
            <a:spAutoFit/>
          </a:bodyPr>
          <a:lstStyle/>
          <a:p>
            <a:r>
              <a:rPr lang="en-US" altLang="ko-KR" sz="1500" dirty="0"/>
              <a:t>※ ○ </a:t>
            </a:r>
            <a:r>
              <a:rPr lang="ko-KR" altLang="en-US" sz="1500" dirty="0"/>
              <a:t>필수</a:t>
            </a:r>
            <a:r>
              <a:rPr lang="en-US" altLang="ko-KR" sz="1500" dirty="0"/>
              <a:t>, △ </a:t>
            </a:r>
            <a:r>
              <a:rPr lang="ko-KR" altLang="en-US" sz="1500" dirty="0"/>
              <a:t>선택</a:t>
            </a:r>
          </a:p>
        </p:txBody>
      </p:sp>
      <p:pic>
        <p:nvPicPr>
          <p:cNvPr id="4" name="그림 3">
            <a:extLst>
              <a:ext uri="{FF2B5EF4-FFF2-40B4-BE49-F238E27FC236}">
                <a16:creationId xmlns:a16="http://schemas.microsoft.com/office/drawing/2014/main" id="{5D688C9C-E99B-9A7D-A7C8-08A5313761D3}"/>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Tree>
    <p:extLst>
      <p:ext uri="{BB962C8B-B14F-4D97-AF65-F5344CB8AC3E}">
        <p14:creationId xmlns:p14="http://schemas.microsoft.com/office/powerpoint/2010/main" val="180784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29104-4768-AC81-369A-4D7095432DE4}"/>
            </a:ext>
          </a:extLst>
        </p:cNvPr>
        <p:cNvGrpSpPr/>
        <p:nvPr/>
      </p:nvGrpSpPr>
      <p:grpSpPr>
        <a:xfrm>
          <a:off x="0" y="0"/>
          <a:ext cx="0" cy="0"/>
          <a:chOff x="0" y="0"/>
          <a:chExt cx="0" cy="0"/>
        </a:xfrm>
      </p:grpSpPr>
      <p:sp>
        <p:nvSpPr>
          <p:cNvPr id="17" name="직사각형 16">
            <a:extLst>
              <a:ext uri="{FF2B5EF4-FFF2-40B4-BE49-F238E27FC236}">
                <a16:creationId xmlns:a16="http://schemas.microsoft.com/office/drawing/2014/main" id="{4479EBEE-EAC6-EDCA-A42F-2C20704CBB58}"/>
              </a:ext>
            </a:extLst>
          </p:cNvPr>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직선 연결선 17">
            <a:extLst>
              <a:ext uri="{FF2B5EF4-FFF2-40B4-BE49-F238E27FC236}">
                <a16:creationId xmlns:a16="http://schemas.microsoft.com/office/drawing/2014/main" id="{F3341B88-9CB9-4369-721F-CDF5A2C65B6C}"/>
              </a:ext>
            </a:extLst>
          </p:cNvPr>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66FC690F-C455-96E2-FBDD-F1C73C59D2F8}"/>
              </a:ext>
            </a:extLst>
          </p:cNvPr>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4" name="제목 12">
            <a:extLst>
              <a:ext uri="{FF2B5EF4-FFF2-40B4-BE49-F238E27FC236}">
                <a16:creationId xmlns:a16="http://schemas.microsoft.com/office/drawing/2014/main" id="{509278DA-9837-5D5C-7EDB-73B270ED9AB9}"/>
              </a:ext>
            </a:extLst>
          </p:cNvPr>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None/>
            </a:pPr>
            <a:r>
              <a:rPr lang="en-US" altLang="ko-KR" sz="1700" b="1" dirty="0">
                <a:solidFill>
                  <a:schemeClr val="bg1"/>
                </a:solidFill>
                <a:latin typeface="+mn-ea"/>
                <a:cs typeface="+mj-cs"/>
              </a:rPr>
              <a:t>| </a:t>
            </a:r>
            <a:r>
              <a:rPr lang="ko-KR" altLang="en-US" sz="1700" b="1" dirty="0">
                <a:solidFill>
                  <a:schemeClr val="bg1"/>
                </a:solidFill>
                <a:latin typeface="+mn-ea"/>
                <a:cs typeface="+mj-cs"/>
              </a:rPr>
              <a:t>시스템 아키텍처 개요</a:t>
            </a:r>
          </a:p>
        </p:txBody>
      </p:sp>
      <p:pic>
        <p:nvPicPr>
          <p:cNvPr id="29" name="Picture 2">
            <a:extLst>
              <a:ext uri="{FF2B5EF4-FFF2-40B4-BE49-F238E27FC236}">
                <a16:creationId xmlns:a16="http://schemas.microsoft.com/office/drawing/2014/main" id="{136D6DA7-286B-1513-CE8A-2F0528227E91}"/>
              </a:ext>
            </a:extLst>
          </p:cNvPr>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0" name="막힌 원호 29">
            <a:extLst>
              <a:ext uri="{FF2B5EF4-FFF2-40B4-BE49-F238E27FC236}">
                <a16:creationId xmlns:a16="http://schemas.microsoft.com/office/drawing/2014/main" id="{FEC36914-9F51-BDE7-DD85-1CE62EB2AB60}"/>
              </a:ext>
            </a:extLst>
          </p:cNvPr>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2" name="그림 1">
            <a:extLst>
              <a:ext uri="{FF2B5EF4-FFF2-40B4-BE49-F238E27FC236}">
                <a16:creationId xmlns:a16="http://schemas.microsoft.com/office/drawing/2014/main" id="{FAA7A265-6707-C589-45C5-C06C337DE6DA}"/>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501" name="TB501">
            <a:extLst>
              <a:ext uri="{FF2B5EF4-FFF2-40B4-BE49-F238E27FC236}">
                <a16:creationId xmlns:a16="http://schemas.microsoft.com/office/drawing/2014/main" id="{A2996B1E-D98F-24B3-7497-2CCA38ABF454}"/>
              </a:ext>
            </a:extLst>
          </p:cNvPr>
          <p:cNvSpPr txBox="1"/>
          <p:nvPr/>
        </p:nvSpPr>
        <p:spPr>
          <a:xfrm>
            <a:off x="402336" y="1463040"/>
            <a:ext cx="8229600" cy="292608"/>
          </a:xfrm>
          <a:prstGeom prst="rect">
            <a:avLst/>
          </a:prstGeom>
          <a:noFill/>
          <a:ln>
            <a:noFill/>
          </a:ln>
        </p:spPr>
        <p:txBody>
          <a:bodyPr wrap="square" lIns="0" tIns="0" rIns="0" bIns="0" anchor="ctr">
            <a:noAutofit/>
          </a:bodyPr>
          <a:lstStyle/>
          <a:p>
            <a:pPr algn="l"/>
            <a:r>
              <a:rPr lang="ko-KR" altLang="en-US" sz="1300" dirty="0">
                <a:solidFill>
                  <a:srgbClr val="2563EB"/>
                </a:solidFill>
                <a:latin typeface="맑은 고딕"/>
                <a:ea typeface="맑은 고딕"/>
              </a:rPr>
              <a:t>▍ </a:t>
            </a:r>
            <a:r>
              <a:rPr lang="ko-KR" altLang="en-US" sz="1300" b="1" dirty="0">
                <a:solidFill>
                  <a:srgbClr val="2A2A2A"/>
                </a:solidFill>
                <a:latin typeface="맑은 고딕"/>
                <a:ea typeface="맑은 고딕"/>
              </a:rPr>
              <a:t>에지 수집·Kafka 스트리밍·AI 추론·웹 관제 전체 구성</a:t>
            </a:r>
          </a:p>
        </p:txBody>
      </p:sp>
      <p:sp>
        <p:nvSpPr>
          <p:cNvPr id="502" name="Rect502">
            <a:extLst>
              <a:ext uri="{FF2B5EF4-FFF2-40B4-BE49-F238E27FC236}">
                <a16:creationId xmlns:a16="http://schemas.microsoft.com/office/drawing/2014/main" id="{D9CE6974-6F45-00EE-B2D0-A122DFC2CE5D}"/>
              </a:ext>
            </a:extLst>
          </p:cNvPr>
          <p:cNvSpPr/>
          <p:nvPr/>
        </p:nvSpPr>
        <p:spPr>
          <a:xfrm>
            <a:off x="2697480" y="1847088"/>
            <a:ext cx="2788920" cy="777240"/>
          </a:xfrm>
          <a:prstGeom prst="rect">
            <a:avLst/>
          </a:prstGeom>
          <a:solidFill>
            <a:srgbClr val="FDF1E0"/>
          </a:solidFill>
          <a:ln w="12700">
            <a:solidFill>
              <a:srgbClr val="8A7A5C"/>
            </a:solidFill>
          </a:ln>
        </p:spPr>
        <p:txBody>
          <a:bodyPr/>
          <a:lstStyle/>
          <a:p>
            <a:endParaRPr lang="ko-KR"/>
          </a:p>
        </p:txBody>
      </p:sp>
      <p:sp>
        <p:nvSpPr>
          <p:cNvPr id="503" name="Rect503">
            <a:extLst>
              <a:ext uri="{FF2B5EF4-FFF2-40B4-BE49-F238E27FC236}">
                <a16:creationId xmlns:a16="http://schemas.microsoft.com/office/drawing/2014/main" id="{C27F2141-8F44-1ED3-7077-FC3026B2D575}"/>
              </a:ext>
            </a:extLst>
          </p:cNvPr>
          <p:cNvSpPr/>
          <p:nvPr/>
        </p:nvSpPr>
        <p:spPr>
          <a:xfrm>
            <a:off x="2697480" y="1847088"/>
            <a:ext cx="2788920" cy="310896"/>
          </a:xfrm>
          <a:prstGeom prst="rect">
            <a:avLst/>
          </a:prstGeom>
          <a:solidFill>
            <a:srgbClr val="3B5AA8"/>
          </a:solidFill>
          <a:ln w="12700">
            <a:solidFill>
              <a:srgbClr val="8A7A5C"/>
            </a:solidFill>
          </a:ln>
        </p:spPr>
        <p:txBody>
          <a:bodyPr/>
          <a:lstStyle/>
          <a:p>
            <a:endParaRPr lang="ko-KR"/>
          </a:p>
        </p:txBody>
      </p:sp>
      <p:sp>
        <p:nvSpPr>
          <p:cNvPr id="504" name="TB504">
            <a:extLst>
              <a:ext uri="{FF2B5EF4-FFF2-40B4-BE49-F238E27FC236}">
                <a16:creationId xmlns:a16="http://schemas.microsoft.com/office/drawing/2014/main" id="{43C920A3-E7E9-7214-C3D4-3D54926BDD7F}"/>
              </a:ext>
            </a:extLst>
          </p:cNvPr>
          <p:cNvSpPr txBox="1"/>
          <p:nvPr/>
        </p:nvSpPr>
        <p:spPr>
          <a:xfrm>
            <a:off x="2752344" y="1847088"/>
            <a:ext cx="2679192" cy="310896"/>
          </a:xfrm>
          <a:prstGeom prst="rect">
            <a:avLst/>
          </a:prstGeom>
          <a:noFill/>
          <a:ln>
            <a:noFill/>
          </a:ln>
        </p:spPr>
        <p:txBody>
          <a:bodyPr wrap="square" lIns="0" tIns="0" rIns="0" bIns="0" anchor="ctr">
            <a:noAutofit/>
          </a:bodyPr>
          <a:lstStyle/>
          <a:p>
            <a:pPr algn="ctr"/>
            <a:r>
              <a:rPr lang="ko-KR" altLang="en-US" sz="950" b="1" dirty="0">
                <a:solidFill>
                  <a:srgbClr val="FFFFFF"/>
                </a:solidFill>
                <a:latin typeface="맑은 고딕"/>
                <a:ea typeface="맑은 고딕"/>
              </a:rPr>
              <a:t>AI 추론 서버 (Google Colab)</a:t>
            </a:r>
          </a:p>
        </p:txBody>
      </p:sp>
      <p:sp>
        <p:nvSpPr>
          <p:cNvPr id="505" name="TB505">
            <a:extLst>
              <a:ext uri="{FF2B5EF4-FFF2-40B4-BE49-F238E27FC236}">
                <a16:creationId xmlns:a16="http://schemas.microsoft.com/office/drawing/2014/main" id="{45239B87-3C51-493C-DDFA-1BE25480FE0C}"/>
              </a:ext>
            </a:extLst>
          </p:cNvPr>
          <p:cNvSpPr txBox="1"/>
          <p:nvPr/>
        </p:nvSpPr>
        <p:spPr>
          <a:xfrm>
            <a:off x="2788920" y="2203704"/>
            <a:ext cx="2606040" cy="374904"/>
          </a:xfrm>
          <a:prstGeom prst="rect">
            <a:avLst/>
          </a:prstGeom>
          <a:noFill/>
          <a:ln>
            <a:noFill/>
          </a:ln>
        </p:spPr>
        <p:txBody>
          <a:bodyPr wrap="square" lIns="0" tIns="0" rIns="0" bIns="0" anchor="t">
            <a:noAutofit/>
          </a:bodyPr>
          <a:lstStyle/>
          <a:p>
            <a:pPr algn="l"/>
            <a:r>
              <a:rPr lang="ko-KR" altLang="en-US" sz="780" dirty="0">
                <a:solidFill>
                  <a:srgbClr val="1F1F1F"/>
                </a:solidFill>
                <a:latin typeface="맑은 고딕"/>
                <a:ea typeface="맑은 고딕"/>
              </a:rPr>
              <a:t>●  LSTM-AutoEncoder 모델</a:t>
            </a:r>
          </a:p>
          <a:p>
            <a:pPr algn="l"/>
            <a:r>
              <a:rPr lang="ko-KR" altLang="en-US" sz="780" dirty="0">
                <a:solidFill>
                  <a:srgbClr val="1F1F1F"/>
                </a:solidFill>
                <a:latin typeface="맑은 고딕"/>
                <a:ea typeface="맑은 고딕"/>
              </a:rPr>
              <a:t>●  특징 추출·30-step 윈도우</a:t>
            </a:r>
          </a:p>
          <a:p>
            <a:pPr algn="l"/>
            <a:r>
              <a:rPr lang="ko-KR" altLang="en-US" sz="780" dirty="0">
                <a:solidFill>
                  <a:srgbClr val="1F1F1F"/>
                </a:solidFill>
                <a:latin typeface="맑은 고딕"/>
                <a:ea typeface="맑은 고딕"/>
              </a:rPr>
              <a:t>●  재구성오차→이상점수 산출</a:t>
            </a:r>
          </a:p>
        </p:txBody>
      </p:sp>
      <p:sp>
        <p:nvSpPr>
          <p:cNvPr id="506" name="Rect506">
            <a:extLst>
              <a:ext uri="{FF2B5EF4-FFF2-40B4-BE49-F238E27FC236}">
                <a16:creationId xmlns:a16="http://schemas.microsoft.com/office/drawing/2014/main" id="{7247802D-378A-4E21-2373-C438C9F77100}"/>
              </a:ext>
            </a:extLst>
          </p:cNvPr>
          <p:cNvSpPr/>
          <p:nvPr/>
        </p:nvSpPr>
        <p:spPr>
          <a:xfrm>
            <a:off x="5806440" y="1847088"/>
            <a:ext cx="914400" cy="457200"/>
          </a:xfrm>
          <a:prstGeom prst="rect">
            <a:avLst/>
          </a:prstGeom>
          <a:solidFill>
            <a:srgbClr val="FDF1E0"/>
          </a:solidFill>
          <a:ln w="12700">
            <a:solidFill>
              <a:srgbClr val="8A7A5C"/>
            </a:solidFill>
          </a:ln>
        </p:spPr>
        <p:txBody>
          <a:bodyPr/>
          <a:lstStyle/>
          <a:p>
            <a:endParaRPr lang="ko-KR"/>
          </a:p>
        </p:txBody>
      </p:sp>
      <p:sp>
        <p:nvSpPr>
          <p:cNvPr id="507" name="TB507">
            <a:extLst>
              <a:ext uri="{FF2B5EF4-FFF2-40B4-BE49-F238E27FC236}">
                <a16:creationId xmlns:a16="http://schemas.microsoft.com/office/drawing/2014/main" id="{33FB142F-DA56-954D-C682-96EF0F192A4F}"/>
              </a:ext>
            </a:extLst>
          </p:cNvPr>
          <p:cNvSpPr txBox="1"/>
          <p:nvPr/>
        </p:nvSpPr>
        <p:spPr>
          <a:xfrm>
            <a:off x="5852160" y="1847088"/>
            <a:ext cx="822960" cy="457200"/>
          </a:xfrm>
          <a:prstGeom prst="rect">
            <a:avLst/>
          </a:prstGeom>
          <a:noFill/>
          <a:ln>
            <a:noFill/>
          </a:ln>
        </p:spPr>
        <p:txBody>
          <a:bodyPr wrap="square" lIns="0" tIns="0" rIns="0" bIns="0" anchor="ctr">
            <a:noAutofit/>
          </a:bodyPr>
          <a:lstStyle/>
          <a:p>
            <a:pPr algn="ctr"/>
            <a:r>
              <a:rPr lang="ko-KR" altLang="en-US" sz="950" b="1" dirty="0">
                <a:solidFill>
                  <a:srgbClr val="1F1F1F"/>
                </a:solidFill>
                <a:latin typeface="맑은 고딕"/>
                <a:ea typeface="맑은 고딕"/>
              </a:rPr>
              <a:t>카카오톡</a:t>
            </a:r>
          </a:p>
        </p:txBody>
      </p:sp>
      <p:sp>
        <p:nvSpPr>
          <p:cNvPr id="508" name="Rect508">
            <a:extLst>
              <a:ext uri="{FF2B5EF4-FFF2-40B4-BE49-F238E27FC236}">
                <a16:creationId xmlns:a16="http://schemas.microsoft.com/office/drawing/2014/main" id="{F737BCD4-D087-91DC-DEFB-84033E4C5BC1}"/>
              </a:ext>
            </a:extLst>
          </p:cNvPr>
          <p:cNvSpPr/>
          <p:nvPr/>
        </p:nvSpPr>
        <p:spPr>
          <a:xfrm>
            <a:off x="6803136" y="1847088"/>
            <a:ext cx="914400" cy="457200"/>
          </a:xfrm>
          <a:prstGeom prst="rect">
            <a:avLst/>
          </a:prstGeom>
          <a:solidFill>
            <a:srgbClr val="FDF1E0"/>
          </a:solidFill>
          <a:ln w="12700">
            <a:solidFill>
              <a:srgbClr val="8A7A5C"/>
            </a:solidFill>
          </a:ln>
        </p:spPr>
        <p:txBody>
          <a:bodyPr/>
          <a:lstStyle/>
          <a:p>
            <a:endParaRPr lang="ko-KR"/>
          </a:p>
        </p:txBody>
      </p:sp>
      <p:sp>
        <p:nvSpPr>
          <p:cNvPr id="509" name="TB509">
            <a:extLst>
              <a:ext uri="{FF2B5EF4-FFF2-40B4-BE49-F238E27FC236}">
                <a16:creationId xmlns:a16="http://schemas.microsoft.com/office/drawing/2014/main" id="{B80260F9-7700-19C7-A8F7-15431B7BC592}"/>
              </a:ext>
            </a:extLst>
          </p:cNvPr>
          <p:cNvSpPr txBox="1"/>
          <p:nvPr/>
        </p:nvSpPr>
        <p:spPr>
          <a:xfrm>
            <a:off x="6848856" y="1847088"/>
            <a:ext cx="822960" cy="457200"/>
          </a:xfrm>
          <a:prstGeom prst="rect">
            <a:avLst/>
          </a:prstGeom>
          <a:noFill/>
          <a:ln>
            <a:noFill/>
          </a:ln>
        </p:spPr>
        <p:txBody>
          <a:bodyPr wrap="square" lIns="0" tIns="0" rIns="0" bIns="0" anchor="ctr">
            <a:noAutofit/>
          </a:bodyPr>
          <a:lstStyle/>
          <a:p>
            <a:pPr algn="ctr"/>
            <a:r>
              <a:rPr lang="ko-KR" altLang="en-US" sz="950" b="1" dirty="0">
                <a:solidFill>
                  <a:srgbClr val="1F1F1F"/>
                </a:solidFill>
                <a:latin typeface="맑은 고딕"/>
                <a:ea typeface="맑은 고딕"/>
              </a:rPr>
              <a:t>이메일</a:t>
            </a:r>
          </a:p>
        </p:txBody>
      </p:sp>
      <p:sp>
        <p:nvSpPr>
          <p:cNvPr id="510" name="Rect510">
            <a:extLst>
              <a:ext uri="{FF2B5EF4-FFF2-40B4-BE49-F238E27FC236}">
                <a16:creationId xmlns:a16="http://schemas.microsoft.com/office/drawing/2014/main" id="{E3403B67-BD0A-2C4F-6164-C06F67868967}"/>
              </a:ext>
            </a:extLst>
          </p:cNvPr>
          <p:cNvSpPr/>
          <p:nvPr/>
        </p:nvSpPr>
        <p:spPr>
          <a:xfrm>
            <a:off x="7799832" y="1847088"/>
            <a:ext cx="914400" cy="457200"/>
          </a:xfrm>
          <a:prstGeom prst="rect">
            <a:avLst/>
          </a:prstGeom>
          <a:solidFill>
            <a:srgbClr val="FDF1E0"/>
          </a:solidFill>
          <a:ln w="12700">
            <a:solidFill>
              <a:srgbClr val="8A7A5C"/>
            </a:solidFill>
          </a:ln>
        </p:spPr>
        <p:txBody>
          <a:bodyPr/>
          <a:lstStyle/>
          <a:p>
            <a:endParaRPr lang="ko-KR"/>
          </a:p>
        </p:txBody>
      </p:sp>
      <p:sp>
        <p:nvSpPr>
          <p:cNvPr id="511" name="TB511">
            <a:extLst>
              <a:ext uri="{FF2B5EF4-FFF2-40B4-BE49-F238E27FC236}">
                <a16:creationId xmlns:a16="http://schemas.microsoft.com/office/drawing/2014/main" id="{F2F70E13-9D93-5F54-1ECE-680F5A151332}"/>
              </a:ext>
            </a:extLst>
          </p:cNvPr>
          <p:cNvSpPr txBox="1"/>
          <p:nvPr/>
        </p:nvSpPr>
        <p:spPr>
          <a:xfrm>
            <a:off x="7845552" y="1847088"/>
            <a:ext cx="822960" cy="457200"/>
          </a:xfrm>
          <a:prstGeom prst="rect">
            <a:avLst/>
          </a:prstGeom>
          <a:noFill/>
          <a:ln>
            <a:noFill/>
          </a:ln>
        </p:spPr>
        <p:txBody>
          <a:bodyPr wrap="square" lIns="0" tIns="0" rIns="0" bIns="0" anchor="ctr">
            <a:noAutofit/>
          </a:bodyPr>
          <a:lstStyle/>
          <a:p>
            <a:pPr algn="ctr"/>
            <a:r>
              <a:rPr lang="ko-KR" altLang="en-US" sz="950" b="1" dirty="0">
                <a:solidFill>
                  <a:srgbClr val="1F1F1F"/>
                </a:solidFill>
                <a:latin typeface="맑은 고딕"/>
                <a:ea typeface="맑은 고딕"/>
              </a:rPr>
              <a:t>웹푸시</a:t>
            </a:r>
          </a:p>
        </p:txBody>
      </p:sp>
      <p:sp>
        <p:nvSpPr>
          <p:cNvPr id="512" name="Rect512">
            <a:extLst>
              <a:ext uri="{FF2B5EF4-FFF2-40B4-BE49-F238E27FC236}">
                <a16:creationId xmlns:a16="http://schemas.microsoft.com/office/drawing/2014/main" id="{7910C7A9-3C05-75D2-3000-A149786ED3A3}"/>
              </a:ext>
            </a:extLst>
          </p:cNvPr>
          <p:cNvSpPr/>
          <p:nvPr/>
        </p:nvSpPr>
        <p:spPr>
          <a:xfrm>
            <a:off x="512064" y="2788920"/>
            <a:ext cx="1965960" cy="1005840"/>
          </a:xfrm>
          <a:prstGeom prst="rect">
            <a:avLst/>
          </a:prstGeom>
          <a:solidFill>
            <a:srgbClr val="FFFFFF"/>
          </a:solidFill>
          <a:ln w="9525">
            <a:solidFill>
              <a:srgbClr val="8A7A5C"/>
            </a:solidFill>
          </a:ln>
        </p:spPr>
        <p:txBody>
          <a:bodyPr/>
          <a:lstStyle/>
          <a:p>
            <a:endParaRPr lang="ko-KR"/>
          </a:p>
        </p:txBody>
      </p:sp>
      <p:sp>
        <p:nvSpPr>
          <p:cNvPr id="513" name="Rect513">
            <a:extLst>
              <a:ext uri="{FF2B5EF4-FFF2-40B4-BE49-F238E27FC236}">
                <a16:creationId xmlns:a16="http://schemas.microsoft.com/office/drawing/2014/main" id="{D6E99DB9-31EC-9346-F8E1-039E0A25E752}"/>
              </a:ext>
            </a:extLst>
          </p:cNvPr>
          <p:cNvSpPr/>
          <p:nvPr/>
        </p:nvSpPr>
        <p:spPr>
          <a:xfrm>
            <a:off x="457200" y="2843784"/>
            <a:ext cx="1965960" cy="1005840"/>
          </a:xfrm>
          <a:prstGeom prst="rect">
            <a:avLst/>
          </a:prstGeom>
          <a:solidFill>
            <a:srgbClr val="FFFFFF"/>
          </a:solidFill>
          <a:ln w="9525">
            <a:solidFill>
              <a:srgbClr val="8A7A5C"/>
            </a:solidFill>
          </a:ln>
        </p:spPr>
        <p:txBody>
          <a:bodyPr/>
          <a:lstStyle/>
          <a:p>
            <a:endParaRPr lang="ko-KR"/>
          </a:p>
        </p:txBody>
      </p:sp>
      <p:sp>
        <p:nvSpPr>
          <p:cNvPr id="514" name="Rect514">
            <a:extLst>
              <a:ext uri="{FF2B5EF4-FFF2-40B4-BE49-F238E27FC236}">
                <a16:creationId xmlns:a16="http://schemas.microsoft.com/office/drawing/2014/main" id="{AFF9935C-C676-C9E1-12D4-56945068E26B}"/>
              </a:ext>
            </a:extLst>
          </p:cNvPr>
          <p:cNvSpPr/>
          <p:nvPr/>
        </p:nvSpPr>
        <p:spPr>
          <a:xfrm>
            <a:off x="402336" y="2898648"/>
            <a:ext cx="1965960" cy="1005840"/>
          </a:xfrm>
          <a:prstGeom prst="rect">
            <a:avLst/>
          </a:prstGeom>
          <a:solidFill>
            <a:srgbClr val="FDF1E0"/>
          </a:solidFill>
          <a:ln w="12700">
            <a:solidFill>
              <a:srgbClr val="8A7A5C"/>
            </a:solidFill>
          </a:ln>
        </p:spPr>
        <p:txBody>
          <a:bodyPr/>
          <a:lstStyle/>
          <a:p>
            <a:endParaRPr lang="ko-KR"/>
          </a:p>
        </p:txBody>
      </p:sp>
      <p:sp>
        <p:nvSpPr>
          <p:cNvPr id="515" name="TB515">
            <a:extLst>
              <a:ext uri="{FF2B5EF4-FFF2-40B4-BE49-F238E27FC236}">
                <a16:creationId xmlns:a16="http://schemas.microsoft.com/office/drawing/2014/main" id="{2610C76E-342B-4BE3-FE4D-DC357FD4B571}"/>
              </a:ext>
            </a:extLst>
          </p:cNvPr>
          <p:cNvSpPr txBox="1"/>
          <p:nvPr/>
        </p:nvSpPr>
        <p:spPr>
          <a:xfrm>
            <a:off x="475488" y="2944368"/>
            <a:ext cx="1819656" cy="219456"/>
          </a:xfrm>
          <a:prstGeom prst="rect">
            <a:avLst/>
          </a:prstGeom>
          <a:noFill/>
          <a:ln>
            <a:noFill/>
          </a:ln>
        </p:spPr>
        <p:txBody>
          <a:bodyPr wrap="square" lIns="0" tIns="0" rIns="0" bIns="0" anchor="ctr">
            <a:noAutofit/>
          </a:bodyPr>
          <a:lstStyle/>
          <a:p>
            <a:pPr algn="ctr"/>
            <a:r>
              <a:rPr lang="ko-KR" altLang="en-US" sz="950" b="1" dirty="0">
                <a:solidFill>
                  <a:srgbClr val="1F1F1F"/>
                </a:solidFill>
                <a:latin typeface="맑은 고딕"/>
                <a:ea typeface="맑은 고딕"/>
              </a:rPr>
              <a:t>Raspberry Pi 5</a:t>
            </a:r>
          </a:p>
        </p:txBody>
      </p:sp>
      <p:sp>
        <p:nvSpPr>
          <p:cNvPr id="516" name="TB516">
            <a:extLst>
              <a:ext uri="{FF2B5EF4-FFF2-40B4-BE49-F238E27FC236}">
                <a16:creationId xmlns:a16="http://schemas.microsoft.com/office/drawing/2014/main" id="{24D32720-CCF9-572D-8D97-3922BCF7EED1}"/>
              </a:ext>
            </a:extLst>
          </p:cNvPr>
          <p:cNvSpPr txBox="1"/>
          <p:nvPr/>
        </p:nvSpPr>
        <p:spPr>
          <a:xfrm>
            <a:off x="484632" y="3172968"/>
            <a:ext cx="1801368" cy="685800"/>
          </a:xfrm>
          <a:prstGeom prst="rect">
            <a:avLst/>
          </a:prstGeom>
          <a:noFill/>
          <a:ln>
            <a:noFill/>
          </a:ln>
        </p:spPr>
        <p:txBody>
          <a:bodyPr wrap="square" lIns="0" tIns="0" rIns="0" bIns="0" anchor="t">
            <a:noAutofit/>
          </a:bodyPr>
          <a:lstStyle/>
          <a:p>
            <a:pPr algn="ctr"/>
            <a:r>
              <a:rPr lang="ko-KR" altLang="en-US" sz="780" dirty="0">
                <a:solidFill>
                  <a:srgbClr val="1F1F1F"/>
                </a:solidFill>
                <a:latin typeface="맑은 고딕"/>
                <a:ea typeface="맑은 고딕"/>
              </a:rPr>
              <a:t>(에지) INA226·BQ27441</a:t>
            </a:r>
          </a:p>
          <a:p>
            <a:pPr algn="ctr"/>
            <a:r>
              <a:rPr lang="ko-KR" altLang="en-US" sz="780" dirty="0">
                <a:solidFill>
                  <a:srgbClr val="1F1F1F"/>
                </a:solidFill>
                <a:latin typeface="맑은 고딕"/>
                <a:ea typeface="맑은 고딕"/>
              </a:rPr>
              <a:t>DS18B20·MLX90614</a:t>
            </a:r>
          </a:p>
          <a:p>
            <a:pPr algn="ctr"/>
            <a:r>
              <a:rPr lang="ko-KR" altLang="en-US" sz="780" dirty="0">
                <a:solidFill>
                  <a:srgbClr val="1F1F1F"/>
                </a:solidFill>
                <a:latin typeface="맑은 고딕"/>
                <a:ea typeface="맑은 고딕"/>
              </a:rPr>
              <a:t>ADS1115(가스·압력·음향)</a:t>
            </a:r>
          </a:p>
        </p:txBody>
      </p:sp>
      <p:sp>
        <p:nvSpPr>
          <p:cNvPr id="517" name="Rect517">
            <a:extLst>
              <a:ext uri="{FF2B5EF4-FFF2-40B4-BE49-F238E27FC236}">
                <a16:creationId xmlns:a16="http://schemas.microsoft.com/office/drawing/2014/main" id="{20901DB2-B29B-07E2-0364-85F60E091F72}"/>
              </a:ext>
            </a:extLst>
          </p:cNvPr>
          <p:cNvSpPr/>
          <p:nvPr/>
        </p:nvSpPr>
        <p:spPr>
          <a:xfrm>
            <a:off x="2697480" y="2898648"/>
            <a:ext cx="2788920" cy="1965960"/>
          </a:xfrm>
          <a:prstGeom prst="rect">
            <a:avLst/>
          </a:prstGeom>
          <a:solidFill>
            <a:srgbClr val="FDF1E0"/>
          </a:solidFill>
          <a:ln w="12700">
            <a:solidFill>
              <a:srgbClr val="8A7A5C"/>
            </a:solidFill>
            <a:prstDash val="dash"/>
          </a:ln>
        </p:spPr>
        <p:txBody>
          <a:bodyPr/>
          <a:lstStyle/>
          <a:p>
            <a:endParaRPr lang="ko-KR"/>
          </a:p>
        </p:txBody>
      </p:sp>
      <p:sp>
        <p:nvSpPr>
          <p:cNvPr id="518" name="TB518">
            <a:extLst>
              <a:ext uri="{FF2B5EF4-FFF2-40B4-BE49-F238E27FC236}">
                <a16:creationId xmlns:a16="http://schemas.microsoft.com/office/drawing/2014/main" id="{102104F2-A10E-77C6-34F0-BBF1E9344505}"/>
              </a:ext>
            </a:extLst>
          </p:cNvPr>
          <p:cNvSpPr txBox="1"/>
          <p:nvPr/>
        </p:nvSpPr>
        <p:spPr>
          <a:xfrm>
            <a:off x="2743200" y="2898648"/>
            <a:ext cx="2697480" cy="1965960"/>
          </a:xfrm>
          <a:prstGeom prst="rect">
            <a:avLst/>
          </a:prstGeom>
          <a:noFill/>
          <a:ln>
            <a:noFill/>
          </a:ln>
        </p:spPr>
        <p:txBody>
          <a:bodyPr wrap="square" lIns="0" tIns="0" rIns="0" bIns="0" anchor="ctr">
            <a:noAutofit/>
          </a:bodyPr>
          <a:lstStyle/>
          <a:p>
            <a:pPr algn="ctr"/>
            <a:endParaRPr/>
          </a:p>
        </p:txBody>
      </p:sp>
      <p:sp>
        <p:nvSpPr>
          <p:cNvPr id="519" name="TB519">
            <a:extLst>
              <a:ext uri="{FF2B5EF4-FFF2-40B4-BE49-F238E27FC236}">
                <a16:creationId xmlns:a16="http://schemas.microsoft.com/office/drawing/2014/main" id="{5AA6199A-E54C-5BEB-F09A-756F096CE633}"/>
              </a:ext>
            </a:extLst>
          </p:cNvPr>
          <p:cNvSpPr txBox="1"/>
          <p:nvPr/>
        </p:nvSpPr>
        <p:spPr>
          <a:xfrm>
            <a:off x="2697480" y="2962656"/>
            <a:ext cx="2788920" cy="237744"/>
          </a:xfrm>
          <a:prstGeom prst="rect">
            <a:avLst/>
          </a:prstGeom>
          <a:noFill/>
          <a:ln>
            <a:noFill/>
          </a:ln>
        </p:spPr>
        <p:txBody>
          <a:bodyPr wrap="square" lIns="0" tIns="0" rIns="0" bIns="0" anchor="ctr">
            <a:noAutofit/>
          </a:bodyPr>
          <a:lstStyle/>
          <a:p>
            <a:pPr algn="ctr"/>
            <a:r>
              <a:rPr lang="ko-KR" altLang="en-US" sz="1000" b="1" dirty="0">
                <a:solidFill>
                  <a:srgbClr val="1F1F1F"/>
                </a:solidFill>
                <a:latin typeface="맑은 고딕"/>
                <a:ea typeface="맑은 고딕"/>
              </a:rPr>
              <a:t>Kafka Cluster</a:t>
            </a:r>
          </a:p>
        </p:txBody>
      </p:sp>
      <p:sp>
        <p:nvSpPr>
          <p:cNvPr id="520" name="TB520">
            <a:extLst>
              <a:ext uri="{FF2B5EF4-FFF2-40B4-BE49-F238E27FC236}">
                <a16:creationId xmlns:a16="http://schemas.microsoft.com/office/drawing/2014/main" id="{EA0B351E-40A2-F023-F43D-55BE712C769F}"/>
              </a:ext>
            </a:extLst>
          </p:cNvPr>
          <p:cNvSpPr txBox="1"/>
          <p:nvPr/>
        </p:nvSpPr>
        <p:spPr>
          <a:xfrm>
            <a:off x="2697480" y="3172968"/>
            <a:ext cx="2788920" cy="182880"/>
          </a:xfrm>
          <a:prstGeom prst="rect">
            <a:avLst/>
          </a:prstGeom>
          <a:noFill/>
          <a:ln>
            <a:noFill/>
          </a:ln>
        </p:spPr>
        <p:txBody>
          <a:bodyPr wrap="square" lIns="0" tIns="0" rIns="0" bIns="0" anchor="ctr">
            <a:noAutofit/>
          </a:bodyPr>
          <a:lstStyle/>
          <a:p>
            <a:pPr algn="ctr"/>
            <a:r>
              <a:rPr lang="ko-KR" altLang="en-US" sz="750" dirty="0">
                <a:solidFill>
                  <a:srgbClr val="5B6472"/>
                </a:solidFill>
                <a:latin typeface="맑은 고딕"/>
                <a:ea typeface="맑은 고딕"/>
              </a:rPr>
              <a:t>(AWS EC2, TLS/SASL)</a:t>
            </a:r>
          </a:p>
        </p:txBody>
      </p:sp>
      <p:sp>
        <p:nvSpPr>
          <p:cNvPr id="521" name="Rect521">
            <a:extLst>
              <a:ext uri="{FF2B5EF4-FFF2-40B4-BE49-F238E27FC236}">
                <a16:creationId xmlns:a16="http://schemas.microsoft.com/office/drawing/2014/main" id="{62792324-0544-A60C-991A-F2B20F2B2EA1}"/>
              </a:ext>
            </a:extLst>
          </p:cNvPr>
          <p:cNvSpPr/>
          <p:nvPr/>
        </p:nvSpPr>
        <p:spPr>
          <a:xfrm>
            <a:off x="2834640" y="3465576"/>
            <a:ext cx="2514600" cy="384048"/>
          </a:xfrm>
          <a:prstGeom prst="rect">
            <a:avLst/>
          </a:prstGeom>
          <a:solidFill>
            <a:srgbClr val="FFFFFF"/>
          </a:solidFill>
          <a:ln w="12700">
            <a:solidFill>
              <a:srgbClr val="D9DCE3"/>
            </a:solidFill>
          </a:ln>
        </p:spPr>
        <p:txBody>
          <a:bodyPr/>
          <a:lstStyle/>
          <a:p>
            <a:endParaRPr lang="ko-KR"/>
          </a:p>
        </p:txBody>
      </p:sp>
      <p:sp>
        <p:nvSpPr>
          <p:cNvPr id="522" name="TB522">
            <a:extLst>
              <a:ext uri="{FF2B5EF4-FFF2-40B4-BE49-F238E27FC236}">
                <a16:creationId xmlns:a16="http://schemas.microsoft.com/office/drawing/2014/main" id="{0767B7E5-4E21-E16D-10D5-2236AF74DD95}"/>
              </a:ext>
            </a:extLst>
          </p:cNvPr>
          <p:cNvSpPr txBox="1"/>
          <p:nvPr/>
        </p:nvSpPr>
        <p:spPr>
          <a:xfrm>
            <a:off x="2880360" y="3465576"/>
            <a:ext cx="2423160" cy="384048"/>
          </a:xfrm>
          <a:prstGeom prst="rect">
            <a:avLst/>
          </a:prstGeom>
          <a:noFill/>
          <a:ln>
            <a:noFill/>
          </a:ln>
        </p:spPr>
        <p:txBody>
          <a:bodyPr wrap="square" lIns="0" tIns="0" rIns="0" bIns="0" anchor="ctr">
            <a:noAutofit/>
          </a:bodyPr>
          <a:lstStyle/>
          <a:p>
            <a:pPr algn="ctr"/>
            <a:r>
              <a:rPr lang="ko-KR" altLang="en-US" sz="850" b="1" dirty="0">
                <a:solidFill>
                  <a:srgbClr val="1F1F1F"/>
                </a:solidFill>
                <a:latin typeface="맑은 고딕"/>
                <a:ea typeface="맑은 고딕"/>
              </a:rPr>
              <a:t>battery-raw-metrics</a:t>
            </a:r>
          </a:p>
        </p:txBody>
      </p:sp>
      <p:sp>
        <p:nvSpPr>
          <p:cNvPr id="523" name="Rect523">
            <a:extLst>
              <a:ext uri="{FF2B5EF4-FFF2-40B4-BE49-F238E27FC236}">
                <a16:creationId xmlns:a16="http://schemas.microsoft.com/office/drawing/2014/main" id="{C1C1C9AD-0544-A33A-813B-66C08BE8E5C1}"/>
              </a:ext>
            </a:extLst>
          </p:cNvPr>
          <p:cNvSpPr/>
          <p:nvPr/>
        </p:nvSpPr>
        <p:spPr>
          <a:xfrm>
            <a:off x="2834640" y="3941064"/>
            <a:ext cx="2514600" cy="384048"/>
          </a:xfrm>
          <a:prstGeom prst="rect">
            <a:avLst/>
          </a:prstGeom>
          <a:solidFill>
            <a:srgbClr val="FFFFFF"/>
          </a:solidFill>
          <a:ln w="12700">
            <a:solidFill>
              <a:srgbClr val="D9DCE3"/>
            </a:solidFill>
          </a:ln>
        </p:spPr>
        <p:txBody>
          <a:bodyPr/>
          <a:lstStyle/>
          <a:p>
            <a:endParaRPr lang="ko-KR"/>
          </a:p>
        </p:txBody>
      </p:sp>
      <p:sp>
        <p:nvSpPr>
          <p:cNvPr id="524" name="TB524">
            <a:extLst>
              <a:ext uri="{FF2B5EF4-FFF2-40B4-BE49-F238E27FC236}">
                <a16:creationId xmlns:a16="http://schemas.microsoft.com/office/drawing/2014/main" id="{19E18C28-BE53-6CA5-DC00-B2E87C53FA02}"/>
              </a:ext>
            </a:extLst>
          </p:cNvPr>
          <p:cNvSpPr txBox="1"/>
          <p:nvPr/>
        </p:nvSpPr>
        <p:spPr>
          <a:xfrm>
            <a:off x="2880360" y="3941064"/>
            <a:ext cx="2423160" cy="384048"/>
          </a:xfrm>
          <a:prstGeom prst="rect">
            <a:avLst/>
          </a:prstGeom>
          <a:noFill/>
          <a:ln>
            <a:noFill/>
          </a:ln>
        </p:spPr>
        <p:txBody>
          <a:bodyPr wrap="square" lIns="0" tIns="0" rIns="0" bIns="0" anchor="ctr">
            <a:noAutofit/>
          </a:bodyPr>
          <a:lstStyle/>
          <a:p>
            <a:pPr algn="ctr"/>
            <a:r>
              <a:rPr lang="ko-KR" altLang="en-US" sz="850" b="1" dirty="0">
                <a:solidFill>
                  <a:srgbClr val="1F1F1F"/>
                </a:solidFill>
                <a:latin typeface="맑은 고딕"/>
                <a:ea typeface="맑은 고딕"/>
              </a:rPr>
              <a:t>battery-anomaly-alerts</a:t>
            </a:r>
          </a:p>
        </p:txBody>
      </p:sp>
      <p:sp>
        <p:nvSpPr>
          <p:cNvPr id="525" name="Rect525">
            <a:extLst>
              <a:ext uri="{FF2B5EF4-FFF2-40B4-BE49-F238E27FC236}">
                <a16:creationId xmlns:a16="http://schemas.microsoft.com/office/drawing/2014/main" id="{BB94C5BE-2BB9-5FA3-57A0-53FD189C1280}"/>
              </a:ext>
            </a:extLst>
          </p:cNvPr>
          <p:cNvSpPr/>
          <p:nvPr/>
        </p:nvSpPr>
        <p:spPr>
          <a:xfrm>
            <a:off x="2834640" y="4416552"/>
            <a:ext cx="2514600" cy="384048"/>
          </a:xfrm>
          <a:prstGeom prst="rect">
            <a:avLst/>
          </a:prstGeom>
          <a:solidFill>
            <a:srgbClr val="FFFFFF"/>
          </a:solidFill>
          <a:ln w="12700">
            <a:solidFill>
              <a:srgbClr val="D9DCE3"/>
            </a:solidFill>
          </a:ln>
        </p:spPr>
        <p:txBody>
          <a:bodyPr/>
          <a:lstStyle/>
          <a:p>
            <a:endParaRPr lang="ko-KR"/>
          </a:p>
        </p:txBody>
      </p:sp>
      <p:sp>
        <p:nvSpPr>
          <p:cNvPr id="526" name="TB526">
            <a:extLst>
              <a:ext uri="{FF2B5EF4-FFF2-40B4-BE49-F238E27FC236}">
                <a16:creationId xmlns:a16="http://schemas.microsoft.com/office/drawing/2014/main" id="{04EC7491-5221-63C2-BB63-40C6C9F8E293}"/>
              </a:ext>
            </a:extLst>
          </p:cNvPr>
          <p:cNvSpPr txBox="1"/>
          <p:nvPr/>
        </p:nvSpPr>
        <p:spPr>
          <a:xfrm>
            <a:off x="2880360" y="4416552"/>
            <a:ext cx="2423160" cy="384048"/>
          </a:xfrm>
          <a:prstGeom prst="rect">
            <a:avLst/>
          </a:prstGeom>
          <a:noFill/>
          <a:ln>
            <a:noFill/>
          </a:ln>
        </p:spPr>
        <p:txBody>
          <a:bodyPr wrap="square" lIns="0" tIns="0" rIns="0" bIns="0" anchor="ctr">
            <a:noAutofit/>
          </a:bodyPr>
          <a:lstStyle/>
          <a:p>
            <a:pPr algn="ctr"/>
            <a:r>
              <a:rPr lang="ko-KR" altLang="en-US" sz="850" b="1" dirty="0">
                <a:solidFill>
                  <a:srgbClr val="1F1F1F"/>
                </a:solidFill>
                <a:latin typeface="맑은 고딕"/>
                <a:ea typeface="맑은 고딕"/>
              </a:rPr>
              <a:t>battery-events</a:t>
            </a:r>
          </a:p>
        </p:txBody>
      </p:sp>
      <p:sp>
        <p:nvSpPr>
          <p:cNvPr id="527" name="Rect527">
            <a:extLst>
              <a:ext uri="{FF2B5EF4-FFF2-40B4-BE49-F238E27FC236}">
                <a16:creationId xmlns:a16="http://schemas.microsoft.com/office/drawing/2014/main" id="{A1E6338D-DB8C-78F9-2195-0BF266AB23F5}"/>
              </a:ext>
            </a:extLst>
          </p:cNvPr>
          <p:cNvSpPr/>
          <p:nvPr/>
        </p:nvSpPr>
        <p:spPr>
          <a:xfrm>
            <a:off x="5806440" y="2898648"/>
            <a:ext cx="2935224" cy="566928"/>
          </a:xfrm>
          <a:prstGeom prst="rect">
            <a:avLst/>
          </a:prstGeom>
          <a:solidFill>
            <a:srgbClr val="FDF1E0"/>
          </a:solidFill>
          <a:ln w="12700">
            <a:solidFill>
              <a:srgbClr val="8A7A5C"/>
            </a:solidFill>
          </a:ln>
        </p:spPr>
        <p:txBody>
          <a:bodyPr/>
          <a:lstStyle/>
          <a:p>
            <a:endParaRPr lang="ko-KR"/>
          </a:p>
        </p:txBody>
      </p:sp>
      <p:sp>
        <p:nvSpPr>
          <p:cNvPr id="528" name="TB528">
            <a:extLst>
              <a:ext uri="{FF2B5EF4-FFF2-40B4-BE49-F238E27FC236}">
                <a16:creationId xmlns:a16="http://schemas.microsoft.com/office/drawing/2014/main" id="{AC7C71E0-17A1-7D42-6539-602D3DEBD89C}"/>
              </a:ext>
            </a:extLst>
          </p:cNvPr>
          <p:cNvSpPr txBox="1"/>
          <p:nvPr/>
        </p:nvSpPr>
        <p:spPr>
          <a:xfrm>
            <a:off x="5879592" y="2944368"/>
            <a:ext cx="2788920" cy="219456"/>
          </a:xfrm>
          <a:prstGeom prst="rect">
            <a:avLst/>
          </a:prstGeom>
          <a:noFill/>
          <a:ln>
            <a:noFill/>
          </a:ln>
        </p:spPr>
        <p:txBody>
          <a:bodyPr wrap="square" lIns="0" tIns="0" rIns="0" bIns="0" anchor="ctr">
            <a:noAutofit/>
          </a:bodyPr>
          <a:lstStyle/>
          <a:p>
            <a:pPr algn="ctr"/>
            <a:r>
              <a:rPr lang="ko-KR" altLang="en-US" sz="950" b="1" dirty="0">
                <a:solidFill>
                  <a:srgbClr val="1F1F1F"/>
                </a:solidFill>
                <a:latin typeface="맑은 고딕"/>
                <a:ea typeface="맑은 고딕"/>
              </a:rPr>
              <a:t>백엔드 서버</a:t>
            </a:r>
          </a:p>
        </p:txBody>
      </p:sp>
      <p:sp>
        <p:nvSpPr>
          <p:cNvPr id="529" name="TB529">
            <a:extLst>
              <a:ext uri="{FF2B5EF4-FFF2-40B4-BE49-F238E27FC236}">
                <a16:creationId xmlns:a16="http://schemas.microsoft.com/office/drawing/2014/main" id="{E43C71A0-0962-73A5-1B66-028147F5C427}"/>
              </a:ext>
            </a:extLst>
          </p:cNvPr>
          <p:cNvSpPr txBox="1"/>
          <p:nvPr/>
        </p:nvSpPr>
        <p:spPr>
          <a:xfrm>
            <a:off x="5888736" y="3172968"/>
            <a:ext cx="2770632" cy="246888"/>
          </a:xfrm>
          <a:prstGeom prst="rect">
            <a:avLst/>
          </a:prstGeom>
          <a:noFill/>
          <a:ln>
            <a:noFill/>
          </a:ln>
        </p:spPr>
        <p:txBody>
          <a:bodyPr wrap="square" lIns="0" tIns="0" rIns="0" bIns="0" anchor="t">
            <a:noAutofit/>
          </a:bodyPr>
          <a:lstStyle/>
          <a:p>
            <a:pPr algn="ctr"/>
            <a:r>
              <a:rPr lang="ko-KR" altLang="en-US" sz="780" dirty="0">
                <a:solidFill>
                  <a:srgbClr val="1F1F1F"/>
                </a:solidFill>
                <a:latin typeface="맑은 고딕"/>
                <a:ea typeface="맑은 고딕"/>
              </a:rPr>
              <a:t>REST API · WebSocket</a:t>
            </a:r>
          </a:p>
        </p:txBody>
      </p:sp>
      <p:sp>
        <p:nvSpPr>
          <p:cNvPr id="530" name="Rect530">
            <a:extLst>
              <a:ext uri="{FF2B5EF4-FFF2-40B4-BE49-F238E27FC236}">
                <a16:creationId xmlns:a16="http://schemas.microsoft.com/office/drawing/2014/main" id="{EFA536CC-A0A4-0BCE-7F67-7204760EBE98}"/>
              </a:ext>
            </a:extLst>
          </p:cNvPr>
          <p:cNvSpPr/>
          <p:nvPr/>
        </p:nvSpPr>
        <p:spPr>
          <a:xfrm>
            <a:off x="5806440" y="3849624"/>
            <a:ext cx="2935224" cy="658368"/>
          </a:xfrm>
          <a:prstGeom prst="rect">
            <a:avLst/>
          </a:prstGeom>
          <a:solidFill>
            <a:srgbClr val="FDF1E0"/>
          </a:solidFill>
          <a:ln w="12700">
            <a:solidFill>
              <a:srgbClr val="8A7A5C"/>
            </a:solidFill>
          </a:ln>
        </p:spPr>
        <p:txBody>
          <a:bodyPr/>
          <a:lstStyle/>
          <a:p>
            <a:endParaRPr lang="ko-KR"/>
          </a:p>
        </p:txBody>
      </p:sp>
      <p:sp>
        <p:nvSpPr>
          <p:cNvPr id="531" name="TB531">
            <a:extLst>
              <a:ext uri="{FF2B5EF4-FFF2-40B4-BE49-F238E27FC236}">
                <a16:creationId xmlns:a16="http://schemas.microsoft.com/office/drawing/2014/main" id="{221AFF8F-5DEC-8CDC-8FE1-02C60AEAB1D0}"/>
              </a:ext>
            </a:extLst>
          </p:cNvPr>
          <p:cNvSpPr txBox="1"/>
          <p:nvPr/>
        </p:nvSpPr>
        <p:spPr>
          <a:xfrm>
            <a:off x="5879592" y="3895344"/>
            <a:ext cx="2788920" cy="219456"/>
          </a:xfrm>
          <a:prstGeom prst="rect">
            <a:avLst/>
          </a:prstGeom>
          <a:noFill/>
          <a:ln>
            <a:noFill/>
          </a:ln>
        </p:spPr>
        <p:txBody>
          <a:bodyPr wrap="square" lIns="0" tIns="0" rIns="0" bIns="0" anchor="ctr">
            <a:noAutofit/>
          </a:bodyPr>
          <a:lstStyle/>
          <a:p>
            <a:pPr algn="ctr"/>
            <a:r>
              <a:rPr lang="ko-KR" altLang="en-US" sz="950" b="1" dirty="0">
                <a:solidFill>
                  <a:srgbClr val="1F1F1F"/>
                </a:solidFill>
                <a:latin typeface="맑은 고딕"/>
                <a:ea typeface="맑은 고딕"/>
              </a:rPr>
              <a:t>웹 대시보드 (React)</a:t>
            </a:r>
          </a:p>
        </p:txBody>
      </p:sp>
      <p:sp>
        <p:nvSpPr>
          <p:cNvPr id="532" name="TB532">
            <a:extLst>
              <a:ext uri="{FF2B5EF4-FFF2-40B4-BE49-F238E27FC236}">
                <a16:creationId xmlns:a16="http://schemas.microsoft.com/office/drawing/2014/main" id="{DF30438F-D0C5-B7A1-7892-0453ED0B38C2}"/>
              </a:ext>
            </a:extLst>
          </p:cNvPr>
          <p:cNvSpPr txBox="1"/>
          <p:nvPr/>
        </p:nvSpPr>
        <p:spPr>
          <a:xfrm>
            <a:off x="5888736" y="4123944"/>
            <a:ext cx="2770632" cy="338328"/>
          </a:xfrm>
          <a:prstGeom prst="rect">
            <a:avLst/>
          </a:prstGeom>
          <a:noFill/>
          <a:ln>
            <a:noFill/>
          </a:ln>
        </p:spPr>
        <p:txBody>
          <a:bodyPr wrap="square" lIns="0" tIns="0" rIns="0" bIns="0" anchor="t">
            <a:noAutofit/>
          </a:bodyPr>
          <a:lstStyle/>
          <a:p>
            <a:pPr algn="ctr"/>
            <a:r>
              <a:rPr lang="ko-KR" altLang="en-US" sz="760" dirty="0">
                <a:solidFill>
                  <a:srgbClr val="1F1F1F"/>
                </a:solidFill>
                <a:latin typeface="맑은 고딕"/>
                <a:ea typeface="맑은 고딕"/>
              </a:rPr>
              <a:t>실시간 관제·이상탐지 · 알림센터·릴레이 제어</a:t>
            </a:r>
          </a:p>
        </p:txBody>
      </p:sp>
      <p:sp>
        <p:nvSpPr>
          <p:cNvPr id="533" name="Rect533">
            <a:extLst>
              <a:ext uri="{FF2B5EF4-FFF2-40B4-BE49-F238E27FC236}">
                <a16:creationId xmlns:a16="http://schemas.microsoft.com/office/drawing/2014/main" id="{15003ABF-070B-6DEA-0A21-3990F43E2DB4}"/>
              </a:ext>
            </a:extLst>
          </p:cNvPr>
          <p:cNvSpPr/>
          <p:nvPr/>
        </p:nvSpPr>
        <p:spPr>
          <a:xfrm>
            <a:off x="2697480" y="5120640"/>
            <a:ext cx="2788920" cy="777240"/>
          </a:xfrm>
          <a:prstGeom prst="rect">
            <a:avLst/>
          </a:prstGeom>
          <a:solidFill>
            <a:srgbClr val="3A3A3A"/>
          </a:solidFill>
          <a:ln w="12700">
            <a:solidFill>
              <a:srgbClr val="3A3A3A"/>
            </a:solidFill>
          </a:ln>
        </p:spPr>
        <p:txBody>
          <a:bodyPr/>
          <a:lstStyle/>
          <a:p>
            <a:endParaRPr lang="ko-KR"/>
          </a:p>
        </p:txBody>
      </p:sp>
      <p:sp>
        <p:nvSpPr>
          <p:cNvPr id="534" name="TB534">
            <a:extLst>
              <a:ext uri="{FF2B5EF4-FFF2-40B4-BE49-F238E27FC236}">
                <a16:creationId xmlns:a16="http://schemas.microsoft.com/office/drawing/2014/main" id="{F71637F1-B99D-4145-D1F0-283B561F1894}"/>
              </a:ext>
            </a:extLst>
          </p:cNvPr>
          <p:cNvSpPr txBox="1"/>
          <p:nvPr/>
        </p:nvSpPr>
        <p:spPr>
          <a:xfrm>
            <a:off x="2770632" y="5166360"/>
            <a:ext cx="2642616" cy="219456"/>
          </a:xfrm>
          <a:prstGeom prst="rect">
            <a:avLst/>
          </a:prstGeom>
          <a:noFill/>
          <a:ln>
            <a:noFill/>
          </a:ln>
        </p:spPr>
        <p:txBody>
          <a:bodyPr wrap="square" lIns="0" tIns="0" rIns="0" bIns="0" anchor="ctr">
            <a:noAutofit/>
          </a:bodyPr>
          <a:lstStyle/>
          <a:p>
            <a:pPr algn="ctr"/>
            <a:r>
              <a:rPr lang="ko-KR" altLang="en-US" sz="950" b="1" dirty="0">
                <a:solidFill>
                  <a:srgbClr val="FFFFFF"/>
                </a:solidFill>
                <a:latin typeface="맑은 고딕"/>
                <a:ea typeface="맑은 고딕"/>
              </a:rPr>
              <a:t>PostgreSQL + TimescaleDB</a:t>
            </a:r>
          </a:p>
        </p:txBody>
      </p:sp>
      <p:sp>
        <p:nvSpPr>
          <p:cNvPr id="535" name="TB535">
            <a:extLst>
              <a:ext uri="{FF2B5EF4-FFF2-40B4-BE49-F238E27FC236}">
                <a16:creationId xmlns:a16="http://schemas.microsoft.com/office/drawing/2014/main" id="{EA20D247-1558-2DF6-C7F3-5AB771EC1930}"/>
              </a:ext>
            </a:extLst>
          </p:cNvPr>
          <p:cNvSpPr txBox="1"/>
          <p:nvPr/>
        </p:nvSpPr>
        <p:spPr>
          <a:xfrm>
            <a:off x="2779776" y="5394960"/>
            <a:ext cx="2624328" cy="457200"/>
          </a:xfrm>
          <a:prstGeom prst="rect">
            <a:avLst/>
          </a:prstGeom>
          <a:noFill/>
          <a:ln>
            <a:noFill/>
          </a:ln>
        </p:spPr>
        <p:txBody>
          <a:bodyPr wrap="square" lIns="0" tIns="0" rIns="0" bIns="0" anchor="t">
            <a:noAutofit/>
          </a:bodyPr>
          <a:lstStyle/>
          <a:p>
            <a:pPr algn="ctr"/>
            <a:r>
              <a:rPr lang="ko-KR" altLang="en-US" sz="780" dirty="0">
                <a:solidFill>
                  <a:srgbClr val="D8D8D8"/>
                </a:solidFill>
                <a:latin typeface="맑은 고딕"/>
                <a:ea typeface="맑은 고딕"/>
              </a:rPr>
              <a:t>Consumer 적재</a:t>
            </a:r>
          </a:p>
          <a:p>
            <a:pPr algn="ctr"/>
            <a:r>
              <a:rPr lang="ko-KR" altLang="en-US" sz="780" dirty="0">
                <a:solidFill>
                  <a:srgbClr val="D8D8D8"/>
                </a:solidFill>
                <a:latin typeface="맑은 고딕"/>
                <a:ea typeface="맑은 고딕"/>
              </a:rPr>
              <a:t>battery_id 세션 태깅</a:t>
            </a:r>
          </a:p>
        </p:txBody>
      </p:sp>
      <p:sp>
        <p:nvSpPr>
          <p:cNvPr id="536" name="Rect536">
            <a:extLst>
              <a:ext uri="{FF2B5EF4-FFF2-40B4-BE49-F238E27FC236}">
                <a16:creationId xmlns:a16="http://schemas.microsoft.com/office/drawing/2014/main" id="{C2FDA169-CD3D-C8DE-0345-CD8D1EC4EDD8}"/>
              </a:ext>
            </a:extLst>
          </p:cNvPr>
          <p:cNvSpPr/>
          <p:nvPr/>
        </p:nvSpPr>
        <p:spPr>
          <a:xfrm>
            <a:off x="402336" y="5120640"/>
            <a:ext cx="1965960" cy="777240"/>
          </a:xfrm>
          <a:prstGeom prst="rect">
            <a:avLst/>
          </a:prstGeom>
          <a:solidFill>
            <a:srgbClr val="3A3A3A"/>
          </a:solidFill>
          <a:ln w="12700">
            <a:solidFill>
              <a:srgbClr val="3A3A3A"/>
            </a:solidFill>
          </a:ln>
        </p:spPr>
        <p:txBody>
          <a:bodyPr/>
          <a:lstStyle/>
          <a:p>
            <a:endParaRPr lang="ko-KR"/>
          </a:p>
        </p:txBody>
      </p:sp>
      <p:sp>
        <p:nvSpPr>
          <p:cNvPr id="537" name="TB537">
            <a:extLst>
              <a:ext uri="{FF2B5EF4-FFF2-40B4-BE49-F238E27FC236}">
                <a16:creationId xmlns:a16="http://schemas.microsoft.com/office/drawing/2014/main" id="{922A7923-9980-957A-4975-E8F9F95CC406}"/>
              </a:ext>
            </a:extLst>
          </p:cNvPr>
          <p:cNvSpPr txBox="1"/>
          <p:nvPr/>
        </p:nvSpPr>
        <p:spPr>
          <a:xfrm>
            <a:off x="475488" y="5166360"/>
            <a:ext cx="1819656" cy="219456"/>
          </a:xfrm>
          <a:prstGeom prst="rect">
            <a:avLst/>
          </a:prstGeom>
          <a:noFill/>
          <a:ln>
            <a:noFill/>
          </a:ln>
        </p:spPr>
        <p:txBody>
          <a:bodyPr wrap="square" lIns="0" tIns="0" rIns="0" bIns="0" anchor="ctr">
            <a:noAutofit/>
          </a:bodyPr>
          <a:lstStyle/>
          <a:p>
            <a:pPr algn="ctr"/>
            <a:r>
              <a:rPr lang="ko-KR" altLang="en-US" sz="950" b="1" dirty="0">
                <a:solidFill>
                  <a:srgbClr val="FFFFFF"/>
                </a:solidFill>
                <a:latin typeface="맑은 고딕"/>
                <a:ea typeface="맑은 고딕"/>
              </a:rPr>
              <a:t>릴레이 / Kill-Switch</a:t>
            </a:r>
          </a:p>
        </p:txBody>
      </p:sp>
      <p:sp>
        <p:nvSpPr>
          <p:cNvPr id="538" name="TB538">
            <a:extLst>
              <a:ext uri="{FF2B5EF4-FFF2-40B4-BE49-F238E27FC236}">
                <a16:creationId xmlns:a16="http://schemas.microsoft.com/office/drawing/2014/main" id="{C534A984-AF68-448B-DE96-B174A12B95EC}"/>
              </a:ext>
            </a:extLst>
          </p:cNvPr>
          <p:cNvSpPr txBox="1"/>
          <p:nvPr/>
        </p:nvSpPr>
        <p:spPr>
          <a:xfrm>
            <a:off x="484632" y="5394960"/>
            <a:ext cx="1801368" cy="457200"/>
          </a:xfrm>
          <a:prstGeom prst="rect">
            <a:avLst/>
          </a:prstGeom>
          <a:noFill/>
          <a:ln>
            <a:noFill/>
          </a:ln>
        </p:spPr>
        <p:txBody>
          <a:bodyPr wrap="square" lIns="0" tIns="0" rIns="0" bIns="0" anchor="t">
            <a:noAutofit/>
          </a:bodyPr>
          <a:lstStyle/>
          <a:p>
            <a:pPr algn="ctr"/>
            <a:r>
              <a:rPr lang="ko-KR" altLang="en-US" sz="780" dirty="0">
                <a:solidFill>
                  <a:srgbClr val="D8D8D8"/>
                </a:solidFill>
                <a:latin typeface="맑은 고딕"/>
                <a:ea typeface="맑은 고딕"/>
              </a:rPr>
              <a:t>배터리 회로 물리 차단</a:t>
            </a:r>
          </a:p>
        </p:txBody>
      </p:sp>
      <p:cxnSp>
        <p:nvCxnSpPr>
          <p:cNvPr id="539" name="Line539">
            <a:extLst>
              <a:ext uri="{FF2B5EF4-FFF2-40B4-BE49-F238E27FC236}">
                <a16:creationId xmlns:a16="http://schemas.microsoft.com/office/drawing/2014/main" id="{720661C2-6039-A1B6-CC19-43E9663C3C87}"/>
              </a:ext>
            </a:extLst>
          </p:cNvPr>
          <p:cNvCxnSpPr/>
          <p:nvPr/>
        </p:nvCxnSpPr>
        <p:spPr>
          <a:xfrm>
            <a:off x="2368296" y="3291840"/>
            <a:ext cx="329184" cy="914"/>
          </a:xfrm>
          <a:prstGeom prst="line">
            <a:avLst/>
          </a:prstGeom>
          <a:ln w="19050">
            <a:solidFill>
              <a:srgbClr val="1F1F1F"/>
            </a:solidFill>
            <a:tailEnd type="triangle" w="med" len="med"/>
          </a:ln>
        </p:spPr>
      </p:cxnSp>
      <p:sp>
        <p:nvSpPr>
          <p:cNvPr id="540" name="TB540">
            <a:extLst>
              <a:ext uri="{FF2B5EF4-FFF2-40B4-BE49-F238E27FC236}">
                <a16:creationId xmlns:a16="http://schemas.microsoft.com/office/drawing/2014/main" id="{47252F58-B4EC-256B-CA3F-EE9930AB4085}"/>
              </a:ext>
            </a:extLst>
          </p:cNvPr>
          <p:cNvSpPr txBox="1"/>
          <p:nvPr/>
        </p:nvSpPr>
        <p:spPr>
          <a:xfrm>
            <a:off x="530352" y="2588366"/>
            <a:ext cx="1600200" cy="201168"/>
          </a:xfrm>
          <a:prstGeom prst="rect">
            <a:avLst/>
          </a:prstGeom>
          <a:noFill/>
          <a:ln>
            <a:noFill/>
          </a:ln>
        </p:spPr>
        <p:txBody>
          <a:bodyPr wrap="square" lIns="0" tIns="0" rIns="0" bIns="0" anchor="ctr">
            <a:noAutofit/>
          </a:bodyPr>
          <a:lstStyle/>
          <a:p>
            <a:pPr algn="ctr"/>
            <a:r>
              <a:rPr lang="ko-KR" altLang="en-US" sz="750" dirty="0">
                <a:solidFill>
                  <a:srgbClr val="1F1F1F"/>
                </a:solidFill>
                <a:latin typeface="맑은 고딕"/>
                <a:ea typeface="맑은 고딕"/>
              </a:rPr>
              <a:t>발행 (TLS/SASL)</a:t>
            </a:r>
          </a:p>
        </p:txBody>
      </p:sp>
      <p:cxnSp>
        <p:nvCxnSpPr>
          <p:cNvPr id="541" name="Line541">
            <a:extLst>
              <a:ext uri="{FF2B5EF4-FFF2-40B4-BE49-F238E27FC236}">
                <a16:creationId xmlns:a16="http://schemas.microsoft.com/office/drawing/2014/main" id="{29046C67-7E74-09A4-F98D-3A4E0D2D94DE}"/>
              </a:ext>
            </a:extLst>
          </p:cNvPr>
          <p:cNvCxnSpPr/>
          <p:nvPr/>
        </p:nvCxnSpPr>
        <p:spPr>
          <a:xfrm flipH="1">
            <a:off x="2322576" y="4727448"/>
            <a:ext cx="603504" cy="530352"/>
          </a:xfrm>
          <a:prstGeom prst="line">
            <a:avLst/>
          </a:prstGeom>
          <a:ln w="19050">
            <a:solidFill>
              <a:srgbClr val="1F1F1F"/>
            </a:solidFill>
            <a:tailEnd type="triangle" w="med" len="med"/>
          </a:ln>
        </p:spPr>
      </p:cxnSp>
      <p:sp>
        <p:nvSpPr>
          <p:cNvPr id="542" name="TB542">
            <a:extLst>
              <a:ext uri="{FF2B5EF4-FFF2-40B4-BE49-F238E27FC236}">
                <a16:creationId xmlns:a16="http://schemas.microsoft.com/office/drawing/2014/main" id="{F810257F-D29F-1617-8515-8D7ACCB95D09}"/>
              </a:ext>
            </a:extLst>
          </p:cNvPr>
          <p:cNvSpPr txBox="1"/>
          <p:nvPr/>
        </p:nvSpPr>
        <p:spPr>
          <a:xfrm>
            <a:off x="73152" y="4832665"/>
            <a:ext cx="2514600" cy="201168"/>
          </a:xfrm>
          <a:prstGeom prst="rect">
            <a:avLst/>
          </a:prstGeom>
          <a:solidFill>
            <a:srgbClr val="FFFFFF"/>
          </a:solidFill>
          <a:ln>
            <a:noFill/>
          </a:ln>
        </p:spPr>
        <p:txBody>
          <a:bodyPr wrap="square" lIns="0" tIns="0" rIns="0" bIns="0" anchor="ctr">
            <a:noAutofit/>
          </a:bodyPr>
          <a:lstStyle/>
          <a:p>
            <a:pPr algn="ctr"/>
            <a:r>
              <a:rPr lang="ko-KR" altLang="en-US" sz="750" dirty="0">
                <a:solidFill>
                  <a:srgbClr val="1F1F1F"/>
                </a:solidFill>
                <a:latin typeface="맑은 고딕"/>
                <a:ea typeface="맑은 고딕"/>
              </a:rPr>
              <a:t>제어 명령</a:t>
            </a:r>
          </a:p>
        </p:txBody>
      </p:sp>
      <p:cxnSp>
        <p:nvCxnSpPr>
          <p:cNvPr id="543" name="Line543">
            <a:extLst>
              <a:ext uri="{FF2B5EF4-FFF2-40B4-BE49-F238E27FC236}">
                <a16:creationId xmlns:a16="http://schemas.microsoft.com/office/drawing/2014/main" id="{57FB0F57-5D77-90D2-286F-A3647CE407A1}"/>
              </a:ext>
            </a:extLst>
          </p:cNvPr>
          <p:cNvCxnSpPr/>
          <p:nvPr/>
        </p:nvCxnSpPr>
        <p:spPr>
          <a:xfrm flipV="1">
            <a:off x="3200400" y="2624328"/>
            <a:ext cx="914" cy="274320"/>
          </a:xfrm>
          <a:prstGeom prst="line">
            <a:avLst/>
          </a:prstGeom>
          <a:ln w="19050">
            <a:solidFill>
              <a:srgbClr val="1F1F1F"/>
            </a:solidFill>
            <a:tailEnd type="triangle" w="med" len="med"/>
          </a:ln>
        </p:spPr>
      </p:cxnSp>
      <p:sp>
        <p:nvSpPr>
          <p:cNvPr id="544" name="TB544">
            <a:extLst>
              <a:ext uri="{FF2B5EF4-FFF2-40B4-BE49-F238E27FC236}">
                <a16:creationId xmlns:a16="http://schemas.microsoft.com/office/drawing/2014/main" id="{2BC021EC-A961-5D17-1654-85A843932CA0}"/>
              </a:ext>
            </a:extLst>
          </p:cNvPr>
          <p:cNvSpPr txBox="1"/>
          <p:nvPr/>
        </p:nvSpPr>
        <p:spPr>
          <a:xfrm>
            <a:off x="2715768" y="2679192"/>
            <a:ext cx="438912" cy="201168"/>
          </a:xfrm>
          <a:prstGeom prst="rect">
            <a:avLst/>
          </a:prstGeom>
          <a:noFill/>
          <a:ln>
            <a:noFill/>
          </a:ln>
        </p:spPr>
        <p:txBody>
          <a:bodyPr wrap="square" lIns="0" tIns="0" rIns="0" bIns="0" anchor="ctr">
            <a:noAutofit/>
          </a:bodyPr>
          <a:lstStyle/>
          <a:p>
            <a:pPr algn="ctr"/>
            <a:r>
              <a:rPr lang="ko-KR" altLang="en-US" sz="650" dirty="0">
                <a:solidFill>
                  <a:srgbClr val="1F1F1F"/>
                </a:solidFill>
                <a:latin typeface="맑은 고딕"/>
                <a:ea typeface="맑은 고딕"/>
              </a:rPr>
              <a:t>raw 구독</a:t>
            </a:r>
          </a:p>
        </p:txBody>
      </p:sp>
      <p:cxnSp>
        <p:nvCxnSpPr>
          <p:cNvPr id="545" name="Line545">
            <a:extLst>
              <a:ext uri="{FF2B5EF4-FFF2-40B4-BE49-F238E27FC236}">
                <a16:creationId xmlns:a16="http://schemas.microsoft.com/office/drawing/2014/main" id="{08EAE879-66E6-D51E-31D2-3FDE36476EE6}"/>
              </a:ext>
            </a:extLst>
          </p:cNvPr>
          <p:cNvCxnSpPr/>
          <p:nvPr/>
        </p:nvCxnSpPr>
        <p:spPr>
          <a:xfrm>
            <a:off x="4594860" y="2624328"/>
            <a:ext cx="914" cy="274320"/>
          </a:xfrm>
          <a:prstGeom prst="line">
            <a:avLst/>
          </a:prstGeom>
          <a:ln>
            <a:tailEnd type="triangle" w="med" len="med"/>
          </a:ln>
        </p:spPr>
        <p:style>
          <a:lnRef idx="1">
            <a:schemeClr val="accent6"/>
          </a:lnRef>
          <a:fillRef idx="0">
            <a:schemeClr val="accent6"/>
          </a:fillRef>
          <a:effectRef idx="0">
            <a:schemeClr val="accent6"/>
          </a:effectRef>
          <a:fontRef idx="minor">
            <a:schemeClr val="tx1"/>
          </a:fontRef>
        </p:style>
      </p:cxnSp>
      <p:sp>
        <p:nvSpPr>
          <p:cNvPr id="546" name="TB546">
            <a:extLst>
              <a:ext uri="{FF2B5EF4-FFF2-40B4-BE49-F238E27FC236}">
                <a16:creationId xmlns:a16="http://schemas.microsoft.com/office/drawing/2014/main" id="{9D8CBCEE-52C6-FD45-7ADE-3DFA87F2542B}"/>
              </a:ext>
            </a:extLst>
          </p:cNvPr>
          <p:cNvSpPr txBox="1"/>
          <p:nvPr/>
        </p:nvSpPr>
        <p:spPr>
          <a:xfrm>
            <a:off x="4686300" y="2679192"/>
            <a:ext cx="822960" cy="201168"/>
          </a:xfrm>
          <a:prstGeom prst="rect">
            <a:avLst/>
          </a:prstGeom>
          <a:noFill/>
          <a:ln>
            <a:noFill/>
          </a:ln>
        </p:spPr>
        <p:txBody>
          <a:bodyPr wrap="square" lIns="0" tIns="0" rIns="0" bIns="0" anchor="ctr">
            <a:noAutofit/>
          </a:bodyPr>
          <a:lstStyle/>
          <a:p>
            <a:pPr algn="ctr"/>
            <a:r>
              <a:rPr lang="ko-KR" altLang="en-US" sz="650" dirty="0">
                <a:solidFill>
                  <a:srgbClr val="C77B12"/>
                </a:solidFill>
                <a:latin typeface="맑은 고딕"/>
                <a:ea typeface="맑은 고딕"/>
              </a:rPr>
              <a:t>alert 발행</a:t>
            </a:r>
          </a:p>
        </p:txBody>
      </p:sp>
      <p:cxnSp>
        <p:nvCxnSpPr>
          <p:cNvPr id="547" name="Line547">
            <a:extLst>
              <a:ext uri="{FF2B5EF4-FFF2-40B4-BE49-F238E27FC236}">
                <a16:creationId xmlns:a16="http://schemas.microsoft.com/office/drawing/2014/main" id="{AB2A0F6A-7A85-AB41-DD89-600E2743CD13}"/>
              </a:ext>
            </a:extLst>
          </p:cNvPr>
          <p:cNvCxnSpPr/>
          <p:nvPr/>
        </p:nvCxnSpPr>
        <p:spPr>
          <a:xfrm>
            <a:off x="4091940" y="4864608"/>
            <a:ext cx="914" cy="256032"/>
          </a:xfrm>
          <a:prstGeom prst="line">
            <a:avLst/>
          </a:prstGeom>
          <a:ln w="19050">
            <a:solidFill>
              <a:srgbClr val="1F1F1F"/>
            </a:solidFill>
            <a:tailEnd type="triangle" w="med" len="med"/>
          </a:ln>
        </p:spPr>
      </p:cxnSp>
      <p:sp>
        <p:nvSpPr>
          <p:cNvPr id="548" name="TB548">
            <a:extLst>
              <a:ext uri="{FF2B5EF4-FFF2-40B4-BE49-F238E27FC236}">
                <a16:creationId xmlns:a16="http://schemas.microsoft.com/office/drawing/2014/main" id="{BCFC9450-8ED9-452E-C79F-1D0EF596BC06}"/>
              </a:ext>
            </a:extLst>
          </p:cNvPr>
          <p:cNvSpPr txBox="1"/>
          <p:nvPr/>
        </p:nvSpPr>
        <p:spPr>
          <a:xfrm>
            <a:off x="4165092" y="4892040"/>
            <a:ext cx="548640" cy="201168"/>
          </a:xfrm>
          <a:prstGeom prst="rect">
            <a:avLst/>
          </a:prstGeom>
          <a:noFill/>
          <a:ln>
            <a:noFill/>
          </a:ln>
        </p:spPr>
        <p:txBody>
          <a:bodyPr wrap="square" lIns="0" tIns="0" rIns="0" bIns="0" anchor="ctr">
            <a:noAutofit/>
          </a:bodyPr>
          <a:lstStyle/>
          <a:p>
            <a:pPr algn="ctr"/>
            <a:r>
              <a:rPr lang="ko-KR" altLang="en-US" sz="750" dirty="0">
                <a:solidFill>
                  <a:srgbClr val="1F1F1F"/>
                </a:solidFill>
                <a:latin typeface="맑은 고딕"/>
                <a:ea typeface="맑은 고딕"/>
              </a:rPr>
              <a:t>적재</a:t>
            </a:r>
          </a:p>
        </p:txBody>
      </p:sp>
      <p:cxnSp>
        <p:nvCxnSpPr>
          <p:cNvPr id="549" name="Line549">
            <a:extLst>
              <a:ext uri="{FF2B5EF4-FFF2-40B4-BE49-F238E27FC236}">
                <a16:creationId xmlns:a16="http://schemas.microsoft.com/office/drawing/2014/main" id="{719F67B4-CF92-95FE-6CD4-98409CAA8883}"/>
              </a:ext>
            </a:extLst>
          </p:cNvPr>
          <p:cNvCxnSpPr/>
          <p:nvPr/>
        </p:nvCxnSpPr>
        <p:spPr>
          <a:xfrm>
            <a:off x="5486400" y="3182112"/>
            <a:ext cx="320040" cy="914"/>
          </a:xfrm>
          <a:prstGeom prst="line">
            <a:avLst/>
          </a:prstGeom>
          <a:ln w="19050">
            <a:solidFill>
              <a:srgbClr val="1F1F1F"/>
            </a:solidFill>
            <a:tailEnd type="triangle" w="med" len="med"/>
          </a:ln>
        </p:spPr>
      </p:cxnSp>
      <p:sp>
        <p:nvSpPr>
          <p:cNvPr id="550" name="TB550">
            <a:extLst>
              <a:ext uri="{FF2B5EF4-FFF2-40B4-BE49-F238E27FC236}">
                <a16:creationId xmlns:a16="http://schemas.microsoft.com/office/drawing/2014/main" id="{AFB762A0-6724-81A6-1BF0-267B919896AF}"/>
              </a:ext>
            </a:extLst>
          </p:cNvPr>
          <p:cNvSpPr txBox="1"/>
          <p:nvPr/>
        </p:nvSpPr>
        <p:spPr>
          <a:xfrm>
            <a:off x="5522976" y="2935224"/>
            <a:ext cx="1097280" cy="201168"/>
          </a:xfrm>
          <a:prstGeom prst="rect">
            <a:avLst/>
          </a:prstGeom>
          <a:noFill/>
          <a:ln>
            <a:noFill/>
          </a:ln>
        </p:spPr>
        <p:txBody>
          <a:bodyPr wrap="square" lIns="0" tIns="0" rIns="0" bIns="0" anchor="ctr">
            <a:noAutofit/>
          </a:bodyPr>
          <a:lstStyle/>
          <a:p>
            <a:pPr algn="ctr"/>
            <a:r>
              <a:rPr lang="ko-KR" altLang="en-US" sz="700" dirty="0">
                <a:solidFill>
                  <a:srgbClr val="1F1F1F"/>
                </a:solidFill>
                <a:latin typeface="맑은 고딕"/>
                <a:ea typeface="맑은 고딕"/>
              </a:rPr>
              <a:t>alerts 구독</a:t>
            </a:r>
          </a:p>
        </p:txBody>
      </p:sp>
      <p:cxnSp>
        <p:nvCxnSpPr>
          <p:cNvPr id="551" name="Line551">
            <a:extLst>
              <a:ext uri="{FF2B5EF4-FFF2-40B4-BE49-F238E27FC236}">
                <a16:creationId xmlns:a16="http://schemas.microsoft.com/office/drawing/2014/main" id="{A9970C22-CF83-29D9-620F-8F4DBD18DD76}"/>
              </a:ext>
            </a:extLst>
          </p:cNvPr>
          <p:cNvCxnSpPr/>
          <p:nvPr/>
        </p:nvCxnSpPr>
        <p:spPr>
          <a:xfrm flipH="1" flipV="1">
            <a:off x="7260336" y="2304288"/>
            <a:ext cx="150876" cy="594360"/>
          </a:xfrm>
          <a:prstGeom prst="line">
            <a:avLst/>
          </a:prstGeom>
          <a:ln w="19050">
            <a:solidFill>
              <a:srgbClr val="1F1F1F"/>
            </a:solidFill>
            <a:tailEnd type="triangle" w="med" len="med"/>
          </a:ln>
        </p:spPr>
      </p:cxnSp>
      <p:sp>
        <p:nvSpPr>
          <p:cNvPr id="552" name="TB552">
            <a:extLst>
              <a:ext uri="{FF2B5EF4-FFF2-40B4-BE49-F238E27FC236}">
                <a16:creationId xmlns:a16="http://schemas.microsoft.com/office/drawing/2014/main" id="{A13181A1-0B8B-583D-63E7-EF5EA684A37F}"/>
              </a:ext>
            </a:extLst>
          </p:cNvPr>
          <p:cNvSpPr txBox="1"/>
          <p:nvPr/>
        </p:nvSpPr>
        <p:spPr>
          <a:xfrm>
            <a:off x="5943600" y="2660904"/>
            <a:ext cx="822960" cy="201168"/>
          </a:xfrm>
          <a:prstGeom prst="rect">
            <a:avLst/>
          </a:prstGeom>
          <a:solidFill>
            <a:srgbClr val="FFFFFF"/>
          </a:solidFill>
          <a:ln>
            <a:noFill/>
          </a:ln>
        </p:spPr>
        <p:txBody>
          <a:bodyPr wrap="square" lIns="0" tIns="0" rIns="0" bIns="0" anchor="ctr">
            <a:noAutofit/>
          </a:bodyPr>
          <a:lstStyle/>
          <a:p>
            <a:pPr algn="ctr"/>
            <a:r>
              <a:rPr lang="ko-KR" altLang="en-US" sz="700" dirty="0">
                <a:solidFill>
                  <a:srgbClr val="1F1F1F"/>
                </a:solidFill>
                <a:latin typeface="맑은 고딕"/>
                <a:ea typeface="맑은 고딕"/>
              </a:rPr>
              <a:t>notify</a:t>
            </a:r>
          </a:p>
        </p:txBody>
      </p:sp>
      <p:cxnSp>
        <p:nvCxnSpPr>
          <p:cNvPr id="553" name="Line553">
            <a:extLst>
              <a:ext uri="{FF2B5EF4-FFF2-40B4-BE49-F238E27FC236}">
                <a16:creationId xmlns:a16="http://schemas.microsoft.com/office/drawing/2014/main" id="{7EBC3DEB-5D9E-7DBD-66F3-5053B0F54D37}"/>
              </a:ext>
            </a:extLst>
          </p:cNvPr>
          <p:cNvCxnSpPr/>
          <p:nvPr/>
        </p:nvCxnSpPr>
        <p:spPr>
          <a:xfrm>
            <a:off x="7274052" y="3465576"/>
            <a:ext cx="914" cy="384048"/>
          </a:xfrm>
          <a:prstGeom prst="line">
            <a:avLst/>
          </a:prstGeom>
          <a:ln w="19050">
            <a:solidFill>
              <a:srgbClr val="1F1F1F"/>
            </a:solidFill>
            <a:tailEnd type="triangle" w="med" len="med"/>
          </a:ln>
        </p:spPr>
      </p:cxnSp>
      <p:sp>
        <p:nvSpPr>
          <p:cNvPr id="554" name="TB554">
            <a:extLst>
              <a:ext uri="{FF2B5EF4-FFF2-40B4-BE49-F238E27FC236}">
                <a16:creationId xmlns:a16="http://schemas.microsoft.com/office/drawing/2014/main" id="{95740CB1-3B8A-8786-6222-3838CF5010D5}"/>
              </a:ext>
            </a:extLst>
          </p:cNvPr>
          <p:cNvSpPr txBox="1"/>
          <p:nvPr/>
        </p:nvSpPr>
        <p:spPr>
          <a:xfrm>
            <a:off x="6588252" y="3557016"/>
            <a:ext cx="1371600" cy="201168"/>
          </a:xfrm>
          <a:prstGeom prst="rect">
            <a:avLst/>
          </a:prstGeom>
          <a:solidFill>
            <a:srgbClr val="FFFFFF"/>
          </a:solidFill>
          <a:ln>
            <a:noFill/>
          </a:ln>
        </p:spPr>
        <p:txBody>
          <a:bodyPr wrap="square" lIns="0" tIns="0" rIns="0" bIns="0" anchor="ctr">
            <a:noAutofit/>
          </a:bodyPr>
          <a:lstStyle/>
          <a:p>
            <a:pPr algn="ctr"/>
            <a:r>
              <a:rPr lang="ko-KR" altLang="en-US" sz="700" dirty="0">
                <a:solidFill>
                  <a:srgbClr val="1F1F1F"/>
                </a:solidFill>
                <a:latin typeface="맑은 고딕"/>
                <a:ea typeface="맑은 고딕"/>
              </a:rPr>
              <a:t>REST·WebSocket</a:t>
            </a:r>
          </a:p>
        </p:txBody>
      </p:sp>
      <p:sp>
        <p:nvSpPr>
          <p:cNvPr id="555" name="TB555">
            <a:extLst>
              <a:ext uri="{FF2B5EF4-FFF2-40B4-BE49-F238E27FC236}">
                <a16:creationId xmlns:a16="http://schemas.microsoft.com/office/drawing/2014/main" id="{9C2F112F-EDFA-B796-3E90-0F64234072FB}"/>
              </a:ext>
            </a:extLst>
          </p:cNvPr>
          <p:cNvSpPr txBox="1"/>
          <p:nvPr/>
        </p:nvSpPr>
        <p:spPr>
          <a:xfrm>
            <a:off x="402336" y="6355080"/>
            <a:ext cx="7406640" cy="237744"/>
          </a:xfrm>
          <a:prstGeom prst="rect">
            <a:avLst/>
          </a:prstGeom>
          <a:noFill/>
          <a:ln>
            <a:noFill/>
          </a:ln>
        </p:spPr>
        <p:txBody>
          <a:bodyPr wrap="square" lIns="0" tIns="0" rIns="0" bIns="0" anchor="t">
            <a:noAutofit/>
          </a:bodyPr>
          <a:lstStyle/>
          <a:p>
            <a:pPr algn="l"/>
            <a:endParaRPr lang="ko-KR" altLang="en-US" sz="850" i="1" dirty="0">
              <a:solidFill>
                <a:srgbClr val="5B6472"/>
              </a:solidFill>
              <a:latin typeface="맑은 고딕"/>
              <a:ea typeface="맑은 고딕"/>
            </a:endParaRPr>
          </a:p>
        </p:txBody>
      </p:sp>
    </p:spTree>
    <p:extLst>
      <p:ext uri="{BB962C8B-B14F-4D97-AF65-F5344CB8AC3E}">
        <p14:creationId xmlns:p14="http://schemas.microsoft.com/office/powerpoint/2010/main" val="147534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2FABD-8FFF-891D-96D0-BC075FA8B9D1}"/>
            </a:ext>
          </a:extLst>
        </p:cNvPr>
        <p:cNvGrpSpPr/>
        <p:nvPr/>
      </p:nvGrpSpPr>
      <p:grpSpPr>
        <a:xfrm>
          <a:off x="0" y="0"/>
          <a:ext cx="0" cy="0"/>
          <a:chOff x="0" y="0"/>
          <a:chExt cx="0" cy="0"/>
        </a:xfrm>
      </p:grpSpPr>
      <p:sp>
        <p:nvSpPr>
          <p:cNvPr id="77" name="Shape 11">
            <a:extLst>
              <a:ext uri="{FF2B5EF4-FFF2-40B4-BE49-F238E27FC236}">
                <a16:creationId xmlns:a16="http://schemas.microsoft.com/office/drawing/2014/main" id="{D557538A-A723-6293-0428-34832CAD6C04}"/>
              </a:ext>
            </a:extLst>
          </p:cNvPr>
          <p:cNvSpPr/>
          <p:nvPr/>
        </p:nvSpPr>
        <p:spPr>
          <a:xfrm>
            <a:off x="623165" y="1841433"/>
            <a:ext cx="70371" cy="172020"/>
          </a:xfrm>
          <a:prstGeom prst="rect">
            <a:avLst/>
          </a:prstGeom>
          <a:solidFill>
            <a:srgbClr val="3B5BA7"/>
          </a:solidFill>
          <a:ln/>
        </p:spPr>
        <p:txBody>
          <a:bodyPr/>
          <a:lstStyle/>
          <a:p>
            <a:endParaRPr lang="ko-KR" altLang="en-US" sz="1634"/>
          </a:p>
        </p:txBody>
      </p:sp>
      <p:sp>
        <p:nvSpPr>
          <p:cNvPr id="79" name="Text 12">
            <a:extLst>
              <a:ext uri="{FF2B5EF4-FFF2-40B4-BE49-F238E27FC236}">
                <a16:creationId xmlns:a16="http://schemas.microsoft.com/office/drawing/2014/main" id="{6B1ECBEF-D0E2-368B-E7D8-4AD9900E1B6C}"/>
              </a:ext>
            </a:extLst>
          </p:cNvPr>
          <p:cNvSpPr/>
          <p:nvPr/>
        </p:nvSpPr>
        <p:spPr>
          <a:xfrm>
            <a:off x="693536" y="1814064"/>
            <a:ext cx="4691459"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배터리 안전·열관리 관련 시장 규모</a:t>
            </a:r>
            <a:endParaRPr lang="en-US" sz="1112" dirty="0"/>
          </a:p>
        </p:txBody>
      </p:sp>
      <p:graphicFrame>
        <p:nvGraphicFramePr>
          <p:cNvPr id="81" name="Table 0">
            <a:extLst>
              <a:ext uri="{FF2B5EF4-FFF2-40B4-BE49-F238E27FC236}">
                <a16:creationId xmlns:a16="http://schemas.microsoft.com/office/drawing/2014/main" id="{0D2D2173-7135-891B-9F03-ECAD0990DBEE}"/>
              </a:ext>
            </a:extLst>
          </p:cNvPr>
          <p:cNvGraphicFramePr>
            <a:graphicFrameLocks noGrp="1"/>
          </p:cNvGraphicFramePr>
          <p:nvPr/>
        </p:nvGraphicFramePr>
        <p:xfrm>
          <a:off x="623167" y="2115099"/>
          <a:ext cx="4378694" cy="1501268"/>
        </p:xfrm>
        <a:graphic>
          <a:graphicData uri="http://schemas.openxmlformats.org/drawingml/2006/table">
            <a:tbl>
              <a:tblPr/>
              <a:tblGrid>
                <a:gridCol w="1642010">
                  <a:extLst>
                    <a:ext uri="{9D8B030D-6E8A-4147-A177-3AD203B41FA5}">
                      <a16:colId xmlns:a16="http://schemas.microsoft.com/office/drawing/2014/main" val="20000"/>
                    </a:ext>
                  </a:extLst>
                </a:gridCol>
                <a:gridCol w="1368342">
                  <a:extLst>
                    <a:ext uri="{9D8B030D-6E8A-4147-A177-3AD203B41FA5}">
                      <a16:colId xmlns:a16="http://schemas.microsoft.com/office/drawing/2014/main" val="20001"/>
                    </a:ext>
                  </a:extLst>
                </a:gridCol>
                <a:gridCol w="1368342">
                  <a:extLst>
                    <a:ext uri="{9D8B030D-6E8A-4147-A177-3AD203B41FA5}">
                      <a16:colId xmlns:a16="http://schemas.microsoft.com/office/drawing/2014/main" val="20002"/>
                    </a:ext>
                  </a:extLst>
                </a:gridCol>
              </a:tblGrid>
              <a:tr h="375317">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구분</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2024~25년 규모</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성장 전망(CAGR)</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extLst>
                  <a:ext uri="{0D108BD9-81ED-4DB2-BD59-A6C34878D82A}">
                    <a16:rowId xmlns:a16="http://schemas.microsoft.com/office/drawing/2014/main" val="10000"/>
                  </a:ext>
                </a:extLst>
              </a:tr>
              <a:tr h="375317">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배터리 열관리시스템(BTMS)</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2025년 42억 달러</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12.7% (~2035년 132억$)</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1"/>
                  </a:ext>
                </a:extLst>
              </a:tr>
              <a:tr h="375317">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리튬이온 배터리 전체</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2024년 673.4억 달러</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~2037년 6,185.5억$ 전망</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2"/>
                  </a:ext>
                </a:extLst>
              </a:tr>
              <a:tr h="375317">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차량용 자동차 응용 부문</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2023년 점유율 30%</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16.2% (자동차 부문)</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3" name="Shape 13">
            <a:extLst>
              <a:ext uri="{FF2B5EF4-FFF2-40B4-BE49-F238E27FC236}">
                <a16:creationId xmlns:a16="http://schemas.microsoft.com/office/drawing/2014/main" id="{8FDE8C4D-84C3-5F74-3512-C2DC5E1492FC}"/>
              </a:ext>
            </a:extLst>
          </p:cNvPr>
          <p:cNvSpPr/>
          <p:nvPr/>
        </p:nvSpPr>
        <p:spPr>
          <a:xfrm>
            <a:off x="623165" y="3874397"/>
            <a:ext cx="70371" cy="172020"/>
          </a:xfrm>
          <a:prstGeom prst="rect">
            <a:avLst/>
          </a:prstGeom>
          <a:solidFill>
            <a:srgbClr val="3B5BA7"/>
          </a:solidFill>
          <a:ln/>
        </p:spPr>
        <p:txBody>
          <a:bodyPr/>
          <a:lstStyle/>
          <a:p>
            <a:endParaRPr lang="ko-KR" altLang="en-US" sz="1634"/>
          </a:p>
        </p:txBody>
      </p:sp>
      <p:sp>
        <p:nvSpPr>
          <p:cNvPr id="85" name="Text 14">
            <a:extLst>
              <a:ext uri="{FF2B5EF4-FFF2-40B4-BE49-F238E27FC236}">
                <a16:creationId xmlns:a16="http://schemas.microsoft.com/office/drawing/2014/main" id="{564418A2-1861-80CD-4EAF-76441A122834}"/>
              </a:ext>
            </a:extLst>
          </p:cNvPr>
          <p:cNvSpPr/>
          <p:nvPr/>
        </p:nvSpPr>
        <p:spPr>
          <a:xfrm>
            <a:off x="693536" y="3844190"/>
            <a:ext cx="4691459"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본 프로젝트와의 연관성</a:t>
            </a:r>
            <a:endParaRPr lang="en-US" sz="1112" dirty="0"/>
          </a:p>
        </p:txBody>
      </p:sp>
      <p:sp>
        <p:nvSpPr>
          <p:cNvPr id="87" name="Shape 15">
            <a:extLst>
              <a:ext uri="{FF2B5EF4-FFF2-40B4-BE49-F238E27FC236}">
                <a16:creationId xmlns:a16="http://schemas.microsoft.com/office/drawing/2014/main" id="{C8B6396F-6824-B4ED-EA4B-1E0584818226}"/>
              </a:ext>
            </a:extLst>
          </p:cNvPr>
          <p:cNvSpPr/>
          <p:nvPr/>
        </p:nvSpPr>
        <p:spPr>
          <a:xfrm>
            <a:off x="643012" y="4115073"/>
            <a:ext cx="4378694" cy="1759244"/>
          </a:xfrm>
          <a:prstGeom prst="roundRect">
            <a:avLst>
              <a:gd name="adj" fmla="val 2745"/>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89" name="Text 16">
            <a:extLst>
              <a:ext uri="{FF2B5EF4-FFF2-40B4-BE49-F238E27FC236}">
                <a16:creationId xmlns:a16="http://schemas.microsoft.com/office/drawing/2014/main" id="{DBBBBAD8-43C9-71A3-91D8-63610CE786E3}"/>
              </a:ext>
            </a:extLst>
          </p:cNvPr>
          <p:cNvSpPr/>
          <p:nvPr/>
        </p:nvSpPr>
        <p:spPr>
          <a:xfrm>
            <a:off x="779547" y="4226258"/>
            <a:ext cx="4105026" cy="860100"/>
          </a:xfrm>
          <a:prstGeom prst="rect">
            <a:avLst/>
          </a:prstGeom>
          <a:noFill/>
          <a:ln/>
        </p:spPr>
        <p:txBody>
          <a:bodyPr wrap="square" rtlCol="0" anchor="t"/>
          <a:lstStyle/>
          <a:p>
            <a:r>
              <a:rPr lang="en-US" sz="1026" dirty="0">
                <a:solidFill>
                  <a:srgbClr val="1E293B"/>
                </a:solidFill>
                <a:latin typeface="맑은 고딕" pitchFamily="34" charset="0"/>
                <a:ea typeface="맑은 고딕" pitchFamily="34" charset="-122"/>
                <a:cs typeface="맑은 고딕" pitchFamily="34" charset="-120"/>
              </a:rPr>
              <a:t>열관리(BTMS) 시장은 냉각·센서 하드웨어 중심으로 12%대 고성장 중이나, </a:t>
            </a:r>
            <a:r>
              <a:rPr lang="en-US" sz="1026" b="1" dirty="0">
                <a:solidFill>
                  <a:srgbClr val="3B5BA7"/>
                </a:solidFill>
                <a:latin typeface="맑은 고딕" pitchFamily="34" charset="0"/>
                <a:ea typeface="맑은 고딕" pitchFamily="34" charset="-122"/>
                <a:cs typeface="맑은 고딕" pitchFamily="34" charset="-120"/>
              </a:rPr>
              <a:t>‘정상패턴 학습 기반 AI 조기탐지 소프트웨어’ 영역은 상대적으로 공백</a:t>
            </a:r>
            <a:r>
              <a:rPr lang="en-US" sz="1026" dirty="0">
                <a:solidFill>
                  <a:srgbClr val="1E293B"/>
                </a:solidFill>
                <a:latin typeface="맑은 고딕" pitchFamily="34" charset="0"/>
                <a:ea typeface="맑은 고딕" pitchFamily="34" charset="-122"/>
                <a:cs typeface="맑은 고딕" pitchFamily="34" charset="-120"/>
              </a:rPr>
              <a:t> — 하드웨어(센서·릴레이)와 AI 소프트웨어를 결합한 본 시스템의 차별화 지점.</a:t>
            </a:r>
            <a:endParaRPr lang="en-US" sz="1026" dirty="0"/>
          </a:p>
        </p:txBody>
      </p:sp>
      <p:sp>
        <p:nvSpPr>
          <p:cNvPr id="91" name="Text 17">
            <a:extLst>
              <a:ext uri="{FF2B5EF4-FFF2-40B4-BE49-F238E27FC236}">
                <a16:creationId xmlns:a16="http://schemas.microsoft.com/office/drawing/2014/main" id="{9A8E74DE-8C59-14F5-6BDA-281531456B06}"/>
              </a:ext>
            </a:extLst>
          </p:cNvPr>
          <p:cNvSpPr/>
          <p:nvPr/>
        </p:nvSpPr>
        <p:spPr>
          <a:xfrm>
            <a:off x="779547" y="5086357"/>
            <a:ext cx="4105026" cy="860100"/>
          </a:xfrm>
          <a:prstGeom prst="rect">
            <a:avLst/>
          </a:prstGeom>
          <a:noFill/>
          <a:ln/>
        </p:spPr>
        <p:txBody>
          <a:bodyPr wrap="square" rtlCol="0" anchor="t"/>
          <a:lstStyle/>
          <a:p>
            <a:r>
              <a:rPr lang="en-US" sz="1026" dirty="0">
                <a:solidFill>
                  <a:srgbClr val="1E293B"/>
                </a:solidFill>
                <a:latin typeface="맑은 고딕" pitchFamily="34" charset="0"/>
                <a:ea typeface="맑은 고딕" pitchFamily="34" charset="-122"/>
                <a:cs typeface="맑은 고딕" pitchFamily="34" charset="-120"/>
              </a:rPr>
              <a:t>리튬이온 배터리 자동차 응용 비중이 가장 크고 성장률도 높아(16.2%) EV·ESS·보조배터리 전 영역에서 안전 모니터링 수요가 동반 확대될 전망.</a:t>
            </a:r>
            <a:endParaRPr lang="en-US" sz="1026" dirty="0"/>
          </a:p>
        </p:txBody>
      </p:sp>
      <p:sp>
        <p:nvSpPr>
          <p:cNvPr id="93" name="Shape 18">
            <a:extLst>
              <a:ext uri="{FF2B5EF4-FFF2-40B4-BE49-F238E27FC236}">
                <a16:creationId xmlns:a16="http://schemas.microsoft.com/office/drawing/2014/main" id="{0033086E-8DE5-E0AD-DD02-6FF17C0C38F1}"/>
              </a:ext>
            </a:extLst>
          </p:cNvPr>
          <p:cNvSpPr/>
          <p:nvPr/>
        </p:nvSpPr>
        <p:spPr>
          <a:xfrm>
            <a:off x="5166063" y="1837524"/>
            <a:ext cx="70371" cy="172020"/>
          </a:xfrm>
          <a:prstGeom prst="rect">
            <a:avLst/>
          </a:prstGeom>
          <a:solidFill>
            <a:srgbClr val="3B5BA7"/>
          </a:solidFill>
          <a:ln/>
        </p:spPr>
        <p:txBody>
          <a:bodyPr/>
          <a:lstStyle/>
          <a:p>
            <a:endParaRPr lang="ko-KR" altLang="en-US" sz="1634"/>
          </a:p>
        </p:txBody>
      </p:sp>
      <p:graphicFrame>
        <p:nvGraphicFramePr>
          <p:cNvPr id="95" name="Chart 0">
            <a:extLst>
              <a:ext uri="{FF2B5EF4-FFF2-40B4-BE49-F238E27FC236}">
                <a16:creationId xmlns:a16="http://schemas.microsoft.com/office/drawing/2014/main" id="{E3EC172D-EFBC-D7BF-3101-82837754F3A3}"/>
              </a:ext>
            </a:extLst>
          </p:cNvPr>
          <p:cNvGraphicFramePr/>
          <p:nvPr/>
        </p:nvGraphicFramePr>
        <p:xfrm>
          <a:off x="5236432" y="2115099"/>
          <a:ext cx="3440403" cy="2072061"/>
        </p:xfrm>
        <a:graphic>
          <a:graphicData uri="http://schemas.openxmlformats.org/drawingml/2006/chart">
            <c:chart xmlns:c="http://schemas.openxmlformats.org/drawingml/2006/chart" xmlns:r="http://schemas.openxmlformats.org/officeDocument/2006/relationships" r:id="rId3"/>
          </a:graphicData>
        </a:graphic>
      </p:graphicFrame>
      <p:sp>
        <p:nvSpPr>
          <p:cNvPr id="97" name="Text 20">
            <a:extLst>
              <a:ext uri="{FF2B5EF4-FFF2-40B4-BE49-F238E27FC236}">
                <a16:creationId xmlns:a16="http://schemas.microsoft.com/office/drawing/2014/main" id="{749108F4-F83B-B83E-B127-9404AC5E559D}"/>
              </a:ext>
            </a:extLst>
          </p:cNvPr>
          <p:cNvSpPr/>
          <p:nvPr/>
        </p:nvSpPr>
        <p:spPr>
          <a:xfrm>
            <a:off x="5236432" y="4187160"/>
            <a:ext cx="3440403" cy="234573"/>
          </a:xfrm>
          <a:prstGeom prst="rect">
            <a:avLst/>
          </a:prstGeom>
          <a:noFill/>
          <a:ln/>
        </p:spPr>
        <p:txBody>
          <a:bodyPr wrap="square" rtlCol="0" anchor="ctr"/>
          <a:lstStyle/>
          <a:p>
            <a:r>
              <a:rPr lang="en-US" sz="727" dirty="0">
                <a:solidFill>
                  <a:srgbClr val="64748B"/>
                </a:solidFill>
                <a:latin typeface="맑은 고딕" pitchFamily="34" charset="0"/>
                <a:ea typeface="맑은 고딕" pitchFamily="34" charset="-122"/>
                <a:cs typeface="맑은 고딕" pitchFamily="34" charset="-120"/>
              </a:rPr>
              <a:t>Global Market Insights 산업분석 기준 CAGR 12.7% 적용 추정치</a:t>
            </a:r>
            <a:endParaRPr lang="en-US" sz="727" dirty="0"/>
          </a:p>
        </p:txBody>
      </p:sp>
      <p:sp>
        <p:nvSpPr>
          <p:cNvPr id="99" name="Shape 21">
            <a:extLst>
              <a:ext uri="{FF2B5EF4-FFF2-40B4-BE49-F238E27FC236}">
                <a16:creationId xmlns:a16="http://schemas.microsoft.com/office/drawing/2014/main" id="{D2AC2050-7368-D573-EC63-DAD4B6F7C4C5}"/>
              </a:ext>
            </a:extLst>
          </p:cNvPr>
          <p:cNvSpPr/>
          <p:nvPr/>
        </p:nvSpPr>
        <p:spPr>
          <a:xfrm>
            <a:off x="5236432" y="4499924"/>
            <a:ext cx="3440403" cy="1374393"/>
          </a:xfrm>
          <a:prstGeom prst="roundRect">
            <a:avLst>
              <a:gd name="adj" fmla="val 3415"/>
            </a:avLst>
          </a:prstGeom>
          <a:solidFill>
            <a:srgbClr val="E8F1FF"/>
          </a:solidFill>
          <a:ln/>
        </p:spPr>
        <p:txBody>
          <a:bodyPr/>
          <a:lstStyle/>
          <a:p>
            <a:endParaRPr lang="ko-KR" altLang="en-US" sz="1634"/>
          </a:p>
        </p:txBody>
      </p:sp>
      <p:sp>
        <p:nvSpPr>
          <p:cNvPr id="101" name="Text 22">
            <a:extLst>
              <a:ext uri="{FF2B5EF4-FFF2-40B4-BE49-F238E27FC236}">
                <a16:creationId xmlns:a16="http://schemas.microsoft.com/office/drawing/2014/main" id="{67DBDA27-EB23-79DB-2263-0DBB11C5424E}"/>
              </a:ext>
            </a:extLst>
          </p:cNvPr>
          <p:cNvSpPr/>
          <p:nvPr/>
        </p:nvSpPr>
        <p:spPr>
          <a:xfrm>
            <a:off x="5339739" y="4656306"/>
            <a:ext cx="3233790" cy="1407437"/>
          </a:xfrm>
          <a:prstGeom prst="rect">
            <a:avLst/>
          </a:prstGeom>
          <a:noFill/>
          <a:ln/>
        </p:spPr>
        <p:txBody>
          <a:bodyPr wrap="square" rtlCol="0" anchor="t"/>
          <a:lstStyle/>
          <a:p>
            <a:r>
              <a:rPr lang="en-US" sz="1026" b="1" dirty="0">
                <a:solidFill>
                  <a:srgbClr val="3B5BA7"/>
                </a:solidFill>
                <a:latin typeface="맑은 고딕" pitchFamily="34" charset="0"/>
                <a:ea typeface="맑은 고딕" pitchFamily="34" charset="-122"/>
                <a:cs typeface="맑은 고딕" pitchFamily="34" charset="-120"/>
              </a:rPr>
              <a:t>리튬이온 배터리 시장, 10년 새 최대 17배 성장 전망</a:t>
            </a:r>
            <a:endParaRPr lang="en-US" sz="1026" dirty="0"/>
          </a:p>
          <a:p>
            <a:r>
              <a:rPr lang="en-US" sz="1026" dirty="0">
                <a:solidFill>
                  <a:srgbClr val="1E293B"/>
                </a:solidFill>
                <a:latin typeface="맑은 고딕" pitchFamily="34" charset="0"/>
                <a:ea typeface="맑은 고딕" pitchFamily="34" charset="-122"/>
                <a:cs typeface="맑은 고딕" pitchFamily="34" charset="-120"/>
              </a:rPr>
              <a:t>전기차·ESS 확대가 성장을 견인하며, 안전성 확보가 규제 승인·소비자 신뢰의 핵심 조건으로 부상 (한국무역협회, GMI 리포트)</a:t>
            </a:r>
            <a:endParaRPr lang="en-US" sz="1026" dirty="0"/>
          </a:p>
        </p:txBody>
      </p:sp>
      <p:sp>
        <p:nvSpPr>
          <p:cNvPr id="103" name="Text 19">
            <a:extLst>
              <a:ext uri="{FF2B5EF4-FFF2-40B4-BE49-F238E27FC236}">
                <a16:creationId xmlns:a16="http://schemas.microsoft.com/office/drawing/2014/main" id="{215B2026-0400-36E1-A531-68DB93851929}"/>
              </a:ext>
            </a:extLst>
          </p:cNvPr>
          <p:cNvSpPr/>
          <p:nvPr/>
        </p:nvSpPr>
        <p:spPr>
          <a:xfrm>
            <a:off x="5236432" y="1821883"/>
            <a:ext cx="4691459"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BTMS 글로벌 시장 규모 추이 (단위: 억 달러)</a:t>
            </a:r>
            <a:endParaRPr lang="en-US" sz="1112" dirty="0"/>
          </a:p>
        </p:txBody>
      </p:sp>
      <p:sp>
        <p:nvSpPr>
          <p:cNvPr id="8" name="직사각형 7">
            <a:extLst>
              <a:ext uri="{FF2B5EF4-FFF2-40B4-BE49-F238E27FC236}">
                <a16:creationId xmlns:a16="http://schemas.microsoft.com/office/drawing/2014/main" id="{AB11633F-17C8-BFEC-58AE-731A933600D5}"/>
              </a:ext>
            </a:extLst>
          </p:cNvPr>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9" name="직선 연결선 17">
            <a:extLst>
              <a:ext uri="{FF2B5EF4-FFF2-40B4-BE49-F238E27FC236}">
                <a16:creationId xmlns:a16="http://schemas.microsoft.com/office/drawing/2014/main" id="{CF149851-6D26-630C-5C5F-D7DCD8E9B719}"/>
              </a:ext>
            </a:extLst>
          </p:cNvPr>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 22">
            <a:extLst>
              <a:ext uri="{FF2B5EF4-FFF2-40B4-BE49-F238E27FC236}">
                <a16:creationId xmlns:a16="http://schemas.microsoft.com/office/drawing/2014/main" id="{8DB7B8F4-F141-BC9E-4087-7C62EE1D0CAC}"/>
              </a:ext>
            </a:extLst>
          </p:cNvPr>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11" name="제목 12">
            <a:extLst>
              <a:ext uri="{FF2B5EF4-FFF2-40B4-BE49-F238E27FC236}">
                <a16:creationId xmlns:a16="http://schemas.microsoft.com/office/drawing/2014/main" id="{9F1DA950-DD00-CB62-C4DF-92DF994A97F3}"/>
              </a:ext>
            </a:extLst>
          </p:cNvPr>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None/>
            </a:pPr>
            <a:r>
              <a:rPr lang="en-US" altLang="ko-KR" sz="1700" b="1" dirty="0">
                <a:solidFill>
                  <a:schemeClr val="bg1"/>
                </a:solidFill>
                <a:latin typeface="+mn-ea"/>
                <a:cs typeface="+mj-cs"/>
              </a:rPr>
              <a:t>| </a:t>
            </a:r>
            <a:r>
              <a:rPr lang="ko-KR" altLang="en-US" sz="1700" b="1" dirty="0">
                <a:solidFill>
                  <a:schemeClr val="bg1"/>
                </a:solidFill>
                <a:latin typeface="+mn-ea"/>
                <a:cs typeface="+mj-cs"/>
              </a:rPr>
              <a:t>시장 기술 동향 분석</a:t>
            </a:r>
          </a:p>
        </p:txBody>
      </p:sp>
      <p:pic>
        <p:nvPicPr>
          <p:cNvPr id="12" name="Picture 2">
            <a:extLst>
              <a:ext uri="{FF2B5EF4-FFF2-40B4-BE49-F238E27FC236}">
                <a16:creationId xmlns:a16="http://schemas.microsoft.com/office/drawing/2014/main" id="{E8FC7876-C99F-E4D8-57ED-7A1BDE23D9FD}"/>
              </a:ext>
            </a:extLst>
          </p:cNvPr>
          <p:cNvPicPr>
            <a:picLocks noChangeAspect="1" noChangeArrowheads="1"/>
          </p:cNvPicPr>
          <p:nvPr/>
        </p:nvPicPr>
        <p:blipFill>
          <a:blip r:embed="rId4" cstate="print"/>
          <a:srcRect/>
          <a:stretch>
            <a:fillRect/>
          </a:stretch>
        </p:blipFill>
        <p:spPr bwMode="auto">
          <a:xfrm>
            <a:off x="8676456" y="476671"/>
            <a:ext cx="454960" cy="158965"/>
          </a:xfrm>
          <a:prstGeom prst="rect">
            <a:avLst/>
          </a:prstGeom>
          <a:noFill/>
          <a:ln w="9525">
            <a:noFill/>
            <a:miter lim="800000"/>
            <a:headEnd/>
            <a:tailEnd/>
          </a:ln>
        </p:spPr>
      </p:pic>
      <p:pic>
        <p:nvPicPr>
          <p:cNvPr id="13" name="그림 12">
            <a:extLst>
              <a:ext uri="{FF2B5EF4-FFF2-40B4-BE49-F238E27FC236}">
                <a16:creationId xmlns:a16="http://schemas.microsoft.com/office/drawing/2014/main" id="{31061B57-F9A9-C21F-5CFD-F8103C928FED}"/>
              </a:ext>
            </a:extLst>
          </p:cNvPr>
          <p:cNvPicPr>
            <a:picLocks noChangeAspect="1"/>
          </p:cNvPicPr>
          <p:nvPr/>
        </p:nvPicPr>
        <p:blipFill>
          <a:blip r:embed="rId5"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Tree>
    <p:extLst>
      <p:ext uri="{BB962C8B-B14F-4D97-AF65-F5344CB8AC3E}">
        <p14:creationId xmlns:p14="http://schemas.microsoft.com/office/powerpoint/2010/main" val="3315470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EFA96-354D-1DD1-FE13-A85070EF6C7A}"/>
            </a:ext>
          </a:extLst>
        </p:cNvPr>
        <p:cNvGrpSpPr/>
        <p:nvPr/>
      </p:nvGrpSpPr>
      <p:grpSpPr>
        <a:xfrm>
          <a:off x="0" y="0"/>
          <a:ext cx="0" cy="0"/>
          <a:chOff x="0" y="0"/>
          <a:chExt cx="0" cy="0"/>
        </a:xfrm>
      </p:grpSpPr>
      <p:sp>
        <p:nvSpPr>
          <p:cNvPr id="9" name="Shape 11">
            <a:extLst>
              <a:ext uri="{FF2B5EF4-FFF2-40B4-BE49-F238E27FC236}">
                <a16:creationId xmlns:a16="http://schemas.microsoft.com/office/drawing/2014/main" id="{8BAF35E0-AC45-74B8-B811-FAC4E59ED795}"/>
              </a:ext>
            </a:extLst>
          </p:cNvPr>
          <p:cNvSpPr/>
          <p:nvPr/>
        </p:nvSpPr>
        <p:spPr>
          <a:xfrm>
            <a:off x="648547" y="1856653"/>
            <a:ext cx="70371" cy="172020"/>
          </a:xfrm>
          <a:prstGeom prst="rect">
            <a:avLst/>
          </a:prstGeom>
          <a:solidFill>
            <a:srgbClr val="3B5BA7"/>
          </a:solidFill>
          <a:ln/>
        </p:spPr>
        <p:txBody>
          <a:bodyPr/>
          <a:lstStyle/>
          <a:p>
            <a:endParaRPr lang="ko-KR" altLang="en-US" sz="1634"/>
          </a:p>
        </p:txBody>
      </p:sp>
      <p:sp>
        <p:nvSpPr>
          <p:cNvPr id="11" name="Text 12">
            <a:extLst>
              <a:ext uri="{FF2B5EF4-FFF2-40B4-BE49-F238E27FC236}">
                <a16:creationId xmlns:a16="http://schemas.microsoft.com/office/drawing/2014/main" id="{BCD7E948-A2EF-5836-25E9-CAB83B9A0F68}"/>
              </a:ext>
            </a:extLst>
          </p:cNvPr>
          <p:cNvSpPr/>
          <p:nvPr/>
        </p:nvSpPr>
        <p:spPr>
          <a:xfrm>
            <a:off x="718917" y="1838489"/>
            <a:ext cx="4691459"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국내 전기차 화재 발생 현황</a:t>
            </a:r>
            <a:endParaRPr lang="en-US" sz="1112" dirty="0"/>
          </a:p>
        </p:txBody>
      </p:sp>
      <p:graphicFrame>
        <p:nvGraphicFramePr>
          <p:cNvPr id="13" name="Chart 0">
            <a:extLst>
              <a:ext uri="{FF2B5EF4-FFF2-40B4-BE49-F238E27FC236}">
                <a16:creationId xmlns:a16="http://schemas.microsoft.com/office/drawing/2014/main" id="{3F226424-A5D0-F4AC-DE04-2E3538DE6E4A}"/>
              </a:ext>
            </a:extLst>
          </p:cNvPr>
          <p:cNvGraphicFramePr/>
          <p:nvPr/>
        </p:nvGraphicFramePr>
        <p:xfrm>
          <a:off x="648546" y="2130319"/>
          <a:ext cx="4144122" cy="1798392"/>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 13">
            <a:extLst>
              <a:ext uri="{FF2B5EF4-FFF2-40B4-BE49-F238E27FC236}">
                <a16:creationId xmlns:a16="http://schemas.microsoft.com/office/drawing/2014/main" id="{A8F0FC05-9D07-1DF1-1C35-E93BCA76B8E4}"/>
              </a:ext>
            </a:extLst>
          </p:cNvPr>
          <p:cNvSpPr/>
          <p:nvPr/>
        </p:nvSpPr>
        <p:spPr>
          <a:xfrm>
            <a:off x="648549" y="3928711"/>
            <a:ext cx="4222312" cy="273669"/>
          </a:xfrm>
          <a:prstGeom prst="rect">
            <a:avLst/>
          </a:prstGeom>
          <a:noFill/>
          <a:ln/>
        </p:spPr>
        <p:txBody>
          <a:bodyPr wrap="square" rtlCol="0" anchor="ctr"/>
          <a:lstStyle/>
          <a:p>
            <a:r>
              <a:rPr lang="en-US" sz="770" dirty="0">
                <a:solidFill>
                  <a:srgbClr val="64748B"/>
                </a:solidFill>
                <a:latin typeface="맑은 고딕" pitchFamily="34" charset="0"/>
                <a:ea typeface="맑은 고딕" pitchFamily="34" charset="-122"/>
                <a:cs typeface="맑은 고딕" pitchFamily="34" charset="-120"/>
              </a:rPr>
              <a:t>2025년 1~5월 화재 72건으로 전년 동기 대비 27%↑ (소방청·산업통상자원부)</a:t>
            </a:r>
            <a:endParaRPr lang="en-US" sz="770" dirty="0"/>
          </a:p>
        </p:txBody>
      </p:sp>
      <p:sp>
        <p:nvSpPr>
          <p:cNvPr id="17" name="Shape 14">
            <a:extLst>
              <a:ext uri="{FF2B5EF4-FFF2-40B4-BE49-F238E27FC236}">
                <a16:creationId xmlns:a16="http://schemas.microsoft.com/office/drawing/2014/main" id="{700A1A85-37E2-3B64-2CCA-74637490FE2B}"/>
              </a:ext>
            </a:extLst>
          </p:cNvPr>
          <p:cNvSpPr/>
          <p:nvPr/>
        </p:nvSpPr>
        <p:spPr>
          <a:xfrm>
            <a:off x="648549" y="4241478"/>
            <a:ext cx="4222312" cy="849675"/>
          </a:xfrm>
          <a:prstGeom prst="roundRect">
            <a:avLst>
              <a:gd name="adj" fmla="val 4516"/>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19" name="Text 15">
            <a:extLst>
              <a:ext uri="{FF2B5EF4-FFF2-40B4-BE49-F238E27FC236}">
                <a16:creationId xmlns:a16="http://schemas.microsoft.com/office/drawing/2014/main" id="{57A57E0D-D42A-A83B-CABF-0E101772AA1A}"/>
              </a:ext>
            </a:extLst>
          </p:cNvPr>
          <p:cNvSpPr/>
          <p:nvPr/>
        </p:nvSpPr>
        <p:spPr>
          <a:xfrm>
            <a:off x="804930" y="4358762"/>
            <a:ext cx="3948644" cy="1016483"/>
          </a:xfrm>
          <a:prstGeom prst="rect">
            <a:avLst/>
          </a:prstGeom>
          <a:noFill/>
          <a:ln/>
        </p:spPr>
        <p:txBody>
          <a:bodyPr wrap="square" rtlCol="0" anchor="t"/>
          <a:lstStyle/>
          <a:p>
            <a:r>
              <a:rPr lang="en-US" sz="984" b="1" dirty="0">
                <a:solidFill>
                  <a:srgbClr val="C0392B"/>
                </a:solidFill>
                <a:latin typeface="맑은 고딕" pitchFamily="34" charset="0"/>
                <a:ea typeface="맑은 고딕" pitchFamily="34" charset="-122"/>
                <a:cs typeface="맑은 고딕" pitchFamily="34" charset="-120"/>
              </a:rPr>
              <a:t>전기차 화재의 48.2%</a:t>
            </a:r>
            <a:endParaRPr lang="en-US" sz="984" dirty="0"/>
          </a:p>
          <a:p>
            <a:r>
              <a:rPr lang="en-US" sz="812" dirty="0">
                <a:solidFill>
                  <a:srgbClr val="1E293B"/>
                </a:solidFill>
                <a:latin typeface="맑은 고딕" pitchFamily="34" charset="0"/>
                <a:ea typeface="맑은 고딕" pitchFamily="34" charset="-122"/>
                <a:cs typeface="맑은 고딕" pitchFamily="34" charset="-120"/>
              </a:rPr>
              <a:t>가 주정차·충전 중 발생 — 내연기관차(26.6%)보다 훨씬 높은 비중. 정지 상태에서도 조기 감지·자동 차단이 필요함을 시사.</a:t>
            </a:r>
            <a:endParaRPr lang="en-US" sz="984" dirty="0"/>
          </a:p>
        </p:txBody>
      </p:sp>
      <p:sp>
        <p:nvSpPr>
          <p:cNvPr id="21" name="Shape 16">
            <a:extLst>
              <a:ext uri="{FF2B5EF4-FFF2-40B4-BE49-F238E27FC236}">
                <a16:creationId xmlns:a16="http://schemas.microsoft.com/office/drawing/2014/main" id="{E1D12408-AA81-4FA1-DA4B-052420D3C5A4}"/>
              </a:ext>
            </a:extLst>
          </p:cNvPr>
          <p:cNvSpPr/>
          <p:nvPr/>
        </p:nvSpPr>
        <p:spPr>
          <a:xfrm>
            <a:off x="5125222" y="1856653"/>
            <a:ext cx="70371" cy="172020"/>
          </a:xfrm>
          <a:prstGeom prst="rect">
            <a:avLst/>
          </a:prstGeom>
          <a:solidFill>
            <a:srgbClr val="3B5BA7"/>
          </a:solidFill>
          <a:ln/>
        </p:spPr>
        <p:txBody>
          <a:bodyPr/>
          <a:lstStyle/>
          <a:p>
            <a:endParaRPr lang="ko-KR" altLang="en-US" sz="1634"/>
          </a:p>
        </p:txBody>
      </p:sp>
      <p:graphicFrame>
        <p:nvGraphicFramePr>
          <p:cNvPr id="23" name="Table 0">
            <a:extLst>
              <a:ext uri="{FF2B5EF4-FFF2-40B4-BE49-F238E27FC236}">
                <a16:creationId xmlns:a16="http://schemas.microsoft.com/office/drawing/2014/main" id="{97DE1A6E-1758-FEC2-2674-CA77AFEF7327}"/>
              </a:ext>
            </a:extLst>
          </p:cNvPr>
          <p:cNvGraphicFramePr>
            <a:graphicFrameLocks noGrp="1"/>
          </p:cNvGraphicFramePr>
          <p:nvPr/>
        </p:nvGraphicFramePr>
        <p:xfrm>
          <a:off x="5125224" y="2130321"/>
          <a:ext cx="1954774" cy="1407440"/>
        </p:xfrm>
        <a:graphic>
          <a:graphicData uri="http://schemas.openxmlformats.org/drawingml/2006/table">
            <a:tbl>
              <a:tblPr/>
              <a:tblGrid>
                <a:gridCol w="1094674">
                  <a:extLst>
                    <a:ext uri="{9D8B030D-6E8A-4147-A177-3AD203B41FA5}">
                      <a16:colId xmlns:a16="http://schemas.microsoft.com/office/drawing/2014/main" val="20000"/>
                    </a:ext>
                  </a:extLst>
                </a:gridCol>
                <a:gridCol w="860100">
                  <a:extLst>
                    <a:ext uri="{9D8B030D-6E8A-4147-A177-3AD203B41FA5}">
                      <a16:colId xmlns:a16="http://schemas.microsoft.com/office/drawing/2014/main" val="20001"/>
                    </a:ext>
                  </a:extLst>
                </a:gridCol>
              </a:tblGrid>
              <a:tr h="281488">
                <a:tc>
                  <a:txBody>
                    <a:bodyPr/>
                    <a:lstStyle/>
                    <a:p>
                      <a:pPr marL="0" indent="0">
                        <a:buNone/>
                      </a:pPr>
                      <a:r>
                        <a:rPr lang="en-US" sz="800" b="1" dirty="0">
                          <a:solidFill>
                            <a:srgbClr val="FFFFFF"/>
                          </a:solidFill>
                          <a:latin typeface="맑은 고딕" pitchFamily="34" charset="0"/>
                          <a:ea typeface="맑은 고딕" pitchFamily="34" charset="-122"/>
                          <a:cs typeface="맑은 고딕" pitchFamily="34" charset="-120"/>
                        </a:rPr>
                        <a:t>연도</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buNone/>
                      </a:pPr>
                      <a:r>
                        <a:rPr lang="en-US" sz="800" b="1" dirty="0">
                          <a:solidFill>
                            <a:srgbClr val="FFFFFF"/>
                          </a:solidFill>
                          <a:latin typeface="맑은 고딕" pitchFamily="34" charset="0"/>
                          <a:ea typeface="맑은 고딕" pitchFamily="34" charset="-122"/>
                          <a:cs typeface="맑은 고딕" pitchFamily="34" charset="-120"/>
                        </a:rPr>
                        <a:t>사고 건수</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extLst>
                  <a:ext uri="{0D108BD9-81ED-4DB2-BD59-A6C34878D82A}">
                    <a16:rowId xmlns:a16="http://schemas.microsoft.com/office/drawing/2014/main" val="10000"/>
                  </a:ext>
                </a:extLst>
              </a:tr>
              <a:tr h="281488">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2020년</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2건</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1"/>
                  </a:ext>
                </a:extLst>
              </a:tr>
              <a:tr h="281488">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2023년</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6건</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2"/>
                  </a:ext>
                </a:extLst>
              </a:tr>
              <a:tr h="281488">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2024년(~8월)</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5건</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3"/>
                  </a:ext>
                </a:extLst>
              </a:tr>
              <a:tr h="281488">
                <a:tc>
                  <a:txBody>
                    <a:bodyPr/>
                    <a:lstStyle/>
                    <a:p>
                      <a:pPr marL="0" indent="0">
                        <a:buNone/>
                      </a:pPr>
                      <a:r>
                        <a:rPr lang="en-US" sz="800" b="1" dirty="0">
                          <a:solidFill>
                            <a:srgbClr val="000000"/>
                          </a:solidFill>
                          <a:latin typeface="맑은 고딕" pitchFamily="34" charset="0"/>
                          <a:ea typeface="맑은 고딕" pitchFamily="34" charset="-122"/>
                          <a:cs typeface="맑은 고딕" pitchFamily="34" charset="-120"/>
                        </a:rPr>
                        <a:t>2020~2024 누적</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b="1" dirty="0">
                          <a:solidFill>
                            <a:srgbClr val="000000"/>
                          </a:solidFill>
                          <a:latin typeface="맑은 고딕" pitchFamily="34" charset="0"/>
                          <a:ea typeface="맑은 고딕" pitchFamily="34" charset="-122"/>
                          <a:cs typeface="맑은 고딕" pitchFamily="34" charset="-120"/>
                        </a:rPr>
                        <a:t>13건</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4"/>
                  </a:ext>
                </a:extLst>
              </a:tr>
            </a:tbl>
          </a:graphicData>
        </a:graphic>
      </p:graphicFrame>
      <p:graphicFrame>
        <p:nvGraphicFramePr>
          <p:cNvPr id="25" name="Chart 1">
            <a:extLst>
              <a:ext uri="{FF2B5EF4-FFF2-40B4-BE49-F238E27FC236}">
                <a16:creationId xmlns:a16="http://schemas.microsoft.com/office/drawing/2014/main" id="{64547086-0710-BC44-1166-BB45789D565B}"/>
              </a:ext>
            </a:extLst>
          </p:cNvPr>
          <p:cNvGraphicFramePr/>
          <p:nvPr/>
        </p:nvGraphicFramePr>
        <p:xfrm>
          <a:off x="6884519" y="1898841"/>
          <a:ext cx="1954774" cy="1770359"/>
        </p:xfrm>
        <a:graphic>
          <a:graphicData uri="http://schemas.openxmlformats.org/drawingml/2006/chart">
            <c:chart xmlns:c="http://schemas.openxmlformats.org/drawingml/2006/chart" xmlns:r="http://schemas.openxmlformats.org/officeDocument/2006/relationships" r:id="rId4"/>
          </a:graphicData>
        </a:graphic>
      </p:graphicFrame>
      <p:sp>
        <p:nvSpPr>
          <p:cNvPr id="27" name="Shape 18">
            <a:extLst>
              <a:ext uri="{FF2B5EF4-FFF2-40B4-BE49-F238E27FC236}">
                <a16:creationId xmlns:a16="http://schemas.microsoft.com/office/drawing/2014/main" id="{1D723D30-9B87-756F-A977-14A6A98961E7}"/>
              </a:ext>
            </a:extLst>
          </p:cNvPr>
          <p:cNvSpPr/>
          <p:nvPr/>
        </p:nvSpPr>
        <p:spPr>
          <a:xfrm>
            <a:off x="5125222" y="3889616"/>
            <a:ext cx="3440403" cy="1201535"/>
          </a:xfrm>
          <a:prstGeom prst="roundRect">
            <a:avLst>
              <a:gd name="adj" fmla="val 3111"/>
            </a:avLst>
          </a:prstGeom>
          <a:solidFill>
            <a:srgbClr val="E8F1FF"/>
          </a:solidFill>
          <a:ln/>
          <a:effectLst>
            <a:outerShdw blurRad="63500" dist="25400" dir="2700000" algn="bl" rotWithShape="0">
              <a:srgbClr val="000000">
                <a:alpha val="10000"/>
              </a:srgbClr>
            </a:outerShdw>
          </a:effectLst>
        </p:spPr>
        <p:txBody>
          <a:bodyPr/>
          <a:lstStyle/>
          <a:p>
            <a:endParaRPr lang="ko-KR" altLang="en-US" sz="1634"/>
          </a:p>
        </p:txBody>
      </p:sp>
      <p:sp>
        <p:nvSpPr>
          <p:cNvPr id="29" name="Text 19">
            <a:extLst>
              <a:ext uri="{FF2B5EF4-FFF2-40B4-BE49-F238E27FC236}">
                <a16:creationId xmlns:a16="http://schemas.microsoft.com/office/drawing/2014/main" id="{48412BB8-6779-546D-88B1-56612E0B5116}"/>
              </a:ext>
            </a:extLst>
          </p:cNvPr>
          <p:cNvSpPr/>
          <p:nvPr/>
        </p:nvSpPr>
        <p:spPr>
          <a:xfrm>
            <a:off x="5281606" y="4006902"/>
            <a:ext cx="3205830" cy="1084249"/>
          </a:xfrm>
          <a:prstGeom prst="rect">
            <a:avLst/>
          </a:prstGeom>
          <a:noFill/>
          <a:ln/>
        </p:spPr>
        <p:txBody>
          <a:bodyPr wrap="square" rtlCol="0" anchor="t"/>
          <a:lstStyle/>
          <a:p>
            <a:r>
              <a:rPr lang="en-US" sz="941" b="1" dirty="0">
                <a:solidFill>
                  <a:srgbClr val="3B5BA7"/>
                </a:solidFill>
                <a:latin typeface="맑은 고딕" pitchFamily="34" charset="0"/>
                <a:ea typeface="맑은 고딕" pitchFamily="34" charset="-122"/>
                <a:cs typeface="맑은 고딕" pitchFamily="34" charset="-120"/>
              </a:rPr>
              <a:t>2025.1 에어부산 BX391편 화재</a:t>
            </a:r>
            <a:endParaRPr lang="en-US" sz="941" dirty="0"/>
          </a:p>
          <a:p>
            <a:r>
              <a:rPr lang="en-US" sz="812" dirty="0">
                <a:solidFill>
                  <a:srgbClr val="1E293B"/>
                </a:solidFill>
                <a:latin typeface="맑은 고딕" pitchFamily="34" charset="0"/>
                <a:ea typeface="맑은 고딕" pitchFamily="34" charset="-122"/>
                <a:cs typeface="맑은 고딕" pitchFamily="34" charset="-120"/>
              </a:rPr>
              <a:t>선반 보관 보조배터리 내부 합선(절연파괴)으로 추정 — 승객 176명 대피, 기체 전소. 이후 국토부는 기내 선반 보관을 전면 금지하고 보조배터리 안전관리를 강화(2026.1).</a:t>
            </a:r>
            <a:endParaRPr lang="en-US" sz="941" dirty="0"/>
          </a:p>
          <a:p>
            <a:r>
              <a:rPr lang="en-US" sz="812" b="1" dirty="0">
                <a:solidFill>
                  <a:srgbClr val="C0392B"/>
                </a:solidFill>
                <a:latin typeface="맑은 고딕" pitchFamily="34" charset="0"/>
                <a:ea typeface="맑은 고딕" pitchFamily="34" charset="-122"/>
                <a:cs typeface="맑은 고딕" pitchFamily="34" charset="-120"/>
              </a:rPr>
              <a:t>→ 실시간 이상징후 조기 감지 기술의 사회적 필요성을 뒷받침</a:t>
            </a:r>
            <a:endParaRPr lang="en-US" sz="941" dirty="0"/>
          </a:p>
        </p:txBody>
      </p:sp>
      <p:sp>
        <p:nvSpPr>
          <p:cNvPr id="31" name="Text 17">
            <a:extLst>
              <a:ext uri="{FF2B5EF4-FFF2-40B4-BE49-F238E27FC236}">
                <a16:creationId xmlns:a16="http://schemas.microsoft.com/office/drawing/2014/main" id="{D97D205F-032A-A1DB-D345-0F0D2E0DB760}"/>
              </a:ext>
            </a:extLst>
          </p:cNvPr>
          <p:cNvSpPr/>
          <p:nvPr/>
        </p:nvSpPr>
        <p:spPr>
          <a:xfrm>
            <a:off x="5165568" y="1838489"/>
            <a:ext cx="4691459"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국적 항공기 기내 보조배터리 화재/연기 사고</a:t>
            </a:r>
            <a:endParaRPr lang="en-US" sz="1112" dirty="0"/>
          </a:p>
        </p:txBody>
      </p:sp>
      <p:sp>
        <p:nvSpPr>
          <p:cNvPr id="12" name="직사각형 11">
            <a:extLst>
              <a:ext uri="{FF2B5EF4-FFF2-40B4-BE49-F238E27FC236}">
                <a16:creationId xmlns:a16="http://schemas.microsoft.com/office/drawing/2014/main" id="{EF88B394-A242-E9DE-5F2E-D038A793A082}"/>
              </a:ext>
            </a:extLst>
          </p:cNvPr>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4" name="직선 연결선 17">
            <a:extLst>
              <a:ext uri="{FF2B5EF4-FFF2-40B4-BE49-F238E27FC236}">
                <a16:creationId xmlns:a16="http://schemas.microsoft.com/office/drawing/2014/main" id="{00FEA104-2695-7AEA-0D6F-6A95BFD512F6}"/>
              </a:ext>
            </a:extLst>
          </p:cNvPr>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6" name="직선 연결선 22">
            <a:extLst>
              <a:ext uri="{FF2B5EF4-FFF2-40B4-BE49-F238E27FC236}">
                <a16:creationId xmlns:a16="http://schemas.microsoft.com/office/drawing/2014/main" id="{701D5A17-110C-F0C2-06D0-1433A817F05F}"/>
              </a:ext>
            </a:extLst>
          </p:cNvPr>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18" name="제목 12">
            <a:extLst>
              <a:ext uri="{FF2B5EF4-FFF2-40B4-BE49-F238E27FC236}">
                <a16:creationId xmlns:a16="http://schemas.microsoft.com/office/drawing/2014/main" id="{5F760704-2A32-081C-7CCB-9BA76AE2A0C5}"/>
              </a:ext>
            </a:extLst>
          </p:cNvPr>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None/>
            </a:pPr>
            <a:r>
              <a:rPr lang="en-US" altLang="ko-KR" sz="1700" b="1" dirty="0">
                <a:solidFill>
                  <a:schemeClr val="bg1"/>
                </a:solidFill>
                <a:latin typeface="+mn-ea"/>
                <a:cs typeface="+mj-cs"/>
              </a:rPr>
              <a:t>| </a:t>
            </a:r>
            <a:r>
              <a:rPr lang="ko-KR" altLang="en-US" sz="1700" b="1" dirty="0">
                <a:solidFill>
                  <a:schemeClr val="bg1"/>
                </a:solidFill>
                <a:latin typeface="+mn-ea"/>
                <a:cs typeface="+mj-cs"/>
              </a:rPr>
              <a:t>시장 기술 동향 분석</a:t>
            </a:r>
          </a:p>
        </p:txBody>
      </p:sp>
      <p:pic>
        <p:nvPicPr>
          <p:cNvPr id="20" name="Picture 2">
            <a:extLst>
              <a:ext uri="{FF2B5EF4-FFF2-40B4-BE49-F238E27FC236}">
                <a16:creationId xmlns:a16="http://schemas.microsoft.com/office/drawing/2014/main" id="{022D3B7A-32C2-8325-079D-1349AF4BF071}"/>
              </a:ext>
            </a:extLst>
          </p:cNvPr>
          <p:cNvPicPr>
            <a:picLocks noChangeAspect="1" noChangeArrowheads="1"/>
          </p:cNvPicPr>
          <p:nvPr/>
        </p:nvPicPr>
        <p:blipFill>
          <a:blip r:embed="rId5" cstate="print"/>
          <a:srcRect/>
          <a:stretch>
            <a:fillRect/>
          </a:stretch>
        </p:blipFill>
        <p:spPr bwMode="auto">
          <a:xfrm>
            <a:off x="8676456" y="476671"/>
            <a:ext cx="454960" cy="158965"/>
          </a:xfrm>
          <a:prstGeom prst="rect">
            <a:avLst/>
          </a:prstGeom>
          <a:noFill/>
          <a:ln w="9525">
            <a:noFill/>
            <a:miter lim="800000"/>
            <a:headEnd/>
            <a:tailEnd/>
          </a:ln>
        </p:spPr>
      </p:pic>
      <p:pic>
        <p:nvPicPr>
          <p:cNvPr id="22" name="그림 21">
            <a:extLst>
              <a:ext uri="{FF2B5EF4-FFF2-40B4-BE49-F238E27FC236}">
                <a16:creationId xmlns:a16="http://schemas.microsoft.com/office/drawing/2014/main" id="{67721C68-0781-58ED-F88A-4C24CF930171}"/>
              </a:ext>
            </a:extLst>
          </p:cNvPr>
          <p:cNvPicPr>
            <a:picLocks noChangeAspect="1"/>
          </p:cNvPicPr>
          <p:nvPr/>
        </p:nvPicPr>
        <p:blipFill>
          <a:blip r:embed="rId6"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Tree>
    <p:extLst>
      <p:ext uri="{BB962C8B-B14F-4D97-AF65-F5344CB8AC3E}">
        <p14:creationId xmlns:p14="http://schemas.microsoft.com/office/powerpoint/2010/main" val="766666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862D7-5417-B0DC-FBC9-094835D743DA}"/>
            </a:ext>
          </a:extLst>
        </p:cNvPr>
        <p:cNvGrpSpPr/>
        <p:nvPr/>
      </p:nvGrpSpPr>
      <p:grpSpPr>
        <a:xfrm>
          <a:off x="0" y="0"/>
          <a:ext cx="0" cy="0"/>
          <a:chOff x="0" y="0"/>
          <a:chExt cx="0" cy="0"/>
        </a:xfrm>
      </p:grpSpPr>
      <p:grpSp>
        <p:nvGrpSpPr>
          <p:cNvPr id="4" name="object 4">
            <a:extLst>
              <a:ext uri="{FF2B5EF4-FFF2-40B4-BE49-F238E27FC236}">
                <a16:creationId xmlns:a16="http://schemas.microsoft.com/office/drawing/2014/main" id="{716D847A-0366-E9F0-E66D-CD04E5BBAD7F}"/>
              </a:ext>
            </a:extLst>
          </p:cNvPr>
          <p:cNvGrpSpPr/>
          <p:nvPr/>
        </p:nvGrpSpPr>
        <p:grpSpPr>
          <a:xfrm>
            <a:off x="611927" y="198213"/>
            <a:ext cx="551680" cy="539192"/>
            <a:chOff x="602469" y="223328"/>
            <a:chExt cx="645160" cy="630555"/>
          </a:xfrm>
        </p:grpSpPr>
        <p:sp>
          <p:nvSpPr>
            <p:cNvPr id="5" name="object 5">
              <a:extLst>
                <a:ext uri="{FF2B5EF4-FFF2-40B4-BE49-F238E27FC236}">
                  <a16:creationId xmlns:a16="http://schemas.microsoft.com/office/drawing/2014/main" id="{56E7C360-F285-7F4A-D219-FCDB4D217D80}"/>
                </a:ext>
              </a:extLst>
            </p:cNvPr>
            <p:cNvSpPr/>
            <p:nvPr/>
          </p:nvSpPr>
          <p:spPr>
            <a:xfrm>
              <a:off x="615613" y="236472"/>
              <a:ext cx="618490" cy="604520"/>
            </a:xfrm>
            <a:custGeom>
              <a:avLst/>
              <a:gdLst/>
              <a:ahLst/>
              <a:cxnLst/>
              <a:rect l="l" t="t" r="r" b="b"/>
              <a:pathLst>
                <a:path w="618490" h="604519">
                  <a:moveTo>
                    <a:pt x="618285" y="0"/>
                  </a:moveTo>
                  <a:lnTo>
                    <a:pt x="316351" y="0"/>
                  </a:lnTo>
                  <a:lnTo>
                    <a:pt x="312305" y="48997"/>
                  </a:lnTo>
                  <a:lnTo>
                    <a:pt x="300593" y="95477"/>
                  </a:lnTo>
                  <a:lnTo>
                    <a:pt x="281850" y="138818"/>
                  </a:lnTo>
                  <a:lnTo>
                    <a:pt x="256714" y="178398"/>
                  </a:lnTo>
                  <a:lnTo>
                    <a:pt x="225819" y="213595"/>
                  </a:lnTo>
                  <a:lnTo>
                    <a:pt x="189804" y="243787"/>
                  </a:lnTo>
                  <a:lnTo>
                    <a:pt x="149304" y="268353"/>
                  </a:lnTo>
                  <a:lnTo>
                    <a:pt x="104955" y="286669"/>
                  </a:lnTo>
                  <a:lnTo>
                    <a:pt x="57394" y="298115"/>
                  </a:lnTo>
                  <a:lnTo>
                    <a:pt x="3629" y="302049"/>
                  </a:lnTo>
                  <a:lnTo>
                    <a:pt x="0" y="604098"/>
                  </a:lnTo>
                  <a:lnTo>
                    <a:pt x="47769" y="602841"/>
                  </a:lnTo>
                  <a:lnTo>
                    <a:pt x="94577" y="598027"/>
                  </a:lnTo>
                  <a:lnTo>
                    <a:pt x="140284" y="589789"/>
                  </a:lnTo>
                  <a:lnTo>
                    <a:pt x="184754" y="578258"/>
                  </a:lnTo>
                  <a:lnTo>
                    <a:pt x="227850" y="563569"/>
                  </a:lnTo>
                  <a:lnTo>
                    <a:pt x="269433" y="545853"/>
                  </a:lnTo>
                  <a:lnTo>
                    <a:pt x="309366" y="525243"/>
                  </a:lnTo>
                  <a:lnTo>
                    <a:pt x="347512" y="501872"/>
                  </a:lnTo>
                  <a:lnTo>
                    <a:pt x="383734" y="475873"/>
                  </a:lnTo>
                  <a:lnTo>
                    <a:pt x="417893" y="447378"/>
                  </a:lnTo>
                  <a:lnTo>
                    <a:pt x="449853" y="416520"/>
                  </a:lnTo>
                  <a:lnTo>
                    <a:pt x="479476" y="383432"/>
                  </a:lnTo>
                  <a:lnTo>
                    <a:pt x="506625" y="348246"/>
                  </a:lnTo>
                  <a:lnTo>
                    <a:pt x="531162" y="311096"/>
                  </a:lnTo>
                  <a:lnTo>
                    <a:pt x="552949" y="272113"/>
                  </a:lnTo>
                  <a:lnTo>
                    <a:pt x="571850" y="231431"/>
                  </a:lnTo>
                  <a:lnTo>
                    <a:pt x="587727" y="189183"/>
                  </a:lnTo>
                  <a:lnTo>
                    <a:pt x="600442" y="145500"/>
                  </a:lnTo>
                  <a:lnTo>
                    <a:pt x="609857" y="100516"/>
                  </a:lnTo>
                  <a:lnTo>
                    <a:pt x="615837" y="54363"/>
                  </a:lnTo>
                  <a:lnTo>
                    <a:pt x="618285" y="0"/>
                  </a:lnTo>
                  <a:close/>
                </a:path>
              </a:pathLst>
            </a:custGeom>
            <a:solidFill>
              <a:srgbClr val="FFFFFF"/>
            </a:solidFill>
          </p:spPr>
          <p:txBody>
            <a:bodyPr wrap="square" lIns="0" tIns="0" rIns="0" bIns="0" rtlCol="0"/>
            <a:lstStyle/>
            <a:p>
              <a:endParaRPr sz="1634"/>
            </a:p>
          </p:txBody>
        </p:sp>
        <p:sp>
          <p:nvSpPr>
            <p:cNvPr id="6" name="object 6">
              <a:extLst>
                <a:ext uri="{FF2B5EF4-FFF2-40B4-BE49-F238E27FC236}">
                  <a16:creationId xmlns:a16="http://schemas.microsoft.com/office/drawing/2014/main" id="{59D4E70A-7EEE-094C-19FD-EDA02D179E7E}"/>
                </a:ext>
              </a:extLst>
            </p:cNvPr>
            <p:cNvSpPr/>
            <p:nvPr/>
          </p:nvSpPr>
          <p:spPr>
            <a:xfrm>
              <a:off x="615613" y="236472"/>
              <a:ext cx="618490" cy="604520"/>
            </a:xfrm>
            <a:custGeom>
              <a:avLst/>
              <a:gdLst/>
              <a:ahLst/>
              <a:cxnLst/>
              <a:rect l="l" t="t" r="r" b="b"/>
              <a:pathLst>
                <a:path w="618490" h="604519">
                  <a:moveTo>
                    <a:pt x="0" y="604098"/>
                  </a:moveTo>
                  <a:lnTo>
                    <a:pt x="47769" y="602842"/>
                  </a:lnTo>
                  <a:lnTo>
                    <a:pt x="94577" y="598028"/>
                  </a:lnTo>
                  <a:lnTo>
                    <a:pt x="140284" y="589789"/>
                  </a:lnTo>
                  <a:lnTo>
                    <a:pt x="184754" y="578259"/>
                  </a:lnTo>
                  <a:lnTo>
                    <a:pt x="227850" y="563569"/>
                  </a:lnTo>
                  <a:lnTo>
                    <a:pt x="269433" y="545853"/>
                  </a:lnTo>
                  <a:lnTo>
                    <a:pt x="309366" y="525243"/>
                  </a:lnTo>
                  <a:lnTo>
                    <a:pt x="347512" y="501872"/>
                  </a:lnTo>
                  <a:lnTo>
                    <a:pt x="383734" y="475873"/>
                  </a:lnTo>
                  <a:lnTo>
                    <a:pt x="417893" y="447378"/>
                  </a:lnTo>
                  <a:lnTo>
                    <a:pt x="449853" y="416520"/>
                  </a:lnTo>
                  <a:lnTo>
                    <a:pt x="479476" y="383432"/>
                  </a:lnTo>
                  <a:lnTo>
                    <a:pt x="506625" y="348247"/>
                  </a:lnTo>
                  <a:lnTo>
                    <a:pt x="531161" y="311096"/>
                  </a:lnTo>
                  <a:lnTo>
                    <a:pt x="552949" y="272114"/>
                  </a:lnTo>
                  <a:lnTo>
                    <a:pt x="571850" y="231432"/>
                  </a:lnTo>
                  <a:lnTo>
                    <a:pt x="587726" y="189183"/>
                  </a:lnTo>
                  <a:lnTo>
                    <a:pt x="600441" y="145501"/>
                  </a:lnTo>
                  <a:lnTo>
                    <a:pt x="609857" y="100517"/>
                  </a:lnTo>
                  <a:lnTo>
                    <a:pt x="615837" y="54364"/>
                  </a:lnTo>
                  <a:lnTo>
                    <a:pt x="618242" y="7176"/>
                  </a:lnTo>
                  <a:lnTo>
                    <a:pt x="618286" y="2392"/>
                  </a:lnTo>
                  <a:lnTo>
                    <a:pt x="618286" y="0"/>
                  </a:lnTo>
                  <a:lnTo>
                    <a:pt x="316351" y="0"/>
                  </a:lnTo>
                  <a:lnTo>
                    <a:pt x="312305" y="48997"/>
                  </a:lnTo>
                  <a:lnTo>
                    <a:pt x="300593" y="95477"/>
                  </a:lnTo>
                  <a:lnTo>
                    <a:pt x="281850" y="138818"/>
                  </a:lnTo>
                  <a:lnTo>
                    <a:pt x="256714" y="178398"/>
                  </a:lnTo>
                  <a:lnTo>
                    <a:pt x="225819" y="213595"/>
                  </a:lnTo>
                  <a:lnTo>
                    <a:pt x="189804" y="243788"/>
                  </a:lnTo>
                  <a:lnTo>
                    <a:pt x="149304" y="268353"/>
                  </a:lnTo>
                  <a:lnTo>
                    <a:pt x="104955" y="286670"/>
                  </a:lnTo>
                  <a:lnTo>
                    <a:pt x="57394" y="298116"/>
                  </a:lnTo>
                  <a:lnTo>
                    <a:pt x="7258" y="302070"/>
                  </a:lnTo>
                  <a:lnTo>
                    <a:pt x="6048" y="302070"/>
                  </a:lnTo>
                  <a:lnTo>
                    <a:pt x="4838" y="302063"/>
                  </a:lnTo>
                  <a:lnTo>
                    <a:pt x="3629" y="302049"/>
                  </a:lnTo>
                  <a:lnTo>
                    <a:pt x="0" y="604098"/>
                  </a:lnTo>
                  <a:close/>
                </a:path>
              </a:pathLst>
            </a:custGeom>
            <a:ln w="26287">
              <a:solidFill>
                <a:srgbClr val="FFFFFF"/>
              </a:solidFill>
            </a:ln>
          </p:spPr>
          <p:txBody>
            <a:bodyPr wrap="square" lIns="0" tIns="0" rIns="0" bIns="0" rtlCol="0"/>
            <a:lstStyle/>
            <a:p>
              <a:endParaRPr sz="1634"/>
            </a:p>
          </p:txBody>
        </p:sp>
      </p:grpSp>
      <p:sp>
        <p:nvSpPr>
          <p:cNvPr id="9" name="Shape 8">
            <a:extLst>
              <a:ext uri="{FF2B5EF4-FFF2-40B4-BE49-F238E27FC236}">
                <a16:creationId xmlns:a16="http://schemas.microsoft.com/office/drawing/2014/main" id="{C0352D80-ECF9-B00E-490C-B059D95FA7FD}"/>
              </a:ext>
            </a:extLst>
          </p:cNvPr>
          <p:cNvSpPr/>
          <p:nvPr/>
        </p:nvSpPr>
        <p:spPr>
          <a:xfrm>
            <a:off x="623167" y="1554770"/>
            <a:ext cx="71709" cy="173727"/>
          </a:xfrm>
          <a:prstGeom prst="rect">
            <a:avLst/>
          </a:prstGeom>
          <a:solidFill>
            <a:srgbClr val="3B5BA7"/>
          </a:solidFill>
          <a:ln/>
        </p:spPr>
        <p:txBody>
          <a:bodyPr/>
          <a:lstStyle/>
          <a:p>
            <a:endParaRPr lang="ko-KR" altLang="en-US" sz="1634"/>
          </a:p>
        </p:txBody>
      </p:sp>
      <p:sp>
        <p:nvSpPr>
          <p:cNvPr id="11" name="Text 9">
            <a:extLst>
              <a:ext uri="{FF2B5EF4-FFF2-40B4-BE49-F238E27FC236}">
                <a16:creationId xmlns:a16="http://schemas.microsoft.com/office/drawing/2014/main" id="{B471B07E-055A-F706-12FE-8961A2AB276E}"/>
              </a:ext>
            </a:extLst>
          </p:cNvPr>
          <p:cNvSpPr/>
          <p:nvPr/>
        </p:nvSpPr>
        <p:spPr>
          <a:xfrm>
            <a:off x="769463" y="1531911"/>
            <a:ext cx="6274497" cy="219444"/>
          </a:xfrm>
          <a:prstGeom prst="rect">
            <a:avLst/>
          </a:prstGeom>
          <a:noFill/>
          <a:ln/>
        </p:spPr>
        <p:txBody>
          <a:bodyPr wrap="square" rtlCol="0" anchor="ctr"/>
          <a:lstStyle/>
          <a:p>
            <a:r>
              <a:rPr lang="en-US" sz="1150" b="1" dirty="0">
                <a:solidFill>
                  <a:srgbClr val="1E293B"/>
                </a:solidFill>
                <a:latin typeface="맑은 고딕" pitchFamily="34" charset="0"/>
                <a:ea typeface="맑은 고딕" pitchFamily="34" charset="-122"/>
                <a:cs typeface="맑은 고딕" pitchFamily="34" charset="-120"/>
              </a:rPr>
              <a:t>열폭주 감지 BMS 경쟁사 분석</a:t>
            </a:r>
            <a:endParaRPr lang="en-US" sz="1150" dirty="0"/>
          </a:p>
        </p:txBody>
      </p:sp>
      <p:graphicFrame>
        <p:nvGraphicFramePr>
          <p:cNvPr id="13" name="Table 0">
            <a:extLst>
              <a:ext uri="{FF2B5EF4-FFF2-40B4-BE49-F238E27FC236}">
                <a16:creationId xmlns:a16="http://schemas.microsoft.com/office/drawing/2014/main" id="{DFD34B46-0056-0D84-2F86-34ADC5769BEB}"/>
              </a:ext>
            </a:extLst>
          </p:cNvPr>
          <p:cNvGraphicFramePr>
            <a:graphicFrameLocks noGrp="1"/>
          </p:cNvGraphicFramePr>
          <p:nvPr/>
        </p:nvGraphicFramePr>
        <p:xfrm>
          <a:off x="623167" y="1810789"/>
          <a:ext cx="7977577" cy="4384319"/>
        </p:xfrm>
        <a:graphic>
          <a:graphicData uri="http://schemas.openxmlformats.org/drawingml/2006/table">
            <a:tbl>
              <a:tblPr/>
              <a:tblGrid>
                <a:gridCol w="645377">
                  <a:extLst>
                    <a:ext uri="{9D8B030D-6E8A-4147-A177-3AD203B41FA5}">
                      <a16:colId xmlns:a16="http://schemas.microsoft.com/office/drawing/2014/main" val="20000"/>
                    </a:ext>
                  </a:extLst>
                </a:gridCol>
                <a:gridCol w="1466440">
                  <a:extLst>
                    <a:ext uri="{9D8B030D-6E8A-4147-A177-3AD203B41FA5}">
                      <a16:colId xmlns:a16="http://schemas.microsoft.com/office/drawing/2014/main" val="20001"/>
                    </a:ext>
                  </a:extLst>
                </a:gridCol>
                <a:gridCol w="1466440">
                  <a:extLst>
                    <a:ext uri="{9D8B030D-6E8A-4147-A177-3AD203B41FA5}">
                      <a16:colId xmlns:a16="http://schemas.microsoft.com/office/drawing/2014/main" val="20002"/>
                    </a:ext>
                  </a:extLst>
                </a:gridCol>
                <a:gridCol w="1466440">
                  <a:extLst>
                    <a:ext uri="{9D8B030D-6E8A-4147-A177-3AD203B41FA5}">
                      <a16:colId xmlns:a16="http://schemas.microsoft.com/office/drawing/2014/main" val="20003"/>
                    </a:ext>
                  </a:extLst>
                </a:gridCol>
                <a:gridCol w="1466440">
                  <a:extLst>
                    <a:ext uri="{9D8B030D-6E8A-4147-A177-3AD203B41FA5}">
                      <a16:colId xmlns:a16="http://schemas.microsoft.com/office/drawing/2014/main" val="20004"/>
                    </a:ext>
                  </a:extLst>
                </a:gridCol>
                <a:gridCol w="1466440">
                  <a:extLst>
                    <a:ext uri="{9D8B030D-6E8A-4147-A177-3AD203B41FA5}">
                      <a16:colId xmlns:a16="http://schemas.microsoft.com/office/drawing/2014/main" val="20005"/>
                    </a:ext>
                  </a:extLst>
                </a:gridCol>
              </a:tblGrid>
              <a:tr h="339835">
                <a:tc>
                  <a:txBody>
                    <a:bodyP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구분</a:t>
                      </a:r>
                      <a:endParaRPr lang="en-US" sz="800" dirty="0">
                        <a:latin typeface="맑은 고딕" charset="0"/>
                        <a:ea typeface="맑은 고딕" charset="0"/>
                        <a:cs typeface="맑은 고딕" charset="0"/>
                      </a:endParaRPr>
                    </a:p>
                  </a:txBody>
                  <a:tcPr marL="91435" marR="91435" marT="45718" marB="45718"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A 사</a:t>
                      </a:r>
                      <a:endParaRPr lang="en-US" sz="1200" dirty="0">
                        <a:latin typeface="맑은 고딕" charset="0"/>
                        <a:ea typeface="맑은 고딕" charset="0"/>
                        <a:cs typeface="맑은 고딕" charset="0"/>
                      </a:endParaRPr>
                    </a:p>
                    <a:p>
                      <a:pPr marL="0" indent="0" algn="ctr">
                        <a:buNone/>
                      </a:pPr>
                      <a:r>
                        <a:rPr lang="en-US" sz="600" b="1" dirty="0">
                          <a:solidFill>
                            <a:srgbClr val="FFFFFF"/>
                          </a:solidFill>
                          <a:latin typeface="맑은 고딕" pitchFamily="34" charset="0"/>
                          <a:ea typeface="맑은 고딕" pitchFamily="34" charset="-122"/>
                          <a:cs typeface="맑은 고딕" pitchFamily="34" charset="-120"/>
                        </a:rPr>
                        <a:t>Anker (미국)</a:t>
                      </a:r>
                      <a:endParaRPr lang="en-US" sz="1200" dirty="0">
                        <a:latin typeface="맑은 고딕" charset="0"/>
                        <a:ea typeface="맑은 고딕" charset="0"/>
                        <a:cs typeface="맑은 고딕" charset="0"/>
                      </a:endParaRPr>
                    </a:p>
                  </a:txBody>
                  <a:tcPr marL="91435" marR="91435" marT="45718" marB="45718"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B 사</a:t>
                      </a:r>
                      <a:endParaRPr lang="en-US" sz="1200" dirty="0">
                        <a:latin typeface="맑은 고딕" charset="0"/>
                        <a:ea typeface="맑은 고딕" charset="0"/>
                        <a:cs typeface="맑은 고딕" charset="0"/>
                      </a:endParaRPr>
                    </a:p>
                    <a:p>
                      <a:pPr marL="0" indent="0" algn="ctr">
                        <a:buNone/>
                      </a:pPr>
                      <a:r>
                        <a:rPr lang="en-US" sz="600" b="1" dirty="0">
                          <a:solidFill>
                            <a:srgbClr val="FFFFFF"/>
                          </a:solidFill>
                          <a:latin typeface="맑은 고딕" pitchFamily="34" charset="0"/>
                          <a:ea typeface="맑은 고딕" pitchFamily="34" charset="-122"/>
                          <a:cs typeface="맑은 고딕" pitchFamily="34" charset="-120"/>
                        </a:rPr>
                        <a:t>Texas Instruments (미국)</a:t>
                      </a:r>
                      <a:endParaRPr lang="en-US" sz="1200" dirty="0">
                        <a:latin typeface="맑은 고딕" charset="0"/>
                        <a:ea typeface="맑은 고딕" charset="0"/>
                        <a:cs typeface="맑은 고딕" charset="0"/>
                      </a:endParaRPr>
                    </a:p>
                  </a:txBody>
                  <a:tcPr marL="91435" marR="91435" marT="45718" marB="45718"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C 사</a:t>
                      </a:r>
                      <a:endParaRPr lang="en-US" sz="1200" dirty="0">
                        <a:latin typeface="맑은 고딕" charset="0"/>
                        <a:ea typeface="맑은 고딕" charset="0"/>
                        <a:cs typeface="맑은 고딕" charset="0"/>
                      </a:endParaRPr>
                    </a:p>
                    <a:p>
                      <a:pPr marL="0" indent="0" algn="ctr">
                        <a:buNone/>
                      </a:pPr>
                      <a:r>
                        <a:rPr lang="en-US" sz="600" b="1" dirty="0">
                          <a:solidFill>
                            <a:srgbClr val="FFFFFF"/>
                          </a:solidFill>
                          <a:latin typeface="맑은 고딕" pitchFamily="34" charset="0"/>
                          <a:ea typeface="맑은 고딕" pitchFamily="34" charset="-122"/>
                          <a:cs typeface="맑은 고딕" pitchFamily="34" charset="-120"/>
                        </a:rPr>
                        <a:t>Qnovo (미국)</a:t>
                      </a:r>
                      <a:endParaRPr lang="en-US" sz="1200" dirty="0">
                        <a:latin typeface="맑은 고딕" charset="0"/>
                        <a:ea typeface="맑은 고딕" charset="0"/>
                        <a:cs typeface="맑은 고딕" charset="0"/>
                      </a:endParaRPr>
                    </a:p>
                  </a:txBody>
                  <a:tcPr marL="91435" marR="91435" marT="45718" marB="45718"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D 사</a:t>
                      </a:r>
                      <a:endParaRPr lang="en-US" sz="1200" dirty="0">
                        <a:latin typeface="맑은 고딕" charset="0"/>
                        <a:ea typeface="맑은 고딕" charset="0"/>
                        <a:cs typeface="맑은 고딕" charset="0"/>
                      </a:endParaRPr>
                    </a:p>
                    <a:p>
                      <a:pPr marL="0" indent="0" algn="ctr">
                        <a:buNone/>
                      </a:pPr>
                      <a:r>
                        <a:rPr lang="en-US" sz="600" b="1" dirty="0">
                          <a:solidFill>
                            <a:srgbClr val="FFFFFF"/>
                          </a:solidFill>
                          <a:latin typeface="맑은 고딕" pitchFamily="34" charset="0"/>
                          <a:ea typeface="맑은 고딕" pitchFamily="34" charset="-122"/>
                          <a:cs typeface="맑은 고딕" pitchFamily="34" charset="-120"/>
                        </a:rPr>
                        <a:t>Injoinic 英集芯 (중국)</a:t>
                      </a:r>
                      <a:endParaRPr lang="en-US" sz="1200" dirty="0">
                        <a:latin typeface="맑은 고딕" charset="0"/>
                        <a:ea typeface="맑은 고딕" charset="0"/>
                        <a:cs typeface="맑은 고딕" charset="0"/>
                      </a:endParaRPr>
                    </a:p>
                  </a:txBody>
                  <a:tcPr marL="91435" marR="91435" marT="45718" marB="45718"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우리!!</a:t>
                      </a:r>
                      <a:endParaRPr lang="en-US" sz="1200" dirty="0">
                        <a:latin typeface="맑은 고딕" charset="0"/>
                        <a:ea typeface="맑은 고딕" charset="0"/>
                        <a:cs typeface="맑은 고딕" charset="0"/>
                      </a:endParaRPr>
                    </a:p>
                    <a:p>
                      <a:pPr marL="0" indent="0" algn="ctr">
                        <a:buNone/>
                      </a:pPr>
                      <a:r>
                        <a:rPr lang="en-US" sz="600" b="1" dirty="0">
                          <a:solidFill>
                            <a:srgbClr val="FFFFFF"/>
                          </a:solidFill>
                          <a:latin typeface="맑은 고딕" pitchFamily="34" charset="0"/>
                          <a:ea typeface="맑은 고딕" pitchFamily="34" charset="-122"/>
                          <a:cs typeface="맑은 고딕" pitchFamily="34" charset="-120"/>
                        </a:rPr>
                        <a:t>배터리 열폭주 조기탐지 AI</a:t>
                      </a:r>
                      <a:endParaRPr lang="en-US" sz="1200" dirty="0">
                        <a:latin typeface="맑은 고딕" charset="0"/>
                        <a:ea typeface="맑은 고딕" charset="0"/>
                        <a:cs typeface="맑은 고딕" charset="0"/>
                      </a:endParaRPr>
                    </a:p>
                  </a:txBody>
                  <a:tcPr marL="91435" marR="91435" marT="45718" marB="45718"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1D4ED8"/>
                    </a:solidFill>
                  </a:tcPr>
                </a:tc>
                <a:extLst>
                  <a:ext uri="{0D108BD9-81ED-4DB2-BD59-A6C34878D82A}">
                    <a16:rowId xmlns:a16="http://schemas.microsoft.com/office/drawing/2014/main" val="10000"/>
                  </a:ext>
                </a:extLst>
              </a:tr>
              <a:tr h="420602">
                <a:tc>
                  <a:txBody>
                    <a:bodyPr/>
                    <a:lstStyle/>
                    <a:p>
                      <a:pPr marL="0" indent="0">
                        <a:buNone/>
                      </a:pPr>
                      <a:r>
                        <a:rPr lang="en-US" sz="700" b="1" dirty="0">
                          <a:solidFill>
                            <a:srgbClr val="000000"/>
                          </a:solidFill>
                          <a:latin typeface="맑은 고딕" pitchFamily="34" charset="0"/>
                          <a:ea typeface="맑은 고딕" pitchFamily="34" charset="-122"/>
                          <a:cs typeface="맑은 고딕" pitchFamily="34" charset="-120"/>
                        </a:rPr>
                        <a:t>솔루션명</a:t>
                      </a:r>
                      <a:endParaRPr lang="en-US" sz="700" dirty="0">
                        <a:latin typeface="맑은 고딕" charset="0"/>
                        <a:ea typeface="맑은 고딕" charset="0"/>
                        <a:cs typeface="맑은 고딕" charset="0"/>
                      </a:endParaRPr>
                    </a:p>
                  </a:txBody>
                  <a:tcPr marL="91435" marR="91435" marT="45718" marB="45718"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700" b="1" dirty="0">
                          <a:solidFill>
                            <a:srgbClr val="1E293B"/>
                          </a:solidFill>
                          <a:latin typeface="맑은 고딕" pitchFamily="34" charset="0"/>
                          <a:ea typeface="맑은 고딕" pitchFamily="34" charset="-122"/>
                          <a:cs typeface="맑은 고딕" pitchFamily="34" charset="-120"/>
                        </a:rPr>
                        <a:t>ActiveShield 2.0</a:t>
                      </a:r>
                      <a:endParaRPr lang="en-US" sz="1200" dirty="0">
                        <a:latin typeface="맑은 고딕" charset="0"/>
                        <a:ea typeface="맑은 고딕" charset="0"/>
                        <a:cs typeface="맑은 고딕" charset="0"/>
                      </a:endParaRPr>
                    </a:p>
                    <a:p>
                      <a:pPr marL="0" indent="0">
                        <a:buNone/>
                      </a:pPr>
                      <a:r>
                        <a:rPr lang="en-US" sz="600" dirty="0">
                          <a:solidFill>
                            <a:srgbClr val="64748B"/>
                          </a:solidFill>
                          <a:latin typeface="맑은 고딕" pitchFamily="34" charset="0"/>
                          <a:ea typeface="맑은 고딕" pitchFamily="34" charset="-122"/>
                          <a:cs typeface="맑은 고딕" pitchFamily="34" charset="-120"/>
                        </a:rPr>
                        <a:t>보조배터리 안전 시스템</a:t>
                      </a:r>
                      <a:endParaRPr lang="en-US" sz="1200" dirty="0">
                        <a:latin typeface="맑은 고딕" charset="0"/>
                        <a:ea typeface="맑은 고딕" charset="0"/>
                        <a:cs typeface="맑은 고딕" charset="0"/>
                      </a:endParaRPr>
                    </a:p>
                  </a:txBody>
                  <a:tcPr marL="91435" marR="91435" marT="45718" marB="45718">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700" b="1" dirty="0">
                          <a:solidFill>
                            <a:srgbClr val="1E293B"/>
                          </a:solidFill>
                          <a:latin typeface="맑은 고딕" pitchFamily="34" charset="0"/>
                          <a:ea typeface="맑은 고딕" pitchFamily="34" charset="-122"/>
                          <a:cs typeface="맑은 고딕" pitchFamily="34" charset="-120"/>
                        </a:rPr>
                        <a:t>BQ24295+BQ27Z746</a:t>
                      </a:r>
                      <a:endParaRPr lang="en-US" sz="1200" dirty="0">
                        <a:latin typeface="맑은 고딕" charset="0"/>
                        <a:ea typeface="맑은 고딕" charset="0"/>
                        <a:cs typeface="맑은 고딕" charset="0"/>
                      </a:endParaRPr>
                    </a:p>
                    <a:p>
                      <a:pPr marL="0" indent="0">
                        <a:buNone/>
                      </a:pPr>
                      <a:r>
                        <a:rPr lang="en-US" sz="600" dirty="0">
                          <a:solidFill>
                            <a:srgbClr val="64748B"/>
                          </a:solidFill>
                          <a:latin typeface="맑은 고딕" pitchFamily="34" charset="0"/>
                          <a:ea typeface="맑은 고딕" pitchFamily="34" charset="-122"/>
                          <a:cs typeface="맑은 고딕" pitchFamily="34" charset="-120"/>
                        </a:rPr>
                        <a:t>충전관리 IC·퓨얼게이지</a:t>
                      </a:r>
                      <a:endParaRPr lang="en-US" sz="1200" dirty="0">
                        <a:latin typeface="맑은 고딕" charset="0"/>
                        <a:ea typeface="맑은 고딕" charset="0"/>
                        <a:cs typeface="맑은 고딕" charset="0"/>
                      </a:endParaRPr>
                    </a:p>
                  </a:txBody>
                  <a:tcPr marL="91435" marR="91435" marT="45718" marB="45718">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700" b="1" dirty="0">
                          <a:solidFill>
                            <a:srgbClr val="1E293B"/>
                          </a:solidFill>
                          <a:latin typeface="맑은 고딕" pitchFamily="34" charset="0"/>
                          <a:ea typeface="맑은 고딕" pitchFamily="34" charset="-122"/>
                          <a:cs typeface="맑은 고딕" pitchFamily="34" charset="-120"/>
                        </a:rPr>
                        <a:t>Qnovo SpectralX</a:t>
                      </a:r>
                      <a:endParaRPr lang="en-US" sz="1200" dirty="0">
                        <a:latin typeface="맑은 고딕" charset="0"/>
                        <a:ea typeface="맑은 고딕" charset="0"/>
                        <a:cs typeface="맑은 고딕" charset="0"/>
                      </a:endParaRPr>
                    </a:p>
                    <a:p>
                      <a:pPr marL="0" indent="0">
                        <a:buNone/>
                      </a:pPr>
                      <a:r>
                        <a:rPr lang="en-US" sz="600" dirty="0">
                          <a:solidFill>
                            <a:srgbClr val="64748B"/>
                          </a:solidFill>
                          <a:latin typeface="맑은 고딕" pitchFamily="34" charset="0"/>
                          <a:ea typeface="맑은 고딕" pitchFamily="34" charset="-122"/>
                          <a:cs typeface="맑은 고딕" pitchFamily="34" charset="-120"/>
                        </a:rPr>
                        <a:t>배터리 인텔리전스 SW</a:t>
                      </a:r>
                      <a:endParaRPr lang="en-US" sz="1200" dirty="0">
                        <a:latin typeface="맑은 고딕" charset="0"/>
                        <a:ea typeface="맑은 고딕" charset="0"/>
                        <a:cs typeface="맑은 고딕" charset="0"/>
                      </a:endParaRPr>
                    </a:p>
                  </a:txBody>
                  <a:tcPr marL="91435" marR="91435" marT="45718" marB="45718">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700" b="1" dirty="0">
                          <a:solidFill>
                            <a:srgbClr val="1E293B"/>
                          </a:solidFill>
                          <a:latin typeface="맑은 고딕" pitchFamily="34" charset="0"/>
                          <a:ea typeface="맑은 고딕" pitchFamily="34" charset="-122"/>
                          <a:cs typeface="맑은 고딕" pitchFamily="34" charset="-120"/>
                        </a:rPr>
                        <a:t>IP5328P SoC+BMS</a:t>
                      </a:r>
                      <a:endParaRPr lang="en-US" sz="1200" dirty="0">
                        <a:latin typeface="맑은 고딕" charset="0"/>
                        <a:ea typeface="맑은 고딕" charset="0"/>
                        <a:cs typeface="맑은 고딕" charset="0"/>
                      </a:endParaRPr>
                    </a:p>
                    <a:p>
                      <a:pPr marL="0" indent="0">
                        <a:buNone/>
                      </a:pPr>
                      <a:r>
                        <a:rPr lang="en-US" sz="600" dirty="0">
                          <a:solidFill>
                            <a:srgbClr val="64748B"/>
                          </a:solidFill>
                          <a:latin typeface="맑은 고딕" pitchFamily="34" charset="0"/>
                          <a:ea typeface="맑은 고딕" pitchFamily="34" charset="-122"/>
                          <a:cs typeface="맑은 고딕" pitchFamily="34" charset="-120"/>
                        </a:rPr>
                        <a:t>보조배터리 전용 통합 SoC</a:t>
                      </a:r>
                      <a:endParaRPr lang="en-US" sz="1200" dirty="0">
                        <a:latin typeface="맑은 고딕" charset="0"/>
                        <a:ea typeface="맑은 고딕" charset="0"/>
                        <a:cs typeface="맑은 고딕" charset="0"/>
                      </a:endParaRPr>
                    </a:p>
                  </a:txBody>
                  <a:tcPr marL="91435" marR="91435" marT="45718" marB="45718">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700" b="1" dirty="0">
                          <a:solidFill>
                            <a:srgbClr val="3B5BA7"/>
                          </a:solidFill>
                          <a:latin typeface="맑은 고딕" pitchFamily="34" charset="0"/>
                          <a:ea typeface="맑은 고딕" pitchFamily="34" charset="-122"/>
                          <a:cs typeface="맑은 고딕" pitchFamily="34" charset="-120"/>
                        </a:rPr>
                        <a:t>AI 배터리 BMS</a:t>
                      </a:r>
                      <a:endParaRPr lang="en-US" sz="1200" dirty="0">
                        <a:latin typeface="맑은 고딕" charset="0"/>
                        <a:ea typeface="맑은 고딕" charset="0"/>
                        <a:cs typeface="맑은 고딕" charset="0"/>
                      </a:endParaRPr>
                    </a:p>
                    <a:p>
                      <a:pPr marL="0" indent="0">
                        <a:buNone/>
                      </a:pPr>
                      <a:r>
                        <a:rPr lang="en-US" sz="600" dirty="0">
                          <a:solidFill>
                            <a:srgbClr val="64748B"/>
                          </a:solidFill>
                          <a:latin typeface="맑은 고딕" pitchFamily="34" charset="0"/>
                          <a:ea typeface="맑은 고딕" pitchFamily="34" charset="-122"/>
                          <a:cs typeface="맑은 고딕" pitchFamily="34" charset="-120"/>
                        </a:rPr>
                        <a:t>조기탐지·실시간 관제 시스템</a:t>
                      </a:r>
                      <a:endParaRPr lang="en-US" sz="1200" dirty="0">
                        <a:latin typeface="맑은 고딕" charset="0"/>
                        <a:ea typeface="맑은 고딕" charset="0"/>
                        <a:cs typeface="맑은 고딕" charset="0"/>
                      </a:endParaRPr>
                    </a:p>
                  </a:txBody>
                  <a:tcPr marL="91435" marR="91435" marT="45718" marB="45718">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E8F1FF"/>
                    </a:solidFill>
                  </a:tcPr>
                </a:tc>
                <a:extLst>
                  <a:ext uri="{0D108BD9-81ED-4DB2-BD59-A6C34878D82A}">
                    <a16:rowId xmlns:a16="http://schemas.microsoft.com/office/drawing/2014/main" val="10001"/>
                  </a:ext>
                </a:extLst>
              </a:tr>
              <a:tr h="841204">
                <a:tc>
                  <a:txBody>
                    <a:bodyPr/>
                    <a:lstStyle/>
                    <a:p>
                      <a:pPr marL="0" indent="0">
                        <a:buNone/>
                      </a:pPr>
                      <a:r>
                        <a:rPr lang="en-US" sz="700" b="1" dirty="0">
                          <a:solidFill>
                            <a:srgbClr val="000000"/>
                          </a:solidFill>
                          <a:latin typeface="맑은 고딕" pitchFamily="34" charset="0"/>
                          <a:ea typeface="맑은 고딕" pitchFamily="34" charset="-122"/>
                          <a:cs typeface="맑은 고딕" pitchFamily="34" charset="-120"/>
                        </a:rPr>
                        <a:t>핵심 기능</a:t>
                      </a:r>
                      <a:endParaRPr lang="en-US" sz="700" dirty="0">
                        <a:latin typeface="맑은 고딕" charset="0"/>
                        <a:ea typeface="맑은 고딕" charset="0"/>
                        <a:cs typeface="맑은 고딕" charset="0"/>
                      </a:endParaRPr>
                    </a:p>
                  </a:txBody>
                  <a:tcPr marL="91435" marR="91435" marT="45718" marB="45718"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600" dirty="0">
                          <a:solidFill>
                            <a:srgbClr val="1E293B"/>
                          </a:solidFill>
                          <a:latin typeface="맑은 고딕" pitchFamily="34" charset="0"/>
                          <a:ea typeface="맑은 고딕" pitchFamily="34" charset="-122"/>
                          <a:cs typeface="맑은 고딕" pitchFamily="34" charset="-120"/>
                        </a:rPr>
                        <a:t>•  하루 300만 회 온도 감지</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온도 기반 출력 자동 조절</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과열·과충전 보호</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칩 내장형 능동 발열관리</a:t>
                      </a:r>
                      <a:endParaRPr lang="en-US" sz="1200" dirty="0">
                        <a:latin typeface="맑은 고딕" charset="0"/>
                        <a:ea typeface="맑은 고딕" charset="0"/>
                        <a:cs typeface="맑은 고딕" charset="0"/>
                      </a:endParaRPr>
                    </a:p>
                  </a:txBody>
                  <a:tcPr marL="91435" marR="91435" marT="45718" marB="45718">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600" dirty="0">
                          <a:solidFill>
                            <a:srgbClr val="1E293B"/>
                          </a:solidFill>
                          <a:latin typeface="맑은 고딕" pitchFamily="34" charset="0"/>
                          <a:ea typeface="맑은 고딕" pitchFamily="34" charset="-122"/>
                          <a:cs typeface="맑은 고딕" pitchFamily="34" charset="-120"/>
                        </a:rPr>
                        <a:t>•  1셀 Li-ion 충전관리</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서미스터 온도(hot/cold) 감시</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접합온도 120℃ 초과 시 전류감소</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과전압·입력전류 제한</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Impedance Track SoC/SoH</a:t>
                      </a:r>
                      <a:endParaRPr lang="en-US" sz="1200" dirty="0">
                        <a:latin typeface="맑은 고딕" charset="0"/>
                        <a:ea typeface="맑은 고딕" charset="0"/>
                        <a:cs typeface="맑은 고딕" charset="0"/>
                      </a:endParaRPr>
                    </a:p>
                  </a:txBody>
                  <a:tcPr marL="91435" marR="91435" marT="45718" marB="45718">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600" dirty="0">
                          <a:solidFill>
                            <a:srgbClr val="1E293B"/>
                          </a:solidFill>
                          <a:latin typeface="맑은 고딕" pitchFamily="34" charset="0"/>
                          <a:ea typeface="맑은 고딕" pitchFamily="34" charset="-122"/>
                          <a:cs typeface="맑은 고딕" pitchFamily="34" charset="-120"/>
                        </a:rPr>
                        <a:t>•  적응형·예측형 충전</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실시간 셀 진단</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열폭주 전 의심 셀 식별</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결함 감지 시 배터리 차단</a:t>
                      </a:r>
                      <a:endParaRPr lang="en-US" sz="1200" dirty="0">
                        <a:latin typeface="맑은 고딕" charset="0"/>
                        <a:ea typeface="맑은 고딕" charset="0"/>
                        <a:cs typeface="맑은 고딕" charset="0"/>
                      </a:endParaRPr>
                    </a:p>
                  </a:txBody>
                  <a:tcPr marL="91435" marR="91435" marT="45718" marB="45718">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600" dirty="0">
                          <a:solidFill>
                            <a:srgbClr val="1E293B"/>
                          </a:solidFill>
                          <a:latin typeface="맑은 고딕" pitchFamily="34" charset="0"/>
                          <a:ea typeface="맑은 고딕" pitchFamily="34" charset="-122"/>
                          <a:cs typeface="맑은 고딕" pitchFamily="34" charset="-120"/>
                        </a:rPr>
                        <a:t>•  보조배터리 전용 고집적 SoC</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14-bit ADC 전압·전류 측정(I2C)</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내장 게이지 알고리즘 SoC 표시</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QC/PD/FCP 멀티 고속충전</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IC·배터리 온도, 입력전압 제어루프</a:t>
                      </a:r>
                      <a:endParaRPr lang="en-US" sz="1200" dirty="0">
                        <a:latin typeface="맑은 고딕" charset="0"/>
                        <a:ea typeface="맑은 고딕" charset="0"/>
                        <a:cs typeface="맑은 고딕" charset="0"/>
                      </a:endParaRPr>
                    </a:p>
                  </a:txBody>
                  <a:tcPr marL="91435" marR="91435" marT="45718" marB="45718">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600" dirty="0">
                          <a:solidFill>
                            <a:srgbClr val="1E293B"/>
                          </a:solidFill>
                          <a:latin typeface="맑은 고딕" pitchFamily="34" charset="0"/>
                          <a:ea typeface="맑은 고딕" pitchFamily="34" charset="-122"/>
                          <a:cs typeface="맑은 고딕" pitchFamily="34" charset="-120"/>
                        </a:rPr>
                        <a:t>•  전압·전류·온도·SOC 모니터링</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Kafka 스트리밍 파이프라인</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LSTM-AE 실시간 이상탐지</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웹 대시보드 실시간 관제</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릴레이 Kill-Switch 물리 차단</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카카오톡 알림</a:t>
                      </a:r>
                      <a:endParaRPr lang="en-US" sz="1200" dirty="0">
                        <a:latin typeface="맑은 고딕" charset="0"/>
                        <a:ea typeface="맑은 고딕" charset="0"/>
                        <a:cs typeface="맑은 고딕" charset="0"/>
                      </a:endParaRPr>
                    </a:p>
                  </a:txBody>
                  <a:tcPr marL="91435" marR="91435" marT="45718" marB="45718">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E8F1FF"/>
                    </a:solidFill>
                  </a:tcPr>
                </a:tc>
                <a:extLst>
                  <a:ext uri="{0D108BD9-81ED-4DB2-BD59-A6C34878D82A}">
                    <a16:rowId xmlns:a16="http://schemas.microsoft.com/office/drawing/2014/main" val="10002"/>
                  </a:ext>
                </a:extLst>
              </a:tr>
              <a:tr h="579089">
                <a:tc>
                  <a:txBody>
                    <a:bodyPr/>
                    <a:lstStyle/>
                    <a:p>
                      <a:pPr marL="0" indent="0">
                        <a:buNone/>
                      </a:pPr>
                      <a:r>
                        <a:rPr lang="en-US" sz="700" b="1" dirty="0">
                          <a:solidFill>
                            <a:srgbClr val="000000"/>
                          </a:solidFill>
                          <a:latin typeface="맑은 고딕" pitchFamily="34" charset="0"/>
                          <a:ea typeface="맑은 고딕" pitchFamily="34" charset="-122"/>
                          <a:cs typeface="맑은 고딕" pitchFamily="34" charset="-120"/>
                        </a:rPr>
                        <a:t>알고리즘</a:t>
                      </a:r>
                      <a:endParaRPr lang="en-US" sz="700" dirty="0">
                        <a:latin typeface="맑은 고딕" charset="0"/>
                        <a:ea typeface="맑은 고딕" charset="0"/>
                        <a:cs typeface="맑은 고딕" charset="0"/>
                      </a:endParaRPr>
                    </a:p>
                  </a:txBody>
                  <a:tcPr marL="91435" marR="91435" marT="45718" marB="45718"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600" dirty="0">
                          <a:solidFill>
                            <a:srgbClr val="1E293B"/>
                          </a:solidFill>
                          <a:latin typeface="맑은 고딕" pitchFamily="34" charset="0"/>
                          <a:ea typeface="맑은 고딕" pitchFamily="34" charset="-122"/>
                          <a:cs typeface="맑은 고딕" pitchFamily="34" charset="-120"/>
                        </a:rPr>
                        <a:t>•  임계치/룰 기반 온도 모니터링</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실시간 온도 임계 차단</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AI 패턴학습 없음</a:t>
                      </a:r>
                      <a:endParaRPr lang="en-US" sz="1200" dirty="0">
                        <a:latin typeface="맑은 고딕" charset="0"/>
                        <a:ea typeface="맑은 고딕" charset="0"/>
                        <a:cs typeface="맑은 고딕" charset="0"/>
                      </a:endParaRPr>
                    </a:p>
                  </a:txBody>
                  <a:tcPr marL="91435" marR="91435" marT="45718" marB="45718">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600" dirty="0">
                          <a:solidFill>
                            <a:srgbClr val="1E293B"/>
                          </a:solidFill>
                          <a:latin typeface="맑은 고딕" pitchFamily="34" charset="0"/>
                          <a:ea typeface="맑은 고딕" pitchFamily="34" charset="-122"/>
                          <a:cs typeface="맑은 고딕" pitchFamily="34" charset="-120"/>
                        </a:rPr>
                        <a:t>•  임계치 기반 보호회로</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Impedance Track 게이징</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AI 추론 기능 없음</a:t>
                      </a:r>
                      <a:endParaRPr lang="en-US" sz="1200" dirty="0">
                        <a:latin typeface="맑은 고딕" charset="0"/>
                        <a:ea typeface="맑은 고딕" charset="0"/>
                        <a:cs typeface="맑은 고딕" charset="0"/>
                      </a:endParaRPr>
                    </a:p>
                  </a:txBody>
                  <a:tcPr marL="91435" marR="91435" marT="45718" marB="45718">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600" dirty="0">
                          <a:solidFill>
                            <a:srgbClr val="1E293B"/>
                          </a:solidFill>
                          <a:latin typeface="맑은 고딕" pitchFamily="34" charset="0"/>
                          <a:ea typeface="맑은 고딕" pitchFamily="34" charset="-122"/>
                          <a:cs typeface="맑은 고딕" pitchFamily="34" charset="-120"/>
                        </a:rPr>
                        <a:t>•  머신러닝 기반 예측충전</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실시간 화학적 SoH 추정</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특허 50건+ 보유</a:t>
                      </a:r>
                      <a:endParaRPr lang="en-US" sz="1200" dirty="0">
                        <a:latin typeface="맑은 고딕" charset="0"/>
                        <a:ea typeface="맑은 고딕" charset="0"/>
                        <a:cs typeface="맑은 고딕" charset="0"/>
                      </a:endParaRPr>
                    </a:p>
                  </a:txBody>
                  <a:tcPr marL="91435" marR="91435" marT="45718" marB="45718">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600" dirty="0">
                          <a:solidFill>
                            <a:srgbClr val="1E293B"/>
                          </a:solidFill>
                          <a:latin typeface="맑은 고딕" pitchFamily="34" charset="0"/>
                          <a:ea typeface="맑은 고딕" pitchFamily="34" charset="-122"/>
                          <a:cs typeface="맑은 고딕" pitchFamily="34" charset="-120"/>
                        </a:rPr>
                        <a:t>•  임계치 기반 보호회로</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온도·전압 제어루프 충전조절</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내장 게이지 알고리즘(AI 아님)</a:t>
                      </a:r>
                      <a:endParaRPr lang="en-US" sz="1200" dirty="0">
                        <a:latin typeface="맑은 고딕" charset="0"/>
                        <a:ea typeface="맑은 고딕" charset="0"/>
                        <a:cs typeface="맑은 고딕" charset="0"/>
                      </a:endParaRPr>
                    </a:p>
                  </a:txBody>
                  <a:tcPr marL="91435" marR="91435" marT="45718" marB="45718">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600" dirty="0">
                          <a:solidFill>
                            <a:srgbClr val="1E293B"/>
                          </a:solidFill>
                          <a:latin typeface="맑은 고딕" pitchFamily="34" charset="0"/>
                          <a:ea typeface="맑은 고딕" pitchFamily="34" charset="-122"/>
                          <a:cs typeface="맑은 고딕" pitchFamily="34" charset="-120"/>
                        </a:rPr>
                        <a:t>•  LSTM-AutoEncoder</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30 time-steps 윈도우, 이상점수(0.0~1.0, 4단계등급)</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정상패턴 학습 기반 사전예측</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칼만필터 내부 셀온도 추정</a:t>
                      </a:r>
                      <a:endParaRPr lang="en-US" sz="1200" dirty="0">
                        <a:latin typeface="맑은 고딕" charset="0"/>
                        <a:ea typeface="맑은 고딕" charset="0"/>
                        <a:cs typeface="맑은 고딕" charset="0"/>
                      </a:endParaRPr>
                    </a:p>
                  </a:txBody>
                  <a:tcPr marL="91435" marR="91435" marT="45718" marB="45718">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E8F1FF"/>
                    </a:solidFill>
                  </a:tcPr>
                </a:tc>
                <a:extLst>
                  <a:ext uri="{0D108BD9-81ED-4DB2-BD59-A6C34878D82A}">
                    <a16:rowId xmlns:a16="http://schemas.microsoft.com/office/drawing/2014/main" val="10003"/>
                  </a:ext>
                </a:extLst>
              </a:tr>
              <a:tr h="1965857">
                <a:tc>
                  <a:txBody>
                    <a:bodyPr/>
                    <a:lstStyle/>
                    <a:p>
                      <a:pPr marL="0" indent="0">
                        <a:buNone/>
                      </a:pPr>
                      <a:r>
                        <a:rPr lang="en-US" sz="700" b="1" dirty="0">
                          <a:solidFill>
                            <a:srgbClr val="000000"/>
                          </a:solidFill>
                          <a:latin typeface="맑은 고딕" pitchFamily="34" charset="0"/>
                          <a:ea typeface="맑은 고딕" pitchFamily="34" charset="-122"/>
                          <a:cs typeface="맑은 고딕" pitchFamily="34" charset="-120"/>
                        </a:rPr>
                        <a:t>주요 특징·</a:t>
                      </a:r>
                      <a:endParaRPr lang="en-US" sz="700" dirty="0">
                        <a:latin typeface="맑은 고딕" charset="0"/>
                        <a:ea typeface="맑은 고딕" charset="0"/>
                        <a:cs typeface="맑은 고딕" charset="0"/>
                      </a:endParaRPr>
                    </a:p>
                    <a:p>
                      <a:pPr marL="0" indent="0">
                        <a:buNone/>
                      </a:pPr>
                      <a:r>
                        <a:rPr lang="en-US" sz="700" b="1" dirty="0">
                          <a:solidFill>
                            <a:srgbClr val="000000"/>
                          </a:solidFill>
                          <a:latin typeface="맑은 고딕" pitchFamily="34" charset="0"/>
                          <a:ea typeface="맑은 고딕" pitchFamily="34" charset="-122"/>
                          <a:cs typeface="맑은 고딕" pitchFamily="34" charset="-120"/>
                        </a:rPr>
                        <a:t>장단점</a:t>
                      </a:r>
                      <a:endParaRPr lang="en-US" sz="700" dirty="0">
                        <a:latin typeface="맑은 고딕" charset="0"/>
                        <a:ea typeface="맑은 고딕" charset="0"/>
                        <a:cs typeface="맑은 고딕" charset="0"/>
                      </a:endParaRPr>
                    </a:p>
                  </a:txBody>
                  <a:tcPr marL="91435" marR="91435" marT="45718" marB="45718"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600" b="1" dirty="0">
                          <a:solidFill>
                            <a:srgbClr val="1E293B"/>
                          </a:solidFill>
                          <a:latin typeface="맑은 고딕" pitchFamily="34" charset="0"/>
                          <a:ea typeface="맑은 고딕" pitchFamily="34" charset="-122"/>
                          <a:cs typeface="맑은 고딕" pitchFamily="34" charset="-120"/>
                        </a:rPr>
                        <a:t>특징</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동일 제품군(소비자 보조배터리)</a:t>
                      </a:r>
                      <a:endParaRPr lang="en-US" sz="1200" dirty="0">
                        <a:latin typeface="맑은 고딕" charset="0"/>
                        <a:ea typeface="맑은 고딕" charset="0"/>
                        <a:cs typeface="맑은 고딕" charset="0"/>
                      </a:endParaRPr>
                    </a:p>
                    <a:p>
                      <a:pPr marL="0" indent="0">
                        <a:buNone/>
                      </a:pPr>
                      <a:r>
                        <a:rPr lang="en-US" sz="600" b="1" dirty="0">
                          <a:solidFill>
                            <a:srgbClr val="1F7A3D"/>
                          </a:solidFill>
                          <a:latin typeface="맑은 고딕" pitchFamily="34" charset="0"/>
                          <a:ea typeface="맑은 고딕" pitchFamily="34" charset="-122"/>
                          <a:cs typeface="맑은 고딕" pitchFamily="34" charset="-120"/>
                        </a:rPr>
                        <a:t>장점</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대량양산 검증</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실시간 온도감지</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실제 보조배터리 적용</a:t>
                      </a:r>
                      <a:endParaRPr lang="en-US" sz="1200" dirty="0">
                        <a:latin typeface="맑은 고딕" charset="0"/>
                        <a:ea typeface="맑은 고딕" charset="0"/>
                        <a:cs typeface="맑은 고딕" charset="0"/>
                      </a:endParaRPr>
                    </a:p>
                    <a:p>
                      <a:pPr marL="0" indent="0">
                        <a:buNone/>
                      </a:pPr>
                      <a:r>
                        <a:rPr lang="en-US" sz="600" b="1" dirty="0">
                          <a:solidFill>
                            <a:srgbClr val="C0392B"/>
                          </a:solidFill>
                          <a:latin typeface="맑은 고딕" pitchFamily="34" charset="0"/>
                          <a:ea typeface="맑은 고딕" pitchFamily="34" charset="-122"/>
                          <a:cs typeface="맑은 고딕" pitchFamily="34" charset="-120"/>
                        </a:rPr>
                        <a:t>단점</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임계치 기반 사후대응</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내부 이상패턴 예측 불가</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자사 전용 폐쇄형</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외부 웹관제 없음</a:t>
                      </a:r>
                      <a:endParaRPr lang="en-US" sz="1200" dirty="0">
                        <a:latin typeface="맑은 고딕" charset="0"/>
                        <a:ea typeface="맑은 고딕" charset="0"/>
                        <a:cs typeface="맑은 고딕" charset="0"/>
                      </a:endParaRPr>
                    </a:p>
                  </a:txBody>
                  <a:tcPr marL="91435" marR="91435" marT="45718" marB="45718">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600" b="1" dirty="0">
                          <a:solidFill>
                            <a:srgbClr val="1E293B"/>
                          </a:solidFill>
                          <a:latin typeface="맑은 고딕" pitchFamily="34" charset="0"/>
                          <a:ea typeface="맑은 고딕" pitchFamily="34" charset="-122"/>
                          <a:cs typeface="맑은 고딕" pitchFamily="34" charset="-120"/>
                        </a:rPr>
                        <a:t>특징</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업계 표준칩, 소형 1셀 최적</a:t>
                      </a:r>
                      <a:endParaRPr lang="en-US" sz="1200" dirty="0">
                        <a:latin typeface="맑은 고딕" charset="0"/>
                        <a:ea typeface="맑은 고딕" charset="0"/>
                        <a:cs typeface="맑은 고딕" charset="0"/>
                      </a:endParaRPr>
                    </a:p>
                    <a:p>
                      <a:pPr marL="0" indent="0">
                        <a:buNone/>
                      </a:pPr>
                      <a:r>
                        <a:rPr lang="en-US" sz="600" b="1" dirty="0">
                          <a:solidFill>
                            <a:srgbClr val="1F7A3D"/>
                          </a:solidFill>
                          <a:latin typeface="맑은 고딕" pitchFamily="34" charset="0"/>
                          <a:ea typeface="맑은 고딕" pitchFamily="34" charset="-122"/>
                          <a:cs typeface="맑은 고딕" pitchFamily="34" charset="-120"/>
                        </a:rPr>
                        <a:t>장점</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저비용·검증된 표준칩</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소형 1셀 휴대기기 최적</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정밀 게이징</a:t>
                      </a:r>
                      <a:endParaRPr lang="en-US" sz="1200" dirty="0">
                        <a:latin typeface="맑은 고딕" charset="0"/>
                        <a:ea typeface="맑은 고딕" charset="0"/>
                        <a:cs typeface="맑은 고딕" charset="0"/>
                      </a:endParaRPr>
                    </a:p>
                    <a:p>
                      <a:pPr marL="0" indent="0">
                        <a:buNone/>
                      </a:pPr>
                      <a:r>
                        <a:rPr lang="en-US" sz="600" b="1" dirty="0">
                          <a:solidFill>
                            <a:srgbClr val="C0392B"/>
                          </a:solidFill>
                          <a:latin typeface="맑은 고딕" pitchFamily="34" charset="0"/>
                          <a:ea typeface="맑은 고딕" pitchFamily="34" charset="-122"/>
                          <a:cs typeface="맑은 고딕" pitchFamily="34" charset="-120"/>
                        </a:rPr>
                        <a:t>단점</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단일칩 보호 위주</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시계열 이상패턴 학습 없음</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웹관제·알림 없음</a:t>
                      </a:r>
                      <a:endParaRPr lang="en-US" sz="1200" dirty="0">
                        <a:latin typeface="맑은 고딕" charset="0"/>
                        <a:ea typeface="맑은 고딕" charset="0"/>
                        <a:cs typeface="맑은 고딕" charset="0"/>
                      </a:endParaRPr>
                    </a:p>
                  </a:txBody>
                  <a:tcPr marL="91435" marR="91435" marT="45718" marB="45718">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600" b="1" dirty="0">
                          <a:solidFill>
                            <a:srgbClr val="1E293B"/>
                          </a:solidFill>
                          <a:latin typeface="맑은 고딕" pitchFamily="34" charset="0"/>
                          <a:ea typeface="맑은 고딕" pitchFamily="34" charset="-122"/>
                          <a:cs typeface="맑은 고딕" pitchFamily="34" charset="-120"/>
                        </a:rPr>
                        <a:t>특징</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스마트폰 1.5억 대+ 탑재</a:t>
                      </a:r>
                      <a:endParaRPr lang="en-US" sz="1200" dirty="0">
                        <a:latin typeface="맑은 고딕" charset="0"/>
                        <a:ea typeface="맑은 고딕" charset="0"/>
                        <a:cs typeface="맑은 고딕" charset="0"/>
                      </a:endParaRPr>
                    </a:p>
                    <a:p>
                      <a:pPr marL="0" indent="0">
                        <a:buNone/>
                      </a:pPr>
                      <a:r>
                        <a:rPr lang="en-US" sz="600" b="1" dirty="0">
                          <a:solidFill>
                            <a:srgbClr val="1F7A3D"/>
                          </a:solidFill>
                          <a:latin typeface="맑은 고딕" pitchFamily="34" charset="0"/>
                          <a:ea typeface="맑은 고딕" pitchFamily="34" charset="-122"/>
                          <a:cs typeface="맑은 고딕" pitchFamily="34" charset="-120"/>
                        </a:rPr>
                        <a:t>장점</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대규모 양산 검증</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AI 사전예측</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충전 최적화</a:t>
                      </a:r>
                      <a:endParaRPr lang="en-US" sz="1200" dirty="0">
                        <a:latin typeface="맑은 고딕" charset="0"/>
                        <a:ea typeface="맑은 고딕" charset="0"/>
                        <a:cs typeface="맑은 고딕" charset="0"/>
                      </a:endParaRPr>
                    </a:p>
                    <a:p>
                      <a:pPr marL="0" indent="0">
                        <a:buNone/>
                      </a:pPr>
                      <a:r>
                        <a:rPr lang="en-US" sz="600" b="1" dirty="0">
                          <a:solidFill>
                            <a:srgbClr val="C0392B"/>
                          </a:solidFill>
                          <a:latin typeface="맑은 고딕" pitchFamily="34" charset="0"/>
                          <a:ea typeface="맑은 고딕" pitchFamily="34" charset="-122"/>
                          <a:cs typeface="맑은 고딕" pitchFamily="34" charset="-120"/>
                        </a:rPr>
                        <a:t>단점</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충전 최적화 중심(독립제품 아님)</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BMS 내장 SW 라이선스 모델</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웹관제·물리차단 미통합</a:t>
                      </a:r>
                      <a:endParaRPr lang="en-US" sz="1200" dirty="0">
                        <a:latin typeface="맑은 고딕" charset="0"/>
                        <a:ea typeface="맑은 고딕" charset="0"/>
                        <a:cs typeface="맑은 고딕" charset="0"/>
                      </a:endParaRPr>
                    </a:p>
                  </a:txBody>
                  <a:tcPr marL="91435" marR="91435" marT="45718" marB="45718">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600" b="1" dirty="0">
                          <a:solidFill>
                            <a:srgbClr val="1E293B"/>
                          </a:solidFill>
                          <a:latin typeface="맑은 고딕" pitchFamily="34" charset="0"/>
                          <a:ea typeface="맑은 고딕" pitchFamily="34" charset="-122"/>
                          <a:cs typeface="맑은 고딕" pitchFamily="34" charset="-120"/>
                        </a:rPr>
                        <a:t>특징</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보조배터리 SoC 점유율 상위 칩메이커</a:t>
                      </a:r>
                      <a:endParaRPr lang="en-US" sz="1200" dirty="0">
                        <a:latin typeface="맑은 고딕" charset="0"/>
                        <a:ea typeface="맑은 고딕" charset="0"/>
                        <a:cs typeface="맑은 고딕" charset="0"/>
                      </a:endParaRPr>
                    </a:p>
                    <a:p>
                      <a:pPr marL="0" indent="0">
                        <a:buNone/>
                      </a:pPr>
                      <a:r>
                        <a:rPr lang="en-US" sz="600" b="1" dirty="0">
                          <a:solidFill>
                            <a:srgbClr val="1F7A3D"/>
                          </a:solidFill>
                          <a:latin typeface="맑은 고딕" pitchFamily="34" charset="0"/>
                          <a:ea typeface="맑은 고딕" pitchFamily="34" charset="-122"/>
                          <a:cs typeface="맑은 고딕" pitchFamily="34" charset="-120"/>
                        </a:rPr>
                        <a:t>장점</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보조배터리 전용 통합 SoC</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멀티 프로토콜 고속충전</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다중 온도·전압 제어루프 보호</a:t>
                      </a:r>
                      <a:endParaRPr lang="en-US" sz="1200" dirty="0">
                        <a:latin typeface="맑은 고딕" charset="0"/>
                        <a:ea typeface="맑은 고딕" charset="0"/>
                        <a:cs typeface="맑은 고딕" charset="0"/>
                      </a:endParaRPr>
                    </a:p>
                    <a:p>
                      <a:pPr marL="0" indent="0">
                        <a:buNone/>
                      </a:pPr>
                      <a:r>
                        <a:rPr lang="en-US" sz="600" b="1" dirty="0">
                          <a:solidFill>
                            <a:srgbClr val="C0392B"/>
                          </a:solidFill>
                          <a:latin typeface="맑은 고딕" pitchFamily="34" charset="0"/>
                          <a:ea typeface="맑은 고딕" pitchFamily="34" charset="-122"/>
                          <a:cs typeface="맑은 고딕" pitchFamily="34" charset="-120"/>
                        </a:rPr>
                        <a:t>단점</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임계치·룰 기반 보호</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시계열 이상패턴 학습 없음</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클라우드·웹 관제·알림 없음</a:t>
                      </a:r>
                      <a:endParaRPr lang="en-US" sz="1200" dirty="0">
                        <a:latin typeface="맑은 고딕" charset="0"/>
                        <a:ea typeface="맑은 고딕" charset="0"/>
                        <a:cs typeface="맑은 고딕" charset="0"/>
                      </a:endParaRPr>
                    </a:p>
                  </a:txBody>
                  <a:tcPr marL="91435" marR="91435" marT="45718" marB="45718">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600" b="1" dirty="0">
                          <a:solidFill>
                            <a:srgbClr val="1E293B"/>
                          </a:solidFill>
                          <a:latin typeface="맑은 고딕" pitchFamily="34" charset="0"/>
                          <a:ea typeface="맑은 고딕" pitchFamily="34" charset="-122"/>
                          <a:cs typeface="맑은 고딕" pitchFamily="34" charset="-120"/>
                        </a:rPr>
                        <a:t>특징</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소형 보조배터리 특화</a:t>
                      </a:r>
                      <a:endParaRPr lang="en-US" sz="1200" dirty="0">
                        <a:latin typeface="맑은 고딕" charset="0"/>
                        <a:ea typeface="맑은 고딕" charset="0"/>
                        <a:cs typeface="맑은 고딕" charset="0"/>
                      </a:endParaRPr>
                    </a:p>
                    <a:p>
                      <a:pPr marL="0" indent="0">
                        <a:buNone/>
                      </a:pPr>
                      <a:r>
                        <a:rPr lang="en-US" sz="600" b="1" dirty="0">
                          <a:solidFill>
                            <a:srgbClr val="1F7A3D"/>
                          </a:solidFill>
                          <a:latin typeface="맑은 고딕" pitchFamily="34" charset="0"/>
                          <a:ea typeface="맑은 고딕" pitchFamily="34" charset="-122"/>
                          <a:cs typeface="맑은 고딕" pitchFamily="34" charset="-120"/>
                        </a:rPr>
                        <a:t>장점</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정상패턴 학습형 사전예측</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엣지~클라우드~웹~물리차단 통합</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Kafka 실시간 + Kill-Switch</a:t>
                      </a:r>
                      <a:endParaRPr lang="en-US" sz="1200" dirty="0">
                        <a:latin typeface="맑은 고딕" charset="0"/>
                        <a:ea typeface="맑은 고딕" charset="0"/>
                        <a:cs typeface="맑은 고딕" charset="0"/>
                      </a:endParaRPr>
                    </a:p>
                    <a:p>
                      <a:pPr marL="0" indent="0">
                        <a:buNone/>
                      </a:pPr>
                      <a:r>
                        <a:rPr lang="en-US" sz="600" b="1" dirty="0">
                          <a:solidFill>
                            <a:srgbClr val="3B5BA7"/>
                          </a:solidFill>
                          <a:latin typeface="맑은 고딕" pitchFamily="34" charset="0"/>
                          <a:ea typeface="맑은 고딕" pitchFamily="34" charset="-122"/>
                          <a:cs typeface="맑은 고딕" pitchFamily="34" charset="-120"/>
                        </a:rPr>
                        <a:t>차별점</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임계치 기반(Anker·TI·Injoinic) → 정상패턴 학습 AI 사전예측</a:t>
                      </a:r>
                      <a:endParaRPr lang="en-US" sz="1200" dirty="0">
                        <a:latin typeface="맑은 고딕" charset="0"/>
                        <a:ea typeface="맑은 고딕" charset="0"/>
                        <a:cs typeface="맑은 고딕" charset="0"/>
                      </a:endParaRPr>
                    </a:p>
                    <a:p>
                      <a:pPr marL="0" indent="0">
                        <a:buNone/>
                      </a:pPr>
                      <a:r>
                        <a:rPr lang="en-US" sz="600" dirty="0">
                          <a:solidFill>
                            <a:srgbClr val="1E293B"/>
                          </a:solidFill>
                          <a:latin typeface="맑은 고딕" pitchFamily="34" charset="0"/>
                          <a:ea typeface="맑은 고딕" pitchFamily="34" charset="-122"/>
                          <a:cs typeface="맑은 고딕" pitchFamily="34" charset="-120"/>
                        </a:rPr>
                        <a:t>•  충전·폰 중심 AI(Qnovo) → 보조배터리 특화</a:t>
                      </a:r>
                      <a:endParaRPr lang="en-US" sz="1200" dirty="0">
                        <a:latin typeface="맑은 고딕" charset="0"/>
                        <a:ea typeface="맑은 고딕" charset="0"/>
                        <a:cs typeface="맑은 고딕" charset="0"/>
                      </a:endParaRPr>
                    </a:p>
                  </a:txBody>
                  <a:tcPr marL="91435" marR="91435" marT="45718" marB="45718">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E8F1FF"/>
                    </a:solidFill>
                  </a:tcPr>
                </a:tc>
                <a:extLst>
                  <a:ext uri="{0D108BD9-81ED-4DB2-BD59-A6C34878D82A}">
                    <a16:rowId xmlns:a16="http://schemas.microsoft.com/office/drawing/2014/main" val="10004"/>
                  </a:ext>
                </a:extLst>
              </a:tr>
              <a:tr h="237732">
                <a:tc>
                  <a:txBody>
                    <a:bodyPr/>
                    <a:lstStyle/>
                    <a:p>
                      <a:pPr marL="0" indent="0">
                        <a:buNone/>
                      </a:pPr>
                      <a:r>
                        <a:rPr lang="en-US" sz="700" b="1" dirty="0">
                          <a:solidFill>
                            <a:srgbClr val="000000"/>
                          </a:solidFill>
                          <a:latin typeface="맑은 고딕" pitchFamily="34" charset="0"/>
                          <a:ea typeface="맑은 고딕" pitchFamily="34" charset="-122"/>
                          <a:cs typeface="맑은 고딕" pitchFamily="34" charset="-120"/>
                        </a:rPr>
                        <a:t>가격</a:t>
                      </a:r>
                      <a:endParaRPr lang="en-US" sz="700" dirty="0">
                        <a:latin typeface="맑은 고딕" charset="0"/>
                        <a:ea typeface="맑은 고딕" charset="0"/>
                        <a:cs typeface="맑은 고딕" charset="0"/>
                      </a:endParaRPr>
                    </a:p>
                  </a:txBody>
                  <a:tcPr marL="91435" marR="91435" marT="45718" marB="45718"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700" dirty="0">
                          <a:solidFill>
                            <a:srgbClr val="000000"/>
                          </a:solidFill>
                          <a:latin typeface="맑은 고딕" pitchFamily="34" charset="0"/>
                          <a:ea typeface="맑은 고딕" pitchFamily="34" charset="-122"/>
                          <a:cs typeface="맑은 고딕" pitchFamily="34" charset="-120"/>
                        </a:rPr>
                        <a:t>US$109.99/대</a:t>
                      </a:r>
                      <a:endParaRPr lang="en-US" sz="700" dirty="0">
                        <a:latin typeface="맑은 고딕" charset="0"/>
                        <a:ea typeface="맑은 고딕" charset="0"/>
                        <a:cs typeface="맑은 고딕" charset="0"/>
                      </a:endParaRPr>
                    </a:p>
                  </a:txBody>
                  <a:tcPr marL="91435" marR="91435" marT="45718" marB="45718"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700" dirty="0">
                          <a:solidFill>
                            <a:srgbClr val="000000"/>
                          </a:solidFill>
                          <a:latin typeface="맑은 고딕" pitchFamily="34" charset="0"/>
                          <a:ea typeface="맑은 고딕" pitchFamily="34" charset="-122"/>
                          <a:cs typeface="맑은 고딕" pitchFamily="34" charset="-120"/>
                        </a:rPr>
                        <a:t>US$2.25/세트</a:t>
                      </a:r>
                      <a:endParaRPr lang="en-US" sz="700" dirty="0">
                        <a:latin typeface="맑은 고딕" charset="0"/>
                        <a:ea typeface="맑은 고딕" charset="0"/>
                        <a:cs typeface="맑은 고딕" charset="0"/>
                      </a:endParaRPr>
                    </a:p>
                  </a:txBody>
                  <a:tcPr marL="91435" marR="91435" marT="45718" marB="45718"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700" dirty="0">
                          <a:solidFill>
                            <a:srgbClr val="000000"/>
                          </a:solidFill>
                          <a:latin typeface="맑은 고딕" pitchFamily="34" charset="0"/>
                          <a:ea typeface="맑은 고딕" pitchFamily="34" charset="-122"/>
                          <a:cs typeface="맑은 고딕" pitchFamily="34" charset="-120"/>
                        </a:rPr>
                        <a:t>공개가격 없음</a:t>
                      </a:r>
                      <a:endParaRPr lang="en-US" sz="700" dirty="0">
                        <a:latin typeface="맑은 고딕" charset="0"/>
                        <a:ea typeface="맑은 고딕" charset="0"/>
                        <a:cs typeface="맑은 고딕" charset="0"/>
                      </a:endParaRPr>
                    </a:p>
                  </a:txBody>
                  <a:tcPr marL="91435" marR="91435" marT="45718" marB="45718"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700" dirty="0">
                          <a:solidFill>
                            <a:srgbClr val="000000"/>
                          </a:solidFill>
                          <a:latin typeface="맑은 고딕" pitchFamily="34" charset="0"/>
                          <a:ea typeface="맑은 고딕" pitchFamily="34" charset="-122"/>
                          <a:cs typeface="맑은 고딕" pitchFamily="34" charset="-120"/>
                        </a:rPr>
                        <a:t>단가 확인 필요</a:t>
                      </a:r>
                      <a:endParaRPr lang="en-US" sz="700" dirty="0">
                        <a:latin typeface="맑은 고딕" charset="0"/>
                        <a:ea typeface="맑은 고딕" charset="0"/>
                        <a:cs typeface="맑은 고딕" charset="0"/>
                      </a:endParaRPr>
                    </a:p>
                  </a:txBody>
                  <a:tcPr marL="91435" marR="91435" marT="45718" marB="45718"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700" b="1" dirty="0">
                          <a:solidFill>
                            <a:srgbClr val="000000"/>
                          </a:solidFill>
                          <a:latin typeface="맑은 고딕" pitchFamily="34" charset="0"/>
                          <a:ea typeface="맑은 고딕" pitchFamily="34" charset="-122"/>
                          <a:cs typeface="맑은 고딕" pitchFamily="34" charset="-120"/>
                        </a:rPr>
                        <a:t>자사 산정 필요</a:t>
                      </a:r>
                      <a:endParaRPr lang="en-US" sz="700" dirty="0">
                        <a:latin typeface="맑은 고딕" charset="0"/>
                        <a:ea typeface="맑은 고딕" charset="0"/>
                        <a:cs typeface="맑은 고딕" charset="0"/>
                      </a:endParaRPr>
                    </a:p>
                  </a:txBody>
                  <a:tcPr marL="91435" marR="91435" marT="45718" marB="45718"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E8F1FF"/>
                    </a:solidFill>
                  </a:tcPr>
                </a:tc>
                <a:extLst>
                  <a:ext uri="{0D108BD9-81ED-4DB2-BD59-A6C34878D82A}">
                    <a16:rowId xmlns:a16="http://schemas.microsoft.com/office/drawing/2014/main" val="10005"/>
                  </a:ext>
                </a:extLst>
              </a:tr>
            </a:tbl>
          </a:graphicData>
        </a:graphic>
      </p:graphicFrame>
      <p:sp>
        <p:nvSpPr>
          <p:cNvPr id="15" name="Text 10">
            <a:extLst>
              <a:ext uri="{FF2B5EF4-FFF2-40B4-BE49-F238E27FC236}">
                <a16:creationId xmlns:a16="http://schemas.microsoft.com/office/drawing/2014/main" id="{4E74D68D-26B9-66A7-3224-913AC1CAC195}"/>
              </a:ext>
            </a:extLst>
          </p:cNvPr>
          <p:cNvSpPr/>
          <p:nvPr/>
        </p:nvSpPr>
        <p:spPr>
          <a:xfrm>
            <a:off x="623168" y="6446554"/>
            <a:ext cx="7977575" cy="365740"/>
          </a:xfrm>
          <a:prstGeom prst="rect">
            <a:avLst/>
          </a:prstGeom>
          <a:noFill/>
          <a:ln/>
        </p:spPr>
        <p:txBody>
          <a:bodyPr wrap="square" rtlCol="0" anchor="t"/>
          <a:lstStyle/>
          <a:p>
            <a:r>
              <a:rPr lang="en-US" sz="630" dirty="0">
                <a:solidFill>
                  <a:srgbClr val="64748B"/>
                </a:solidFill>
                <a:latin typeface="맑은 고딕" pitchFamily="34" charset="0"/>
                <a:ea typeface="맑은 고딕" pitchFamily="34" charset="-122"/>
                <a:cs typeface="맑은 고딕" pitchFamily="34" charset="-120"/>
              </a:rPr>
              <a:t>가격 출처: A Anker 737 공식 US$109.99 · B TI.com offers 1.384+0.863=US$2.247 · C Qnovo 공개가격 없음/문의 · D IP5328P 공개 단가 추가 확인 필요 · 우리 외부 공개가격 없음 (2026.6.30 조회)</a:t>
            </a:r>
            <a:endParaRPr lang="en-US" sz="630" dirty="0"/>
          </a:p>
        </p:txBody>
      </p:sp>
      <p:sp>
        <p:nvSpPr>
          <p:cNvPr id="17" name="Text 11">
            <a:extLst>
              <a:ext uri="{FF2B5EF4-FFF2-40B4-BE49-F238E27FC236}">
                <a16:creationId xmlns:a16="http://schemas.microsoft.com/office/drawing/2014/main" id="{F7A73DFD-6D0D-9D07-04CB-E053E3F8275C}"/>
              </a:ext>
            </a:extLst>
          </p:cNvPr>
          <p:cNvSpPr/>
          <p:nvPr/>
        </p:nvSpPr>
        <p:spPr>
          <a:xfrm>
            <a:off x="623168" y="6876478"/>
            <a:ext cx="7170854" cy="219444"/>
          </a:xfrm>
          <a:prstGeom prst="rect">
            <a:avLst/>
          </a:prstGeom>
          <a:noFill/>
          <a:ln/>
        </p:spPr>
        <p:txBody>
          <a:bodyPr wrap="square" rtlCol="0" anchor="ctr"/>
          <a:lstStyle/>
          <a:p>
            <a:endParaRPr lang="en-US" sz="700" dirty="0"/>
          </a:p>
        </p:txBody>
      </p:sp>
      <p:sp>
        <p:nvSpPr>
          <p:cNvPr id="19" name="Text 12">
            <a:extLst>
              <a:ext uri="{FF2B5EF4-FFF2-40B4-BE49-F238E27FC236}">
                <a16:creationId xmlns:a16="http://schemas.microsoft.com/office/drawing/2014/main" id="{5FE30BF8-A9D8-2A62-B638-FFDCA3CC94A4}"/>
              </a:ext>
            </a:extLst>
          </p:cNvPr>
          <p:cNvSpPr/>
          <p:nvPr/>
        </p:nvSpPr>
        <p:spPr>
          <a:xfrm>
            <a:off x="8715182" y="6876478"/>
            <a:ext cx="313725" cy="219444"/>
          </a:xfrm>
          <a:prstGeom prst="rect">
            <a:avLst/>
          </a:prstGeom>
          <a:noFill/>
          <a:ln/>
        </p:spPr>
        <p:txBody>
          <a:bodyPr wrap="square" rtlCol="0" anchor="ctr"/>
          <a:lstStyle/>
          <a:p>
            <a:pPr algn="r"/>
            <a:r>
              <a:rPr lang="en-US" sz="800" dirty="0">
                <a:solidFill>
                  <a:srgbClr val="64748B"/>
                </a:solidFill>
                <a:latin typeface="맑은 고딕" pitchFamily="34" charset="0"/>
                <a:ea typeface="맑은 고딕" pitchFamily="34" charset="-122"/>
                <a:cs typeface="맑은 고딕" pitchFamily="34" charset="-120"/>
              </a:rPr>
              <a:t>3</a:t>
            </a:r>
            <a:endParaRPr lang="en-US" sz="800" dirty="0"/>
          </a:p>
        </p:txBody>
      </p:sp>
      <p:sp>
        <p:nvSpPr>
          <p:cNvPr id="12" name="직사각형 11">
            <a:extLst>
              <a:ext uri="{FF2B5EF4-FFF2-40B4-BE49-F238E27FC236}">
                <a16:creationId xmlns:a16="http://schemas.microsoft.com/office/drawing/2014/main" id="{C8C09AAB-3FDD-CFBB-16CE-207754BABCEF}"/>
              </a:ext>
            </a:extLst>
          </p:cNvPr>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4" name="직선 연결선 17">
            <a:extLst>
              <a:ext uri="{FF2B5EF4-FFF2-40B4-BE49-F238E27FC236}">
                <a16:creationId xmlns:a16="http://schemas.microsoft.com/office/drawing/2014/main" id="{3C7AFBF9-CA41-074F-BD61-71BEEC39C51D}"/>
              </a:ext>
            </a:extLst>
          </p:cNvPr>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6" name="직선 연결선 22">
            <a:extLst>
              <a:ext uri="{FF2B5EF4-FFF2-40B4-BE49-F238E27FC236}">
                <a16:creationId xmlns:a16="http://schemas.microsoft.com/office/drawing/2014/main" id="{61EC4627-F295-932F-D4F2-E10875549C6E}"/>
              </a:ext>
            </a:extLst>
          </p:cNvPr>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18" name="제목 12">
            <a:extLst>
              <a:ext uri="{FF2B5EF4-FFF2-40B4-BE49-F238E27FC236}">
                <a16:creationId xmlns:a16="http://schemas.microsoft.com/office/drawing/2014/main" id="{0C88C65E-426F-6936-4F3D-649B2D9E81C7}"/>
              </a:ext>
            </a:extLst>
          </p:cNvPr>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None/>
            </a:pPr>
            <a:r>
              <a:rPr lang="en-US" altLang="ko-KR" sz="1700" b="1" dirty="0">
                <a:solidFill>
                  <a:schemeClr val="bg1"/>
                </a:solidFill>
                <a:latin typeface="+mn-ea"/>
                <a:cs typeface="+mj-cs"/>
              </a:rPr>
              <a:t>| </a:t>
            </a:r>
            <a:r>
              <a:rPr lang="ko-KR" altLang="en-US" sz="1700" b="1" dirty="0">
                <a:solidFill>
                  <a:schemeClr val="bg1"/>
                </a:solidFill>
                <a:latin typeface="+mn-ea"/>
                <a:cs typeface="+mj-cs"/>
              </a:rPr>
              <a:t>시장 기술 동향 분석</a:t>
            </a:r>
          </a:p>
        </p:txBody>
      </p:sp>
      <p:pic>
        <p:nvPicPr>
          <p:cNvPr id="20" name="Picture 2">
            <a:extLst>
              <a:ext uri="{FF2B5EF4-FFF2-40B4-BE49-F238E27FC236}">
                <a16:creationId xmlns:a16="http://schemas.microsoft.com/office/drawing/2014/main" id="{5307F05F-AFF6-98BF-D57A-7ADF85ACDA3A}"/>
              </a:ext>
            </a:extLst>
          </p:cNvPr>
          <p:cNvPicPr>
            <a:picLocks noChangeAspect="1" noChangeArrowheads="1"/>
          </p:cNvPicPr>
          <p:nvPr/>
        </p:nvPicPr>
        <p:blipFill>
          <a:blip r:embed="rId3" cstate="print"/>
          <a:srcRect/>
          <a:stretch>
            <a:fillRect/>
          </a:stretch>
        </p:blipFill>
        <p:spPr bwMode="auto">
          <a:xfrm>
            <a:off x="8676456" y="476671"/>
            <a:ext cx="454960" cy="158965"/>
          </a:xfrm>
          <a:prstGeom prst="rect">
            <a:avLst/>
          </a:prstGeom>
          <a:noFill/>
          <a:ln w="9525">
            <a:noFill/>
            <a:miter lim="800000"/>
            <a:headEnd/>
            <a:tailEnd/>
          </a:ln>
        </p:spPr>
      </p:pic>
      <p:pic>
        <p:nvPicPr>
          <p:cNvPr id="21" name="그림 20">
            <a:extLst>
              <a:ext uri="{FF2B5EF4-FFF2-40B4-BE49-F238E27FC236}">
                <a16:creationId xmlns:a16="http://schemas.microsoft.com/office/drawing/2014/main" id="{557121ED-FE51-BF78-C0EB-16086EC830A5}"/>
              </a:ext>
            </a:extLst>
          </p:cNvPr>
          <p:cNvPicPr>
            <a:picLocks noChangeAspect="1"/>
          </p:cNvPicPr>
          <p:nvPr/>
        </p:nvPicPr>
        <p:blipFill>
          <a:blip r:embed="rId4"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Tree>
    <p:extLst>
      <p:ext uri="{BB962C8B-B14F-4D97-AF65-F5344CB8AC3E}">
        <p14:creationId xmlns:p14="http://schemas.microsoft.com/office/powerpoint/2010/main" val="2519725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EEE13-B23E-D892-BA20-DE57798CCF72}"/>
            </a:ext>
          </a:extLst>
        </p:cNvPr>
        <p:cNvGrpSpPr/>
        <p:nvPr/>
      </p:nvGrpSpPr>
      <p:grpSpPr>
        <a:xfrm>
          <a:off x="0" y="0"/>
          <a:ext cx="0" cy="0"/>
          <a:chOff x="0" y="0"/>
          <a:chExt cx="0" cy="0"/>
        </a:xfrm>
      </p:grpSpPr>
      <p:grpSp>
        <p:nvGrpSpPr>
          <p:cNvPr id="4" name="object 4">
            <a:extLst>
              <a:ext uri="{FF2B5EF4-FFF2-40B4-BE49-F238E27FC236}">
                <a16:creationId xmlns:a16="http://schemas.microsoft.com/office/drawing/2014/main" id="{F9C9C9C8-3F15-EE30-9C8B-6752771E5E05}"/>
              </a:ext>
            </a:extLst>
          </p:cNvPr>
          <p:cNvGrpSpPr/>
          <p:nvPr/>
        </p:nvGrpSpPr>
        <p:grpSpPr>
          <a:xfrm>
            <a:off x="611927" y="198213"/>
            <a:ext cx="551680" cy="539192"/>
            <a:chOff x="602469" y="223328"/>
            <a:chExt cx="645160" cy="630555"/>
          </a:xfrm>
        </p:grpSpPr>
        <p:sp>
          <p:nvSpPr>
            <p:cNvPr id="5" name="object 5">
              <a:extLst>
                <a:ext uri="{FF2B5EF4-FFF2-40B4-BE49-F238E27FC236}">
                  <a16:creationId xmlns:a16="http://schemas.microsoft.com/office/drawing/2014/main" id="{71A7A2B1-8395-C778-AA85-3ADB0BA98808}"/>
                </a:ext>
              </a:extLst>
            </p:cNvPr>
            <p:cNvSpPr/>
            <p:nvPr/>
          </p:nvSpPr>
          <p:spPr>
            <a:xfrm>
              <a:off x="615613" y="236472"/>
              <a:ext cx="618490" cy="604520"/>
            </a:xfrm>
            <a:custGeom>
              <a:avLst/>
              <a:gdLst/>
              <a:ahLst/>
              <a:cxnLst/>
              <a:rect l="l" t="t" r="r" b="b"/>
              <a:pathLst>
                <a:path w="618490" h="604519">
                  <a:moveTo>
                    <a:pt x="618285" y="0"/>
                  </a:moveTo>
                  <a:lnTo>
                    <a:pt x="316351" y="0"/>
                  </a:lnTo>
                  <a:lnTo>
                    <a:pt x="312305" y="48997"/>
                  </a:lnTo>
                  <a:lnTo>
                    <a:pt x="300593" y="95477"/>
                  </a:lnTo>
                  <a:lnTo>
                    <a:pt x="281850" y="138818"/>
                  </a:lnTo>
                  <a:lnTo>
                    <a:pt x="256714" y="178398"/>
                  </a:lnTo>
                  <a:lnTo>
                    <a:pt x="225819" y="213595"/>
                  </a:lnTo>
                  <a:lnTo>
                    <a:pt x="189804" y="243787"/>
                  </a:lnTo>
                  <a:lnTo>
                    <a:pt x="149304" y="268353"/>
                  </a:lnTo>
                  <a:lnTo>
                    <a:pt x="104955" y="286669"/>
                  </a:lnTo>
                  <a:lnTo>
                    <a:pt x="57394" y="298115"/>
                  </a:lnTo>
                  <a:lnTo>
                    <a:pt x="3629" y="302049"/>
                  </a:lnTo>
                  <a:lnTo>
                    <a:pt x="0" y="604098"/>
                  </a:lnTo>
                  <a:lnTo>
                    <a:pt x="47769" y="602841"/>
                  </a:lnTo>
                  <a:lnTo>
                    <a:pt x="94577" y="598027"/>
                  </a:lnTo>
                  <a:lnTo>
                    <a:pt x="140284" y="589789"/>
                  </a:lnTo>
                  <a:lnTo>
                    <a:pt x="184754" y="578258"/>
                  </a:lnTo>
                  <a:lnTo>
                    <a:pt x="227850" y="563569"/>
                  </a:lnTo>
                  <a:lnTo>
                    <a:pt x="269433" y="545853"/>
                  </a:lnTo>
                  <a:lnTo>
                    <a:pt x="309366" y="525243"/>
                  </a:lnTo>
                  <a:lnTo>
                    <a:pt x="347512" y="501872"/>
                  </a:lnTo>
                  <a:lnTo>
                    <a:pt x="383734" y="475873"/>
                  </a:lnTo>
                  <a:lnTo>
                    <a:pt x="417893" y="447378"/>
                  </a:lnTo>
                  <a:lnTo>
                    <a:pt x="449853" y="416520"/>
                  </a:lnTo>
                  <a:lnTo>
                    <a:pt x="479476" y="383432"/>
                  </a:lnTo>
                  <a:lnTo>
                    <a:pt x="506625" y="348246"/>
                  </a:lnTo>
                  <a:lnTo>
                    <a:pt x="531162" y="311096"/>
                  </a:lnTo>
                  <a:lnTo>
                    <a:pt x="552949" y="272113"/>
                  </a:lnTo>
                  <a:lnTo>
                    <a:pt x="571850" y="231431"/>
                  </a:lnTo>
                  <a:lnTo>
                    <a:pt x="587727" y="189183"/>
                  </a:lnTo>
                  <a:lnTo>
                    <a:pt x="600442" y="145500"/>
                  </a:lnTo>
                  <a:lnTo>
                    <a:pt x="609857" y="100516"/>
                  </a:lnTo>
                  <a:lnTo>
                    <a:pt x="615837" y="54363"/>
                  </a:lnTo>
                  <a:lnTo>
                    <a:pt x="618285" y="0"/>
                  </a:lnTo>
                  <a:close/>
                </a:path>
              </a:pathLst>
            </a:custGeom>
            <a:solidFill>
              <a:srgbClr val="FFFFFF"/>
            </a:solidFill>
          </p:spPr>
          <p:txBody>
            <a:bodyPr wrap="square" lIns="0" tIns="0" rIns="0" bIns="0" rtlCol="0"/>
            <a:lstStyle/>
            <a:p>
              <a:endParaRPr sz="1634"/>
            </a:p>
          </p:txBody>
        </p:sp>
        <p:sp>
          <p:nvSpPr>
            <p:cNvPr id="6" name="object 6">
              <a:extLst>
                <a:ext uri="{FF2B5EF4-FFF2-40B4-BE49-F238E27FC236}">
                  <a16:creationId xmlns:a16="http://schemas.microsoft.com/office/drawing/2014/main" id="{38C4EE1B-BE19-6329-12C3-F90742731A42}"/>
                </a:ext>
              </a:extLst>
            </p:cNvPr>
            <p:cNvSpPr/>
            <p:nvPr/>
          </p:nvSpPr>
          <p:spPr>
            <a:xfrm>
              <a:off x="615613" y="236472"/>
              <a:ext cx="618490" cy="604520"/>
            </a:xfrm>
            <a:custGeom>
              <a:avLst/>
              <a:gdLst/>
              <a:ahLst/>
              <a:cxnLst/>
              <a:rect l="l" t="t" r="r" b="b"/>
              <a:pathLst>
                <a:path w="618490" h="604519">
                  <a:moveTo>
                    <a:pt x="0" y="604098"/>
                  </a:moveTo>
                  <a:lnTo>
                    <a:pt x="47769" y="602842"/>
                  </a:lnTo>
                  <a:lnTo>
                    <a:pt x="94577" y="598028"/>
                  </a:lnTo>
                  <a:lnTo>
                    <a:pt x="140284" y="589789"/>
                  </a:lnTo>
                  <a:lnTo>
                    <a:pt x="184754" y="578259"/>
                  </a:lnTo>
                  <a:lnTo>
                    <a:pt x="227850" y="563569"/>
                  </a:lnTo>
                  <a:lnTo>
                    <a:pt x="269433" y="545853"/>
                  </a:lnTo>
                  <a:lnTo>
                    <a:pt x="309366" y="525243"/>
                  </a:lnTo>
                  <a:lnTo>
                    <a:pt x="347512" y="501872"/>
                  </a:lnTo>
                  <a:lnTo>
                    <a:pt x="383734" y="475873"/>
                  </a:lnTo>
                  <a:lnTo>
                    <a:pt x="417893" y="447378"/>
                  </a:lnTo>
                  <a:lnTo>
                    <a:pt x="449853" y="416520"/>
                  </a:lnTo>
                  <a:lnTo>
                    <a:pt x="479476" y="383432"/>
                  </a:lnTo>
                  <a:lnTo>
                    <a:pt x="506625" y="348247"/>
                  </a:lnTo>
                  <a:lnTo>
                    <a:pt x="531161" y="311096"/>
                  </a:lnTo>
                  <a:lnTo>
                    <a:pt x="552949" y="272114"/>
                  </a:lnTo>
                  <a:lnTo>
                    <a:pt x="571850" y="231432"/>
                  </a:lnTo>
                  <a:lnTo>
                    <a:pt x="587726" y="189183"/>
                  </a:lnTo>
                  <a:lnTo>
                    <a:pt x="600441" y="145501"/>
                  </a:lnTo>
                  <a:lnTo>
                    <a:pt x="609857" y="100517"/>
                  </a:lnTo>
                  <a:lnTo>
                    <a:pt x="615837" y="54364"/>
                  </a:lnTo>
                  <a:lnTo>
                    <a:pt x="618242" y="7176"/>
                  </a:lnTo>
                  <a:lnTo>
                    <a:pt x="618286" y="2392"/>
                  </a:lnTo>
                  <a:lnTo>
                    <a:pt x="618286" y="0"/>
                  </a:lnTo>
                  <a:lnTo>
                    <a:pt x="316351" y="0"/>
                  </a:lnTo>
                  <a:lnTo>
                    <a:pt x="312305" y="48997"/>
                  </a:lnTo>
                  <a:lnTo>
                    <a:pt x="300593" y="95477"/>
                  </a:lnTo>
                  <a:lnTo>
                    <a:pt x="281850" y="138818"/>
                  </a:lnTo>
                  <a:lnTo>
                    <a:pt x="256714" y="178398"/>
                  </a:lnTo>
                  <a:lnTo>
                    <a:pt x="225819" y="213595"/>
                  </a:lnTo>
                  <a:lnTo>
                    <a:pt x="189804" y="243788"/>
                  </a:lnTo>
                  <a:lnTo>
                    <a:pt x="149304" y="268353"/>
                  </a:lnTo>
                  <a:lnTo>
                    <a:pt x="104955" y="286670"/>
                  </a:lnTo>
                  <a:lnTo>
                    <a:pt x="57394" y="298116"/>
                  </a:lnTo>
                  <a:lnTo>
                    <a:pt x="7258" y="302070"/>
                  </a:lnTo>
                  <a:lnTo>
                    <a:pt x="6048" y="302070"/>
                  </a:lnTo>
                  <a:lnTo>
                    <a:pt x="4838" y="302063"/>
                  </a:lnTo>
                  <a:lnTo>
                    <a:pt x="3629" y="302049"/>
                  </a:lnTo>
                  <a:lnTo>
                    <a:pt x="0" y="604098"/>
                  </a:lnTo>
                  <a:close/>
                </a:path>
              </a:pathLst>
            </a:custGeom>
            <a:ln w="26287">
              <a:solidFill>
                <a:srgbClr val="FFFFFF"/>
              </a:solidFill>
            </a:ln>
          </p:spPr>
          <p:txBody>
            <a:bodyPr wrap="square" lIns="0" tIns="0" rIns="0" bIns="0" rtlCol="0"/>
            <a:lstStyle/>
            <a:p>
              <a:endParaRPr sz="1634"/>
            </a:p>
          </p:txBody>
        </p:sp>
      </p:grpSp>
      <p:sp>
        <p:nvSpPr>
          <p:cNvPr id="39" name="Shape 8">
            <a:extLst>
              <a:ext uri="{FF2B5EF4-FFF2-40B4-BE49-F238E27FC236}">
                <a16:creationId xmlns:a16="http://schemas.microsoft.com/office/drawing/2014/main" id="{81EAA988-C314-1127-F339-59CD18876F09}"/>
              </a:ext>
            </a:extLst>
          </p:cNvPr>
          <p:cNvSpPr/>
          <p:nvPr/>
        </p:nvSpPr>
        <p:spPr>
          <a:xfrm>
            <a:off x="612650" y="1633336"/>
            <a:ext cx="73148" cy="173727"/>
          </a:xfrm>
          <a:prstGeom prst="rect">
            <a:avLst/>
          </a:prstGeom>
          <a:solidFill>
            <a:srgbClr val="3B5BA7"/>
          </a:solidFill>
          <a:ln/>
        </p:spPr>
        <p:txBody>
          <a:bodyPr/>
          <a:lstStyle/>
          <a:p>
            <a:endParaRPr lang="ko-KR" altLang="en-US" sz="1634"/>
          </a:p>
        </p:txBody>
      </p:sp>
      <p:sp>
        <p:nvSpPr>
          <p:cNvPr id="41" name="Text 9">
            <a:extLst>
              <a:ext uri="{FF2B5EF4-FFF2-40B4-BE49-F238E27FC236}">
                <a16:creationId xmlns:a16="http://schemas.microsoft.com/office/drawing/2014/main" id="{EC5558AF-ADE9-EE46-F8F7-C8692EF9266C}"/>
              </a:ext>
            </a:extLst>
          </p:cNvPr>
          <p:cNvSpPr/>
          <p:nvPr/>
        </p:nvSpPr>
        <p:spPr>
          <a:xfrm>
            <a:off x="758946" y="1610477"/>
            <a:ext cx="6400464" cy="219444"/>
          </a:xfrm>
          <a:prstGeom prst="rect">
            <a:avLst/>
          </a:prstGeom>
          <a:noFill/>
          <a:ln/>
        </p:spPr>
        <p:txBody>
          <a:bodyPr wrap="square" rtlCol="0" anchor="ctr"/>
          <a:lstStyle/>
          <a:p>
            <a:r>
              <a:rPr lang="en-US" sz="1150" b="1" dirty="0">
                <a:solidFill>
                  <a:srgbClr val="1E293B"/>
                </a:solidFill>
                <a:latin typeface="맑은 고딕" pitchFamily="34" charset="0"/>
                <a:ea typeface="맑은 고딕" pitchFamily="34" charset="-122"/>
                <a:cs typeface="맑은 고딕" pitchFamily="34" charset="-120"/>
              </a:rPr>
              <a:t>설문 개요</a:t>
            </a:r>
            <a:endParaRPr lang="en-US" sz="1150" dirty="0"/>
          </a:p>
        </p:txBody>
      </p:sp>
      <p:graphicFrame>
        <p:nvGraphicFramePr>
          <p:cNvPr id="43" name="Table 0">
            <a:extLst>
              <a:ext uri="{FF2B5EF4-FFF2-40B4-BE49-F238E27FC236}">
                <a16:creationId xmlns:a16="http://schemas.microsoft.com/office/drawing/2014/main" id="{1A42C372-7C1C-28A6-A1AE-3D8A1CE73B45}"/>
              </a:ext>
            </a:extLst>
          </p:cNvPr>
          <p:cNvGraphicFramePr>
            <a:graphicFrameLocks noGrp="1"/>
          </p:cNvGraphicFramePr>
          <p:nvPr/>
        </p:nvGraphicFramePr>
        <p:xfrm>
          <a:off x="612649" y="1907642"/>
          <a:ext cx="3931714" cy="1743364"/>
        </p:xfrm>
        <a:graphic>
          <a:graphicData uri="http://schemas.openxmlformats.org/drawingml/2006/table">
            <a:tbl>
              <a:tblPr/>
              <a:tblGrid>
                <a:gridCol w="1005787">
                  <a:extLst>
                    <a:ext uri="{9D8B030D-6E8A-4147-A177-3AD203B41FA5}">
                      <a16:colId xmlns:a16="http://schemas.microsoft.com/office/drawing/2014/main" val="20000"/>
                    </a:ext>
                  </a:extLst>
                </a:gridCol>
                <a:gridCol w="2925927">
                  <a:extLst>
                    <a:ext uri="{9D8B030D-6E8A-4147-A177-3AD203B41FA5}">
                      <a16:colId xmlns:a16="http://schemas.microsoft.com/office/drawing/2014/main" val="20001"/>
                    </a:ext>
                  </a:extLst>
                </a:gridCol>
              </a:tblGrid>
              <a:tr h="347454">
                <a:tc>
                  <a:txBody>
                    <a:bodyPr/>
                    <a:lstStyle/>
                    <a:p>
                      <a:pPr marL="0" indent="0">
                        <a:buNone/>
                      </a:pPr>
                      <a:r>
                        <a:rPr lang="en-US" sz="800" b="1" dirty="0">
                          <a:solidFill>
                            <a:srgbClr val="000000"/>
                          </a:solidFill>
                          <a:latin typeface="맑은 고딕" pitchFamily="34" charset="0"/>
                          <a:ea typeface="맑은 고딕" pitchFamily="34" charset="-122"/>
                          <a:cs typeface="맑은 고딕" pitchFamily="34" charset="-120"/>
                        </a:rPr>
                        <a:t>설문 이름</a:t>
                      </a:r>
                      <a:endParaRPr lang="en-US" sz="800" dirty="0">
                        <a:latin typeface="맑은 고딕" charset="0"/>
                        <a:ea typeface="맑은 고딕" charset="0"/>
                        <a:cs typeface="맑은 고딕" charset="0"/>
                      </a:endParaRPr>
                    </a:p>
                  </a:txBody>
                  <a:tcPr marL="91435" marR="91435" marT="45718" marB="45718"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배터리 열폭주 사고 인식 및 모니터링 실태 조사</a:t>
                      </a:r>
                      <a:endParaRPr lang="en-US" sz="800" dirty="0">
                        <a:latin typeface="맑은 고딕" charset="0"/>
                        <a:ea typeface="맑은 고딕" charset="0"/>
                        <a:cs typeface="맑은 고딕" charset="0"/>
                      </a:endParaRPr>
                    </a:p>
                  </a:txBody>
                  <a:tcPr marL="91435" marR="91435" marT="45718" marB="45718"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0"/>
                  </a:ext>
                </a:extLst>
              </a:tr>
              <a:tr h="347454">
                <a:tc>
                  <a:txBody>
                    <a:bodyPr/>
                    <a:lstStyle/>
                    <a:p>
                      <a:pPr marL="0" indent="0">
                        <a:buNone/>
                      </a:pPr>
                      <a:r>
                        <a:rPr lang="en-US" sz="800" b="1" dirty="0">
                          <a:solidFill>
                            <a:srgbClr val="000000"/>
                          </a:solidFill>
                          <a:latin typeface="맑은 고딕" pitchFamily="34" charset="0"/>
                          <a:ea typeface="맑은 고딕" pitchFamily="34" charset="-122"/>
                          <a:cs typeface="맑은 고딕" pitchFamily="34" charset="-120"/>
                        </a:rPr>
                        <a:t>시행 기간</a:t>
                      </a:r>
                      <a:endParaRPr lang="en-US" sz="800" dirty="0">
                        <a:latin typeface="맑은 고딕" charset="0"/>
                        <a:ea typeface="맑은 고딕" charset="0"/>
                        <a:cs typeface="맑은 고딕" charset="0"/>
                      </a:endParaRPr>
                    </a:p>
                  </a:txBody>
                  <a:tcPr marL="91435" marR="91435" marT="45718" marB="45718"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2026년 6월 15일 ~ 6월 28일</a:t>
                      </a:r>
                      <a:endParaRPr lang="en-US" sz="800" dirty="0">
                        <a:latin typeface="맑은 고딕" charset="0"/>
                        <a:ea typeface="맑은 고딕" charset="0"/>
                        <a:cs typeface="맑은 고딕" charset="0"/>
                      </a:endParaRPr>
                    </a:p>
                  </a:txBody>
                  <a:tcPr marL="91435" marR="91435" marT="45718" marB="45718"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1"/>
                  </a:ext>
                </a:extLst>
              </a:tr>
              <a:tr h="347454">
                <a:tc>
                  <a:txBody>
                    <a:bodyPr/>
                    <a:lstStyle/>
                    <a:p>
                      <a:pPr marL="0" indent="0">
                        <a:buNone/>
                      </a:pPr>
                      <a:r>
                        <a:rPr lang="en-US" sz="800" b="1" dirty="0">
                          <a:solidFill>
                            <a:srgbClr val="000000"/>
                          </a:solidFill>
                          <a:latin typeface="맑은 고딕" pitchFamily="34" charset="0"/>
                          <a:ea typeface="맑은 고딕" pitchFamily="34" charset="-122"/>
                          <a:cs typeface="맑은 고딕" pitchFamily="34" charset="-120"/>
                        </a:rPr>
                        <a:t>응답 인원</a:t>
                      </a:r>
                      <a:endParaRPr lang="en-US" sz="800" dirty="0">
                        <a:latin typeface="맑은 고딕" charset="0"/>
                        <a:ea typeface="맑은 고딕" charset="0"/>
                        <a:cs typeface="맑은 고딕" charset="0"/>
                      </a:endParaRPr>
                    </a:p>
                  </a:txBody>
                  <a:tcPr marL="91435" marR="91435" marT="45718" marB="45718"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76명</a:t>
                      </a:r>
                      <a:endParaRPr lang="en-US" sz="800" dirty="0">
                        <a:latin typeface="맑은 고딕" charset="0"/>
                        <a:ea typeface="맑은 고딕" charset="0"/>
                        <a:cs typeface="맑은 고딕" charset="0"/>
                      </a:endParaRPr>
                    </a:p>
                  </a:txBody>
                  <a:tcPr marL="91435" marR="91435" marT="45718" marB="45718"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2"/>
                  </a:ext>
                </a:extLst>
              </a:tr>
              <a:tr h="350501">
                <a:tc>
                  <a:txBody>
                    <a:bodyPr/>
                    <a:lstStyle/>
                    <a:p>
                      <a:pPr marL="0" indent="0">
                        <a:buNone/>
                      </a:pPr>
                      <a:r>
                        <a:rPr lang="en-US" sz="800" b="1" dirty="0">
                          <a:solidFill>
                            <a:srgbClr val="000000"/>
                          </a:solidFill>
                          <a:latin typeface="맑은 고딕" pitchFamily="34" charset="0"/>
                          <a:ea typeface="맑은 고딕" pitchFamily="34" charset="-122"/>
                          <a:cs typeface="맑은 고딕" pitchFamily="34" charset="-120"/>
                        </a:rPr>
                        <a:t>표본 집단</a:t>
                      </a:r>
                      <a:endParaRPr lang="en-US" sz="800" dirty="0">
                        <a:latin typeface="맑은 고딕" charset="0"/>
                        <a:ea typeface="맑은 고딕" charset="0"/>
                        <a:cs typeface="맑은 고딕" charset="0"/>
                      </a:endParaRPr>
                    </a:p>
                  </a:txBody>
                  <a:tcPr marL="91435" marR="91435" marT="45718" marB="45718"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배터리 실험 연구자, 물류/제조 현장 안전관리자, 대학생·일반 직장인 등 비전문 일반 사용자</a:t>
                      </a:r>
                      <a:endParaRPr lang="en-US" sz="800" dirty="0">
                        <a:latin typeface="맑은 고딕" charset="0"/>
                        <a:ea typeface="맑은 고딕" charset="0"/>
                        <a:cs typeface="맑은 고딕" charset="0"/>
                      </a:endParaRPr>
                    </a:p>
                  </a:txBody>
                  <a:tcPr marL="91435" marR="91435" marT="45718" marB="45718"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3"/>
                  </a:ext>
                </a:extLst>
              </a:tr>
              <a:tr h="350501">
                <a:tc>
                  <a:txBody>
                    <a:bodyPr/>
                    <a:lstStyle/>
                    <a:p>
                      <a:pPr marL="0" indent="0">
                        <a:buNone/>
                      </a:pPr>
                      <a:r>
                        <a:rPr lang="en-US" sz="800" b="1" dirty="0">
                          <a:solidFill>
                            <a:srgbClr val="000000"/>
                          </a:solidFill>
                          <a:latin typeface="맑은 고딕" pitchFamily="34" charset="0"/>
                          <a:ea typeface="맑은 고딕" pitchFamily="34" charset="-122"/>
                          <a:cs typeface="맑은 고딕" pitchFamily="34" charset="-120"/>
                        </a:rPr>
                        <a:t>설문 도구</a:t>
                      </a:r>
                      <a:endParaRPr lang="en-US" sz="800" dirty="0">
                        <a:latin typeface="맑은 고딕" charset="0"/>
                        <a:ea typeface="맑은 고딕" charset="0"/>
                        <a:cs typeface="맑은 고딕" charset="0"/>
                      </a:endParaRPr>
                    </a:p>
                  </a:txBody>
                  <a:tcPr marL="91435" marR="91435" marT="45718" marB="45718"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Google 설문지, 학과 커뮤니티 및 산업안전·일반 커뮤니티 공유</a:t>
                      </a:r>
                      <a:endParaRPr lang="en-US" sz="800" dirty="0">
                        <a:latin typeface="맑은 고딕" charset="0"/>
                        <a:ea typeface="맑은 고딕" charset="0"/>
                        <a:cs typeface="맑은 고딕" charset="0"/>
                      </a:endParaRPr>
                    </a:p>
                  </a:txBody>
                  <a:tcPr marL="91435" marR="91435" marT="45718" marB="45718"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5" name="Shape 10">
            <a:extLst>
              <a:ext uri="{FF2B5EF4-FFF2-40B4-BE49-F238E27FC236}">
                <a16:creationId xmlns:a16="http://schemas.microsoft.com/office/drawing/2014/main" id="{A6003D00-ED1E-7201-65D8-DD015C000C68}"/>
              </a:ext>
            </a:extLst>
          </p:cNvPr>
          <p:cNvSpPr/>
          <p:nvPr/>
        </p:nvSpPr>
        <p:spPr>
          <a:xfrm>
            <a:off x="612650" y="4045168"/>
            <a:ext cx="73148" cy="173727"/>
          </a:xfrm>
          <a:prstGeom prst="rect">
            <a:avLst/>
          </a:prstGeom>
          <a:solidFill>
            <a:srgbClr val="3B5BA7"/>
          </a:solidFill>
          <a:ln/>
        </p:spPr>
        <p:txBody>
          <a:bodyPr/>
          <a:lstStyle/>
          <a:p>
            <a:endParaRPr lang="ko-KR" altLang="en-US" sz="1634"/>
          </a:p>
        </p:txBody>
      </p:sp>
      <p:sp>
        <p:nvSpPr>
          <p:cNvPr id="47" name="Text 11">
            <a:extLst>
              <a:ext uri="{FF2B5EF4-FFF2-40B4-BE49-F238E27FC236}">
                <a16:creationId xmlns:a16="http://schemas.microsoft.com/office/drawing/2014/main" id="{D9876753-C2C9-5552-5049-29146552F2C6}"/>
              </a:ext>
            </a:extLst>
          </p:cNvPr>
          <p:cNvSpPr/>
          <p:nvPr/>
        </p:nvSpPr>
        <p:spPr>
          <a:xfrm>
            <a:off x="758946" y="4022308"/>
            <a:ext cx="6400464" cy="219444"/>
          </a:xfrm>
          <a:prstGeom prst="rect">
            <a:avLst/>
          </a:prstGeom>
          <a:noFill/>
          <a:ln/>
        </p:spPr>
        <p:txBody>
          <a:bodyPr wrap="square" rtlCol="0" anchor="ctr"/>
          <a:lstStyle/>
          <a:p>
            <a:r>
              <a:rPr lang="en-US" sz="1150" b="1" dirty="0">
                <a:solidFill>
                  <a:srgbClr val="1E293B"/>
                </a:solidFill>
                <a:latin typeface="맑은 고딕" pitchFamily="34" charset="0"/>
                <a:ea typeface="맑은 고딕" pitchFamily="34" charset="-122"/>
                <a:cs typeface="맑은 고딕" pitchFamily="34" charset="-120"/>
              </a:rPr>
              <a:t>기존 배터리 모니터링 방식의 문제점 (복수응답)</a:t>
            </a:r>
            <a:endParaRPr lang="en-US" sz="1150" dirty="0"/>
          </a:p>
        </p:txBody>
      </p:sp>
      <p:graphicFrame>
        <p:nvGraphicFramePr>
          <p:cNvPr id="49" name="Chart 0">
            <a:extLst>
              <a:ext uri="{FF2B5EF4-FFF2-40B4-BE49-F238E27FC236}">
                <a16:creationId xmlns:a16="http://schemas.microsoft.com/office/drawing/2014/main" id="{0DA75060-8F66-B251-EB08-777CBB9659C0}"/>
              </a:ext>
            </a:extLst>
          </p:cNvPr>
          <p:cNvGraphicFramePr/>
          <p:nvPr/>
        </p:nvGraphicFramePr>
        <p:xfrm>
          <a:off x="612650" y="4319472"/>
          <a:ext cx="3931713" cy="1645834"/>
        </p:xfrm>
        <a:graphic>
          <a:graphicData uri="http://schemas.openxmlformats.org/drawingml/2006/chart">
            <c:chart xmlns:c="http://schemas.openxmlformats.org/drawingml/2006/chart" xmlns:r="http://schemas.openxmlformats.org/officeDocument/2006/relationships" r:id="rId3"/>
          </a:graphicData>
        </a:graphic>
      </p:graphicFrame>
      <p:sp>
        <p:nvSpPr>
          <p:cNvPr id="51" name="Shape 12">
            <a:extLst>
              <a:ext uri="{FF2B5EF4-FFF2-40B4-BE49-F238E27FC236}">
                <a16:creationId xmlns:a16="http://schemas.microsoft.com/office/drawing/2014/main" id="{1459A688-1305-5CB4-C887-621C0DF97E65}"/>
              </a:ext>
            </a:extLst>
          </p:cNvPr>
          <p:cNvSpPr/>
          <p:nvPr/>
        </p:nvSpPr>
        <p:spPr>
          <a:xfrm>
            <a:off x="4772951" y="1633336"/>
            <a:ext cx="73148" cy="173727"/>
          </a:xfrm>
          <a:prstGeom prst="rect">
            <a:avLst/>
          </a:prstGeom>
          <a:solidFill>
            <a:srgbClr val="3B5BA7"/>
          </a:solidFill>
          <a:ln/>
        </p:spPr>
        <p:txBody>
          <a:bodyPr/>
          <a:lstStyle/>
          <a:p>
            <a:endParaRPr lang="ko-KR" altLang="en-US" sz="1634"/>
          </a:p>
        </p:txBody>
      </p:sp>
      <p:sp>
        <p:nvSpPr>
          <p:cNvPr id="53" name="Text 13">
            <a:extLst>
              <a:ext uri="{FF2B5EF4-FFF2-40B4-BE49-F238E27FC236}">
                <a16:creationId xmlns:a16="http://schemas.microsoft.com/office/drawing/2014/main" id="{3D28624A-16AA-0D45-85DF-E697C509A3A6}"/>
              </a:ext>
            </a:extLst>
          </p:cNvPr>
          <p:cNvSpPr/>
          <p:nvPr/>
        </p:nvSpPr>
        <p:spPr>
          <a:xfrm>
            <a:off x="4919247" y="1610477"/>
            <a:ext cx="6400464" cy="219444"/>
          </a:xfrm>
          <a:prstGeom prst="rect">
            <a:avLst/>
          </a:prstGeom>
          <a:noFill/>
          <a:ln/>
        </p:spPr>
        <p:txBody>
          <a:bodyPr wrap="square" rtlCol="0" anchor="ctr"/>
          <a:lstStyle/>
          <a:p>
            <a:r>
              <a:rPr lang="en-US" sz="1150" b="1" dirty="0">
                <a:solidFill>
                  <a:srgbClr val="1E293B"/>
                </a:solidFill>
                <a:latin typeface="맑은 고딕" pitchFamily="34" charset="0"/>
                <a:ea typeface="맑은 고딕" pitchFamily="34" charset="-122"/>
                <a:cs typeface="맑은 고딕" pitchFamily="34" charset="-120"/>
              </a:rPr>
              <a:t>열폭주 조기경보 시스템 필요성 인식</a:t>
            </a:r>
            <a:endParaRPr lang="en-US" sz="1150" dirty="0"/>
          </a:p>
        </p:txBody>
      </p:sp>
      <p:graphicFrame>
        <p:nvGraphicFramePr>
          <p:cNvPr id="55" name="Chart 1">
            <a:extLst>
              <a:ext uri="{FF2B5EF4-FFF2-40B4-BE49-F238E27FC236}">
                <a16:creationId xmlns:a16="http://schemas.microsoft.com/office/drawing/2014/main" id="{DA1A53CE-C4FF-97F2-F156-882E261F54D5}"/>
              </a:ext>
            </a:extLst>
          </p:cNvPr>
          <p:cNvGraphicFramePr/>
          <p:nvPr/>
        </p:nvGraphicFramePr>
        <p:xfrm>
          <a:off x="4772951" y="1889355"/>
          <a:ext cx="2103010" cy="1691551"/>
        </p:xfrm>
        <a:graphic>
          <a:graphicData uri="http://schemas.openxmlformats.org/drawingml/2006/chart">
            <c:chart xmlns:c="http://schemas.openxmlformats.org/drawingml/2006/chart" xmlns:r="http://schemas.openxmlformats.org/officeDocument/2006/relationships" r:id="rId4"/>
          </a:graphicData>
        </a:graphic>
      </p:graphicFrame>
      <p:sp>
        <p:nvSpPr>
          <p:cNvPr id="57" name="Text 14">
            <a:extLst>
              <a:ext uri="{FF2B5EF4-FFF2-40B4-BE49-F238E27FC236}">
                <a16:creationId xmlns:a16="http://schemas.microsoft.com/office/drawing/2014/main" id="{1EA27E72-FE19-54EB-04AB-0A56D41B8365}"/>
              </a:ext>
            </a:extLst>
          </p:cNvPr>
          <p:cNvSpPr/>
          <p:nvPr/>
        </p:nvSpPr>
        <p:spPr>
          <a:xfrm>
            <a:off x="7013114" y="2044794"/>
            <a:ext cx="1587626" cy="1462963"/>
          </a:xfrm>
          <a:prstGeom prst="rect">
            <a:avLst/>
          </a:prstGeom>
          <a:noFill/>
          <a:ln/>
        </p:spPr>
        <p:txBody>
          <a:bodyPr wrap="square" rtlCol="0" anchor="t"/>
          <a:lstStyle/>
          <a:p>
            <a:r>
              <a:rPr lang="en-US" sz="2000" b="1" dirty="0">
                <a:solidFill>
                  <a:srgbClr val="3B5BA7"/>
                </a:solidFill>
                <a:latin typeface="맑은 고딕" pitchFamily="34" charset="0"/>
                <a:ea typeface="맑은 고딕" pitchFamily="34" charset="-122"/>
                <a:cs typeface="맑은 고딕" pitchFamily="34" charset="-120"/>
              </a:rPr>
              <a:t>78%</a:t>
            </a:r>
            <a:endParaRPr lang="en-US" sz="2000" dirty="0"/>
          </a:p>
          <a:p>
            <a:r>
              <a:rPr lang="en-US" sz="750" dirty="0">
                <a:solidFill>
                  <a:srgbClr val="1E293B"/>
                </a:solidFill>
                <a:latin typeface="맑은 고딕" pitchFamily="34" charset="0"/>
                <a:ea typeface="맑은 고딕" pitchFamily="34" charset="-122"/>
                <a:cs typeface="맑은 고딕" pitchFamily="34" charset="-120"/>
              </a:rPr>
              <a:t>가 조기경보 시스템이 ‘매우 필요/필요’하다고 응답</a:t>
            </a:r>
            <a:endParaRPr lang="en-US" sz="2000" dirty="0"/>
          </a:p>
        </p:txBody>
      </p:sp>
      <p:sp>
        <p:nvSpPr>
          <p:cNvPr id="59" name="Shape 15">
            <a:extLst>
              <a:ext uri="{FF2B5EF4-FFF2-40B4-BE49-F238E27FC236}">
                <a16:creationId xmlns:a16="http://schemas.microsoft.com/office/drawing/2014/main" id="{16F80E68-C9A7-DB72-2203-4E11C4C946C2}"/>
              </a:ext>
            </a:extLst>
          </p:cNvPr>
          <p:cNvSpPr/>
          <p:nvPr/>
        </p:nvSpPr>
        <p:spPr>
          <a:xfrm>
            <a:off x="4772951" y="4136603"/>
            <a:ext cx="73148" cy="173727"/>
          </a:xfrm>
          <a:prstGeom prst="rect">
            <a:avLst/>
          </a:prstGeom>
          <a:solidFill>
            <a:srgbClr val="3B5BA7"/>
          </a:solidFill>
          <a:ln/>
        </p:spPr>
        <p:txBody>
          <a:bodyPr/>
          <a:lstStyle/>
          <a:p>
            <a:endParaRPr lang="ko-KR" altLang="en-US" sz="1634"/>
          </a:p>
        </p:txBody>
      </p:sp>
      <p:sp>
        <p:nvSpPr>
          <p:cNvPr id="61" name="Text 16">
            <a:extLst>
              <a:ext uri="{FF2B5EF4-FFF2-40B4-BE49-F238E27FC236}">
                <a16:creationId xmlns:a16="http://schemas.microsoft.com/office/drawing/2014/main" id="{5DF6B4BF-88BD-25BB-548C-61C400A57AE3}"/>
              </a:ext>
            </a:extLst>
          </p:cNvPr>
          <p:cNvSpPr/>
          <p:nvPr/>
        </p:nvSpPr>
        <p:spPr>
          <a:xfrm>
            <a:off x="4919247" y="4113743"/>
            <a:ext cx="6400464" cy="219444"/>
          </a:xfrm>
          <a:prstGeom prst="rect">
            <a:avLst/>
          </a:prstGeom>
          <a:noFill/>
          <a:ln/>
        </p:spPr>
        <p:txBody>
          <a:bodyPr wrap="square" rtlCol="0" anchor="ctr"/>
          <a:lstStyle/>
          <a:p>
            <a:r>
              <a:rPr lang="en-US" sz="1150" b="1" dirty="0">
                <a:solidFill>
                  <a:srgbClr val="1E293B"/>
                </a:solidFill>
                <a:latin typeface="맑은 고딕" pitchFamily="34" charset="0"/>
                <a:ea typeface="맑은 고딕" pitchFamily="34" charset="-122"/>
                <a:cs typeface="맑은 고딕" pitchFamily="34" charset="-120"/>
              </a:rPr>
              <a:t>가장 원하는 기능 (1순위 기준)</a:t>
            </a:r>
            <a:endParaRPr lang="en-US" sz="1150" dirty="0"/>
          </a:p>
        </p:txBody>
      </p:sp>
      <p:graphicFrame>
        <p:nvGraphicFramePr>
          <p:cNvPr id="63" name="Chart 2">
            <a:extLst>
              <a:ext uri="{FF2B5EF4-FFF2-40B4-BE49-F238E27FC236}">
                <a16:creationId xmlns:a16="http://schemas.microsoft.com/office/drawing/2014/main" id="{163029DE-49AA-24D0-A215-7EC514AFDA2C}"/>
              </a:ext>
            </a:extLst>
          </p:cNvPr>
          <p:cNvGraphicFramePr/>
          <p:nvPr/>
        </p:nvGraphicFramePr>
        <p:xfrm>
          <a:off x="4772951" y="4392621"/>
          <a:ext cx="2103010" cy="1600116"/>
        </p:xfrm>
        <a:graphic>
          <a:graphicData uri="http://schemas.openxmlformats.org/drawingml/2006/chart">
            <c:chart xmlns:c="http://schemas.openxmlformats.org/drawingml/2006/chart" xmlns:r="http://schemas.openxmlformats.org/officeDocument/2006/relationships" r:id="rId5"/>
          </a:graphicData>
        </a:graphic>
      </p:graphicFrame>
      <p:sp>
        <p:nvSpPr>
          <p:cNvPr id="65" name="Shape 17">
            <a:extLst>
              <a:ext uri="{FF2B5EF4-FFF2-40B4-BE49-F238E27FC236}">
                <a16:creationId xmlns:a16="http://schemas.microsoft.com/office/drawing/2014/main" id="{C9FFF670-C569-F10E-68BA-7C291ADE52C8}"/>
              </a:ext>
            </a:extLst>
          </p:cNvPr>
          <p:cNvSpPr/>
          <p:nvPr/>
        </p:nvSpPr>
        <p:spPr>
          <a:xfrm>
            <a:off x="7013114" y="4456625"/>
            <a:ext cx="1587626" cy="1508681"/>
          </a:xfrm>
          <a:prstGeom prst="roundRect">
            <a:avLst>
              <a:gd name="adj" fmla="val 3636"/>
            </a:avLst>
          </a:prstGeom>
          <a:solidFill>
            <a:srgbClr val="F6F6F5"/>
          </a:solidFill>
          <a:ln/>
          <a:effectLst>
            <a:outerShdw blurRad="50800" dist="19050" dir="2700000" algn="bl" rotWithShape="0">
              <a:srgbClr val="000000">
                <a:alpha val="10000"/>
              </a:srgbClr>
            </a:outerShdw>
          </a:effectLst>
        </p:spPr>
        <p:txBody>
          <a:bodyPr/>
          <a:lstStyle/>
          <a:p>
            <a:endParaRPr lang="ko-KR" altLang="en-US" sz="1634"/>
          </a:p>
        </p:txBody>
      </p:sp>
      <p:sp>
        <p:nvSpPr>
          <p:cNvPr id="67" name="Text 18">
            <a:extLst>
              <a:ext uri="{FF2B5EF4-FFF2-40B4-BE49-F238E27FC236}">
                <a16:creationId xmlns:a16="http://schemas.microsoft.com/office/drawing/2014/main" id="{4B25B3E9-AF38-E516-8F71-274DBFF76759}"/>
              </a:ext>
            </a:extLst>
          </p:cNvPr>
          <p:cNvSpPr/>
          <p:nvPr/>
        </p:nvSpPr>
        <p:spPr>
          <a:xfrm>
            <a:off x="7013114" y="4479484"/>
            <a:ext cx="1587626" cy="1600116"/>
          </a:xfrm>
          <a:prstGeom prst="rect">
            <a:avLst/>
          </a:prstGeom>
          <a:noFill/>
          <a:ln/>
        </p:spPr>
        <p:txBody>
          <a:bodyPr wrap="square" rtlCol="0" anchor="t"/>
          <a:lstStyle/>
          <a:p>
            <a:r>
              <a:rPr lang="en-US" sz="700" dirty="0">
                <a:solidFill>
                  <a:srgbClr val="1E293B"/>
                </a:solidFill>
                <a:latin typeface="맑은 고딕" pitchFamily="34" charset="0"/>
                <a:ea typeface="맑은 고딕" pitchFamily="34" charset="-122"/>
                <a:cs typeface="맑은 고딕" pitchFamily="34" charset="-120"/>
              </a:rPr>
              <a:t>일반 사용자 포함 후에도 AI 사전 예측 기능 선호가 39%로 1위 — 예방 중심 기능 수요가 전문직·일반인 모두에서 확인됨</a:t>
            </a:r>
            <a:endParaRPr lang="en-US" sz="700" dirty="0"/>
          </a:p>
        </p:txBody>
      </p:sp>
      <p:sp>
        <p:nvSpPr>
          <p:cNvPr id="10" name="직사각형 9">
            <a:extLst>
              <a:ext uri="{FF2B5EF4-FFF2-40B4-BE49-F238E27FC236}">
                <a16:creationId xmlns:a16="http://schemas.microsoft.com/office/drawing/2014/main" id="{213931F7-2F3A-D7FF-34F1-B0C9E4A8278B}"/>
              </a:ext>
            </a:extLst>
          </p:cNvPr>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1" name="직선 연결선 17">
            <a:extLst>
              <a:ext uri="{FF2B5EF4-FFF2-40B4-BE49-F238E27FC236}">
                <a16:creationId xmlns:a16="http://schemas.microsoft.com/office/drawing/2014/main" id="{F131E176-114E-E5BA-7B12-1FFB48B08C31}"/>
              </a:ext>
            </a:extLst>
          </p:cNvPr>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2" name="직선 연결선 22">
            <a:extLst>
              <a:ext uri="{FF2B5EF4-FFF2-40B4-BE49-F238E27FC236}">
                <a16:creationId xmlns:a16="http://schemas.microsoft.com/office/drawing/2014/main" id="{AB2BA1EE-EB2D-362C-218F-4017913609AC}"/>
              </a:ext>
            </a:extLst>
          </p:cNvPr>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13" name="제목 12">
            <a:extLst>
              <a:ext uri="{FF2B5EF4-FFF2-40B4-BE49-F238E27FC236}">
                <a16:creationId xmlns:a16="http://schemas.microsoft.com/office/drawing/2014/main" id="{E75035B1-7128-F94C-EFCF-167751E6F05D}"/>
              </a:ext>
            </a:extLst>
          </p:cNvPr>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None/>
            </a:pPr>
            <a:r>
              <a:rPr lang="en-US" altLang="ko-KR" sz="1700" b="1" dirty="0">
                <a:solidFill>
                  <a:schemeClr val="bg1"/>
                </a:solidFill>
                <a:latin typeface="+mn-ea"/>
                <a:cs typeface="+mj-cs"/>
              </a:rPr>
              <a:t>| </a:t>
            </a:r>
            <a:r>
              <a:rPr lang="ko-KR" altLang="en-US" sz="1700" b="1" dirty="0">
                <a:solidFill>
                  <a:schemeClr val="bg1"/>
                </a:solidFill>
                <a:latin typeface="+mn-ea"/>
                <a:cs typeface="+mj-cs"/>
              </a:rPr>
              <a:t>설문조사 분석</a:t>
            </a:r>
          </a:p>
        </p:txBody>
      </p:sp>
      <p:pic>
        <p:nvPicPr>
          <p:cNvPr id="14" name="Picture 2">
            <a:extLst>
              <a:ext uri="{FF2B5EF4-FFF2-40B4-BE49-F238E27FC236}">
                <a16:creationId xmlns:a16="http://schemas.microsoft.com/office/drawing/2014/main" id="{E811BE2E-494C-30B6-183A-9F8F82B4692C}"/>
              </a:ext>
            </a:extLst>
          </p:cNvPr>
          <p:cNvPicPr>
            <a:picLocks noChangeAspect="1" noChangeArrowheads="1"/>
          </p:cNvPicPr>
          <p:nvPr/>
        </p:nvPicPr>
        <p:blipFill>
          <a:blip r:embed="rId6" cstate="print"/>
          <a:srcRect/>
          <a:stretch>
            <a:fillRect/>
          </a:stretch>
        </p:blipFill>
        <p:spPr bwMode="auto">
          <a:xfrm>
            <a:off x="8676456" y="476671"/>
            <a:ext cx="454960" cy="158965"/>
          </a:xfrm>
          <a:prstGeom prst="rect">
            <a:avLst/>
          </a:prstGeom>
          <a:noFill/>
          <a:ln w="9525">
            <a:noFill/>
            <a:miter lim="800000"/>
            <a:headEnd/>
            <a:tailEnd/>
          </a:ln>
        </p:spPr>
      </p:pic>
      <p:pic>
        <p:nvPicPr>
          <p:cNvPr id="15" name="그림 14">
            <a:extLst>
              <a:ext uri="{FF2B5EF4-FFF2-40B4-BE49-F238E27FC236}">
                <a16:creationId xmlns:a16="http://schemas.microsoft.com/office/drawing/2014/main" id="{92BF72A2-510F-EA3B-C6FE-9A4771B89C00}"/>
              </a:ext>
            </a:extLst>
          </p:cNvPr>
          <p:cNvPicPr>
            <a:picLocks noChangeAspect="1"/>
          </p:cNvPicPr>
          <p:nvPr/>
        </p:nvPicPr>
        <p:blipFill>
          <a:blip r:embed="rId7"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Tree>
    <p:extLst>
      <p:ext uri="{BB962C8B-B14F-4D97-AF65-F5344CB8AC3E}">
        <p14:creationId xmlns:p14="http://schemas.microsoft.com/office/powerpoint/2010/main" val="3322109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6B813-E9CE-7508-F604-FCA35F1FD649}"/>
            </a:ext>
          </a:extLst>
        </p:cNvPr>
        <p:cNvGrpSpPr/>
        <p:nvPr/>
      </p:nvGrpSpPr>
      <p:grpSpPr>
        <a:xfrm>
          <a:off x="0" y="0"/>
          <a:ext cx="0" cy="0"/>
          <a:chOff x="0" y="0"/>
          <a:chExt cx="0" cy="0"/>
        </a:xfrm>
      </p:grpSpPr>
      <p:grpSp>
        <p:nvGrpSpPr>
          <p:cNvPr id="4" name="object 4">
            <a:extLst>
              <a:ext uri="{FF2B5EF4-FFF2-40B4-BE49-F238E27FC236}">
                <a16:creationId xmlns:a16="http://schemas.microsoft.com/office/drawing/2014/main" id="{58BFC6A6-174D-984E-2C35-5114EFEAC367}"/>
              </a:ext>
            </a:extLst>
          </p:cNvPr>
          <p:cNvGrpSpPr/>
          <p:nvPr/>
        </p:nvGrpSpPr>
        <p:grpSpPr>
          <a:xfrm>
            <a:off x="611927" y="198213"/>
            <a:ext cx="551680" cy="539192"/>
            <a:chOff x="602469" y="223328"/>
            <a:chExt cx="645160" cy="630555"/>
          </a:xfrm>
        </p:grpSpPr>
        <p:sp>
          <p:nvSpPr>
            <p:cNvPr id="5" name="object 5">
              <a:extLst>
                <a:ext uri="{FF2B5EF4-FFF2-40B4-BE49-F238E27FC236}">
                  <a16:creationId xmlns:a16="http://schemas.microsoft.com/office/drawing/2014/main" id="{B2731897-65DD-688C-55C0-78BFE8EB799A}"/>
                </a:ext>
              </a:extLst>
            </p:cNvPr>
            <p:cNvSpPr/>
            <p:nvPr/>
          </p:nvSpPr>
          <p:spPr>
            <a:xfrm>
              <a:off x="615613" y="236472"/>
              <a:ext cx="618490" cy="604520"/>
            </a:xfrm>
            <a:custGeom>
              <a:avLst/>
              <a:gdLst/>
              <a:ahLst/>
              <a:cxnLst/>
              <a:rect l="l" t="t" r="r" b="b"/>
              <a:pathLst>
                <a:path w="618490" h="604519">
                  <a:moveTo>
                    <a:pt x="618285" y="0"/>
                  </a:moveTo>
                  <a:lnTo>
                    <a:pt x="316351" y="0"/>
                  </a:lnTo>
                  <a:lnTo>
                    <a:pt x="312305" y="48997"/>
                  </a:lnTo>
                  <a:lnTo>
                    <a:pt x="300593" y="95477"/>
                  </a:lnTo>
                  <a:lnTo>
                    <a:pt x="281850" y="138818"/>
                  </a:lnTo>
                  <a:lnTo>
                    <a:pt x="256714" y="178398"/>
                  </a:lnTo>
                  <a:lnTo>
                    <a:pt x="225819" y="213595"/>
                  </a:lnTo>
                  <a:lnTo>
                    <a:pt x="189804" y="243787"/>
                  </a:lnTo>
                  <a:lnTo>
                    <a:pt x="149304" y="268353"/>
                  </a:lnTo>
                  <a:lnTo>
                    <a:pt x="104955" y="286669"/>
                  </a:lnTo>
                  <a:lnTo>
                    <a:pt x="57394" y="298115"/>
                  </a:lnTo>
                  <a:lnTo>
                    <a:pt x="3629" y="302049"/>
                  </a:lnTo>
                  <a:lnTo>
                    <a:pt x="0" y="604098"/>
                  </a:lnTo>
                  <a:lnTo>
                    <a:pt x="47769" y="602841"/>
                  </a:lnTo>
                  <a:lnTo>
                    <a:pt x="94577" y="598027"/>
                  </a:lnTo>
                  <a:lnTo>
                    <a:pt x="140284" y="589789"/>
                  </a:lnTo>
                  <a:lnTo>
                    <a:pt x="184754" y="578258"/>
                  </a:lnTo>
                  <a:lnTo>
                    <a:pt x="227850" y="563569"/>
                  </a:lnTo>
                  <a:lnTo>
                    <a:pt x="269433" y="545853"/>
                  </a:lnTo>
                  <a:lnTo>
                    <a:pt x="309366" y="525243"/>
                  </a:lnTo>
                  <a:lnTo>
                    <a:pt x="347512" y="501872"/>
                  </a:lnTo>
                  <a:lnTo>
                    <a:pt x="383734" y="475873"/>
                  </a:lnTo>
                  <a:lnTo>
                    <a:pt x="417893" y="447378"/>
                  </a:lnTo>
                  <a:lnTo>
                    <a:pt x="449853" y="416520"/>
                  </a:lnTo>
                  <a:lnTo>
                    <a:pt x="479476" y="383432"/>
                  </a:lnTo>
                  <a:lnTo>
                    <a:pt x="506625" y="348246"/>
                  </a:lnTo>
                  <a:lnTo>
                    <a:pt x="531162" y="311096"/>
                  </a:lnTo>
                  <a:lnTo>
                    <a:pt x="552949" y="272113"/>
                  </a:lnTo>
                  <a:lnTo>
                    <a:pt x="571850" y="231431"/>
                  </a:lnTo>
                  <a:lnTo>
                    <a:pt x="587727" y="189183"/>
                  </a:lnTo>
                  <a:lnTo>
                    <a:pt x="600442" y="145500"/>
                  </a:lnTo>
                  <a:lnTo>
                    <a:pt x="609857" y="100516"/>
                  </a:lnTo>
                  <a:lnTo>
                    <a:pt x="615837" y="54363"/>
                  </a:lnTo>
                  <a:lnTo>
                    <a:pt x="618285" y="0"/>
                  </a:lnTo>
                  <a:close/>
                </a:path>
              </a:pathLst>
            </a:custGeom>
            <a:solidFill>
              <a:srgbClr val="FFFFFF"/>
            </a:solidFill>
          </p:spPr>
          <p:txBody>
            <a:bodyPr wrap="square" lIns="0" tIns="0" rIns="0" bIns="0" rtlCol="0"/>
            <a:lstStyle/>
            <a:p>
              <a:endParaRPr sz="1634"/>
            </a:p>
          </p:txBody>
        </p:sp>
        <p:sp>
          <p:nvSpPr>
            <p:cNvPr id="6" name="object 6">
              <a:extLst>
                <a:ext uri="{FF2B5EF4-FFF2-40B4-BE49-F238E27FC236}">
                  <a16:creationId xmlns:a16="http://schemas.microsoft.com/office/drawing/2014/main" id="{EC7F50B8-4060-17EB-B7B5-54253216ECA0}"/>
                </a:ext>
              </a:extLst>
            </p:cNvPr>
            <p:cNvSpPr/>
            <p:nvPr/>
          </p:nvSpPr>
          <p:spPr>
            <a:xfrm>
              <a:off x="615613" y="236472"/>
              <a:ext cx="618490" cy="604520"/>
            </a:xfrm>
            <a:custGeom>
              <a:avLst/>
              <a:gdLst/>
              <a:ahLst/>
              <a:cxnLst/>
              <a:rect l="l" t="t" r="r" b="b"/>
              <a:pathLst>
                <a:path w="618490" h="604519">
                  <a:moveTo>
                    <a:pt x="0" y="604098"/>
                  </a:moveTo>
                  <a:lnTo>
                    <a:pt x="47769" y="602842"/>
                  </a:lnTo>
                  <a:lnTo>
                    <a:pt x="94577" y="598028"/>
                  </a:lnTo>
                  <a:lnTo>
                    <a:pt x="140284" y="589789"/>
                  </a:lnTo>
                  <a:lnTo>
                    <a:pt x="184754" y="578259"/>
                  </a:lnTo>
                  <a:lnTo>
                    <a:pt x="227850" y="563569"/>
                  </a:lnTo>
                  <a:lnTo>
                    <a:pt x="269433" y="545853"/>
                  </a:lnTo>
                  <a:lnTo>
                    <a:pt x="309366" y="525243"/>
                  </a:lnTo>
                  <a:lnTo>
                    <a:pt x="347512" y="501872"/>
                  </a:lnTo>
                  <a:lnTo>
                    <a:pt x="383734" y="475873"/>
                  </a:lnTo>
                  <a:lnTo>
                    <a:pt x="417893" y="447378"/>
                  </a:lnTo>
                  <a:lnTo>
                    <a:pt x="449853" y="416520"/>
                  </a:lnTo>
                  <a:lnTo>
                    <a:pt x="479476" y="383432"/>
                  </a:lnTo>
                  <a:lnTo>
                    <a:pt x="506625" y="348247"/>
                  </a:lnTo>
                  <a:lnTo>
                    <a:pt x="531161" y="311096"/>
                  </a:lnTo>
                  <a:lnTo>
                    <a:pt x="552949" y="272114"/>
                  </a:lnTo>
                  <a:lnTo>
                    <a:pt x="571850" y="231432"/>
                  </a:lnTo>
                  <a:lnTo>
                    <a:pt x="587726" y="189183"/>
                  </a:lnTo>
                  <a:lnTo>
                    <a:pt x="600441" y="145501"/>
                  </a:lnTo>
                  <a:lnTo>
                    <a:pt x="609857" y="100517"/>
                  </a:lnTo>
                  <a:lnTo>
                    <a:pt x="615837" y="54364"/>
                  </a:lnTo>
                  <a:lnTo>
                    <a:pt x="618242" y="7176"/>
                  </a:lnTo>
                  <a:lnTo>
                    <a:pt x="618286" y="2392"/>
                  </a:lnTo>
                  <a:lnTo>
                    <a:pt x="618286" y="0"/>
                  </a:lnTo>
                  <a:lnTo>
                    <a:pt x="316351" y="0"/>
                  </a:lnTo>
                  <a:lnTo>
                    <a:pt x="312305" y="48997"/>
                  </a:lnTo>
                  <a:lnTo>
                    <a:pt x="300593" y="95477"/>
                  </a:lnTo>
                  <a:lnTo>
                    <a:pt x="281850" y="138818"/>
                  </a:lnTo>
                  <a:lnTo>
                    <a:pt x="256714" y="178398"/>
                  </a:lnTo>
                  <a:lnTo>
                    <a:pt x="225819" y="213595"/>
                  </a:lnTo>
                  <a:lnTo>
                    <a:pt x="189804" y="243788"/>
                  </a:lnTo>
                  <a:lnTo>
                    <a:pt x="149304" y="268353"/>
                  </a:lnTo>
                  <a:lnTo>
                    <a:pt x="104955" y="286670"/>
                  </a:lnTo>
                  <a:lnTo>
                    <a:pt x="57394" y="298116"/>
                  </a:lnTo>
                  <a:lnTo>
                    <a:pt x="7258" y="302070"/>
                  </a:lnTo>
                  <a:lnTo>
                    <a:pt x="6048" y="302070"/>
                  </a:lnTo>
                  <a:lnTo>
                    <a:pt x="4838" y="302063"/>
                  </a:lnTo>
                  <a:lnTo>
                    <a:pt x="3629" y="302049"/>
                  </a:lnTo>
                  <a:lnTo>
                    <a:pt x="0" y="604098"/>
                  </a:lnTo>
                  <a:close/>
                </a:path>
              </a:pathLst>
            </a:custGeom>
            <a:ln w="26287">
              <a:solidFill>
                <a:srgbClr val="FFFFFF"/>
              </a:solidFill>
            </a:ln>
          </p:spPr>
          <p:txBody>
            <a:bodyPr wrap="square" lIns="0" tIns="0" rIns="0" bIns="0" rtlCol="0"/>
            <a:lstStyle/>
            <a:p>
              <a:endParaRPr sz="1634"/>
            </a:p>
          </p:txBody>
        </p:sp>
      </p:grpSp>
      <p:sp>
        <p:nvSpPr>
          <p:cNvPr id="9" name="Shape 10">
            <a:extLst>
              <a:ext uri="{FF2B5EF4-FFF2-40B4-BE49-F238E27FC236}">
                <a16:creationId xmlns:a16="http://schemas.microsoft.com/office/drawing/2014/main" id="{7894FB15-51CA-82AF-18A8-14D371579C2A}"/>
              </a:ext>
            </a:extLst>
          </p:cNvPr>
          <p:cNvSpPr/>
          <p:nvPr/>
        </p:nvSpPr>
        <p:spPr>
          <a:xfrm>
            <a:off x="623167" y="1793206"/>
            <a:ext cx="3931713" cy="877778"/>
          </a:xfrm>
          <a:prstGeom prst="roundRect">
            <a:avLst>
              <a:gd name="adj" fmla="val 6250"/>
            </a:avLst>
          </a:prstGeom>
          <a:solidFill>
            <a:srgbClr val="F6F6F5"/>
          </a:solidFill>
          <a:ln/>
          <a:effectLst>
            <a:outerShdw blurRad="50800" dist="19050" dir="2700000" algn="bl" rotWithShape="0">
              <a:srgbClr val="000000">
                <a:alpha val="10000"/>
              </a:srgbClr>
            </a:outerShdw>
          </a:effectLst>
        </p:spPr>
        <p:txBody>
          <a:bodyPr/>
          <a:lstStyle/>
          <a:p>
            <a:endParaRPr lang="ko-KR" altLang="en-US" sz="1634"/>
          </a:p>
        </p:txBody>
      </p:sp>
      <p:sp>
        <p:nvSpPr>
          <p:cNvPr id="11" name="Text 11">
            <a:extLst>
              <a:ext uri="{FF2B5EF4-FFF2-40B4-BE49-F238E27FC236}">
                <a16:creationId xmlns:a16="http://schemas.microsoft.com/office/drawing/2014/main" id="{8FB3F184-075F-F21C-06EE-8EE205AF909E}"/>
              </a:ext>
            </a:extLst>
          </p:cNvPr>
          <p:cNvSpPr/>
          <p:nvPr/>
        </p:nvSpPr>
        <p:spPr>
          <a:xfrm>
            <a:off x="732889" y="1838925"/>
            <a:ext cx="3712269" cy="786343"/>
          </a:xfrm>
          <a:prstGeom prst="rect">
            <a:avLst/>
          </a:prstGeom>
          <a:noFill/>
          <a:ln/>
        </p:spPr>
        <p:txBody>
          <a:bodyPr wrap="square" rtlCol="0" anchor="t"/>
          <a:lstStyle/>
          <a:p>
            <a:pPr>
              <a:lnSpc>
                <a:spcPct val="108000"/>
              </a:lnSpc>
            </a:pPr>
            <a:r>
              <a:rPr lang="en-US" sz="780" b="1" dirty="0">
                <a:solidFill>
                  <a:srgbClr val="3B5BA7"/>
                </a:solidFill>
                <a:latin typeface="맑은 고딕" pitchFamily="34" charset="0"/>
                <a:ea typeface="맑은 고딕" pitchFamily="34" charset="-122"/>
                <a:cs typeface="맑은 고딕" pitchFamily="34" charset="-120"/>
              </a:rPr>
              <a:t>물류창고 안전관리자 A</a:t>
            </a:r>
            <a:endParaRPr lang="en-US" sz="780" dirty="0"/>
          </a:p>
          <a:p>
            <a:pPr>
              <a:lnSpc>
                <a:spcPct val="108000"/>
              </a:lnSpc>
            </a:pPr>
            <a:r>
              <a:rPr lang="en-US" sz="690" i="1" dirty="0">
                <a:solidFill>
                  <a:srgbClr val="1E293B"/>
                </a:solidFill>
                <a:latin typeface="맑은 고딕" pitchFamily="34" charset="0"/>
                <a:ea typeface="맑은 고딕" pitchFamily="34" charset="-122"/>
                <a:cs typeface="맑은 고딕" pitchFamily="34" charset="-120"/>
              </a:rPr>
              <a:t>보조배터리는 시리얼이 없어 뒤바뀌기 쉽다. 어떤 배터리가 몇 번째 이상인지 이력을 못 남기면 관제가 의미 없다.</a:t>
            </a:r>
            <a:endParaRPr lang="en-US" sz="780" dirty="0"/>
          </a:p>
        </p:txBody>
      </p:sp>
      <p:sp>
        <p:nvSpPr>
          <p:cNvPr id="13" name="Text 12">
            <a:extLst>
              <a:ext uri="{FF2B5EF4-FFF2-40B4-BE49-F238E27FC236}">
                <a16:creationId xmlns:a16="http://schemas.microsoft.com/office/drawing/2014/main" id="{318D5A91-A9D0-83D1-0777-A7E3A9C0991A}"/>
              </a:ext>
            </a:extLst>
          </p:cNvPr>
          <p:cNvSpPr/>
          <p:nvPr/>
        </p:nvSpPr>
        <p:spPr>
          <a:xfrm>
            <a:off x="4664602" y="2131518"/>
            <a:ext cx="274306" cy="201157"/>
          </a:xfrm>
          <a:prstGeom prst="rect">
            <a:avLst/>
          </a:prstGeom>
          <a:noFill/>
          <a:ln/>
        </p:spPr>
        <p:txBody>
          <a:bodyPr wrap="square" rtlCol="0" anchor="ctr"/>
          <a:lstStyle/>
          <a:p>
            <a:pPr algn="ctr"/>
            <a:r>
              <a:rPr lang="en-US" sz="1000" dirty="0">
                <a:solidFill>
                  <a:srgbClr val="3B5BA7"/>
                </a:solidFill>
              </a:rPr>
              <a:t>▶</a:t>
            </a:r>
            <a:endParaRPr lang="en-US" sz="1000" dirty="0"/>
          </a:p>
        </p:txBody>
      </p:sp>
      <p:sp>
        <p:nvSpPr>
          <p:cNvPr id="15" name="Shape 13">
            <a:extLst>
              <a:ext uri="{FF2B5EF4-FFF2-40B4-BE49-F238E27FC236}">
                <a16:creationId xmlns:a16="http://schemas.microsoft.com/office/drawing/2014/main" id="{BF7E3ABB-C2EF-38E1-7D56-9D4481A35C75}"/>
              </a:ext>
            </a:extLst>
          </p:cNvPr>
          <p:cNvSpPr/>
          <p:nvPr/>
        </p:nvSpPr>
        <p:spPr>
          <a:xfrm>
            <a:off x="4902334" y="1793206"/>
            <a:ext cx="3858566" cy="877778"/>
          </a:xfrm>
          <a:prstGeom prst="roundRect">
            <a:avLst>
              <a:gd name="adj" fmla="val 6250"/>
            </a:avLst>
          </a:prstGeom>
          <a:solidFill>
            <a:srgbClr val="E8F1FF"/>
          </a:solidFill>
          <a:ln/>
          <a:effectLst>
            <a:outerShdw blurRad="50800" dist="19050" dir="2700000" algn="bl" rotWithShape="0">
              <a:srgbClr val="000000">
                <a:alpha val="10000"/>
              </a:srgbClr>
            </a:outerShdw>
          </a:effectLst>
        </p:spPr>
        <p:txBody>
          <a:bodyPr/>
          <a:lstStyle/>
          <a:p>
            <a:endParaRPr lang="ko-KR" altLang="en-US" sz="1634"/>
          </a:p>
        </p:txBody>
      </p:sp>
      <p:sp>
        <p:nvSpPr>
          <p:cNvPr id="17" name="Text 14">
            <a:extLst>
              <a:ext uri="{FF2B5EF4-FFF2-40B4-BE49-F238E27FC236}">
                <a16:creationId xmlns:a16="http://schemas.microsoft.com/office/drawing/2014/main" id="{A924C935-F6C7-5C49-0163-4B5387FB32B0}"/>
              </a:ext>
            </a:extLst>
          </p:cNvPr>
          <p:cNvSpPr/>
          <p:nvPr/>
        </p:nvSpPr>
        <p:spPr>
          <a:xfrm>
            <a:off x="5012057" y="1838925"/>
            <a:ext cx="3639121" cy="786343"/>
          </a:xfrm>
          <a:prstGeom prst="rect">
            <a:avLst/>
          </a:prstGeom>
          <a:noFill/>
          <a:ln/>
        </p:spPr>
        <p:txBody>
          <a:bodyPr wrap="square" rtlCol="0" anchor="ctr"/>
          <a:lstStyle/>
          <a:p>
            <a:pPr>
              <a:lnSpc>
                <a:spcPct val="110000"/>
              </a:lnSpc>
            </a:pPr>
            <a:r>
              <a:rPr lang="en-US" sz="690" dirty="0">
                <a:solidFill>
                  <a:srgbClr val="1E293B"/>
                </a:solidFill>
                <a:latin typeface="맑은 고딕" pitchFamily="34" charset="0"/>
                <a:ea typeface="맑은 고딕" pitchFamily="34" charset="-122"/>
                <a:cs typeface="맑은 고딕" pitchFamily="34" charset="-120"/>
              </a:rPr>
              <a:t>battery_asset UUID 발급 및 수동 매칭, 측정 세션 태깅으로 배터리별 이력 연속성 확보</a:t>
            </a:r>
            <a:endParaRPr lang="en-US" sz="690" dirty="0"/>
          </a:p>
        </p:txBody>
      </p:sp>
      <p:sp>
        <p:nvSpPr>
          <p:cNvPr id="19" name="Shape 15">
            <a:extLst>
              <a:ext uri="{FF2B5EF4-FFF2-40B4-BE49-F238E27FC236}">
                <a16:creationId xmlns:a16="http://schemas.microsoft.com/office/drawing/2014/main" id="{14798A1C-7E85-F225-D1EE-682EB05B9A2A}"/>
              </a:ext>
            </a:extLst>
          </p:cNvPr>
          <p:cNvSpPr/>
          <p:nvPr/>
        </p:nvSpPr>
        <p:spPr>
          <a:xfrm>
            <a:off x="623167" y="2762420"/>
            <a:ext cx="3931713" cy="877778"/>
          </a:xfrm>
          <a:prstGeom prst="roundRect">
            <a:avLst>
              <a:gd name="adj" fmla="val 6250"/>
            </a:avLst>
          </a:prstGeom>
          <a:solidFill>
            <a:srgbClr val="F6F6F5"/>
          </a:solidFill>
          <a:ln/>
          <a:effectLst>
            <a:outerShdw blurRad="50800" dist="19050" dir="2700000" algn="bl" rotWithShape="0">
              <a:srgbClr val="000000">
                <a:alpha val="10000"/>
              </a:srgbClr>
            </a:outerShdw>
          </a:effectLst>
        </p:spPr>
        <p:txBody>
          <a:bodyPr/>
          <a:lstStyle/>
          <a:p>
            <a:endParaRPr lang="ko-KR" altLang="en-US" sz="1634"/>
          </a:p>
        </p:txBody>
      </p:sp>
      <p:sp>
        <p:nvSpPr>
          <p:cNvPr id="21" name="Text 16">
            <a:extLst>
              <a:ext uri="{FF2B5EF4-FFF2-40B4-BE49-F238E27FC236}">
                <a16:creationId xmlns:a16="http://schemas.microsoft.com/office/drawing/2014/main" id="{BEEEDA13-4B5A-CCE6-5CF9-A8857FE02040}"/>
              </a:ext>
            </a:extLst>
          </p:cNvPr>
          <p:cNvSpPr/>
          <p:nvPr/>
        </p:nvSpPr>
        <p:spPr>
          <a:xfrm>
            <a:off x="732889" y="2808137"/>
            <a:ext cx="3712269" cy="786343"/>
          </a:xfrm>
          <a:prstGeom prst="rect">
            <a:avLst/>
          </a:prstGeom>
          <a:noFill/>
          <a:ln/>
        </p:spPr>
        <p:txBody>
          <a:bodyPr wrap="square" rtlCol="0" anchor="t"/>
          <a:lstStyle/>
          <a:p>
            <a:pPr>
              <a:lnSpc>
                <a:spcPct val="108000"/>
              </a:lnSpc>
            </a:pPr>
            <a:r>
              <a:rPr lang="en-US" sz="780" b="1" dirty="0">
                <a:solidFill>
                  <a:srgbClr val="3B5BA7"/>
                </a:solidFill>
                <a:latin typeface="맑은 고딕" pitchFamily="34" charset="0"/>
                <a:ea typeface="맑은 고딕" pitchFamily="34" charset="-122"/>
                <a:cs typeface="맑은 고딕" pitchFamily="34" charset="-120"/>
              </a:rPr>
              <a:t>소방 관계자 B</a:t>
            </a:r>
            <a:endParaRPr lang="en-US" sz="780" dirty="0"/>
          </a:p>
          <a:p>
            <a:pPr>
              <a:lnSpc>
                <a:spcPct val="108000"/>
              </a:lnSpc>
            </a:pPr>
            <a:r>
              <a:rPr lang="en-US" sz="690" i="1" dirty="0">
                <a:solidFill>
                  <a:srgbClr val="1E293B"/>
                </a:solidFill>
                <a:latin typeface="맑은 고딕" pitchFamily="34" charset="0"/>
                <a:ea typeface="맑은 고딕" pitchFamily="34" charset="-122"/>
                <a:cs typeface="맑은 고딕" pitchFamily="34" charset="-120"/>
              </a:rPr>
              <a:t>화재는 전압·온도가 정상이어도 가스나 냄새가 먼저 난다. 오프가스 감지가 초기 대응 골든타임을 벌어준다.</a:t>
            </a:r>
            <a:endParaRPr lang="en-US" sz="780" dirty="0"/>
          </a:p>
        </p:txBody>
      </p:sp>
      <p:sp>
        <p:nvSpPr>
          <p:cNvPr id="23" name="Text 17">
            <a:extLst>
              <a:ext uri="{FF2B5EF4-FFF2-40B4-BE49-F238E27FC236}">
                <a16:creationId xmlns:a16="http://schemas.microsoft.com/office/drawing/2014/main" id="{BAE69203-21C7-F2AC-2F70-2B0EBF66E550}"/>
              </a:ext>
            </a:extLst>
          </p:cNvPr>
          <p:cNvSpPr/>
          <p:nvPr/>
        </p:nvSpPr>
        <p:spPr>
          <a:xfrm>
            <a:off x="4664602" y="3100730"/>
            <a:ext cx="274306" cy="201157"/>
          </a:xfrm>
          <a:prstGeom prst="rect">
            <a:avLst/>
          </a:prstGeom>
          <a:noFill/>
          <a:ln/>
        </p:spPr>
        <p:txBody>
          <a:bodyPr wrap="square" rtlCol="0" anchor="ctr"/>
          <a:lstStyle/>
          <a:p>
            <a:pPr algn="ctr"/>
            <a:r>
              <a:rPr lang="en-US" sz="1000" dirty="0">
                <a:solidFill>
                  <a:srgbClr val="3B5BA7"/>
                </a:solidFill>
              </a:rPr>
              <a:t>▶</a:t>
            </a:r>
            <a:endParaRPr lang="en-US" sz="1000" dirty="0"/>
          </a:p>
        </p:txBody>
      </p:sp>
      <p:sp>
        <p:nvSpPr>
          <p:cNvPr id="25" name="Shape 18">
            <a:extLst>
              <a:ext uri="{FF2B5EF4-FFF2-40B4-BE49-F238E27FC236}">
                <a16:creationId xmlns:a16="http://schemas.microsoft.com/office/drawing/2014/main" id="{FE48CF86-97F3-4013-E985-5B1DC7515D39}"/>
              </a:ext>
            </a:extLst>
          </p:cNvPr>
          <p:cNvSpPr/>
          <p:nvPr/>
        </p:nvSpPr>
        <p:spPr>
          <a:xfrm>
            <a:off x="4902334" y="2762420"/>
            <a:ext cx="3858566" cy="877778"/>
          </a:xfrm>
          <a:prstGeom prst="roundRect">
            <a:avLst>
              <a:gd name="adj" fmla="val 6250"/>
            </a:avLst>
          </a:prstGeom>
          <a:solidFill>
            <a:srgbClr val="E8F1FF"/>
          </a:solidFill>
          <a:ln/>
          <a:effectLst>
            <a:outerShdw blurRad="50800" dist="19050" dir="2700000" algn="bl" rotWithShape="0">
              <a:srgbClr val="000000">
                <a:alpha val="10000"/>
              </a:srgbClr>
            </a:outerShdw>
          </a:effectLst>
        </p:spPr>
        <p:txBody>
          <a:bodyPr/>
          <a:lstStyle/>
          <a:p>
            <a:endParaRPr lang="ko-KR" altLang="en-US" sz="1634"/>
          </a:p>
        </p:txBody>
      </p:sp>
      <p:sp>
        <p:nvSpPr>
          <p:cNvPr id="27" name="Text 19">
            <a:extLst>
              <a:ext uri="{FF2B5EF4-FFF2-40B4-BE49-F238E27FC236}">
                <a16:creationId xmlns:a16="http://schemas.microsoft.com/office/drawing/2014/main" id="{7765A2E2-8104-142D-9927-22E13E6BB46A}"/>
              </a:ext>
            </a:extLst>
          </p:cNvPr>
          <p:cNvSpPr/>
          <p:nvPr/>
        </p:nvSpPr>
        <p:spPr>
          <a:xfrm>
            <a:off x="5012057" y="2808137"/>
            <a:ext cx="3639121" cy="786343"/>
          </a:xfrm>
          <a:prstGeom prst="rect">
            <a:avLst/>
          </a:prstGeom>
          <a:noFill/>
          <a:ln/>
        </p:spPr>
        <p:txBody>
          <a:bodyPr wrap="square" rtlCol="0" anchor="ctr"/>
          <a:lstStyle/>
          <a:p>
            <a:pPr>
              <a:lnSpc>
                <a:spcPct val="110000"/>
              </a:lnSpc>
            </a:pPr>
            <a:r>
              <a:rPr lang="en-US" sz="690" dirty="0">
                <a:solidFill>
                  <a:srgbClr val="1E293B"/>
                </a:solidFill>
                <a:latin typeface="맑은 고딕" pitchFamily="34" charset="0"/>
                <a:ea typeface="맑은 고딕" pitchFamily="34" charset="-122"/>
                <a:cs typeface="맑은 고딕" pitchFamily="34" charset="-120"/>
              </a:rPr>
              <a:t>MQ-2 가스 센서를 전 모드(1·2·3) 공통 필수 입력으로 반영, Early-Detection 특징으로 활용</a:t>
            </a:r>
            <a:endParaRPr lang="en-US" sz="690" dirty="0"/>
          </a:p>
        </p:txBody>
      </p:sp>
      <p:sp>
        <p:nvSpPr>
          <p:cNvPr id="29" name="Shape 20">
            <a:extLst>
              <a:ext uri="{FF2B5EF4-FFF2-40B4-BE49-F238E27FC236}">
                <a16:creationId xmlns:a16="http://schemas.microsoft.com/office/drawing/2014/main" id="{31AD1DC7-64D5-D179-7C09-E077E9CBD699}"/>
              </a:ext>
            </a:extLst>
          </p:cNvPr>
          <p:cNvSpPr/>
          <p:nvPr/>
        </p:nvSpPr>
        <p:spPr>
          <a:xfrm>
            <a:off x="623167" y="3731633"/>
            <a:ext cx="3931713" cy="877778"/>
          </a:xfrm>
          <a:prstGeom prst="roundRect">
            <a:avLst>
              <a:gd name="adj" fmla="val 6250"/>
            </a:avLst>
          </a:prstGeom>
          <a:solidFill>
            <a:srgbClr val="F6F6F5"/>
          </a:solidFill>
          <a:ln/>
          <a:effectLst>
            <a:outerShdw blurRad="50800" dist="19050" dir="2700000" algn="bl" rotWithShape="0">
              <a:srgbClr val="000000">
                <a:alpha val="10000"/>
              </a:srgbClr>
            </a:outerShdw>
          </a:effectLst>
        </p:spPr>
        <p:txBody>
          <a:bodyPr/>
          <a:lstStyle/>
          <a:p>
            <a:endParaRPr lang="ko-KR" altLang="en-US" sz="1634"/>
          </a:p>
        </p:txBody>
      </p:sp>
      <p:sp>
        <p:nvSpPr>
          <p:cNvPr id="31" name="Text 21">
            <a:extLst>
              <a:ext uri="{FF2B5EF4-FFF2-40B4-BE49-F238E27FC236}">
                <a16:creationId xmlns:a16="http://schemas.microsoft.com/office/drawing/2014/main" id="{F1DFD647-D656-6E51-EEA3-1C1892B9A6FF}"/>
              </a:ext>
            </a:extLst>
          </p:cNvPr>
          <p:cNvSpPr/>
          <p:nvPr/>
        </p:nvSpPr>
        <p:spPr>
          <a:xfrm>
            <a:off x="732889" y="3777351"/>
            <a:ext cx="3712269" cy="786343"/>
          </a:xfrm>
          <a:prstGeom prst="rect">
            <a:avLst/>
          </a:prstGeom>
          <a:noFill/>
          <a:ln/>
        </p:spPr>
        <p:txBody>
          <a:bodyPr wrap="square" rtlCol="0" anchor="t"/>
          <a:lstStyle/>
          <a:p>
            <a:pPr>
              <a:lnSpc>
                <a:spcPct val="108000"/>
              </a:lnSpc>
            </a:pPr>
            <a:r>
              <a:rPr lang="en-US" sz="780" b="1" dirty="0">
                <a:solidFill>
                  <a:srgbClr val="3B5BA7"/>
                </a:solidFill>
                <a:latin typeface="맑은 고딕" pitchFamily="34" charset="0"/>
                <a:ea typeface="맑은 고딕" pitchFamily="34" charset="-122"/>
                <a:cs typeface="맑은 고딕" pitchFamily="34" charset="-120"/>
              </a:rPr>
              <a:t>전자기기 제조사 품질엔지니어 C</a:t>
            </a:r>
            <a:endParaRPr lang="en-US" sz="780" dirty="0"/>
          </a:p>
          <a:p>
            <a:pPr>
              <a:lnSpc>
                <a:spcPct val="108000"/>
              </a:lnSpc>
            </a:pPr>
            <a:r>
              <a:rPr lang="en-US" sz="690" i="1" dirty="0">
                <a:solidFill>
                  <a:srgbClr val="1E293B"/>
                </a:solidFill>
                <a:latin typeface="맑은 고딕" pitchFamily="34" charset="0"/>
                <a:ea typeface="맑은 고딕" pitchFamily="34" charset="-122"/>
                <a:cs typeface="맑은 고딕" pitchFamily="34" charset="-120"/>
              </a:rPr>
              <a:t>소프트웨어 알고리즘만 믿기보다, 이상 시 물리적으로 전원을 끊는 장치가 같이 있어야 안전 담당자들이 신뢰한다.</a:t>
            </a:r>
            <a:endParaRPr lang="en-US" sz="780" dirty="0"/>
          </a:p>
        </p:txBody>
      </p:sp>
      <p:sp>
        <p:nvSpPr>
          <p:cNvPr id="33" name="Text 22">
            <a:extLst>
              <a:ext uri="{FF2B5EF4-FFF2-40B4-BE49-F238E27FC236}">
                <a16:creationId xmlns:a16="http://schemas.microsoft.com/office/drawing/2014/main" id="{E02A568E-494F-9BA8-1F87-4A4DBC328935}"/>
              </a:ext>
            </a:extLst>
          </p:cNvPr>
          <p:cNvSpPr/>
          <p:nvPr/>
        </p:nvSpPr>
        <p:spPr>
          <a:xfrm>
            <a:off x="4664602" y="4069944"/>
            <a:ext cx="274306" cy="201157"/>
          </a:xfrm>
          <a:prstGeom prst="rect">
            <a:avLst/>
          </a:prstGeom>
          <a:noFill/>
          <a:ln/>
        </p:spPr>
        <p:txBody>
          <a:bodyPr wrap="square" rtlCol="0" anchor="ctr"/>
          <a:lstStyle/>
          <a:p>
            <a:pPr algn="ctr"/>
            <a:r>
              <a:rPr lang="en-US" sz="1000" dirty="0">
                <a:solidFill>
                  <a:srgbClr val="3B5BA7"/>
                </a:solidFill>
              </a:rPr>
              <a:t>▶</a:t>
            </a:r>
            <a:endParaRPr lang="en-US" sz="1000" dirty="0"/>
          </a:p>
        </p:txBody>
      </p:sp>
      <p:sp>
        <p:nvSpPr>
          <p:cNvPr id="35" name="Shape 23">
            <a:extLst>
              <a:ext uri="{FF2B5EF4-FFF2-40B4-BE49-F238E27FC236}">
                <a16:creationId xmlns:a16="http://schemas.microsoft.com/office/drawing/2014/main" id="{2C74B473-1142-AB37-7080-836BD0A84B26}"/>
              </a:ext>
            </a:extLst>
          </p:cNvPr>
          <p:cNvSpPr/>
          <p:nvPr/>
        </p:nvSpPr>
        <p:spPr>
          <a:xfrm>
            <a:off x="4902334" y="3731633"/>
            <a:ext cx="3858566" cy="877778"/>
          </a:xfrm>
          <a:prstGeom prst="roundRect">
            <a:avLst>
              <a:gd name="adj" fmla="val 6250"/>
            </a:avLst>
          </a:prstGeom>
          <a:solidFill>
            <a:srgbClr val="E8F1FF"/>
          </a:solidFill>
          <a:ln/>
          <a:effectLst>
            <a:outerShdw blurRad="50800" dist="19050" dir="2700000" algn="bl" rotWithShape="0">
              <a:srgbClr val="000000">
                <a:alpha val="10000"/>
              </a:srgbClr>
            </a:outerShdw>
          </a:effectLst>
        </p:spPr>
        <p:txBody>
          <a:bodyPr/>
          <a:lstStyle/>
          <a:p>
            <a:endParaRPr lang="ko-KR" altLang="en-US" sz="1634"/>
          </a:p>
        </p:txBody>
      </p:sp>
      <p:sp>
        <p:nvSpPr>
          <p:cNvPr id="37" name="Text 24">
            <a:extLst>
              <a:ext uri="{FF2B5EF4-FFF2-40B4-BE49-F238E27FC236}">
                <a16:creationId xmlns:a16="http://schemas.microsoft.com/office/drawing/2014/main" id="{47D2CDD9-8625-F4F3-7964-020DF721173B}"/>
              </a:ext>
            </a:extLst>
          </p:cNvPr>
          <p:cNvSpPr/>
          <p:nvPr/>
        </p:nvSpPr>
        <p:spPr>
          <a:xfrm>
            <a:off x="5012057" y="3777351"/>
            <a:ext cx="3639121" cy="786343"/>
          </a:xfrm>
          <a:prstGeom prst="rect">
            <a:avLst/>
          </a:prstGeom>
          <a:noFill/>
          <a:ln/>
        </p:spPr>
        <p:txBody>
          <a:bodyPr wrap="square" rtlCol="0" anchor="ctr"/>
          <a:lstStyle/>
          <a:p>
            <a:pPr>
              <a:lnSpc>
                <a:spcPct val="110000"/>
              </a:lnSpc>
            </a:pPr>
            <a:r>
              <a:rPr lang="en-US" sz="690" dirty="0">
                <a:solidFill>
                  <a:srgbClr val="1E293B"/>
                </a:solidFill>
                <a:latin typeface="맑은 고딕" pitchFamily="34" charset="0"/>
                <a:ea typeface="맑은 고딕" pitchFamily="34" charset="-122"/>
                <a:cs typeface="맑은 고딕" pitchFamily="34" charset="-120"/>
              </a:rPr>
              <a:t>릴레이 Kill-Switch 인터락을 AI 탐지와 결합한 Fail-Safe 이중 구조로 설계</a:t>
            </a:r>
            <a:endParaRPr lang="en-US" sz="690" dirty="0"/>
          </a:p>
        </p:txBody>
      </p:sp>
      <p:sp>
        <p:nvSpPr>
          <p:cNvPr id="39" name="Shape 25">
            <a:extLst>
              <a:ext uri="{FF2B5EF4-FFF2-40B4-BE49-F238E27FC236}">
                <a16:creationId xmlns:a16="http://schemas.microsoft.com/office/drawing/2014/main" id="{76B9F5A5-61C3-02F3-030F-4F3C4B531B50}"/>
              </a:ext>
            </a:extLst>
          </p:cNvPr>
          <p:cNvSpPr/>
          <p:nvPr/>
        </p:nvSpPr>
        <p:spPr>
          <a:xfrm>
            <a:off x="623167" y="4700846"/>
            <a:ext cx="3931713" cy="877778"/>
          </a:xfrm>
          <a:prstGeom prst="roundRect">
            <a:avLst>
              <a:gd name="adj" fmla="val 6250"/>
            </a:avLst>
          </a:prstGeom>
          <a:solidFill>
            <a:srgbClr val="F6F6F5"/>
          </a:solidFill>
          <a:ln/>
          <a:effectLst>
            <a:outerShdw blurRad="50800" dist="19050" dir="2700000" algn="bl" rotWithShape="0">
              <a:srgbClr val="000000">
                <a:alpha val="10000"/>
              </a:srgbClr>
            </a:outerShdw>
          </a:effectLst>
        </p:spPr>
        <p:txBody>
          <a:bodyPr/>
          <a:lstStyle/>
          <a:p>
            <a:endParaRPr lang="ko-KR" altLang="en-US" sz="1634"/>
          </a:p>
        </p:txBody>
      </p:sp>
      <p:sp>
        <p:nvSpPr>
          <p:cNvPr id="41" name="Text 26">
            <a:extLst>
              <a:ext uri="{FF2B5EF4-FFF2-40B4-BE49-F238E27FC236}">
                <a16:creationId xmlns:a16="http://schemas.microsoft.com/office/drawing/2014/main" id="{0905225E-F137-3675-A125-318282702317}"/>
              </a:ext>
            </a:extLst>
          </p:cNvPr>
          <p:cNvSpPr/>
          <p:nvPr/>
        </p:nvSpPr>
        <p:spPr>
          <a:xfrm>
            <a:off x="732889" y="4746564"/>
            <a:ext cx="3712269" cy="786343"/>
          </a:xfrm>
          <a:prstGeom prst="rect">
            <a:avLst/>
          </a:prstGeom>
          <a:noFill/>
          <a:ln/>
        </p:spPr>
        <p:txBody>
          <a:bodyPr wrap="square" rtlCol="0" anchor="t"/>
          <a:lstStyle/>
          <a:p>
            <a:pPr>
              <a:lnSpc>
                <a:spcPct val="108000"/>
              </a:lnSpc>
            </a:pPr>
            <a:r>
              <a:rPr lang="en-US" sz="780" b="1" dirty="0">
                <a:solidFill>
                  <a:srgbClr val="3B5BA7"/>
                </a:solidFill>
                <a:latin typeface="맑은 고딕" pitchFamily="34" charset="0"/>
                <a:ea typeface="맑은 고딕" pitchFamily="34" charset="-122"/>
                <a:cs typeface="맑은 고딕" pitchFamily="34" charset="-120"/>
              </a:rPr>
              <a:t>대학생 D (보조배터리 일상 사용자)</a:t>
            </a:r>
            <a:endParaRPr lang="en-US" sz="780" dirty="0"/>
          </a:p>
          <a:p>
            <a:pPr>
              <a:lnSpc>
                <a:spcPct val="108000"/>
              </a:lnSpc>
            </a:pPr>
            <a:r>
              <a:rPr lang="en-US" sz="690" i="1" dirty="0">
                <a:solidFill>
                  <a:srgbClr val="1E293B"/>
                </a:solidFill>
                <a:latin typeface="맑은 고딕" pitchFamily="34" charset="0"/>
                <a:ea typeface="맑은 고딕" pitchFamily="34" charset="-122"/>
                <a:cs typeface="맑은 고딕" pitchFamily="34" charset="-120"/>
              </a:rPr>
              <a:t>배터리 상태를 숫자(SOC 87%, 이상점수 0.34)로만 보여주면 저 같은 일반 사용자는 위험한 건지 아닌지 판단이 안 서요. 색으로 딱 보여주면 좋겠어요.</a:t>
            </a:r>
            <a:endParaRPr lang="en-US" sz="780" dirty="0"/>
          </a:p>
        </p:txBody>
      </p:sp>
      <p:sp>
        <p:nvSpPr>
          <p:cNvPr id="43" name="Text 27">
            <a:extLst>
              <a:ext uri="{FF2B5EF4-FFF2-40B4-BE49-F238E27FC236}">
                <a16:creationId xmlns:a16="http://schemas.microsoft.com/office/drawing/2014/main" id="{C96CF561-F328-C89D-4A03-FB9AB8D15FA4}"/>
              </a:ext>
            </a:extLst>
          </p:cNvPr>
          <p:cNvSpPr/>
          <p:nvPr/>
        </p:nvSpPr>
        <p:spPr>
          <a:xfrm>
            <a:off x="4664602" y="5039157"/>
            <a:ext cx="274306" cy="201157"/>
          </a:xfrm>
          <a:prstGeom prst="rect">
            <a:avLst/>
          </a:prstGeom>
          <a:noFill/>
          <a:ln/>
        </p:spPr>
        <p:txBody>
          <a:bodyPr wrap="square" rtlCol="0" anchor="ctr"/>
          <a:lstStyle/>
          <a:p>
            <a:pPr algn="ctr"/>
            <a:r>
              <a:rPr lang="en-US" sz="1000" dirty="0">
                <a:solidFill>
                  <a:srgbClr val="3B5BA7"/>
                </a:solidFill>
              </a:rPr>
              <a:t>▶</a:t>
            </a:r>
            <a:endParaRPr lang="en-US" sz="1000" dirty="0"/>
          </a:p>
        </p:txBody>
      </p:sp>
      <p:sp>
        <p:nvSpPr>
          <p:cNvPr id="45" name="Shape 28">
            <a:extLst>
              <a:ext uri="{FF2B5EF4-FFF2-40B4-BE49-F238E27FC236}">
                <a16:creationId xmlns:a16="http://schemas.microsoft.com/office/drawing/2014/main" id="{E0A790DA-F7E3-62C4-EE3A-CC4DF51B446D}"/>
              </a:ext>
            </a:extLst>
          </p:cNvPr>
          <p:cNvSpPr/>
          <p:nvPr/>
        </p:nvSpPr>
        <p:spPr>
          <a:xfrm>
            <a:off x="4902334" y="4700846"/>
            <a:ext cx="3858566" cy="877778"/>
          </a:xfrm>
          <a:prstGeom prst="roundRect">
            <a:avLst>
              <a:gd name="adj" fmla="val 6250"/>
            </a:avLst>
          </a:prstGeom>
          <a:solidFill>
            <a:srgbClr val="E8F1FF"/>
          </a:solidFill>
          <a:ln/>
          <a:effectLst>
            <a:outerShdw blurRad="50800" dist="19050" dir="2700000" algn="bl" rotWithShape="0">
              <a:srgbClr val="000000">
                <a:alpha val="10000"/>
              </a:srgbClr>
            </a:outerShdw>
          </a:effectLst>
        </p:spPr>
        <p:txBody>
          <a:bodyPr/>
          <a:lstStyle/>
          <a:p>
            <a:endParaRPr lang="ko-KR" altLang="en-US" sz="1634"/>
          </a:p>
        </p:txBody>
      </p:sp>
      <p:sp>
        <p:nvSpPr>
          <p:cNvPr id="47" name="Text 29">
            <a:extLst>
              <a:ext uri="{FF2B5EF4-FFF2-40B4-BE49-F238E27FC236}">
                <a16:creationId xmlns:a16="http://schemas.microsoft.com/office/drawing/2014/main" id="{F3DBCD44-00C5-F7DB-EEBB-72EE0123868B}"/>
              </a:ext>
            </a:extLst>
          </p:cNvPr>
          <p:cNvSpPr/>
          <p:nvPr/>
        </p:nvSpPr>
        <p:spPr>
          <a:xfrm>
            <a:off x="5012057" y="4746564"/>
            <a:ext cx="3639121" cy="786343"/>
          </a:xfrm>
          <a:prstGeom prst="rect">
            <a:avLst/>
          </a:prstGeom>
          <a:noFill/>
          <a:ln/>
        </p:spPr>
        <p:txBody>
          <a:bodyPr wrap="square" rtlCol="0" anchor="ctr"/>
          <a:lstStyle/>
          <a:p>
            <a:pPr>
              <a:lnSpc>
                <a:spcPct val="110000"/>
              </a:lnSpc>
            </a:pPr>
            <a:r>
              <a:rPr lang="en-US" sz="690" dirty="0">
                <a:solidFill>
                  <a:srgbClr val="1E293B"/>
                </a:solidFill>
                <a:latin typeface="맑은 고딕" pitchFamily="34" charset="0"/>
                <a:ea typeface="맑은 고딕" pitchFamily="34" charset="-122"/>
                <a:cs typeface="맑은 고딕" pitchFamily="34" charset="-120"/>
              </a:rPr>
              <a:t>대시보드 상태를 정상·주의·경고·위험 4단계 신호등 색상 + 라벨로 표시해 비전문가도 즉시 판단 가능하도록 UX 반영</a:t>
            </a:r>
            <a:endParaRPr lang="en-US" sz="690" dirty="0"/>
          </a:p>
        </p:txBody>
      </p:sp>
      <p:sp>
        <p:nvSpPr>
          <p:cNvPr id="49" name="Shape 30">
            <a:extLst>
              <a:ext uri="{FF2B5EF4-FFF2-40B4-BE49-F238E27FC236}">
                <a16:creationId xmlns:a16="http://schemas.microsoft.com/office/drawing/2014/main" id="{30E9B06F-ABD5-AFF4-476A-1E22884C6738}"/>
              </a:ext>
            </a:extLst>
          </p:cNvPr>
          <p:cNvSpPr/>
          <p:nvPr/>
        </p:nvSpPr>
        <p:spPr>
          <a:xfrm>
            <a:off x="623167" y="5670059"/>
            <a:ext cx="3931713" cy="877778"/>
          </a:xfrm>
          <a:prstGeom prst="roundRect">
            <a:avLst>
              <a:gd name="adj" fmla="val 6250"/>
            </a:avLst>
          </a:prstGeom>
          <a:solidFill>
            <a:srgbClr val="F6F6F5"/>
          </a:solidFill>
          <a:ln/>
          <a:effectLst>
            <a:outerShdw blurRad="50800" dist="19050" dir="2700000" algn="bl" rotWithShape="0">
              <a:srgbClr val="000000">
                <a:alpha val="10000"/>
              </a:srgbClr>
            </a:outerShdw>
          </a:effectLst>
        </p:spPr>
        <p:txBody>
          <a:bodyPr/>
          <a:lstStyle/>
          <a:p>
            <a:endParaRPr lang="ko-KR" altLang="en-US" sz="1634"/>
          </a:p>
        </p:txBody>
      </p:sp>
      <p:sp>
        <p:nvSpPr>
          <p:cNvPr id="51" name="Text 31">
            <a:extLst>
              <a:ext uri="{FF2B5EF4-FFF2-40B4-BE49-F238E27FC236}">
                <a16:creationId xmlns:a16="http://schemas.microsoft.com/office/drawing/2014/main" id="{C1D28FCE-23FC-A904-62AA-19D722D9CF61}"/>
              </a:ext>
            </a:extLst>
          </p:cNvPr>
          <p:cNvSpPr/>
          <p:nvPr/>
        </p:nvSpPr>
        <p:spPr>
          <a:xfrm>
            <a:off x="732889" y="5715777"/>
            <a:ext cx="3712269" cy="786343"/>
          </a:xfrm>
          <a:prstGeom prst="rect">
            <a:avLst/>
          </a:prstGeom>
          <a:noFill/>
          <a:ln/>
        </p:spPr>
        <p:txBody>
          <a:bodyPr wrap="square" rtlCol="0" anchor="t"/>
          <a:lstStyle/>
          <a:p>
            <a:pPr>
              <a:lnSpc>
                <a:spcPct val="108000"/>
              </a:lnSpc>
            </a:pPr>
            <a:r>
              <a:rPr lang="en-US" sz="780" b="1" dirty="0">
                <a:solidFill>
                  <a:srgbClr val="3B5BA7"/>
                </a:solidFill>
                <a:latin typeface="맑은 고딕" pitchFamily="34" charset="0"/>
                <a:ea typeface="맑은 고딕" pitchFamily="34" charset="-122"/>
                <a:cs typeface="맑은 고딕" pitchFamily="34" charset="-120"/>
              </a:rPr>
              <a:t>회사원 E (출장으로 보조배터리 상시 휴대)</a:t>
            </a:r>
            <a:endParaRPr lang="en-US" sz="780" dirty="0"/>
          </a:p>
          <a:p>
            <a:pPr>
              <a:lnSpc>
                <a:spcPct val="108000"/>
              </a:lnSpc>
            </a:pPr>
            <a:r>
              <a:rPr lang="en-US" sz="690" i="1" dirty="0">
                <a:solidFill>
                  <a:srgbClr val="1E293B"/>
                </a:solidFill>
                <a:latin typeface="맑은 고딕" pitchFamily="34" charset="0"/>
                <a:ea typeface="맑은 고딕" pitchFamily="34" charset="-122"/>
                <a:cs typeface="맑은 고딕" pitchFamily="34" charset="-120"/>
              </a:rPr>
              <a:t>제가 쓰는 보조배터리가 이제 얼마나 쓸만한 건지 감이 안 와요. 오래됐다는 느낌만 있지, 위험한 건지 그냥 용량만 준 건지 구분이 안 되니까요.</a:t>
            </a:r>
            <a:endParaRPr lang="en-US" sz="780" dirty="0"/>
          </a:p>
        </p:txBody>
      </p:sp>
      <p:sp>
        <p:nvSpPr>
          <p:cNvPr id="53" name="Text 32">
            <a:extLst>
              <a:ext uri="{FF2B5EF4-FFF2-40B4-BE49-F238E27FC236}">
                <a16:creationId xmlns:a16="http://schemas.microsoft.com/office/drawing/2014/main" id="{551BD842-F320-84F6-02E3-CCCE3673D40F}"/>
              </a:ext>
            </a:extLst>
          </p:cNvPr>
          <p:cNvSpPr/>
          <p:nvPr/>
        </p:nvSpPr>
        <p:spPr>
          <a:xfrm>
            <a:off x="4664602" y="6008370"/>
            <a:ext cx="274306" cy="201157"/>
          </a:xfrm>
          <a:prstGeom prst="rect">
            <a:avLst/>
          </a:prstGeom>
          <a:noFill/>
          <a:ln/>
        </p:spPr>
        <p:txBody>
          <a:bodyPr wrap="square" rtlCol="0" anchor="ctr"/>
          <a:lstStyle/>
          <a:p>
            <a:pPr algn="ctr"/>
            <a:r>
              <a:rPr lang="en-US" sz="1000" dirty="0">
                <a:solidFill>
                  <a:srgbClr val="3B5BA7"/>
                </a:solidFill>
              </a:rPr>
              <a:t>▶</a:t>
            </a:r>
            <a:endParaRPr lang="en-US" sz="1000" dirty="0"/>
          </a:p>
        </p:txBody>
      </p:sp>
      <p:sp>
        <p:nvSpPr>
          <p:cNvPr id="55" name="Shape 33">
            <a:extLst>
              <a:ext uri="{FF2B5EF4-FFF2-40B4-BE49-F238E27FC236}">
                <a16:creationId xmlns:a16="http://schemas.microsoft.com/office/drawing/2014/main" id="{96E6DD1A-2053-10B5-2A4C-A1EC8F81D214}"/>
              </a:ext>
            </a:extLst>
          </p:cNvPr>
          <p:cNvSpPr/>
          <p:nvPr/>
        </p:nvSpPr>
        <p:spPr>
          <a:xfrm>
            <a:off x="4902334" y="5670059"/>
            <a:ext cx="3858566" cy="877778"/>
          </a:xfrm>
          <a:prstGeom prst="roundRect">
            <a:avLst>
              <a:gd name="adj" fmla="val 6250"/>
            </a:avLst>
          </a:prstGeom>
          <a:solidFill>
            <a:srgbClr val="E8F1FF"/>
          </a:solidFill>
          <a:ln/>
          <a:effectLst>
            <a:outerShdw blurRad="50800" dist="19050" dir="2700000" algn="bl" rotWithShape="0">
              <a:srgbClr val="000000">
                <a:alpha val="10000"/>
              </a:srgbClr>
            </a:outerShdw>
          </a:effectLst>
        </p:spPr>
        <p:txBody>
          <a:bodyPr/>
          <a:lstStyle/>
          <a:p>
            <a:endParaRPr lang="ko-KR" altLang="en-US" sz="1634"/>
          </a:p>
        </p:txBody>
      </p:sp>
      <p:sp>
        <p:nvSpPr>
          <p:cNvPr id="57" name="Text 34">
            <a:extLst>
              <a:ext uri="{FF2B5EF4-FFF2-40B4-BE49-F238E27FC236}">
                <a16:creationId xmlns:a16="http://schemas.microsoft.com/office/drawing/2014/main" id="{D299B3FD-BCE5-E70D-116F-42B60DC73A2F}"/>
              </a:ext>
            </a:extLst>
          </p:cNvPr>
          <p:cNvSpPr/>
          <p:nvPr/>
        </p:nvSpPr>
        <p:spPr>
          <a:xfrm>
            <a:off x="5012057" y="5715777"/>
            <a:ext cx="3639121" cy="786343"/>
          </a:xfrm>
          <a:prstGeom prst="rect">
            <a:avLst/>
          </a:prstGeom>
          <a:noFill/>
          <a:ln/>
        </p:spPr>
        <p:txBody>
          <a:bodyPr wrap="square" rtlCol="0" anchor="ctr"/>
          <a:lstStyle/>
          <a:p>
            <a:pPr>
              <a:lnSpc>
                <a:spcPct val="110000"/>
              </a:lnSpc>
            </a:pPr>
            <a:r>
              <a:rPr lang="en-US" sz="690" dirty="0">
                <a:solidFill>
                  <a:srgbClr val="1E293B"/>
                </a:solidFill>
                <a:latin typeface="맑은 고딕" pitchFamily="34" charset="0"/>
                <a:ea typeface="맑은 고딕" pitchFamily="34" charset="-122"/>
                <a:cs typeface="맑은 고딕" pitchFamily="34" charset="-120"/>
              </a:rPr>
              <a:t>모드3 3단계 심층진단에서 실제 가용용량(SOH)을 등급화해 노후도와 위험도를 구분해 안내하도록 설계</a:t>
            </a:r>
            <a:endParaRPr lang="en-US" sz="690" dirty="0"/>
          </a:p>
        </p:txBody>
      </p:sp>
      <p:sp>
        <p:nvSpPr>
          <p:cNvPr id="59" name="Shape 8">
            <a:extLst>
              <a:ext uri="{FF2B5EF4-FFF2-40B4-BE49-F238E27FC236}">
                <a16:creationId xmlns:a16="http://schemas.microsoft.com/office/drawing/2014/main" id="{A6C73925-7DA6-AFF5-49FC-EE14A0FAA3BA}"/>
              </a:ext>
            </a:extLst>
          </p:cNvPr>
          <p:cNvSpPr/>
          <p:nvPr/>
        </p:nvSpPr>
        <p:spPr>
          <a:xfrm>
            <a:off x="605578" y="1501238"/>
            <a:ext cx="73148" cy="173727"/>
          </a:xfrm>
          <a:prstGeom prst="rect">
            <a:avLst/>
          </a:prstGeom>
          <a:solidFill>
            <a:srgbClr val="3B5BA7"/>
          </a:solidFill>
          <a:ln/>
        </p:spPr>
        <p:txBody>
          <a:bodyPr/>
          <a:lstStyle/>
          <a:p>
            <a:endParaRPr lang="ko-KR" altLang="en-US" sz="1634"/>
          </a:p>
        </p:txBody>
      </p:sp>
      <p:sp>
        <p:nvSpPr>
          <p:cNvPr id="61" name="Text 9">
            <a:extLst>
              <a:ext uri="{FF2B5EF4-FFF2-40B4-BE49-F238E27FC236}">
                <a16:creationId xmlns:a16="http://schemas.microsoft.com/office/drawing/2014/main" id="{E3E4AE4A-142A-8352-3FFA-A3CA2DC7F11D}"/>
              </a:ext>
            </a:extLst>
          </p:cNvPr>
          <p:cNvSpPr/>
          <p:nvPr/>
        </p:nvSpPr>
        <p:spPr>
          <a:xfrm>
            <a:off x="751873" y="1478379"/>
            <a:ext cx="6400464" cy="219444"/>
          </a:xfrm>
          <a:prstGeom prst="rect">
            <a:avLst/>
          </a:prstGeom>
          <a:noFill/>
          <a:ln/>
        </p:spPr>
        <p:txBody>
          <a:bodyPr wrap="square" rtlCol="0" anchor="ctr"/>
          <a:lstStyle/>
          <a:p>
            <a:r>
              <a:rPr lang="en-US" altLang="ko-KR" sz="1271" b="1" dirty="0">
                <a:solidFill>
                  <a:srgbClr val="3B5BA7"/>
                </a:solidFill>
                <a:latin typeface="맑은 고딕" pitchFamily="34" charset="0"/>
                <a:ea typeface="맑은 고딕" pitchFamily="34" charset="-122"/>
                <a:cs typeface="맑은 고딕" pitchFamily="34" charset="-120"/>
              </a:rPr>
              <a:t>Keep-In-Mind Message</a:t>
            </a:r>
            <a:r>
              <a:rPr lang="ko-KR" altLang="en-US" sz="1150" b="1" dirty="0">
                <a:solidFill>
                  <a:srgbClr val="1E293B"/>
                </a:solidFill>
                <a:latin typeface="맑은 고딕" pitchFamily="34" charset="0"/>
                <a:ea typeface="맑은 고딕" pitchFamily="34" charset="-122"/>
                <a:cs typeface="맑은 고딕" pitchFamily="34" charset="-120"/>
              </a:rPr>
              <a:t> </a:t>
            </a:r>
            <a:endParaRPr lang="en-US" sz="1150" dirty="0"/>
          </a:p>
        </p:txBody>
      </p:sp>
      <p:sp>
        <p:nvSpPr>
          <p:cNvPr id="65" name="Shape 8">
            <a:extLst>
              <a:ext uri="{FF2B5EF4-FFF2-40B4-BE49-F238E27FC236}">
                <a16:creationId xmlns:a16="http://schemas.microsoft.com/office/drawing/2014/main" id="{04DCF5D6-FCAB-B7BF-3E03-67F9EB6EDE7C}"/>
              </a:ext>
            </a:extLst>
          </p:cNvPr>
          <p:cNvSpPr/>
          <p:nvPr/>
        </p:nvSpPr>
        <p:spPr>
          <a:xfrm>
            <a:off x="4878031" y="1509758"/>
            <a:ext cx="73148" cy="173727"/>
          </a:xfrm>
          <a:prstGeom prst="rect">
            <a:avLst/>
          </a:prstGeom>
          <a:solidFill>
            <a:srgbClr val="3B5BA7"/>
          </a:solidFill>
          <a:ln/>
        </p:spPr>
        <p:txBody>
          <a:bodyPr/>
          <a:lstStyle/>
          <a:p>
            <a:endParaRPr lang="ko-KR" altLang="en-US" sz="1634"/>
          </a:p>
        </p:txBody>
      </p:sp>
      <p:sp>
        <p:nvSpPr>
          <p:cNvPr id="67" name="Text 9">
            <a:extLst>
              <a:ext uri="{FF2B5EF4-FFF2-40B4-BE49-F238E27FC236}">
                <a16:creationId xmlns:a16="http://schemas.microsoft.com/office/drawing/2014/main" id="{FB1C77E5-F4BB-2C53-16B7-A3F60DB62BCC}"/>
              </a:ext>
            </a:extLst>
          </p:cNvPr>
          <p:cNvSpPr/>
          <p:nvPr/>
        </p:nvSpPr>
        <p:spPr>
          <a:xfrm>
            <a:off x="5024327" y="1486899"/>
            <a:ext cx="6400464" cy="219444"/>
          </a:xfrm>
          <a:prstGeom prst="rect">
            <a:avLst/>
          </a:prstGeom>
          <a:noFill/>
          <a:ln/>
        </p:spPr>
        <p:txBody>
          <a:bodyPr wrap="square" rtlCol="0" anchor="ctr"/>
          <a:lstStyle/>
          <a:p>
            <a:r>
              <a:rPr lang="en-US" altLang="ko-KR" sz="1271" b="1" dirty="0">
                <a:solidFill>
                  <a:srgbClr val="1D4ED8"/>
                </a:solidFill>
                <a:latin typeface="맑은 고딕" pitchFamily="34" charset="0"/>
                <a:ea typeface="맑은 고딕" pitchFamily="34" charset="-122"/>
                <a:cs typeface="맑은 고딕" pitchFamily="34" charset="-120"/>
              </a:rPr>
              <a:t>본 </a:t>
            </a:r>
            <a:r>
              <a:rPr lang="en-US" altLang="ko-KR" sz="1271" b="1" dirty="0" err="1">
                <a:solidFill>
                  <a:srgbClr val="1D4ED8"/>
                </a:solidFill>
                <a:latin typeface="맑은 고딕" pitchFamily="34" charset="0"/>
                <a:ea typeface="맑은 고딕" pitchFamily="34" charset="-122"/>
                <a:cs typeface="맑은 고딕" pitchFamily="34" charset="-120"/>
              </a:rPr>
              <a:t>과제</a:t>
            </a:r>
            <a:r>
              <a:rPr lang="en-US" altLang="ko-KR" sz="1271" b="1" dirty="0">
                <a:solidFill>
                  <a:srgbClr val="1D4ED8"/>
                </a:solidFill>
                <a:latin typeface="맑은 고딕" pitchFamily="34" charset="0"/>
                <a:ea typeface="맑은 고딕" pitchFamily="34" charset="-122"/>
                <a:cs typeface="맑은 고딕" pitchFamily="34" charset="-120"/>
              </a:rPr>
              <a:t> </a:t>
            </a:r>
            <a:r>
              <a:rPr lang="en-US" altLang="ko-KR" sz="1271" b="1" dirty="0" err="1">
                <a:solidFill>
                  <a:srgbClr val="1D4ED8"/>
                </a:solidFill>
                <a:latin typeface="맑은 고딕" pitchFamily="34" charset="0"/>
                <a:ea typeface="맑은 고딕" pitchFamily="34" charset="-122"/>
                <a:cs typeface="맑은 고딕" pitchFamily="34" charset="-120"/>
              </a:rPr>
              <a:t>추진</a:t>
            </a:r>
            <a:r>
              <a:rPr lang="en-US" altLang="ko-KR" sz="1271" b="1" dirty="0">
                <a:solidFill>
                  <a:srgbClr val="1D4ED8"/>
                </a:solidFill>
                <a:latin typeface="맑은 고딕" pitchFamily="34" charset="0"/>
                <a:ea typeface="맑은 고딕" pitchFamily="34" charset="-122"/>
                <a:cs typeface="맑은 고딕" pitchFamily="34" charset="-120"/>
              </a:rPr>
              <a:t> </a:t>
            </a:r>
            <a:r>
              <a:rPr lang="en-US" altLang="ko-KR" sz="1271" b="1" dirty="0" err="1">
                <a:solidFill>
                  <a:srgbClr val="1D4ED8"/>
                </a:solidFill>
                <a:latin typeface="맑은 고딕" pitchFamily="34" charset="0"/>
                <a:ea typeface="맑은 고딕" pitchFamily="34" charset="-122"/>
                <a:cs typeface="맑은 고딕" pitchFamily="34" charset="-120"/>
              </a:rPr>
              <a:t>반영</a:t>
            </a:r>
            <a:r>
              <a:rPr lang="en-US" altLang="ko-KR" sz="1271" b="1" dirty="0">
                <a:solidFill>
                  <a:srgbClr val="1D4ED8"/>
                </a:solidFill>
                <a:latin typeface="맑은 고딕" pitchFamily="34" charset="0"/>
                <a:ea typeface="맑은 고딕" pitchFamily="34" charset="-122"/>
                <a:cs typeface="맑은 고딕" pitchFamily="34" charset="-120"/>
              </a:rPr>
              <a:t> </a:t>
            </a:r>
            <a:r>
              <a:rPr lang="en-US" altLang="ko-KR" sz="1271" b="1" dirty="0" err="1">
                <a:solidFill>
                  <a:srgbClr val="1D4ED8"/>
                </a:solidFill>
                <a:latin typeface="맑은 고딕" pitchFamily="34" charset="0"/>
                <a:ea typeface="맑은 고딕" pitchFamily="34" charset="-122"/>
                <a:cs typeface="맑은 고딕" pitchFamily="34" charset="-120"/>
              </a:rPr>
              <a:t>시사점</a:t>
            </a:r>
            <a:endParaRPr lang="en-US" altLang="ko-KR" sz="1271" b="1" dirty="0"/>
          </a:p>
        </p:txBody>
      </p:sp>
      <p:grpSp>
        <p:nvGrpSpPr>
          <p:cNvPr id="12" name="object 4">
            <a:extLst>
              <a:ext uri="{FF2B5EF4-FFF2-40B4-BE49-F238E27FC236}">
                <a16:creationId xmlns:a16="http://schemas.microsoft.com/office/drawing/2014/main" id="{867AC7AA-B4C6-93A7-B9EF-F93C70143CBA}"/>
              </a:ext>
            </a:extLst>
          </p:cNvPr>
          <p:cNvGrpSpPr/>
          <p:nvPr/>
        </p:nvGrpSpPr>
        <p:grpSpPr>
          <a:xfrm>
            <a:off x="611927" y="198213"/>
            <a:ext cx="551680" cy="539192"/>
            <a:chOff x="602469" y="223328"/>
            <a:chExt cx="645160" cy="630555"/>
          </a:xfrm>
        </p:grpSpPr>
        <p:sp>
          <p:nvSpPr>
            <p:cNvPr id="14" name="object 5">
              <a:extLst>
                <a:ext uri="{FF2B5EF4-FFF2-40B4-BE49-F238E27FC236}">
                  <a16:creationId xmlns:a16="http://schemas.microsoft.com/office/drawing/2014/main" id="{D98808FC-67BD-19EA-9D5F-1CBE3B6A1032}"/>
                </a:ext>
              </a:extLst>
            </p:cNvPr>
            <p:cNvSpPr/>
            <p:nvPr/>
          </p:nvSpPr>
          <p:spPr>
            <a:xfrm>
              <a:off x="615613" y="236472"/>
              <a:ext cx="618490" cy="604520"/>
            </a:xfrm>
            <a:custGeom>
              <a:avLst/>
              <a:gdLst/>
              <a:ahLst/>
              <a:cxnLst/>
              <a:rect l="l" t="t" r="r" b="b"/>
              <a:pathLst>
                <a:path w="618490" h="604519">
                  <a:moveTo>
                    <a:pt x="618285" y="0"/>
                  </a:moveTo>
                  <a:lnTo>
                    <a:pt x="316351" y="0"/>
                  </a:lnTo>
                  <a:lnTo>
                    <a:pt x="312305" y="48997"/>
                  </a:lnTo>
                  <a:lnTo>
                    <a:pt x="300593" y="95477"/>
                  </a:lnTo>
                  <a:lnTo>
                    <a:pt x="281850" y="138818"/>
                  </a:lnTo>
                  <a:lnTo>
                    <a:pt x="256714" y="178398"/>
                  </a:lnTo>
                  <a:lnTo>
                    <a:pt x="225819" y="213595"/>
                  </a:lnTo>
                  <a:lnTo>
                    <a:pt x="189804" y="243787"/>
                  </a:lnTo>
                  <a:lnTo>
                    <a:pt x="149304" y="268353"/>
                  </a:lnTo>
                  <a:lnTo>
                    <a:pt x="104955" y="286669"/>
                  </a:lnTo>
                  <a:lnTo>
                    <a:pt x="57394" y="298115"/>
                  </a:lnTo>
                  <a:lnTo>
                    <a:pt x="3629" y="302049"/>
                  </a:lnTo>
                  <a:lnTo>
                    <a:pt x="0" y="604098"/>
                  </a:lnTo>
                  <a:lnTo>
                    <a:pt x="47769" y="602841"/>
                  </a:lnTo>
                  <a:lnTo>
                    <a:pt x="94577" y="598027"/>
                  </a:lnTo>
                  <a:lnTo>
                    <a:pt x="140284" y="589789"/>
                  </a:lnTo>
                  <a:lnTo>
                    <a:pt x="184754" y="578258"/>
                  </a:lnTo>
                  <a:lnTo>
                    <a:pt x="227850" y="563569"/>
                  </a:lnTo>
                  <a:lnTo>
                    <a:pt x="269433" y="545853"/>
                  </a:lnTo>
                  <a:lnTo>
                    <a:pt x="309366" y="525243"/>
                  </a:lnTo>
                  <a:lnTo>
                    <a:pt x="347512" y="501872"/>
                  </a:lnTo>
                  <a:lnTo>
                    <a:pt x="383734" y="475873"/>
                  </a:lnTo>
                  <a:lnTo>
                    <a:pt x="417893" y="447378"/>
                  </a:lnTo>
                  <a:lnTo>
                    <a:pt x="449853" y="416520"/>
                  </a:lnTo>
                  <a:lnTo>
                    <a:pt x="479476" y="383432"/>
                  </a:lnTo>
                  <a:lnTo>
                    <a:pt x="506625" y="348246"/>
                  </a:lnTo>
                  <a:lnTo>
                    <a:pt x="531162" y="311096"/>
                  </a:lnTo>
                  <a:lnTo>
                    <a:pt x="552949" y="272113"/>
                  </a:lnTo>
                  <a:lnTo>
                    <a:pt x="571850" y="231431"/>
                  </a:lnTo>
                  <a:lnTo>
                    <a:pt x="587727" y="189183"/>
                  </a:lnTo>
                  <a:lnTo>
                    <a:pt x="600442" y="145500"/>
                  </a:lnTo>
                  <a:lnTo>
                    <a:pt x="609857" y="100516"/>
                  </a:lnTo>
                  <a:lnTo>
                    <a:pt x="615837" y="54363"/>
                  </a:lnTo>
                  <a:lnTo>
                    <a:pt x="618285" y="0"/>
                  </a:lnTo>
                  <a:close/>
                </a:path>
              </a:pathLst>
            </a:custGeom>
            <a:solidFill>
              <a:srgbClr val="FFFFFF"/>
            </a:solidFill>
          </p:spPr>
          <p:txBody>
            <a:bodyPr wrap="square" lIns="0" tIns="0" rIns="0" bIns="0" rtlCol="0"/>
            <a:lstStyle/>
            <a:p>
              <a:endParaRPr sz="1634"/>
            </a:p>
          </p:txBody>
        </p:sp>
        <p:sp>
          <p:nvSpPr>
            <p:cNvPr id="16" name="object 6">
              <a:extLst>
                <a:ext uri="{FF2B5EF4-FFF2-40B4-BE49-F238E27FC236}">
                  <a16:creationId xmlns:a16="http://schemas.microsoft.com/office/drawing/2014/main" id="{1F86C9FC-CB80-CAF0-F24C-111333832276}"/>
                </a:ext>
              </a:extLst>
            </p:cNvPr>
            <p:cNvSpPr/>
            <p:nvPr/>
          </p:nvSpPr>
          <p:spPr>
            <a:xfrm>
              <a:off x="615613" y="236472"/>
              <a:ext cx="618490" cy="604520"/>
            </a:xfrm>
            <a:custGeom>
              <a:avLst/>
              <a:gdLst/>
              <a:ahLst/>
              <a:cxnLst/>
              <a:rect l="l" t="t" r="r" b="b"/>
              <a:pathLst>
                <a:path w="618490" h="604519">
                  <a:moveTo>
                    <a:pt x="0" y="604098"/>
                  </a:moveTo>
                  <a:lnTo>
                    <a:pt x="47769" y="602842"/>
                  </a:lnTo>
                  <a:lnTo>
                    <a:pt x="94577" y="598028"/>
                  </a:lnTo>
                  <a:lnTo>
                    <a:pt x="140284" y="589789"/>
                  </a:lnTo>
                  <a:lnTo>
                    <a:pt x="184754" y="578259"/>
                  </a:lnTo>
                  <a:lnTo>
                    <a:pt x="227850" y="563569"/>
                  </a:lnTo>
                  <a:lnTo>
                    <a:pt x="269433" y="545853"/>
                  </a:lnTo>
                  <a:lnTo>
                    <a:pt x="309366" y="525243"/>
                  </a:lnTo>
                  <a:lnTo>
                    <a:pt x="347512" y="501872"/>
                  </a:lnTo>
                  <a:lnTo>
                    <a:pt x="383734" y="475873"/>
                  </a:lnTo>
                  <a:lnTo>
                    <a:pt x="417893" y="447378"/>
                  </a:lnTo>
                  <a:lnTo>
                    <a:pt x="449853" y="416520"/>
                  </a:lnTo>
                  <a:lnTo>
                    <a:pt x="479476" y="383432"/>
                  </a:lnTo>
                  <a:lnTo>
                    <a:pt x="506625" y="348247"/>
                  </a:lnTo>
                  <a:lnTo>
                    <a:pt x="531161" y="311096"/>
                  </a:lnTo>
                  <a:lnTo>
                    <a:pt x="552949" y="272114"/>
                  </a:lnTo>
                  <a:lnTo>
                    <a:pt x="571850" y="231432"/>
                  </a:lnTo>
                  <a:lnTo>
                    <a:pt x="587726" y="189183"/>
                  </a:lnTo>
                  <a:lnTo>
                    <a:pt x="600441" y="145501"/>
                  </a:lnTo>
                  <a:lnTo>
                    <a:pt x="609857" y="100517"/>
                  </a:lnTo>
                  <a:lnTo>
                    <a:pt x="615837" y="54364"/>
                  </a:lnTo>
                  <a:lnTo>
                    <a:pt x="618242" y="7176"/>
                  </a:lnTo>
                  <a:lnTo>
                    <a:pt x="618286" y="2392"/>
                  </a:lnTo>
                  <a:lnTo>
                    <a:pt x="618286" y="0"/>
                  </a:lnTo>
                  <a:lnTo>
                    <a:pt x="316351" y="0"/>
                  </a:lnTo>
                  <a:lnTo>
                    <a:pt x="312305" y="48997"/>
                  </a:lnTo>
                  <a:lnTo>
                    <a:pt x="300593" y="95477"/>
                  </a:lnTo>
                  <a:lnTo>
                    <a:pt x="281850" y="138818"/>
                  </a:lnTo>
                  <a:lnTo>
                    <a:pt x="256714" y="178398"/>
                  </a:lnTo>
                  <a:lnTo>
                    <a:pt x="225819" y="213595"/>
                  </a:lnTo>
                  <a:lnTo>
                    <a:pt x="189804" y="243788"/>
                  </a:lnTo>
                  <a:lnTo>
                    <a:pt x="149304" y="268353"/>
                  </a:lnTo>
                  <a:lnTo>
                    <a:pt x="104955" y="286670"/>
                  </a:lnTo>
                  <a:lnTo>
                    <a:pt x="57394" y="298116"/>
                  </a:lnTo>
                  <a:lnTo>
                    <a:pt x="7258" y="302070"/>
                  </a:lnTo>
                  <a:lnTo>
                    <a:pt x="6048" y="302070"/>
                  </a:lnTo>
                  <a:lnTo>
                    <a:pt x="4838" y="302063"/>
                  </a:lnTo>
                  <a:lnTo>
                    <a:pt x="3629" y="302049"/>
                  </a:lnTo>
                  <a:lnTo>
                    <a:pt x="0" y="604098"/>
                  </a:lnTo>
                  <a:close/>
                </a:path>
              </a:pathLst>
            </a:custGeom>
            <a:ln w="26287">
              <a:solidFill>
                <a:srgbClr val="FFFFFF"/>
              </a:solidFill>
            </a:ln>
          </p:spPr>
          <p:txBody>
            <a:bodyPr wrap="square" lIns="0" tIns="0" rIns="0" bIns="0" rtlCol="0"/>
            <a:lstStyle/>
            <a:p>
              <a:endParaRPr sz="1634"/>
            </a:p>
          </p:txBody>
        </p:sp>
      </p:grpSp>
      <p:sp>
        <p:nvSpPr>
          <p:cNvPr id="18" name="직사각형 17">
            <a:extLst>
              <a:ext uri="{FF2B5EF4-FFF2-40B4-BE49-F238E27FC236}">
                <a16:creationId xmlns:a16="http://schemas.microsoft.com/office/drawing/2014/main" id="{706B7D06-6660-8915-847E-8A7882A34696}"/>
              </a:ext>
            </a:extLst>
          </p:cNvPr>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0" name="직선 연결선 17">
            <a:extLst>
              <a:ext uri="{FF2B5EF4-FFF2-40B4-BE49-F238E27FC236}">
                <a16:creationId xmlns:a16="http://schemas.microsoft.com/office/drawing/2014/main" id="{EE33D2F3-5151-2789-FDDB-32D4E2024B50}"/>
              </a:ext>
            </a:extLst>
          </p:cNvPr>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2" name="직선 연결선 22">
            <a:extLst>
              <a:ext uri="{FF2B5EF4-FFF2-40B4-BE49-F238E27FC236}">
                <a16:creationId xmlns:a16="http://schemas.microsoft.com/office/drawing/2014/main" id="{F3CD9587-D6C6-BAC0-B9B4-51B6D0E44F27}"/>
              </a:ext>
            </a:extLst>
          </p:cNvPr>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4" name="제목 12">
            <a:extLst>
              <a:ext uri="{FF2B5EF4-FFF2-40B4-BE49-F238E27FC236}">
                <a16:creationId xmlns:a16="http://schemas.microsoft.com/office/drawing/2014/main" id="{8167BD17-C373-9813-72A9-B63A6A73FCDF}"/>
              </a:ext>
            </a:extLst>
          </p:cNvPr>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None/>
            </a:pPr>
            <a:r>
              <a:rPr lang="en-US" altLang="ko-KR" sz="1700" b="1" dirty="0">
                <a:solidFill>
                  <a:schemeClr val="bg1"/>
                </a:solidFill>
                <a:latin typeface="+mn-ea"/>
                <a:cs typeface="+mj-cs"/>
              </a:rPr>
              <a:t>| </a:t>
            </a:r>
            <a:r>
              <a:rPr lang="ko-KR" altLang="en-US" sz="1700" b="1" dirty="0">
                <a:solidFill>
                  <a:schemeClr val="bg1"/>
                </a:solidFill>
                <a:latin typeface="+mn-ea"/>
                <a:cs typeface="+mj-cs"/>
              </a:rPr>
              <a:t>설문조사 분석</a:t>
            </a:r>
          </a:p>
        </p:txBody>
      </p:sp>
      <p:pic>
        <p:nvPicPr>
          <p:cNvPr id="26" name="Picture 2">
            <a:extLst>
              <a:ext uri="{FF2B5EF4-FFF2-40B4-BE49-F238E27FC236}">
                <a16:creationId xmlns:a16="http://schemas.microsoft.com/office/drawing/2014/main" id="{30B12B96-55C7-1396-42E3-20EF61AA8E27}"/>
              </a:ext>
            </a:extLst>
          </p:cNvPr>
          <p:cNvPicPr>
            <a:picLocks noChangeAspect="1" noChangeArrowheads="1"/>
          </p:cNvPicPr>
          <p:nvPr/>
        </p:nvPicPr>
        <p:blipFill>
          <a:blip r:embed="rId3" cstate="print"/>
          <a:srcRect/>
          <a:stretch>
            <a:fillRect/>
          </a:stretch>
        </p:blipFill>
        <p:spPr bwMode="auto">
          <a:xfrm>
            <a:off x="8676456" y="476671"/>
            <a:ext cx="454960" cy="158965"/>
          </a:xfrm>
          <a:prstGeom prst="rect">
            <a:avLst/>
          </a:prstGeom>
          <a:noFill/>
          <a:ln w="9525">
            <a:noFill/>
            <a:miter lim="800000"/>
            <a:headEnd/>
            <a:tailEnd/>
          </a:ln>
        </p:spPr>
      </p:pic>
      <p:pic>
        <p:nvPicPr>
          <p:cNvPr id="28" name="그림 27">
            <a:extLst>
              <a:ext uri="{FF2B5EF4-FFF2-40B4-BE49-F238E27FC236}">
                <a16:creationId xmlns:a16="http://schemas.microsoft.com/office/drawing/2014/main" id="{56F65D43-EF8D-A6E0-5F22-C890726B7D8D}"/>
              </a:ext>
            </a:extLst>
          </p:cNvPr>
          <p:cNvPicPr>
            <a:picLocks noChangeAspect="1"/>
          </p:cNvPicPr>
          <p:nvPr/>
        </p:nvPicPr>
        <p:blipFill>
          <a:blip r:embed="rId4"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Tree>
    <p:extLst>
      <p:ext uri="{BB962C8B-B14F-4D97-AF65-F5344CB8AC3E}">
        <p14:creationId xmlns:p14="http://schemas.microsoft.com/office/powerpoint/2010/main" val="16618153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직사각형 13"/>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7" name="직선 연결선 16"/>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 name="직선 연결선 17"/>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19" name="제목 12"/>
          <p:cNvSpPr txBox="1">
            <a:spLocks/>
          </p:cNvSpPr>
          <p:nvPr/>
        </p:nvSpPr>
        <p:spPr>
          <a:xfrm>
            <a:off x="323528" y="692696"/>
            <a:ext cx="2808312"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a:t>
            </a:r>
            <a:r>
              <a:rPr lang="ko-KR" altLang="en-US" sz="1700" b="1" dirty="0">
                <a:solidFill>
                  <a:schemeClr val="bg1"/>
                </a:solidFill>
                <a:latin typeface="+mn-ea"/>
                <a:cs typeface="+mj-cs"/>
              </a:rPr>
              <a:t>요구사항 정의서</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1026"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5" name="막힌 원호 34"/>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2" name="그림 1">
            <a:extLst>
              <a:ext uri="{FF2B5EF4-FFF2-40B4-BE49-F238E27FC236}">
                <a16:creationId xmlns:a16="http://schemas.microsoft.com/office/drawing/2014/main" id="{76A8DEEC-EDDD-D5BE-5FB2-FEBE84D686ED}"/>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graphicFrame>
        <p:nvGraphicFramePr>
          <p:cNvPr id="1027" name="Table 1026"/>
          <p:cNvGraphicFramePr>
            <a:graphicFrameLocks noGrp="1"/>
          </p:cNvGraphicFramePr>
          <p:nvPr/>
        </p:nvGraphicFramePr>
        <p:xfrm>
          <a:off x="301752" y="1335024"/>
          <a:ext cx="4160519" cy="5230360"/>
        </p:xfrm>
        <a:graphic>
          <a:graphicData uri="http://schemas.openxmlformats.org/drawingml/2006/table">
            <a:tbl>
              <a:tblPr>
                <a:tableStyleId>{5C22544A-7EE6-4342-B048-85BDC9FD1C3A}</a:tableStyleId>
              </a:tblPr>
              <a:tblGrid>
                <a:gridCol w="655597">
                  <a:extLst>
                    <a:ext uri="{9D8B030D-6E8A-4147-A177-3AD203B41FA5}">
                      <a16:colId xmlns:a16="http://schemas.microsoft.com/office/drawing/2014/main" val="20000"/>
                    </a:ext>
                  </a:extLst>
                </a:gridCol>
                <a:gridCol w="868526">
                  <a:extLst>
                    <a:ext uri="{9D8B030D-6E8A-4147-A177-3AD203B41FA5}">
                      <a16:colId xmlns:a16="http://schemas.microsoft.com/office/drawing/2014/main" val="20001"/>
                    </a:ext>
                  </a:extLst>
                </a:gridCol>
                <a:gridCol w="1606306">
                  <a:extLst>
                    <a:ext uri="{9D8B030D-6E8A-4147-A177-3AD203B41FA5}">
                      <a16:colId xmlns:a16="http://schemas.microsoft.com/office/drawing/2014/main" val="20002"/>
                    </a:ext>
                  </a:extLst>
                </a:gridCol>
                <a:gridCol w="410915">
                  <a:extLst>
                    <a:ext uri="{9D8B030D-6E8A-4147-A177-3AD203B41FA5}">
                      <a16:colId xmlns:a16="http://schemas.microsoft.com/office/drawing/2014/main" val="20003"/>
                    </a:ext>
                  </a:extLst>
                </a:gridCol>
                <a:gridCol w="619175">
                  <a:extLst>
                    <a:ext uri="{9D8B030D-6E8A-4147-A177-3AD203B41FA5}">
                      <a16:colId xmlns:a16="http://schemas.microsoft.com/office/drawing/2014/main" val="20004"/>
                    </a:ext>
                  </a:extLst>
                </a:gridCol>
              </a:tblGrid>
              <a:tr h="261518">
                <a:tc>
                  <a:txBody>
                    <a:bodyPr/>
                    <a:lstStyle/>
                    <a:p>
                      <a:pPr algn="ctr"/>
                      <a:r>
                        <a:rPr sz="660" b="1">
                          <a:solidFill>
                            <a:srgbClr val="FFFFFF"/>
                          </a:solidFill>
                          <a:latin typeface="맑은 고딕"/>
                        </a:rPr>
                        <a:t>요구사항 ID</a:t>
                      </a:r>
                    </a:p>
                  </a:txBody>
                  <a:tcPr marL="27432" marR="27432" marT="4572" marB="4572" anchor="ctr">
                    <a:solidFill>
                      <a:srgbClr val="3B5AA8"/>
                    </a:solidFill>
                  </a:tcPr>
                </a:tc>
                <a:tc>
                  <a:txBody>
                    <a:bodyPr/>
                    <a:lstStyle/>
                    <a:p>
                      <a:pPr algn="ctr"/>
                      <a:r>
                        <a:rPr sz="660" b="1">
                          <a:solidFill>
                            <a:srgbClr val="FFFFFF"/>
                          </a:solidFill>
                          <a:latin typeface="맑은 고딕"/>
                        </a:rPr>
                        <a:t>요구사항명</a:t>
                      </a:r>
                    </a:p>
                  </a:txBody>
                  <a:tcPr marL="27432" marR="27432" marT="4572" marB="4572" anchor="ctr">
                    <a:solidFill>
                      <a:srgbClr val="3B5AA8"/>
                    </a:solidFill>
                  </a:tcPr>
                </a:tc>
                <a:tc>
                  <a:txBody>
                    <a:bodyPr/>
                    <a:lstStyle/>
                    <a:p>
                      <a:pPr algn="ctr"/>
                      <a:r>
                        <a:rPr sz="660" b="1">
                          <a:solidFill>
                            <a:srgbClr val="FFFFFF"/>
                          </a:solidFill>
                          <a:latin typeface="맑은 고딕"/>
                        </a:rPr>
                        <a:t>요구사항 상세설명</a:t>
                      </a:r>
                    </a:p>
                  </a:txBody>
                  <a:tcPr marL="27432" marR="27432" marT="4572" marB="4572" anchor="ctr">
                    <a:solidFill>
                      <a:srgbClr val="3B5AA8"/>
                    </a:solidFill>
                  </a:tcPr>
                </a:tc>
                <a:tc>
                  <a:txBody>
                    <a:bodyPr/>
                    <a:lstStyle/>
                    <a:p>
                      <a:pPr algn="ctr"/>
                      <a:r>
                        <a:rPr sz="660" b="1">
                          <a:solidFill>
                            <a:srgbClr val="FFFFFF"/>
                          </a:solidFill>
                          <a:latin typeface="맑은 고딕"/>
                        </a:rPr>
                        <a:t>중요도</a:t>
                      </a:r>
                    </a:p>
                  </a:txBody>
                  <a:tcPr marL="27432" marR="27432" marT="4572" marB="4572" anchor="ctr">
                    <a:solidFill>
                      <a:srgbClr val="3B5AA8"/>
                    </a:solidFill>
                  </a:tcPr>
                </a:tc>
                <a:tc>
                  <a:txBody>
                    <a:bodyPr/>
                    <a:lstStyle/>
                    <a:p>
                      <a:pPr algn="ctr"/>
                      <a:r>
                        <a:rPr sz="660" b="1">
                          <a:solidFill>
                            <a:srgbClr val="FFFFFF"/>
                          </a:solidFill>
                          <a:latin typeface="맑은 고딕"/>
                        </a:rPr>
                        <a:t>비고</a:t>
                      </a:r>
                    </a:p>
                  </a:txBody>
                  <a:tcPr marL="27432" marR="27432" marT="4572" marB="4572" anchor="ctr">
                    <a:solidFill>
                      <a:srgbClr val="3B5AA8"/>
                    </a:solidFill>
                  </a:tcPr>
                </a:tc>
                <a:extLst>
                  <a:ext uri="{0D108BD9-81ED-4DB2-BD59-A6C34878D82A}">
                    <a16:rowId xmlns:a16="http://schemas.microsoft.com/office/drawing/2014/main" val="10000"/>
                  </a:ext>
                </a:extLst>
              </a:tr>
              <a:tr h="261518">
                <a:tc>
                  <a:txBody>
                    <a:bodyPr/>
                    <a:lstStyle/>
                    <a:p>
                      <a:pPr algn="ctr"/>
                      <a:r>
                        <a:rPr sz="650" b="0">
                          <a:solidFill>
                            <a:srgbClr val="222222"/>
                          </a:solidFill>
                          <a:latin typeface="맑은 고딕"/>
                        </a:rPr>
                        <a:t>SRS-WEB-001</a:t>
                      </a:r>
                    </a:p>
                  </a:txBody>
                  <a:tcPr marL="27432" marR="27432" marT="4572" marB="4572" anchor="ctr">
                    <a:solidFill>
                      <a:srgbClr val="FFFFFF"/>
                    </a:solidFill>
                  </a:tcPr>
                </a:tc>
                <a:tc>
                  <a:txBody>
                    <a:bodyPr/>
                    <a:lstStyle/>
                    <a:p>
                      <a:pPr algn="l"/>
                      <a:r>
                        <a:rPr sz="650" b="0">
                          <a:solidFill>
                            <a:srgbClr val="222222"/>
                          </a:solidFill>
                          <a:latin typeface="맑은 고딕"/>
                        </a:rPr>
                        <a:t>이메일 로그인</a:t>
                      </a:r>
                    </a:p>
                  </a:txBody>
                  <a:tcPr marL="27432" marR="27432" marT="4572" marB="4572" anchor="ctr">
                    <a:solidFill>
                      <a:srgbClr val="FFFFFF"/>
                    </a:solidFill>
                  </a:tcPr>
                </a:tc>
                <a:tc>
                  <a:txBody>
                    <a:bodyPr/>
                    <a:lstStyle/>
                    <a:p>
                      <a:pPr algn="l"/>
                      <a:r>
                        <a:rPr sz="650" b="0">
                          <a:solidFill>
                            <a:srgbClr val="222222"/>
                          </a:solidFill>
                          <a:latin typeface="맑은 고딕"/>
                        </a:rPr>
                        <a:t>이메일로 안전하게 로그인.</a:t>
                      </a:r>
                    </a:p>
                  </a:txBody>
                  <a:tcPr marL="27432" marR="27432" marT="4572" marB="4572" anchor="ctr">
                    <a:solidFill>
                      <a:srgbClr val="FFFFFF"/>
                    </a:solidFill>
                  </a:tcPr>
                </a:tc>
                <a:tc>
                  <a:txBody>
                    <a:bodyPr/>
                    <a:lstStyle/>
                    <a:p>
                      <a:pPr algn="ctr"/>
                      <a:r>
                        <a:rPr sz="650" b="0">
                          <a:solidFill>
                            <a:srgbClr val="222222"/>
                          </a:solidFill>
                          <a:latin typeface="맑은 고딕"/>
                        </a:rPr>
                        <a:t>High</a:t>
                      </a:r>
                    </a:p>
                  </a:txBody>
                  <a:tcPr marL="27432" marR="27432" marT="4572" marB="4572" anchor="ctr">
                    <a:solidFill>
                      <a:srgbClr val="FFFFFF"/>
                    </a:solidFill>
                  </a:tcPr>
                </a:tc>
                <a:tc>
                  <a:txBody>
                    <a:bodyPr/>
                    <a:lstStyle/>
                    <a:p>
                      <a:pPr algn="ctr"/>
                      <a:r>
                        <a:rPr sz="650" b="0">
                          <a:solidFill>
                            <a:srgbClr val="222222"/>
                          </a:solidFill>
                          <a:latin typeface="맑은 고딕"/>
                        </a:rPr>
                        <a:t>인증</a:t>
                      </a:r>
                    </a:p>
                  </a:txBody>
                  <a:tcPr marL="27432" marR="27432" marT="4572" marB="4572" anchor="ctr">
                    <a:solidFill>
                      <a:srgbClr val="FFFFFF"/>
                    </a:solidFill>
                  </a:tcPr>
                </a:tc>
                <a:extLst>
                  <a:ext uri="{0D108BD9-81ED-4DB2-BD59-A6C34878D82A}">
                    <a16:rowId xmlns:a16="http://schemas.microsoft.com/office/drawing/2014/main" val="10001"/>
                  </a:ext>
                </a:extLst>
              </a:tr>
              <a:tr h="261518">
                <a:tc>
                  <a:txBody>
                    <a:bodyPr/>
                    <a:lstStyle/>
                    <a:p>
                      <a:pPr algn="ctr"/>
                      <a:r>
                        <a:rPr sz="650" b="0">
                          <a:solidFill>
                            <a:srgbClr val="222222"/>
                          </a:solidFill>
                          <a:latin typeface="맑은 고딕"/>
                        </a:rPr>
                        <a:t>SRS-WEB-002</a:t>
                      </a:r>
                    </a:p>
                  </a:txBody>
                  <a:tcPr marL="27432" marR="27432" marT="4572" marB="4572" anchor="ctr">
                    <a:solidFill>
                      <a:srgbClr val="EEF3FB"/>
                    </a:solidFill>
                  </a:tcPr>
                </a:tc>
                <a:tc>
                  <a:txBody>
                    <a:bodyPr/>
                    <a:lstStyle/>
                    <a:p>
                      <a:pPr algn="l"/>
                      <a:r>
                        <a:rPr sz="650" b="0">
                          <a:solidFill>
                            <a:srgbClr val="222222"/>
                          </a:solidFill>
                          <a:latin typeface="맑은 고딕"/>
                        </a:rPr>
                        <a:t>소셜 로그인</a:t>
                      </a:r>
                    </a:p>
                  </a:txBody>
                  <a:tcPr marL="27432" marR="27432" marT="4572" marB="4572" anchor="ctr">
                    <a:solidFill>
                      <a:srgbClr val="EEF3FB"/>
                    </a:solidFill>
                  </a:tcPr>
                </a:tc>
                <a:tc>
                  <a:txBody>
                    <a:bodyPr/>
                    <a:lstStyle/>
                    <a:p>
                      <a:pPr algn="l"/>
                      <a:r>
                        <a:rPr sz="650" b="0">
                          <a:solidFill>
                            <a:srgbClr val="222222"/>
                          </a:solidFill>
                          <a:latin typeface="맑은 고딕"/>
                        </a:rPr>
                        <a:t>카카오·네이버 계정으로 빠른 로그인.</a:t>
                      </a:r>
                    </a:p>
                  </a:txBody>
                  <a:tcPr marL="27432" marR="27432" marT="4572" marB="4572" anchor="ctr">
                    <a:solidFill>
                      <a:srgbClr val="EEF3FB"/>
                    </a:solidFill>
                  </a:tcPr>
                </a:tc>
                <a:tc>
                  <a:txBody>
                    <a:bodyPr/>
                    <a:lstStyle/>
                    <a:p>
                      <a:pPr algn="ctr"/>
                      <a:r>
                        <a:rPr sz="650" b="0">
                          <a:solidFill>
                            <a:srgbClr val="222222"/>
                          </a:solidFill>
                          <a:latin typeface="맑은 고딕"/>
                        </a:rPr>
                        <a:t>High</a:t>
                      </a:r>
                    </a:p>
                  </a:txBody>
                  <a:tcPr marL="27432" marR="27432" marT="4572" marB="4572" anchor="ctr">
                    <a:solidFill>
                      <a:srgbClr val="EEF3FB"/>
                    </a:solidFill>
                  </a:tcPr>
                </a:tc>
                <a:tc>
                  <a:txBody>
                    <a:bodyPr/>
                    <a:lstStyle/>
                    <a:p>
                      <a:pPr algn="ctr"/>
                      <a:r>
                        <a:rPr sz="650" b="0">
                          <a:solidFill>
                            <a:srgbClr val="222222"/>
                          </a:solidFill>
                          <a:latin typeface="맑은 고딕"/>
                        </a:rPr>
                        <a:t>소셜</a:t>
                      </a:r>
                    </a:p>
                  </a:txBody>
                  <a:tcPr marL="27432" marR="27432" marT="4572" marB="4572" anchor="ctr">
                    <a:solidFill>
                      <a:srgbClr val="EEF3FB"/>
                    </a:solidFill>
                  </a:tcPr>
                </a:tc>
                <a:extLst>
                  <a:ext uri="{0D108BD9-81ED-4DB2-BD59-A6C34878D82A}">
                    <a16:rowId xmlns:a16="http://schemas.microsoft.com/office/drawing/2014/main" val="10002"/>
                  </a:ext>
                </a:extLst>
              </a:tr>
              <a:tr h="261518">
                <a:tc>
                  <a:txBody>
                    <a:bodyPr/>
                    <a:lstStyle/>
                    <a:p>
                      <a:pPr algn="ctr"/>
                      <a:r>
                        <a:rPr sz="650" b="0">
                          <a:solidFill>
                            <a:srgbClr val="222222"/>
                          </a:solidFill>
                          <a:latin typeface="맑은 고딕"/>
                        </a:rPr>
                        <a:t>SRS-WEB-003</a:t>
                      </a:r>
                    </a:p>
                  </a:txBody>
                  <a:tcPr marL="27432" marR="27432" marT="4572" marB="4572" anchor="ctr">
                    <a:solidFill>
                      <a:srgbClr val="FFFFFF"/>
                    </a:solidFill>
                  </a:tcPr>
                </a:tc>
                <a:tc>
                  <a:txBody>
                    <a:bodyPr/>
                    <a:lstStyle/>
                    <a:p>
                      <a:pPr algn="l"/>
                      <a:r>
                        <a:rPr sz="650" b="0">
                          <a:solidFill>
                            <a:srgbClr val="222222"/>
                          </a:solidFill>
                          <a:latin typeface="맑은 고딕"/>
                        </a:rPr>
                        <a:t>계정 복구</a:t>
                      </a:r>
                    </a:p>
                  </a:txBody>
                  <a:tcPr marL="27432" marR="27432" marT="4572" marB="4572" anchor="ctr">
                    <a:solidFill>
                      <a:srgbClr val="FFFFFF"/>
                    </a:solidFill>
                  </a:tcPr>
                </a:tc>
                <a:tc>
                  <a:txBody>
                    <a:bodyPr/>
                    <a:lstStyle/>
                    <a:p>
                      <a:pPr algn="l"/>
                      <a:r>
                        <a:rPr sz="650" b="0">
                          <a:solidFill>
                            <a:srgbClr val="222222"/>
                          </a:solidFill>
                          <a:latin typeface="맑은 고딕"/>
                        </a:rPr>
                        <a:t>계정 분실 시 인증 후 접근 복구.</a:t>
                      </a:r>
                    </a:p>
                  </a:txBody>
                  <a:tcPr marL="27432" marR="27432" marT="4572" marB="4572" anchor="ctr">
                    <a:solidFill>
                      <a:srgbClr val="FFFFFF"/>
                    </a:solidFill>
                  </a:tcPr>
                </a:tc>
                <a:tc>
                  <a:txBody>
                    <a:bodyPr/>
                    <a:lstStyle/>
                    <a:p>
                      <a:pPr algn="ctr"/>
                      <a:r>
                        <a:rPr sz="650" b="0">
                          <a:solidFill>
                            <a:srgbClr val="222222"/>
                          </a:solidFill>
                          <a:latin typeface="맑은 고딕"/>
                        </a:rPr>
                        <a:t>Med</a:t>
                      </a:r>
                    </a:p>
                  </a:txBody>
                  <a:tcPr marL="27432" marR="27432" marT="4572" marB="4572" anchor="ctr">
                    <a:solidFill>
                      <a:srgbClr val="FFFFFF"/>
                    </a:solidFill>
                  </a:tcPr>
                </a:tc>
                <a:tc>
                  <a:txBody>
                    <a:bodyPr/>
                    <a:lstStyle/>
                    <a:p>
                      <a:pPr algn="ctr"/>
                      <a:r>
                        <a:rPr sz="650" b="0">
                          <a:solidFill>
                            <a:srgbClr val="222222"/>
                          </a:solidFill>
                          <a:latin typeface="맑은 고딕"/>
                        </a:rPr>
                        <a:t>계정</a:t>
                      </a:r>
                    </a:p>
                  </a:txBody>
                  <a:tcPr marL="27432" marR="27432" marT="4572" marB="4572" anchor="ctr">
                    <a:solidFill>
                      <a:srgbClr val="FFFFFF"/>
                    </a:solidFill>
                  </a:tcPr>
                </a:tc>
                <a:extLst>
                  <a:ext uri="{0D108BD9-81ED-4DB2-BD59-A6C34878D82A}">
                    <a16:rowId xmlns:a16="http://schemas.microsoft.com/office/drawing/2014/main" val="10003"/>
                  </a:ext>
                </a:extLst>
              </a:tr>
              <a:tr h="261518">
                <a:tc>
                  <a:txBody>
                    <a:bodyPr/>
                    <a:lstStyle/>
                    <a:p>
                      <a:pPr algn="ctr"/>
                      <a:r>
                        <a:rPr sz="650" b="0">
                          <a:solidFill>
                            <a:srgbClr val="222222"/>
                          </a:solidFill>
                          <a:latin typeface="맑은 고딕"/>
                        </a:rPr>
                        <a:t>SRS-WEB-004</a:t>
                      </a:r>
                    </a:p>
                  </a:txBody>
                  <a:tcPr marL="27432" marR="27432" marT="4572" marB="4572" anchor="ctr">
                    <a:solidFill>
                      <a:srgbClr val="EEF3FB"/>
                    </a:solidFill>
                  </a:tcPr>
                </a:tc>
                <a:tc>
                  <a:txBody>
                    <a:bodyPr/>
                    <a:lstStyle/>
                    <a:p>
                      <a:pPr algn="l"/>
                      <a:r>
                        <a:rPr sz="650" b="0">
                          <a:solidFill>
                            <a:srgbClr val="222222"/>
                          </a:solidFill>
                          <a:latin typeface="맑은 고딕"/>
                        </a:rPr>
                        <a:t>권한 분리</a:t>
                      </a:r>
                    </a:p>
                  </a:txBody>
                  <a:tcPr marL="27432" marR="27432" marT="4572" marB="4572" anchor="ctr">
                    <a:solidFill>
                      <a:srgbClr val="EEF3FB"/>
                    </a:solidFill>
                  </a:tcPr>
                </a:tc>
                <a:tc>
                  <a:txBody>
                    <a:bodyPr/>
                    <a:lstStyle/>
                    <a:p>
                      <a:pPr algn="l"/>
                      <a:r>
                        <a:rPr sz="650" b="0">
                          <a:solidFill>
                            <a:srgbClr val="222222"/>
                          </a:solidFill>
                          <a:latin typeface="맑은 고딕"/>
                        </a:rPr>
                        <a:t>역할별 화면 제공 및 접근 권한 제한.</a:t>
                      </a:r>
                    </a:p>
                  </a:txBody>
                  <a:tcPr marL="27432" marR="27432" marT="4572" marB="4572" anchor="ctr">
                    <a:solidFill>
                      <a:srgbClr val="EEF3FB"/>
                    </a:solidFill>
                  </a:tcPr>
                </a:tc>
                <a:tc>
                  <a:txBody>
                    <a:bodyPr/>
                    <a:lstStyle/>
                    <a:p>
                      <a:pPr algn="ctr"/>
                      <a:r>
                        <a:rPr sz="650" b="0">
                          <a:solidFill>
                            <a:srgbClr val="222222"/>
                          </a:solidFill>
                          <a:latin typeface="맑은 고딕"/>
                        </a:rPr>
                        <a:t>High</a:t>
                      </a:r>
                    </a:p>
                  </a:txBody>
                  <a:tcPr marL="27432" marR="27432" marT="4572" marB="4572" anchor="ctr">
                    <a:solidFill>
                      <a:srgbClr val="EEF3FB"/>
                    </a:solidFill>
                  </a:tcPr>
                </a:tc>
                <a:tc>
                  <a:txBody>
                    <a:bodyPr/>
                    <a:lstStyle/>
                    <a:p>
                      <a:pPr algn="ctr"/>
                      <a:r>
                        <a:rPr sz="650" b="0">
                          <a:solidFill>
                            <a:srgbClr val="222222"/>
                          </a:solidFill>
                          <a:latin typeface="맑은 고딕"/>
                        </a:rPr>
                        <a:t>RBAC</a:t>
                      </a:r>
                    </a:p>
                  </a:txBody>
                  <a:tcPr marL="27432" marR="27432" marT="4572" marB="4572" anchor="ctr">
                    <a:solidFill>
                      <a:srgbClr val="EEF3FB"/>
                    </a:solidFill>
                  </a:tcPr>
                </a:tc>
                <a:extLst>
                  <a:ext uri="{0D108BD9-81ED-4DB2-BD59-A6C34878D82A}">
                    <a16:rowId xmlns:a16="http://schemas.microsoft.com/office/drawing/2014/main" val="10004"/>
                  </a:ext>
                </a:extLst>
              </a:tr>
              <a:tr h="261518">
                <a:tc>
                  <a:txBody>
                    <a:bodyPr/>
                    <a:lstStyle/>
                    <a:p>
                      <a:pPr algn="ctr"/>
                      <a:r>
                        <a:rPr sz="650" b="0">
                          <a:solidFill>
                            <a:srgbClr val="222222"/>
                          </a:solidFill>
                          <a:latin typeface="맑은 고딕"/>
                        </a:rPr>
                        <a:t>SRS-WEB-005</a:t>
                      </a:r>
                    </a:p>
                  </a:txBody>
                  <a:tcPr marL="27432" marR="27432" marT="4572" marB="4572" anchor="ctr">
                    <a:solidFill>
                      <a:srgbClr val="FFFFFF"/>
                    </a:solidFill>
                  </a:tcPr>
                </a:tc>
                <a:tc>
                  <a:txBody>
                    <a:bodyPr/>
                    <a:lstStyle/>
                    <a:p>
                      <a:pPr algn="l"/>
                      <a:r>
                        <a:rPr sz="650" b="0">
                          <a:solidFill>
                            <a:srgbClr val="222222"/>
                          </a:solidFill>
                          <a:latin typeface="맑은 고딕"/>
                        </a:rPr>
                        <a:t>세션 관리</a:t>
                      </a:r>
                    </a:p>
                  </a:txBody>
                  <a:tcPr marL="27432" marR="27432" marT="4572" marB="4572" anchor="ctr">
                    <a:solidFill>
                      <a:srgbClr val="FFFFFF"/>
                    </a:solidFill>
                  </a:tcPr>
                </a:tc>
                <a:tc>
                  <a:txBody>
                    <a:bodyPr/>
                    <a:lstStyle/>
                    <a:p>
                      <a:pPr algn="l"/>
                      <a:r>
                        <a:rPr sz="650" b="0">
                          <a:solidFill>
                            <a:srgbClr val="222222"/>
                          </a:solidFill>
                          <a:latin typeface="맑은 고딕"/>
                        </a:rPr>
                        <a:t>로그인 상태 유지 및 미사용 세션 자동 만료.</a:t>
                      </a:r>
                    </a:p>
                  </a:txBody>
                  <a:tcPr marL="27432" marR="27432" marT="4572" marB="4572" anchor="ctr">
                    <a:solidFill>
                      <a:srgbClr val="FFFFFF"/>
                    </a:solidFill>
                  </a:tcPr>
                </a:tc>
                <a:tc>
                  <a:txBody>
                    <a:bodyPr/>
                    <a:lstStyle/>
                    <a:p>
                      <a:pPr algn="ctr"/>
                      <a:r>
                        <a:rPr sz="650" b="0">
                          <a:solidFill>
                            <a:srgbClr val="222222"/>
                          </a:solidFill>
                          <a:latin typeface="맑은 고딕"/>
                        </a:rPr>
                        <a:t>High</a:t>
                      </a:r>
                    </a:p>
                  </a:txBody>
                  <a:tcPr marL="27432" marR="27432" marT="4572" marB="4572" anchor="ctr">
                    <a:solidFill>
                      <a:srgbClr val="FFFFFF"/>
                    </a:solidFill>
                  </a:tcPr>
                </a:tc>
                <a:tc>
                  <a:txBody>
                    <a:bodyPr/>
                    <a:lstStyle/>
                    <a:p>
                      <a:pPr algn="ctr"/>
                      <a:r>
                        <a:rPr sz="650" b="0">
                          <a:solidFill>
                            <a:srgbClr val="222222"/>
                          </a:solidFill>
                          <a:latin typeface="맑은 고딕"/>
                        </a:rPr>
                        <a:t>JWT</a:t>
                      </a:r>
                    </a:p>
                  </a:txBody>
                  <a:tcPr marL="27432" marR="27432" marT="4572" marB="4572" anchor="ctr">
                    <a:solidFill>
                      <a:srgbClr val="FFFFFF"/>
                    </a:solidFill>
                  </a:tcPr>
                </a:tc>
                <a:extLst>
                  <a:ext uri="{0D108BD9-81ED-4DB2-BD59-A6C34878D82A}">
                    <a16:rowId xmlns:a16="http://schemas.microsoft.com/office/drawing/2014/main" val="10005"/>
                  </a:ext>
                </a:extLst>
              </a:tr>
              <a:tr h="261518">
                <a:tc>
                  <a:txBody>
                    <a:bodyPr/>
                    <a:lstStyle/>
                    <a:p>
                      <a:pPr algn="ctr"/>
                      <a:r>
                        <a:rPr sz="650" b="0">
                          <a:solidFill>
                            <a:srgbClr val="222222"/>
                          </a:solidFill>
                          <a:latin typeface="맑은 고딕"/>
                        </a:rPr>
                        <a:t>SRS-WEB-006</a:t>
                      </a:r>
                    </a:p>
                  </a:txBody>
                  <a:tcPr marL="27432" marR="27432" marT="4572" marB="4572" anchor="ctr">
                    <a:solidFill>
                      <a:srgbClr val="EEF3FB"/>
                    </a:solidFill>
                  </a:tcPr>
                </a:tc>
                <a:tc>
                  <a:txBody>
                    <a:bodyPr/>
                    <a:lstStyle/>
                    <a:p>
                      <a:pPr algn="l"/>
                      <a:r>
                        <a:rPr sz="650" b="0">
                          <a:solidFill>
                            <a:srgbClr val="222222"/>
                          </a:solidFill>
                          <a:latin typeface="맑은 고딕"/>
                        </a:rPr>
                        <a:t>배터리 등록</a:t>
                      </a:r>
                    </a:p>
                  </a:txBody>
                  <a:tcPr marL="27432" marR="27432" marT="4572" marB="4572" anchor="ctr">
                    <a:solidFill>
                      <a:srgbClr val="EEF3FB"/>
                    </a:solidFill>
                  </a:tcPr>
                </a:tc>
                <a:tc>
                  <a:txBody>
                    <a:bodyPr/>
                    <a:lstStyle/>
                    <a:p>
                      <a:pPr algn="l"/>
                      <a:r>
                        <a:rPr sz="650" b="0">
                          <a:solidFill>
                            <a:srgbClr val="222222"/>
                          </a:solidFill>
                          <a:latin typeface="맑은 고딕"/>
                        </a:rPr>
                        <a:t>배터리 등록 및 측정 이력 연결.</a:t>
                      </a:r>
                    </a:p>
                  </a:txBody>
                  <a:tcPr marL="27432" marR="27432" marT="4572" marB="4572" anchor="ctr">
                    <a:solidFill>
                      <a:srgbClr val="EEF3FB"/>
                    </a:solidFill>
                  </a:tcPr>
                </a:tc>
                <a:tc>
                  <a:txBody>
                    <a:bodyPr/>
                    <a:lstStyle/>
                    <a:p>
                      <a:pPr algn="ctr"/>
                      <a:r>
                        <a:rPr sz="650" b="0">
                          <a:solidFill>
                            <a:srgbClr val="222222"/>
                          </a:solidFill>
                          <a:latin typeface="맑은 고딕"/>
                        </a:rPr>
                        <a:t>High</a:t>
                      </a:r>
                    </a:p>
                  </a:txBody>
                  <a:tcPr marL="27432" marR="27432" marT="4572" marB="4572" anchor="ctr">
                    <a:solidFill>
                      <a:srgbClr val="EEF3FB"/>
                    </a:solidFill>
                  </a:tcPr>
                </a:tc>
                <a:tc>
                  <a:txBody>
                    <a:bodyPr/>
                    <a:lstStyle/>
                    <a:p>
                      <a:pPr algn="ctr"/>
                      <a:r>
                        <a:rPr sz="650" b="0">
                          <a:solidFill>
                            <a:srgbClr val="222222"/>
                          </a:solidFill>
                          <a:latin typeface="맑은 고딕"/>
                        </a:rPr>
                        <a:t>UUID</a:t>
                      </a:r>
                    </a:p>
                  </a:txBody>
                  <a:tcPr marL="27432" marR="27432" marT="4572" marB="4572" anchor="ctr">
                    <a:solidFill>
                      <a:srgbClr val="EEF3FB"/>
                    </a:solidFill>
                  </a:tcPr>
                </a:tc>
                <a:extLst>
                  <a:ext uri="{0D108BD9-81ED-4DB2-BD59-A6C34878D82A}">
                    <a16:rowId xmlns:a16="http://schemas.microsoft.com/office/drawing/2014/main" val="10006"/>
                  </a:ext>
                </a:extLst>
              </a:tr>
              <a:tr h="261518">
                <a:tc>
                  <a:txBody>
                    <a:bodyPr/>
                    <a:lstStyle/>
                    <a:p>
                      <a:pPr algn="ctr"/>
                      <a:r>
                        <a:rPr sz="650" b="0">
                          <a:solidFill>
                            <a:srgbClr val="222222"/>
                          </a:solidFill>
                          <a:latin typeface="맑은 고딕"/>
                        </a:rPr>
                        <a:t>SRS-WEB-007</a:t>
                      </a:r>
                    </a:p>
                  </a:txBody>
                  <a:tcPr marL="27432" marR="27432" marT="4572" marB="4572" anchor="ctr">
                    <a:solidFill>
                      <a:srgbClr val="FFFFFF"/>
                    </a:solidFill>
                  </a:tcPr>
                </a:tc>
                <a:tc>
                  <a:txBody>
                    <a:bodyPr/>
                    <a:lstStyle/>
                    <a:p>
                      <a:pPr algn="l"/>
                      <a:r>
                        <a:rPr sz="650" b="0">
                          <a:solidFill>
                            <a:srgbClr val="222222"/>
                          </a:solidFill>
                          <a:latin typeface="맑은 고딕"/>
                        </a:rPr>
                        <a:t>배터리 선택</a:t>
                      </a:r>
                    </a:p>
                  </a:txBody>
                  <a:tcPr marL="27432" marR="27432" marT="4572" marB="4572" anchor="ctr">
                    <a:solidFill>
                      <a:srgbClr val="FFFFFF"/>
                    </a:solidFill>
                  </a:tcPr>
                </a:tc>
                <a:tc>
                  <a:txBody>
                    <a:bodyPr/>
                    <a:lstStyle/>
                    <a:p>
                      <a:pPr algn="l"/>
                      <a:r>
                        <a:rPr sz="650" b="0">
                          <a:solidFill>
                            <a:srgbClr val="222222"/>
                          </a:solidFill>
                          <a:latin typeface="맑은 고딕"/>
                        </a:rPr>
                        <a:t>저장된 배터리 선택 및 이전 이력 연속 조회.</a:t>
                      </a:r>
                    </a:p>
                  </a:txBody>
                  <a:tcPr marL="27432" marR="27432" marT="4572" marB="4572" anchor="ctr">
                    <a:solidFill>
                      <a:srgbClr val="FFFFFF"/>
                    </a:solidFill>
                  </a:tcPr>
                </a:tc>
                <a:tc>
                  <a:txBody>
                    <a:bodyPr/>
                    <a:lstStyle/>
                    <a:p>
                      <a:pPr algn="ctr"/>
                      <a:r>
                        <a:rPr sz="650" b="0">
                          <a:solidFill>
                            <a:srgbClr val="222222"/>
                          </a:solidFill>
                          <a:latin typeface="맑은 고딕"/>
                        </a:rPr>
                        <a:t>High</a:t>
                      </a:r>
                    </a:p>
                  </a:txBody>
                  <a:tcPr marL="27432" marR="27432" marT="4572" marB="4572" anchor="ctr">
                    <a:solidFill>
                      <a:srgbClr val="FFFFFF"/>
                    </a:solidFill>
                  </a:tcPr>
                </a:tc>
                <a:tc>
                  <a:txBody>
                    <a:bodyPr/>
                    <a:lstStyle/>
                    <a:p>
                      <a:pPr algn="ctr"/>
                      <a:r>
                        <a:rPr sz="650" b="0">
                          <a:solidFill>
                            <a:srgbClr val="222222"/>
                          </a:solidFill>
                          <a:latin typeface="맑은 고딕"/>
                        </a:rPr>
                        <a:t>수동</a:t>
                      </a:r>
                    </a:p>
                  </a:txBody>
                  <a:tcPr marL="27432" marR="27432" marT="4572" marB="4572" anchor="ctr">
                    <a:solidFill>
                      <a:srgbClr val="FFFFFF"/>
                    </a:solidFill>
                  </a:tcPr>
                </a:tc>
                <a:extLst>
                  <a:ext uri="{0D108BD9-81ED-4DB2-BD59-A6C34878D82A}">
                    <a16:rowId xmlns:a16="http://schemas.microsoft.com/office/drawing/2014/main" val="10007"/>
                  </a:ext>
                </a:extLst>
              </a:tr>
              <a:tr h="261518">
                <a:tc>
                  <a:txBody>
                    <a:bodyPr/>
                    <a:lstStyle/>
                    <a:p>
                      <a:pPr algn="ctr"/>
                      <a:r>
                        <a:rPr sz="650" b="0">
                          <a:solidFill>
                            <a:srgbClr val="222222"/>
                          </a:solidFill>
                          <a:latin typeface="맑은 고딕"/>
                        </a:rPr>
                        <a:t>SRS-WEB-008</a:t>
                      </a:r>
                    </a:p>
                  </a:txBody>
                  <a:tcPr marL="27432" marR="27432" marT="4572" marB="4572" anchor="ctr">
                    <a:solidFill>
                      <a:srgbClr val="EEF3FB"/>
                    </a:solidFill>
                  </a:tcPr>
                </a:tc>
                <a:tc>
                  <a:txBody>
                    <a:bodyPr/>
                    <a:lstStyle/>
                    <a:p>
                      <a:pPr algn="l"/>
                      <a:r>
                        <a:rPr sz="650" b="0">
                          <a:solidFill>
                            <a:srgbClr val="222222"/>
                          </a:solidFill>
                          <a:latin typeface="맑은 고딕"/>
                        </a:rPr>
                        <a:t>측정 세션</a:t>
                      </a:r>
                    </a:p>
                  </a:txBody>
                  <a:tcPr marL="27432" marR="27432" marT="4572" marB="4572" anchor="ctr">
                    <a:solidFill>
                      <a:srgbClr val="EEF3FB"/>
                    </a:solidFill>
                  </a:tcPr>
                </a:tc>
                <a:tc>
                  <a:txBody>
                    <a:bodyPr/>
                    <a:lstStyle/>
                    <a:p>
                      <a:pPr algn="l"/>
                      <a:r>
                        <a:rPr sz="650" b="0">
                          <a:solidFill>
                            <a:srgbClr val="222222"/>
                          </a:solidFill>
                          <a:latin typeface="맑은 고딕"/>
                        </a:rPr>
                        <a:t>측정 시작·종료를 세션 단위로 기록.</a:t>
                      </a:r>
                    </a:p>
                  </a:txBody>
                  <a:tcPr marL="27432" marR="27432" marT="4572" marB="4572" anchor="ctr">
                    <a:solidFill>
                      <a:srgbClr val="EEF3FB"/>
                    </a:solidFill>
                  </a:tcPr>
                </a:tc>
                <a:tc>
                  <a:txBody>
                    <a:bodyPr/>
                    <a:lstStyle/>
                    <a:p>
                      <a:pPr algn="ctr"/>
                      <a:r>
                        <a:rPr sz="650" b="0">
                          <a:solidFill>
                            <a:srgbClr val="222222"/>
                          </a:solidFill>
                          <a:latin typeface="맑은 고딕"/>
                        </a:rPr>
                        <a:t>High</a:t>
                      </a:r>
                    </a:p>
                  </a:txBody>
                  <a:tcPr marL="27432" marR="27432" marT="4572" marB="4572" anchor="ctr">
                    <a:solidFill>
                      <a:srgbClr val="EEF3FB"/>
                    </a:solidFill>
                  </a:tcPr>
                </a:tc>
                <a:tc>
                  <a:txBody>
                    <a:bodyPr/>
                    <a:lstStyle/>
                    <a:p>
                      <a:pPr algn="ctr"/>
                      <a:r>
                        <a:rPr sz="650" b="0">
                          <a:solidFill>
                            <a:srgbClr val="222222"/>
                          </a:solidFill>
                          <a:latin typeface="맑은 고딕"/>
                        </a:rPr>
                        <a:t>단일</a:t>
                      </a:r>
                    </a:p>
                  </a:txBody>
                  <a:tcPr marL="27432" marR="27432" marT="4572" marB="4572" anchor="ctr">
                    <a:solidFill>
                      <a:srgbClr val="EEF3FB"/>
                    </a:solidFill>
                  </a:tcPr>
                </a:tc>
                <a:extLst>
                  <a:ext uri="{0D108BD9-81ED-4DB2-BD59-A6C34878D82A}">
                    <a16:rowId xmlns:a16="http://schemas.microsoft.com/office/drawing/2014/main" val="10008"/>
                  </a:ext>
                </a:extLst>
              </a:tr>
              <a:tr h="261518">
                <a:tc>
                  <a:txBody>
                    <a:bodyPr/>
                    <a:lstStyle/>
                    <a:p>
                      <a:pPr algn="ctr"/>
                      <a:r>
                        <a:rPr sz="650" b="0">
                          <a:solidFill>
                            <a:srgbClr val="222222"/>
                          </a:solidFill>
                          <a:latin typeface="맑은 고딕"/>
                        </a:rPr>
                        <a:t>SRS-WEB-009</a:t>
                      </a:r>
                    </a:p>
                  </a:txBody>
                  <a:tcPr marL="27432" marR="27432" marT="4572" marB="4572" anchor="ctr">
                    <a:solidFill>
                      <a:srgbClr val="FFFFFF"/>
                    </a:solidFill>
                  </a:tcPr>
                </a:tc>
                <a:tc>
                  <a:txBody>
                    <a:bodyPr/>
                    <a:lstStyle/>
                    <a:p>
                      <a:pPr algn="l"/>
                      <a:r>
                        <a:rPr sz="650" b="0">
                          <a:solidFill>
                            <a:srgbClr val="222222"/>
                          </a:solidFill>
                          <a:latin typeface="맑은 고딕"/>
                        </a:rPr>
                        <a:t>배터리 태깅</a:t>
                      </a:r>
                    </a:p>
                  </a:txBody>
                  <a:tcPr marL="27432" marR="27432" marT="4572" marB="4572" anchor="ctr">
                    <a:solidFill>
                      <a:srgbClr val="FFFFFF"/>
                    </a:solidFill>
                  </a:tcPr>
                </a:tc>
                <a:tc>
                  <a:txBody>
                    <a:bodyPr/>
                    <a:lstStyle/>
                    <a:p>
                      <a:pPr algn="l"/>
                      <a:r>
                        <a:rPr sz="650" b="0">
                          <a:solidFill>
                            <a:srgbClr val="222222"/>
                          </a:solidFill>
                          <a:latin typeface="맑은 고딕"/>
                        </a:rPr>
                        <a:t>센서값과 AI 결과를 선택 배터리에 연결.</a:t>
                      </a:r>
                    </a:p>
                  </a:txBody>
                  <a:tcPr marL="27432" marR="27432" marT="4572" marB="4572" anchor="ctr">
                    <a:solidFill>
                      <a:srgbClr val="FFFFFF"/>
                    </a:solidFill>
                  </a:tcPr>
                </a:tc>
                <a:tc>
                  <a:txBody>
                    <a:bodyPr/>
                    <a:lstStyle/>
                    <a:p>
                      <a:pPr algn="ctr"/>
                      <a:r>
                        <a:rPr sz="650" b="0">
                          <a:solidFill>
                            <a:srgbClr val="222222"/>
                          </a:solidFill>
                          <a:latin typeface="맑은 고딕"/>
                        </a:rPr>
                        <a:t>High</a:t>
                      </a:r>
                    </a:p>
                  </a:txBody>
                  <a:tcPr marL="27432" marR="27432" marT="4572" marB="4572" anchor="ctr">
                    <a:solidFill>
                      <a:srgbClr val="FFFFFF"/>
                    </a:solidFill>
                  </a:tcPr>
                </a:tc>
                <a:tc>
                  <a:txBody>
                    <a:bodyPr/>
                    <a:lstStyle/>
                    <a:p>
                      <a:pPr algn="ctr"/>
                      <a:r>
                        <a:rPr sz="650" b="0">
                          <a:solidFill>
                            <a:srgbClr val="222222"/>
                          </a:solidFill>
                          <a:latin typeface="맑은 고딕"/>
                        </a:rPr>
                        <a:t>적재</a:t>
                      </a:r>
                    </a:p>
                  </a:txBody>
                  <a:tcPr marL="27432" marR="27432" marT="4572" marB="4572" anchor="ctr">
                    <a:solidFill>
                      <a:srgbClr val="FFFFFF"/>
                    </a:solidFill>
                  </a:tcPr>
                </a:tc>
                <a:extLst>
                  <a:ext uri="{0D108BD9-81ED-4DB2-BD59-A6C34878D82A}">
                    <a16:rowId xmlns:a16="http://schemas.microsoft.com/office/drawing/2014/main" val="10009"/>
                  </a:ext>
                </a:extLst>
              </a:tr>
              <a:tr h="261518">
                <a:tc>
                  <a:txBody>
                    <a:bodyPr/>
                    <a:lstStyle/>
                    <a:p>
                      <a:pPr algn="ctr"/>
                      <a:r>
                        <a:rPr sz="650" b="0">
                          <a:solidFill>
                            <a:srgbClr val="222222"/>
                          </a:solidFill>
                          <a:latin typeface="맑은 고딕"/>
                        </a:rPr>
                        <a:t>SRS-WEB-010</a:t>
                      </a:r>
                    </a:p>
                  </a:txBody>
                  <a:tcPr marL="27432" marR="27432" marT="4572" marB="4572" anchor="ctr">
                    <a:solidFill>
                      <a:srgbClr val="EEF3FB"/>
                    </a:solidFill>
                  </a:tcPr>
                </a:tc>
                <a:tc>
                  <a:txBody>
                    <a:bodyPr/>
                    <a:lstStyle/>
                    <a:p>
                      <a:pPr algn="l"/>
                      <a:r>
                        <a:rPr sz="650" b="0">
                          <a:solidFill>
                            <a:srgbClr val="222222"/>
                          </a:solidFill>
                          <a:latin typeface="맑은 고딕"/>
                        </a:rPr>
                        <a:t>장비 상태</a:t>
                      </a:r>
                    </a:p>
                  </a:txBody>
                  <a:tcPr marL="27432" marR="27432" marT="4572" marB="4572" anchor="ctr">
                    <a:solidFill>
                      <a:srgbClr val="EEF3FB"/>
                    </a:solidFill>
                  </a:tcPr>
                </a:tc>
                <a:tc>
                  <a:txBody>
                    <a:bodyPr/>
                    <a:lstStyle/>
                    <a:p>
                      <a:pPr algn="l"/>
                      <a:r>
                        <a:rPr sz="650" b="0">
                          <a:solidFill>
                            <a:srgbClr val="222222"/>
                          </a:solidFill>
                          <a:latin typeface="맑은 고딕"/>
                        </a:rPr>
                        <a:t>측정 장비와 대상 배터리 상태 확인.</a:t>
                      </a:r>
                    </a:p>
                  </a:txBody>
                  <a:tcPr marL="27432" marR="27432" marT="4572" marB="4572" anchor="ctr">
                    <a:solidFill>
                      <a:srgbClr val="EEF3FB"/>
                    </a:solidFill>
                  </a:tcPr>
                </a:tc>
                <a:tc>
                  <a:txBody>
                    <a:bodyPr/>
                    <a:lstStyle/>
                    <a:p>
                      <a:pPr algn="ctr"/>
                      <a:r>
                        <a:rPr sz="650" b="0">
                          <a:solidFill>
                            <a:srgbClr val="222222"/>
                          </a:solidFill>
                          <a:latin typeface="맑은 고딕"/>
                        </a:rPr>
                        <a:t>Med</a:t>
                      </a:r>
                    </a:p>
                  </a:txBody>
                  <a:tcPr marL="27432" marR="27432" marT="4572" marB="4572" anchor="ctr">
                    <a:solidFill>
                      <a:srgbClr val="EEF3FB"/>
                    </a:solidFill>
                  </a:tcPr>
                </a:tc>
                <a:tc>
                  <a:txBody>
                    <a:bodyPr/>
                    <a:lstStyle/>
                    <a:p>
                      <a:pPr algn="ctr"/>
                      <a:r>
                        <a:rPr sz="650" b="0">
                          <a:solidFill>
                            <a:srgbClr val="222222"/>
                          </a:solidFill>
                          <a:latin typeface="맑은 고딕"/>
                        </a:rPr>
                        <a:t>기기</a:t>
                      </a:r>
                    </a:p>
                  </a:txBody>
                  <a:tcPr marL="27432" marR="27432" marT="4572" marB="4572" anchor="ctr">
                    <a:solidFill>
                      <a:srgbClr val="EEF3FB"/>
                    </a:solidFill>
                  </a:tcPr>
                </a:tc>
                <a:extLst>
                  <a:ext uri="{0D108BD9-81ED-4DB2-BD59-A6C34878D82A}">
                    <a16:rowId xmlns:a16="http://schemas.microsoft.com/office/drawing/2014/main" val="10010"/>
                  </a:ext>
                </a:extLst>
              </a:tr>
              <a:tr h="261518">
                <a:tc>
                  <a:txBody>
                    <a:bodyPr/>
                    <a:lstStyle/>
                    <a:p>
                      <a:pPr algn="ctr"/>
                      <a:r>
                        <a:rPr sz="650" b="0">
                          <a:solidFill>
                            <a:srgbClr val="222222"/>
                          </a:solidFill>
                          <a:latin typeface="맑은 고딕"/>
                        </a:rPr>
                        <a:t>SRS-WEB-011</a:t>
                      </a:r>
                    </a:p>
                  </a:txBody>
                  <a:tcPr marL="27432" marR="27432" marT="4572" marB="4572" anchor="ctr">
                    <a:solidFill>
                      <a:srgbClr val="FFFFFF"/>
                    </a:solidFill>
                  </a:tcPr>
                </a:tc>
                <a:tc>
                  <a:txBody>
                    <a:bodyPr/>
                    <a:lstStyle/>
                    <a:p>
                      <a:pPr algn="l"/>
                      <a:r>
                        <a:rPr sz="650" b="0">
                          <a:solidFill>
                            <a:srgbClr val="222222"/>
                          </a:solidFill>
                          <a:latin typeface="맑은 고딕"/>
                        </a:rPr>
                        <a:t>원본 저장</a:t>
                      </a:r>
                    </a:p>
                  </a:txBody>
                  <a:tcPr marL="27432" marR="27432" marT="4572" marB="4572" anchor="ctr">
                    <a:solidFill>
                      <a:srgbClr val="FFFFFF"/>
                    </a:solidFill>
                  </a:tcPr>
                </a:tc>
                <a:tc>
                  <a:txBody>
                    <a:bodyPr/>
                    <a:lstStyle/>
                    <a:p>
                      <a:pPr algn="l"/>
                      <a:r>
                        <a:rPr sz="650" b="0">
                          <a:solidFill>
                            <a:srgbClr val="222222"/>
                          </a:solidFill>
                          <a:latin typeface="맑은 고딕"/>
                        </a:rPr>
                        <a:t>센서 원본 데이터 누락 없는 저장.</a:t>
                      </a:r>
                    </a:p>
                  </a:txBody>
                  <a:tcPr marL="27432" marR="27432" marT="4572" marB="4572" anchor="ctr">
                    <a:solidFill>
                      <a:srgbClr val="FFFFFF"/>
                    </a:solidFill>
                  </a:tcPr>
                </a:tc>
                <a:tc>
                  <a:txBody>
                    <a:bodyPr/>
                    <a:lstStyle/>
                    <a:p>
                      <a:pPr algn="ctr"/>
                      <a:r>
                        <a:rPr sz="650" b="0">
                          <a:solidFill>
                            <a:srgbClr val="222222"/>
                          </a:solidFill>
                          <a:latin typeface="맑은 고딕"/>
                        </a:rPr>
                        <a:t>High</a:t>
                      </a:r>
                    </a:p>
                  </a:txBody>
                  <a:tcPr marL="27432" marR="27432" marT="4572" marB="4572" anchor="ctr">
                    <a:solidFill>
                      <a:srgbClr val="FFFFFF"/>
                    </a:solidFill>
                  </a:tcPr>
                </a:tc>
                <a:tc>
                  <a:txBody>
                    <a:bodyPr/>
                    <a:lstStyle/>
                    <a:p>
                      <a:pPr algn="ctr"/>
                      <a:r>
                        <a:rPr sz="650" b="0">
                          <a:solidFill>
                            <a:srgbClr val="222222"/>
                          </a:solidFill>
                          <a:latin typeface="맑은 고딕"/>
                        </a:rPr>
                        <a:t>적재</a:t>
                      </a:r>
                    </a:p>
                  </a:txBody>
                  <a:tcPr marL="27432" marR="27432" marT="4572" marB="4572" anchor="ctr">
                    <a:solidFill>
                      <a:srgbClr val="FFFFFF"/>
                    </a:solidFill>
                  </a:tcPr>
                </a:tc>
                <a:extLst>
                  <a:ext uri="{0D108BD9-81ED-4DB2-BD59-A6C34878D82A}">
                    <a16:rowId xmlns:a16="http://schemas.microsoft.com/office/drawing/2014/main" val="10011"/>
                  </a:ext>
                </a:extLst>
              </a:tr>
              <a:tr h="261518">
                <a:tc>
                  <a:txBody>
                    <a:bodyPr/>
                    <a:lstStyle/>
                    <a:p>
                      <a:pPr algn="ctr"/>
                      <a:r>
                        <a:rPr sz="650" b="0">
                          <a:solidFill>
                            <a:srgbClr val="222222"/>
                          </a:solidFill>
                          <a:latin typeface="맑은 고딕"/>
                        </a:rPr>
                        <a:t>SRS-WEB-012</a:t>
                      </a:r>
                    </a:p>
                  </a:txBody>
                  <a:tcPr marL="27432" marR="27432" marT="4572" marB="4572" anchor="ctr">
                    <a:solidFill>
                      <a:srgbClr val="EEF3FB"/>
                    </a:solidFill>
                  </a:tcPr>
                </a:tc>
                <a:tc>
                  <a:txBody>
                    <a:bodyPr/>
                    <a:lstStyle/>
                    <a:p>
                      <a:pPr algn="l"/>
                      <a:r>
                        <a:rPr sz="650" b="0">
                          <a:solidFill>
                            <a:srgbClr val="222222"/>
                          </a:solidFill>
                          <a:latin typeface="맑은 고딕"/>
                        </a:rPr>
                        <a:t>AI 결과 저장</a:t>
                      </a:r>
                    </a:p>
                  </a:txBody>
                  <a:tcPr marL="27432" marR="27432" marT="4572" marB="4572" anchor="ctr">
                    <a:solidFill>
                      <a:srgbClr val="EEF3FB"/>
                    </a:solidFill>
                  </a:tcPr>
                </a:tc>
                <a:tc>
                  <a:txBody>
                    <a:bodyPr/>
                    <a:lstStyle/>
                    <a:p>
                      <a:pPr algn="l"/>
                      <a:r>
                        <a:rPr sz="650" b="0">
                          <a:solidFill>
                            <a:srgbClr val="222222"/>
                          </a:solidFill>
                          <a:latin typeface="맑은 고딕"/>
                        </a:rPr>
                        <a:t>AI 이상점수와 위험 판단 결과 저장.</a:t>
                      </a:r>
                    </a:p>
                  </a:txBody>
                  <a:tcPr marL="27432" marR="27432" marT="4572" marB="4572" anchor="ctr">
                    <a:solidFill>
                      <a:srgbClr val="EEF3FB"/>
                    </a:solidFill>
                  </a:tcPr>
                </a:tc>
                <a:tc>
                  <a:txBody>
                    <a:bodyPr/>
                    <a:lstStyle/>
                    <a:p>
                      <a:pPr algn="ctr"/>
                      <a:r>
                        <a:rPr sz="650" b="0">
                          <a:solidFill>
                            <a:srgbClr val="222222"/>
                          </a:solidFill>
                          <a:latin typeface="맑은 고딕"/>
                        </a:rPr>
                        <a:t>High</a:t>
                      </a:r>
                    </a:p>
                  </a:txBody>
                  <a:tcPr marL="27432" marR="27432" marT="4572" marB="4572" anchor="ctr">
                    <a:solidFill>
                      <a:srgbClr val="EEF3FB"/>
                    </a:solidFill>
                  </a:tcPr>
                </a:tc>
                <a:tc>
                  <a:txBody>
                    <a:bodyPr/>
                    <a:lstStyle/>
                    <a:p>
                      <a:pPr algn="ctr"/>
                      <a:r>
                        <a:rPr sz="650" b="0">
                          <a:solidFill>
                            <a:srgbClr val="222222"/>
                          </a:solidFill>
                          <a:latin typeface="맑은 고딕"/>
                        </a:rPr>
                        <a:t>구독</a:t>
                      </a:r>
                    </a:p>
                  </a:txBody>
                  <a:tcPr marL="27432" marR="27432" marT="4572" marB="4572" anchor="ctr">
                    <a:solidFill>
                      <a:srgbClr val="EEF3FB"/>
                    </a:solidFill>
                  </a:tcPr>
                </a:tc>
                <a:extLst>
                  <a:ext uri="{0D108BD9-81ED-4DB2-BD59-A6C34878D82A}">
                    <a16:rowId xmlns:a16="http://schemas.microsoft.com/office/drawing/2014/main" val="10012"/>
                  </a:ext>
                </a:extLst>
              </a:tr>
              <a:tr h="261518">
                <a:tc>
                  <a:txBody>
                    <a:bodyPr/>
                    <a:lstStyle/>
                    <a:p>
                      <a:pPr algn="ctr"/>
                      <a:r>
                        <a:rPr sz="650" b="0">
                          <a:solidFill>
                            <a:srgbClr val="222222"/>
                          </a:solidFill>
                          <a:latin typeface="맑은 고딕"/>
                        </a:rPr>
                        <a:t>SRS-WEB-013</a:t>
                      </a:r>
                    </a:p>
                  </a:txBody>
                  <a:tcPr marL="27432" marR="27432" marT="4572" marB="4572" anchor="ctr">
                    <a:solidFill>
                      <a:srgbClr val="FFFFFF"/>
                    </a:solidFill>
                  </a:tcPr>
                </a:tc>
                <a:tc>
                  <a:txBody>
                    <a:bodyPr/>
                    <a:lstStyle/>
                    <a:p>
                      <a:pPr algn="l"/>
                      <a:r>
                        <a:rPr sz="650" b="0">
                          <a:solidFill>
                            <a:srgbClr val="222222"/>
                          </a:solidFill>
                          <a:latin typeface="맑은 고딕"/>
                        </a:rPr>
                        <a:t>데이터 재처리</a:t>
                      </a:r>
                    </a:p>
                  </a:txBody>
                  <a:tcPr marL="27432" marR="27432" marT="4572" marB="4572" anchor="ctr">
                    <a:solidFill>
                      <a:srgbClr val="FFFFFF"/>
                    </a:solidFill>
                  </a:tcPr>
                </a:tc>
                <a:tc>
                  <a:txBody>
                    <a:bodyPr/>
                    <a:lstStyle/>
                    <a:p>
                      <a:pPr algn="l"/>
                      <a:r>
                        <a:rPr sz="650" b="0">
                          <a:solidFill>
                            <a:srgbClr val="222222"/>
                          </a:solidFill>
                          <a:latin typeface="맑은 고딕"/>
                        </a:rPr>
                        <a:t>장애 후 마지막 처리 지점부터 재처리.</a:t>
                      </a:r>
                    </a:p>
                  </a:txBody>
                  <a:tcPr marL="27432" marR="27432" marT="4572" marB="4572" anchor="ctr">
                    <a:solidFill>
                      <a:srgbClr val="FFFFFF"/>
                    </a:solidFill>
                  </a:tcPr>
                </a:tc>
                <a:tc>
                  <a:txBody>
                    <a:bodyPr/>
                    <a:lstStyle/>
                    <a:p>
                      <a:pPr algn="ctr"/>
                      <a:r>
                        <a:rPr sz="650" b="0">
                          <a:solidFill>
                            <a:srgbClr val="222222"/>
                          </a:solidFill>
                          <a:latin typeface="맑은 고딕"/>
                        </a:rPr>
                        <a:t>Med</a:t>
                      </a:r>
                    </a:p>
                  </a:txBody>
                  <a:tcPr marL="27432" marR="27432" marT="4572" marB="4572" anchor="ctr">
                    <a:solidFill>
                      <a:srgbClr val="FFFFFF"/>
                    </a:solidFill>
                  </a:tcPr>
                </a:tc>
                <a:tc>
                  <a:txBody>
                    <a:bodyPr/>
                    <a:lstStyle/>
                    <a:p>
                      <a:pPr algn="ctr"/>
                      <a:r>
                        <a:rPr sz="650" b="0">
                          <a:solidFill>
                            <a:srgbClr val="222222"/>
                          </a:solidFill>
                          <a:latin typeface="맑은 고딕"/>
                        </a:rPr>
                        <a:t>재처리</a:t>
                      </a:r>
                    </a:p>
                  </a:txBody>
                  <a:tcPr marL="27432" marR="27432" marT="4572" marB="4572" anchor="ctr">
                    <a:solidFill>
                      <a:srgbClr val="FFFFFF"/>
                    </a:solidFill>
                  </a:tcPr>
                </a:tc>
                <a:extLst>
                  <a:ext uri="{0D108BD9-81ED-4DB2-BD59-A6C34878D82A}">
                    <a16:rowId xmlns:a16="http://schemas.microsoft.com/office/drawing/2014/main" val="10013"/>
                  </a:ext>
                </a:extLst>
              </a:tr>
              <a:tr h="261518">
                <a:tc>
                  <a:txBody>
                    <a:bodyPr/>
                    <a:lstStyle/>
                    <a:p>
                      <a:pPr algn="ctr"/>
                      <a:r>
                        <a:rPr sz="650" b="0">
                          <a:solidFill>
                            <a:srgbClr val="222222"/>
                          </a:solidFill>
                          <a:latin typeface="맑은 고딕"/>
                        </a:rPr>
                        <a:t>SRS-WEB-014</a:t>
                      </a:r>
                    </a:p>
                  </a:txBody>
                  <a:tcPr marL="27432" marR="27432" marT="4572" marB="4572" anchor="ctr">
                    <a:solidFill>
                      <a:srgbClr val="EEF3FB"/>
                    </a:solidFill>
                  </a:tcPr>
                </a:tc>
                <a:tc>
                  <a:txBody>
                    <a:bodyPr/>
                    <a:lstStyle/>
                    <a:p>
                      <a:pPr algn="l"/>
                      <a:r>
                        <a:rPr sz="650" b="0">
                          <a:solidFill>
                            <a:srgbClr val="222222"/>
                          </a:solidFill>
                          <a:latin typeface="맑은 고딕"/>
                        </a:rPr>
                        <a:t>빠른 조회</a:t>
                      </a:r>
                    </a:p>
                  </a:txBody>
                  <a:tcPr marL="27432" marR="27432" marT="4572" marB="4572" anchor="ctr">
                    <a:solidFill>
                      <a:srgbClr val="EEF3FB"/>
                    </a:solidFill>
                  </a:tcPr>
                </a:tc>
                <a:tc>
                  <a:txBody>
                    <a:bodyPr/>
                    <a:lstStyle/>
                    <a:p>
                      <a:pPr algn="l"/>
                      <a:r>
                        <a:rPr sz="650" b="0">
                          <a:solidFill>
                            <a:srgbClr val="222222"/>
                          </a:solidFill>
                          <a:latin typeface="맑은 고딕"/>
                        </a:rPr>
                        <a:t>긴 기간 전압·온도·전류 데이터 빠른 조회.</a:t>
                      </a:r>
                    </a:p>
                  </a:txBody>
                  <a:tcPr marL="27432" marR="27432" marT="4572" marB="4572" anchor="ctr">
                    <a:solidFill>
                      <a:srgbClr val="EEF3FB"/>
                    </a:solidFill>
                  </a:tcPr>
                </a:tc>
                <a:tc>
                  <a:txBody>
                    <a:bodyPr/>
                    <a:lstStyle/>
                    <a:p>
                      <a:pPr algn="ctr"/>
                      <a:r>
                        <a:rPr sz="650" b="0">
                          <a:solidFill>
                            <a:srgbClr val="222222"/>
                          </a:solidFill>
                          <a:latin typeface="맑은 고딕"/>
                        </a:rPr>
                        <a:t>High</a:t>
                      </a:r>
                    </a:p>
                  </a:txBody>
                  <a:tcPr marL="27432" marR="27432" marT="4572" marB="4572" anchor="ctr">
                    <a:solidFill>
                      <a:srgbClr val="EEF3FB"/>
                    </a:solidFill>
                  </a:tcPr>
                </a:tc>
                <a:tc>
                  <a:txBody>
                    <a:bodyPr/>
                    <a:lstStyle/>
                    <a:p>
                      <a:pPr algn="ctr"/>
                      <a:r>
                        <a:rPr sz="650" b="0">
                          <a:solidFill>
                            <a:srgbClr val="222222"/>
                          </a:solidFill>
                          <a:latin typeface="맑은 고딕"/>
                        </a:rPr>
                        <a:t>인덱스</a:t>
                      </a:r>
                    </a:p>
                  </a:txBody>
                  <a:tcPr marL="27432" marR="27432" marT="4572" marB="4572" anchor="ctr">
                    <a:solidFill>
                      <a:srgbClr val="EEF3FB"/>
                    </a:solidFill>
                  </a:tcPr>
                </a:tc>
                <a:extLst>
                  <a:ext uri="{0D108BD9-81ED-4DB2-BD59-A6C34878D82A}">
                    <a16:rowId xmlns:a16="http://schemas.microsoft.com/office/drawing/2014/main" val="10014"/>
                  </a:ext>
                </a:extLst>
              </a:tr>
              <a:tr h="261518">
                <a:tc>
                  <a:txBody>
                    <a:bodyPr/>
                    <a:lstStyle/>
                    <a:p>
                      <a:pPr algn="ctr"/>
                      <a:r>
                        <a:rPr sz="650" b="0">
                          <a:solidFill>
                            <a:srgbClr val="222222"/>
                          </a:solidFill>
                          <a:latin typeface="맑은 고딕"/>
                        </a:rPr>
                        <a:t>SRS-WEB-015</a:t>
                      </a:r>
                    </a:p>
                  </a:txBody>
                  <a:tcPr marL="27432" marR="27432" marT="4572" marB="4572" anchor="ctr">
                    <a:solidFill>
                      <a:srgbClr val="FFFFFF"/>
                    </a:solidFill>
                  </a:tcPr>
                </a:tc>
                <a:tc>
                  <a:txBody>
                    <a:bodyPr/>
                    <a:lstStyle/>
                    <a:p>
                      <a:pPr algn="l"/>
                      <a:r>
                        <a:rPr sz="650" b="0">
                          <a:solidFill>
                            <a:srgbClr val="222222"/>
                          </a:solidFill>
                          <a:latin typeface="맑은 고딕"/>
                        </a:rPr>
                        <a:t>상태 요약</a:t>
                      </a:r>
                    </a:p>
                  </a:txBody>
                  <a:tcPr marL="27432" marR="27432" marT="4572" marB="4572" anchor="ctr">
                    <a:solidFill>
                      <a:srgbClr val="FFFFFF"/>
                    </a:solidFill>
                  </a:tcPr>
                </a:tc>
                <a:tc>
                  <a:txBody>
                    <a:bodyPr/>
                    <a:lstStyle/>
                    <a:p>
                      <a:pPr algn="l"/>
                      <a:r>
                        <a:rPr sz="650" b="0">
                          <a:solidFill>
                            <a:srgbClr val="222222"/>
                          </a:solidFill>
                          <a:latin typeface="맑은 고딕"/>
                        </a:rPr>
                        <a:t>현재 센서값·이상점수·상태 등급 요약 조회.</a:t>
                      </a:r>
                    </a:p>
                  </a:txBody>
                  <a:tcPr marL="27432" marR="27432" marT="4572" marB="4572" anchor="ctr">
                    <a:solidFill>
                      <a:srgbClr val="FFFFFF"/>
                    </a:solidFill>
                  </a:tcPr>
                </a:tc>
                <a:tc>
                  <a:txBody>
                    <a:bodyPr/>
                    <a:lstStyle/>
                    <a:p>
                      <a:pPr algn="ctr"/>
                      <a:r>
                        <a:rPr sz="650" b="0">
                          <a:solidFill>
                            <a:srgbClr val="222222"/>
                          </a:solidFill>
                          <a:latin typeface="맑은 고딕"/>
                        </a:rPr>
                        <a:t>High</a:t>
                      </a:r>
                    </a:p>
                  </a:txBody>
                  <a:tcPr marL="27432" marR="27432" marT="4572" marB="4572" anchor="ctr">
                    <a:solidFill>
                      <a:srgbClr val="FFFFFF"/>
                    </a:solidFill>
                  </a:tcPr>
                </a:tc>
                <a:tc>
                  <a:txBody>
                    <a:bodyPr/>
                    <a:lstStyle/>
                    <a:p>
                      <a:pPr algn="ctr"/>
                      <a:r>
                        <a:rPr sz="650" b="0">
                          <a:solidFill>
                            <a:srgbClr val="222222"/>
                          </a:solidFill>
                          <a:latin typeface="맑은 고딕"/>
                        </a:rPr>
                        <a:t>REST</a:t>
                      </a:r>
                    </a:p>
                  </a:txBody>
                  <a:tcPr marL="27432" marR="27432" marT="4572" marB="4572" anchor="ctr">
                    <a:solidFill>
                      <a:srgbClr val="FFFFFF"/>
                    </a:solidFill>
                  </a:tcPr>
                </a:tc>
                <a:extLst>
                  <a:ext uri="{0D108BD9-81ED-4DB2-BD59-A6C34878D82A}">
                    <a16:rowId xmlns:a16="http://schemas.microsoft.com/office/drawing/2014/main" val="10015"/>
                  </a:ext>
                </a:extLst>
              </a:tr>
              <a:tr h="261518">
                <a:tc>
                  <a:txBody>
                    <a:bodyPr/>
                    <a:lstStyle/>
                    <a:p>
                      <a:pPr algn="ctr"/>
                      <a:r>
                        <a:rPr sz="650" b="0">
                          <a:solidFill>
                            <a:srgbClr val="222222"/>
                          </a:solidFill>
                          <a:latin typeface="맑은 고딕"/>
                        </a:rPr>
                        <a:t>SRS-WEB-016</a:t>
                      </a:r>
                    </a:p>
                  </a:txBody>
                  <a:tcPr marL="27432" marR="27432" marT="4572" marB="4572" anchor="ctr">
                    <a:solidFill>
                      <a:srgbClr val="EEF3FB"/>
                    </a:solidFill>
                  </a:tcPr>
                </a:tc>
                <a:tc>
                  <a:txBody>
                    <a:bodyPr/>
                    <a:lstStyle/>
                    <a:p>
                      <a:pPr algn="l"/>
                      <a:r>
                        <a:rPr sz="650" b="0">
                          <a:solidFill>
                            <a:srgbClr val="222222"/>
                          </a:solidFill>
                          <a:latin typeface="맑은 고딕"/>
                        </a:rPr>
                        <a:t>실시간 반영</a:t>
                      </a:r>
                    </a:p>
                  </a:txBody>
                  <a:tcPr marL="27432" marR="27432" marT="4572" marB="4572" anchor="ctr">
                    <a:solidFill>
                      <a:srgbClr val="EEF3FB"/>
                    </a:solidFill>
                  </a:tcPr>
                </a:tc>
                <a:tc>
                  <a:txBody>
                    <a:bodyPr/>
                    <a:lstStyle/>
                    <a:p>
                      <a:pPr algn="l"/>
                      <a:r>
                        <a:rPr sz="650" b="0">
                          <a:solidFill>
                            <a:srgbClr val="222222"/>
                          </a:solidFill>
                          <a:latin typeface="맑은 고딕"/>
                        </a:rPr>
                        <a:t>새로고침 없는 실시간 변화와 경고 반영.</a:t>
                      </a:r>
                    </a:p>
                  </a:txBody>
                  <a:tcPr marL="27432" marR="27432" marT="4572" marB="4572" anchor="ctr">
                    <a:solidFill>
                      <a:srgbClr val="EEF3FB"/>
                    </a:solidFill>
                  </a:tcPr>
                </a:tc>
                <a:tc>
                  <a:txBody>
                    <a:bodyPr/>
                    <a:lstStyle/>
                    <a:p>
                      <a:pPr algn="ctr"/>
                      <a:r>
                        <a:rPr sz="650" b="0">
                          <a:solidFill>
                            <a:srgbClr val="222222"/>
                          </a:solidFill>
                          <a:latin typeface="맑은 고딕"/>
                        </a:rPr>
                        <a:t>High</a:t>
                      </a:r>
                    </a:p>
                  </a:txBody>
                  <a:tcPr marL="27432" marR="27432" marT="4572" marB="4572" anchor="ctr">
                    <a:solidFill>
                      <a:srgbClr val="EEF3FB"/>
                    </a:solidFill>
                  </a:tcPr>
                </a:tc>
                <a:tc>
                  <a:txBody>
                    <a:bodyPr/>
                    <a:lstStyle/>
                    <a:p>
                      <a:pPr algn="ctr"/>
                      <a:r>
                        <a:rPr sz="650" b="0">
                          <a:solidFill>
                            <a:srgbClr val="222222"/>
                          </a:solidFill>
                          <a:latin typeface="맑은 고딕"/>
                        </a:rPr>
                        <a:t>WS</a:t>
                      </a:r>
                    </a:p>
                  </a:txBody>
                  <a:tcPr marL="27432" marR="27432" marT="4572" marB="4572" anchor="ctr">
                    <a:solidFill>
                      <a:srgbClr val="EEF3FB"/>
                    </a:solidFill>
                  </a:tcPr>
                </a:tc>
                <a:extLst>
                  <a:ext uri="{0D108BD9-81ED-4DB2-BD59-A6C34878D82A}">
                    <a16:rowId xmlns:a16="http://schemas.microsoft.com/office/drawing/2014/main" val="10016"/>
                  </a:ext>
                </a:extLst>
              </a:tr>
              <a:tr h="261518">
                <a:tc>
                  <a:txBody>
                    <a:bodyPr/>
                    <a:lstStyle/>
                    <a:p>
                      <a:pPr algn="ctr"/>
                      <a:r>
                        <a:rPr sz="650" b="0">
                          <a:solidFill>
                            <a:srgbClr val="222222"/>
                          </a:solidFill>
                          <a:latin typeface="맑은 고딕"/>
                        </a:rPr>
                        <a:t>SRS-WEB-017</a:t>
                      </a:r>
                    </a:p>
                  </a:txBody>
                  <a:tcPr marL="27432" marR="27432" marT="4572" marB="4572" anchor="ctr">
                    <a:solidFill>
                      <a:srgbClr val="FFFFFF"/>
                    </a:solidFill>
                  </a:tcPr>
                </a:tc>
                <a:tc>
                  <a:txBody>
                    <a:bodyPr/>
                    <a:lstStyle/>
                    <a:p>
                      <a:pPr algn="l"/>
                      <a:r>
                        <a:rPr sz="650" b="0">
                          <a:solidFill>
                            <a:srgbClr val="222222"/>
                          </a:solidFill>
                          <a:latin typeface="맑은 고딕"/>
                        </a:rPr>
                        <a:t>추세 비교</a:t>
                      </a:r>
                    </a:p>
                  </a:txBody>
                  <a:tcPr marL="27432" marR="27432" marT="4572" marB="4572" anchor="ctr">
                    <a:solidFill>
                      <a:srgbClr val="FFFFFF"/>
                    </a:solidFill>
                  </a:tcPr>
                </a:tc>
                <a:tc>
                  <a:txBody>
                    <a:bodyPr/>
                    <a:lstStyle/>
                    <a:p>
                      <a:pPr algn="l"/>
                      <a:r>
                        <a:rPr sz="650" b="0">
                          <a:solidFill>
                            <a:srgbClr val="222222"/>
                          </a:solidFill>
                          <a:latin typeface="맑은 고딕"/>
                        </a:rPr>
                        <a:t>기간·지표별 추세 그래프 비교.</a:t>
                      </a:r>
                    </a:p>
                  </a:txBody>
                  <a:tcPr marL="27432" marR="27432" marT="4572" marB="4572" anchor="ctr">
                    <a:solidFill>
                      <a:srgbClr val="FFFFFF"/>
                    </a:solidFill>
                  </a:tcPr>
                </a:tc>
                <a:tc>
                  <a:txBody>
                    <a:bodyPr/>
                    <a:lstStyle/>
                    <a:p>
                      <a:pPr algn="ctr"/>
                      <a:r>
                        <a:rPr sz="650" b="0">
                          <a:solidFill>
                            <a:srgbClr val="222222"/>
                          </a:solidFill>
                          <a:latin typeface="맑은 고딕"/>
                        </a:rPr>
                        <a:t>High</a:t>
                      </a:r>
                    </a:p>
                  </a:txBody>
                  <a:tcPr marL="27432" marR="27432" marT="4572" marB="4572" anchor="ctr">
                    <a:solidFill>
                      <a:srgbClr val="FFFFFF"/>
                    </a:solidFill>
                  </a:tcPr>
                </a:tc>
                <a:tc>
                  <a:txBody>
                    <a:bodyPr/>
                    <a:lstStyle/>
                    <a:p>
                      <a:pPr algn="ctr"/>
                      <a:r>
                        <a:rPr sz="650" b="0">
                          <a:solidFill>
                            <a:srgbClr val="222222"/>
                          </a:solidFill>
                          <a:latin typeface="맑은 고딕"/>
                        </a:rPr>
                        <a:t>필터</a:t>
                      </a:r>
                    </a:p>
                  </a:txBody>
                  <a:tcPr marL="27432" marR="27432" marT="4572" marB="4572" anchor="ctr">
                    <a:solidFill>
                      <a:srgbClr val="FFFFFF"/>
                    </a:solidFill>
                  </a:tcPr>
                </a:tc>
                <a:extLst>
                  <a:ext uri="{0D108BD9-81ED-4DB2-BD59-A6C34878D82A}">
                    <a16:rowId xmlns:a16="http://schemas.microsoft.com/office/drawing/2014/main" val="10017"/>
                  </a:ext>
                </a:extLst>
              </a:tr>
              <a:tr h="261518">
                <a:tc>
                  <a:txBody>
                    <a:bodyPr/>
                    <a:lstStyle/>
                    <a:p>
                      <a:pPr algn="ctr"/>
                      <a:r>
                        <a:rPr sz="650" b="0">
                          <a:solidFill>
                            <a:srgbClr val="222222"/>
                          </a:solidFill>
                          <a:latin typeface="맑은 고딕"/>
                        </a:rPr>
                        <a:t>SRS-WEB-018</a:t>
                      </a:r>
                    </a:p>
                  </a:txBody>
                  <a:tcPr marL="27432" marR="27432" marT="4572" marB="4572" anchor="ctr">
                    <a:solidFill>
                      <a:srgbClr val="EEF3FB"/>
                    </a:solidFill>
                  </a:tcPr>
                </a:tc>
                <a:tc>
                  <a:txBody>
                    <a:bodyPr/>
                    <a:lstStyle/>
                    <a:p>
                      <a:pPr algn="l"/>
                      <a:r>
                        <a:rPr sz="650" b="0">
                          <a:solidFill>
                            <a:srgbClr val="222222"/>
                          </a:solidFill>
                          <a:latin typeface="맑은 고딕"/>
                        </a:rPr>
                        <a:t>이력 검색</a:t>
                      </a:r>
                    </a:p>
                  </a:txBody>
                  <a:tcPr marL="27432" marR="27432" marT="4572" marB="4572" anchor="ctr">
                    <a:solidFill>
                      <a:srgbClr val="EEF3FB"/>
                    </a:solidFill>
                  </a:tcPr>
                </a:tc>
                <a:tc>
                  <a:txBody>
                    <a:bodyPr/>
                    <a:lstStyle/>
                    <a:p>
                      <a:pPr algn="l"/>
                      <a:r>
                        <a:rPr sz="650" b="0">
                          <a:solidFill>
                            <a:srgbClr val="222222"/>
                          </a:solidFill>
                          <a:latin typeface="맑은 고딕"/>
                        </a:rPr>
                        <a:t>이벤트·오류·제어 이력 검색.</a:t>
                      </a:r>
                    </a:p>
                  </a:txBody>
                  <a:tcPr marL="27432" marR="27432" marT="4572" marB="4572" anchor="ctr">
                    <a:solidFill>
                      <a:srgbClr val="EEF3FB"/>
                    </a:solidFill>
                  </a:tcPr>
                </a:tc>
                <a:tc>
                  <a:txBody>
                    <a:bodyPr/>
                    <a:lstStyle/>
                    <a:p>
                      <a:pPr algn="ctr"/>
                      <a:r>
                        <a:rPr sz="650" b="0">
                          <a:solidFill>
                            <a:srgbClr val="222222"/>
                          </a:solidFill>
                          <a:latin typeface="맑은 고딕"/>
                        </a:rPr>
                        <a:t>Med</a:t>
                      </a:r>
                    </a:p>
                  </a:txBody>
                  <a:tcPr marL="27432" marR="27432" marT="4572" marB="4572" anchor="ctr">
                    <a:solidFill>
                      <a:srgbClr val="EEF3FB"/>
                    </a:solidFill>
                  </a:tcPr>
                </a:tc>
                <a:tc>
                  <a:txBody>
                    <a:bodyPr/>
                    <a:lstStyle/>
                    <a:p>
                      <a:pPr algn="ctr"/>
                      <a:r>
                        <a:rPr sz="650" b="0">
                          <a:solidFill>
                            <a:srgbClr val="222222"/>
                          </a:solidFill>
                          <a:latin typeface="맑은 고딕"/>
                        </a:rPr>
                        <a:t>페이징</a:t>
                      </a:r>
                    </a:p>
                  </a:txBody>
                  <a:tcPr marL="27432" marR="27432" marT="4572" marB="4572" anchor="ctr">
                    <a:solidFill>
                      <a:srgbClr val="EEF3FB"/>
                    </a:solidFill>
                  </a:tcPr>
                </a:tc>
                <a:extLst>
                  <a:ext uri="{0D108BD9-81ED-4DB2-BD59-A6C34878D82A}">
                    <a16:rowId xmlns:a16="http://schemas.microsoft.com/office/drawing/2014/main" val="10018"/>
                  </a:ext>
                </a:extLst>
              </a:tr>
              <a:tr h="261518">
                <a:tc>
                  <a:txBody>
                    <a:bodyPr/>
                    <a:lstStyle/>
                    <a:p>
                      <a:pPr algn="ctr"/>
                      <a:r>
                        <a:rPr sz="650" b="0">
                          <a:solidFill>
                            <a:srgbClr val="222222"/>
                          </a:solidFill>
                          <a:latin typeface="맑은 고딕"/>
                        </a:rPr>
                        <a:t>SRS-WEB-019</a:t>
                      </a:r>
                    </a:p>
                  </a:txBody>
                  <a:tcPr marL="27432" marR="27432" marT="4572" marB="4572" anchor="ctr">
                    <a:solidFill>
                      <a:srgbClr val="FFFFFF"/>
                    </a:solidFill>
                  </a:tcPr>
                </a:tc>
                <a:tc>
                  <a:txBody>
                    <a:bodyPr/>
                    <a:lstStyle/>
                    <a:p>
                      <a:pPr algn="l"/>
                      <a:r>
                        <a:rPr sz="650" b="0">
                          <a:solidFill>
                            <a:srgbClr val="222222"/>
                          </a:solidFill>
                          <a:latin typeface="맑은 고딕"/>
                        </a:rPr>
                        <a:t>배터리 이력</a:t>
                      </a:r>
                    </a:p>
                  </a:txBody>
                  <a:tcPr marL="27432" marR="27432" marT="4572" marB="4572" anchor="ctr">
                    <a:solidFill>
                      <a:srgbClr val="FFFFFF"/>
                    </a:solidFill>
                  </a:tcPr>
                </a:tc>
                <a:tc>
                  <a:txBody>
                    <a:bodyPr/>
                    <a:lstStyle/>
                    <a:p>
                      <a:pPr algn="l"/>
                      <a:r>
                        <a:rPr sz="650" b="0">
                          <a:solidFill>
                            <a:srgbClr val="222222"/>
                          </a:solidFill>
                          <a:latin typeface="맑은 고딕"/>
                        </a:rPr>
                        <a:t>배터리별 세션·점수·이벤트 조회.</a:t>
                      </a:r>
                    </a:p>
                  </a:txBody>
                  <a:tcPr marL="27432" marR="27432" marT="4572" marB="4572" anchor="ctr">
                    <a:solidFill>
                      <a:srgbClr val="FFFFFF"/>
                    </a:solidFill>
                  </a:tcPr>
                </a:tc>
                <a:tc>
                  <a:txBody>
                    <a:bodyPr/>
                    <a:lstStyle/>
                    <a:p>
                      <a:pPr algn="ctr"/>
                      <a:r>
                        <a:rPr sz="650" b="0">
                          <a:solidFill>
                            <a:srgbClr val="222222"/>
                          </a:solidFill>
                          <a:latin typeface="맑은 고딕"/>
                        </a:rPr>
                        <a:t>Med</a:t>
                      </a:r>
                    </a:p>
                  </a:txBody>
                  <a:tcPr marL="27432" marR="27432" marT="4572" marB="4572" anchor="ctr">
                    <a:solidFill>
                      <a:srgbClr val="FFFFFF"/>
                    </a:solidFill>
                  </a:tcPr>
                </a:tc>
                <a:tc>
                  <a:txBody>
                    <a:bodyPr/>
                    <a:lstStyle/>
                    <a:p>
                      <a:pPr algn="ctr"/>
                      <a:r>
                        <a:rPr sz="650" b="0">
                          <a:solidFill>
                            <a:srgbClr val="222222"/>
                          </a:solidFill>
                          <a:latin typeface="맑은 고딕"/>
                        </a:rPr>
                        <a:t>이력</a:t>
                      </a:r>
                    </a:p>
                  </a:txBody>
                  <a:tcPr marL="27432" marR="27432" marT="4572" marB="4572" anchor="ctr">
                    <a:solidFill>
                      <a:srgbClr val="FFFFFF"/>
                    </a:solidFill>
                  </a:tcPr>
                </a:tc>
                <a:extLst>
                  <a:ext uri="{0D108BD9-81ED-4DB2-BD59-A6C34878D82A}">
                    <a16:rowId xmlns:a16="http://schemas.microsoft.com/office/drawing/2014/main" val="10019"/>
                  </a:ext>
                </a:extLst>
              </a:tr>
            </a:tbl>
          </a:graphicData>
        </a:graphic>
      </p:graphicFrame>
      <p:graphicFrame>
        <p:nvGraphicFramePr>
          <p:cNvPr id="1028" name="Table 1027"/>
          <p:cNvGraphicFramePr>
            <a:graphicFrameLocks noGrp="1"/>
          </p:cNvGraphicFramePr>
          <p:nvPr/>
        </p:nvGraphicFramePr>
        <p:xfrm>
          <a:off x="4681728" y="1335024"/>
          <a:ext cx="4160519" cy="5230360"/>
        </p:xfrm>
        <a:graphic>
          <a:graphicData uri="http://schemas.openxmlformats.org/drawingml/2006/table">
            <a:tbl>
              <a:tblPr>
                <a:tableStyleId>{5C22544A-7EE6-4342-B048-85BDC9FD1C3A}</a:tableStyleId>
              </a:tblPr>
              <a:tblGrid>
                <a:gridCol w="655597">
                  <a:extLst>
                    <a:ext uri="{9D8B030D-6E8A-4147-A177-3AD203B41FA5}">
                      <a16:colId xmlns:a16="http://schemas.microsoft.com/office/drawing/2014/main" val="20000"/>
                    </a:ext>
                  </a:extLst>
                </a:gridCol>
                <a:gridCol w="868526">
                  <a:extLst>
                    <a:ext uri="{9D8B030D-6E8A-4147-A177-3AD203B41FA5}">
                      <a16:colId xmlns:a16="http://schemas.microsoft.com/office/drawing/2014/main" val="20001"/>
                    </a:ext>
                  </a:extLst>
                </a:gridCol>
                <a:gridCol w="1606306">
                  <a:extLst>
                    <a:ext uri="{9D8B030D-6E8A-4147-A177-3AD203B41FA5}">
                      <a16:colId xmlns:a16="http://schemas.microsoft.com/office/drawing/2014/main" val="20002"/>
                    </a:ext>
                  </a:extLst>
                </a:gridCol>
                <a:gridCol w="410915">
                  <a:extLst>
                    <a:ext uri="{9D8B030D-6E8A-4147-A177-3AD203B41FA5}">
                      <a16:colId xmlns:a16="http://schemas.microsoft.com/office/drawing/2014/main" val="20003"/>
                    </a:ext>
                  </a:extLst>
                </a:gridCol>
                <a:gridCol w="619175">
                  <a:extLst>
                    <a:ext uri="{9D8B030D-6E8A-4147-A177-3AD203B41FA5}">
                      <a16:colId xmlns:a16="http://schemas.microsoft.com/office/drawing/2014/main" val="20004"/>
                    </a:ext>
                  </a:extLst>
                </a:gridCol>
              </a:tblGrid>
              <a:tr h="261518">
                <a:tc>
                  <a:txBody>
                    <a:bodyPr/>
                    <a:lstStyle/>
                    <a:p>
                      <a:pPr algn="ctr"/>
                      <a:r>
                        <a:rPr sz="660" b="1">
                          <a:solidFill>
                            <a:srgbClr val="FFFFFF"/>
                          </a:solidFill>
                          <a:latin typeface="맑은 고딕"/>
                        </a:rPr>
                        <a:t>요구사항 ID</a:t>
                      </a:r>
                    </a:p>
                  </a:txBody>
                  <a:tcPr marL="27432" marR="27432" marT="4572" marB="4572" anchor="ctr">
                    <a:solidFill>
                      <a:srgbClr val="3B5AA8"/>
                    </a:solidFill>
                  </a:tcPr>
                </a:tc>
                <a:tc>
                  <a:txBody>
                    <a:bodyPr/>
                    <a:lstStyle/>
                    <a:p>
                      <a:pPr algn="ctr"/>
                      <a:r>
                        <a:rPr sz="660" b="1">
                          <a:solidFill>
                            <a:srgbClr val="FFFFFF"/>
                          </a:solidFill>
                          <a:latin typeface="맑은 고딕"/>
                        </a:rPr>
                        <a:t>요구사항명</a:t>
                      </a:r>
                    </a:p>
                  </a:txBody>
                  <a:tcPr marL="27432" marR="27432" marT="4572" marB="4572" anchor="ctr">
                    <a:solidFill>
                      <a:srgbClr val="3B5AA8"/>
                    </a:solidFill>
                  </a:tcPr>
                </a:tc>
                <a:tc>
                  <a:txBody>
                    <a:bodyPr/>
                    <a:lstStyle/>
                    <a:p>
                      <a:pPr algn="ctr"/>
                      <a:r>
                        <a:rPr sz="660" b="1">
                          <a:solidFill>
                            <a:srgbClr val="FFFFFF"/>
                          </a:solidFill>
                          <a:latin typeface="맑은 고딕"/>
                        </a:rPr>
                        <a:t>요구사항 상세설명</a:t>
                      </a:r>
                    </a:p>
                  </a:txBody>
                  <a:tcPr marL="27432" marR="27432" marT="4572" marB="4572" anchor="ctr">
                    <a:solidFill>
                      <a:srgbClr val="3B5AA8"/>
                    </a:solidFill>
                  </a:tcPr>
                </a:tc>
                <a:tc>
                  <a:txBody>
                    <a:bodyPr/>
                    <a:lstStyle/>
                    <a:p>
                      <a:pPr algn="ctr"/>
                      <a:r>
                        <a:rPr sz="660" b="1">
                          <a:solidFill>
                            <a:srgbClr val="FFFFFF"/>
                          </a:solidFill>
                          <a:latin typeface="맑은 고딕"/>
                        </a:rPr>
                        <a:t>중요도</a:t>
                      </a:r>
                    </a:p>
                  </a:txBody>
                  <a:tcPr marL="27432" marR="27432" marT="4572" marB="4572" anchor="ctr">
                    <a:solidFill>
                      <a:srgbClr val="3B5AA8"/>
                    </a:solidFill>
                  </a:tcPr>
                </a:tc>
                <a:tc>
                  <a:txBody>
                    <a:bodyPr/>
                    <a:lstStyle/>
                    <a:p>
                      <a:pPr algn="ctr"/>
                      <a:r>
                        <a:rPr sz="660" b="1">
                          <a:solidFill>
                            <a:srgbClr val="FFFFFF"/>
                          </a:solidFill>
                          <a:latin typeface="맑은 고딕"/>
                        </a:rPr>
                        <a:t>비고</a:t>
                      </a:r>
                    </a:p>
                  </a:txBody>
                  <a:tcPr marL="27432" marR="27432" marT="4572" marB="4572" anchor="ctr">
                    <a:solidFill>
                      <a:srgbClr val="3B5AA8"/>
                    </a:solidFill>
                  </a:tcPr>
                </a:tc>
                <a:extLst>
                  <a:ext uri="{0D108BD9-81ED-4DB2-BD59-A6C34878D82A}">
                    <a16:rowId xmlns:a16="http://schemas.microsoft.com/office/drawing/2014/main" val="10000"/>
                  </a:ext>
                </a:extLst>
              </a:tr>
              <a:tr h="261518">
                <a:tc>
                  <a:txBody>
                    <a:bodyPr/>
                    <a:lstStyle/>
                    <a:p>
                      <a:pPr algn="ctr"/>
                      <a:r>
                        <a:rPr sz="650" b="0">
                          <a:solidFill>
                            <a:srgbClr val="222222"/>
                          </a:solidFill>
                          <a:latin typeface="맑은 고딕"/>
                        </a:rPr>
                        <a:t>SRS-WEB-020</a:t>
                      </a:r>
                    </a:p>
                  </a:txBody>
                  <a:tcPr marL="27432" marR="27432" marT="4572" marB="4572" anchor="ctr">
                    <a:solidFill>
                      <a:srgbClr val="FFFFFF"/>
                    </a:solidFill>
                  </a:tcPr>
                </a:tc>
                <a:tc>
                  <a:txBody>
                    <a:bodyPr/>
                    <a:lstStyle/>
                    <a:p>
                      <a:pPr algn="l"/>
                      <a:r>
                        <a:rPr sz="650" b="0">
                          <a:solidFill>
                            <a:srgbClr val="222222"/>
                          </a:solidFill>
                          <a:latin typeface="맑은 고딕"/>
                        </a:rPr>
                        <a:t>위험 기록</a:t>
                      </a:r>
                    </a:p>
                  </a:txBody>
                  <a:tcPr marL="27432" marR="27432" marT="4572" marB="4572" anchor="ctr">
                    <a:solidFill>
                      <a:srgbClr val="FFFFFF"/>
                    </a:solidFill>
                  </a:tcPr>
                </a:tc>
                <a:tc>
                  <a:txBody>
                    <a:bodyPr/>
                    <a:lstStyle/>
                    <a:p>
                      <a:pPr algn="l"/>
                      <a:r>
                        <a:rPr sz="650" b="0">
                          <a:solidFill>
                            <a:srgbClr val="222222"/>
                          </a:solidFill>
                          <a:latin typeface="맑은 고딕"/>
                        </a:rPr>
                        <a:t>위험 시점 값·점수·대응 상태 기록.</a:t>
                      </a:r>
                    </a:p>
                  </a:txBody>
                  <a:tcPr marL="27432" marR="27432" marT="4572" marB="4572" anchor="ctr">
                    <a:solidFill>
                      <a:srgbClr val="FFFFFF"/>
                    </a:solidFill>
                  </a:tcPr>
                </a:tc>
                <a:tc>
                  <a:txBody>
                    <a:bodyPr/>
                    <a:lstStyle/>
                    <a:p>
                      <a:pPr algn="ctr"/>
                      <a:r>
                        <a:rPr sz="650" b="0">
                          <a:solidFill>
                            <a:srgbClr val="222222"/>
                          </a:solidFill>
                          <a:latin typeface="맑은 고딕"/>
                        </a:rPr>
                        <a:t>High</a:t>
                      </a:r>
                    </a:p>
                  </a:txBody>
                  <a:tcPr marL="27432" marR="27432" marT="4572" marB="4572" anchor="ctr">
                    <a:solidFill>
                      <a:srgbClr val="FFFFFF"/>
                    </a:solidFill>
                  </a:tcPr>
                </a:tc>
                <a:tc>
                  <a:txBody>
                    <a:bodyPr/>
                    <a:lstStyle/>
                    <a:p>
                      <a:pPr algn="ctr"/>
                      <a:r>
                        <a:rPr sz="650" b="0">
                          <a:solidFill>
                            <a:srgbClr val="222222"/>
                          </a:solidFill>
                          <a:latin typeface="맑은 고딕"/>
                        </a:rPr>
                        <a:t>이벤트</a:t>
                      </a:r>
                    </a:p>
                  </a:txBody>
                  <a:tcPr marL="27432" marR="27432" marT="4572" marB="4572" anchor="ctr">
                    <a:solidFill>
                      <a:srgbClr val="FFFFFF"/>
                    </a:solidFill>
                  </a:tcPr>
                </a:tc>
                <a:extLst>
                  <a:ext uri="{0D108BD9-81ED-4DB2-BD59-A6C34878D82A}">
                    <a16:rowId xmlns:a16="http://schemas.microsoft.com/office/drawing/2014/main" val="10001"/>
                  </a:ext>
                </a:extLst>
              </a:tr>
              <a:tr h="261518">
                <a:tc>
                  <a:txBody>
                    <a:bodyPr/>
                    <a:lstStyle/>
                    <a:p>
                      <a:pPr algn="ctr"/>
                      <a:r>
                        <a:rPr sz="650" b="0">
                          <a:solidFill>
                            <a:srgbClr val="222222"/>
                          </a:solidFill>
                          <a:latin typeface="맑은 고딕"/>
                        </a:rPr>
                        <a:t>SRS-WEB-021</a:t>
                      </a:r>
                    </a:p>
                  </a:txBody>
                  <a:tcPr marL="27432" marR="27432" marT="4572" marB="4572" anchor="ctr">
                    <a:solidFill>
                      <a:srgbClr val="EEF3FB"/>
                    </a:solidFill>
                  </a:tcPr>
                </a:tc>
                <a:tc>
                  <a:txBody>
                    <a:bodyPr/>
                    <a:lstStyle/>
                    <a:p>
                      <a:pPr algn="l"/>
                      <a:r>
                        <a:rPr sz="650" b="0">
                          <a:solidFill>
                            <a:srgbClr val="222222"/>
                          </a:solidFill>
                          <a:latin typeface="맑은 고딕"/>
                        </a:rPr>
                        <a:t>위험 등급</a:t>
                      </a:r>
                    </a:p>
                  </a:txBody>
                  <a:tcPr marL="27432" marR="27432" marT="4572" marB="4572" anchor="ctr">
                    <a:solidFill>
                      <a:srgbClr val="EEF3FB"/>
                    </a:solidFill>
                  </a:tcPr>
                </a:tc>
                <a:tc>
                  <a:txBody>
                    <a:bodyPr/>
                    <a:lstStyle/>
                    <a:p>
                      <a:pPr algn="l"/>
                      <a:r>
                        <a:rPr sz="650" b="0">
                          <a:solidFill>
                            <a:srgbClr val="222222"/>
                          </a:solidFill>
                          <a:latin typeface="맑은 고딕"/>
                        </a:rPr>
                        <a:t>이상점수를 4단계 위험 등급으로 표시.</a:t>
                      </a:r>
                    </a:p>
                  </a:txBody>
                  <a:tcPr marL="27432" marR="27432" marT="4572" marB="4572" anchor="ctr">
                    <a:solidFill>
                      <a:srgbClr val="EEF3FB"/>
                    </a:solidFill>
                  </a:tcPr>
                </a:tc>
                <a:tc>
                  <a:txBody>
                    <a:bodyPr/>
                    <a:lstStyle/>
                    <a:p>
                      <a:pPr algn="ctr"/>
                      <a:r>
                        <a:rPr sz="650" b="0">
                          <a:solidFill>
                            <a:srgbClr val="222222"/>
                          </a:solidFill>
                          <a:latin typeface="맑은 고딕"/>
                        </a:rPr>
                        <a:t>High</a:t>
                      </a:r>
                    </a:p>
                  </a:txBody>
                  <a:tcPr marL="27432" marR="27432" marT="4572" marB="4572" anchor="ctr">
                    <a:solidFill>
                      <a:srgbClr val="EEF3FB"/>
                    </a:solidFill>
                  </a:tcPr>
                </a:tc>
                <a:tc>
                  <a:txBody>
                    <a:bodyPr/>
                    <a:lstStyle/>
                    <a:p>
                      <a:pPr algn="ctr"/>
                      <a:r>
                        <a:rPr sz="650" b="0">
                          <a:solidFill>
                            <a:srgbClr val="222222"/>
                          </a:solidFill>
                          <a:latin typeface="맑은 고딕"/>
                        </a:rPr>
                        <a:t>4등급</a:t>
                      </a:r>
                    </a:p>
                  </a:txBody>
                  <a:tcPr marL="27432" marR="27432" marT="4572" marB="4572" anchor="ctr">
                    <a:solidFill>
                      <a:srgbClr val="EEF3FB"/>
                    </a:solidFill>
                  </a:tcPr>
                </a:tc>
                <a:extLst>
                  <a:ext uri="{0D108BD9-81ED-4DB2-BD59-A6C34878D82A}">
                    <a16:rowId xmlns:a16="http://schemas.microsoft.com/office/drawing/2014/main" val="10002"/>
                  </a:ext>
                </a:extLst>
              </a:tr>
              <a:tr h="261518">
                <a:tc>
                  <a:txBody>
                    <a:bodyPr/>
                    <a:lstStyle/>
                    <a:p>
                      <a:pPr algn="ctr"/>
                      <a:r>
                        <a:rPr sz="650" b="0">
                          <a:solidFill>
                            <a:srgbClr val="222222"/>
                          </a:solidFill>
                          <a:latin typeface="맑은 고딕"/>
                        </a:rPr>
                        <a:t>SRS-WEB-022</a:t>
                      </a:r>
                    </a:p>
                  </a:txBody>
                  <a:tcPr marL="27432" marR="27432" marT="4572" marB="4572" anchor="ctr">
                    <a:solidFill>
                      <a:srgbClr val="FFFFFF"/>
                    </a:solidFill>
                  </a:tcPr>
                </a:tc>
                <a:tc>
                  <a:txBody>
                    <a:bodyPr/>
                    <a:lstStyle/>
                    <a:p>
                      <a:pPr algn="l"/>
                      <a:r>
                        <a:rPr sz="650" b="0">
                          <a:solidFill>
                            <a:srgbClr val="222222"/>
                          </a:solidFill>
                          <a:latin typeface="맑은 고딕"/>
                        </a:rPr>
                        <a:t>알림 기준</a:t>
                      </a:r>
                    </a:p>
                  </a:txBody>
                  <a:tcPr marL="27432" marR="27432" marT="4572" marB="4572" anchor="ctr">
                    <a:solidFill>
                      <a:srgbClr val="FFFFFF"/>
                    </a:solidFill>
                  </a:tcPr>
                </a:tc>
                <a:tc>
                  <a:txBody>
                    <a:bodyPr/>
                    <a:lstStyle/>
                    <a:p>
                      <a:pPr algn="l"/>
                      <a:r>
                        <a:rPr sz="650" b="0">
                          <a:solidFill>
                            <a:srgbClr val="222222"/>
                          </a:solidFill>
                          <a:latin typeface="맑은 고딕"/>
                        </a:rPr>
                        <a:t>실험 목적별 알림 조건 확인.</a:t>
                      </a:r>
                    </a:p>
                  </a:txBody>
                  <a:tcPr marL="27432" marR="27432" marT="4572" marB="4572" anchor="ctr">
                    <a:solidFill>
                      <a:srgbClr val="FFFFFF"/>
                    </a:solidFill>
                  </a:tcPr>
                </a:tc>
                <a:tc>
                  <a:txBody>
                    <a:bodyPr/>
                    <a:lstStyle/>
                    <a:p>
                      <a:pPr algn="ctr"/>
                      <a:r>
                        <a:rPr sz="650" b="0">
                          <a:solidFill>
                            <a:srgbClr val="222222"/>
                          </a:solidFill>
                          <a:latin typeface="맑은 고딕"/>
                        </a:rPr>
                        <a:t>Med</a:t>
                      </a:r>
                    </a:p>
                  </a:txBody>
                  <a:tcPr marL="27432" marR="27432" marT="4572" marB="4572" anchor="ctr">
                    <a:solidFill>
                      <a:srgbClr val="FFFFFF"/>
                    </a:solidFill>
                  </a:tcPr>
                </a:tc>
                <a:tc>
                  <a:txBody>
                    <a:bodyPr/>
                    <a:lstStyle/>
                    <a:p>
                      <a:pPr algn="ctr"/>
                      <a:r>
                        <a:rPr sz="650" b="0">
                          <a:solidFill>
                            <a:srgbClr val="222222"/>
                          </a:solidFill>
                          <a:latin typeface="맑은 고딕"/>
                        </a:rPr>
                        <a:t>설정</a:t>
                      </a:r>
                    </a:p>
                  </a:txBody>
                  <a:tcPr marL="27432" marR="27432" marT="4572" marB="4572" anchor="ctr">
                    <a:solidFill>
                      <a:srgbClr val="FFFFFF"/>
                    </a:solidFill>
                  </a:tcPr>
                </a:tc>
                <a:extLst>
                  <a:ext uri="{0D108BD9-81ED-4DB2-BD59-A6C34878D82A}">
                    <a16:rowId xmlns:a16="http://schemas.microsoft.com/office/drawing/2014/main" val="10003"/>
                  </a:ext>
                </a:extLst>
              </a:tr>
              <a:tr h="261518">
                <a:tc>
                  <a:txBody>
                    <a:bodyPr/>
                    <a:lstStyle/>
                    <a:p>
                      <a:pPr algn="ctr"/>
                      <a:r>
                        <a:rPr sz="650" b="0">
                          <a:solidFill>
                            <a:srgbClr val="222222"/>
                          </a:solidFill>
                          <a:latin typeface="맑은 고딕"/>
                        </a:rPr>
                        <a:t>SRS-WEB-023</a:t>
                      </a:r>
                    </a:p>
                  </a:txBody>
                  <a:tcPr marL="27432" marR="27432" marT="4572" marB="4572" anchor="ctr">
                    <a:solidFill>
                      <a:srgbClr val="EEF3FB"/>
                    </a:solidFill>
                  </a:tcPr>
                </a:tc>
                <a:tc>
                  <a:txBody>
                    <a:bodyPr/>
                    <a:lstStyle/>
                    <a:p>
                      <a:pPr algn="l"/>
                      <a:r>
                        <a:rPr sz="650" b="0">
                          <a:solidFill>
                            <a:srgbClr val="222222"/>
                          </a:solidFill>
                          <a:latin typeface="맑은 고딕"/>
                        </a:rPr>
                        <a:t>외부 알림</a:t>
                      </a:r>
                    </a:p>
                  </a:txBody>
                  <a:tcPr marL="27432" marR="27432" marT="4572" marB="4572" anchor="ctr">
                    <a:solidFill>
                      <a:srgbClr val="EEF3FB"/>
                    </a:solidFill>
                  </a:tcPr>
                </a:tc>
                <a:tc>
                  <a:txBody>
                    <a:bodyPr/>
                    <a:lstStyle/>
                    <a:p>
                      <a:pPr algn="l"/>
                      <a:r>
                        <a:rPr sz="650" b="0">
                          <a:solidFill>
                            <a:srgbClr val="222222"/>
                          </a:solidFill>
                          <a:latin typeface="맑은 고딕"/>
                        </a:rPr>
                        <a:t>경고·위험 상태 외부 알림 발송.</a:t>
                      </a:r>
                    </a:p>
                  </a:txBody>
                  <a:tcPr marL="27432" marR="27432" marT="4572" marB="4572" anchor="ctr">
                    <a:solidFill>
                      <a:srgbClr val="EEF3FB"/>
                    </a:solidFill>
                  </a:tcPr>
                </a:tc>
                <a:tc>
                  <a:txBody>
                    <a:bodyPr/>
                    <a:lstStyle/>
                    <a:p>
                      <a:pPr algn="ctr"/>
                      <a:r>
                        <a:rPr sz="650" b="0">
                          <a:solidFill>
                            <a:srgbClr val="222222"/>
                          </a:solidFill>
                          <a:latin typeface="맑은 고딕"/>
                        </a:rPr>
                        <a:t>High</a:t>
                      </a:r>
                    </a:p>
                  </a:txBody>
                  <a:tcPr marL="27432" marR="27432" marT="4572" marB="4572" anchor="ctr">
                    <a:solidFill>
                      <a:srgbClr val="EEF3FB"/>
                    </a:solidFill>
                  </a:tcPr>
                </a:tc>
                <a:tc>
                  <a:txBody>
                    <a:bodyPr/>
                    <a:lstStyle/>
                    <a:p>
                      <a:pPr algn="ctr"/>
                      <a:r>
                        <a:rPr sz="650" b="0">
                          <a:solidFill>
                            <a:srgbClr val="222222"/>
                          </a:solidFill>
                          <a:latin typeface="맑은 고딕"/>
                        </a:rPr>
                        <a:t>카카오</a:t>
                      </a:r>
                    </a:p>
                  </a:txBody>
                  <a:tcPr marL="27432" marR="27432" marT="4572" marB="4572" anchor="ctr">
                    <a:solidFill>
                      <a:srgbClr val="EEF3FB"/>
                    </a:solidFill>
                  </a:tcPr>
                </a:tc>
                <a:extLst>
                  <a:ext uri="{0D108BD9-81ED-4DB2-BD59-A6C34878D82A}">
                    <a16:rowId xmlns:a16="http://schemas.microsoft.com/office/drawing/2014/main" val="10004"/>
                  </a:ext>
                </a:extLst>
              </a:tr>
              <a:tr h="261518">
                <a:tc>
                  <a:txBody>
                    <a:bodyPr/>
                    <a:lstStyle/>
                    <a:p>
                      <a:pPr algn="ctr"/>
                      <a:r>
                        <a:rPr sz="650" b="0">
                          <a:solidFill>
                            <a:srgbClr val="222222"/>
                          </a:solidFill>
                          <a:latin typeface="맑은 고딕"/>
                        </a:rPr>
                        <a:t>SRS-WEB-024</a:t>
                      </a:r>
                    </a:p>
                  </a:txBody>
                  <a:tcPr marL="27432" marR="27432" marT="4572" marB="4572" anchor="ctr">
                    <a:solidFill>
                      <a:srgbClr val="FFFFFF"/>
                    </a:solidFill>
                  </a:tcPr>
                </a:tc>
                <a:tc>
                  <a:txBody>
                    <a:bodyPr/>
                    <a:lstStyle/>
                    <a:p>
                      <a:pPr algn="l"/>
                      <a:r>
                        <a:rPr sz="650" b="0">
                          <a:solidFill>
                            <a:srgbClr val="222222"/>
                          </a:solidFill>
                          <a:latin typeface="맑은 고딕"/>
                        </a:rPr>
                        <a:t>중복 알림 억제</a:t>
                      </a:r>
                    </a:p>
                  </a:txBody>
                  <a:tcPr marL="27432" marR="27432" marT="4572" marB="4572" anchor="ctr">
                    <a:solidFill>
                      <a:srgbClr val="FFFFFF"/>
                    </a:solidFill>
                  </a:tcPr>
                </a:tc>
                <a:tc>
                  <a:txBody>
                    <a:bodyPr/>
                    <a:lstStyle/>
                    <a:p>
                      <a:pPr algn="l"/>
                      <a:r>
                        <a:rPr sz="650" b="0">
                          <a:solidFill>
                            <a:srgbClr val="222222"/>
                          </a:solidFill>
                          <a:latin typeface="맑은 고딕"/>
                        </a:rPr>
                        <a:t>중복 알림 억제 및 주요 변화만 발송.</a:t>
                      </a:r>
                    </a:p>
                  </a:txBody>
                  <a:tcPr marL="27432" marR="27432" marT="4572" marB="4572" anchor="ctr">
                    <a:solidFill>
                      <a:srgbClr val="FFFFFF"/>
                    </a:solidFill>
                  </a:tcPr>
                </a:tc>
                <a:tc>
                  <a:txBody>
                    <a:bodyPr/>
                    <a:lstStyle/>
                    <a:p>
                      <a:pPr algn="ctr"/>
                      <a:r>
                        <a:rPr sz="650" b="0">
                          <a:solidFill>
                            <a:srgbClr val="222222"/>
                          </a:solidFill>
                          <a:latin typeface="맑은 고딕"/>
                        </a:rPr>
                        <a:t>Med</a:t>
                      </a:r>
                    </a:p>
                  </a:txBody>
                  <a:tcPr marL="27432" marR="27432" marT="4572" marB="4572" anchor="ctr">
                    <a:solidFill>
                      <a:srgbClr val="FFFFFF"/>
                    </a:solidFill>
                  </a:tcPr>
                </a:tc>
                <a:tc>
                  <a:txBody>
                    <a:bodyPr/>
                    <a:lstStyle/>
                    <a:p>
                      <a:pPr algn="ctr"/>
                      <a:r>
                        <a:rPr sz="650" b="0">
                          <a:solidFill>
                            <a:srgbClr val="222222"/>
                          </a:solidFill>
                          <a:latin typeface="맑은 고딕"/>
                        </a:rPr>
                        <a:t>제한</a:t>
                      </a:r>
                    </a:p>
                  </a:txBody>
                  <a:tcPr marL="27432" marR="27432" marT="4572" marB="4572" anchor="ctr">
                    <a:solidFill>
                      <a:srgbClr val="FFFFFF"/>
                    </a:solidFill>
                  </a:tcPr>
                </a:tc>
                <a:extLst>
                  <a:ext uri="{0D108BD9-81ED-4DB2-BD59-A6C34878D82A}">
                    <a16:rowId xmlns:a16="http://schemas.microsoft.com/office/drawing/2014/main" val="10005"/>
                  </a:ext>
                </a:extLst>
              </a:tr>
              <a:tr h="261518">
                <a:tc>
                  <a:txBody>
                    <a:bodyPr/>
                    <a:lstStyle/>
                    <a:p>
                      <a:pPr algn="ctr"/>
                      <a:r>
                        <a:rPr sz="650" b="0">
                          <a:solidFill>
                            <a:srgbClr val="222222"/>
                          </a:solidFill>
                          <a:latin typeface="맑은 고딕"/>
                        </a:rPr>
                        <a:t>SRS-WEB-025</a:t>
                      </a:r>
                    </a:p>
                  </a:txBody>
                  <a:tcPr marL="27432" marR="27432" marT="4572" marB="4572" anchor="ctr">
                    <a:solidFill>
                      <a:srgbClr val="EEF3FB"/>
                    </a:solidFill>
                  </a:tcPr>
                </a:tc>
                <a:tc>
                  <a:txBody>
                    <a:bodyPr/>
                    <a:lstStyle/>
                    <a:p>
                      <a:pPr algn="l"/>
                      <a:r>
                        <a:rPr sz="650" b="0">
                          <a:solidFill>
                            <a:srgbClr val="222222"/>
                          </a:solidFill>
                          <a:latin typeface="맑은 고딕"/>
                        </a:rPr>
                        <a:t>알림 이력</a:t>
                      </a:r>
                    </a:p>
                  </a:txBody>
                  <a:tcPr marL="27432" marR="27432" marT="4572" marB="4572" anchor="ctr">
                    <a:solidFill>
                      <a:srgbClr val="EEF3FB"/>
                    </a:solidFill>
                  </a:tcPr>
                </a:tc>
                <a:tc>
                  <a:txBody>
                    <a:bodyPr/>
                    <a:lstStyle/>
                    <a:p>
                      <a:pPr algn="l"/>
                      <a:r>
                        <a:rPr sz="650" b="0">
                          <a:solidFill>
                            <a:srgbClr val="222222"/>
                          </a:solidFill>
                          <a:latin typeface="맑은 고딕"/>
                        </a:rPr>
                        <a:t>알림 발송 기록 조회.</a:t>
                      </a:r>
                    </a:p>
                  </a:txBody>
                  <a:tcPr marL="27432" marR="27432" marT="4572" marB="4572" anchor="ctr">
                    <a:solidFill>
                      <a:srgbClr val="EEF3FB"/>
                    </a:solidFill>
                  </a:tcPr>
                </a:tc>
                <a:tc>
                  <a:txBody>
                    <a:bodyPr/>
                    <a:lstStyle/>
                    <a:p>
                      <a:pPr algn="ctr"/>
                      <a:r>
                        <a:rPr sz="650" b="0">
                          <a:solidFill>
                            <a:srgbClr val="222222"/>
                          </a:solidFill>
                          <a:latin typeface="맑은 고딕"/>
                        </a:rPr>
                        <a:t>Med</a:t>
                      </a:r>
                    </a:p>
                  </a:txBody>
                  <a:tcPr marL="27432" marR="27432" marT="4572" marB="4572" anchor="ctr">
                    <a:solidFill>
                      <a:srgbClr val="EEF3FB"/>
                    </a:solidFill>
                  </a:tcPr>
                </a:tc>
                <a:tc>
                  <a:txBody>
                    <a:bodyPr/>
                    <a:lstStyle/>
                    <a:p>
                      <a:pPr algn="ctr"/>
                      <a:r>
                        <a:rPr sz="650" b="0">
                          <a:solidFill>
                            <a:srgbClr val="222222"/>
                          </a:solidFill>
                          <a:latin typeface="맑은 고딕"/>
                        </a:rPr>
                        <a:t>이력</a:t>
                      </a:r>
                    </a:p>
                  </a:txBody>
                  <a:tcPr marL="27432" marR="27432" marT="4572" marB="4572" anchor="ctr">
                    <a:solidFill>
                      <a:srgbClr val="EEF3FB"/>
                    </a:solidFill>
                  </a:tcPr>
                </a:tc>
                <a:extLst>
                  <a:ext uri="{0D108BD9-81ED-4DB2-BD59-A6C34878D82A}">
                    <a16:rowId xmlns:a16="http://schemas.microsoft.com/office/drawing/2014/main" val="10006"/>
                  </a:ext>
                </a:extLst>
              </a:tr>
              <a:tr h="261518">
                <a:tc>
                  <a:txBody>
                    <a:bodyPr/>
                    <a:lstStyle/>
                    <a:p>
                      <a:pPr algn="ctr"/>
                      <a:r>
                        <a:rPr sz="650" b="0">
                          <a:solidFill>
                            <a:srgbClr val="222222"/>
                          </a:solidFill>
                          <a:latin typeface="맑은 고딕"/>
                        </a:rPr>
                        <a:t>SRS-WEB-026</a:t>
                      </a:r>
                    </a:p>
                  </a:txBody>
                  <a:tcPr marL="27432" marR="27432" marT="4572" marB="4572" anchor="ctr">
                    <a:solidFill>
                      <a:srgbClr val="FFFFFF"/>
                    </a:solidFill>
                  </a:tcPr>
                </a:tc>
                <a:tc>
                  <a:txBody>
                    <a:bodyPr/>
                    <a:lstStyle/>
                    <a:p>
                      <a:pPr algn="l"/>
                      <a:r>
                        <a:rPr sz="650" b="0">
                          <a:solidFill>
                            <a:srgbClr val="222222"/>
                          </a:solidFill>
                          <a:latin typeface="맑은 고딕"/>
                        </a:rPr>
                        <a:t>차단·복구</a:t>
                      </a:r>
                    </a:p>
                  </a:txBody>
                  <a:tcPr marL="27432" marR="27432" marT="4572" marB="4572" anchor="ctr">
                    <a:solidFill>
                      <a:srgbClr val="FFFFFF"/>
                    </a:solidFill>
                  </a:tcPr>
                </a:tc>
                <a:tc>
                  <a:txBody>
                    <a:bodyPr/>
                    <a:lstStyle/>
                    <a:p>
                      <a:pPr algn="l"/>
                      <a:r>
                        <a:rPr sz="650" b="0">
                          <a:solidFill>
                            <a:srgbClr val="222222"/>
                          </a:solidFill>
                          <a:latin typeface="맑은 고딕"/>
                        </a:rPr>
                        <a:t>권한 확인 후 차단·복구 실행.</a:t>
                      </a:r>
                    </a:p>
                  </a:txBody>
                  <a:tcPr marL="27432" marR="27432" marT="4572" marB="4572" anchor="ctr">
                    <a:solidFill>
                      <a:srgbClr val="FFFFFF"/>
                    </a:solidFill>
                  </a:tcPr>
                </a:tc>
                <a:tc>
                  <a:txBody>
                    <a:bodyPr/>
                    <a:lstStyle/>
                    <a:p>
                      <a:pPr algn="ctr"/>
                      <a:r>
                        <a:rPr sz="650" b="0">
                          <a:solidFill>
                            <a:srgbClr val="222222"/>
                          </a:solidFill>
                          <a:latin typeface="맑은 고딕"/>
                        </a:rPr>
                        <a:t>High</a:t>
                      </a:r>
                    </a:p>
                  </a:txBody>
                  <a:tcPr marL="27432" marR="27432" marT="4572" marB="4572" anchor="ctr">
                    <a:solidFill>
                      <a:srgbClr val="FFFFFF"/>
                    </a:solidFill>
                  </a:tcPr>
                </a:tc>
                <a:tc>
                  <a:txBody>
                    <a:bodyPr/>
                    <a:lstStyle/>
                    <a:p>
                      <a:pPr algn="ctr"/>
                      <a:r>
                        <a:rPr sz="650" b="0">
                          <a:solidFill>
                            <a:srgbClr val="222222"/>
                          </a:solidFill>
                          <a:latin typeface="맑은 고딕"/>
                        </a:rPr>
                        <a:t>제어</a:t>
                      </a:r>
                    </a:p>
                  </a:txBody>
                  <a:tcPr marL="27432" marR="27432" marT="4572" marB="4572" anchor="ctr">
                    <a:solidFill>
                      <a:srgbClr val="FFFFFF"/>
                    </a:solidFill>
                  </a:tcPr>
                </a:tc>
                <a:extLst>
                  <a:ext uri="{0D108BD9-81ED-4DB2-BD59-A6C34878D82A}">
                    <a16:rowId xmlns:a16="http://schemas.microsoft.com/office/drawing/2014/main" val="10007"/>
                  </a:ext>
                </a:extLst>
              </a:tr>
              <a:tr h="261518">
                <a:tc>
                  <a:txBody>
                    <a:bodyPr/>
                    <a:lstStyle/>
                    <a:p>
                      <a:pPr algn="ctr"/>
                      <a:r>
                        <a:rPr sz="650" b="0">
                          <a:solidFill>
                            <a:srgbClr val="222222"/>
                          </a:solidFill>
                          <a:latin typeface="맑은 고딕"/>
                        </a:rPr>
                        <a:t>SRS-WEB-027</a:t>
                      </a:r>
                    </a:p>
                  </a:txBody>
                  <a:tcPr marL="27432" marR="27432" marT="4572" marB="4572" anchor="ctr">
                    <a:solidFill>
                      <a:srgbClr val="EEF3FB"/>
                    </a:solidFill>
                  </a:tcPr>
                </a:tc>
                <a:tc>
                  <a:txBody>
                    <a:bodyPr/>
                    <a:lstStyle/>
                    <a:p>
                      <a:pPr algn="l"/>
                      <a:r>
                        <a:rPr sz="650" b="0">
                          <a:solidFill>
                            <a:srgbClr val="222222"/>
                          </a:solidFill>
                          <a:latin typeface="맑은 고딕"/>
                        </a:rPr>
                        <a:t>긴급 차단</a:t>
                      </a:r>
                    </a:p>
                  </a:txBody>
                  <a:tcPr marL="27432" marR="27432" marT="4572" marB="4572" anchor="ctr">
                    <a:solidFill>
                      <a:srgbClr val="EEF3FB"/>
                    </a:solidFill>
                  </a:tcPr>
                </a:tc>
                <a:tc>
                  <a:txBody>
                    <a:bodyPr/>
                    <a:lstStyle/>
                    <a:p>
                      <a:pPr algn="l"/>
                      <a:r>
                        <a:rPr sz="650" b="0">
                          <a:solidFill>
                            <a:srgbClr val="222222"/>
                          </a:solidFill>
                          <a:latin typeface="맑은 고딕"/>
                        </a:rPr>
                        <a:t>위험 시 Kill-Switch 연계 차단.</a:t>
                      </a:r>
                    </a:p>
                  </a:txBody>
                  <a:tcPr marL="27432" marR="27432" marT="4572" marB="4572" anchor="ctr">
                    <a:solidFill>
                      <a:srgbClr val="EEF3FB"/>
                    </a:solidFill>
                  </a:tcPr>
                </a:tc>
                <a:tc>
                  <a:txBody>
                    <a:bodyPr/>
                    <a:lstStyle/>
                    <a:p>
                      <a:pPr algn="ctr"/>
                      <a:r>
                        <a:rPr sz="650" b="0">
                          <a:solidFill>
                            <a:srgbClr val="222222"/>
                          </a:solidFill>
                          <a:latin typeface="맑은 고딕"/>
                        </a:rPr>
                        <a:t>High</a:t>
                      </a:r>
                    </a:p>
                  </a:txBody>
                  <a:tcPr marL="27432" marR="27432" marT="4572" marB="4572" anchor="ctr">
                    <a:solidFill>
                      <a:srgbClr val="EEF3FB"/>
                    </a:solidFill>
                  </a:tcPr>
                </a:tc>
                <a:tc>
                  <a:txBody>
                    <a:bodyPr/>
                    <a:lstStyle/>
                    <a:p>
                      <a:pPr algn="ctr"/>
                      <a:r>
                        <a:rPr sz="650" b="0">
                          <a:solidFill>
                            <a:srgbClr val="222222"/>
                          </a:solidFill>
                          <a:latin typeface="맑은 고딕"/>
                        </a:rPr>
                        <a:t>안전</a:t>
                      </a:r>
                    </a:p>
                  </a:txBody>
                  <a:tcPr marL="27432" marR="27432" marT="4572" marB="4572" anchor="ctr">
                    <a:solidFill>
                      <a:srgbClr val="EEF3FB"/>
                    </a:solidFill>
                  </a:tcPr>
                </a:tc>
                <a:extLst>
                  <a:ext uri="{0D108BD9-81ED-4DB2-BD59-A6C34878D82A}">
                    <a16:rowId xmlns:a16="http://schemas.microsoft.com/office/drawing/2014/main" val="10008"/>
                  </a:ext>
                </a:extLst>
              </a:tr>
              <a:tr h="261518">
                <a:tc>
                  <a:txBody>
                    <a:bodyPr/>
                    <a:lstStyle/>
                    <a:p>
                      <a:pPr algn="ctr"/>
                      <a:r>
                        <a:rPr sz="650" b="0">
                          <a:solidFill>
                            <a:srgbClr val="222222"/>
                          </a:solidFill>
                          <a:latin typeface="맑은 고딕"/>
                        </a:rPr>
                        <a:t>SRS-WEB-028</a:t>
                      </a:r>
                    </a:p>
                  </a:txBody>
                  <a:tcPr marL="27432" marR="27432" marT="4572" marB="4572" anchor="ctr">
                    <a:solidFill>
                      <a:srgbClr val="FFFFFF"/>
                    </a:solidFill>
                  </a:tcPr>
                </a:tc>
                <a:tc>
                  <a:txBody>
                    <a:bodyPr/>
                    <a:lstStyle/>
                    <a:p>
                      <a:pPr algn="l"/>
                      <a:r>
                        <a:rPr sz="650" b="0">
                          <a:solidFill>
                            <a:srgbClr val="222222"/>
                          </a:solidFill>
                          <a:latin typeface="맑은 고딕"/>
                        </a:rPr>
                        <a:t>보안 검증</a:t>
                      </a:r>
                    </a:p>
                  </a:txBody>
                  <a:tcPr marL="27432" marR="27432" marT="4572" marB="4572" anchor="ctr">
                    <a:solidFill>
                      <a:srgbClr val="FFFFFF"/>
                    </a:solidFill>
                  </a:tcPr>
                </a:tc>
                <a:tc>
                  <a:txBody>
                    <a:bodyPr/>
                    <a:lstStyle/>
                    <a:p>
                      <a:pPr algn="l"/>
                      <a:r>
                        <a:rPr sz="650" b="0">
                          <a:solidFill>
                            <a:srgbClr val="222222"/>
                          </a:solidFill>
                          <a:latin typeface="맑은 고딕"/>
                        </a:rPr>
                        <a:t>데이터 암호화 및 입력값 검증.</a:t>
                      </a:r>
                    </a:p>
                  </a:txBody>
                  <a:tcPr marL="27432" marR="27432" marT="4572" marB="4572" anchor="ctr">
                    <a:solidFill>
                      <a:srgbClr val="FFFFFF"/>
                    </a:solidFill>
                  </a:tcPr>
                </a:tc>
                <a:tc>
                  <a:txBody>
                    <a:bodyPr/>
                    <a:lstStyle/>
                    <a:p>
                      <a:pPr algn="ctr"/>
                      <a:r>
                        <a:rPr sz="650" b="0">
                          <a:solidFill>
                            <a:srgbClr val="222222"/>
                          </a:solidFill>
                          <a:latin typeface="맑은 고딕"/>
                        </a:rPr>
                        <a:t>High</a:t>
                      </a:r>
                    </a:p>
                  </a:txBody>
                  <a:tcPr marL="27432" marR="27432" marT="4572" marB="4572" anchor="ctr">
                    <a:solidFill>
                      <a:srgbClr val="FFFFFF"/>
                    </a:solidFill>
                  </a:tcPr>
                </a:tc>
                <a:tc>
                  <a:txBody>
                    <a:bodyPr/>
                    <a:lstStyle/>
                    <a:p>
                      <a:pPr algn="ctr"/>
                      <a:r>
                        <a:rPr sz="650" b="0">
                          <a:solidFill>
                            <a:srgbClr val="222222"/>
                          </a:solidFill>
                          <a:latin typeface="맑은 고딕"/>
                        </a:rPr>
                        <a:t>보안</a:t>
                      </a:r>
                    </a:p>
                  </a:txBody>
                  <a:tcPr marL="27432" marR="27432" marT="4572" marB="4572" anchor="ctr">
                    <a:solidFill>
                      <a:srgbClr val="FFFFFF"/>
                    </a:solidFill>
                  </a:tcPr>
                </a:tc>
                <a:extLst>
                  <a:ext uri="{0D108BD9-81ED-4DB2-BD59-A6C34878D82A}">
                    <a16:rowId xmlns:a16="http://schemas.microsoft.com/office/drawing/2014/main" val="10009"/>
                  </a:ext>
                </a:extLst>
              </a:tr>
              <a:tr h="261518">
                <a:tc>
                  <a:txBody>
                    <a:bodyPr/>
                    <a:lstStyle/>
                    <a:p>
                      <a:pPr algn="ctr"/>
                      <a:r>
                        <a:rPr sz="650" b="0">
                          <a:solidFill>
                            <a:srgbClr val="222222"/>
                          </a:solidFill>
                          <a:latin typeface="맑은 고딕"/>
                        </a:rPr>
                        <a:t>SRS-WEB-029</a:t>
                      </a:r>
                    </a:p>
                  </a:txBody>
                  <a:tcPr marL="27432" marR="27432" marT="4572" marB="4572" anchor="ctr">
                    <a:solidFill>
                      <a:srgbClr val="EEF3FB"/>
                    </a:solidFill>
                  </a:tcPr>
                </a:tc>
                <a:tc>
                  <a:txBody>
                    <a:bodyPr/>
                    <a:lstStyle/>
                    <a:p>
                      <a:pPr algn="l"/>
                      <a:r>
                        <a:rPr sz="650" b="0">
                          <a:solidFill>
                            <a:srgbClr val="222222"/>
                          </a:solidFill>
                          <a:latin typeface="맑은 고딕"/>
                        </a:rPr>
                        <a:t>운영 추적</a:t>
                      </a:r>
                    </a:p>
                  </a:txBody>
                  <a:tcPr marL="27432" marR="27432" marT="4572" marB="4572" anchor="ctr">
                    <a:solidFill>
                      <a:srgbClr val="EEF3FB"/>
                    </a:solidFill>
                  </a:tcPr>
                </a:tc>
                <a:tc>
                  <a:txBody>
                    <a:bodyPr/>
                    <a:lstStyle/>
                    <a:p>
                      <a:pPr algn="l"/>
                      <a:r>
                        <a:rPr sz="650" b="0">
                          <a:solidFill>
                            <a:srgbClr val="222222"/>
                          </a:solidFill>
                          <a:latin typeface="맑은 고딕"/>
                        </a:rPr>
                        <a:t>로그·감사·헬스 상태 확인.</a:t>
                      </a:r>
                    </a:p>
                  </a:txBody>
                  <a:tcPr marL="27432" marR="27432" marT="4572" marB="4572" anchor="ctr">
                    <a:solidFill>
                      <a:srgbClr val="EEF3FB"/>
                    </a:solidFill>
                  </a:tcPr>
                </a:tc>
                <a:tc>
                  <a:txBody>
                    <a:bodyPr/>
                    <a:lstStyle/>
                    <a:p>
                      <a:pPr algn="ctr"/>
                      <a:r>
                        <a:rPr sz="650" b="0">
                          <a:solidFill>
                            <a:srgbClr val="222222"/>
                          </a:solidFill>
                          <a:latin typeface="맑은 고딕"/>
                        </a:rPr>
                        <a:t>Med</a:t>
                      </a:r>
                    </a:p>
                  </a:txBody>
                  <a:tcPr marL="27432" marR="27432" marT="4572" marB="4572" anchor="ctr">
                    <a:solidFill>
                      <a:srgbClr val="EEF3FB"/>
                    </a:solidFill>
                  </a:tcPr>
                </a:tc>
                <a:tc>
                  <a:txBody>
                    <a:bodyPr/>
                    <a:lstStyle/>
                    <a:p>
                      <a:pPr algn="ctr"/>
                      <a:r>
                        <a:rPr sz="650" b="0">
                          <a:solidFill>
                            <a:srgbClr val="222222"/>
                          </a:solidFill>
                          <a:latin typeface="맑은 고딕"/>
                        </a:rPr>
                        <a:t>운영</a:t>
                      </a:r>
                    </a:p>
                  </a:txBody>
                  <a:tcPr marL="27432" marR="27432" marT="4572" marB="4572" anchor="ctr">
                    <a:solidFill>
                      <a:srgbClr val="EEF3FB"/>
                    </a:solidFill>
                  </a:tcPr>
                </a:tc>
                <a:extLst>
                  <a:ext uri="{0D108BD9-81ED-4DB2-BD59-A6C34878D82A}">
                    <a16:rowId xmlns:a16="http://schemas.microsoft.com/office/drawing/2014/main" val="10010"/>
                  </a:ext>
                </a:extLst>
              </a:tr>
              <a:tr h="261518">
                <a:tc>
                  <a:txBody>
                    <a:bodyPr/>
                    <a:lstStyle/>
                    <a:p>
                      <a:pPr algn="ctr"/>
                      <a:r>
                        <a:rPr sz="650" b="0">
                          <a:solidFill>
                            <a:srgbClr val="222222"/>
                          </a:solidFill>
                          <a:latin typeface="맑은 고딕"/>
                        </a:rPr>
                        <a:t>SRS-WEB-030</a:t>
                      </a:r>
                    </a:p>
                  </a:txBody>
                  <a:tcPr marL="27432" marR="27432" marT="4572" marB="4572" anchor="ctr">
                    <a:solidFill>
                      <a:srgbClr val="FFFFFF"/>
                    </a:solidFill>
                  </a:tcPr>
                </a:tc>
                <a:tc>
                  <a:txBody>
                    <a:bodyPr/>
                    <a:lstStyle/>
                    <a:p>
                      <a:pPr algn="l"/>
                      <a:r>
                        <a:rPr sz="650" b="0">
                          <a:solidFill>
                            <a:srgbClr val="222222"/>
                          </a:solidFill>
                          <a:latin typeface="맑은 고딕"/>
                        </a:rPr>
                        <a:t>반응형 화면</a:t>
                      </a:r>
                    </a:p>
                  </a:txBody>
                  <a:tcPr marL="27432" marR="27432" marT="4572" marB="4572" anchor="ctr">
                    <a:solidFill>
                      <a:srgbClr val="FFFFFF"/>
                    </a:solidFill>
                  </a:tcPr>
                </a:tc>
                <a:tc>
                  <a:txBody>
                    <a:bodyPr/>
                    <a:lstStyle/>
                    <a:p>
                      <a:pPr algn="l"/>
                      <a:r>
                        <a:rPr sz="650" b="0">
                          <a:solidFill>
                            <a:srgbClr val="222222"/>
                          </a:solidFill>
                          <a:latin typeface="맑은 고딕"/>
                        </a:rPr>
                        <a:t>PC·태블릿·모바일별 관제 화면 제공.</a:t>
                      </a:r>
                    </a:p>
                  </a:txBody>
                  <a:tcPr marL="27432" marR="27432" marT="4572" marB="4572" anchor="ctr">
                    <a:solidFill>
                      <a:srgbClr val="FFFFFF"/>
                    </a:solidFill>
                  </a:tcPr>
                </a:tc>
                <a:tc>
                  <a:txBody>
                    <a:bodyPr/>
                    <a:lstStyle/>
                    <a:p>
                      <a:pPr algn="ctr"/>
                      <a:r>
                        <a:rPr sz="650" b="0">
                          <a:solidFill>
                            <a:srgbClr val="222222"/>
                          </a:solidFill>
                          <a:latin typeface="맑은 고딕"/>
                        </a:rPr>
                        <a:t>High</a:t>
                      </a:r>
                    </a:p>
                  </a:txBody>
                  <a:tcPr marL="27432" marR="27432" marT="4572" marB="4572" anchor="ctr">
                    <a:solidFill>
                      <a:srgbClr val="FFFFFF"/>
                    </a:solidFill>
                  </a:tcPr>
                </a:tc>
                <a:tc>
                  <a:txBody>
                    <a:bodyPr/>
                    <a:lstStyle/>
                    <a:p>
                      <a:pPr algn="ctr"/>
                      <a:r>
                        <a:rPr sz="650" b="0">
                          <a:solidFill>
                            <a:srgbClr val="222222"/>
                          </a:solidFill>
                          <a:latin typeface="맑은 고딕"/>
                        </a:rPr>
                        <a:t>반응형</a:t>
                      </a:r>
                    </a:p>
                  </a:txBody>
                  <a:tcPr marL="27432" marR="27432" marT="4572" marB="4572" anchor="ctr">
                    <a:solidFill>
                      <a:srgbClr val="FFFFFF"/>
                    </a:solidFill>
                  </a:tcPr>
                </a:tc>
                <a:extLst>
                  <a:ext uri="{0D108BD9-81ED-4DB2-BD59-A6C34878D82A}">
                    <a16:rowId xmlns:a16="http://schemas.microsoft.com/office/drawing/2014/main" val="10011"/>
                  </a:ext>
                </a:extLst>
              </a:tr>
              <a:tr h="261518">
                <a:tc>
                  <a:txBody>
                    <a:bodyPr/>
                    <a:lstStyle/>
                    <a:p>
                      <a:pPr algn="ctr"/>
                      <a:r>
                        <a:rPr sz="650" b="0">
                          <a:solidFill>
                            <a:srgbClr val="222222"/>
                          </a:solidFill>
                          <a:latin typeface="맑은 고딕"/>
                        </a:rPr>
                        <a:t>SRS-WEB-031</a:t>
                      </a:r>
                    </a:p>
                  </a:txBody>
                  <a:tcPr marL="27432" marR="27432" marT="4572" marB="4572" anchor="ctr">
                    <a:solidFill>
                      <a:srgbClr val="EEF3FB"/>
                    </a:solidFill>
                  </a:tcPr>
                </a:tc>
                <a:tc>
                  <a:txBody>
                    <a:bodyPr/>
                    <a:lstStyle/>
                    <a:p>
                      <a:pPr algn="l"/>
                      <a:r>
                        <a:rPr sz="650" b="0">
                          <a:solidFill>
                            <a:srgbClr val="222222"/>
                          </a:solidFill>
                          <a:latin typeface="맑은 고딕"/>
                        </a:rPr>
                        <a:t>알림 센터</a:t>
                      </a:r>
                    </a:p>
                  </a:txBody>
                  <a:tcPr marL="27432" marR="27432" marT="4572" marB="4572" anchor="ctr">
                    <a:solidFill>
                      <a:srgbClr val="EEF3FB"/>
                    </a:solidFill>
                  </a:tcPr>
                </a:tc>
                <a:tc>
                  <a:txBody>
                    <a:bodyPr/>
                    <a:lstStyle/>
                    <a:p>
                      <a:pPr algn="l"/>
                      <a:r>
                        <a:rPr sz="650" b="0">
                          <a:solidFill>
                            <a:srgbClr val="222222"/>
                          </a:solidFill>
                          <a:latin typeface="맑은 고딕"/>
                        </a:rPr>
                        <a:t>새 경고와 놓친 알림 화면 표시.</a:t>
                      </a:r>
                    </a:p>
                  </a:txBody>
                  <a:tcPr marL="27432" marR="27432" marT="4572" marB="4572" anchor="ctr">
                    <a:solidFill>
                      <a:srgbClr val="EEF3FB"/>
                    </a:solidFill>
                  </a:tcPr>
                </a:tc>
                <a:tc>
                  <a:txBody>
                    <a:bodyPr/>
                    <a:lstStyle/>
                    <a:p>
                      <a:pPr algn="ctr"/>
                      <a:r>
                        <a:rPr sz="650" b="0">
                          <a:solidFill>
                            <a:srgbClr val="222222"/>
                          </a:solidFill>
                          <a:latin typeface="맑은 고딕"/>
                        </a:rPr>
                        <a:t>Med</a:t>
                      </a:r>
                    </a:p>
                  </a:txBody>
                  <a:tcPr marL="27432" marR="27432" marT="4572" marB="4572" anchor="ctr">
                    <a:solidFill>
                      <a:srgbClr val="EEF3FB"/>
                    </a:solidFill>
                  </a:tcPr>
                </a:tc>
                <a:tc>
                  <a:txBody>
                    <a:bodyPr/>
                    <a:lstStyle/>
                    <a:p>
                      <a:pPr algn="ctr"/>
                      <a:r>
                        <a:rPr sz="650" b="0">
                          <a:solidFill>
                            <a:srgbClr val="222222"/>
                          </a:solidFill>
                          <a:latin typeface="맑은 고딕"/>
                        </a:rPr>
                        <a:t>토스트</a:t>
                      </a:r>
                    </a:p>
                  </a:txBody>
                  <a:tcPr marL="27432" marR="27432" marT="4572" marB="4572" anchor="ctr">
                    <a:solidFill>
                      <a:srgbClr val="EEF3FB"/>
                    </a:solidFill>
                  </a:tcPr>
                </a:tc>
                <a:extLst>
                  <a:ext uri="{0D108BD9-81ED-4DB2-BD59-A6C34878D82A}">
                    <a16:rowId xmlns:a16="http://schemas.microsoft.com/office/drawing/2014/main" val="10012"/>
                  </a:ext>
                </a:extLst>
              </a:tr>
              <a:tr h="261518">
                <a:tc>
                  <a:txBody>
                    <a:bodyPr/>
                    <a:lstStyle/>
                    <a:p>
                      <a:pPr algn="ctr"/>
                      <a:r>
                        <a:rPr sz="650" b="0">
                          <a:solidFill>
                            <a:srgbClr val="222222"/>
                          </a:solidFill>
                          <a:latin typeface="맑은 고딕"/>
                        </a:rPr>
                        <a:t>SRS-WEB-032</a:t>
                      </a:r>
                    </a:p>
                  </a:txBody>
                  <a:tcPr marL="27432" marR="27432" marT="4572" marB="4572" anchor="ctr">
                    <a:solidFill>
                      <a:srgbClr val="FFFFFF"/>
                    </a:solidFill>
                  </a:tcPr>
                </a:tc>
                <a:tc>
                  <a:txBody>
                    <a:bodyPr/>
                    <a:lstStyle/>
                    <a:p>
                      <a:pPr algn="l"/>
                      <a:r>
                        <a:rPr sz="650" b="0">
                          <a:solidFill>
                            <a:srgbClr val="222222"/>
                          </a:solidFill>
                          <a:latin typeface="맑은 고딕"/>
                        </a:rPr>
                        <a:t>파일 내보내기</a:t>
                      </a:r>
                    </a:p>
                  </a:txBody>
                  <a:tcPr marL="27432" marR="27432" marT="4572" marB="4572" anchor="ctr">
                    <a:solidFill>
                      <a:srgbClr val="FFFFFF"/>
                    </a:solidFill>
                  </a:tcPr>
                </a:tc>
                <a:tc>
                  <a:txBody>
                    <a:bodyPr/>
                    <a:lstStyle/>
                    <a:p>
                      <a:pPr algn="l"/>
                      <a:r>
                        <a:rPr sz="650" b="0">
                          <a:solidFill>
                            <a:srgbClr val="222222"/>
                          </a:solidFill>
                          <a:latin typeface="맑은 고딕"/>
                        </a:rPr>
                        <a:t>조회 데이터와 이벤트 파일 내보내기.</a:t>
                      </a:r>
                    </a:p>
                  </a:txBody>
                  <a:tcPr marL="27432" marR="27432" marT="4572" marB="4572" anchor="ctr">
                    <a:solidFill>
                      <a:srgbClr val="FFFFFF"/>
                    </a:solidFill>
                  </a:tcPr>
                </a:tc>
                <a:tc>
                  <a:txBody>
                    <a:bodyPr/>
                    <a:lstStyle/>
                    <a:p>
                      <a:pPr algn="ctr"/>
                      <a:r>
                        <a:rPr sz="650" b="0">
                          <a:solidFill>
                            <a:srgbClr val="222222"/>
                          </a:solidFill>
                          <a:latin typeface="맑은 고딕"/>
                        </a:rPr>
                        <a:t>Med</a:t>
                      </a:r>
                    </a:p>
                  </a:txBody>
                  <a:tcPr marL="27432" marR="27432" marT="4572" marB="4572" anchor="ctr">
                    <a:solidFill>
                      <a:srgbClr val="FFFFFF"/>
                    </a:solidFill>
                  </a:tcPr>
                </a:tc>
                <a:tc>
                  <a:txBody>
                    <a:bodyPr/>
                    <a:lstStyle/>
                    <a:p>
                      <a:pPr algn="ctr"/>
                      <a:r>
                        <a:rPr sz="650" b="0">
                          <a:solidFill>
                            <a:srgbClr val="222222"/>
                          </a:solidFill>
                          <a:latin typeface="맑은 고딕"/>
                        </a:rPr>
                        <a:t>출력</a:t>
                      </a:r>
                    </a:p>
                  </a:txBody>
                  <a:tcPr marL="27432" marR="27432" marT="4572" marB="4572" anchor="ctr">
                    <a:solidFill>
                      <a:srgbClr val="FFFFFF"/>
                    </a:solidFill>
                  </a:tcPr>
                </a:tc>
                <a:extLst>
                  <a:ext uri="{0D108BD9-81ED-4DB2-BD59-A6C34878D82A}">
                    <a16:rowId xmlns:a16="http://schemas.microsoft.com/office/drawing/2014/main" val="10013"/>
                  </a:ext>
                </a:extLst>
              </a:tr>
              <a:tr h="261518">
                <a:tc>
                  <a:txBody>
                    <a:bodyPr/>
                    <a:lstStyle/>
                    <a:p>
                      <a:pPr algn="ctr"/>
                      <a:r>
                        <a:rPr sz="650" b="0">
                          <a:solidFill>
                            <a:srgbClr val="222222"/>
                          </a:solidFill>
                          <a:latin typeface="맑은 고딕"/>
                        </a:rPr>
                        <a:t>SRS-WEB-033</a:t>
                      </a:r>
                    </a:p>
                  </a:txBody>
                  <a:tcPr marL="27432" marR="27432" marT="4572" marB="4572" anchor="ctr">
                    <a:solidFill>
                      <a:srgbClr val="EEF3FB"/>
                    </a:solidFill>
                  </a:tcPr>
                </a:tc>
                <a:tc>
                  <a:txBody>
                    <a:bodyPr/>
                    <a:lstStyle/>
                    <a:p>
                      <a:pPr algn="l"/>
                      <a:r>
                        <a:rPr sz="650" b="0">
                          <a:solidFill>
                            <a:srgbClr val="222222"/>
                          </a:solidFill>
                          <a:latin typeface="맑은 고딕"/>
                        </a:rPr>
                        <a:t>연결 복구</a:t>
                      </a:r>
                    </a:p>
                  </a:txBody>
                  <a:tcPr marL="27432" marR="27432" marT="4572" marB="4572" anchor="ctr">
                    <a:solidFill>
                      <a:srgbClr val="EEF3FB"/>
                    </a:solidFill>
                  </a:tcPr>
                </a:tc>
                <a:tc>
                  <a:txBody>
                    <a:bodyPr/>
                    <a:lstStyle/>
                    <a:p>
                      <a:pPr algn="l"/>
                      <a:r>
                        <a:rPr sz="650" b="0">
                          <a:solidFill>
                            <a:srgbClr val="222222"/>
                          </a:solidFill>
                          <a:latin typeface="맑은 고딕"/>
                        </a:rPr>
                        <a:t>연결 끊김 시 자동 복구와 상태 안내.</a:t>
                      </a:r>
                    </a:p>
                  </a:txBody>
                  <a:tcPr marL="27432" marR="27432" marT="4572" marB="4572" anchor="ctr">
                    <a:solidFill>
                      <a:srgbClr val="EEF3FB"/>
                    </a:solidFill>
                  </a:tcPr>
                </a:tc>
                <a:tc>
                  <a:txBody>
                    <a:bodyPr/>
                    <a:lstStyle/>
                    <a:p>
                      <a:pPr algn="ctr"/>
                      <a:r>
                        <a:rPr sz="650" b="0">
                          <a:solidFill>
                            <a:srgbClr val="222222"/>
                          </a:solidFill>
                          <a:latin typeface="맑은 고딕"/>
                        </a:rPr>
                        <a:t>Med</a:t>
                      </a:r>
                    </a:p>
                  </a:txBody>
                  <a:tcPr marL="27432" marR="27432" marT="4572" marB="4572" anchor="ctr">
                    <a:solidFill>
                      <a:srgbClr val="EEF3FB"/>
                    </a:solidFill>
                  </a:tcPr>
                </a:tc>
                <a:tc>
                  <a:txBody>
                    <a:bodyPr/>
                    <a:lstStyle/>
                    <a:p>
                      <a:pPr algn="ctr"/>
                      <a:r>
                        <a:rPr sz="650" b="0">
                          <a:solidFill>
                            <a:srgbClr val="222222"/>
                          </a:solidFill>
                          <a:latin typeface="맑은 고딕"/>
                        </a:rPr>
                        <a:t>재연결</a:t>
                      </a:r>
                    </a:p>
                  </a:txBody>
                  <a:tcPr marL="27432" marR="27432" marT="4572" marB="4572" anchor="ctr">
                    <a:solidFill>
                      <a:srgbClr val="EEF3FB"/>
                    </a:solidFill>
                  </a:tcPr>
                </a:tc>
                <a:extLst>
                  <a:ext uri="{0D108BD9-81ED-4DB2-BD59-A6C34878D82A}">
                    <a16:rowId xmlns:a16="http://schemas.microsoft.com/office/drawing/2014/main" val="10014"/>
                  </a:ext>
                </a:extLst>
              </a:tr>
              <a:tr h="261518">
                <a:tc>
                  <a:txBody>
                    <a:bodyPr/>
                    <a:lstStyle/>
                    <a:p>
                      <a:pPr algn="ctr"/>
                      <a:r>
                        <a:rPr sz="650" b="0">
                          <a:solidFill>
                            <a:srgbClr val="222222"/>
                          </a:solidFill>
                          <a:latin typeface="맑은 고딕"/>
                        </a:rPr>
                        <a:t>SRS-WEB-034</a:t>
                      </a:r>
                    </a:p>
                  </a:txBody>
                  <a:tcPr marL="27432" marR="27432" marT="4572" marB="4572" anchor="ctr">
                    <a:solidFill>
                      <a:srgbClr val="FFFFFF"/>
                    </a:solidFill>
                  </a:tcPr>
                </a:tc>
                <a:tc>
                  <a:txBody>
                    <a:bodyPr/>
                    <a:lstStyle/>
                    <a:p>
                      <a:pPr algn="l"/>
                      <a:r>
                        <a:rPr sz="650" b="0">
                          <a:solidFill>
                            <a:srgbClr val="222222"/>
                          </a:solidFill>
                          <a:latin typeface="맑은 고딕"/>
                        </a:rPr>
                        <a:t>접근성 화면</a:t>
                      </a:r>
                    </a:p>
                  </a:txBody>
                  <a:tcPr marL="27432" marR="27432" marT="4572" marB="4572" anchor="ctr">
                    <a:solidFill>
                      <a:srgbClr val="FFFFFF"/>
                    </a:solidFill>
                  </a:tcPr>
                </a:tc>
                <a:tc>
                  <a:txBody>
                    <a:bodyPr/>
                    <a:lstStyle/>
                    <a:p>
                      <a:pPr algn="l"/>
                      <a:r>
                        <a:rPr sz="650" b="0">
                          <a:solidFill>
                            <a:srgbClr val="222222"/>
                          </a:solidFill>
                          <a:latin typeface="맑은 고딕"/>
                        </a:rPr>
                        <a:t>다크모드와 접근성 화면 제공.</a:t>
                      </a:r>
                    </a:p>
                  </a:txBody>
                  <a:tcPr marL="27432" marR="27432" marT="4572" marB="4572" anchor="ctr">
                    <a:solidFill>
                      <a:srgbClr val="FFFFFF"/>
                    </a:solidFill>
                  </a:tcPr>
                </a:tc>
                <a:tc>
                  <a:txBody>
                    <a:bodyPr/>
                    <a:lstStyle/>
                    <a:p>
                      <a:pPr algn="ctr"/>
                      <a:r>
                        <a:rPr sz="650" b="0">
                          <a:solidFill>
                            <a:srgbClr val="222222"/>
                          </a:solidFill>
                          <a:latin typeface="맑은 고딕"/>
                        </a:rPr>
                        <a:t>Low</a:t>
                      </a:r>
                    </a:p>
                  </a:txBody>
                  <a:tcPr marL="27432" marR="27432" marT="4572" marB="4572" anchor="ctr">
                    <a:solidFill>
                      <a:srgbClr val="FFFFFF"/>
                    </a:solidFill>
                  </a:tcPr>
                </a:tc>
                <a:tc>
                  <a:txBody>
                    <a:bodyPr/>
                    <a:lstStyle/>
                    <a:p>
                      <a:pPr algn="ctr"/>
                      <a:r>
                        <a:rPr sz="650" b="0">
                          <a:solidFill>
                            <a:srgbClr val="222222"/>
                          </a:solidFill>
                          <a:latin typeface="맑은 고딕"/>
                        </a:rPr>
                        <a:t>테마</a:t>
                      </a:r>
                    </a:p>
                  </a:txBody>
                  <a:tcPr marL="27432" marR="27432" marT="4572" marB="4572" anchor="ctr">
                    <a:solidFill>
                      <a:srgbClr val="FFFFFF"/>
                    </a:solidFill>
                  </a:tcPr>
                </a:tc>
                <a:extLst>
                  <a:ext uri="{0D108BD9-81ED-4DB2-BD59-A6C34878D82A}">
                    <a16:rowId xmlns:a16="http://schemas.microsoft.com/office/drawing/2014/main" val="10015"/>
                  </a:ext>
                </a:extLst>
              </a:tr>
              <a:tr h="261518">
                <a:tc>
                  <a:txBody>
                    <a:bodyPr/>
                    <a:lstStyle/>
                    <a:p>
                      <a:pPr algn="ctr"/>
                      <a:r>
                        <a:rPr sz="650" b="0">
                          <a:solidFill>
                            <a:srgbClr val="222222"/>
                          </a:solidFill>
                          <a:latin typeface="맑은 고딕"/>
                        </a:rPr>
                        <a:t>SRS-WEB-035</a:t>
                      </a:r>
                    </a:p>
                  </a:txBody>
                  <a:tcPr marL="27432" marR="27432" marT="4572" marB="4572" anchor="ctr">
                    <a:solidFill>
                      <a:srgbClr val="EEF3FB"/>
                    </a:solidFill>
                  </a:tcPr>
                </a:tc>
                <a:tc>
                  <a:txBody>
                    <a:bodyPr/>
                    <a:lstStyle/>
                    <a:p>
                      <a:pPr algn="l"/>
                      <a:r>
                        <a:rPr sz="650" b="0">
                          <a:solidFill>
                            <a:srgbClr val="222222"/>
                          </a:solidFill>
                          <a:latin typeface="맑은 고딕"/>
                        </a:rPr>
                        <a:t>계정 운영</a:t>
                      </a:r>
                    </a:p>
                  </a:txBody>
                  <a:tcPr marL="27432" marR="27432" marT="4572" marB="4572" anchor="ctr">
                    <a:solidFill>
                      <a:srgbClr val="EEF3FB"/>
                    </a:solidFill>
                  </a:tcPr>
                </a:tc>
                <a:tc>
                  <a:txBody>
                    <a:bodyPr/>
                    <a:lstStyle/>
                    <a:p>
                      <a:pPr algn="l"/>
                      <a:r>
                        <a:rPr sz="650" b="0">
                          <a:solidFill>
                            <a:srgbClr val="222222"/>
                          </a:solidFill>
                          <a:latin typeface="맑은 고딕"/>
                        </a:rPr>
                        <a:t>계정 권한과 활성 상태 관리.</a:t>
                      </a:r>
                    </a:p>
                  </a:txBody>
                  <a:tcPr marL="27432" marR="27432" marT="4572" marB="4572" anchor="ctr">
                    <a:solidFill>
                      <a:srgbClr val="EEF3FB"/>
                    </a:solidFill>
                  </a:tcPr>
                </a:tc>
                <a:tc>
                  <a:txBody>
                    <a:bodyPr/>
                    <a:lstStyle/>
                    <a:p>
                      <a:pPr algn="ctr"/>
                      <a:r>
                        <a:rPr sz="650" b="0">
                          <a:solidFill>
                            <a:srgbClr val="222222"/>
                          </a:solidFill>
                          <a:latin typeface="맑은 고딕"/>
                        </a:rPr>
                        <a:t>High</a:t>
                      </a:r>
                    </a:p>
                  </a:txBody>
                  <a:tcPr marL="27432" marR="27432" marT="4572" marB="4572" anchor="ctr">
                    <a:solidFill>
                      <a:srgbClr val="EEF3FB"/>
                    </a:solidFill>
                  </a:tcPr>
                </a:tc>
                <a:tc>
                  <a:txBody>
                    <a:bodyPr/>
                    <a:lstStyle/>
                    <a:p>
                      <a:pPr algn="ctr"/>
                      <a:r>
                        <a:rPr sz="650" b="0">
                          <a:solidFill>
                            <a:srgbClr val="222222"/>
                          </a:solidFill>
                          <a:latin typeface="맑은 고딕"/>
                        </a:rPr>
                        <a:t>관리자</a:t>
                      </a:r>
                    </a:p>
                  </a:txBody>
                  <a:tcPr marL="27432" marR="27432" marT="4572" marB="4572" anchor="ctr">
                    <a:solidFill>
                      <a:srgbClr val="EEF3FB"/>
                    </a:solidFill>
                  </a:tcPr>
                </a:tc>
                <a:extLst>
                  <a:ext uri="{0D108BD9-81ED-4DB2-BD59-A6C34878D82A}">
                    <a16:rowId xmlns:a16="http://schemas.microsoft.com/office/drawing/2014/main" val="10016"/>
                  </a:ext>
                </a:extLst>
              </a:tr>
              <a:tr h="261518">
                <a:tc>
                  <a:txBody>
                    <a:bodyPr/>
                    <a:lstStyle/>
                    <a:p>
                      <a:pPr algn="ctr"/>
                      <a:r>
                        <a:rPr sz="650" b="0">
                          <a:solidFill>
                            <a:srgbClr val="222222"/>
                          </a:solidFill>
                          <a:latin typeface="맑은 고딕"/>
                        </a:rPr>
                        <a:t>SRS-WEB-036</a:t>
                      </a:r>
                    </a:p>
                  </a:txBody>
                  <a:tcPr marL="27432" marR="27432" marT="4572" marB="4572" anchor="ctr">
                    <a:solidFill>
                      <a:srgbClr val="FFFFFF"/>
                    </a:solidFill>
                  </a:tcPr>
                </a:tc>
                <a:tc>
                  <a:txBody>
                    <a:bodyPr/>
                    <a:lstStyle/>
                    <a:p>
                      <a:pPr algn="l"/>
                      <a:r>
                        <a:rPr sz="650" b="0">
                          <a:solidFill>
                            <a:srgbClr val="222222"/>
                          </a:solidFill>
                          <a:latin typeface="맑은 고딕"/>
                        </a:rPr>
                        <a:t>통합 관제</a:t>
                      </a:r>
                    </a:p>
                  </a:txBody>
                  <a:tcPr marL="27432" marR="27432" marT="4572" marB="4572" anchor="ctr">
                    <a:solidFill>
                      <a:srgbClr val="FFFFFF"/>
                    </a:solidFill>
                  </a:tcPr>
                </a:tc>
                <a:tc>
                  <a:txBody>
                    <a:bodyPr/>
                    <a:lstStyle/>
                    <a:p>
                      <a:pPr algn="l"/>
                      <a:r>
                        <a:rPr sz="650" b="0">
                          <a:solidFill>
                            <a:srgbClr val="222222"/>
                          </a:solidFill>
                          <a:latin typeface="맑은 고딕"/>
                        </a:rPr>
                        <a:t>전체 배터리·장비·위험 상태 통합 조회.</a:t>
                      </a:r>
                    </a:p>
                  </a:txBody>
                  <a:tcPr marL="27432" marR="27432" marT="4572" marB="4572" anchor="ctr">
                    <a:solidFill>
                      <a:srgbClr val="FFFFFF"/>
                    </a:solidFill>
                  </a:tcPr>
                </a:tc>
                <a:tc>
                  <a:txBody>
                    <a:bodyPr/>
                    <a:lstStyle/>
                    <a:p>
                      <a:pPr algn="ctr"/>
                      <a:r>
                        <a:rPr sz="650" b="0">
                          <a:solidFill>
                            <a:srgbClr val="222222"/>
                          </a:solidFill>
                          <a:latin typeface="맑은 고딕"/>
                        </a:rPr>
                        <a:t>High</a:t>
                      </a:r>
                    </a:p>
                  </a:txBody>
                  <a:tcPr marL="27432" marR="27432" marT="4572" marB="4572" anchor="ctr">
                    <a:solidFill>
                      <a:srgbClr val="FFFFFF"/>
                    </a:solidFill>
                  </a:tcPr>
                </a:tc>
                <a:tc>
                  <a:txBody>
                    <a:bodyPr/>
                    <a:lstStyle/>
                    <a:p>
                      <a:pPr algn="ctr"/>
                      <a:r>
                        <a:rPr sz="650" b="0">
                          <a:solidFill>
                            <a:srgbClr val="222222"/>
                          </a:solidFill>
                          <a:latin typeface="맑은 고딕"/>
                        </a:rPr>
                        <a:t>관제</a:t>
                      </a:r>
                    </a:p>
                  </a:txBody>
                  <a:tcPr marL="27432" marR="27432" marT="4572" marB="4572" anchor="ctr">
                    <a:solidFill>
                      <a:srgbClr val="FFFFFF"/>
                    </a:solidFill>
                  </a:tcPr>
                </a:tc>
                <a:extLst>
                  <a:ext uri="{0D108BD9-81ED-4DB2-BD59-A6C34878D82A}">
                    <a16:rowId xmlns:a16="http://schemas.microsoft.com/office/drawing/2014/main" val="10017"/>
                  </a:ext>
                </a:extLst>
              </a:tr>
              <a:tr h="261518">
                <a:tc>
                  <a:txBody>
                    <a:bodyPr/>
                    <a:lstStyle/>
                    <a:p>
                      <a:pPr algn="ctr"/>
                      <a:r>
                        <a:rPr sz="650" b="0">
                          <a:solidFill>
                            <a:srgbClr val="222222"/>
                          </a:solidFill>
                          <a:latin typeface="맑은 고딕"/>
                        </a:rPr>
                        <a:t>SRS-WEB-037</a:t>
                      </a:r>
                    </a:p>
                  </a:txBody>
                  <a:tcPr marL="27432" marR="27432" marT="4572" marB="4572" anchor="ctr">
                    <a:solidFill>
                      <a:srgbClr val="EEF3FB"/>
                    </a:solidFill>
                  </a:tcPr>
                </a:tc>
                <a:tc>
                  <a:txBody>
                    <a:bodyPr/>
                    <a:lstStyle/>
                    <a:p>
                      <a:pPr algn="l"/>
                      <a:r>
                        <a:rPr sz="650" b="0">
                          <a:solidFill>
                            <a:srgbClr val="222222"/>
                          </a:solidFill>
                          <a:latin typeface="맑은 고딕"/>
                        </a:rPr>
                        <a:t>감사 이력</a:t>
                      </a:r>
                    </a:p>
                  </a:txBody>
                  <a:tcPr marL="27432" marR="27432" marT="4572" marB="4572" anchor="ctr">
                    <a:solidFill>
                      <a:srgbClr val="EEF3FB"/>
                    </a:solidFill>
                  </a:tcPr>
                </a:tc>
                <a:tc>
                  <a:txBody>
                    <a:bodyPr/>
                    <a:lstStyle/>
                    <a:p>
                      <a:pPr algn="l"/>
                      <a:r>
                        <a:rPr sz="650" b="0">
                          <a:solidFill>
                            <a:srgbClr val="222222"/>
                          </a:solidFill>
                          <a:latin typeface="맑은 고딕"/>
                        </a:rPr>
                        <a:t>조회·설정·제어 이력 감사.</a:t>
                      </a:r>
                    </a:p>
                  </a:txBody>
                  <a:tcPr marL="27432" marR="27432" marT="4572" marB="4572" anchor="ctr">
                    <a:solidFill>
                      <a:srgbClr val="EEF3FB"/>
                    </a:solidFill>
                  </a:tcPr>
                </a:tc>
                <a:tc>
                  <a:txBody>
                    <a:bodyPr/>
                    <a:lstStyle/>
                    <a:p>
                      <a:pPr algn="ctr"/>
                      <a:r>
                        <a:rPr sz="650" b="0">
                          <a:solidFill>
                            <a:srgbClr val="222222"/>
                          </a:solidFill>
                          <a:latin typeface="맑은 고딕"/>
                        </a:rPr>
                        <a:t>Med</a:t>
                      </a:r>
                    </a:p>
                  </a:txBody>
                  <a:tcPr marL="27432" marR="27432" marT="4572" marB="4572" anchor="ctr">
                    <a:solidFill>
                      <a:srgbClr val="EEF3FB"/>
                    </a:solidFill>
                  </a:tcPr>
                </a:tc>
                <a:tc>
                  <a:txBody>
                    <a:bodyPr/>
                    <a:lstStyle/>
                    <a:p>
                      <a:pPr algn="ctr"/>
                      <a:r>
                        <a:rPr sz="650" b="0">
                          <a:solidFill>
                            <a:srgbClr val="222222"/>
                          </a:solidFill>
                          <a:latin typeface="맑은 고딕"/>
                        </a:rPr>
                        <a:t>audit</a:t>
                      </a:r>
                    </a:p>
                  </a:txBody>
                  <a:tcPr marL="27432" marR="27432" marT="4572" marB="4572" anchor="ctr">
                    <a:solidFill>
                      <a:srgbClr val="EEF3FB"/>
                    </a:solidFill>
                  </a:tcPr>
                </a:tc>
                <a:extLst>
                  <a:ext uri="{0D108BD9-81ED-4DB2-BD59-A6C34878D82A}">
                    <a16:rowId xmlns:a16="http://schemas.microsoft.com/office/drawing/2014/main" val="10018"/>
                  </a:ext>
                </a:extLst>
              </a:tr>
              <a:tr h="261518">
                <a:tc>
                  <a:txBody>
                    <a:bodyPr/>
                    <a:lstStyle/>
                    <a:p>
                      <a:pPr algn="ctr"/>
                      <a:r>
                        <a:rPr sz="650" b="0">
                          <a:solidFill>
                            <a:srgbClr val="222222"/>
                          </a:solidFill>
                          <a:latin typeface="맑은 고딕"/>
                        </a:rPr>
                        <a:t>SRS-WEB-038</a:t>
                      </a:r>
                    </a:p>
                  </a:txBody>
                  <a:tcPr marL="27432" marR="27432" marT="4572" marB="4572" anchor="ctr">
                    <a:solidFill>
                      <a:srgbClr val="FFFFFF"/>
                    </a:solidFill>
                  </a:tcPr>
                </a:tc>
                <a:tc>
                  <a:txBody>
                    <a:bodyPr/>
                    <a:lstStyle/>
                    <a:p>
                      <a:pPr algn="l"/>
                      <a:r>
                        <a:rPr sz="650" b="0">
                          <a:solidFill>
                            <a:srgbClr val="222222"/>
                          </a:solidFill>
                          <a:latin typeface="맑은 고딕"/>
                        </a:rPr>
                        <a:t>서비스 헬스</a:t>
                      </a:r>
                    </a:p>
                  </a:txBody>
                  <a:tcPr marL="27432" marR="27432" marT="4572" marB="4572" anchor="ctr">
                    <a:solidFill>
                      <a:srgbClr val="FFFFFF"/>
                    </a:solidFill>
                  </a:tcPr>
                </a:tc>
                <a:tc>
                  <a:txBody>
                    <a:bodyPr/>
                    <a:lstStyle/>
                    <a:p>
                      <a:pPr algn="l"/>
                      <a:r>
                        <a:rPr sz="650" b="0">
                          <a:solidFill>
                            <a:srgbClr val="222222"/>
                          </a:solidFill>
                          <a:latin typeface="맑은 고딕"/>
                        </a:rPr>
                        <a:t>Kafka·DB·AI 상태 빠른 확인.</a:t>
                      </a:r>
                    </a:p>
                  </a:txBody>
                  <a:tcPr marL="27432" marR="27432" marT="4572" marB="4572" anchor="ctr">
                    <a:solidFill>
                      <a:srgbClr val="FFFFFF"/>
                    </a:solidFill>
                  </a:tcPr>
                </a:tc>
                <a:tc>
                  <a:txBody>
                    <a:bodyPr/>
                    <a:lstStyle/>
                    <a:p>
                      <a:pPr algn="ctr"/>
                      <a:r>
                        <a:rPr sz="650" b="0">
                          <a:solidFill>
                            <a:srgbClr val="222222"/>
                          </a:solidFill>
                          <a:latin typeface="맑은 고딕"/>
                        </a:rPr>
                        <a:t>Med</a:t>
                      </a:r>
                    </a:p>
                  </a:txBody>
                  <a:tcPr marL="27432" marR="27432" marT="4572" marB="4572" anchor="ctr">
                    <a:solidFill>
                      <a:srgbClr val="FFFFFF"/>
                    </a:solidFill>
                  </a:tcPr>
                </a:tc>
                <a:tc>
                  <a:txBody>
                    <a:bodyPr/>
                    <a:lstStyle/>
                    <a:p>
                      <a:pPr algn="ctr"/>
                      <a:r>
                        <a:rPr sz="650" b="0">
                          <a:solidFill>
                            <a:srgbClr val="222222"/>
                          </a:solidFill>
                          <a:latin typeface="맑은 고딕"/>
                        </a:rPr>
                        <a:t>헬스</a:t>
                      </a:r>
                    </a:p>
                  </a:txBody>
                  <a:tcPr marL="27432" marR="27432" marT="4572" marB="4572" anchor="ctr">
                    <a:solidFill>
                      <a:srgbClr val="FFFFFF"/>
                    </a:solidFill>
                  </a:tcPr>
                </a:tc>
                <a:extLst>
                  <a:ext uri="{0D108BD9-81ED-4DB2-BD59-A6C34878D82A}">
                    <a16:rowId xmlns:a16="http://schemas.microsoft.com/office/drawing/2014/main" val="10019"/>
                  </a:ext>
                </a:extLst>
              </a:tr>
            </a:tbl>
          </a:graphicData>
        </a:graphic>
      </p:graphicFrame>
    </p:spTree>
    <p:extLst>
      <p:ext uri="{BB962C8B-B14F-4D97-AF65-F5344CB8AC3E}">
        <p14:creationId xmlns:p14="http://schemas.microsoft.com/office/powerpoint/2010/main" val="1323130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9DE33-0876-5F15-95C5-F2CC9D99D3DA}"/>
            </a:ext>
          </a:extLst>
        </p:cNvPr>
        <p:cNvGrpSpPr/>
        <p:nvPr/>
      </p:nvGrpSpPr>
      <p:grpSpPr>
        <a:xfrm>
          <a:off x="0" y="0"/>
          <a:ext cx="0" cy="0"/>
          <a:chOff x="0" y="0"/>
          <a:chExt cx="0" cy="0"/>
        </a:xfrm>
      </p:grpSpPr>
      <p:sp>
        <p:nvSpPr>
          <p:cNvPr id="14" name="직사각형 13">
            <a:extLst>
              <a:ext uri="{FF2B5EF4-FFF2-40B4-BE49-F238E27FC236}">
                <a16:creationId xmlns:a16="http://schemas.microsoft.com/office/drawing/2014/main" id="{9F095E6F-DE14-7617-46C4-D44A20EFA3D3}"/>
              </a:ext>
            </a:extLst>
          </p:cNvPr>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7" name="직선 연결선 16">
            <a:extLst>
              <a:ext uri="{FF2B5EF4-FFF2-40B4-BE49-F238E27FC236}">
                <a16:creationId xmlns:a16="http://schemas.microsoft.com/office/drawing/2014/main" id="{1975B31C-DFC7-EF89-A59F-F3DA96C99C87}"/>
              </a:ext>
            </a:extLst>
          </p:cNvPr>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0B8D2CDA-0066-7C68-61C8-426AD346AC19}"/>
              </a:ext>
            </a:extLst>
          </p:cNvPr>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19" name="제목 12">
            <a:extLst>
              <a:ext uri="{FF2B5EF4-FFF2-40B4-BE49-F238E27FC236}">
                <a16:creationId xmlns:a16="http://schemas.microsoft.com/office/drawing/2014/main" id="{00C058E2-9D9B-2BFA-5FDF-77043E15E07C}"/>
              </a:ext>
            </a:extLst>
          </p:cNvPr>
          <p:cNvSpPr txBox="1">
            <a:spLocks/>
          </p:cNvSpPr>
          <p:nvPr/>
        </p:nvSpPr>
        <p:spPr>
          <a:xfrm>
            <a:off x="323528" y="692696"/>
            <a:ext cx="2808312"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a:t>
            </a:r>
            <a:r>
              <a:rPr lang="ko-KR" altLang="en-US" sz="1700" b="1" dirty="0">
                <a:solidFill>
                  <a:schemeClr val="bg1"/>
                </a:solidFill>
                <a:latin typeface="+mn-ea"/>
                <a:cs typeface="+mj-cs"/>
              </a:rPr>
              <a:t>요구사항 정의서</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1026" name="Picture 2">
            <a:extLst>
              <a:ext uri="{FF2B5EF4-FFF2-40B4-BE49-F238E27FC236}">
                <a16:creationId xmlns:a16="http://schemas.microsoft.com/office/drawing/2014/main" id="{29FBD6A5-57D0-272B-CD58-08C7D9B0605F}"/>
              </a:ext>
            </a:extLst>
          </p:cNvPr>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5" name="막힌 원호 34">
            <a:extLst>
              <a:ext uri="{FF2B5EF4-FFF2-40B4-BE49-F238E27FC236}">
                <a16:creationId xmlns:a16="http://schemas.microsoft.com/office/drawing/2014/main" id="{31DC7C6F-DDA7-3A28-F867-D629A87FE6B8}"/>
              </a:ext>
            </a:extLst>
          </p:cNvPr>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2" name="그림 1">
            <a:extLst>
              <a:ext uri="{FF2B5EF4-FFF2-40B4-BE49-F238E27FC236}">
                <a16:creationId xmlns:a16="http://schemas.microsoft.com/office/drawing/2014/main" id="{CA83F56F-3CB5-663B-9D84-FC6ED7E87721}"/>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graphicFrame>
        <p:nvGraphicFramePr>
          <p:cNvPr id="1027" name="Table 1026"/>
          <p:cNvGraphicFramePr>
            <a:graphicFrameLocks noGrp="1"/>
          </p:cNvGraphicFramePr>
          <p:nvPr/>
        </p:nvGraphicFramePr>
        <p:xfrm>
          <a:off x="301752" y="1335024"/>
          <a:ext cx="4160519" cy="3750866"/>
        </p:xfrm>
        <a:graphic>
          <a:graphicData uri="http://schemas.openxmlformats.org/drawingml/2006/table">
            <a:tbl>
              <a:tblPr>
                <a:tableStyleId>{5C22544A-7EE6-4342-B048-85BDC9FD1C3A}</a:tableStyleId>
              </a:tblPr>
              <a:tblGrid>
                <a:gridCol w="655597">
                  <a:extLst>
                    <a:ext uri="{9D8B030D-6E8A-4147-A177-3AD203B41FA5}">
                      <a16:colId xmlns:a16="http://schemas.microsoft.com/office/drawing/2014/main" val="20000"/>
                    </a:ext>
                  </a:extLst>
                </a:gridCol>
                <a:gridCol w="868526">
                  <a:extLst>
                    <a:ext uri="{9D8B030D-6E8A-4147-A177-3AD203B41FA5}">
                      <a16:colId xmlns:a16="http://schemas.microsoft.com/office/drawing/2014/main" val="20001"/>
                    </a:ext>
                  </a:extLst>
                </a:gridCol>
                <a:gridCol w="1606306">
                  <a:extLst>
                    <a:ext uri="{9D8B030D-6E8A-4147-A177-3AD203B41FA5}">
                      <a16:colId xmlns:a16="http://schemas.microsoft.com/office/drawing/2014/main" val="20002"/>
                    </a:ext>
                  </a:extLst>
                </a:gridCol>
                <a:gridCol w="410915">
                  <a:extLst>
                    <a:ext uri="{9D8B030D-6E8A-4147-A177-3AD203B41FA5}">
                      <a16:colId xmlns:a16="http://schemas.microsoft.com/office/drawing/2014/main" val="20003"/>
                    </a:ext>
                  </a:extLst>
                </a:gridCol>
                <a:gridCol w="619175">
                  <a:extLst>
                    <a:ext uri="{9D8B030D-6E8A-4147-A177-3AD203B41FA5}">
                      <a16:colId xmlns:a16="http://schemas.microsoft.com/office/drawing/2014/main" val="20004"/>
                    </a:ext>
                  </a:extLst>
                </a:gridCol>
              </a:tblGrid>
              <a:tr h="267919">
                <a:tc>
                  <a:txBody>
                    <a:bodyPr/>
                    <a:lstStyle/>
                    <a:p>
                      <a:pPr algn="ctr"/>
                      <a:r>
                        <a:rPr sz="660" b="1">
                          <a:solidFill>
                            <a:srgbClr val="FFFFFF"/>
                          </a:solidFill>
                          <a:latin typeface="맑은 고딕"/>
                        </a:rPr>
                        <a:t>요구사항 ID</a:t>
                      </a:r>
                    </a:p>
                  </a:txBody>
                  <a:tcPr marL="27432" marR="27432" marT="4572" marB="4572" anchor="ctr">
                    <a:solidFill>
                      <a:srgbClr val="3B5AA8"/>
                    </a:solidFill>
                  </a:tcPr>
                </a:tc>
                <a:tc>
                  <a:txBody>
                    <a:bodyPr/>
                    <a:lstStyle/>
                    <a:p>
                      <a:pPr algn="ctr"/>
                      <a:r>
                        <a:rPr sz="660" b="1">
                          <a:solidFill>
                            <a:srgbClr val="FFFFFF"/>
                          </a:solidFill>
                          <a:latin typeface="맑은 고딕"/>
                        </a:rPr>
                        <a:t>요구사항명</a:t>
                      </a:r>
                    </a:p>
                  </a:txBody>
                  <a:tcPr marL="27432" marR="27432" marT="4572" marB="4572" anchor="ctr">
                    <a:solidFill>
                      <a:srgbClr val="3B5AA8"/>
                    </a:solidFill>
                  </a:tcPr>
                </a:tc>
                <a:tc>
                  <a:txBody>
                    <a:bodyPr/>
                    <a:lstStyle/>
                    <a:p>
                      <a:pPr algn="ctr"/>
                      <a:r>
                        <a:rPr sz="660" b="1">
                          <a:solidFill>
                            <a:srgbClr val="FFFFFF"/>
                          </a:solidFill>
                          <a:latin typeface="맑은 고딕"/>
                        </a:rPr>
                        <a:t>요구사항 상세설명</a:t>
                      </a:r>
                    </a:p>
                  </a:txBody>
                  <a:tcPr marL="27432" marR="27432" marT="4572" marB="4572" anchor="ctr">
                    <a:solidFill>
                      <a:srgbClr val="3B5AA8"/>
                    </a:solidFill>
                  </a:tcPr>
                </a:tc>
                <a:tc>
                  <a:txBody>
                    <a:bodyPr/>
                    <a:lstStyle/>
                    <a:p>
                      <a:pPr algn="ctr"/>
                      <a:r>
                        <a:rPr sz="660" b="1">
                          <a:solidFill>
                            <a:srgbClr val="FFFFFF"/>
                          </a:solidFill>
                          <a:latin typeface="맑은 고딕"/>
                        </a:rPr>
                        <a:t>중요도</a:t>
                      </a:r>
                    </a:p>
                  </a:txBody>
                  <a:tcPr marL="27432" marR="27432" marT="4572" marB="4572" anchor="ctr">
                    <a:solidFill>
                      <a:srgbClr val="3B5AA8"/>
                    </a:solidFill>
                  </a:tcPr>
                </a:tc>
                <a:tc>
                  <a:txBody>
                    <a:bodyPr/>
                    <a:lstStyle/>
                    <a:p>
                      <a:pPr algn="ctr"/>
                      <a:r>
                        <a:rPr sz="660" b="1">
                          <a:solidFill>
                            <a:srgbClr val="FFFFFF"/>
                          </a:solidFill>
                          <a:latin typeface="맑은 고딕"/>
                        </a:rPr>
                        <a:t>비고</a:t>
                      </a:r>
                    </a:p>
                  </a:txBody>
                  <a:tcPr marL="27432" marR="27432" marT="4572" marB="4572" anchor="ctr">
                    <a:solidFill>
                      <a:srgbClr val="3B5AA8"/>
                    </a:solidFill>
                  </a:tcPr>
                </a:tc>
                <a:extLst>
                  <a:ext uri="{0D108BD9-81ED-4DB2-BD59-A6C34878D82A}">
                    <a16:rowId xmlns:a16="http://schemas.microsoft.com/office/drawing/2014/main" val="10000"/>
                  </a:ext>
                </a:extLst>
              </a:tr>
              <a:tr h="267919">
                <a:tc>
                  <a:txBody>
                    <a:bodyPr/>
                    <a:lstStyle/>
                    <a:p>
                      <a:pPr algn="ctr"/>
                      <a:r>
                        <a:rPr sz="650" b="0">
                          <a:solidFill>
                            <a:srgbClr val="222222"/>
                          </a:solidFill>
                          <a:latin typeface="맑은 고딕"/>
                        </a:rPr>
                        <a:t>SRS-WEB-039</a:t>
                      </a:r>
                    </a:p>
                  </a:txBody>
                  <a:tcPr marL="27432" marR="27432" marT="4572" marB="4572" anchor="ctr">
                    <a:solidFill>
                      <a:srgbClr val="FFFFFF"/>
                    </a:solidFill>
                  </a:tcPr>
                </a:tc>
                <a:tc>
                  <a:txBody>
                    <a:bodyPr/>
                    <a:lstStyle/>
                    <a:p>
                      <a:pPr algn="l"/>
                      <a:r>
                        <a:rPr sz="650" b="0">
                          <a:solidFill>
                            <a:srgbClr val="222222"/>
                          </a:solidFill>
                          <a:latin typeface="맑은 고딕"/>
                        </a:rPr>
                        <a:t>공지 관리</a:t>
                      </a:r>
                    </a:p>
                  </a:txBody>
                  <a:tcPr marL="27432" marR="27432" marT="4572" marB="4572" anchor="ctr">
                    <a:solidFill>
                      <a:srgbClr val="FFFFFF"/>
                    </a:solidFill>
                  </a:tcPr>
                </a:tc>
                <a:tc>
                  <a:txBody>
                    <a:bodyPr/>
                    <a:lstStyle/>
                    <a:p>
                      <a:pPr algn="l"/>
                      <a:r>
                        <a:rPr sz="650" b="0">
                          <a:solidFill>
                            <a:srgbClr val="222222"/>
                          </a:solidFill>
                          <a:latin typeface="맑은 고딕"/>
                        </a:rPr>
                        <a:t>공지사항 관리.</a:t>
                      </a:r>
                    </a:p>
                  </a:txBody>
                  <a:tcPr marL="27432" marR="27432" marT="4572" marB="4572" anchor="ctr">
                    <a:solidFill>
                      <a:srgbClr val="FFFFFF"/>
                    </a:solidFill>
                  </a:tcPr>
                </a:tc>
                <a:tc>
                  <a:txBody>
                    <a:bodyPr/>
                    <a:lstStyle/>
                    <a:p>
                      <a:pPr algn="ctr"/>
                      <a:r>
                        <a:rPr sz="650" b="0">
                          <a:solidFill>
                            <a:srgbClr val="222222"/>
                          </a:solidFill>
                          <a:latin typeface="맑은 고딕"/>
                        </a:rPr>
                        <a:t>Low</a:t>
                      </a:r>
                    </a:p>
                  </a:txBody>
                  <a:tcPr marL="27432" marR="27432" marT="4572" marB="4572" anchor="ctr">
                    <a:solidFill>
                      <a:srgbClr val="FFFFFF"/>
                    </a:solidFill>
                  </a:tcPr>
                </a:tc>
                <a:tc>
                  <a:txBody>
                    <a:bodyPr/>
                    <a:lstStyle/>
                    <a:p>
                      <a:pPr algn="ctr"/>
                      <a:r>
                        <a:rPr sz="650" b="0">
                          <a:solidFill>
                            <a:srgbClr val="222222"/>
                          </a:solidFill>
                          <a:latin typeface="맑은 고딕"/>
                        </a:rPr>
                        <a:t>공지</a:t>
                      </a:r>
                    </a:p>
                  </a:txBody>
                  <a:tcPr marL="27432" marR="27432" marT="4572" marB="4572" anchor="ctr">
                    <a:solidFill>
                      <a:srgbClr val="FFFFFF"/>
                    </a:solidFill>
                  </a:tcPr>
                </a:tc>
                <a:extLst>
                  <a:ext uri="{0D108BD9-81ED-4DB2-BD59-A6C34878D82A}">
                    <a16:rowId xmlns:a16="http://schemas.microsoft.com/office/drawing/2014/main" val="10001"/>
                  </a:ext>
                </a:extLst>
              </a:tr>
              <a:tr h="267919">
                <a:tc>
                  <a:txBody>
                    <a:bodyPr/>
                    <a:lstStyle/>
                    <a:p>
                      <a:pPr algn="ctr"/>
                      <a:r>
                        <a:rPr sz="650" b="0">
                          <a:solidFill>
                            <a:srgbClr val="222222"/>
                          </a:solidFill>
                          <a:latin typeface="맑은 고딕"/>
                        </a:rPr>
                        <a:t>SRS-WEB-040</a:t>
                      </a:r>
                    </a:p>
                  </a:txBody>
                  <a:tcPr marL="27432" marR="27432" marT="4572" marB="4572" anchor="ctr">
                    <a:solidFill>
                      <a:srgbClr val="EEF3FB"/>
                    </a:solidFill>
                  </a:tcPr>
                </a:tc>
                <a:tc>
                  <a:txBody>
                    <a:bodyPr/>
                    <a:lstStyle/>
                    <a:p>
                      <a:pPr algn="l"/>
                      <a:r>
                        <a:rPr sz="650" b="0">
                          <a:solidFill>
                            <a:srgbClr val="222222"/>
                          </a:solidFill>
                          <a:latin typeface="맑은 고딕"/>
                        </a:rPr>
                        <a:t>AI 근거</a:t>
                      </a:r>
                    </a:p>
                  </a:txBody>
                  <a:tcPr marL="27432" marR="27432" marT="4572" marB="4572" anchor="ctr">
                    <a:solidFill>
                      <a:srgbClr val="EEF3FB"/>
                    </a:solidFill>
                  </a:tcPr>
                </a:tc>
                <a:tc>
                  <a:txBody>
                    <a:bodyPr/>
                    <a:lstStyle/>
                    <a:p>
                      <a:pPr algn="l"/>
                      <a:r>
                        <a:rPr sz="650" b="0">
                          <a:solidFill>
                            <a:srgbClr val="222222"/>
                          </a:solidFill>
                          <a:latin typeface="맑은 고딕"/>
                        </a:rPr>
                        <a:t>이상점수 상승 원인 근거별 표시.</a:t>
                      </a:r>
                    </a:p>
                  </a:txBody>
                  <a:tcPr marL="27432" marR="27432" marT="4572" marB="4572" anchor="ctr">
                    <a:solidFill>
                      <a:srgbClr val="EEF3FB"/>
                    </a:solidFill>
                  </a:tcPr>
                </a:tc>
                <a:tc>
                  <a:txBody>
                    <a:bodyPr/>
                    <a:lstStyle/>
                    <a:p>
                      <a:pPr algn="ctr"/>
                      <a:r>
                        <a:rPr sz="650" b="0">
                          <a:solidFill>
                            <a:srgbClr val="222222"/>
                          </a:solidFill>
                          <a:latin typeface="맑은 고딕"/>
                        </a:rPr>
                        <a:t>High</a:t>
                      </a:r>
                    </a:p>
                  </a:txBody>
                  <a:tcPr marL="27432" marR="27432" marT="4572" marB="4572" anchor="ctr">
                    <a:solidFill>
                      <a:srgbClr val="EEF3FB"/>
                    </a:solidFill>
                  </a:tcPr>
                </a:tc>
                <a:tc>
                  <a:txBody>
                    <a:bodyPr/>
                    <a:lstStyle/>
                    <a:p>
                      <a:pPr algn="ctr"/>
                      <a:r>
                        <a:rPr sz="650" b="0">
                          <a:solidFill>
                            <a:srgbClr val="222222"/>
                          </a:solidFill>
                          <a:latin typeface="맑은 고딕"/>
                        </a:rPr>
                        <a:t>XAI</a:t>
                      </a:r>
                    </a:p>
                  </a:txBody>
                  <a:tcPr marL="27432" marR="27432" marT="4572" marB="4572" anchor="ctr">
                    <a:solidFill>
                      <a:srgbClr val="EEF3FB"/>
                    </a:solidFill>
                  </a:tcPr>
                </a:tc>
                <a:extLst>
                  <a:ext uri="{0D108BD9-81ED-4DB2-BD59-A6C34878D82A}">
                    <a16:rowId xmlns:a16="http://schemas.microsoft.com/office/drawing/2014/main" val="10002"/>
                  </a:ext>
                </a:extLst>
              </a:tr>
              <a:tr h="267919">
                <a:tc>
                  <a:txBody>
                    <a:bodyPr/>
                    <a:lstStyle/>
                    <a:p>
                      <a:pPr algn="ctr"/>
                      <a:r>
                        <a:rPr sz="650" b="0">
                          <a:solidFill>
                            <a:srgbClr val="222222"/>
                          </a:solidFill>
                          <a:latin typeface="맑은 고딕"/>
                        </a:rPr>
                        <a:t>SRS-WEB-041</a:t>
                      </a:r>
                    </a:p>
                  </a:txBody>
                  <a:tcPr marL="27432" marR="27432" marT="4572" marB="4572" anchor="ctr">
                    <a:solidFill>
                      <a:srgbClr val="FFFFFF"/>
                    </a:solidFill>
                  </a:tcPr>
                </a:tc>
                <a:tc>
                  <a:txBody>
                    <a:bodyPr/>
                    <a:lstStyle/>
                    <a:p>
                      <a:pPr algn="l"/>
                      <a:r>
                        <a:rPr sz="650" b="0">
                          <a:solidFill>
                            <a:srgbClr val="222222"/>
                          </a:solidFill>
                          <a:latin typeface="맑은 고딕"/>
                        </a:rPr>
                        <a:t>수명 예측</a:t>
                      </a:r>
                    </a:p>
                  </a:txBody>
                  <a:tcPr marL="27432" marR="27432" marT="4572" marB="4572" anchor="ctr">
                    <a:solidFill>
                      <a:srgbClr val="FFFFFF"/>
                    </a:solidFill>
                  </a:tcPr>
                </a:tc>
                <a:tc>
                  <a:txBody>
                    <a:bodyPr/>
                    <a:lstStyle/>
                    <a:p>
                      <a:pPr algn="l"/>
                      <a:r>
                        <a:rPr sz="650" b="0">
                          <a:solidFill>
                            <a:srgbClr val="222222"/>
                          </a:solidFill>
                          <a:latin typeface="맑은 고딕"/>
                        </a:rPr>
                        <a:t>배터리 건강도와 잔존수명 추정.</a:t>
                      </a:r>
                    </a:p>
                  </a:txBody>
                  <a:tcPr marL="27432" marR="27432" marT="4572" marB="4572" anchor="ctr">
                    <a:solidFill>
                      <a:srgbClr val="FFFFFF"/>
                    </a:solidFill>
                  </a:tcPr>
                </a:tc>
                <a:tc>
                  <a:txBody>
                    <a:bodyPr/>
                    <a:lstStyle/>
                    <a:p>
                      <a:pPr algn="ctr"/>
                      <a:r>
                        <a:rPr sz="650" b="0">
                          <a:solidFill>
                            <a:srgbClr val="222222"/>
                          </a:solidFill>
                          <a:latin typeface="맑은 고딕"/>
                        </a:rPr>
                        <a:t>Med</a:t>
                      </a:r>
                    </a:p>
                  </a:txBody>
                  <a:tcPr marL="27432" marR="27432" marT="4572" marB="4572" anchor="ctr">
                    <a:solidFill>
                      <a:srgbClr val="FFFFFF"/>
                    </a:solidFill>
                  </a:tcPr>
                </a:tc>
                <a:tc>
                  <a:txBody>
                    <a:bodyPr/>
                    <a:lstStyle/>
                    <a:p>
                      <a:pPr algn="ctr"/>
                      <a:r>
                        <a:rPr sz="650" b="0">
                          <a:solidFill>
                            <a:srgbClr val="222222"/>
                          </a:solidFill>
                          <a:latin typeface="맑은 고딕"/>
                        </a:rPr>
                        <a:t>SOH/RUL</a:t>
                      </a:r>
                    </a:p>
                  </a:txBody>
                  <a:tcPr marL="27432" marR="27432" marT="4572" marB="4572" anchor="ctr">
                    <a:solidFill>
                      <a:srgbClr val="FFFFFF"/>
                    </a:solidFill>
                  </a:tcPr>
                </a:tc>
                <a:extLst>
                  <a:ext uri="{0D108BD9-81ED-4DB2-BD59-A6C34878D82A}">
                    <a16:rowId xmlns:a16="http://schemas.microsoft.com/office/drawing/2014/main" val="10003"/>
                  </a:ext>
                </a:extLst>
              </a:tr>
              <a:tr h="267919">
                <a:tc>
                  <a:txBody>
                    <a:bodyPr/>
                    <a:lstStyle/>
                    <a:p>
                      <a:pPr algn="ctr"/>
                      <a:r>
                        <a:rPr sz="650" b="0">
                          <a:solidFill>
                            <a:srgbClr val="222222"/>
                          </a:solidFill>
                          <a:latin typeface="맑은 고딕"/>
                        </a:rPr>
                        <a:t>SRS-WEB-042</a:t>
                      </a:r>
                    </a:p>
                  </a:txBody>
                  <a:tcPr marL="27432" marR="27432" marT="4572" marB="4572" anchor="ctr">
                    <a:solidFill>
                      <a:srgbClr val="EEF3FB"/>
                    </a:solidFill>
                  </a:tcPr>
                </a:tc>
                <a:tc>
                  <a:txBody>
                    <a:bodyPr/>
                    <a:lstStyle/>
                    <a:p>
                      <a:pPr algn="l"/>
                      <a:r>
                        <a:rPr sz="650" b="0">
                          <a:solidFill>
                            <a:srgbClr val="222222"/>
                          </a:solidFill>
                          <a:latin typeface="맑은 고딕"/>
                        </a:rPr>
                        <a:t>이상 시연</a:t>
                      </a:r>
                    </a:p>
                  </a:txBody>
                  <a:tcPr marL="27432" marR="27432" marT="4572" marB="4572" anchor="ctr">
                    <a:solidFill>
                      <a:srgbClr val="EEF3FB"/>
                    </a:solidFill>
                  </a:tcPr>
                </a:tc>
                <a:tc>
                  <a:txBody>
                    <a:bodyPr/>
                    <a:lstStyle/>
                    <a:p>
                      <a:pPr algn="l"/>
                      <a:r>
                        <a:rPr sz="650" b="0">
                          <a:solidFill>
                            <a:srgbClr val="222222"/>
                          </a:solidFill>
                          <a:latin typeface="맑은 고딕"/>
                        </a:rPr>
                        <a:t>시나리오 기반 탐지·알림·차단 검증.</a:t>
                      </a:r>
                    </a:p>
                  </a:txBody>
                  <a:tcPr marL="27432" marR="27432" marT="4572" marB="4572" anchor="ctr">
                    <a:solidFill>
                      <a:srgbClr val="EEF3FB"/>
                    </a:solidFill>
                  </a:tcPr>
                </a:tc>
                <a:tc>
                  <a:txBody>
                    <a:bodyPr/>
                    <a:lstStyle/>
                    <a:p>
                      <a:pPr algn="ctr"/>
                      <a:r>
                        <a:rPr sz="650" b="0">
                          <a:solidFill>
                            <a:srgbClr val="222222"/>
                          </a:solidFill>
                          <a:latin typeface="맑은 고딕"/>
                        </a:rPr>
                        <a:t>Med</a:t>
                      </a:r>
                    </a:p>
                  </a:txBody>
                  <a:tcPr marL="27432" marR="27432" marT="4572" marB="4572" anchor="ctr">
                    <a:solidFill>
                      <a:srgbClr val="EEF3FB"/>
                    </a:solidFill>
                  </a:tcPr>
                </a:tc>
                <a:tc>
                  <a:txBody>
                    <a:bodyPr/>
                    <a:lstStyle/>
                    <a:p>
                      <a:pPr algn="ctr"/>
                      <a:r>
                        <a:rPr sz="650" b="0">
                          <a:solidFill>
                            <a:srgbClr val="222222"/>
                          </a:solidFill>
                          <a:latin typeface="맑은 고딕"/>
                        </a:rPr>
                        <a:t>데모</a:t>
                      </a:r>
                    </a:p>
                  </a:txBody>
                  <a:tcPr marL="27432" marR="27432" marT="4572" marB="4572" anchor="ctr">
                    <a:solidFill>
                      <a:srgbClr val="EEF3FB"/>
                    </a:solidFill>
                  </a:tcPr>
                </a:tc>
                <a:extLst>
                  <a:ext uri="{0D108BD9-81ED-4DB2-BD59-A6C34878D82A}">
                    <a16:rowId xmlns:a16="http://schemas.microsoft.com/office/drawing/2014/main" val="10004"/>
                  </a:ext>
                </a:extLst>
              </a:tr>
              <a:tr h="267919">
                <a:tc>
                  <a:txBody>
                    <a:bodyPr/>
                    <a:lstStyle/>
                    <a:p>
                      <a:pPr algn="ctr"/>
                      <a:r>
                        <a:rPr sz="650" b="0">
                          <a:solidFill>
                            <a:srgbClr val="222222"/>
                          </a:solidFill>
                          <a:latin typeface="맑은 고딕"/>
                        </a:rPr>
                        <a:t>SRS-WEB-043</a:t>
                      </a:r>
                    </a:p>
                  </a:txBody>
                  <a:tcPr marL="27432" marR="27432" marT="4572" marB="4572" anchor="ctr">
                    <a:solidFill>
                      <a:srgbClr val="FFFFFF"/>
                    </a:solidFill>
                  </a:tcPr>
                </a:tc>
                <a:tc>
                  <a:txBody>
                    <a:bodyPr/>
                    <a:lstStyle/>
                    <a:p>
                      <a:pPr algn="l"/>
                      <a:r>
                        <a:rPr sz="650" b="0">
                          <a:solidFill>
                            <a:srgbClr val="222222"/>
                          </a:solidFill>
                          <a:latin typeface="맑은 고딕"/>
                        </a:rPr>
                        <a:t>원인 분석</a:t>
                      </a:r>
                    </a:p>
                  </a:txBody>
                  <a:tcPr marL="27432" marR="27432" marT="4572" marB="4572" anchor="ctr">
                    <a:solidFill>
                      <a:srgbClr val="FFFFFF"/>
                    </a:solidFill>
                  </a:tcPr>
                </a:tc>
                <a:tc>
                  <a:txBody>
                    <a:bodyPr/>
                    <a:lstStyle/>
                    <a:p>
                      <a:pPr algn="l"/>
                      <a:r>
                        <a:rPr sz="650" b="0">
                          <a:solidFill>
                            <a:srgbClr val="222222"/>
                          </a:solidFill>
                          <a:latin typeface="맑은 고딕"/>
                        </a:rPr>
                        <a:t>위험 전후 데이터와 조치 흐름 분석.</a:t>
                      </a:r>
                    </a:p>
                  </a:txBody>
                  <a:tcPr marL="27432" marR="27432" marT="4572" marB="4572" anchor="ctr">
                    <a:solidFill>
                      <a:srgbClr val="FFFFFF"/>
                    </a:solidFill>
                  </a:tcPr>
                </a:tc>
                <a:tc>
                  <a:txBody>
                    <a:bodyPr/>
                    <a:lstStyle/>
                    <a:p>
                      <a:pPr algn="ctr"/>
                      <a:r>
                        <a:rPr sz="650" b="0">
                          <a:solidFill>
                            <a:srgbClr val="222222"/>
                          </a:solidFill>
                          <a:latin typeface="맑은 고딕"/>
                        </a:rPr>
                        <a:t>Med</a:t>
                      </a:r>
                    </a:p>
                  </a:txBody>
                  <a:tcPr marL="27432" marR="27432" marT="4572" marB="4572" anchor="ctr">
                    <a:solidFill>
                      <a:srgbClr val="FFFFFF"/>
                    </a:solidFill>
                  </a:tcPr>
                </a:tc>
                <a:tc>
                  <a:txBody>
                    <a:bodyPr/>
                    <a:lstStyle/>
                    <a:p>
                      <a:pPr algn="ctr"/>
                      <a:r>
                        <a:rPr sz="650" b="0">
                          <a:solidFill>
                            <a:srgbClr val="222222"/>
                          </a:solidFill>
                          <a:latin typeface="맑은 고딕"/>
                        </a:rPr>
                        <a:t>포렌식</a:t>
                      </a:r>
                    </a:p>
                  </a:txBody>
                  <a:tcPr marL="27432" marR="27432" marT="4572" marB="4572" anchor="ctr">
                    <a:solidFill>
                      <a:srgbClr val="FFFFFF"/>
                    </a:solidFill>
                  </a:tcPr>
                </a:tc>
                <a:extLst>
                  <a:ext uri="{0D108BD9-81ED-4DB2-BD59-A6C34878D82A}">
                    <a16:rowId xmlns:a16="http://schemas.microsoft.com/office/drawing/2014/main" val="10005"/>
                  </a:ext>
                </a:extLst>
              </a:tr>
              <a:tr h="267919">
                <a:tc>
                  <a:txBody>
                    <a:bodyPr/>
                    <a:lstStyle/>
                    <a:p>
                      <a:pPr algn="ctr"/>
                      <a:r>
                        <a:rPr sz="650" b="0">
                          <a:solidFill>
                            <a:srgbClr val="222222"/>
                          </a:solidFill>
                          <a:latin typeface="맑은 고딕"/>
                        </a:rPr>
                        <a:t>SRS-WEB-044</a:t>
                      </a:r>
                    </a:p>
                  </a:txBody>
                  <a:tcPr marL="27432" marR="27432" marT="4572" marB="4572" anchor="ctr">
                    <a:solidFill>
                      <a:srgbClr val="EEF3FB"/>
                    </a:solidFill>
                  </a:tcPr>
                </a:tc>
                <a:tc>
                  <a:txBody>
                    <a:bodyPr/>
                    <a:lstStyle/>
                    <a:p>
                      <a:pPr algn="l"/>
                      <a:r>
                        <a:rPr sz="650" b="0">
                          <a:solidFill>
                            <a:srgbClr val="222222"/>
                          </a:solidFill>
                          <a:latin typeface="맑은 고딕"/>
                        </a:rPr>
                        <a:t>경고 격상</a:t>
                      </a:r>
                    </a:p>
                  </a:txBody>
                  <a:tcPr marL="27432" marR="27432" marT="4572" marB="4572" anchor="ctr">
                    <a:solidFill>
                      <a:srgbClr val="EEF3FB"/>
                    </a:solidFill>
                  </a:tcPr>
                </a:tc>
                <a:tc>
                  <a:txBody>
                    <a:bodyPr/>
                    <a:lstStyle/>
                    <a:p>
                      <a:pPr algn="l"/>
                      <a:r>
                        <a:rPr sz="650" b="0">
                          <a:solidFill>
                            <a:srgbClr val="222222"/>
                          </a:solidFill>
                          <a:latin typeface="맑은 고딕"/>
                        </a:rPr>
                        <a:t>미확인 알림 격상과 대응 상태 기록.</a:t>
                      </a:r>
                    </a:p>
                  </a:txBody>
                  <a:tcPr marL="27432" marR="27432" marT="4572" marB="4572" anchor="ctr">
                    <a:solidFill>
                      <a:srgbClr val="EEF3FB"/>
                    </a:solidFill>
                  </a:tcPr>
                </a:tc>
                <a:tc>
                  <a:txBody>
                    <a:bodyPr/>
                    <a:lstStyle/>
                    <a:p>
                      <a:pPr algn="ctr"/>
                      <a:r>
                        <a:rPr sz="650" b="0">
                          <a:solidFill>
                            <a:srgbClr val="222222"/>
                          </a:solidFill>
                          <a:latin typeface="맑은 고딕"/>
                        </a:rPr>
                        <a:t>High</a:t>
                      </a:r>
                    </a:p>
                  </a:txBody>
                  <a:tcPr marL="27432" marR="27432" marT="4572" marB="4572" anchor="ctr">
                    <a:solidFill>
                      <a:srgbClr val="EEF3FB"/>
                    </a:solidFill>
                  </a:tcPr>
                </a:tc>
                <a:tc>
                  <a:txBody>
                    <a:bodyPr/>
                    <a:lstStyle/>
                    <a:p>
                      <a:pPr algn="ctr"/>
                      <a:r>
                        <a:rPr sz="650" b="0">
                          <a:solidFill>
                            <a:srgbClr val="222222"/>
                          </a:solidFill>
                          <a:latin typeface="맑은 고딕"/>
                        </a:rPr>
                        <a:t>격상</a:t>
                      </a:r>
                    </a:p>
                  </a:txBody>
                  <a:tcPr marL="27432" marR="27432" marT="4572" marB="4572" anchor="ctr">
                    <a:solidFill>
                      <a:srgbClr val="EEF3FB"/>
                    </a:solidFill>
                  </a:tcPr>
                </a:tc>
                <a:extLst>
                  <a:ext uri="{0D108BD9-81ED-4DB2-BD59-A6C34878D82A}">
                    <a16:rowId xmlns:a16="http://schemas.microsoft.com/office/drawing/2014/main" val="10006"/>
                  </a:ext>
                </a:extLst>
              </a:tr>
              <a:tr h="267919">
                <a:tc>
                  <a:txBody>
                    <a:bodyPr/>
                    <a:lstStyle/>
                    <a:p>
                      <a:pPr algn="ctr"/>
                      <a:r>
                        <a:rPr sz="650" b="0">
                          <a:solidFill>
                            <a:srgbClr val="222222"/>
                          </a:solidFill>
                          <a:latin typeface="맑은 고딕"/>
                        </a:rPr>
                        <a:t>SRS-WEB-045</a:t>
                      </a:r>
                    </a:p>
                  </a:txBody>
                  <a:tcPr marL="27432" marR="27432" marT="4572" marB="4572" anchor="ctr">
                    <a:solidFill>
                      <a:srgbClr val="FFFFFF"/>
                    </a:solidFill>
                  </a:tcPr>
                </a:tc>
                <a:tc>
                  <a:txBody>
                    <a:bodyPr/>
                    <a:lstStyle/>
                    <a:p>
                      <a:pPr algn="l"/>
                      <a:r>
                        <a:rPr sz="650" b="0">
                          <a:solidFill>
                            <a:srgbClr val="222222"/>
                          </a:solidFill>
                          <a:latin typeface="맑은 고딕"/>
                        </a:rPr>
                        <a:t>알림 채널</a:t>
                      </a:r>
                    </a:p>
                  </a:txBody>
                  <a:tcPr marL="27432" marR="27432" marT="4572" marB="4572" anchor="ctr">
                    <a:solidFill>
                      <a:srgbClr val="FFFFFF"/>
                    </a:solidFill>
                  </a:tcPr>
                </a:tc>
                <a:tc>
                  <a:txBody>
                    <a:bodyPr/>
                    <a:lstStyle/>
                    <a:p>
                      <a:pPr algn="l"/>
                      <a:r>
                        <a:rPr sz="650" b="0">
                          <a:solidFill>
                            <a:srgbClr val="222222"/>
                          </a:solidFill>
                          <a:latin typeface="맑은 고딕"/>
                        </a:rPr>
                        <a:t>위험도별 알림 채널 분리.</a:t>
                      </a:r>
                    </a:p>
                  </a:txBody>
                  <a:tcPr marL="27432" marR="27432" marT="4572" marB="4572" anchor="ctr">
                    <a:solidFill>
                      <a:srgbClr val="FFFFFF"/>
                    </a:solidFill>
                  </a:tcPr>
                </a:tc>
                <a:tc>
                  <a:txBody>
                    <a:bodyPr/>
                    <a:lstStyle/>
                    <a:p>
                      <a:pPr algn="ctr"/>
                      <a:r>
                        <a:rPr sz="650" b="0">
                          <a:solidFill>
                            <a:srgbClr val="222222"/>
                          </a:solidFill>
                          <a:latin typeface="맑은 고딕"/>
                        </a:rPr>
                        <a:t>Med</a:t>
                      </a:r>
                    </a:p>
                  </a:txBody>
                  <a:tcPr marL="27432" marR="27432" marT="4572" marB="4572" anchor="ctr">
                    <a:solidFill>
                      <a:srgbClr val="FFFFFF"/>
                    </a:solidFill>
                  </a:tcPr>
                </a:tc>
                <a:tc>
                  <a:txBody>
                    <a:bodyPr/>
                    <a:lstStyle/>
                    <a:p>
                      <a:pPr algn="ctr"/>
                      <a:r>
                        <a:rPr sz="650" b="0">
                          <a:solidFill>
                            <a:srgbClr val="222222"/>
                          </a:solidFill>
                          <a:latin typeface="맑은 고딕"/>
                        </a:rPr>
                        <a:t>다중채널</a:t>
                      </a:r>
                    </a:p>
                  </a:txBody>
                  <a:tcPr marL="27432" marR="27432" marT="4572" marB="4572" anchor="ctr">
                    <a:solidFill>
                      <a:srgbClr val="FFFFFF"/>
                    </a:solidFill>
                  </a:tcPr>
                </a:tc>
                <a:extLst>
                  <a:ext uri="{0D108BD9-81ED-4DB2-BD59-A6C34878D82A}">
                    <a16:rowId xmlns:a16="http://schemas.microsoft.com/office/drawing/2014/main" val="10007"/>
                  </a:ext>
                </a:extLst>
              </a:tr>
              <a:tr h="267919">
                <a:tc>
                  <a:txBody>
                    <a:bodyPr/>
                    <a:lstStyle/>
                    <a:p>
                      <a:pPr algn="ctr"/>
                      <a:r>
                        <a:rPr sz="650" b="0">
                          <a:solidFill>
                            <a:srgbClr val="222222"/>
                          </a:solidFill>
                          <a:latin typeface="맑은 고딕"/>
                        </a:rPr>
                        <a:t>SRS-WEB-046</a:t>
                      </a:r>
                    </a:p>
                  </a:txBody>
                  <a:tcPr marL="27432" marR="27432" marT="4572" marB="4572" anchor="ctr">
                    <a:solidFill>
                      <a:srgbClr val="EEF3FB"/>
                    </a:solidFill>
                  </a:tcPr>
                </a:tc>
                <a:tc>
                  <a:txBody>
                    <a:bodyPr/>
                    <a:lstStyle/>
                    <a:p>
                      <a:pPr algn="l"/>
                      <a:r>
                        <a:rPr sz="650" b="0">
                          <a:solidFill>
                            <a:srgbClr val="222222"/>
                          </a:solidFill>
                          <a:latin typeface="맑은 고딕"/>
                        </a:rPr>
                        <a:t>장비 끊김</a:t>
                      </a:r>
                    </a:p>
                  </a:txBody>
                  <a:tcPr marL="27432" marR="27432" marT="4572" marB="4572" anchor="ctr">
                    <a:solidFill>
                      <a:srgbClr val="EEF3FB"/>
                    </a:solidFill>
                  </a:tcPr>
                </a:tc>
                <a:tc>
                  <a:txBody>
                    <a:bodyPr/>
                    <a:lstStyle/>
                    <a:p>
                      <a:pPr algn="l"/>
                      <a:r>
                        <a:rPr sz="650" b="0">
                          <a:solidFill>
                            <a:srgbClr val="222222"/>
                          </a:solidFill>
                          <a:latin typeface="맑은 고딕"/>
                        </a:rPr>
                        <a:t>장비 오프라인과 수신 중단 즉시 경고.</a:t>
                      </a:r>
                    </a:p>
                  </a:txBody>
                  <a:tcPr marL="27432" marR="27432" marT="4572" marB="4572" anchor="ctr">
                    <a:solidFill>
                      <a:srgbClr val="EEF3FB"/>
                    </a:solidFill>
                  </a:tcPr>
                </a:tc>
                <a:tc>
                  <a:txBody>
                    <a:bodyPr/>
                    <a:lstStyle/>
                    <a:p>
                      <a:pPr algn="ctr"/>
                      <a:r>
                        <a:rPr sz="650" b="0">
                          <a:solidFill>
                            <a:srgbClr val="222222"/>
                          </a:solidFill>
                          <a:latin typeface="맑은 고딕"/>
                        </a:rPr>
                        <a:t>High</a:t>
                      </a:r>
                    </a:p>
                  </a:txBody>
                  <a:tcPr marL="27432" marR="27432" marT="4572" marB="4572" anchor="ctr">
                    <a:solidFill>
                      <a:srgbClr val="EEF3FB"/>
                    </a:solidFill>
                  </a:tcPr>
                </a:tc>
                <a:tc>
                  <a:txBody>
                    <a:bodyPr/>
                    <a:lstStyle/>
                    <a:p>
                      <a:pPr algn="ctr"/>
                      <a:r>
                        <a:rPr sz="650" b="0">
                          <a:solidFill>
                            <a:srgbClr val="222222"/>
                          </a:solidFill>
                          <a:latin typeface="맑은 고딕"/>
                        </a:rPr>
                        <a:t>신뢰성</a:t>
                      </a:r>
                    </a:p>
                  </a:txBody>
                  <a:tcPr marL="27432" marR="27432" marT="4572" marB="4572" anchor="ctr">
                    <a:solidFill>
                      <a:srgbClr val="EEF3FB"/>
                    </a:solidFill>
                  </a:tcPr>
                </a:tc>
                <a:extLst>
                  <a:ext uri="{0D108BD9-81ED-4DB2-BD59-A6C34878D82A}">
                    <a16:rowId xmlns:a16="http://schemas.microsoft.com/office/drawing/2014/main" val="10008"/>
                  </a:ext>
                </a:extLst>
              </a:tr>
              <a:tr h="267919">
                <a:tc>
                  <a:txBody>
                    <a:bodyPr/>
                    <a:lstStyle/>
                    <a:p>
                      <a:pPr algn="ctr"/>
                      <a:r>
                        <a:rPr sz="650" b="0">
                          <a:solidFill>
                            <a:srgbClr val="222222"/>
                          </a:solidFill>
                          <a:latin typeface="맑은 고딕"/>
                        </a:rPr>
                        <a:t>SRS-WEB-047</a:t>
                      </a:r>
                    </a:p>
                  </a:txBody>
                  <a:tcPr marL="27432" marR="27432" marT="4572" marB="4572" anchor="ctr">
                    <a:solidFill>
                      <a:srgbClr val="FFFFFF"/>
                    </a:solidFill>
                  </a:tcPr>
                </a:tc>
                <a:tc>
                  <a:txBody>
                    <a:bodyPr/>
                    <a:lstStyle/>
                    <a:p>
                      <a:pPr algn="l"/>
                      <a:r>
                        <a:rPr sz="650" b="0">
                          <a:solidFill>
                            <a:srgbClr val="222222"/>
                          </a:solidFill>
                          <a:latin typeface="맑은 고딕"/>
                        </a:rPr>
                        <a:t>실험 비교</a:t>
                      </a:r>
                    </a:p>
                  </a:txBody>
                  <a:tcPr marL="27432" marR="27432" marT="4572" marB="4572" anchor="ctr">
                    <a:solidFill>
                      <a:srgbClr val="FFFFFF"/>
                    </a:solidFill>
                  </a:tcPr>
                </a:tc>
                <a:tc>
                  <a:txBody>
                    <a:bodyPr/>
                    <a:lstStyle/>
                    <a:p>
                      <a:pPr algn="l"/>
                      <a:r>
                        <a:rPr sz="650" b="0">
                          <a:solidFill>
                            <a:srgbClr val="222222"/>
                          </a:solidFill>
                          <a:latin typeface="맑은 고딕"/>
                        </a:rPr>
                        <a:t>여러 배터리·세션 추세 비교.</a:t>
                      </a:r>
                    </a:p>
                  </a:txBody>
                  <a:tcPr marL="27432" marR="27432" marT="4572" marB="4572" anchor="ctr">
                    <a:solidFill>
                      <a:srgbClr val="FFFFFF"/>
                    </a:solidFill>
                  </a:tcPr>
                </a:tc>
                <a:tc>
                  <a:txBody>
                    <a:bodyPr/>
                    <a:lstStyle/>
                    <a:p>
                      <a:pPr algn="ctr"/>
                      <a:r>
                        <a:rPr sz="650" b="0">
                          <a:solidFill>
                            <a:srgbClr val="222222"/>
                          </a:solidFill>
                          <a:latin typeface="맑은 고딕"/>
                        </a:rPr>
                        <a:t>Med</a:t>
                      </a:r>
                    </a:p>
                  </a:txBody>
                  <a:tcPr marL="27432" marR="27432" marT="4572" marB="4572" anchor="ctr">
                    <a:solidFill>
                      <a:srgbClr val="FFFFFF"/>
                    </a:solidFill>
                  </a:tcPr>
                </a:tc>
                <a:tc>
                  <a:txBody>
                    <a:bodyPr/>
                    <a:lstStyle/>
                    <a:p>
                      <a:pPr algn="ctr"/>
                      <a:r>
                        <a:rPr sz="650" b="0">
                          <a:solidFill>
                            <a:srgbClr val="222222"/>
                          </a:solidFill>
                          <a:latin typeface="맑은 고딕"/>
                        </a:rPr>
                        <a:t>분석</a:t>
                      </a:r>
                    </a:p>
                  </a:txBody>
                  <a:tcPr marL="27432" marR="27432" marT="4572" marB="4572" anchor="ctr">
                    <a:solidFill>
                      <a:srgbClr val="FFFFFF"/>
                    </a:solidFill>
                  </a:tcPr>
                </a:tc>
                <a:extLst>
                  <a:ext uri="{0D108BD9-81ED-4DB2-BD59-A6C34878D82A}">
                    <a16:rowId xmlns:a16="http://schemas.microsoft.com/office/drawing/2014/main" val="10009"/>
                  </a:ext>
                </a:extLst>
              </a:tr>
              <a:tr h="267919">
                <a:tc>
                  <a:txBody>
                    <a:bodyPr/>
                    <a:lstStyle/>
                    <a:p>
                      <a:pPr algn="ctr"/>
                      <a:r>
                        <a:rPr sz="650" b="0">
                          <a:solidFill>
                            <a:srgbClr val="222222"/>
                          </a:solidFill>
                          <a:latin typeface="맑은 고딕"/>
                        </a:rPr>
                        <a:t>SRS-WEB-048</a:t>
                      </a:r>
                    </a:p>
                  </a:txBody>
                  <a:tcPr marL="27432" marR="27432" marT="4572" marB="4572" anchor="ctr">
                    <a:solidFill>
                      <a:srgbClr val="EEF3FB"/>
                    </a:solidFill>
                  </a:tcPr>
                </a:tc>
                <a:tc>
                  <a:txBody>
                    <a:bodyPr/>
                    <a:lstStyle/>
                    <a:p>
                      <a:pPr algn="l"/>
                      <a:r>
                        <a:rPr sz="650" b="0">
                          <a:solidFill>
                            <a:srgbClr val="222222"/>
                          </a:solidFill>
                          <a:latin typeface="맑은 고딕"/>
                        </a:rPr>
                        <a:t>대응 안내</a:t>
                      </a:r>
                    </a:p>
                  </a:txBody>
                  <a:tcPr marL="27432" marR="27432" marT="4572" marB="4572" anchor="ctr">
                    <a:solidFill>
                      <a:srgbClr val="EEF3FB"/>
                    </a:solidFill>
                  </a:tcPr>
                </a:tc>
                <a:tc>
                  <a:txBody>
                    <a:bodyPr/>
                    <a:lstStyle/>
                    <a:p>
                      <a:pPr algn="l"/>
                      <a:r>
                        <a:rPr sz="650" b="0">
                          <a:solidFill>
                            <a:srgbClr val="222222"/>
                          </a:solidFill>
                          <a:latin typeface="맑은 고딕"/>
                        </a:rPr>
                        <a:t>위험 등급별 즉시 조치 안내.</a:t>
                      </a:r>
                    </a:p>
                  </a:txBody>
                  <a:tcPr marL="27432" marR="27432" marT="4572" marB="4572" anchor="ctr">
                    <a:solidFill>
                      <a:srgbClr val="EEF3FB"/>
                    </a:solidFill>
                  </a:tcPr>
                </a:tc>
                <a:tc>
                  <a:txBody>
                    <a:bodyPr/>
                    <a:lstStyle/>
                    <a:p>
                      <a:pPr algn="ctr"/>
                      <a:r>
                        <a:rPr sz="650" b="0">
                          <a:solidFill>
                            <a:srgbClr val="222222"/>
                          </a:solidFill>
                          <a:latin typeface="맑은 고딕"/>
                        </a:rPr>
                        <a:t>Med</a:t>
                      </a:r>
                    </a:p>
                  </a:txBody>
                  <a:tcPr marL="27432" marR="27432" marT="4572" marB="4572" anchor="ctr">
                    <a:solidFill>
                      <a:srgbClr val="EEF3FB"/>
                    </a:solidFill>
                  </a:tcPr>
                </a:tc>
                <a:tc>
                  <a:txBody>
                    <a:bodyPr/>
                    <a:lstStyle/>
                    <a:p>
                      <a:pPr algn="ctr"/>
                      <a:r>
                        <a:rPr sz="650" b="0">
                          <a:solidFill>
                            <a:srgbClr val="222222"/>
                          </a:solidFill>
                          <a:latin typeface="맑은 고딕"/>
                        </a:rPr>
                        <a:t>안전</a:t>
                      </a:r>
                    </a:p>
                  </a:txBody>
                  <a:tcPr marL="27432" marR="27432" marT="4572" marB="4572" anchor="ctr">
                    <a:solidFill>
                      <a:srgbClr val="EEF3FB"/>
                    </a:solidFill>
                  </a:tcPr>
                </a:tc>
                <a:extLst>
                  <a:ext uri="{0D108BD9-81ED-4DB2-BD59-A6C34878D82A}">
                    <a16:rowId xmlns:a16="http://schemas.microsoft.com/office/drawing/2014/main" val="10010"/>
                  </a:ext>
                </a:extLst>
              </a:tr>
              <a:tr h="267919">
                <a:tc>
                  <a:txBody>
                    <a:bodyPr/>
                    <a:lstStyle/>
                    <a:p>
                      <a:pPr algn="ctr"/>
                      <a:r>
                        <a:rPr sz="650" b="0">
                          <a:solidFill>
                            <a:srgbClr val="222222"/>
                          </a:solidFill>
                          <a:latin typeface="맑은 고딕"/>
                        </a:rPr>
                        <a:t>SRS-WEB-049</a:t>
                      </a:r>
                    </a:p>
                  </a:txBody>
                  <a:tcPr marL="27432" marR="27432" marT="4572" marB="4572" anchor="ctr">
                    <a:solidFill>
                      <a:srgbClr val="FFFFFF"/>
                    </a:solidFill>
                  </a:tcPr>
                </a:tc>
                <a:tc>
                  <a:txBody>
                    <a:bodyPr/>
                    <a:lstStyle/>
                    <a:p>
                      <a:pPr algn="l"/>
                      <a:r>
                        <a:rPr sz="650" b="0">
                          <a:solidFill>
                            <a:srgbClr val="222222"/>
                          </a:solidFill>
                          <a:latin typeface="맑은 고딕"/>
                        </a:rPr>
                        <a:t>웹푸시</a:t>
                      </a:r>
                    </a:p>
                  </a:txBody>
                  <a:tcPr marL="27432" marR="27432" marT="4572" marB="4572" anchor="ctr">
                    <a:solidFill>
                      <a:srgbClr val="FFFFFF"/>
                    </a:solidFill>
                  </a:tcPr>
                </a:tc>
                <a:tc>
                  <a:txBody>
                    <a:bodyPr/>
                    <a:lstStyle/>
                    <a:p>
                      <a:pPr algn="l"/>
                      <a:r>
                        <a:rPr sz="650" b="0">
                          <a:solidFill>
                            <a:srgbClr val="222222"/>
                          </a:solidFill>
                          <a:latin typeface="맑은 고딕"/>
                        </a:rPr>
                        <a:t>설치형 웹과 웹푸시 알림 제공.</a:t>
                      </a:r>
                    </a:p>
                  </a:txBody>
                  <a:tcPr marL="27432" marR="27432" marT="4572" marB="4572" anchor="ctr">
                    <a:solidFill>
                      <a:srgbClr val="FFFFFF"/>
                    </a:solidFill>
                  </a:tcPr>
                </a:tc>
                <a:tc>
                  <a:txBody>
                    <a:bodyPr/>
                    <a:lstStyle/>
                    <a:p>
                      <a:pPr algn="ctr"/>
                      <a:r>
                        <a:rPr sz="650" b="0">
                          <a:solidFill>
                            <a:srgbClr val="222222"/>
                          </a:solidFill>
                          <a:latin typeface="맑은 고딕"/>
                        </a:rPr>
                        <a:t>Med</a:t>
                      </a:r>
                    </a:p>
                  </a:txBody>
                  <a:tcPr marL="27432" marR="27432" marT="4572" marB="4572" anchor="ctr">
                    <a:solidFill>
                      <a:srgbClr val="FFFFFF"/>
                    </a:solidFill>
                  </a:tcPr>
                </a:tc>
                <a:tc>
                  <a:txBody>
                    <a:bodyPr/>
                    <a:lstStyle/>
                    <a:p>
                      <a:pPr algn="ctr"/>
                      <a:r>
                        <a:rPr sz="650" b="0">
                          <a:solidFill>
                            <a:srgbClr val="222222"/>
                          </a:solidFill>
                          <a:latin typeface="맑은 고딕"/>
                        </a:rPr>
                        <a:t>PWA</a:t>
                      </a:r>
                    </a:p>
                  </a:txBody>
                  <a:tcPr marL="27432" marR="27432" marT="4572" marB="4572" anchor="ctr">
                    <a:solidFill>
                      <a:srgbClr val="FFFFFF"/>
                    </a:solidFill>
                  </a:tcPr>
                </a:tc>
                <a:extLst>
                  <a:ext uri="{0D108BD9-81ED-4DB2-BD59-A6C34878D82A}">
                    <a16:rowId xmlns:a16="http://schemas.microsoft.com/office/drawing/2014/main" val="10011"/>
                  </a:ext>
                </a:extLst>
              </a:tr>
              <a:tr h="267919">
                <a:tc>
                  <a:txBody>
                    <a:bodyPr/>
                    <a:lstStyle/>
                    <a:p>
                      <a:pPr algn="ctr"/>
                      <a:r>
                        <a:rPr sz="650" b="0">
                          <a:solidFill>
                            <a:srgbClr val="222222"/>
                          </a:solidFill>
                          <a:latin typeface="맑은 고딕"/>
                        </a:rPr>
                        <a:t>SRS-WEB-050</a:t>
                      </a:r>
                    </a:p>
                  </a:txBody>
                  <a:tcPr marL="27432" marR="27432" marT="4572" marB="4572" anchor="ctr">
                    <a:solidFill>
                      <a:srgbClr val="EEF3FB"/>
                    </a:solidFill>
                  </a:tcPr>
                </a:tc>
                <a:tc>
                  <a:txBody>
                    <a:bodyPr/>
                    <a:lstStyle/>
                    <a:p>
                      <a:pPr algn="l"/>
                      <a:r>
                        <a:rPr sz="650" b="0">
                          <a:solidFill>
                            <a:srgbClr val="222222"/>
                          </a:solidFill>
                          <a:latin typeface="맑은 고딕"/>
                        </a:rPr>
                        <a:t>데이터 보존</a:t>
                      </a:r>
                    </a:p>
                  </a:txBody>
                  <a:tcPr marL="27432" marR="27432" marT="4572" marB="4572" anchor="ctr">
                    <a:solidFill>
                      <a:srgbClr val="EEF3FB"/>
                    </a:solidFill>
                  </a:tcPr>
                </a:tc>
                <a:tc>
                  <a:txBody>
                    <a:bodyPr/>
                    <a:lstStyle/>
                    <a:p>
                      <a:pPr algn="l"/>
                      <a:r>
                        <a:rPr sz="650" b="0">
                          <a:solidFill>
                            <a:srgbClr val="222222"/>
                          </a:solidFill>
                          <a:latin typeface="맑은 고딕"/>
                        </a:rPr>
                        <a:t>원본·요약 데이터 보존 정책 관리.</a:t>
                      </a:r>
                    </a:p>
                  </a:txBody>
                  <a:tcPr marL="27432" marR="27432" marT="4572" marB="4572" anchor="ctr">
                    <a:solidFill>
                      <a:srgbClr val="EEF3FB"/>
                    </a:solidFill>
                  </a:tcPr>
                </a:tc>
                <a:tc>
                  <a:txBody>
                    <a:bodyPr/>
                    <a:lstStyle/>
                    <a:p>
                      <a:pPr algn="ctr"/>
                      <a:r>
                        <a:rPr sz="650" b="0">
                          <a:solidFill>
                            <a:srgbClr val="222222"/>
                          </a:solidFill>
                          <a:latin typeface="맑은 고딕"/>
                        </a:rPr>
                        <a:t>Med</a:t>
                      </a:r>
                    </a:p>
                  </a:txBody>
                  <a:tcPr marL="27432" marR="27432" marT="4572" marB="4572" anchor="ctr">
                    <a:solidFill>
                      <a:srgbClr val="EEF3FB"/>
                    </a:solidFill>
                  </a:tcPr>
                </a:tc>
                <a:tc>
                  <a:txBody>
                    <a:bodyPr/>
                    <a:lstStyle/>
                    <a:p>
                      <a:pPr algn="ctr"/>
                      <a:r>
                        <a:rPr sz="650" b="0">
                          <a:solidFill>
                            <a:srgbClr val="222222"/>
                          </a:solidFill>
                          <a:latin typeface="맑은 고딕"/>
                        </a:rPr>
                        <a:t>보존</a:t>
                      </a:r>
                    </a:p>
                  </a:txBody>
                  <a:tcPr marL="27432" marR="27432" marT="4572" marB="4572" anchor="ctr">
                    <a:solidFill>
                      <a:srgbClr val="EEF3FB"/>
                    </a:solidFill>
                  </a:tcPr>
                </a:tc>
                <a:extLst>
                  <a:ext uri="{0D108BD9-81ED-4DB2-BD59-A6C34878D82A}">
                    <a16:rowId xmlns:a16="http://schemas.microsoft.com/office/drawing/2014/main" val="10012"/>
                  </a:ext>
                </a:extLst>
              </a:tr>
              <a:tr h="267919">
                <a:tc>
                  <a:txBody>
                    <a:bodyPr/>
                    <a:lstStyle/>
                    <a:p>
                      <a:pPr algn="ctr"/>
                      <a:r>
                        <a:rPr sz="650" b="0">
                          <a:solidFill>
                            <a:srgbClr val="222222"/>
                          </a:solidFill>
                          <a:latin typeface="맑은 고딕"/>
                        </a:rPr>
                        <a:t>SRS-WEB-051</a:t>
                      </a:r>
                    </a:p>
                  </a:txBody>
                  <a:tcPr marL="27432" marR="27432" marT="4572" marB="4572" anchor="ctr">
                    <a:solidFill>
                      <a:srgbClr val="FFFFFF"/>
                    </a:solidFill>
                  </a:tcPr>
                </a:tc>
                <a:tc>
                  <a:txBody>
                    <a:bodyPr/>
                    <a:lstStyle/>
                    <a:p>
                      <a:pPr algn="l"/>
                      <a:r>
                        <a:rPr sz="650" b="0">
                          <a:solidFill>
                            <a:srgbClr val="222222"/>
                          </a:solidFill>
                          <a:latin typeface="맑은 고딕"/>
                        </a:rPr>
                        <a:t>다국어 전환</a:t>
                      </a:r>
                    </a:p>
                  </a:txBody>
                  <a:tcPr marL="27432" marR="27432" marT="4572" marB="4572" anchor="ctr">
                    <a:solidFill>
                      <a:srgbClr val="FFFFFF"/>
                    </a:solidFill>
                  </a:tcPr>
                </a:tc>
                <a:tc>
                  <a:txBody>
                    <a:bodyPr/>
                    <a:lstStyle/>
                    <a:p>
                      <a:pPr algn="l"/>
                      <a:r>
                        <a:rPr sz="650" b="0">
                          <a:solidFill>
                            <a:srgbClr val="222222"/>
                          </a:solidFill>
                          <a:latin typeface="맑은 고딕"/>
                        </a:rPr>
                        <a:t>한국어·영어 화면 전환.</a:t>
                      </a:r>
                    </a:p>
                  </a:txBody>
                  <a:tcPr marL="27432" marR="27432" marT="4572" marB="4572" anchor="ctr">
                    <a:solidFill>
                      <a:srgbClr val="FFFFFF"/>
                    </a:solidFill>
                  </a:tcPr>
                </a:tc>
                <a:tc>
                  <a:txBody>
                    <a:bodyPr/>
                    <a:lstStyle/>
                    <a:p>
                      <a:pPr algn="ctr"/>
                      <a:r>
                        <a:rPr sz="650" b="0">
                          <a:solidFill>
                            <a:srgbClr val="222222"/>
                          </a:solidFill>
                          <a:latin typeface="맑은 고딕"/>
                        </a:rPr>
                        <a:t>Low</a:t>
                      </a:r>
                    </a:p>
                  </a:txBody>
                  <a:tcPr marL="27432" marR="27432" marT="4572" marB="4572" anchor="ctr">
                    <a:solidFill>
                      <a:srgbClr val="FFFFFF"/>
                    </a:solidFill>
                  </a:tcPr>
                </a:tc>
                <a:tc>
                  <a:txBody>
                    <a:bodyPr/>
                    <a:lstStyle/>
                    <a:p>
                      <a:pPr algn="ctr"/>
                      <a:r>
                        <a:rPr sz="650" b="0">
                          <a:solidFill>
                            <a:srgbClr val="222222"/>
                          </a:solidFill>
                          <a:latin typeface="맑은 고딕"/>
                        </a:rPr>
                        <a:t>i18n</a:t>
                      </a:r>
                    </a:p>
                  </a:txBody>
                  <a:tcPr marL="27432" marR="27432" marT="4572" marB="4572" anchor="ctr">
                    <a:solidFill>
                      <a:srgbClr val="FFFFFF"/>
                    </a:solidFill>
                  </a:tcPr>
                </a:tc>
                <a:extLst>
                  <a:ext uri="{0D108BD9-81ED-4DB2-BD59-A6C34878D82A}">
                    <a16:rowId xmlns:a16="http://schemas.microsoft.com/office/drawing/2014/main" val="10013"/>
                  </a:ext>
                </a:extLst>
              </a:tr>
            </a:tbl>
          </a:graphicData>
        </a:graphic>
      </p:graphicFrame>
      <p:graphicFrame>
        <p:nvGraphicFramePr>
          <p:cNvPr id="1028" name="Table 1027"/>
          <p:cNvGraphicFramePr>
            <a:graphicFrameLocks noGrp="1"/>
          </p:cNvGraphicFramePr>
          <p:nvPr/>
        </p:nvGraphicFramePr>
        <p:xfrm>
          <a:off x="4681728" y="1335024"/>
          <a:ext cx="4160519" cy="2679190"/>
        </p:xfrm>
        <a:graphic>
          <a:graphicData uri="http://schemas.openxmlformats.org/drawingml/2006/table">
            <a:tbl>
              <a:tblPr>
                <a:tableStyleId>{5C22544A-7EE6-4342-B048-85BDC9FD1C3A}</a:tableStyleId>
              </a:tblPr>
              <a:tblGrid>
                <a:gridCol w="655597">
                  <a:extLst>
                    <a:ext uri="{9D8B030D-6E8A-4147-A177-3AD203B41FA5}">
                      <a16:colId xmlns:a16="http://schemas.microsoft.com/office/drawing/2014/main" val="20000"/>
                    </a:ext>
                  </a:extLst>
                </a:gridCol>
                <a:gridCol w="868526">
                  <a:extLst>
                    <a:ext uri="{9D8B030D-6E8A-4147-A177-3AD203B41FA5}">
                      <a16:colId xmlns:a16="http://schemas.microsoft.com/office/drawing/2014/main" val="20001"/>
                    </a:ext>
                  </a:extLst>
                </a:gridCol>
                <a:gridCol w="1606306">
                  <a:extLst>
                    <a:ext uri="{9D8B030D-6E8A-4147-A177-3AD203B41FA5}">
                      <a16:colId xmlns:a16="http://schemas.microsoft.com/office/drawing/2014/main" val="20002"/>
                    </a:ext>
                  </a:extLst>
                </a:gridCol>
                <a:gridCol w="410915">
                  <a:extLst>
                    <a:ext uri="{9D8B030D-6E8A-4147-A177-3AD203B41FA5}">
                      <a16:colId xmlns:a16="http://schemas.microsoft.com/office/drawing/2014/main" val="20003"/>
                    </a:ext>
                  </a:extLst>
                </a:gridCol>
                <a:gridCol w="619175">
                  <a:extLst>
                    <a:ext uri="{9D8B030D-6E8A-4147-A177-3AD203B41FA5}">
                      <a16:colId xmlns:a16="http://schemas.microsoft.com/office/drawing/2014/main" val="20004"/>
                    </a:ext>
                  </a:extLst>
                </a:gridCol>
              </a:tblGrid>
              <a:tr h="267919">
                <a:tc>
                  <a:txBody>
                    <a:bodyPr/>
                    <a:lstStyle/>
                    <a:p>
                      <a:pPr algn="ctr"/>
                      <a:r>
                        <a:rPr sz="660" b="1">
                          <a:solidFill>
                            <a:srgbClr val="FFFFFF"/>
                          </a:solidFill>
                          <a:latin typeface="맑은 고딕"/>
                        </a:rPr>
                        <a:t>요구사항 ID</a:t>
                      </a:r>
                    </a:p>
                  </a:txBody>
                  <a:tcPr marL="27432" marR="27432" marT="4572" marB="4572" anchor="ctr">
                    <a:solidFill>
                      <a:srgbClr val="3B5AA8"/>
                    </a:solidFill>
                  </a:tcPr>
                </a:tc>
                <a:tc>
                  <a:txBody>
                    <a:bodyPr/>
                    <a:lstStyle/>
                    <a:p>
                      <a:pPr algn="ctr"/>
                      <a:r>
                        <a:rPr sz="660" b="1">
                          <a:solidFill>
                            <a:srgbClr val="FFFFFF"/>
                          </a:solidFill>
                          <a:latin typeface="맑은 고딕"/>
                        </a:rPr>
                        <a:t>요구사항명</a:t>
                      </a:r>
                    </a:p>
                  </a:txBody>
                  <a:tcPr marL="27432" marR="27432" marT="4572" marB="4572" anchor="ctr">
                    <a:solidFill>
                      <a:srgbClr val="3B5AA8"/>
                    </a:solidFill>
                  </a:tcPr>
                </a:tc>
                <a:tc>
                  <a:txBody>
                    <a:bodyPr/>
                    <a:lstStyle/>
                    <a:p>
                      <a:pPr algn="ctr"/>
                      <a:r>
                        <a:rPr sz="660" b="1">
                          <a:solidFill>
                            <a:srgbClr val="FFFFFF"/>
                          </a:solidFill>
                          <a:latin typeface="맑은 고딕"/>
                        </a:rPr>
                        <a:t>요구사항 상세설명</a:t>
                      </a:r>
                    </a:p>
                  </a:txBody>
                  <a:tcPr marL="27432" marR="27432" marT="4572" marB="4572" anchor="ctr">
                    <a:solidFill>
                      <a:srgbClr val="3B5AA8"/>
                    </a:solidFill>
                  </a:tcPr>
                </a:tc>
                <a:tc>
                  <a:txBody>
                    <a:bodyPr/>
                    <a:lstStyle/>
                    <a:p>
                      <a:pPr algn="ctr"/>
                      <a:r>
                        <a:rPr sz="660" b="1">
                          <a:solidFill>
                            <a:srgbClr val="FFFFFF"/>
                          </a:solidFill>
                          <a:latin typeface="맑은 고딕"/>
                        </a:rPr>
                        <a:t>중요도</a:t>
                      </a:r>
                    </a:p>
                  </a:txBody>
                  <a:tcPr marL="27432" marR="27432" marT="4572" marB="4572" anchor="ctr">
                    <a:solidFill>
                      <a:srgbClr val="3B5AA8"/>
                    </a:solidFill>
                  </a:tcPr>
                </a:tc>
                <a:tc>
                  <a:txBody>
                    <a:bodyPr/>
                    <a:lstStyle/>
                    <a:p>
                      <a:pPr algn="ctr"/>
                      <a:r>
                        <a:rPr sz="660" b="1">
                          <a:solidFill>
                            <a:srgbClr val="FFFFFF"/>
                          </a:solidFill>
                          <a:latin typeface="맑은 고딕"/>
                        </a:rPr>
                        <a:t>비고</a:t>
                      </a:r>
                    </a:p>
                  </a:txBody>
                  <a:tcPr marL="27432" marR="27432" marT="4572" marB="4572" anchor="ctr">
                    <a:solidFill>
                      <a:srgbClr val="3B5AA8"/>
                    </a:solidFill>
                  </a:tcPr>
                </a:tc>
                <a:extLst>
                  <a:ext uri="{0D108BD9-81ED-4DB2-BD59-A6C34878D82A}">
                    <a16:rowId xmlns:a16="http://schemas.microsoft.com/office/drawing/2014/main" val="10000"/>
                  </a:ext>
                </a:extLst>
              </a:tr>
              <a:tr h="267919">
                <a:tc>
                  <a:txBody>
                    <a:bodyPr/>
                    <a:lstStyle/>
                    <a:p>
                      <a:pPr algn="ctr"/>
                      <a:r>
                        <a:rPr sz="650" b="0">
                          <a:solidFill>
                            <a:srgbClr val="222222"/>
                          </a:solidFill>
                          <a:latin typeface="맑은 고딕"/>
                        </a:rPr>
                        <a:t>SRS-WEB-052</a:t>
                      </a:r>
                    </a:p>
                  </a:txBody>
                  <a:tcPr marL="27432" marR="27432" marT="4572" marB="4572" anchor="ctr">
                    <a:solidFill>
                      <a:srgbClr val="FFFFFF"/>
                    </a:solidFill>
                  </a:tcPr>
                </a:tc>
                <a:tc>
                  <a:txBody>
                    <a:bodyPr/>
                    <a:lstStyle/>
                    <a:p>
                      <a:pPr algn="l"/>
                      <a:r>
                        <a:rPr sz="650" b="0">
                          <a:solidFill>
                            <a:srgbClr val="222222"/>
                          </a:solidFill>
                          <a:latin typeface="맑은 고딕"/>
                        </a:rPr>
                        <a:t>안전 점검</a:t>
                      </a:r>
                    </a:p>
                  </a:txBody>
                  <a:tcPr marL="27432" marR="27432" marT="4572" marB="4572" anchor="ctr">
                    <a:solidFill>
                      <a:srgbClr val="FFFFFF"/>
                    </a:solidFill>
                  </a:tcPr>
                </a:tc>
                <a:tc>
                  <a:txBody>
                    <a:bodyPr/>
                    <a:lstStyle/>
                    <a:p>
                      <a:pPr algn="l"/>
                      <a:r>
                        <a:rPr sz="650" b="0">
                          <a:solidFill>
                            <a:srgbClr val="222222"/>
                          </a:solidFill>
                          <a:latin typeface="맑은 고딕"/>
                        </a:rPr>
                        <a:t>안전 체크 완료 후 측정 시작.</a:t>
                      </a:r>
                    </a:p>
                  </a:txBody>
                  <a:tcPr marL="27432" marR="27432" marT="4572" marB="4572" anchor="ctr">
                    <a:solidFill>
                      <a:srgbClr val="FFFFFF"/>
                    </a:solidFill>
                  </a:tcPr>
                </a:tc>
                <a:tc>
                  <a:txBody>
                    <a:bodyPr/>
                    <a:lstStyle/>
                    <a:p>
                      <a:pPr algn="ctr"/>
                      <a:r>
                        <a:rPr sz="650" b="0">
                          <a:solidFill>
                            <a:srgbClr val="222222"/>
                          </a:solidFill>
                          <a:latin typeface="맑은 고딕"/>
                        </a:rPr>
                        <a:t>High</a:t>
                      </a:r>
                    </a:p>
                  </a:txBody>
                  <a:tcPr marL="27432" marR="27432" marT="4572" marB="4572" anchor="ctr">
                    <a:solidFill>
                      <a:srgbClr val="FFFFFF"/>
                    </a:solidFill>
                  </a:tcPr>
                </a:tc>
                <a:tc>
                  <a:txBody>
                    <a:bodyPr/>
                    <a:lstStyle/>
                    <a:p>
                      <a:pPr algn="ctr"/>
                      <a:r>
                        <a:rPr sz="650" b="0">
                          <a:solidFill>
                            <a:srgbClr val="222222"/>
                          </a:solidFill>
                          <a:latin typeface="맑은 고딕"/>
                        </a:rPr>
                        <a:t>안전</a:t>
                      </a:r>
                    </a:p>
                  </a:txBody>
                  <a:tcPr marL="27432" marR="27432" marT="4572" marB="4572" anchor="ctr">
                    <a:solidFill>
                      <a:srgbClr val="FFFFFF"/>
                    </a:solidFill>
                  </a:tcPr>
                </a:tc>
                <a:extLst>
                  <a:ext uri="{0D108BD9-81ED-4DB2-BD59-A6C34878D82A}">
                    <a16:rowId xmlns:a16="http://schemas.microsoft.com/office/drawing/2014/main" val="10001"/>
                  </a:ext>
                </a:extLst>
              </a:tr>
              <a:tr h="267919">
                <a:tc>
                  <a:txBody>
                    <a:bodyPr/>
                    <a:lstStyle/>
                    <a:p>
                      <a:pPr algn="ctr"/>
                      <a:r>
                        <a:rPr sz="650" b="0">
                          <a:solidFill>
                            <a:srgbClr val="222222"/>
                          </a:solidFill>
                          <a:latin typeface="맑은 고딕"/>
                        </a:rPr>
                        <a:t>SRS-WEB-053</a:t>
                      </a:r>
                    </a:p>
                  </a:txBody>
                  <a:tcPr marL="27432" marR="27432" marT="4572" marB="4572" anchor="ctr">
                    <a:solidFill>
                      <a:srgbClr val="EEF3FB"/>
                    </a:solidFill>
                  </a:tcPr>
                </a:tc>
                <a:tc>
                  <a:txBody>
                    <a:bodyPr/>
                    <a:lstStyle/>
                    <a:p>
                      <a:pPr algn="l"/>
                      <a:r>
                        <a:rPr sz="650" b="0">
                          <a:solidFill>
                            <a:srgbClr val="222222"/>
                          </a:solidFill>
                          <a:latin typeface="맑은 고딕"/>
                        </a:rPr>
                        <a:t>이중 확인</a:t>
                      </a:r>
                    </a:p>
                  </a:txBody>
                  <a:tcPr marL="27432" marR="27432" marT="4572" marB="4572" anchor="ctr">
                    <a:solidFill>
                      <a:srgbClr val="EEF3FB"/>
                    </a:solidFill>
                  </a:tcPr>
                </a:tc>
                <a:tc>
                  <a:txBody>
                    <a:bodyPr/>
                    <a:lstStyle/>
                    <a:p>
                      <a:pPr algn="l"/>
                      <a:r>
                        <a:rPr sz="650" b="0">
                          <a:solidFill>
                            <a:srgbClr val="222222"/>
                          </a:solidFill>
                          <a:latin typeface="맑은 고딕"/>
                        </a:rPr>
                        <a:t>위험 조작 권한 확인과 2차 확인.</a:t>
                      </a:r>
                    </a:p>
                  </a:txBody>
                  <a:tcPr marL="27432" marR="27432" marT="4572" marB="4572" anchor="ctr">
                    <a:solidFill>
                      <a:srgbClr val="EEF3FB"/>
                    </a:solidFill>
                  </a:tcPr>
                </a:tc>
                <a:tc>
                  <a:txBody>
                    <a:bodyPr/>
                    <a:lstStyle/>
                    <a:p>
                      <a:pPr algn="ctr"/>
                      <a:r>
                        <a:rPr sz="650" b="0">
                          <a:solidFill>
                            <a:srgbClr val="222222"/>
                          </a:solidFill>
                          <a:latin typeface="맑은 고딕"/>
                        </a:rPr>
                        <a:t>High</a:t>
                      </a:r>
                    </a:p>
                  </a:txBody>
                  <a:tcPr marL="27432" marR="27432" marT="4572" marB="4572" anchor="ctr">
                    <a:solidFill>
                      <a:srgbClr val="EEF3FB"/>
                    </a:solidFill>
                  </a:tcPr>
                </a:tc>
                <a:tc>
                  <a:txBody>
                    <a:bodyPr/>
                    <a:lstStyle/>
                    <a:p>
                      <a:pPr algn="ctr"/>
                      <a:r>
                        <a:rPr sz="650" b="0">
                          <a:solidFill>
                            <a:srgbClr val="222222"/>
                          </a:solidFill>
                          <a:latin typeface="맑은 고딕"/>
                        </a:rPr>
                        <a:t>승인</a:t>
                      </a:r>
                    </a:p>
                  </a:txBody>
                  <a:tcPr marL="27432" marR="27432" marT="4572" marB="4572" anchor="ctr">
                    <a:solidFill>
                      <a:srgbClr val="EEF3FB"/>
                    </a:solidFill>
                  </a:tcPr>
                </a:tc>
                <a:extLst>
                  <a:ext uri="{0D108BD9-81ED-4DB2-BD59-A6C34878D82A}">
                    <a16:rowId xmlns:a16="http://schemas.microsoft.com/office/drawing/2014/main" val="10002"/>
                  </a:ext>
                </a:extLst>
              </a:tr>
              <a:tr h="267919">
                <a:tc>
                  <a:txBody>
                    <a:bodyPr/>
                    <a:lstStyle/>
                    <a:p>
                      <a:pPr algn="ctr"/>
                      <a:r>
                        <a:rPr sz="650" b="0">
                          <a:solidFill>
                            <a:srgbClr val="222222"/>
                          </a:solidFill>
                          <a:latin typeface="맑은 고딕"/>
                        </a:rPr>
                        <a:t>SRS-WEB-054</a:t>
                      </a:r>
                    </a:p>
                  </a:txBody>
                  <a:tcPr marL="27432" marR="27432" marT="4572" marB="4572" anchor="ctr">
                    <a:solidFill>
                      <a:srgbClr val="FFFFFF"/>
                    </a:solidFill>
                  </a:tcPr>
                </a:tc>
                <a:tc>
                  <a:txBody>
                    <a:bodyPr/>
                    <a:lstStyle/>
                    <a:p>
                      <a:pPr algn="l"/>
                      <a:r>
                        <a:rPr sz="650" b="0">
                          <a:solidFill>
                            <a:srgbClr val="222222"/>
                          </a:solidFill>
                          <a:latin typeface="맑은 고딕"/>
                        </a:rPr>
                        <a:t>센서 보정</a:t>
                      </a:r>
                    </a:p>
                  </a:txBody>
                  <a:tcPr marL="27432" marR="27432" marT="4572" marB="4572" anchor="ctr">
                    <a:solidFill>
                      <a:srgbClr val="FFFFFF"/>
                    </a:solidFill>
                  </a:tcPr>
                </a:tc>
                <a:tc>
                  <a:txBody>
                    <a:bodyPr/>
                    <a:lstStyle/>
                    <a:p>
                      <a:pPr algn="l"/>
                      <a:r>
                        <a:rPr sz="650" b="0">
                          <a:solidFill>
                            <a:srgbClr val="222222"/>
                          </a:solidFill>
                          <a:latin typeface="맑은 고딕"/>
                        </a:rPr>
                        <a:t>센서 보정 이력과 만료 경고 관리.</a:t>
                      </a:r>
                    </a:p>
                  </a:txBody>
                  <a:tcPr marL="27432" marR="27432" marT="4572" marB="4572" anchor="ctr">
                    <a:solidFill>
                      <a:srgbClr val="FFFFFF"/>
                    </a:solidFill>
                  </a:tcPr>
                </a:tc>
                <a:tc>
                  <a:txBody>
                    <a:bodyPr/>
                    <a:lstStyle/>
                    <a:p>
                      <a:pPr algn="ctr"/>
                      <a:r>
                        <a:rPr sz="650" b="0">
                          <a:solidFill>
                            <a:srgbClr val="222222"/>
                          </a:solidFill>
                          <a:latin typeface="맑은 고딕"/>
                        </a:rPr>
                        <a:t>Med</a:t>
                      </a:r>
                    </a:p>
                  </a:txBody>
                  <a:tcPr marL="27432" marR="27432" marT="4572" marB="4572" anchor="ctr">
                    <a:solidFill>
                      <a:srgbClr val="FFFFFF"/>
                    </a:solidFill>
                  </a:tcPr>
                </a:tc>
                <a:tc>
                  <a:txBody>
                    <a:bodyPr/>
                    <a:lstStyle/>
                    <a:p>
                      <a:pPr algn="ctr"/>
                      <a:r>
                        <a:rPr sz="650" b="0">
                          <a:solidFill>
                            <a:srgbClr val="222222"/>
                          </a:solidFill>
                          <a:latin typeface="맑은 고딕"/>
                        </a:rPr>
                        <a:t>보정</a:t>
                      </a:r>
                    </a:p>
                  </a:txBody>
                  <a:tcPr marL="27432" marR="27432" marT="4572" marB="4572" anchor="ctr">
                    <a:solidFill>
                      <a:srgbClr val="FFFFFF"/>
                    </a:solidFill>
                  </a:tcPr>
                </a:tc>
                <a:extLst>
                  <a:ext uri="{0D108BD9-81ED-4DB2-BD59-A6C34878D82A}">
                    <a16:rowId xmlns:a16="http://schemas.microsoft.com/office/drawing/2014/main" val="10003"/>
                  </a:ext>
                </a:extLst>
              </a:tr>
              <a:tr h="267919">
                <a:tc>
                  <a:txBody>
                    <a:bodyPr/>
                    <a:lstStyle/>
                    <a:p>
                      <a:pPr algn="ctr"/>
                      <a:r>
                        <a:rPr sz="650" b="0">
                          <a:solidFill>
                            <a:srgbClr val="222222"/>
                          </a:solidFill>
                          <a:latin typeface="맑은 고딕"/>
                        </a:rPr>
                        <a:t>SRS-WEB-055</a:t>
                      </a:r>
                    </a:p>
                  </a:txBody>
                  <a:tcPr marL="27432" marR="27432" marT="4572" marB="4572" anchor="ctr">
                    <a:solidFill>
                      <a:srgbClr val="EEF3FB"/>
                    </a:solidFill>
                  </a:tcPr>
                </a:tc>
                <a:tc>
                  <a:txBody>
                    <a:bodyPr/>
                    <a:lstStyle/>
                    <a:p>
                      <a:pPr algn="l"/>
                      <a:r>
                        <a:rPr sz="650" b="0">
                          <a:solidFill>
                            <a:srgbClr val="222222"/>
                          </a:solidFill>
                          <a:latin typeface="맑은 고딕"/>
                        </a:rPr>
                        <a:t>품질 표시</a:t>
                      </a:r>
                    </a:p>
                  </a:txBody>
                  <a:tcPr marL="27432" marR="27432" marT="4572" marB="4572" anchor="ctr">
                    <a:solidFill>
                      <a:srgbClr val="EEF3FB"/>
                    </a:solidFill>
                  </a:tcPr>
                </a:tc>
                <a:tc>
                  <a:txBody>
                    <a:bodyPr/>
                    <a:lstStyle/>
                    <a:p>
                      <a:pPr algn="l"/>
                      <a:r>
                        <a:rPr sz="650" b="0">
                          <a:solidFill>
                            <a:srgbClr val="222222"/>
                          </a:solidFill>
                          <a:latin typeface="맑은 고딕"/>
                        </a:rPr>
                        <a:t>데이터 품질 점수와 분석 가능 여부 표시.</a:t>
                      </a:r>
                    </a:p>
                  </a:txBody>
                  <a:tcPr marL="27432" marR="27432" marT="4572" marB="4572" anchor="ctr">
                    <a:solidFill>
                      <a:srgbClr val="EEF3FB"/>
                    </a:solidFill>
                  </a:tcPr>
                </a:tc>
                <a:tc>
                  <a:txBody>
                    <a:bodyPr/>
                    <a:lstStyle/>
                    <a:p>
                      <a:pPr algn="ctr"/>
                      <a:r>
                        <a:rPr sz="650" b="0">
                          <a:solidFill>
                            <a:srgbClr val="222222"/>
                          </a:solidFill>
                          <a:latin typeface="맑은 고딕"/>
                        </a:rPr>
                        <a:t>Med</a:t>
                      </a:r>
                    </a:p>
                  </a:txBody>
                  <a:tcPr marL="27432" marR="27432" marT="4572" marB="4572" anchor="ctr">
                    <a:solidFill>
                      <a:srgbClr val="EEF3FB"/>
                    </a:solidFill>
                  </a:tcPr>
                </a:tc>
                <a:tc>
                  <a:txBody>
                    <a:bodyPr/>
                    <a:lstStyle/>
                    <a:p>
                      <a:pPr algn="ctr"/>
                      <a:r>
                        <a:rPr sz="650" b="0">
                          <a:solidFill>
                            <a:srgbClr val="222222"/>
                          </a:solidFill>
                          <a:latin typeface="맑은 고딕"/>
                        </a:rPr>
                        <a:t>품질</a:t>
                      </a:r>
                    </a:p>
                  </a:txBody>
                  <a:tcPr marL="27432" marR="27432" marT="4572" marB="4572" anchor="ctr">
                    <a:solidFill>
                      <a:srgbClr val="EEF3FB"/>
                    </a:solidFill>
                  </a:tcPr>
                </a:tc>
                <a:extLst>
                  <a:ext uri="{0D108BD9-81ED-4DB2-BD59-A6C34878D82A}">
                    <a16:rowId xmlns:a16="http://schemas.microsoft.com/office/drawing/2014/main" val="10004"/>
                  </a:ext>
                </a:extLst>
              </a:tr>
              <a:tr h="267919">
                <a:tc>
                  <a:txBody>
                    <a:bodyPr/>
                    <a:lstStyle/>
                    <a:p>
                      <a:pPr algn="ctr"/>
                      <a:r>
                        <a:rPr sz="650" b="0">
                          <a:solidFill>
                            <a:srgbClr val="222222"/>
                          </a:solidFill>
                          <a:latin typeface="맑은 고딕"/>
                        </a:rPr>
                        <a:t>SRS-WEB-056</a:t>
                      </a:r>
                    </a:p>
                  </a:txBody>
                  <a:tcPr marL="27432" marR="27432" marT="4572" marB="4572" anchor="ctr">
                    <a:solidFill>
                      <a:srgbClr val="FFFFFF"/>
                    </a:solidFill>
                  </a:tcPr>
                </a:tc>
                <a:tc>
                  <a:txBody>
                    <a:bodyPr/>
                    <a:lstStyle/>
                    <a:p>
                      <a:pPr algn="l"/>
                      <a:r>
                        <a:rPr sz="650" b="0">
                          <a:solidFill>
                            <a:srgbClr val="222222"/>
                          </a:solidFill>
                          <a:latin typeface="맑은 고딕"/>
                        </a:rPr>
                        <a:t>선택 검증</a:t>
                      </a:r>
                    </a:p>
                  </a:txBody>
                  <a:tcPr marL="27432" marR="27432" marT="4572" marB="4572" anchor="ctr">
                    <a:solidFill>
                      <a:srgbClr val="FFFFFF"/>
                    </a:solidFill>
                  </a:tcPr>
                </a:tc>
                <a:tc>
                  <a:txBody>
                    <a:bodyPr/>
                    <a:lstStyle/>
                    <a:p>
                      <a:pPr algn="l"/>
                      <a:r>
                        <a:rPr sz="650" b="0">
                          <a:solidFill>
                            <a:srgbClr val="222222"/>
                          </a:solidFill>
                          <a:latin typeface="맑은 고딕"/>
                        </a:rPr>
                        <a:t>QR/라벨 기반 배터리 선택 검증.</a:t>
                      </a:r>
                    </a:p>
                  </a:txBody>
                  <a:tcPr marL="27432" marR="27432" marT="4572" marB="4572" anchor="ctr">
                    <a:solidFill>
                      <a:srgbClr val="FFFFFF"/>
                    </a:solidFill>
                  </a:tcPr>
                </a:tc>
                <a:tc>
                  <a:txBody>
                    <a:bodyPr/>
                    <a:lstStyle/>
                    <a:p>
                      <a:pPr algn="ctr"/>
                      <a:r>
                        <a:rPr sz="650" b="0">
                          <a:solidFill>
                            <a:srgbClr val="222222"/>
                          </a:solidFill>
                          <a:latin typeface="맑은 고딕"/>
                        </a:rPr>
                        <a:t>Med</a:t>
                      </a:r>
                    </a:p>
                  </a:txBody>
                  <a:tcPr marL="27432" marR="27432" marT="4572" marB="4572" anchor="ctr">
                    <a:solidFill>
                      <a:srgbClr val="FFFFFF"/>
                    </a:solidFill>
                  </a:tcPr>
                </a:tc>
                <a:tc>
                  <a:txBody>
                    <a:bodyPr/>
                    <a:lstStyle/>
                    <a:p>
                      <a:pPr algn="ctr"/>
                      <a:r>
                        <a:rPr sz="650" b="0">
                          <a:solidFill>
                            <a:srgbClr val="222222"/>
                          </a:solidFill>
                          <a:latin typeface="맑은 고딕"/>
                        </a:rPr>
                        <a:t>검증</a:t>
                      </a:r>
                    </a:p>
                  </a:txBody>
                  <a:tcPr marL="27432" marR="27432" marT="4572" marB="4572" anchor="ctr">
                    <a:solidFill>
                      <a:srgbClr val="FFFFFF"/>
                    </a:solidFill>
                  </a:tcPr>
                </a:tc>
                <a:extLst>
                  <a:ext uri="{0D108BD9-81ED-4DB2-BD59-A6C34878D82A}">
                    <a16:rowId xmlns:a16="http://schemas.microsoft.com/office/drawing/2014/main" val="10005"/>
                  </a:ext>
                </a:extLst>
              </a:tr>
              <a:tr h="267919">
                <a:tc>
                  <a:txBody>
                    <a:bodyPr/>
                    <a:lstStyle/>
                    <a:p>
                      <a:pPr algn="ctr"/>
                      <a:r>
                        <a:rPr sz="650" b="0">
                          <a:solidFill>
                            <a:srgbClr val="222222"/>
                          </a:solidFill>
                          <a:latin typeface="맑은 고딕"/>
                        </a:rPr>
                        <a:t>SRS-WEB-057</a:t>
                      </a:r>
                    </a:p>
                  </a:txBody>
                  <a:tcPr marL="27432" marR="27432" marT="4572" marB="4572" anchor="ctr">
                    <a:solidFill>
                      <a:srgbClr val="EEF3FB"/>
                    </a:solidFill>
                  </a:tcPr>
                </a:tc>
                <a:tc>
                  <a:txBody>
                    <a:bodyPr/>
                    <a:lstStyle/>
                    <a:p>
                      <a:pPr algn="l"/>
                      <a:r>
                        <a:rPr sz="650" b="0">
                          <a:solidFill>
                            <a:srgbClr val="222222"/>
                          </a:solidFill>
                          <a:latin typeface="맑은 고딕"/>
                        </a:rPr>
                        <a:t>조건 저장</a:t>
                      </a:r>
                    </a:p>
                  </a:txBody>
                  <a:tcPr marL="27432" marR="27432" marT="4572" marB="4572" anchor="ctr">
                    <a:solidFill>
                      <a:srgbClr val="EEF3FB"/>
                    </a:solidFill>
                  </a:tcPr>
                </a:tc>
                <a:tc>
                  <a:txBody>
                    <a:bodyPr/>
                    <a:lstStyle/>
                    <a:p>
                      <a:pPr algn="l"/>
                      <a:r>
                        <a:rPr sz="650" b="0">
                          <a:solidFill>
                            <a:srgbClr val="222222"/>
                          </a:solidFill>
                          <a:latin typeface="맑은 고딕"/>
                        </a:rPr>
                        <a:t>실험 조건 템플릿 저장과 재사용.</a:t>
                      </a:r>
                    </a:p>
                  </a:txBody>
                  <a:tcPr marL="27432" marR="27432" marT="4572" marB="4572" anchor="ctr">
                    <a:solidFill>
                      <a:srgbClr val="EEF3FB"/>
                    </a:solidFill>
                  </a:tcPr>
                </a:tc>
                <a:tc>
                  <a:txBody>
                    <a:bodyPr/>
                    <a:lstStyle/>
                    <a:p>
                      <a:pPr algn="ctr"/>
                      <a:r>
                        <a:rPr sz="650" b="0">
                          <a:solidFill>
                            <a:srgbClr val="222222"/>
                          </a:solidFill>
                          <a:latin typeface="맑은 고딕"/>
                        </a:rPr>
                        <a:t>Med</a:t>
                      </a:r>
                    </a:p>
                  </a:txBody>
                  <a:tcPr marL="27432" marR="27432" marT="4572" marB="4572" anchor="ctr">
                    <a:solidFill>
                      <a:srgbClr val="EEF3FB"/>
                    </a:solidFill>
                  </a:tcPr>
                </a:tc>
                <a:tc>
                  <a:txBody>
                    <a:bodyPr/>
                    <a:lstStyle/>
                    <a:p>
                      <a:pPr algn="ctr"/>
                      <a:r>
                        <a:rPr sz="650" b="0">
                          <a:solidFill>
                            <a:srgbClr val="222222"/>
                          </a:solidFill>
                          <a:latin typeface="맑은 고딕"/>
                        </a:rPr>
                        <a:t>템플릿</a:t>
                      </a:r>
                    </a:p>
                  </a:txBody>
                  <a:tcPr marL="27432" marR="27432" marT="4572" marB="4572" anchor="ctr">
                    <a:solidFill>
                      <a:srgbClr val="EEF3FB"/>
                    </a:solidFill>
                  </a:tcPr>
                </a:tc>
                <a:extLst>
                  <a:ext uri="{0D108BD9-81ED-4DB2-BD59-A6C34878D82A}">
                    <a16:rowId xmlns:a16="http://schemas.microsoft.com/office/drawing/2014/main" val="10006"/>
                  </a:ext>
                </a:extLst>
              </a:tr>
              <a:tr h="267919">
                <a:tc>
                  <a:txBody>
                    <a:bodyPr/>
                    <a:lstStyle/>
                    <a:p>
                      <a:pPr algn="ctr"/>
                      <a:r>
                        <a:rPr sz="650" b="0">
                          <a:solidFill>
                            <a:srgbClr val="222222"/>
                          </a:solidFill>
                          <a:latin typeface="맑은 고딕"/>
                        </a:rPr>
                        <a:t>SRS-WEB-058</a:t>
                      </a:r>
                    </a:p>
                  </a:txBody>
                  <a:tcPr marL="27432" marR="27432" marT="4572" marB="4572" anchor="ctr">
                    <a:solidFill>
                      <a:srgbClr val="FFFFFF"/>
                    </a:solidFill>
                  </a:tcPr>
                </a:tc>
                <a:tc>
                  <a:txBody>
                    <a:bodyPr/>
                    <a:lstStyle/>
                    <a:p>
                      <a:pPr algn="l"/>
                      <a:r>
                        <a:rPr sz="650" b="0">
                          <a:solidFill>
                            <a:srgbClr val="222222"/>
                          </a:solidFill>
                          <a:latin typeface="맑은 고딕"/>
                        </a:rPr>
                        <a:t>진단 자료</a:t>
                      </a:r>
                    </a:p>
                  </a:txBody>
                  <a:tcPr marL="27432" marR="27432" marT="4572" marB="4572" anchor="ctr">
                    <a:solidFill>
                      <a:srgbClr val="FFFFFF"/>
                    </a:solidFill>
                  </a:tcPr>
                </a:tc>
                <a:tc>
                  <a:txBody>
                    <a:bodyPr/>
                    <a:lstStyle/>
                    <a:p>
                      <a:pPr algn="l"/>
                      <a:r>
                        <a:rPr sz="650" b="0">
                          <a:solidFill>
                            <a:srgbClr val="222222"/>
                          </a:solidFill>
                          <a:latin typeface="맑은 고딕"/>
                        </a:rPr>
                        <a:t>장애 진단 자료 일괄 다운로드.</a:t>
                      </a:r>
                    </a:p>
                  </a:txBody>
                  <a:tcPr marL="27432" marR="27432" marT="4572" marB="4572" anchor="ctr">
                    <a:solidFill>
                      <a:srgbClr val="FFFFFF"/>
                    </a:solidFill>
                  </a:tcPr>
                </a:tc>
                <a:tc>
                  <a:txBody>
                    <a:bodyPr/>
                    <a:lstStyle/>
                    <a:p>
                      <a:pPr algn="ctr"/>
                      <a:r>
                        <a:rPr sz="650" b="0">
                          <a:solidFill>
                            <a:srgbClr val="222222"/>
                          </a:solidFill>
                          <a:latin typeface="맑은 고딕"/>
                        </a:rPr>
                        <a:t>Med</a:t>
                      </a:r>
                    </a:p>
                  </a:txBody>
                  <a:tcPr marL="27432" marR="27432" marT="4572" marB="4572" anchor="ctr">
                    <a:solidFill>
                      <a:srgbClr val="FFFFFF"/>
                    </a:solidFill>
                  </a:tcPr>
                </a:tc>
                <a:tc>
                  <a:txBody>
                    <a:bodyPr/>
                    <a:lstStyle/>
                    <a:p>
                      <a:pPr algn="ctr"/>
                      <a:r>
                        <a:rPr sz="650" b="0">
                          <a:solidFill>
                            <a:srgbClr val="222222"/>
                          </a:solidFill>
                          <a:latin typeface="맑은 고딕"/>
                        </a:rPr>
                        <a:t>진단</a:t>
                      </a:r>
                    </a:p>
                  </a:txBody>
                  <a:tcPr marL="27432" marR="27432" marT="4572" marB="4572" anchor="ctr">
                    <a:solidFill>
                      <a:srgbClr val="FFFFFF"/>
                    </a:solidFill>
                  </a:tcPr>
                </a:tc>
                <a:extLst>
                  <a:ext uri="{0D108BD9-81ED-4DB2-BD59-A6C34878D82A}">
                    <a16:rowId xmlns:a16="http://schemas.microsoft.com/office/drawing/2014/main" val="10007"/>
                  </a:ext>
                </a:extLst>
              </a:tr>
              <a:tr h="267919">
                <a:tc>
                  <a:txBody>
                    <a:bodyPr/>
                    <a:lstStyle/>
                    <a:p>
                      <a:pPr algn="ctr"/>
                      <a:r>
                        <a:rPr sz="650" b="0">
                          <a:solidFill>
                            <a:srgbClr val="222222"/>
                          </a:solidFill>
                          <a:latin typeface="맑은 고딕"/>
                        </a:rPr>
                        <a:t>SRS-WEB-059</a:t>
                      </a:r>
                    </a:p>
                  </a:txBody>
                  <a:tcPr marL="27432" marR="27432" marT="4572" marB="4572" anchor="ctr">
                    <a:solidFill>
                      <a:srgbClr val="EEF3FB"/>
                    </a:solidFill>
                  </a:tcPr>
                </a:tc>
                <a:tc>
                  <a:txBody>
                    <a:bodyPr/>
                    <a:lstStyle/>
                    <a:p>
                      <a:pPr algn="l"/>
                      <a:r>
                        <a:rPr sz="650" b="0">
                          <a:solidFill>
                            <a:srgbClr val="222222"/>
                          </a:solidFill>
                          <a:latin typeface="맑은 고딕"/>
                        </a:rPr>
                        <a:t>접근 추적</a:t>
                      </a:r>
                    </a:p>
                  </a:txBody>
                  <a:tcPr marL="27432" marR="27432" marT="4572" marB="4572" anchor="ctr">
                    <a:solidFill>
                      <a:srgbClr val="EEF3FB"/>
                    </a:solidFill>
                  </a:tcPr>
                </a:tc>
                <a:tc>
                  <a:txBody>
                    <a:bodyPr/>
                    <a:lstStyle/>
                    <a:p>
                      <a:pPr algn="l"/>
                      <a:r>
                        <a:rPr sz="650" b="0">
                          <a:solidFill>
                            <a:srgbClr val="222222"/>
                          </a:solidFill>
                          <a:latin typeface="맑은 고딕"/>
                        </a:rPr>
                        <a:t>민감 작업 사용자·시간·IP 추적.</a:t>
                      </a:r>
                    </a:p>
                  </a:txBody>
                  <a:tcPr marL="27432" marR="27432" marT="4572" marB="4572" anchor="ctr">
                    <a:solidFill>
                      <a:srgbClr val="EEF3FB"/>
                    </a:solidFill>
                  </a:tcPr>
                </a:tc>
                <a:tc>
                  <a:txBody>
                    <a:bodyPr/>
                    <a:lstStyle/>
                    <a:p>
                      <a:pPr algn="ctr"/>
                      <a:r>
                        <a:rPr sz="650" b="0">
                          <a:solidFill>
                            <a:srgbClr val="222222"/>
                          </a:solidFill>
                          <a:latin typeface="맑은 고딕"/>
                        </a:rPr>
                        <a:t>Med</a:t>
                      </a:r>
                    </a:p>
                  </a:txBody>
                  <a:tcPr marL="27432" marR="27432" marT="4572" marB="4572" anchor="ctr">
                    <a:solidFill>
                      <a:srgbClr val="EEF3FB"/>
                    </a:solidFill>
                  </a:tcPr>
                </a:tc>
                <a:tc>
                  <a:txBody>
                    <a:bodyPr/>
                    <a:lstStyle/>
                    <a:p>
                      <a:pPr algn="ctr"/>
                      <a:r>
                        <a:rPr sz="650" b="0">
                          <a:solidFill>
                            <a:srgbClr val="222222"/>
                          </a:solidFill>
                          <a:latin typeface="맑은 고딕"/>
                        </a:rPr>
                        <a:t>감사</a:t>
                      </a:r>
                    </a:p>
                  </a:txBody>
                  <a:tcPr marL="27432" marR="27432" marT="4572" marB="4572" anchor="ctr">
                    <a:solidFill>
                      <a:srgbClr val="EEF3FB"/>
                    </a:solidFill>
                  </a:tcPr>
                </a:tc>
                <a:extLst>
                  <a:ext uri="{0D108BD9-81ED-4DB2-BD59-A6C34878D82A}">
                    <a16:rowId xmlns:a16="http://schemas.microsoft.com/office/drawing/2014/main" val="10008"/>
                  </a:ext>
                </a:extLst>
              </a:tr>
              <a:tr h="267919">
                <a:tc>
                  <a:txBody>
                    <a:bodyPr/>
                    <a:lstStyle/>
                    <a:p>
                      <a:pPr algn="ctr"/>
                      <a:r>
                        <a:rPr sz="650" b="0">
                          <a:solidFill>
                            <a:srgbClr val="222222"/>
                          </a:solidFill>
                          <a:latin typeface="맑은 고딕"/>
                        </a:rPr>
                        <a:t>SRS-WEB-060</a:t>
                      </a:r>
                    </a:p>
                  </a:txBody>
                  <a:tcPr marL="27432" marR="27432" marT="4572" marB="4572" anchor="ctr">
                    <a:solidFill>
                      <a:srgbClr val="FFFFFF"/>
                    </a:solidFill>
                  </a:tcPr>
                </a:tc>
                <a:tc>
                  <a:txBody>
                    <a:bodyPr/>
                    <a:lstStyle/>
                    <a:p>
                      <a:pPr algn="l"/>
                      <a:r>
                        <a:rPr sz="650" b="0">
                          <a:solidFill>
                            <a:srgbClr val="222222"/>
                          </a:solidFill>
                          <a:latin typeface="맑은 고딕"/>
                        </a:rPr>
                        <a:t>백업·복구</a:t>
                      </a:r>
                    </a:p>
                  </a:txBody>
                  <a:tcPr marL="27432" marR="27432" marT="4572" marB="4572" anchor="ctr">
                    <a:solidFill>
                      <a:srgbClr val="FFFFFF"/>
                    </a:solidFill>
                  </a:tcPr>
                </a:tc>
                <a:tc>
                  <a:txBody>
                    <a:bodyPr/>
                    <a:lstStyle/>
                    <a:p>
                      <a:pPr algn="l"/>
                      <a:r>
                        <a:rPr sz="650" b="0">
                          <a:solidFill>
                            <a:srgbClr val="222222"/>
                          </a:solidFill>
                          <a:latin typeface="맑은 고딕"/>
                        </a:rPr>
                        <a:t>백업과 복구 테스트로 데이터 유실 방지.</a:t>
                      </a:r>
                    </a:p>
                  </a:txBody>
                  <a:tcPr marL="27432" marR="27432" marT="4572" marB="4572" anchor="ctr">
                    <a:solidFill>
                      <a:srgbClr val="FFFFFF"/>
                    </a:solidFill>
                  </a:tcPr>
                </a:tc>
                <a:tc>
                  <a:txBody>
                    <a:bodyPr/>
                    <a:lstStyle/>
                    <a:p>
                      <a:pPr algn="ctr"/>
                      <a:r>
                        <a:rPr sz="650" b="0">
                          <a:solidFill>
                            <a:srgbClr val="222222"/>
                          </a:solidFill>
                          <a:latin typeface="맑은 고딕"/>
                        </a:rPr>
                        <a:t>Med</a:t>
                      </a:r>
                    </a:p>
                  </a:txBody>
                  <a:tcPr marL="27432" marR="27432" marT="4572" marB="4572" anchor="ctr">
                    <a:solidFill>
                      <a:srgbClr val="FFFFFF"/>
                    </a:solidFill>
                  </a:tcPr>
                </a:tc>
                <a:tc>
                  <a:txBody>
                    <a:bodyPr/>
                    <a:lstStyle/>
                    <a:p>
                      <a:pPr algn="ctr"/>
                      <a:r>
                        <a:rPr sz="650" b="0">
                          <a:solidFill>
                            <a:srgbClr val="222222"/>
                          </a:solidFill>
                          <a:latin typeface="맑은 고딕"/>
                        </a:rPr>
                        <a:t>복구</a:t>
                      </a:r>
                    </a:p>
                  </a:txBody>
                  <a:tcPr marL="27432" marR="27432" marT="4572" marB="4572" anchor="ctr">
                    <a:solidFill>
                      <a:srgbClr val="FF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5725806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9728" y="0"/>
            <a:ext cx="3090672" cy="1115568"/>
          </a:xfrm>
          <a:prstGeom prst="rect">
            <a:avLst/>
          </a:prstGeom>
          <a:solidFill>
            <a:srgbClr val="3B5A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 y="539496"/>
            <a:ext cx="2578608" cy="91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73552" y="548640"/>
            <a:ext cx="5376672" cy="9144"/>
          </a:xfrm>
          <a:prstGeom prst="rect">
            <a:avLst/>
          </a:prstGeom>
          <a:solidFill>
            <a:srgbClr val="3B5A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37744" y="685800"/>
            <a:ext cx="2971800" cy="310896"/>
          </a:xfrm>
          <a:prstGeom prst="rect">
            <a:avLst/>
          </a:prstGeom>
          <a:noFill/>
        </p:spPr>
        <p:txBody>
          <a:bodyPr wrap="none">
            <a:spAutoFit/>
          </a:bodyPr>
          <a:lstStyle/>
          <a:p>
            <a:r>
              <a:rPr sz="1200" b="1">
                <a:solidFill>
                  <a:srgbClr val="FFFFFF"/>
                </a:solidFill>
                <a:latin typeface="맑은 고딕"/>
              </a:rPr>
              <a:t>| 유즈케이스 정의서</a:t>
            </a:r>
          </a:p>
        </p:txBody>
      </p:sp>
      <p:sp>
        <p:nvSpPr>
          <p:cNvPr id="7" name="TextBox 6"/>
          <p:cNvSpPr txBox="1"/>
          <p:nvPr/>
        </p:nvSpPr>
        <p:spPr>
          <a:xfrm>
            <a:off x="594360" y="1170432"/>
            <a:ext cx="7955279" cy="310896"/>
          </a:xfrm>
          <a:prstGeom prst="rect">
            <a:avLst/>
          </a:prstGeom>
          <a:noFill/>
        </p:spPr>
        <p:txBody>
          <a:bodyPr wrap="none" lIns="0">
            <a:spAutoFit/>
          </a:bodyPr>
          <a:lstStyle/>
          <a:p>
            <a:r>
              <a:rPr sz="1600" b="1">
                <a:solidFill>
                  <a:srgbClr val="3B5AA8"/>
                </a:solidFill>
                <a:latin typeface="맑은 고딕"/>
              </a:rPr>
              <a:t>배터리 자산 등록 및 측정 시작</a:t>
            </a:r>
          </a:p>
        </p:txBody>
      </p:sp>
      <p:graphicFrame>
        <p:nvGraphicFramePr>
          <p:cNvPr id="9" name="Table 8"/>
          <p:cNvGraphicFramePr>
            <a:graphicFrameLocks noGrp="1"/>
          </p:cNvGraphicFramePr>
          <p:nvPr/>
        </p:nvGraphicFramePr>
        <p:xfrm>
          <a:off x="475488" y="1627632"/>
          <a:ext cx="8229600" cy="4711192"/>
        </p:xfrm>
        <a:graphic>
          <a:graphicData uri="http://schemas.openxmlformats.org/drawingml/2006/table">
            <a:tbl>
              <a:tblPr firstRow="1" bandRow="1">
                <a:tableStyleId>{5C22544A-7EE6-4342-B048-85BDC9FD1C3A}</a:tableStyleId>
              </a:tblPr>
              <a:tblGrid>
                <a:gridCol w="1207008">
                  <a:extLst>
                    <a:ext uri="{9D8B030D-6E8A-4147-A177-3AD203B41FA5}">
                      <a16:colId xmlns:a16="http://schemas.microsoft.com/office/drawing/2014/main" val="20000"/>
                    </a:ext>
                  </a:extLst>
                </a:gridCol>
                <a:gridCol w="7022592">
                  <a:extLst>
                    <a:ext uri="{9D8B030D-6E8A-4147-A177-3AD203B41FA5}">
                      <a16:colId xmlns:a16="http://schemas.microsoft.com/office/drawing/2014/main" val="20001"/>
                    </a:ext>
                  </a:extLst>
                </a:gridCol>
              </a:tblGrid>
              <a:tr h="256032">
                <a:tc>
                  <a:txBody>
                    <a:bodyPr/>
                    <a:lstStyle/>
                    <a:p>
                      <a:pPr algn="ctr">
                        <a:lnSpc>
                          <a:spcPct val="95000"/>
                        </a:lnSpc>
                        <a:spcBef>
                          <a:spcPts val="0"/>
                        </a:spcBef>
                        <a:spcAft>
                          <a:spcPts val="0"/>
                        </a:spcAft>
                      </a:pPr>
                      <a:r>
                        <a:rPr sz="730" b="1">
                          <a:solidFill>
                            <a:srgbClr val="FFFFFF"/>
                          </a:solidFill>
                          <a:latin typeface="맑은 고딕"/>
                        </a:rPr>
                        <a:t>항목</a:t>
                      </a:r>
                    </a:p>
                  </a:txBody>
                  <a:tcPr>
                    <a:solidFill>
                      <a:srgbClr val="3B5AA8"/>
                    </a:solidFill>
                  </a:tcPr>
                </a:tc>
                <a:tc>
                  <a:txBody>
                    <a:bodyPr/>
                    <a:lstStyle/>
                    <a:p>
                      <a:pPr algn="l">
                        <a:lnSpc>
                          <a:spcPct val="95000"/>
                        </a:lnSpc>
                        <a:spcBef>
                          <a:spcPts val="0"/>
                        </a:spcBef>
                        <a:spcAft>
                          <a:spcPts val="0"/>
                        </a:spcAft>
                      </a:pPr>
                      <a:r>
                        <a:rPr sz="760" b="1">
                          <a:solidFill>
                            <a:srgbClr val="FFFFFF"/>
                          </a:solidFill>
                          <a:latin typeface="맑은 고딕"/>
                        </a:rPr>
                        <a:t>UC-01  배터리 자산 등록 및 측정 시작</a:t>
                      </a:r>
                    </a:p>
                  </a:txBody>
                  <a:tcPr>
                    <a:solidFill>
                      <a:srgbClr val="3B5AA8"/>
                    </a:solidFill>
                  </a:tcPr>
                </a:tc>
                <a:extLst>
                  <a:ext uri="{0D108BD9-81ED-4DB2-BD59-A6C34878D82A}">
                    <a16:rowId xmlns:a16="http://schemas.microsoft.com/office/drawing/2014/main" val="10000"/>
                  </a:ext>
                </a:extLst>
              </a:tr>
              <a:tr h="384048">
                <a:tc>
                  <a:txBody>
                    <a:bodyPr/>
                    <a:lstStyle/>
                    <a:p>
                      <a:pPr algn="ctr">
                        <a:lnSpc>
                          <a:spcPct val="95000"/>
                        </a:lnSpc>
                        <a:spcBef>
                          <a:spcPts val="0"/>
                        </a:spcBef>
                        <a:spcAft>
                          <a:spcPts val="0"/>
                        </a:spcAft>
                      </a:pPr>
                      <a:r>
                        <a:rPr sz="680" b="1">
                          <a:solidFill>
                            <a:srgbClr val="3B5AA8"/>
                          </a:solidFill>
                          <a:latin typeface="맑은 고딕"/>
                        </a:rPr>
                        <a:t>목적</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새 배터리 또는 재연결 배터리를 자산으로 선택하고 동일 battery_id로 측정 이력을 이어간다.</a:t>
                      </a:r>
                    </a:p>
                  </a:txBody>
                  <a:tcPr>
                    <a:solidFill>
                      <a:srgbClr val="FFFFFF"/>
                    </a:solidFill>
                  </a:tcPr>
                </a:tc>
                <a:extLst>
                  <a:ext uri="{0D108BD9-81ED-4DB2-BD59-A6C34878D82A}">
                    <a16:rowId xmlns:a16="http://schemas.microsoft.com/office/drawing/2014/main" val="10001"/>
                  </a:ext>
                </a:extLst>
              </a:tr>
              <a:tr h="164592">
                <a:tc rowSpan="2">
                  <a:txBody>
                    <a:bodyPr/>
                    <a:lstStyle/>
                    <a:p>
                      <a:pPr algn="ctr">
                        <a:lnSpc>
                          <a:spcPct val="95000"/>
                        </a:lnSpc>
                        <a:spcBef>
                          <a:spcPts val="0"/>
                        </a:spcBef>
                        <a:spcAft>
                          <a:spcPts val="0"/>
                        </a:spcAft>
                      </a:pPr>
                      <a:r>
                        <a:rPr sz="680" b="1">
                          <a:solidFill>
                            <a:srgbClr val="3B5AA8"/>
                          </a:solidFill>
                          <a:latin typeface="맑은 고딕"/>
                        </a:rPr>
                        <a:t>관련 액터</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주 액터: 일반 사용자</a:t>
                      </a:r>
                    </a:p>
                  </a:txBody>
                  <a:tcPr>
                    <a:solidFill>
                      <a:srgbClr val="FFFFFF"/>
                    </a:solidFill>
                  </a:tcPr>
                </a:tc>
                <a:extLst>
                  <a:ext uri="{0D108BD9-81ED-4DB2-BD59-A6C34878D82A}">
                    <a16:rowId xmlns:a16="http://schemas.microsoft.com/office/drawing/2014/main" val="10002"/>
                  </a:ext>
                </a:extLst>
              </a:tr>
              <a:tr h="164592">
                <a:tc vMerge="1">
                  <a:txBody>
                    <a:bodyPr/>
                    <a:lstStyle/>
                    <a:p>
                      <a:pPr algn="ctr">
                        <a:lnSpc>
                          <a:spcPct val="95000"/>
                        </a:lnSpc>
                        <a:spcBef>
                          <a:spcPts val="0"/>
                        </a:spcBef>
                        <a:spcAft>
                          <a:spcPts val="0"/>
                        </a:spcAft>
                      </a:pPr>
                      <a:endParaRP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보조 액터: 백엔드, Consumer, Raspberry Pi 진단기</a:t>
                      </a:r>
                    </a:p>
                  </a:txBody>
                  <a:tcPr>
                    <a:solidFill>
                      <a:srgbClr val="FFFFFF"/>
                    </a:solidFill>
                  </a:tcPr>
                </a:tc>
                <a:extLst>
                  <a:ext uri="{0D108BD9-81ED-4DB2-BD59-A6C34878D82A}">
                    <a16:rowId xmlns:a16="http://schemas.microsoft.com/office/drawing/2014/main" val="10003"/>
                  </a:ext>
                </a:extLst>
              </a:tr>
              <a:tr h="329184">
                <a:tc>
                  <a:txBody>
                    <a:bodyPr/>
                    <a:lstStyle/>
                    <a:p>
                      <a:pPr algn="ctr">
                        <a:lnSpc>
                          <a:spcPct val="95000"/>
                        </a:lnSpc>
                        <a:spcBef>
                          <a:spcPts val="0"/>
                        </a:spcBef>
                        <a:spcAft>
                          <a:spcPts val="0"/>
                        </a:spcAft>
                      </a:pPr>
                      <a:r>
                        <a:rPr sz="680" b="1">
                          <a:solidFill>
                            <a:srgbClr val="3B5AA8"/>
                          </a:solidFill>
                          <a:latin typeface="맑은 고딕"/>
                        </a:rPr>
                        <a:t>우선순위/중요도</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우선순위 P1 / 중요도 High / 이유: 모든 실시간 관제와 이력 태깅의 시작점</a:t>
                      </a:r>
                    </a:p>
                  </a:txBody>
                  <a:tcPr>
                    <a:solidFill>
                      <a:srgbClr val="FFFFFF"/>
                    </a:solidFill>
                  </a:tcPr>
                </a:tc>
                <a:extLst>
                  <a:ext uri="{0D108BD9-81ED-4DB2-BD59-A6C34878D82A}">
                    <a16:rowId xmlns:a16="http://schemas.microsoft.com/office/drawing/2014/main" val="10004"/>
                  </a:ext>
                </a:extLst>
              </a:tr>
              <a:tr h="457200">
                <a:tc>
                  <a:txBody>
                    <a:bodyPr/>
                    <a:lstStyle/>
                    <a:p>
                      <a:pPr algn="ctr">
                        <a:lnSpc>
                          <a:spcPct val="95000"/>
                        </a:lnSpc>
                        <a:spcBef>
                          <a:spcPts val="0"/>
                        </a:spcBef>
                        <a:spcAft>
                          <a:spcPts val="0"/>
                        </a:spcAft>
                      </a:pPr>
                      <a:r>
                        <a:rPr sz="680" b="1">
                          <a:solidFill>
                            <a:srgbClr val="3B5AA8"/>
                          </a:solidFill>
                          <a:latin typeface="맑은 고딕"/>
                        </a:rPr>
                        <a:t>선행조건</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로그인 완료, 진단기 ONLINE, 배터리 자산관리 접근 가능, active 세션이 없거나 종료 가능.</a:t>
                      </a:r>
                    </a:p>
                  </a:txBody>
                  <a:tcPr>
                    <a:solidFill>
                      <a:srgbClr val="FFFFFF"/>
                    </a:solidFill>
                  </a:tcPr>
                </a:tc>
                <a:extLst>
                  <a:ext uri="{0D108BD9-81ED-4DB2-BD59-A6C34878D82A}">
                    <a16:rowId xmlns:a16="http://schemas.microsoft.com/office/drawing/2014/main" val="10005"/>
                  </a:ext>
                </a:extLst>
              </a:tr>
              <a:tr h="320040">
                <a:tc>
                  <a:txBody>
                    <a:bodyPr/>
                    <a:lstStyle/>
                    <a:p>
                      <a:pPr algn="ctr">
                        <a:lnSpc>
                          <a:spcPct val="95000"/>
                        </a:lnSpc>
                        <a:spcBef>
                          <a:spcPts val="0"/>
                        </a:spcBef>
                        <a:spcAft>
                          <a:spcPts val="0"/>
                        </a:spcAft>
                      </a:pPr>
                      <a:r>
                        <a:rPr sz="680" b="1">
                          <a:solidFill>
                            <a:srgbClr val="3B5AA8"/>
                          </a:solidFill>
                          <a:latin typeface="맑은 고딕"/>
                        </a:rPr>
                        <a:t>트리거</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사용자가 저장된 배터리의 '이 배터리 측정' 또는 새 배터리 등록 후 측정 시작을 선택.</a:t>
                      </a:r>
                    </a:p>
                  </a:txBody>
                  <a:tcPr>
                    <a:solidFill>
                      <a:srgbClr val="FFFFFF"/>
                    </a:solidFill>
                  </a:tcPr>
                </a:tc>
                <a:extLst>
                  <a:ext uri="{0D108BD9-81ED-4DB2-BD59-A6C34878D82A}">
                    <a16:rowId xmlns:a16="http://schemas.microsoft.com/office/drawing/2014/main" val="10006"/>
                  </a:ext>
                </a:extLst>
              </a:tr>
              <a:tr h="896112">
                <a:tc>
                  <a:txBody>
                    <a:bodyPr/>
                    <a:lstStyle/>
                    <a:p>
                      <a:pPr algn="ctr">
                        <a:lnSpc>
                          <a:spcPct val="95000"/>
                        </a:lnSpc>
                        <a:spcBef>
                          <a:spcPts val="0"/>
                        </a:spcBef>
                        <a:spcAft>
                          <a:spcPts val="0"/>
                        </a:spcAft>
                      </a:pPr>
                      <a:r>
                        <a:rPr sz="680" b="1">
                          <a:solidFill>
                            <a:srgbClr val="3B5AA8"/>
                          </a:solidFill>
                          <a:latin typeface="맑은 고딕"/>
                        </a:rPr>
                        <a:t>기본 흐름</a:t>
                      </a:r>
                    </a:p>
                  </a:txBody>
                  <a:tcPr>
                    <a:solidFill>
                      <a:srgbClr val="E2EBFC"/>
                    </a:solidFill>
                  </a:tcPr>
                </a:tc>
                <a:tc>
                  <a:txBody>
                    <a:bodyPr/>
                    <a:lstStyle/>
                    <a:p>
                      <a:pPr algn="l">
                        <a:lnSpc>
                          <a:spcPct val="95000"/>
                        </a:lnSpc>
                        <a:spcBef>
                          <a:spcPts val="0"/>
                        </a:spcBef>
                        <a:spcAft>
                          <a:spcPts val="0"/>
                        </a:spcAft>
                      </a:pPr>
                      <a:r>
                        <a:rPr sz="640" b="0">
                          <a:solidFill>
                            <a:srgbClr val="232323"/>
                          </a:solidFill>
                          <a:latin typeface="맑은 고딕"/>
                        </a:rPr>
                        <a:t>1. 배터리 등록/선택</a:t>
                      </a:r>
                    </a:p>
                    <a:p>
                      <a:pPr algn="l">
                        <a:lnSpc>
                          <a:spcPct val="95000"/>
                        </a:lnSpc>
                        <a:spcBef>
                          <a:spcPts val="0"/>
                        </a:spcBef>
                        <a:spcAft>
                          <a:spcPts val="0"/>
                        </a:spcAft>
                      </a:pPr>
                      <a:r>
                        <a:rPr sz="640" b="0">
                          <a:solidFill>
                            <a:srgbClr val="232323"/>
                          </a:solidFill>
                          <a:latin typeface="맑은 고딕"/>
                        </a:rPr>
                        <a:t>2. 연결 확인 모달에서 대상·모드 확인</a:t>
                      </a:r>
                    </a:p>
                    <a:p>
                      <a:pPr algn="l">
                        <a:lnSpc>
                          <a:spcPct val="95000"/>
                        </a:lnSpc>
                        <a:spcBef>
                          <a:spcPts val="0"/>
                        </a:spcBef>
                        <a:spcAft>
                          <a:spcPts val="0"/>
                        </a:spcAft>
                      </a:pPr>
                      <a:r>
                        <a:rPr sz="640" b="0">
                          <a:solidFill>
                            <a:srgbClr val="232323"/>
                          </a:solidFill>
                          <a:latin typeface="맑은 고딕"/>
                        </a:rPr>
                        <a:t>3. 백엔드가 measurement_session 생성</a:t>
                      </a:r>
                    </a:p>
                    <a:p>
                      <a:pPr algn="l">
                        <a:lnSpc>
                          <a:spcPct val="95000"/>
                        </a:lnSpc>
                        <a:spcBef>
                          <a:spcPts val="0"/>
                        </a:spcBef>
                        <a:spcAft>
                          <a:spcPts val="0"/>
                        </a:spcAft>
                      </a:pPr>
                      <a:r>
                        <a:rPr sz="640" b="0">
                          <a:solidFill>
                            <a:srgbClr val="232323"/>
                          </a:solidFill>
                          <a:latin typeface="맑은 고딕"/>
                        </a:rPr>
                        <a:t>4. Consumer가 raw 데이터에 battery_id 태깅</a:t>
                      </a:r>
                    </a:p>
                  </a:txBody>
                  <a:tcPr>
                    <a:solidFill>
                      <a:srgbClr val="FFFFFF"/>
                    </a:solidFill>
                  </a:tcPr>
                </a:tc>
                <a:extLst>
                  <a:ext uri="{0D108BD9-81ED-4DB2-BD59-A6C34878D82A}">
                    <a16:rowId xmlns:a16="http://schemas.microsoft.com/office/drawing/2014/main" val="10007"/>
                  </a:ext>
                </a:extLst>
              </a:tr>
              <a:tr h="658368">
                <a:tc>
                  <a:txBody>
                    <a:bodyPr/>
                    <a:lstStyle/>
                    <a:p>
                      <a:pPr algn="ctr">
                        <a:lnSpc>
                          <a:spcPct val="95000"/>
                        </a:lnSpc>
                        <a:spcBef>
                          <a:spcPts val="0"/>
                        </a:spcBef>
                        <a:spcAft>
                          <a:spcPts val="0"/>
                        </a:spcAft>
                      </a:pPr>
                      <a:r>
                        <a:rPr sz="680" b="1">
                          <a:solidFill>
                            <a:srgbClr val="3B5AA8"/>
                          </a:solidFill>
                          <a:latin typeface="맑은 고딕"/>
                        </a:rPr>
                        <a:t>대안/예외 흐름</a:t>
                      </a:r>
                    </a:p>
                  </a:txBody>
                  <a:tcPr>
                    <a:solidFill>
                      <a:srgbClr val="E2EBFC"/>
                    </a:solidFill>
                  </a:tcPr>
                </a:tc>
                <a:tc>
                  <a:txBody>
                    <a:bodyPr/>
                    <a:lstStyle/>
                    <a:p>
                      <a:pPr algn="l">
                        <a:lnSpc>
                          <a:spcPct val="95000"/>
                        </a:lnSpc>
                        <a:spcBef>
                          <a:spcPts val="0"/>
                        </a:spcBef>
                        <a:spcAft>
                          <a:spcPts val="0"/>
                        </a:spcAft>
                      </a:pPr>
                      <a:r>
                        <a:rPr sz="640" b="0">
                          <a:solidFill>
                            <a:srgbClr val="232323"/>
                          </a:solidFill>
                          <a:latin typeface="맑은 고딕"/>
                        </a:rPr>
                        <a:t>디바이스 미연결: 측정 시작 차단 / active 세션 중복: 기존 세션 종료 또는 재선택 안내 / 미배정 데이터: battery_id=null 경고.</a:t>
                      </a:r>
                    </a:p>
                  </a:txBody>
                  <a:tcPr>
                    <a:solidFill>
                      <a:srgbClr val="FFFFFF"/>
                    </a:solidFill>
                  </a:tcPr>
                </a:tc>
                <a:extLst>
                  <a:ext uri="{0D108BD9-81ED-4DB2-BD59-A6C34878D82A}">
                    <a16:rowId xmlns:a16="http://schemas.microsoft.com/office/drawing/2014/main" val="10008"/>
                  </a:ext>
                </a:extLst>
              </a:tr>
              <a:tr h="411480">
                <a:tc>
                  <a:txBody>
                    <a:bodyPr/>
                    <a:lstStyle/>
                    <a:p>
                      <a:pPr algn="ctr">
                        <a:lnSpc>
                          <a:spcPct val="95000"/>
                        </a:lnSpc>
                        <a:spcBef>
                          <a:spcPts val="0"/>
                        </a:spcBef>
                        <a:spcAft>
                          <a:spcPts val="0"/>
                        </a:spcAft>
                      </a:pPr>
                      <a:r>
                        <a:rPr sz="680" b="1">
                          <a:solidFill>
                            <a:srgbClr val="3B5AA8"/>
                          </a:solidFill>
                          <a:latin typeface="맑은 고딕"/>
                        </a:rPr>
                        <a:t>후행조건</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선택 battery_id 기준으로 실시간 데이터, AI 이상점수, 이벤트 이력이 누적된다.</a:t>
                      </a:r>
                    </a:p>
                  </a:txBody>
                  <a:tcPr>
                    <a:solidFill>
                      <a:srgbClr val="FFFFFF"/>
                    </a:solidFill>
                  </a:tcPr>
                </a:tc>
                <a:extLst>
                  <a:ext uri="{0D108BD9-81ED-4DB2-BD59-A6C34878D82A}">
                    <a16:rowId xmlns:a16="http://schemas.microsoft.com/office/drawing/2014/main" val="10009"/>
                  </a:ext>
                </a:extLst>
              </a:tr>
              <a:tr h="310896">
                <a:tc>
                  <a:txBody>
                    <a:bodyPr/>
                    <a:lstStyle/>
                    <a:p>
                      <a:pPr algn="ctr">
                        <a:lnSpc>
                          <a:spcPct val="95000"/>
                        </a:lnSpc>
                        <a:spcBef>
                          <a:spcPts val="0"/>
                        </a:spcBef>
                        <a:spcAft>
                          <a:spcPts val="0"/>
                        </a:spcAft>
                      </a:pPr>
                      <a:r>
                        <a:rPr sz="680" b="1">
                          <a:solidFill>
                            <a:srgbClr val="3B5AA8"/>
                          </a:solidFill>
                          <a:latin typeface="맑은 고딕"/>
                        </a:rPr>
                        <a:t>관련 데이터</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battery_asset, measurement_session, battery-raw-metrics, battery_id 태깅</a:t>
                      </a:r>
                    </a:p>
                  </a:txBody>
                  <a:tcPr>
                    <a:solidFill>
                      <a:srgbClr val="FFFFFF"/>
                    </a:solidFill>
                  </a:tcPr>
                </a:tc>
                <a:extLst>
                  <a:ext uri="{0D108BD9-81ED-4DB2-BD59-A6C34878D82A}">
                    <a16:rowId xmlns:a16="http://schemas.microsoft.com/office/drawing/2014/main" val="10010"/>
                  </a:ext>
                </a:extLst>
              </a:tr>
              <a:tr h="310896">
                <a:tc>
                  <a:txBody>
                    <a:bodyPr/>
                    <a:lstStyle/>
                    <a:p>
                      <a:pPr algn="ctr">
                        <a:lnSpc>
                          <a:spcPct val="95000"/>
                        </a:lnSpc>
                        <a:spcBef>
                          <a:spcPts val="0"/>
                        </a:spcBef>
                        <a:spcAft>
                          <a:spcPts val="0"/>
                        </a:spcAft>
                      </a:pPr>
                      <a:r>
                        <a:rPr sz="680" b="1">
                          <a:solidFill>
                            <a:srgbClr val="3B5AA8"/>
                          </a:solidFill>
                          <a:latin typeface="맑은 고딕"/>
                        </a:rPr>
                        <a:t>추적 요구사항</a:t>
                      </a:r>
                    </a:p>
                  </a:txBody>
                  <a:tcPr>
                    <a:solidFill>
                      <a:srgbClr val="E2EBFC"/>
                    </a:solidFill>
                  </a:tcPr>
                </a:tc>
                <a:tc>
                  <a:txBody>
                    <a:bodyPr/>
                    <a:lstStyle/>
                    <a:p>
                      <a:pPr algn="l">
                        <a:lnSpc>
                          <a:spcPct val="95000"/>
                        </a:lnSpc>
                        <a:spcBef>
                          <a:spcPts val="0"/>
                        </a:spcBef>
                        <a:spcAft>
                          <a:spcPts val="0"/>
                        </a:spcAft>
                      </a:pPr>
                      <a:r>
                        <a:rPr sz="670" b="0" dirty="0">
                          <a:solidFill>
                            <a:srgbClr val="232323"/>
                          </a:solidFill>
                          <a:latin typeface="맑은 고딕"/>
                        </a:rPr>
                        <a:t>REQ-WEB-030~041, SRS-WEB-006, SRS-WEB-007, SRS-WEB-010</a:t>
                      </a:r>
                    </a:p>
                  </a:txBody>
                  <a:tcPr>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9728" y="0"/>
            <a:ext cx="3090672" cy="1115568"/>
          </a:xfrm>
          <a:prstGeom prst="rect">
            <a:avLst/>
          </a:prstGeom>
          <a:solidFill>
            <a:srgbClr val="3B5A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 y="539496"/>
            <a:ext cx="2578608" cy="91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73552" y="548640"/>
            <a:ext cx="5376672" cy="9144"/>
          </a:xfrm>
          <a:prstGeom prst="rect">
            <a:avLst/>
          </a:prstGeom>
          <a:solidFill>
            <a:srgbClr val="3B5A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37744" y="685800"/>
            <a:ext cx="2971800" cy="310896"/>
          </a:xfrm>
          <a:prstGeom prst="rect">
            <a:avLst/>
          </a:prstGeom>
          <a:noFill/>
        </p:spPr>
        <p:txBody>
          <a:bodyPr wrap="none">
            <a:spAutoFit/>
          </a:bodyPr>
          <a:lstStyle/>
          <a:p>
            <a:r>
              <a:rPr sz="1200" b="1">
                <a:solidFill>
                  <a:srgbClr val="FFFFFF"/>
                </a:solidFill>
                <a:latin typeface="맑은 고딕"/>
              </a:rPr>
              <a:t>| 유즈케이스 정의서</a:t>
            </a:r>
          </a:p>
        </p:txBody>
      </p:sp>
      <p:sp>
        <p:nvSpPr>
          <p:cNvPr id="7" name="TextBox 6"/>
          <p:cNvSpPr txBox="1"/>
          <p:nvPr/>
        </p:nvSpPr>
        <p:spPr>
          <a:xfrm>
            <a:off x="594360" y="1170432"/>
            <a:ext cx="7955279" cy="310896"/>
          </a:xfrm>
          <a:prstGeom prst="rect">
            <a:avLst/>
          </a:prstGeom>
          <a:noFill/>
        </p:spPr>
        <p:txBody>
          <a:bodyPr wrap="none" lIns="0">
            <a:spAutoFit/>
          </a:bodyPr>
          <a:lstStyle/>
          <a:p>
            <a:r>
              <a:rPr sz="1600" b="1">
                <a:solidFill>
                  <a:srgbClr val="3B5AA8"/>
                </a:solidFill>
                <a:latin typeface="맑은 고딕"/>
              </a:rPr>
              <a:t>실시간 관제 및 위험 상태 확인</a:t>
            </a:r>
          </a:p>
        </p:txBody>
      </p:sp>
      <p:graphicFrame>
        <p:nvGraphicFramePr>
          <p:cNvPr id="9" name="Table 8"/>
          <p:cNvGraphicFramePr>
            <a:graphicFrameLocks noGrp="1"/>
          </p:cNvGraphicFramePr>
          <p:nvPr/>
        </p:nvGraphicFramePr>
        <p:xfrm>
          <a:off x="475488" y="1627632"/>
          <a:ext cx="8229600" cy="4711192"/>
        </p:xfrm>
        <a:graphic>
          <a:graphicData uri="http://schemas.openxmlformats.org/drawingml/2006/table">
            <a:tbl>
              <a:tblPr firstRow="1" bandRow="1">
                <a:tableStyleId>{5C22544A-7EE6-4342-B048-85BDC9FD1C3A}</a:tableStyleId>
              </a:tblPr>
              <a:tblGrid>
                <a:gridCol w="1207008">
                  <a:extLst>
                    <a:ext uri="{9D8B030D-6E8A-4147-A177-3AD203B41FA5}">
                      <a16:colId xmlns:a16="http://schemas.microsoft.com/office/drawing/2014/main" val="20000"/>
                    </a:ext>
                  </a:extLst>
                </a:gridCol>
                <a:gridCol w="7022592">
                  <a:extLst>
                    <a:ext uri="{9D8B030D-6E8A-4147-A177-3AD203B41FA5}">
                      <a16:colId xmlns:a16="http://schemas.microsoft.com/office/drawing/2014/main" val="20001"/>
                    </a:ext>
                  </a:extLst>
                </a:gridCol>
              </a:tblGrid>
              <a:tr h="256032">
                <a:tc>
                  <a:txBody>
                    <a:bodyPr/>
                    <a:lstStyle/>
                    <a:p>
                      <a:pPr algn="ctr">
                        <a:lnSpc>
                          <a:spcPct val="95000"/>
                        </a:lnSpc>
                        <a:spcBef>
                          <a:spcPts val="0"/>
                        </a:spcBef>
                        <a:spcAft>
                          <a:spcPts val="0"/>
                        </a:spcAft>
                      </a:pPr>
                      <a:r>
                        <a:rPr sz="730" b="1">
                          <a:solidFill>
                            <a:srgbClr val="FFFFFF"/>
                          </a:solidFill>
                          <a:latin typeface="맑은 고딕"/>
                        </a:rPr>
                        <a:t>항목</a:t>
                      </a:r>
                    </a:p>
                  </a:txBody>
                  <a:tcPr>
                    <a:solidFill>
                      <a:srgbClr val="3B5AA8"/>
                    </a:solidFill>
                  </a:tcPr>
                </a:tc>
                <a:tc>
                  <a:txBody>
                    <a:bodyPr/>
                    <a:lstStyle/>
                    <a:p>
                      <a:pPr algn="l">
                        <a:lnSpc>
                          <a:spcPct val="95000"/>
                        </a:lnSpc>
                        <a:spcBef>
                          <a:spcPts val="0"/>
                        </a:spcBef>
                        <a:spcAft>
                          <a:spcPts val="0"/>
                        </a:spcAft>
                      </a:pPr>
                      <a:r>
                        <a:rPr sz="760" b="1">
                          <a:solidFill>
                            <a:srgbClr val="FFFFFF"/>
                          </a:solidFill>
                          <a:latin typeface="맑은 고딕"/>
                        </a:rPr>
                        <a:t>UC-02  실시간 관제 및 위험 상태 확인</a:t>
                      </a:r>
                    </a:p>
                  </a:txBody>
                  <a:tcPr>
                    <a:solidFill>
                      <a:srgbClr val="3B5AA8"/>
                    </a:solidFill>
                  </a:tcPr>
                </a:tc>
                <a:extLst>
                  <a:ext uri="{0D108BD9-81ED-4DB2-BD59-A6C34878D82A}">
                    <a16:rowId xmlns:a16="http://schemas.microsoft.com/office/drawing/2014/main" val="10000"/>
                  </a:ext>
                </a:extLst>
              </a:tr>
              <a:tr h="384048">
                <a:tc>
                  <a:txBody>
                    <a:bodyPr/>
                    <a:lstStyle/>
                    <a:p>
                      <a:pPr algn="ctr">
                        <a:lnSpc>
                          <a:spcPct val="95000"/>
                        </a:lnSpc>
                        <a:spcBef>
                          <a:spcPts val="0"/>
                        </a:spcBef>
                        <a:spcAft>
                          <a:spcPts val="0"/>
                        </a:spcAft>
                      </a:pPr>
                      <a:r>
                        <a:rPr sz="680" b="1">
                          <a:solidFill>
                            <a:srgbClr val="3B5AA8"/>
                          </a:solidFill>
                          <a:latin typeface="맑은 고딕"/>
                        </a:rPr>
                        <a:t>목적</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측정 중인 배터리의 현재 센서값, 상태 등급, 이상점수, 최근 이벤트를 한 화면에서 판단한다.</a:t>
                      </a:r>
                    </a:p>
                  </a:txBody>
                  <a:tcPr>
                    <a:solidFill>
                      <a:srgbClr val="FFFFFF"/>
                    </a:solidFill>
                  </a:tcPr>
                </a:tc>
                <a:extLst>
                  <a:ext uri="{0D108BD9-81ED-4DB2-BD59-A6C34878D82A}">
                    <a16:rowId xmlns:a16="http://schemas.microsoft.com/office/drawing/2014/main" val="10001"/>
                  </a:ext>
                </a:extLst>
              </a:tr>
              <a:tr h="164592">
                <a:tc rowSpan="2">
                  <a:txBody>
                    <a:bodyPr/>
                    <a:lstStyle/>
                    <a:p>
                      <a:pPr algn="ctr">
                        <a:lnSpc>
                          <a:spcPct val="95000"/>
                        </a:lnSpc>
                        <a:spcBef>
                          <a:spcPts val="0"/>
                        </a:spcBef>
                        <a:spcAft>
                          <a:spcPts val="0"/>
                        </a:spcAft>
                      </a:pPr>
                      <a:r>
                        <a:rPr sz="680" b="1">
                          <a:solidFill>
                            <a:srgbClr val="3B5AA8"/>
                          </a:solidFill>
                          <a:latin typeface="맑은 고딕"/>
                        </a:rPr>
                        <a:t>관련 액터</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주 액터: 현장 운영자·일반 사용자</a:t>
                      </a:r>
                    </a:p>
                  </a:txBody>
                  <a:tcPr>
                    <a:solidFill>
                      <a:srgbClr val="FFFFFF"/>
                    </a:solidFill>
                  </a:tcPr>
                </a:tc>
                <a:extLst>
                  <a:ext uri="{0D108BD9-81ED-4DB2-BD59-A6C34878D82A}">
                    <a16:rowId xmlns:a16="http://schemas.microsoft.com/office/drawing/2014/main" val="10002"/>
                  </a:ext>
                </a:extLst>
              </a:tr>
              <a:tr h="164592">
                <a:tc vMerge="1">
                  <a:txBody>
                    <a:bodyPr/>
                    <a:lstStyle/>
                    <a:p>
                      <a:pPr algn="ctr">
                        <a:lnSpc>
                          <a:spcPct val="95000"/>
                        </a:lnSpc>
                        <a:spcBef>
                          <a:spcPts val="0"/>
                        </a:spcBef>
                        <a:spcAft>
                          <a:spcPts val="0"/>
                        </a:spcAft>
                      </a:pPr>
                      <a:endParaRP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보조 액터: WebSocket 서버, Kafka Consumer, DB</a:t>
                      </a:r>
                    </a:p>
                  </a:txBody>
                  <a:tcPr>
                    <a:solidFill>
                      <a:srgbClr val="FFFFFF"/>
                    </a:solidFill>
                  </a:tcPr>
                </a:tc>
                <a:extLst>
                  <a:ext uri="{0D108BD9-81ED-4DB2-BD59-A6C34878D82A}">
                    <a16:rowId xmlns:a16="http://schemas.microsoft.com/office/drawing/2014/main" val="10003"/>
                  </a:ext>
                </a:extLst>
              </a:tr>
              <a:tr h="329184">
                <a:tc>
                  <a:txBody>
                    <a:bodyPr/>
                    <a:lstStyle/>
                    <a:p>
                      <a:pPr algn="ctr">
                        <a:lnSpc>
                          <a:spcPct val="95000"/>
                        </a:lnSpc>
                        <a:spcBef>
                          <a:spcPts val="0"/>
                        </a:spcBef>
                        <a:spcAft>
                          <a:spcPts val="0"/>
                        </a:spcAft>
                      </a:pPr>
                      <a:r>
                        <a:rPr sz="680" b="1">
                          <a:solidFill>
                            <a:srgbClr val="3B5AA8"/>
                          </a:solidFill>
                          <a:latin typeface="맑은 고딕"/>
                        </a:rPr>
                        <a:t>우선순위/중요도</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우선순위 P1 / 중요도 High / 이유: 위험 징후를 가장 먼저 확인하는 관제 허브</a:t>
                      </a:r>
                    </a:p>
                  </a:txBody>
                  <a:tcPr>
                    <a:solidFill>
                      <a:srgbClr val="FFFFFF"/>
                    </a:solidFill>
                  </a:tcPr>
                </a:tc>
                <a:extLst>
                  <a:ext uri="{0D108BD9-81ED-4DB2-BD59-A6C34878D82A}">
                    <a16:rowId xmlns:a16="http://schemas.microsoft.com/office/drawing/2014/main" val="10004"/>
                  </a:ext>
                </a:extLst>
              </a:tr>
              <a:tr h="457200">
                <a:tc>
                  <a:txBody>
                    <a:bodyPr/>
                    <a:lstStyle/>
                    <a:p>
                      <a:pPr algn="ctr">
                        <a:lnSpc>
                          <a:spcPct val="95000"/>
                        </a:lnSpc>
                        <a:spcBef>
                          <a:spcPts val="0"/>
                        </a:spcBef>
                        <a:spcAft>
                          <a:spcPts val="0"/>
                        </a:spcAft>
                      </a:pPr>
                      <a:r>
                        <a:rPr sz="680" b="1">
                          <a:solidFill>
                            <a:srgbClr val="3B5AA8"/>
                          </a:solidFill>
                          <a:latin typeface="맑은 고딕"/>
                        </a:rPr>
                        <a:t>선행조건</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측정 세션 active, 센서 데이터 수신 중, 사용자 권한 USER 이상, 대시보드 접근 가능.</a:t>
                      </a:r>
                    </a:p>
                  </a:txBody>
                  <a:tcPr>
                    <a:solidFill>
                      <a:srgbClr val="FFFFFF"/>
                    </a:solidFill>
                  </a:tcPr>
                </a:tc>
                <a:extLst>
                  <a:ext uri="{0D108BD9-81ED-4DB2-BD59-A6C34878D82A}">
                    <a16:rowId xmlns:a16="http://schemas.microsoft.com/office/drawing/2014/main" val="10005"/>
                  </a:ext>
                </a:extLst>
              </a:tr>
              <a:tr h="320040">
                <a:tc>
                  <a:txBody>
                    <a:bodyPr/>
                    <a:lstStyle/>
                    <a:p>
                      <a:pPr algn="ctr">
                        <a:lnSpc>
                          <a:spcPct val="95000"/>
                        </a:lnSpc>
                        <a:spcBef>
                          <a:spcPts val="0"/>
                        </a:spcBef>
                        <a:spcAft>
                          <a:spcPts val="0"/>
                        </a:spcAft>
                      </a:pPr>
                      <a:r>
                        <a:rPr sz="680" b="1">
                          <a:solidFill>
                            <a:srgbClr val="3B5AA8"/>
                          </a:solidFill>
                          <a:latin typeface="맑은 고딕"/>
                        </a:rPr>
                        <a:t>트리거</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측정 시작 직후 대시보드 진입 또는 배터리 변경 후 관제 화면 자동 이동.</a:t>
                      </a:r>
                    </a:p>
                  </a:txBody>
                  <a:tcPr>
                    <a:solidFill>
                      <a:srgbClr val="FFFFFF"/>
                    </a:solidFill>
                  </a:tcPr>
                </a:tc>
                <a:extLst>
                  <a:ext uri="{0D108BD9-81ED-4DB2-BD59-A6C34878D82A}">
                    <a16:rowId xmlns:a16="http://schemas.microsoft.com/office/drawing/2014/main" val="10006"/>
                  </a:ext>
                </a:extLst>
              </a:tr>
              <a:tr h="896112">
                <a:tc>
                  <a:txBody>
                    <a:bodyPr/>
                    <a:lstStyle/>
                    <a:p>
                      <a:pPr algn="ctr">
                        <a:lnSpc>
                          <a:spcPct val="95000"/>
                        </a:lnSpc>
                        <a:spcBef>
                          <a:spcPts val="0"/>
                        </a:spcBef>
                        <a:spcAft>
                          <a:spcPts val="0"/>
                        </a:spcAft>
                      </a:pPr>
                      <a:r>
                        <a:rPr sz="680" b="1">
                          <a:solidFill>
                            <a:srgbClr val="3B5AA8"/>
                          </a:solidFill>
                          <a:latin typeface="맑은 고딕"/>
                        </a:rPr>
                        <a:t>기본 흐름</a:t>
                      </a:r>
                    </a:p>
                  </a:txBody>
                  <a:tcPr>
                    <a:solidFill>
                      <a:srgbClr val="E2EBFC"/>
                    </a:solidFill>
                  </a:tcPr>
                </a:tc>
                <a:tc>
                  <a:txBody>
                    <a:bodyPr/>
                    <a:lstStyle/>
                    <a:p>
                      <a:pPr algn="l">
                        <a:lnSpc>
                          <a:spcPct val="95000"/>
                        </a:lnSpc>
                        <a:spcBef>
                          <a:spcPts val="0"/>
                        </a:spcBef>
                        <a:spcAft>
                          <a:spcPts val="0"/>
                        </a:spcAft>
                      </a:pPr>
                      <a:r>
                        <a:rPr sz="640" b="0">
                          <a:solidFill>
                            <a:srgbClr val="232323"/>
                          </a:solidFill>
                          <a:latin typeface="맑은 고딕"/>
                        </a:rPr>
                        <a:t>1. 대시보드 진입</a:t>
                      </a:r>
                    </a:p>
                    <a:p>
                      <a:pPr algn="l">
                        <a:lnSpc>
                          <a:spcPct val="95000"/>
                        </a:lnSpc>
                        <a:spcBef>
                          <a:spcPts val="0"/>
                        </a:spcBef>
                        <a:spcAft>
                          <a:spcPts val="0"/>
                        </a:spcAft>
                      </a:pPr>
                      <a:r>
                        <a:rPr sz="640" b="0">
                          <a:solidFill>
                            <a:srgbClr val="232323"/>
                          </a:solidFill>
                          <a:latin typeface="맑은 고딕"/>
                        </a:rPr>
                        <a:t>2. 전압·전류·온도·SOC와 이상점수 확인</a:t>
                      </a:r>
                    </a:p>
                    <a:p>
                      <a:pPr algn="l">
                        <a:lnSpc>
                          <a:spcPct val="95000"/>
                        </a:lnSpc>
                        <a:spcBef>
                          <a:spcPts val="0"/>
                        </a:spcBef>
                        <a:spcAft>
                          <a:spcPts val="0"/>
                        </a:spcAft>
                      </a:pPr>
                      <a:r>
                        <a:rPr sz="640" b="0">
                          <a:solidFill>
                            <a:srgbClr val="232323"/>
                          </a:solidFill>
                          <a:latin typeface="맑은 고딕"/>
                        </a:rPr>
                        <a:t>3. 상태 등급과 최근 이벤트 확인</a:t>
                      </a:r>
                    </a:p>
                    <a:p>
                      <a:pPr algn="l">
                        <a:lnSpc>
                          <a:spcPct val="95000"/>
                        </a:lnSpc>
                        <a:spcBef>
                          <a:spcPts val="0"/>
                        </a:spcBef>
                        <a:spcAft>
                          <a:spcPts val="0"/>
                        </a:spcAft>
                      </a:pPr>
                      <a:r>
                        <a:rPr sz="640" b="0">
                          <a:solidFill>
                            <a:srgbClr val="232323"/>
                          </a:solidFill>
                          <a:latin typeface="맑은 고딕"/>
                        </a:rPr>
                        <a:t>4. 이상탐지/알림/릴레이 화면으로 이동</a:t>
                      </a:r>
                    </a:p>
                  </a:txBody>
                  <a:tcPr>
                    <a:solidFill>
                      <a:srgbClr val="FFFFFF"/>
                    </a:solidFill>
                  </a:tcPr>
                </a:tc>
                <a:extLst>
                  <a:ext uri="{0D108BD9-81ED-4DB2-BD59-A6C34878D82A}">
                    <a16:rowId xmlns:a16="http://schemas.microsoft.com/office/drawing/2014/main" val="10007"/>
                  </a:ext>
                </a:extLst>
              </a:tr>
              <a:tr h="658368">
                <a:tc>
                  <a:txBody>
                    <a:bodyPr/>
                    <a:lstStyle/>
                    <a:p>
                      <a:pPr algn="ctr">
                        <a:lnSpc>
                          <a:spcPct val="95000"/>
                        </a:lnSpc>
                        <a:spcBef>
                          <a:spcPts val="0"/>
                        </a:spcBef>
                        <a:spcAft>
                          <a:spcPts val="0"/>
                        </a:spcAft>
                      </a:pPr>
                      <a:r>
                        <a:rPr sz="680" b="1">
                          <a:solidFill>
                            <a:srgbClr val="3B5AA8"/>
                          </a:solidFill>
                          <a:latin typeface="맑은 고딕"/>
                        </a:rPr>
                        <a:t>대안/예외 흐름</a:t>
                      </a:r>
                    </a:p>
                  </a:txBody>
                  <a:tcPr>
                    <a:solidFill>
                      <a:srgbClr val="E2EBFC"/>
                    </a:solidFill>
                  </a:tcPr>
                </a:tc>
                <a:tc>
                  <a:txBody>
                    <a:bodyPr/>
                    <a:lstStyle/>
                    <a:p>
                      <a:pPr algn="l">
                        <a:lnSpc>
                          <a:spcPct val="95000"/>
                        </a:lnSpc>
                        <a:spcBef>
                          <a:spcPts val="0"/>
                        </a:spcBef>
                        <a:spcAft>
                          <a:spcPts val="0"/>
                        </a:spcAft>
                      </a:pPr>
                      <a:r>
                        <a:rPr sz="640" b="0">
                          <a:solidFill>
                            <a:srgbClr val="232323"/>
                          </a:solidFill>
                          <a:latin typeface="맑은 고딕"/>
                        </a:rPr>
                        <a:t>WebSocket 끊김: 자동 재연결 표시 / 1~5분 지연: DELAYED / 5분 이상 미수신: OFFLINE 또는 확인불가.</a:t>
                      </a:r>
                    </a:p>
                  </a:txBody>
                  <a:tcPr>
                    <a:solidFill>
                      <a:srgbClr val="FFFFFF"/>
                    </a:solidFill>
                  </a:tcPr>
                </a:tc>
                <a:extLst>
                  <a:ext uri="{0D108BD9-81ED-4DB2-BD59-A6C34878D82A}">
                    <a16:rowId xmlns:a16="http://schemas.microsoft.com/office/drawing/2014/main" val="10008"/>
                  </a:ext>
                </a:extLst>
              </a:tr>
              <a:tr h="411480">
                <a:tc>
                  <a:txBody>
                    <a:bodyPr/>
                    <a:lstStyle/>
                    <a:p>
                      <a:pPr algn="ctr">
                        <a:lnSpc>
                          <a:spcPct val="95000"/>
                        </a:lnSpc>
                        <a:spcBef>
                          <a:spcPts val="0"/>
                        </a:spcBef>
                        <a:spcAft>
                          <a:spcPts val="0"/>
                        </a:spcAft>
                      </a:pPr>
                      <a:r>
                        <a:rPr sz="680" b="1">
                          <a:solidFill>
                            <a:srgbClr val="3B5AA8"/>
                          </a:solidFill>
                          <a:latin typeface="맑은 고딕"/>
                        </a:rPr>
                        <a:t>후행조건</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운영자는 정상·주의·경고·위험 상태와 다음 대응 액션을 결정한다.</a:t>
                      </a:r>
                    </a:p>
                  </a:txBody>
                  <a:tcPr>
                    <a:solidFill>
                      <a:srgbClr val="FFFFFF"/>
                    </a:solidFill>
                  </a:tcPr>
                </a:tc>
                <a:extLst>
                  <a:ext uri="{0D108BD9-81ED-4DB2-BD59-A6C34878D82A}">
                    <a16:rowId xmlns:a16="http://schemas.microsoft.com/office/drawing/2014/main" val="10009"/>
                  </a:ext>
                </a:extLst>
              </a:tr>
              <a:tr h="310896">
                <a:tc>
                  <a:txBody>
                    <a:bodyPr/>
                    <a:lstStyle/>
                    <a:p>
                      <a:pPr algn="ctr">
                        <a:lnSpc>
                          <a:spcPct val="95000"/>
                        </a:lnSpc>
                        <a:spcBef>
                          <a:spcPts val="0"/>
                        </a:spcBef>
                        <a:spcAft>
                          <a:spcPts val="0"/>
                        </a:spcAft>
                      </a:pPr>
                      <a:r>
                        <a:rPr sz="680" b="1">
                          <a:solidFill>
                            <a:srgbClr val="3B5AA8"/>
                          </a:solidFill>
                          <a:latin typeface="맑은 고딕"/>
                        </a:rPr>
                        <a:t>관련 데이터</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sensor_metrics, anomaly_score, status_grade, recent_events, websocket heartbeat</a:t>
                      </a:r>
                    </a:p>
                  </a:txBody>
                  <a:tcPr>
                    <a:solidFill>
                      <a:srgbClr val="FFFFFF"/>
                    </a:solidFill>
                  </a:tcPr>
                </a:tc>
                <a:extLst>
                  <a:ext uri="{0D108BD9-81ED-4DB2-BD59-A6C34878D82A}">
                    <a16:rowId xmlns:a16="http://schemas.microsoft.com/office/drawing/2014/main" val="10010"/>
                  </a:ext>
                </a:extLst>
              </a:tr>
              <a:tr h="310896">
                <a:tc>
                  <a:txBody>
                    <a:bodyPr/>
                    <a:lstStyle/>
                    <a:p>
                      <a:pPr algn="ctr">
                        <a:lnSpc>
                          <a:spcPct val="95000"/>
                        </a:lnSpc>
                        <a:spcBef>
                          <a:spcPts val="0"/>
                        </a:spcBef>
                        <a:spcAft>
                          <a:spcPts val="0"/>
                        </a:spcAft>
                      </a:pPr>
                      <a:r>
                        <a:rPr sz="680" b="1">
                          <a:solidFill>
                            <a:srgbClr val="3B5AA8"/>
                          </a:solidFill>
                          <a:latin typeface="맑은 고딕"/>
                        </a:rPr>
                        <a:t>추적 요구사항</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REQ-WEB-019~028, REQ-WEB-042, REQ-WEB-061</a:t>
                      </a:r>
                    </a:p>
                  </a:txBody>
                  <a:tcPr>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9728" y="0"/>
            <a:ext cx="3090672" cy="1115568"/>
          </a:xfrm>
          <a:prstGeom prst="rect">
            <a:avLst/>
          </a:prstGeom>
          <a:solidFill>
            <a:srgbClr val="3B5A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 y="539496"/>
            <a:ext cx="2578608" cy="91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73552" y="548640"/>
            <a:ext cx="5376672" cy="9144"/>
          </a:xfrm>
          <a:prstGeom prst="rect">
            <a:avLst/>
          </a:prstGeom>
          <a:solidFill>
            <a:srgbClr val="3B5A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37744" y="685800"/>
            <a:ext cx="2971800" cy="310896"/>
          </a:xfrm>
          <a:prstGeom prst="rect">
            <a:avLst/>
          </a:prstGeom>
          <a:noFill/>
        </p:spPr>
        <p:txBody>
          <a:bodyPr wrap="none">
            <a:spAutoFit/>
          </a:bodyPr>
          <a:lstStyle/>
          <a:p>
            <a:r>
              <a:rPr sz="1200" b="1">
                <a:solidFill>
                  <a:srgbClr val="FFFFFF"/>
                </a:solidFill>
                <a:latin typeface="맑은 고딕"/>
              </a:rPr>
              <a:t>| 유즈케이스 정의서</a:t>
            </a:r>
          </a:p>
        </p:txBody>
      </p:sp>
      <p:sp>
        <p:nvSpPr>
          <p:cNvPr id="7" name="TextBox 6"/>
          <p:cNvSpPr txBox="1"/>
          <p:nvPr/>
        </p:nvSpPr>
        <p:spPr>
          <a:xfrm>
            <a:off x="594360" y="1170432"/>
            <a:ext cx="7955279" cy="310896"/>
          </a:xfrm>
          <a:prstGeom prst="rect">
            <a:avLst/>
          </a:prstGeom>
          <a:noFill/>
        </p:spPr>
        <p:txBody>
          <a:bodyPr wrap="none" lIns="0">
            <a:spAutoFit/>
          </a:bodyPr>
          <a:lstStyle/>
          <a:p>
            <a:r>
              <a:rPr sz="1600" b="1">
                <a:solidFill>
                  <a:srgbClr val="3B5AA8"/>
                </a:solidFill>
                <a:latin typeface="맑은 고딕"/>
              </a:rPr>
              <a:t>AI 이상탐지 상세 및 근거 확인</a:t>
            </a:r>
          </a:p>
        </p:txBody>
      </p:sp>
      <p:graphicFrame>
        <p:nvGraphicFramePr>
          <p:cNvPr id="9" name="Table 8"/>
          <p:cNvGraphicFramePr>
            <a:graphicFrameLocks noGrp="1"/>
          </p:cNvGraphicFramePr>
          <p:nvPr/>
        </p:nvGraphicFramePr>
        <p:xfrm>
          <a:off x="475488" y="1627632"/>
          <a:ext cx="8229600" cy="4711192"/>
        </p:xfrm>
        <a:graphic>
          <a:graphicData uri="http://schemas.openxmlformats.org/drawingml/2006/table">
            <a:tbl>
              <a:tblPr firstRow="1" bandRow="1">
                <a:tableStyleId>{5C22544A-7EE6-4342-B048-85BDC9FD1C3A}</a:tableStyleId>
              </a:tblPr>
              <a:tblGrid>
                <a:gridCol w="1207008">
                  <a:extLst>
                    <a:ext uri="{9D8B030D-6E8A-4147-A177-3AD203B41FA5}">
                      <a16:colId xmlns:a16="http://schemas.microsoft.com/office/drawing/2014/main" val="20000"/>
                    </a:ext>
                  </a:extLst>
                </a:gridCol>
                <a:gridCol w="7022592">
                  <a:extLst>
                    <a:ext uri="{9D8B030D-6E8A-4147-A177-3AD203B41FA5}">
                      <a16:colId xmlns:a16="http://schemas.microsoft.com/office/drawing/2014/main" val="20001"/>
                    </a:ext>
                  </a:extLst>
                </a:gridCol>
              </a:tblGrid>
              <a:tr h="256032">
                <a:tc>
                  <a:txBody>
                    <a:bodyPr/>
                    <a:lstStyle/>
                    <a:p>
                      <a:pPr algn="ctr">
                        <a:lnSpc>
                          <a:spcPct val="95000"/>
                        </a:lnSpc>
                        <a:spcBef>
                          <a:spcPts val="0"/>
                        </a:spcBef>
                        <a:spcAft>
                          <a:spcPts val="0"/>
                        </a:spcAft>
                      </a:pPr>
                      <a:r>
                        <a:rPr sz="730" b="1">
                          <a:solidFill>
                            <a:srgbClr val="FFFFFF"/>
                          </a:solidFill>
                          <a:latin typeface="맑은 고딕"/>
                        </a:rPr>
                        <a:t>항목</a:t>
                      </a:r>
                    </a:p>
                  </a:txBody>
                  <a:tcPr>
                    <a:solidFill>
                      <a:srgbClr val="3B5AA8"/>
                    </a:solidFill>
                  </a:tcPr>
                </a:tc>
                <a:tc>
                  <a:txBody>
                    <a:bodyPr/>
                    <a:lstStyle/>
                    <a:p>
                      <a:pPr algn="l">
                        <a:lnSpc>
                          <a:spcPct val="95000"/>
                        </a:lnSpc>
                        <a:spcBef>
                          <a:spcPts val="0"/>
                        </a:spcBef>
                        <a:spcAft>
                          <a:spcPts val="0"/>
                        </a:spcAft>
                      </a:pPr>
                      <a:r>
                        <a:rPr sz="760" b="1">
                          <a:solidFill>
                            <a:srgbClr val="FFFFFF"/>
                          </a:solidFill>
                          <a:latin typeface="맑은 고딕"/>
                        </a:rPr>
                        <a:t>UC-03  AI 이상탐지 상세 및 근거 확인</a:t>
                      </a:r>
                    </a:p>
                  </a:txBody>
                  <a:tcPr>
                    <a:solidFill>
                      <a:srgbClr val="3B5AA8"/>
                    </a:solidFill>
                  </a:tcPr>
                </a:tc>
                <a:extLst>
                  <a:ext uri="{0D108BD9-81ED-4DB2-BD59-A6C34878D82A}">
                    <a16:rowId xmlns:a16="http://schemas.microsoft.com/office/drawing/2014/main" val="10000"/>
                  </a:ext>
                </a:extLst>
              </a:tr>
              <a:tr h="384048">
                <a:tc>
                  <a:txBody>
                    <a:bodyPr/>
                    <a:lstStyle/>
                    <a:p>
                      <a:pPr algn="ctr">
                        <a:lnSpc>
                          <a:spcPct val="95000"/>
                        </a:lnSpc>
                        <a:spcBef>
                          <a:spcPts val="0"/>
                        </a:spcBef>
                        <a:spcAft>
                          <a:spcPts val="0"/>
                        </a:spcAft>
                      </a:pPr>
                      <a:r>
                        <a:rPr sz="680" b="1">
                          <a:solidFill>
                            <a:srgbClr val="3B5AA8"/>
                          </a:solidFill>
                          <a:latin typeface="맑은 고딕"/>
                        </a:rPr>
                        <a:t>목적</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이상점수가 상승한 이유를 XAI 기여 요인과 과거 이력으로 해석해 대응 근거를 확보한다.</a:t>
                      </a:r>
                    </a:p>
                  </a:txBody>
                  <a:tcPr>
                    <a:solidFill>
                      <a:srgbClr val="FFFFFF"/>
                    </a:solidFill>
                  </a:tcPr>
                </a:tc>
                <a:extLst>
                  <a:ext uri="{0D108BD9-81ED-4DB2-BD59-A6C34878D82A}">
                    <a16:rowId xmlns:a16="http://schemas.microsoft.com/office/drawing/2014/main" val="10001"/>
                  </a:ext>
                </a:extLst>
              </a:tr>
              <a:tr h="164592">
                <a:tc rowSpan="2">
                  <a:txBody>
                    <a:bodyPr/>
                    <a:lstStyle/>
                    <a:p>
                      <a:pPr algn="ctr">
                        <a:lnSpc>
                          <a:spcPct val="95000"/>
                        </a:lnSpc>
                        <a:spcBef>
                          <a:spcPts val="0"/>
                        </a:spcBef>
                        <a:spcAft>
                          <a:spcPts val="0"/>
                        </a:spcAft>
                      </a:pPr>
                      <a:r>
                        <a:rPr sz="680" b="1">
                          <a:solidFill>
                            <a:srgbClr val="3B5AA8"/>
                          </a:solidFill>
                          <a:latin typeface="맑은 고딕"/>
                        </a:rPr>
                        <a:t>관련 액터</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주 액터: 연구·개발자, 운영자</a:t>
                      </a:r>
                    </a:p>
                  </a:txBody>
                  <a:tcPr>
                    <a:solidFill>
                      <a:srgbClr val="FFFFFF"/>
                    </a:solidFill>
                  </a:tcPr>
                </a:tc>
                <a:extLst>
                  <a:ext uri="{0D108BD9-81ED-4DB2-BD59-A6C34878D82A}">
                    <a16:rowId xmlns:a16="http://schemas.microsoft.com/office/drawing/2014/main" val="10002"/>
                  </a:ext>
                </a:extLst>
              </a:tr>
              <a:tr h="164592">
                <a:tc vMerge="1">
                  <a:txBody>
                    <a:bodyPr/>
                    <a:lstStyle/>
                    <a:p>
                      <a:pPr algn="ctr">
                        <a:lnSpc>
                          <a:spcPct val="95000"/>
                        </a:lnSpc>
                        <a:spcBef>
                          <a:spcPts val="0"/>
                        </a:spcBef>
                        <a:spcAft>
                          <a:spcPts val="0"/>
                        </a:spcAft>
                      </a:pPr>
                      <a:endParaRP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보조 액터: AI 추론 서버, DB, XAI 패널</a:t>
                      </a:r>
                    </a:p>
                  </a:txBody>
                  <a:tcPr>
                    <a:solidFill>
                      <a:srgbClr val="FFFFFF"/>
                    </a:solidFill>
                  </a:tcPr>
                </a:tc>
                <a:extLst>
                  <a:ext uri="{0D108BD9-81ED-4DB2-BD59-A6C34878D82A}">
                    <a16:rowId xmlns:a16="http://schemas.microsoft.com/office/drawing/2014/main" val="10003"/>
                  </a:ext>
                </a:extLst>
              </a:tr>
              <a:tr h="329184">
                <a:tc>
                  <a:txBody>
                    <a:bodyPr/>
                    <a:lstStyle/>
                    <a:p>
                      <a:pPr algn="ctr">
                        <a:lnSpc>
                          <a:spcPct val="95000"/>
                        </a:lnSpc>
                        <a:spcBef>
                          <a:spcPts val="0"/>
                        </a:spcBef>
                        <a:spcAft>
                          <a:spcPts val="0"/>
                        </a:spcAft>
                      </a:pPr>
                      <a:r>
                        <a:rPr sz="680" b="1">
                          <a:solidFill>
                            <a:srgbClr val="3B5AA8"/>
                          </a:solidFill>
                          <a:latin typeface="맑은 고딕"/>
                        </a:rPr>
                        <a:t>우선순위/중요도</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우선순위 P2 / 중요도 High / 이유: 단순 경고를 설명 가능한 판단으로 전환</a:t>
                      </a:r>
                    </a:p>
                  </a:txBody>
                  <a:tcPr>
                    <a:solidFill>
                      <a:srgbClr val="FFFFFF"/>
                    </a:solidFill>
                  </a:tcPr>
                </a:tc>
                <a:extLst>
                  <a:ext uri="{0D108BD9-81ED-4DB2-BD59-A6C34878D82A}">
                    <a16:rowId xmlns:a16="http://schemas.microsoft.com/office/drawing/2014/main" val="10004"/>
                  </a:ext>
                </a:extLst>
              </a:tr>
              <a:tr h="457200">
                <a:tc>
                  <a:txBody>
                    <a:bodyPr/>
                    <a:lstStyle/>
                    <a:p>
                      <a:pPr algn="ctr">
                        <a:lnSpc>
                          <a:spcPct val="95000"/>
                        </a:lnSpc>
                        <a:spcBef>
                          <a:spcPts val="0"/>
                        </a:spcBef>
                        <a:spcAft>
                          <a:spcPts val="0"/>
                        </a:spcAft>
                      </a:pPr>
                      <a:r>
                        <a:rPr sz="680" b="1">
                          <a:solidFill>
                            <a:srgbClr val="3B5AA8"/>
                          </a:solidFill>
                          <a:latin typeface="맑은 고딕"/>
                        </a:rPr>
                        <a:t>선행조건</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AI 추론 결과 저장, 이벤트 또는 점수 이력 존재, 선택 배터리의 세션 이력 조회 가능.</a:t>
                      </a:r>
                    </a:p>
                  </a:txBody>
                  <a:tcPr>
                    <a:solidFill>
                      <a:srgbClr val="FFFFFF"/>
                    </a:solidFill>
                  </a:tcPr>
                </a:tc>
                <a:extLst>
                  <a:ext uri="{0D108BD9-81ED-4DB2-BD59-A6C34878D82A}">
                    <a16:rowId xmlns:a16="http://schemas.microsoft.com/office/drawing/2014/main" val="10005"/>
                  </a:ext>
                </a:extLst>
              </a:tr>
              <a:tr h="320040">
                <a:tc>
                  <a:txBody>
                    <a:bodyPr/>
                    <a:lstStyle/>
                    <a:p>
                      <a:pPr algn="ctr">
                        <a:lnSpc>
                          <a:spcPct val="95000"/>
                        </a:lnSpc>
                        <a:spcBef>
                          <a:spcPts val="0"/>
                        </a:spcBef>
                        <a:spcAft>
                          <a:spcPts val="0"/>
                        </a:spcAft>
                      </a:pPr>
                      <a:r>
                        <a:rPr sz="680" b="1">
                          <a:solidFill>
                            <a:srgbClr val="3B5AA8"/>
                          </a:solidFill>
                          <a:latin typeface="맑은 고딕"/>
                        </a:rPr>
                        <a:t>트리거</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대시보드 이상점수 영역 또는 이상 탐지 관리 화면에서 이벤트 상세를 선택.</a:t>
                      </a:r>
                    </a:p>
                  </a:txBody>
                  <a:tcPr>
                    <a:solidFill>
                      <a:srgbClr val="FFFFFF"/>
                    </a:solidFill>
                  </a:tcPr>
                </a:tc>
                <a:extLst>
                  <a:ext uri="{0D108BD9-81ED-4DB2-BD59-A6C34878D82A}">
                    <a16:rowId xmlns:a16="http://schemas.microsoft.com/office/drawing/2014/main" val="10006"/>
                  </a:ext>
                </a:extLst>
              </a:tr>
              <a:tr h="896112">
                <a:tc>
                  <a:txBody>
                    <a:bodyPr/>
                    <a:lstStyle/>
                    <a:p>
                      <a:pPr algn="ctr">
                        <a:lnSpc>
                          <a:spcPct val="95000"/>
                        </a:lnSpc>
                        <a:spcBef>
                          <a:spcPts val="0"/>
                        </a:spcBef>
                        <a:spcAft>
                          <a:spcPts val="0"/>
                        </a:spcAft>
                      </a:pPr>
                      <a:r>
                        <a:rPr sz="680" b="1">
                          <a:solidFill>
                            <a:srgbClr val="3B5AA8"/>
                          </a:solidFill>
                          <a:latin typeface="맑은 고딕"/>
                        </a:rPr>
                        <a:t>기본 흐름</a:t>
                      </a:r>
                    </a:p>
                  </a:txBody>
                  <a:tcPr>
                    <a:solidFill>
                      <a:srgbClr val="E2EBFC"/>
                    </a:solidFill>
                  </a:tcPr>
                </a:tc>
                <a:tc>
                  <a:txBody>
                    <a:bodyPr/>
                    <a:lstStyle/>
                    <a:p>
                      <a:pPr algn="l">
                        <a:lnSpc>
                          <a:spcPct val="95000"/>
                        </a:lnSpc>
                        <a:spcBef>
                          <a:spcPts val="0"/>
                        </a:spcBef>
                        <a:spcAft>
                          <a:spcPts val="0"/>
                        </a:spcAft>
                      </a:pPr>
                      <a:r>
                        <a:rPr sz="640" b="0">
                          <a:solidFill>
                            <a:srgbClr val="232323"/>
                          </a:solidFill>
                          <a:latin typeface="맑은 고딕"/>
                        </a:rPr>
                        <a:t>1. 이상 탐지 관리 진입</a:t>
                      </a:r>
                    </a:p>
                    <a:p>
                      <a:pPr algn="l">
                        <a:lnSpc>
                          <a:spcPct val="95000"/>
                        </a:lnSpc>
                        <a:spcBef>
                          <a:spcPts val="0"/>
                        </a:spcBef>
                        <a:spcAft>
                          <a:spcPts val="0"/>
                        </a:spcAft>
                      </a:pPr>
                      <a:r>
                        <a:rPr sz="640" b="0">
                          <a:solidFill>
                            <a:srgbClr val="232323"/>
                          </a:solidFill>
                          <a:latin typeface="맑은 고딕"/>
                        </a:rPr>
                        <a:t>2. 활성 이상 이벤트 선택</a:t>
                      </a:r>
                    </a:p>
                    <a:p>
                      <a:pPr algn="l">
                        <a:lnSpc>
                          <a:spcPct val="95000"/>
                        </a:lnSpc>
                        <a:spcBef>
                          <a:spcPts val="0"/>
                        </a:spcBef>
                        <a:spcAft>
                          <a:spcPts val="0"/>
                        </a:spcAft>
                      </a:pPr>
                      <a:r>
                        <a:rPr sz="640" b="0">
                          <a:solidFill>
                            <a:srgbClr val="232323"/>
                          </a:solidFill>
                          <a:latin typeface="맑은 고딕"/>
                        </a:rPr>
                        <a:t>3. V_drop, dT/dt, gas_raw, pressure_raw 기여도 확인</a:t>
                      </a:r>
                    </a:p>
                    <a:p>
                      <a:pPr algn="l">
                        <a:lnSpc>
                          <a:spcPct val="95000"/>
                        </a:lnSpc>
                        <a:spcBef>
                          <a:spcPts val="0"/>
                        </a:spcBef>
                        <a:spcAft>
                          <a:spcPts val="0"/>
                        </a:spcAft>
                      </a:pPr>
                      <a:r>
                        <a:rPr sz="640" b="0">
                          <a:solidFill>
                            <a:srgbClr val="232323"/>
                          </a:solidFill>
                          <a:latin typeface="맑은 고딕"/>
                        </a:rPr>
                        <a:t>4. SOH/RUL·과거 세션과 비교</a:t>
                      </a:r>
                    </a:p>
                  </a:txBody>
                  <a:tcPr>
                    <a:solidFill>
                      <a:srgbClr val="FFFFFF"/>
                    </a:solidFill>
                  </a:tcPr>
                </a:tc>
                <a:extLst>
                  <a:ext uri="{0D108BD9-81ED-4DB2-BD59-A6C34878D82A}">
                    <a16:rowId xmlns:a16="http://schemas.microsoft.com/office/drawing/2014/main" val="10007"/>
                  </a:ext>
                </a:extLst>
              </a:tr>
              <a:tr h="658368">
                <a:tc>
                  <a:txBody>
                    <a:bodyPr/>
                    <a:lstStyle/>
                    <a:p>
                      <a:pPr algn="ctr">
                        <a:lnSpc>
                          <a:spcPct val="95000"/>
                        </a:lnSpc>
                        <a:spcBef>
                          <a:spcPts val="0"/>
                        </a:spcBef>
                        <a:spcAft>
                          <a:spcPts val="0"/>
                        </a:spcAft>
                      </a:pPr>
                      <a:r>
                        <a:rPr sz="680" b="1">
                          <a:solidFill>
                            <a:srgbClr val="3B5AA8"/>
                          </a:solidFill>
                          <a:latin typeface="맑은 고딕"/>
                        </a:rPr>
                        <a:t>대안/예외 흐름</a:t>
                      </a:r>
                    </a:p>
                  </a:txBody>
                  <a:tcPr>
                    <a:solidFill>
                      <a:srgbClr val="E2EBFC"/>
                    </a:solidFill>
                  </a:tcPr>
                </a:tc>
                <a:tc>
                  <a:txBody>
                    <a:bodyPr/>
                    <a:lstStyle/>
                    <a:p>
                      <a:pPr algn="l">
                        <a:lnSpc>
                          <a:spcPct val="95000"/>
                        </a:lnSpc>
                        <a:spcBef>
                          <a:spcPts val="0"/>
                        </a:spcBef>
                        <a:spcAft>
                          <a:spcPts val="0"/>
                        </a:spcAft>
                      </a:pPr>
                      <a:r>
                        <a:rPr sz="640" b="0">
                          <a:solidFill>
                            <a:srgbClr val="232323"/>
                          </a:solidFill>
                          <a:latin typeface="맑은 고딕"/>
                        </a:rPr>
                        <a:t>AI 서버 미응답: 모델 상태 확인불가 / 센서 미수집: 해당 특징 제외 / 이벤트 없음: 빈 상태 안내.</a:t>
                      </a:r>
                    </a:p>
                  </a:txBody>
                  <a:tcPr>
                    <a:solidFill>
                      <a:srgbClr val="FFFFFF"/>
                    </a:solidFill>
                  </a:tcPr>
                </a:tc>
                <a:extLst>
                  <a:ext uri="{0D108BD9-81ED-4DB2-BD59-A6C34878D82A}">
                    <a16:rowId xmlns:a16="http://schemas.microsoft.com/office/drawing/2014/main" val="10008"/>
                  </a:ext>
                </a:extLst>
              </a:tr>
              <a:tr h="411480">
                <a:tc>
                  <a:txBody>
                    <a:bodyPr/>
                    <a:lstStyle/>
                    <a:p>
                      <a:pPr algn="ctr">
                        <a:lnSpc>
                          <a:spcPct val="95000"/>
                        </a:lnSpc>
                        <a:spcBef>
                          <a:spcPts val="0"/>
                        </a:spcBef>
                        <a:spcAft>
                          <a:spcPts val="0"/>
                        </a:spcAft>
                      </a:pPr>
                      <a:r>
                        <a:rPr sz="680" b="1">
                          <a:solidFill>
                            <a:srgbClr val="3B5AA8"/>
                          </a:solidFill>
                          <a:latin typeface="맑은 고딕"/>
                        </a:rPr>
                        <a:t>후행조건</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사용자는 추가 관찰, 알림 확인, 릴레이 차단 여부를 판단할 설명 근거를 가진다.</a:t>
                      </a:r>
                    </a:p>
                  </a:txBody>
                  <a:tcPr>
                    <a:solidFill>
                      <a:srgbClr val="FFFFFF"/>
                    </a:solidFill>
                  </a:tcPr>
                </a:tc>
                <a:extLst>
                  <a:ext uri="{0D108BD9-81ED-4DB2-BD59-A6C34878D82A}">
                    <a16:rowId xmlns:a16="http://schemas.microsoft.com/office/drawing/2014/main" val="10009"/>
                  </a:ext>
                </a:extLst>
              </a:tr>
              <a:tr h="310896">
                <a:tc>
                  <a:txBody>
                    <a:bodyPr/>
                    <a:lstStyle/>
                    <a:p>
                      <a:pPr algn="ctr">
                        <a:lnSpc>
                          <a:spcPct val="95000"/>
                        </a:lnSpc>
                        <a:spcBef>
                          <a:spcPts val="0"/>
                        </a:spcBef>
                        <a:spcAft>
                          <a:spcPts val="0"/>
                        </a:spcAft>
                      </a:pPr>
                      <a:r>
                        <a:rPr sz="680" b="1">
                          <a:solidFill>
                            <a:srgbClr val="3B5AA8"/>
                          </a:solidFill>
                          <a:latin typeface="맑은 고딕"/>
                        </a:rPr>
                        <a:t>관련 데이터</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battery-anomaly-alerts, feature_contribution, anomaly_event, SOH/RUL summary</a:t>
                      </a:r>
                    </a:p>
                  </a:txBody>
                  <a:tcPr>
                    <a:solidFill>
                      <a:srgbClr val="FFFFFF"/>
                    </a:solidFill>
                  </a:tcPr>
                </a:tc>
                <a:extLst>
                  <a:ext uri="{0D108BD9-81ED-4DB2-BD59-A6C34878D82A}">
                    <a16:rowId xmlns:a16="http://schemas.microsoft.com/office/drawing/2014/main" val="10010"/>
                  </a:ext>
                </a:extLst>
              </a:tr>
              <a:tr h="310896">
                <a:tc>
                  <a:txBody>
                    <a:bodyPr/>
                    <a:lstStyle/>
                    <a:p>
                      <a:pPr algn="ctr">
                        <a:lnSpc>
                          <a:spcPct val="95000"/>
                        </a:lnSpc>
                        <a:spcBef>
                          <a:spcPts val="0"/>
                        </a:spcBef>
                        <a:spcAft>
                          <a:spcPts val="0"/>
                        </a:spcAft>
                      </a:pPr>
                      <a:r>
                        <a:rPr sz="680" b="1">
                          <a:solidFill>
                            <a:srgbClr val="3B5AA8"/>
                          </a:solidFill>
                          <a:latin typeface="맑은 고딕"/>
                        </a:rPr>
                        <a:t>추적 요구사항</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REQ-WEB-021~022, REQ-WEB-042~045</a:t>
                      </a:r>
                    </a:p>
                  </a:txBody>
                  <a:tcPr>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9728" y="0"/>
            <a:ext cx="3090672" cy="1115568"/>
          </a:xfrm>
          <a:prstGeom prst="rect">
            <a:avLst/>
          </a:prstGeom>
          <a:solidFill>
            <a:srgbClr val="3B5A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 y="539496"/>
            <a:ext cx="2578608" cy="91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73552" y="548640"/>
            <a:ext cx="5376672" cy="9144"/>
          </a:xfrm>
          <a:prstGeom prst="rect">
            <a:avLst/>
          </a:prstGeom>
          <a:solidFill>
            <a:srgbClr val="3B5A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37744" y="685800"/>
            <a:ext cx="2971800" cy="310896"/>
          </a:xfrm>
          <a:prstGeom prst="rect">
            <a:avLst/>
          </a:prstGeom>
          <a:noFill/>
        </p:spPr>
        <p:txBody>
          <a:bodyPr wrap="none">
            <a:spAutoFit/>
          </a:bodyPr>
          <a:lstStyle/>
          <a:p>
            <a:r>
              <a:rPr sz="1200" b="1">
                <a:solidFill>
                  <a:srgbClr val="FFFFFF"/>
                </a:solidFill>
                <a:latin typeface="맑은 고딕"/>
              </a:rPr>
              <a:t>| 유즈케이스 정의서</a:t>
            </a:r>
          </a:p>
        </p:txBody>
      </p:sp>
      <p:sp>
        <p:nvSpPr>
          <p:cNvPr id="7" name="TextBox 6"/>
          <p:cNvSpPr txBox="1"/>
          <p:nvPr/>
        </p:nvSpPr>
        <p:spPr>
          <a:xfrm>
            <a:off x="594360" y="1170432"/>
            <a:ext cx="7955279" cy="310896"/>
          </a:xfrm>
          <a:prstGeom prst="rect">
            <a:avLst/>
          </a:prstGeom>
          <a:noFill/>
        </p:spPr>
        <p:txBody>
          <a:bodyPr wrap="none" lIns="0">
            <a:spAutoFit/>
          </a:bodyPr>
          <a:lstStyle/>
          <a:p>
            <a:r>
              <a:rPr sz="1600" b="1">
                <a:solidFill>
                  <a:srgbClr val="3B5AA8"/>
                </a:solidFill>
                <a:latin typeface="맑은 고딕"/>
              </a:rPr>
              <a:t>알림 확인 및 릴레이 차단 대응</a:t>
            </a:r>
          </a:p>
        </p:txBody>
      </p:sp>
      <p:graphicFrame>
        <p:nvGraphicFramePr>
          <p:cNvPr id="9" name="Table 8"/>
          <p:cNvGraphicFramePr>
            <a:graphicFrameLocks noGrp="1"/>
          </p:cNvGraphicFramePr>
          <p:nvPr/>
        </p:nvGraphicFramePr>
        <p:xfrm>
          <a:off x="475488" y="1627632"/>
          <a:ext cx="8229600" cy="4711192"/>
        </p:xfrm>
        <a:graphic>
          <a:graphicData uri="http://schemas.openxmlformats.org/drawingml/2006/table">
            <a:tbl>
              <a:tblPr firstRow="1" bandRow="1">
                <a:tableStyleId>{5C22544A-7EE6-4342-B048-85BDC9FD1C3A}</a:tableStyleId>
              </a:tblPr>
              <a:tblGrid>
                <a:gridCol w="1207008">
                  <a:extLst>
                    <a:ext uri="{9D8B030D-6E8A-4147-A177-3AD203B41FA5}">
                      <a16:colId xmlns:a16="http://schemas.microsoft.com/office/drawing/2014/main" val="20000"/>
                    </a:ext>
                  </a:extLst>
                </a:gridCol>
                <a:gridCol w="7022592">
                  <a:extLst>
                    <a:ext uri="{9D8B030D-6E8A-4147-A177-3AD203B41FA5}">
                      <a16:colId xmlns:a16="http://schemas.microsoft.com/office/drawing/2014/main" val="20001"/>
                    </a:ext>
                  </a:extLst>
                </a:gridCol>
              </a:tblGrid>
              <a:tr h="256032">
                <a:tc>
                  <a:txBody>
                    <a:bodyPr/>
                    <a:lstStyle/>
                    <a:p>
                      <a:pPr algn="ctr">
                        <a:lnSpc>
                          <a:spcPct val="95000"/>
                        </a:lnSpc>
                        <a:spcBef>
                          <a:spcPts val="0"/>
                        </a:spcBef>
                        <a:spcAft>
                          <a:spcPts val="0"/>
                        </a:spcAft>
                      </a:pPr>
                      <a:r>
                        <a:rPr sz="730" b="1">
                          <a:solidFill>
                            <a:srgbClr val="FFFFFF"/>
                          </a:solidFill>
                          <a:latin typeface="맑은 고딕"/>
                        </a:rPr>
                        <a:t>항목</a:t>
                      </a:r>
                    </a:p>
                  </a:txBody>
                  <a:tcPr>
                    <a:solidFill>
                      <a:srgbClr val="3B5AA8"/>
                    </a:solidFill>
                  </a:tcPr>
                </a:tc>
                <a:tc>
                  <a:txBody>
                    <a:bodyPr/>
                    <a:lstStyle/>
                    <a:p>
                      <a:pPr algn="l">
                        <a:lnSpc>
                          <a:spcPct val="95000"/>
                        </a:lnSpc>
                        <a:spcBef>
                          <a:spcPts val="0"/>
                        </a:spcBef>
                        <a:spcAft>
                          <a:spcPts val="0"/>
                        </a:spcAft>
                      </a:pPr>
                      <a:r>
                        <a:rPr sz="760" b="1">
                          <a:solidFill>
                            <a:srgbClr val="FFFFFF"/>
                          </a:solidFill>
                          <a:latin typeface="맑은 고딕"/>
                        </a:rPr>
                        <a:t>UC-04  알림 확인 및 릴레이 차단 대응</a:t>
                      </a:r>
                    </a:p>
                  </a:txBody>
                  <a:tcPr>
                    <a:solidFill>
                      <a:srgbClr val="3B5AA8"/>
                    </a:solidFill>
                  </a:tcPr>
                </a:tc>
                <a:extLst>
                  <a:ext uri="{0D108BD9-81ED-4DB2-BD59-A6C34878D82A}">
                    <a16:rowId xmlns:a16="http://schemas.microsoft.com/office/drawing/2014/main" val="10000"/>
                  </a:ext>
                </a:extLst>
              </a:tr>
              <a:tr h="384048">
                <a:tc>
                  <a:txBody>
                    <a:bodyPr/>
                    <a:lstStyle/>
                    <a:p>
                      <a:pPr algn="ctr">
                        <a:lnSpc>
                          <a:spcPct val="95000"/>
                        </a:lnSpc>
                        <a:spcBef>
                          <a:spcPts val="0"/>
                        </a:spcBef>
                        <a:spcAft>
                          <a:spcPts val="0"/>
                        </a:spcAft>
                      </a:pPr>
                      <a:r>
                        <a:rPr sz="680" b="1">
                          <a:solidFill>
                            <a:srgbClr val="3B5AA8"/>
                          </a:solidFill>
                          <a:latin typeface="맑은 고딕"/>
                        </a:rPr>
                        <a:t>목적</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경고·위험 이벤트를 확인하고 필요한 경우 승인 절차를 거쳐 Kill-Switch를 실행한다.</a:t>
                      </a:r>
                    </a:p>
                  </a:txBody>
                  <a:tcPr>
                    <a:solidFill>
                      <a:srgbClr val="FFFFFF"/>
                    </a:solidFill>
                  </a:tcPr>
                </a:tc>
                <a:extLst>
                  <a:ext uri="{0D108BD9-81ED-4DB2-BD59-A6C34878D82A}">
                    <a16:rowId xmlns:a16="http://schemas.microsoft.com/office/drawing/2014/main" val="10001"/>
                  </a:ext>
                </a:extLst>
              </a:tr>
              <a:tr h="164592">
                <a:tc rowSpan="2">
                  <a:txBody>
                    <a:bodyPr/>
                    <a:lstStyle/>
                    <a:p>
                      <a:pPr algn="ctr">
                        <a:lnSpc>
                          <a:spcPct val="95000"/>
                        </a:lnSpc>
                        <a:spcBef>
                          <a:spcPts val="0"/>
                        </a:spcBef>
                        <a:spcAft>
                          <a:spcPts val="0"/>
                        </a:spcAft>
                      </a:pPr>
                      <a:r>
                        <a:rPr sz="680" b="1">
                          <a:solidFill>
                            <a:srgbClr val="3B5AA8"/>
                          </a:solidFill>
                          <a:latin typeface="맑은 고딕"/>
                        </a:rPr>
                        <a:t>관련 액터</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주 액터: 현장 운영자</a:t>
                      </a:r>
                    </a:p>
                  </a:txBody>
                  <a:tcPr>
                    <a:solidFill>
                      <a:srgbClr val="FFFFFF"/>
                    </a:solidFill>
                  </a:tcPr>
                </a:tc>
                <a:extLst>
                  <a:ext uri="{0D108BD9-81ED-4DB2-BD59-A6C34878D82A}">
                    <a16:rowId xmlns:a16="http://schemas.microsoft.com/office/drawing/2014/main" val="10002"/>
                  </a:ext>
                </a:extLst>
              </a:tr>
              <a:tr h="164592">
                <a:tc vMerge="1">
                  <a:txBody>
                    <a:bodyPr/>
                    <a:lstStyle/>
                    <a:p>
                      <a:pPr algn="ctr">
                        <a:lnSpc>
                          <a:spcPct val="95000"/>
                        </a:lnSpc>
                        <a:spcBef>
                          <a:spcPts val="0"/>
                        </a:spcBef>
                        <a:spcAft>
                          <a:spcPts val="0"/>
                        </a:spcAft>
                      </a:pPr>
                      <a:endParaRP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보조 액터: 알림 서버, Kakao API, 릴레이 컨트롤러, 감사 로그</a:t>
                      </a:r>
                    </a:p>
                  </a:txBody>
                  <a:tcPr>
                    <a:solidFill>
                      <a:srgbClr val="FFFFFF"/>
                    </a:solidFill>
                  </a:tcPr>
                </a:tc>
                <a:extLst>
                  <a:ext uri="{0D108BD9-81ED-4DB2-BD59-A6C34878D82A}">
                    <a16:rowId xmlns:a16="http://schemas.microsoft.com/office/drawing/2014/main" val="10003"/>
                  </a:ext>
                </a:extLst>
              </a:tr>
              <a:tr h="329184">
                <a:tc>
                  <a:txBody>
                    <a:bodyPr/>
                    <a:lstStyle/>
                    <a:p>
                      <a:pPr algn="ctr">
                        <a:lnSpc>
                          <a:spcPct val="95000"/>
                        </a:lnSpc>
                        <a:spcBef>
                          <a:spcPts val="0"/>
                        </a:spcBef>
                        <a:spcAft>
                          <a:spcPts val="0"/>
                        </a:spcAft>
                      </a:pPr>
                      <a:r>
                        <a:rPr sz="680" b="1">
                          <a:solidFill>
                            <a:srgbClr val="3B5AA8"/>
                          </a:solidFill>
                          <a:latin typeface="맑은 고딕"/>
                        </a:rPr>
                        <a:t>우선순위/중요도</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우선순위 P1 / 중요도 Critical / 이유: 안전 제어와 사고 예방에 직접 연결</a:t>
                      </a:r>
                    </a:p>
                  </a:txBody>
                  <a:tcPr>
                    <a:solidFill>
                      <a:srgbClr val="FFFFFF"/>
                    </a:solidFill>
                  </a:tcPr>
                </a:tc>
                <a:extLst>
                  <a:ext uri="{0D108BD9-81ED-4DB2-BD59-A6C34878D82A}">
                    <a16:rowId xmlns:a16="http://schemas.microsoft.com/office/drawing/2014/main" val="10004"/>
                  </a:ext>
                </a:extLst>
              </a:tr>
              <a:tr h="457200">
                <a:tc>
                  <a:txBody>
                    <a:bodyPr/>
                    <a:lstStyle/>
                    <a:p>
                      <a:pPr algn="ctr">
                        <a:lnSpc>
                          <a:spcPct val="95000"/>
                        </a:lnSpc>
                        <a:spcBef>
                          <a:spcPts val="0"/>
                        </a:spcBef>
                        <a:spcAft>
                          <a:spcPts val="0"/>
                        </a:spcAft>
                      </a:pPr>
                      <a:r>
                        <a:rPr sz="680" b="1">
                          <a:solidFill>
                            <a:srgbClr val="3B5AA8"/>
                          </a:solidFill>
                          <a:latin typeface="맑은 고딕"/>
                        </a:rPr>
                        <a:t>선행조건</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위험 이벤트 발생, 알림 수신 가능, 릴레이 제어 화면 접근 권한, 재인증 가능.</a:t>
                      </a:r>
                    </a:p>
                  </a:txBody>
                  <a:tcPr>
                    <a:solidFill>
                      <a:srgbClr val="FFFFFF"/>
                    </a:solidFill>
                  </a:tcPr>
                </a:tc>
                <a:extLst>
                  <a:ext uri="{0D108BD9-81ED-4DB2-BD59-A6C34878D82A}">
                    <a16:rowId xmlns:a16="http://schemas.microsoft.com/office/drawing/2014/main" val="10005"/>
                  </a:ext>
                </a:extLst>
              </a:tr>
              <a:tr h="320040">
                <a:tc>
                  <a:txBody>
                    <a:bodyPr/>
                    <a:lstStyle/>
                    <a:p>
                      <a:pPr algn="ctr">
                        <a:lnSpc>
                          <a:spcPct val="95000"/>
                        </a:lnSpc>
                        <a:spcBef>
                          <a:spcPts val="0"/>
                        </a:spcBef>
                        <a:spcAft>
                          <a:spcPts val="0"/>
                        </a:spcAft>
                      </a:pPr>
                      <a:r>
                        <a:rPr sz="680" b="1">
                          <a:solidFill>
                            <a:srgbClr val="3B5AA8"/>
                          </a:solidFill>
                          <a:latin typeface="맑은 고딕"/>
                        </a:rPr>
                        <a:t>트리거</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위험 알림 수신, 대시보드 릴레이 차단 버튼 클릭, Fail-Safe 자동 차단 발생.</a:t>
                      </a:r>
                    </a:p>
                  </a:txBody>
                  <a:tcPr>
                    <a:solidFill>
                      <a:srgbClr val="FFFFFF"/>
                    </a:solidFill>
                  </a:tcPr>
                </a:tc>
                <a:extLst>
                  <a:ext uri="{0D108BD9-81ED-4DB2-BD59-A6C34878D82A}">
                    <a16:rowId xmlns:a16="http://schemas.microsoft.com/office/drawing/2014/main" val="10006"/>
                  </a:ext>
                </a:extLst>
              </a:tr>
              <a:tr h="896112">
                <a:tc>
                  <a:txBody>
                    <a:bodyPr/>
                    <a:lstStyle/>
                    <a:p>
                      <a:pPr algn="ctr">
                        <a:lnSpc>
                          <a:spcPct val="95000"/>
                        </a:lnSpc>
                        <a:spcBef>
                          <a:spcPts val="0"/>
                        </a:spcBef>
                        <a:spcAft>
                          <a:spcPts val="0"/>
                        </a:spcAft>
                      </a:pPr>
                      <a:r>
                        <a:rPr sz="680" b="1">
                          <a:solidFill>
                            <a:srgbClr val="3B5AA8"/>
                          </a:solidFill>
                          <a:latin typeface="맑은 고딕"/>
                        </a:rPr>
                        <a:t>기본 흐름</a:t>
                      </a:r>
                    </a:p>
                  </a:txBody>
                  <a:tcPr>
                    <a:solidFill>
                      <a:srgbClr val="E2EBFC"/>
                    </a:solidFill>
                  </a:tcPr>
                </a:tc>
                <a:tc>
                  <a:txBody>
                    <a:bodyPr/>
                    <a:lstStyle/>
                    <a:p>
                      <a:pPr algn="l">
                        <a:lnSpc>
                          <a:spcPct val="95000"/>
                        </a:lnSpc>
                        <a:spcBef>
                          <a:spcPts val="0"/>
                        </a:spcBef>
                        <a:spcAft>
                          <a:spcPts val="0"/>
                        </a:spcAft>
                      </a:pPr>
                      <a:r>
                        <a:rPr sz="640" b="0">
                          <a:solidFill>
                            <a:srgbClr val="232323"/>
                          </a:solidFill>
                          <a:latin typeface="맑은 고딕"/>
                        </a:rPr>
                        <a:t>1. 인앱·카카오 알림 확인</a:t>
                      </a:r>
                    </a:p>
                    <a:p>
                      <a:pPr algn="l">
                        <a:lnSpc>
                          <a:spcPct val="95000"/>
                        </a:lnSpc>
                        <a:spcBef>
                          <a:spcPts val="0"/>
                        </a:spcBef>
                        <a:spcAft>
                          <a:spcPts val="0"/>
                        </a:spcAft>
                      </a:pPr>
                      <a:r>
                        <a:rPr sz="640" b="0">
                          <a:solidFill>
                            <a:srgbClr val="232323"/>
                          </a:solidFill>
                          <a:latin typeface="맑은 고딕"/>
                        </a:rPr>
                        <a:t>2. Ack와 SOP 확인</a:t>
                      </a:r>
                    </a:p>
                    <a:p>
                      <a:pPr algn="l">
                        <a:lnSpc>
                          <a:spcPct val="95000"/>
                        </a:lnSpc>
                        <a:spcBef>
                          <a:spcPts val="0"/>
                        </a:spcBef>
                        <a:spcAft>
                          <a:spcPts val="0"/>
                        </a:spcAft>
                      </a:pPr>
                      <a:r>
                        <a:rPr sz="640" b="0">
                          <a:solidFill>
                            <a:srgbClr val="232323"/>
                          </a:solidFill>
                          <a:latin typeface="맑은 고딕"/>
                        </a:rPr>
                        <a:t>3. 릴레이 제어 화면 진입</a:t>
                      </a:r>
                    </a:p>
                    <a:p>
                      <a:pPr algn="l">
                        <a:lnSpc>
                          <a:spcPct val="95000"/>
                        </a:lnSpc>
                        <a:spcBef>
                          <a:spcPts val="0"/>
                        </a:spcBef>
                        <a:spcAft>
                          <a:spcPts val="0"/>
                        </a:spcAft>
                      </a:pPr>
                      <a:r>
                        <a:rPr sz="640" b="0">
                          <a:solidFill>
                            <a:srgbClr val="232323"/>
                          </a:solidFill>
                          <a:latin typeface="맑은 고딕"/>
                        </a:rPr>
                        <a:t>4. 재인증·사유 입력 후 차단 또는 복구 실행</a:t>
                      </a:r>
                    </a:p>
                  </a:txBody>
                  <a:tcPr>
                    <a:solidFill>
                      <a:srgbClr val="FFFFFF"/>
                    </a:solidFill>
                  </a:tcPr>
                </a:tc>
                <a:extLst>
                  <a:ext uri="{0D108BD9-81ED-4DB2-BD59-A6C34878D82A}">
                    <a16:rowId xmlns:a16="http://schemas.microsoft.com/office/drawing/2014/main" val="10007"/>
                  </a:ext>
                </a:extLst>
              </a:tr>
              <a:tr h="658368">
                <a:tc>
                  <a:txBody>
                    <a:bodyPr/>
                    <a:lstStyle/>
                    <a:p>
                      <a:pPr algn="ctr">
                        <a:lnSpc>
                          <a:spcPct val="95000"/>
                        </a:lnSpc>
                        <a:spcBef>
                          <a:spcPts val="0"/>
                        </a:spcBef>
                        <a:spcAft>
                          <a:spcPts val="0"/>
                        </a:spcAft>
                      </a:pPr>
                      <a:r>
                        <a:rPr sz="680" b="1">
                          <a:solidFill>
                            <a:srgbClr val="3B5AA8"/>
                          </a:solidFill>
                          <a:latin typeface="맑은 고딕"/>
                        </a:rPr>
                        <a:t>대안/예외 흐름</a:t>
                      </a:r>
                    </a:p>
                  </a:txBody>
                  <a:tcPr>
                    <a:solidFill>
                      <a:srgbClr val="E2EBFC"/>
                    </a:solidFill>
                  </a:tcPr>
                </a:tc>
                <a:tc>
                  <a:txBody>
                    <a:bodyPr/>
                    <a:lstStyle/>
                    <a:p>
                      <a:pPr algn="l">
                        <a:lnSpc>
                          <a:spcPct val="95000"/>
                        </a:lnSpc>
                        <a:spcBef>
                          <a:spcPts val="0"/>
                        </a:spcBef>
                        <a:spcAft>
                          <a:spcPts val="0"/>
                        </a:spcAft>
                      </a:pPr>
                      <a:r>
                        <a:rPr sz="640" b="0">
                          <a:solidFill>
                            <a:srgbClr val="232323"/>
                          </a:solidFill>
                          <a:latin typeface="맑은 고딕"/>
                        </a:rPr>
                        <a:t>권한 부족: 제어 차단 / 사유 미입력: 실행 불가 / 자동 차단: 사유·점검 안내 모달 우선 표시.</a:t>
                      </a:r>
                    </a:p>
                  </a:txBody>
                  <a:tcPr>
                    <a:solidFill>
                      <a:srgbClr val="FFFFFF"/>
                    </a:solidFill>
                  </a:tcPr>
                </a:tc>
                <a:extLst>
                  <a:ext uri="{0D108BD9-81ED-4DB2-BD59-A6C34878D82A}">
                    <a16:rowId xmlns:a16="http://schemas.microsoft.com/office/drawing/2014/main" val="10008"/>
                  </a:ext>
                </a:extLst>
              </a:tr>
              <a:tr h="411480">
                <a:tc>
                  <a:txBody>
                    <a:bodyPr/>
                    <a:lstStyle/>
                    <a:p>
                      <a:pPr algn="ctr">
                        <a:lnSpc>
                          <a:spcPct val="95000"/>
                        </a:lnSpc>
                        <a:spcBef>
                          <a:spcPts val="0"/>
                        </a:spcBef>
                        <a:spcAft>
                          <a:spcPts val="0"/>
                        </a:spcAft>
                      </a:pPr>
                      <a:r>
                        <a:rPr sz="680" b="1">
                          <a:solidFill>
                            <a:srgbClr val="3B5AA8"/>
                          </a:solidFill>
                          <a:latin typeface="맑은 고딕"/>
                        </a:rPr>
                        <a:t>후행조건</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릴레이 상태가 갱신되고 알림 확인, 제어 결과, 사유가 이벤트·감사 이력에 남는다.</a:t>
                      </a:r>
                    </a:p>
                  </a:txBody>
                  <a:tcPr>
                    <a:solidFill>
                      <a:srgbClr val="FFFFFF"/>
                    </a:solidFill>
                  </a:tcPr>
                </a:tc>
                <a:extLst>
                  <a:ext uri="{0D108BD9-81ED-4DB2-BD59-A6C34878D82A}">
                    <a16:rowId xmlns:a16="http://schemas.microsoft.com/office/drawing/2014/main" val="10009"/>
                  </a:ext>
                </a:extLst>
              </a:tr>
              <a:tr h="310896">
                <a:tc>
                  <a:txBody>
                    <a:bodyPr/>
                    <a:lstStyle/>
                    <a:p>
                      <a:pPr algn="ctr">
                        <a:lnSpc>
                          <a:spcPct val="95000"/>
                        </a:lnSpc>
                        <a:spcBef>
                          <a:spcPts val="0"/>
                        </a:spcBef>
                        <a:spcAft>
                          <a:spcPts val="0"/>
                        </a:spcAft>
                      </a:pPr>
                      <a:r>
                        <a:rPr sz="680" b="1">
                          <a:solidFill>
                            <a:srgbClr val="3B5AA8"/>
                          </a:solidFill>
                          <a:latin typeface="맑은 고딕"/>
                        </a:rPr>
                        <a:t>관련 데이터</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notification, ack_status, relay_state, battery-events, audit_log</a:t>
                      </a:r>
                    </a:p>
                  </a:txBody>
                  <a:tcPr>
                    <a:solidFill>
                      <a:srgbClr val="FFFFFF"/>
                    </a:solidFill>
                  </a:tcPr>
                </a:tc>
                <a:extLst>
                  <a:ext uri="{0D108BD9-81ED-4DB2-BD59-A6C34878D82A}">
                    <a16:rowId xmlns:a16="http://schemas.microsoft.com/office/drawing/2014/main" val="10010"/>
                  </a:ext>
                </a:extLst>
              </a:tr>
              <a:tr h="310896">
                <a:tc>
                  <a:txBody>
                    <a:bodyPr/>
                    <a:lstStyle/>
                    <a:p>
                      <a:pPr algn="ctr">
                        <a:lnSpc>
                          <a:spcPct val="95000"/>
                        </a:lnSpc>
                        <a:spcBef>
                          <a:spcPts val="0"/>
                        </a:spcBef>
                        <a:spcAft>
                          <a:spcPts val="0"/>
                        </a:spcAft>
                      </a:pPr>
                      <a:r>
                        <a:rPr sz="680" b="1">
                          <a:solidFill>
                            <a:srgbClr val="3B5AA8"/>
                          </a:solidFill>
                          <a:latin typeface="맑은 고딕"/>
                        </a:rPr>
                        <a:t>추적 요구사항</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REQ-WEB-056~064, REQ-WEB-065~067</a:t>
                      </a:r>
                    </a:p>
                  </a:txBody>
                  <a:tcPr>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9728" y="0"/>
            <a:ext cx="3090672" cy="1115568"/>
          </a:xfrm>
          <a:prstGeom prst="rect">
            <a:avLst/>
          </a:prstGeom>
          <a:solidFill>
            <a:srgbClr val="3B5A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 y="539496"/>
            <a:ext cx="2578608" cy="91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73552" y="548640"/>
            <a:ext cx="5376672" cy="9144"/>
          </a:xfrm>
          <a:prstGeom prst="rect">
            <a:avLst/>
          </a:prstGeom>
          <a:solidFill>
            <a:srgbClr val="3B5A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37744" y="685800"/>
            <a:ext cx="2971800" cy="310896"/>
          </a:xfrm>
          <a:prstGeom prst="rect">
            <a:avLst/>
          </a:prstGeom>
          <a:noFill/>
        </p:spPr>
        <p:txBody>
          <a:bodyPr wrap="none">
            <a:spAutoFit/>
          </a:bodyPr>
          <a:lstStyle/>
          <a:p>
            <a:r>
              <a:rPr sz="1200" b="1">
                <a:solidFill>
                  <a:srgbClr val="FFFFFF"/>
                </a:solidFill>
                <a:latin typeface="맑은 고딕"/>
              </a:rPr>
              <a:t>| 유즈케이스 정의서</a:t>
            </a:r>
          </a:p>
        </p:txBody>
      </p:sp>
      <p:sp>
        <p:nvSpPr>
          <p:cNvPr id="7" name="TextBox 6"/>
          <p:cNvSpPr txBox="1"/>
          <p:nvPr/>
        </p:nvSpPr>
        <p:spPr>
          <a:xfrm>
            <a:off x="594360" y="1170432"/>
            <a:ext cx="7955279" cy="310896"/>
          </a:xfrm>
          <a:prstGeom prst="rect">
            <a:avLst/>
          </a:prstGeom>
          <a:noFill/>
        </p:spPr>
        <p:txBody>
          <a:bodyPr wrap="none" lIns="0">
            <a:spAutoFit/>
          </a:bodyPr>
          <a:lstStyle/>
          <a:p>
            <a:r>
              <a:rPr sz="1600" b="1">
                <a:solidFill>
                  <a:srgbClr val="3B5AA8"/>
                </a:solidFill>
                <a:latin typeface="맑은 고딕"/>
              </a:rPr>
              <a:t>추세·이벤트 이력 분석과 내보내기</a:t>
            </a:r>
          </a:p>
        </p:txBody>
      </p:sp>
      <p:graphicFrame>
        <p:nvGraphicFramePr>
          <p:cNvPr id="9" name="Table 8"/>
          <p:cNvGraphicFramePr>
            <a:graphicFrameLocks noGrp="1"/>
          </p:cNvGraphicFramePr>
          <p:nvPr/>
        </p:nvGraphicFramePr>
        <p:xfrm>
          <a:off x="475488" y="1627632"/>
          <a:ext cx="8229600" cy="4711192"/>
        </p:xfrm>
        <a:graphic>
          <a:graphicData uri="http://schemas.openxmlformats.org/drawingml/2006/table">
            <a:tbl>
              <a:tblPr firstRow="1" bandRow="1">
                <a:tableStyleId>{5C22544A-7EE6-4342-B048-85BDC9FD1C3A}</a:tableStyleId>
              </a:tblPr>
              <a:tblGrid>
                <a:gridCol w="1207008">
                  <a:extLst>
                    <a:ext uri="{9D8B030D-6E8A-4147-A177-3AD203B41FA5}">
                      <a16:colId xmlns:a16="http://schemas.microsoft.com/office/drawing/2014/main" val="20000"/>
                    </a:ext>
                  </a:extLst>
                </a:gridCol>
                <a:gridCol w="7022592">
                  <a:extLst>
                    <a:ext uri="{9D8B030D-6E8A-4147-A177-3AD203B41FA5}">
                      <a16:colId xmlns:a16="http://schemas.microsoft.com/office/drawing/2014/main" val="20001"/>
                    </a:ext>
                  </a:extLst>
                </a:gridCol>
              </a:tblGrid>
              <a:tr h="256032">
                <a:tc>
                  <a:txBody>
                    <a:bodyPr/>
                    <a:lstStyle/>
                    <a:p>
                      <a:pPr algn="ctr">
                        <a:lnSpc>
                          <a:spcPct val="95000"/>
                        </a:lnSpc>
                        <a:spcBef>
                          <a:spcPts val="0"/>
                        </a:spcBef>
                        <a:spcAft>
                          <a:spcPts val="0"/>
                        </a:spcAft>
                      </a:pPr>
                      <a:r>
                        <a:rPr sz="730" b="1">
                          <a:solidFill>
                            <a:srgbClr val="FFFFFF"/>
                          </a:solidFill>
                          <a:latin typeface="맑은 고딕"/>
                        </a:rPr>
                        <a:t>항목</a:t>
                      </a:r>
                    </a:p>
                  </a:txBody>
                  <a:tcPr>
                    <a:solidFill>
                      <a:srgbClr val="3B5AA8"/>
                    </a:solidFill>
                  </a:tcPr>
                </a:tc>
                <a:tc>
                  <a:txBody>
                    <a:bodyPr/>
                    <a:lstStyle/>
                    <a:p>
                      <a:pPr algn="l">
                        <a:lnSpc>
                          <a:spcPct val="95000"/>
                        </a:lnSpc>
                        <a:spcBef>
                          <a:spcPts val="0"/>
                        </a:spcBef>
                        <a:spcAft>
                          <a:spcPts val="0"/>
                        </a:spcAft>
                      </a:pPr>
                      <a:r>
                        <a:rPr sz="760" b="1">
                          <a:solidFill>
                            <a:srgbClr val="FFFFFF"/>
                          </a:solidFill>
                          <a:latin typeface="맑은 고딕"/>
                        </a:rPr>
                        <a:t>UC-05  추세·이벤트 이력 분석과 내보내기</a:t>
                      </a:r>
                    </a:p>
                  </a:txBody>
                  <a:tcPr>
                    <a:solidFill>
                      <a:srgbClr val="3B5AA8"/>
                    </a:solidFill>
                  </a:tcPr>
                </a:tc>
                <a:extLst>
                  <a:ext uri="{0D108BD9-81ED-4DB2-BD59-A6C34878D82A}">
                    <a16:rowId xmlns:a16="http://schemas.microsoft.com/office/drawing/2014/main" val="10000"/>
                  </a:ext>
                </a:extLst>
              </a:tr>
              <a:tr h="384048">
                <a:tc>
                  <a:txBody>
                    <a:bodyPr/>
                    <a:lstStyle/>
                    <a:p>
                      <a:pPr algn="ctr">
                        <a:lnSpc>
                          <a:spcPct val="95000"/>
                        </a:lnSpc>
                        <a:spcBef>
                          <a:spcPts val="0"/>
                        </a:spcBef>
                        <a:spcAft>
                          <a:spcPts val="0"/>
                        </a:spcAft>
                      </a:pPr>
                      <a:r>
                        <a:rPr sz="680" b="1">
                          <a:solidFill>
                            <a:srgbClr val="3B5AA8"/>
                          </a:solidFill>
                          <a:latin typeface="맑은 고딕"/>
                        </a:rPr>
                        <a:t>목적</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배터리별 측정 세션, 센서 추세, 이상 이벤트를 분석하고 보고용 자료로 내보낸다.</a:t>
                      </a:r>
                    </a:p>
                  </a:txBody>
                  <a:tcPr>
                    <a:solidFill>
                      <a:srgbClr val="FFFFFF"/>
                    </a:solidFill>
                  </a:tcPr>
                </a:tc>
                <a:extLst>
                  <a:ext uri="{0D108BD9-81ED-4DB2-BD59-A6C34878D82A}">
                    <a16:rowId xmlns:a16="http://schemas.microsoft.com/office/drawing/2014/main" val="10001"/>
                  </a:ext>
                </a:extLst>
              </a:tr>
              <a:tr h="164592">
                <a:tc rowSpan="2">
                  <a:txBody>
                    <a:bodyPr/>
                    <a:lstStyle/>
                    <a:p>
                      <a:pPr algn="ctr">
                        <a:lnSpc>
                          <a:spcPct val="95000"/>
                        </a:lnSpc>
                        <a:spcBef>
                          <a:spcPts val="0"/>
                        </a:spcBef>
                        <a:spcAft>
                          <a:spcPts val="0"/>
                        </a:spcAft>
                      </a:pPr>
                      <a:r>
                        <a:rPr sz="680" b="1">
                          <a:solidFill>
                            <a:srgbClr val="3B5AA8"/>
                          </a:solidFill>
                          <a:latin typeface="맑은 고딕"/>
                        </a:rPr>
                        <a:t>관련 액터</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주 액터: 연구·개발자, 일반 사용자</a:t>
                      </a:r>
                    </a:p>
                  </a:txBody>
                  <a:tcPr>
                    <a:solidFill>
                      <a:srgbClr val="FFFFFF"/>
                    </a:solidFill>
                  </a:tcPr>
                </a:tc>
                <a:extLst>
                  <a:ext uri="{0D108BD9-81ED-4DB2-BD59-A6C34878D82A}">
                    <a16:rowId xmlns:a16="http://schemas.microsoft.com/office/drawing/2014/main" val="10002"/>
                  </a:ext>
                </a:extLst>
              </a:tr>
              <a:tr h="164592">
                <a:tc vMerge="1">
                  <a:txBody>
                    <a:bodyPr/>
                    <a:lstStyle/>
                    <a:p>
                      <a:pPr algn="ctr">
                        <a:lnSpc>
                          <a:spcPct val="95000"/>
                        </a:lnSpc>
                        <a:spcBef>
                          <a:spcPts val="0"/>
                        </a:spcBef>
                        <a:spcAft>
                          <a:spcPts val="0"/>
                        </a:spcAft>
                      </a:pPr>
                      <a:endParaRP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보조 액터: 조회 API, 파일 생성 모듈, DB</a:t>
                      </a:r>
                    </a:p>
                  </a:txBody>
                  <a:tcPr>
                    <a:solidFill>
                      <a:srgbClr val="FFFFFF"/>
                    </a:solidFill>
                  </a:tcPr>
                </a:tc>
                <a:extLst>
                  <a:ext uri="{0D108BD9-81ED-4DB2-BD59-A6C34878D82A}">
                    <a16:rowId xmlns:a16="http://schemas.microsoft.com/office/drawing/2014/main" val="10003"/>
                  </a:ext>
                </a:extLst>
              </a:tr>
              <a:tr h="329184">
                <a:tc>
                  <a:txBody>
                    <a:bodyPr/>
                    <a:lstStyle/>
                    <a:p>
                      <a:pPr algn="ctr">
                        <a:lnSpc>
                          <a:spcPct val="95000"/>
                        </a:lnSpc>
                        <a:spcBef>
                          <a:spcPts val="0"/>
                        </a:spcBef>
                        <a:spcAft>
                          <a:spcPts val="0"/>
                        </a:spcAft>
                      </a:pPr>
                      <a:r>
                        <a:rPr sz="680" b="1">
                          <a:solidFill>
                            <a:srgbClr val="3B5AA8"/>
                          </a:solidFill>
                          <a:latin typeface="맑은 고딕"/>
                        </a:rPr>
                        <a:t>우선순위/중요도</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우선순위 P3 / 중요도 Medium / 이유: 실시간 대응 이후 분석·보고 품질을 높임</a:t>
                      </a:r>
                    </a:p>
                  </a:txBody>
                  <a:tcPr>
                    <a:solidFill>
                      <a:srgbClr val="FFFFFF"/>
                    </a:solidFill>
                  </a:tcPr>
                </a:tc>
                <a:extLst>
                  <a:ext uri="{0D108BD9-81ED-4DB2-BD59-A6C34878D82A}">
                    <a16:rowId xmlns:a16="http://schemas.microsoft.com/office/drawing/2014/main" val="10004"/>
                  </a:ext>
                </a:extLst>
              </a:tr>
              <a:tr h="457200">
                <a:tc>
                  <a:txBody>
                    <a:bodyPr/>
                    <a:lstStyle/>
                    <a:p>
                      <a:pPr algn="ctr">
                        <a:lnSpc>
                          <a:spcPct val="95000"/>
                        </a:lnSpc>
                        <a:spcBef>
                          <a:spcPts val="0"/>
                        </a:spcBef>
                        <a:spcAft>
                          <a:spcPts val="0"/>
                        </a:spcAft>
                      </a:pPr>
                      <a:r>
                        <a:rPr sz="680" b="1">
                          <a:solidFill>
                            <a:srgbClr val="3B5AA8"/>
                          </a:solidFill>
                          <a:latin typeface="맑은 고딕"/>
                        </a:rPr>
                        <a:t>선행조건</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저장된 측정 세션과 이벤트 이력 존재, 조회 기간·지표 선택 가능, 내보내기 권한 보유.</a:t>
                      </a:r>
                    </a:p>
                  </a:txBody>
                  <a:tcPr>
                    <a:solidFill>
                      <a:srgbClr val="FFFFFF"/>
                    </a:solidFill>
                  </a:tcPr>
                </a:tc>
                <a:extLst>
                  <a:ext uri="{0D108BD9-81ED-4DB2-BD59-A6C34878D82A}">
                    <a16:rowId xmlns:a16="http://schemas.microsoft.com/office/drawing/2014/main" val="10005"/>
                  </a:ext>
                </a:extLst>
              </a:tr>
              <a:tr h="320040">
                <a:tc>
                  <a:txBody>
                    <a:bodyPr/>
                    <a:lstStyle/>
                    <a:p>
                      <a:pPr algn="ctr">
                        <a:lnSpc>
                          <a:spcPct val="95000"/>
                        </a:lnSpc>
                        <a:spcBef>
                          <a:spcPts val="0"/>
                        </a:spcBef>
                        <a:spcAft>
                          <a:spcPts val="0"/>
                        </a:spcAft>
                      </a:pPr>
                      <a:r>
                        <a:rPr sz="680" b="1">
                          <a:solidFill>
                            <a:srgbClr val="3B5AA8"/>
                          </a:solidFill>
                          <a:latin typeface="맑은 고딕"/>
                        </a:rPr>
                        <a:t>트리거</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사용자가 추세 차트, 이벤트 이력, 배터리 상세에서 기간·지표·비교 대상을 선택.</a:t>
                      </a:r>
                    </a:p>
                  </a:txBody>
                  <a:tcPr>
                    <a:solidFill>
                      <a:srgbClr val="FFFFFF"/>
                    </a:solidFill>
                  </a:tcPr>
                </a:tc>
                <a:extLst>
                  <a:ext uri="{0D108BD9-81ED-4DB2-BD59-A6C34878D82A}">
                    <a16:rowId xmlns:a16="http://schemas.microsoft.com/office/drawing/2014/main" val="10006"/>
                  </a:ext>
                </a:extLst>
              </a:tr>
              <a:tr h="896112">
                <a:tc>
                  <a:txBody>
                    <a:bodyPr/>
                    <a:lstStyle/>
                    <a:p>
                      <a:pPr algn="ctr">
                        <a:lnSpc>
                          <a:spcPct val="95000"/>
                        </a:lnSpc>
                        <a:spcBef>
                          <a:spcPts val="0"/>
                        </a:spcBef>
                        <a:spcAft>
                          <a:spcPts val="0"/>
                        </a:spcAft>
                      </a:pPr>
                      <a:r>
                        <a:rPr sz="680" b="1">
                          <a:solidFill>
                            <a:srgbClr val="3B5AA8"/>
                          </a:solidFill>
                          <a:latin typeface="맑은 고딕"/>
                        </a:rPr>
                        <a:t>기본 흐름</a:t>
                      </a:r>
                    </a:p>
                  </a:txBody>
                  <a:tcPr>
                    <a:solidFill>
                      <a:srgbClr val="E2EBFC"/>
                    </a:solidFill>
                  </a:tcPr>
                </a:tc>
                <a:tc>
                  <a:txBody>
                    <a:bodyPr/>
                    <a:lstStyle/>
                    <a:p>
                      <a:pPr algn="l">
                        <a:lnSpc>
                          <a:spcPct val="95000"/>
                        </a:lnSpc>
                        <a:spcBef>
                          <a:spcPts val="0"/>
                        </a:spcBef>
                        <a:spcAft>
                          <a:spcPts val="0"/>
                        </a:spcAft>
                      </a:pPr>
                      <a:r>
                        <a:rPr sz="640" b="0">
                          <a:solidFill>
                            <a:srgbClr val="232323"/>
                          </a:solidFill>
                          <a:latin typeface="맑은 고딕"/>
                        </a:rPr>
                        <a:t>1. 기간과 지표 선택</a:t>
                      </a:r>
                    </a:p>
                    <a:p>
                      <a:pPr algn="l">
                        <a:lnSpc>
                          <a:spcPct val="95000"/>
                        </a:lnSpc>
                        <a:spcBef>
                          <a:spcPts val="0"/>
                        </a:spcBef>
                        <a:spcAft>
                          <a:spcPts val="0"/>
                        </a:spcAft>
                      </a:pPr>
                      <a:r>
                        <a:rPr sz="640" b="0">
                          <a:solidFill>
                            <a:srgbClr val="232323"/>
                          </a:solidFill>
                          <a:latin typeface="맑은 고딕"/>
                        </a:rPr>
                        <a:t>2. 배터리/세션 비교 추가</a:t>
                      </a:r>
                    </a:p>
                    <a:p>
                      <a:pPr algn="l">
                        <a:lnSpc>
                          <a:spcPct val="95000"/>
                        </a:lnSpc>
                        <a:spcBef>
                          <a:spcPts val="0"/>
                        </a:spcBef>
                        <a:spcAft>
                          <a:spcPts val="0"/>
                        </a:spcAft>
                      </a:pPr>
                      <a:r>
                        <a:rPr sz="640" b="0">
                          <a:solidFill>
                            <a:srgbClr val="232323"/>
                          </a:solidFill>
                          <a:latin typeface="맑은 고딕"/>
                        </a:rPr>
                        <a:t>3. 이벤트 검색·상태 필터·정렬 적용</a:t>
                      </a:r>
                    </a:p>
                    <a:p>
                      <a:pPr algn="l">
                        <a:lnSpc>
                          <a:spcPct val="95000"/>
                        </a:lnSpc>
                        <a:spcBef>
                          <a:spcPts val="0"/>
                        </a:spcBef>
                        <a:spcAft>
                          <a:spcPts val="0"/>
                        </a:spcAft>
                      </a:pPr>
                      <a:r>
                        <a:rPr sz="640" b="0">
                          <a:solidFill>
                            <a:srgbClr val="232323"/>
                          </a:solidFill>
                          <a:latin typeface="맑은 고딕"/>
                        </a:rPr>
                        <a:t>4. CSV 또는 PDF 내보내기 실행</a:t>
                      </a:r>
                    </a:p>
                  </a:txBody>
                  <a:tcPr>
                    <a:solidFill>
                      <a:srgbClr val="FFFFFF"/>
                    </a:solidFill>
                  </a:tcPr>
                </a:tc>
                <a:extLst>
                  <a:ext uri="{0D108BD9-81ED-4DB2-BD59-A6C34878D82A}">
                    <a16:rowId xmlns:a16="http://schemas.microsoft.com/office/drawing/2014/main" val="10007"/>
                  </a:ext>
                </a:extLst>
              </a:tr>
              <a:tr h="658368">
                <a:tc>
                  <a:txBody>
                    <a:bodyPr/>
                    <a:lstStyle/>
                    <a:p>
                      <a:pPr algn="ctr">
                        <a:lnSpc>
                          <a:spcPct val="95000"/>
                        </a:lnSpc>
                        <a:spcBef>
                          <a:spcPts val="0"/>
                        </a:spcBef>
                        <a:spcAft>
                          <a:spcPts val="0"/>
                        </a:spcAft>
                      </a:pPr>
                      <a:r>
                        <a:rPr sz="680" b="1">
                          <a:solidFill>
                            <a:srgbClr val="3B5AA8"/>
                          </a:solidFill>
                          <a:latin typeface="맑은 고딕"/>
                        </a:rPr>
                        <a:t>대안/예외 흐름</a:t>
                      </a:r>
                    </a:p>
                  </a:txBody>
                  <a:tcPr>
                    <a:solidFill>
                      <a:srgbClr val="E2EBFC"/>
                    </a:solidFill>
                  </a:tcPr>
                </a:tc>
                <a:tc>
                  <a:txBody>
                    <a:bodyPr/>
                    <a:lstStyle/>
                    <a:p>
                      <a:pPr algn="l">
                        <a:lnSpc>
                          <a:spcPct val="95000"/>
                        </a:lnSpc>
                        <a:spcBef>
                          <a:spcPts val="0"/>
                        </a:spcBef>
                        <a:spcAft>
                          <a:spcPts val="0"/>
                        </a:spcAft>
                      </a:pPr>
                      <a:r>
                        <a:rPr sz="640" b="0">
                          <a:solidFill>
                            <a:srgbClr val="232323"/>
                          </a:solidFill>
                          <a:latin typeface="맑은 고딕"/>
                        </a:rPr>
                        <a:t>데이터 없음: 빈 상태 안내 / 파일 생성 실패: 재시도 안내 / 조건 과다: 기간·대상 축소 안내.</a:t>
                      </a:r>
                    </a:p>
                  </a:txBody>
                  <a:tcPr>
                    <a:solidFill>
                      <a:srgbClr val="FFFFFF"/>
                    </a:solidFill>
                  </a:tcPr>
                </a:tc>
                <a:extLst>
                  <a:ext uri="{0D108BD9-81ED-4DB2-BD59-A6C34878D82A}">
                    <a16:rowId xmlns:a16="http://schemas.microsoft.com/office/drawing/2014/main" val="10008"/>
                  </a:ext>
                </a:extLst>
              </a:tr>
              <a:tr h="411480">
                <a:tc>
                  <a:txBody>
                    <a:bodyPr/>
                    <a:lstStyle/>
                    <a:p>
                      <a:pPr algn="ctr">
                        <a:lnSpc>
                          <a:spcPct val="95000"/>
                        </a:lnSpc>
                        <a:spcBef>
                          <a:spcPts val="0"/>
                        </a:spcBef>
                        <a:spcAft>
                          <a:spcPts val="0"/>
                        </a:spcAft>
                      </a:pPr>
                      <a:r>
                        <a:rPr sz="680" b="1">
                          <a:solidFill>
                            <a:srgbClr val="3B5AA8"/>
                          </a:solidFill>
                          <a:latin typeface="맑은 고딕"/>
                        </a:rPr>
                        <a:t>후행조건</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분석 결과와 내보내기 파일이 실험 보고, 장애 분석, 팀 공유 자료로 사용된다.</a:t>
                      </a:r>
                    </a:p>
                  </a:txBody>
                  <a:tcPr>
                    <a:solidFill>
                      <a:srgbClr val="FFFFFF"/>
                    </a:solidFill>
                  </a:tcPr>
                </a:tc>
                <a:extLst>
                  <a:ext uri="{0D108BD9-81ED-4DB2-BD59-A6C34878D82A}">
                    <a16:rowId xmlns:a16="http://schemas.microsoft.com/office/drawing/2014/main" val="10009"/>
                  </a:ext>
                </a:extLst>
              </a:tr>
              <a:tr h="310896">
                <a:tc>
                  <a:txBody>
                    <a:bodyPr/>
                    <a:lstStyle/>
                    <a:p>
                      <a:pPr algn="ctr">
                        <a:lnSpc>
                          <a:spcPct val="95000"/>
                        </a:lnSpc>
                        <a:spcBef>
                          <a:spcPts val="0"/>
                        </a:spcBef>
                        <a:spcAft>
                          <a:spcPts val="0"/>
                        </a:spcAft>
                      </a:pPr>
                      <a:r>
                        <a:rPr sz="680" b="1">
                          <a:solidFill>
                            <a:srgbClr val="3B5AA8"/>
                          </a:solidFill>
                          <a:latin typeface="맑은 고딕"/>
                        </a:rPr>
                        <a:t>관련 데이터</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time_series_metrics, event_history, filter_condition, export_file</a:t>
                      </a:r>
                    </a:p>
                  </a:txBody>
                  <a:tcPr>
                    <a:solidFill>
                      <a:srgbClr val="FFFFFF"/>
                    </a:solidFill>
                  </a:tcPr>
                </a:tc>
                <a:extLst>
                  <a:ext uri="{0D108BD9-81ED-4DB2-BD59-A6C34878D82A}">
                    <a16:rowId xmlns:a16="http://schemas.microsoft.com/office/drawing/2014/main" val="10010"/>
                  </a:ext>
                </a:extLst>
              </a:tr>
              <a:tr h="310896">
                <a:tc>
                  <a:txBody>
                    <a:bodyPr/>
                    <a:lstStyle/>
                    <a:p>
                      <a:pPr algn="ctr">
                        <a:lnSpc>
                          <a:spcPct val="95000"/>
                        </a:lnSpc>
                        <a:spcBef>
                          <a:spcPts val="0"/>
                        </a:spcBef>
                        <a:spcAft>
                          <a:spcPts val="0"/>
                        </a:spcAft>
                      </a:pPr>
                      <a:r>
                        <a:rPr sz="680" b="1">
                          <a:solidFill>
                            <a:srgbClr val="3B5AA8"/>
                          </a:solidFill>
                          <a:latin typeface="맑은 고딕"/>
                        </a:rPr>
                        <a:t>추적 요구사항</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REQ-WEB-040~041, REQ-WEB-046~055</a:t>
                      </a:r>
                    </a:p>
                  </a:txBody>
                  <a:tcPr>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9728" y="0"/>
            <a:ext cx="3090672" cy="1115568"/>
          </a:xfrm>
          <a:prstGeom prst="rect">
            <a:avLst/>
          </a:prstGeom>
          <a:solidFill>
            <a:srgbClr val="3B5A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 y="539496"/>
            <a:ext cx="2578608" cy="91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73552" y="548640"/>
            <a:ext cx="5376672" cy="9144"/>
          </a:xfrm>
          <a:prstGeom prst="rect">
            <a:avLst/>
          </a:prstGeom>
          <a:solidFill>
            <a:srgbClr val="3B5A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37744" y="685800"/>
            <a:ext cx="2971800" cy="310896"/>
          </a:xfrm>
          <a:prstGeom prst="rect">
            <a:avLst/>
          </a:prstGeom>
          <a:noFill/>
        </p:spPr>
        <p:txBody>
          <a:bodyPr wrap="none">
            <a:spAutoFit/>
          </a:bodyPr>
          <a:lstStyle/>
          <a:p>
            <a:r>
              <a:rPr sz="1200" b="1">
                <a:solidFill>
                  <a:srgbClr val="FFFFFF"/>
                </a:solidFill>
                <a:latin typeface="맑은 고딕"/>
              </a:rPr>
              <a:t>| 유즈케이스 정의서</a:t>
            </a:r>
          </a:p>
        </p:txBody>
      </p:sp>
      <p:sp>
        <p:nvSpPr>
          <p:cNvPr id="7" name="TextBox 6"/>
          <p:cNvSpPr txBox="1"/>
          <p:nvPr/>
        </p:nvSpPr>
        <p:spPr>
          <a:xfrm>
            <a:off x="594360" y="1170432"/>
            <a:ext cx="7955279" cy="310896"/>
          </a:xfrm>
          <a:prstGeom prst="rect">
            <a:avLst/>
          </a:prstGeom>
          <a:noFill/>
        </p:spPr>
        <p:txBody>
          <a:bodyPr wrap="none" lIns="0">
            <a:spAutoFit/>
          </a:bodyPr>
          <a:lstStyle/>
          <a:p>
            <a:r>
              <a:rPr sz="1600" b="1">
                <a:solidFill>
                  <a:srgbClr val="3B5AA8"/>
                </a:solidFill>
                <a:latin typeface="맑은 고딕"/>
              </a:rPr>
              <a:t>관리자 통합 관제 및 감사 추적</a:t>
            </a:r>
          </a:p>
        </p:txBody>
      </p:sp>
      <p:graphicFrame>
        <p:nvGraphicFramePr>
          <p:cNvPr id="9" name="Table 8"/>
          <p:cNvGraphicFramePr>
            <a:graphicFrameLocks noGrp="1"/>
          </p:cNvGraphicFramePr>
          <p:nvPr/>
        </p:nvGraphicFramePr>
        <p:xfrm>
          <a:off x="475488" y="1627632"/>
          <a:ext cx="8229600" cy="4711192"/>
        </p:xfrm>
        <a:graphic>
          <a:graphicData uri="http://schemas.openxmlformats.org/drawingml/2006/table">
            <a:tbl>
              <a:tblPr firstRow="1" bandRow="1">
                <a:tableStyleId>{5C22544A-7EE6-4342-B048-85BDC9FD1C3A}</a:tableStyleId>
              </a:tblPr>
              <a:tblGrid>
                <a:gridCol w="1207008">
                  <a:extLst>
                    <a:ext uri="{9D8B030D-6E8A-4147-A177-3AD203B41FA5}">
                      <a16:colId xmlns:a16="http://schemas.microsoft.com/office/drawing/2014/main" val="20000"/>
                    </a:ext>
                  </a:extLst>
                </a:gridCol>
                <a:gridCol w="7022592">
                  <a:extLst>
                    <a:ext uri="{9D8B030D-6E8A-4147-A177-3AD203B41FA5}">
                      <a16:colId xmlns:a16="http://schemas.microsoft.com/office/drawing/2014/main" val="20001"/>
                    </a:ext>
                  </a:extLst>
                </a:gridCol>
              </a:tblGrid>
              <a:tr h="256032">
                <a:tc>
                  <a:txBody>
                    <a:bodyPr/>
                    <a:lstStyle/>
                    <a:p>
                      <a:pPr algn="ctr">
                        <a:lnSpc>
                          <a:spcPct val="95000"/>
                        </a:lnSpc>
                        <a:spcBef>
                          <a:spcPts val="0"/>
                        </a:spcBef>
                        <a:spcAft>
                          <a:spcPts val="0"/>
                        </a:spcAft>
                      </a:pPr>
                      <a:r>
                        <a:rPr sz="730" b="1">
                          <a:solidFill>
                            <a:srgbClr val="FFFFFF"/>
                          </a:solidFill>
                          <a:latin typeface="맑은 고딕"/>
                        </a:rPr>
                        <a:t>항목</a:t>
                      </a:r>
                    </a:p>
                  </a:txBody>
                  <a:tcPr>
                    <a:solidFill>
                      <a:srgbClr val="3B5AA8"/>
                    </a:solidFill>
                  </a:tcPr>
                </a:tc>
                <a:tc>
                  <a:txBody>
                    <a:bodyPr/>
                    <a:lstStyle/>
                    <a:p>
                      <a:pPr algn="l">
                        <a:lnSpc>
                          <a:spcPct val="95000"/>
                        </a:lnSpc>
                        <a:spcBef>
                          <a:spcPts val="0"/>
                        </a:spcBef>
                        <a:spcAft>
                          <a:spcPts val="0"/>
                        </a:spcAft>
                      </a:pPr>
                      <a:r>
                        <a:rPr sz="760" b="1">
                          <a:solidFill>
                            <a:srgbClr val="FFFFFF"/>
                          </a:solidFill>
                          <a:latin typeface="맑은 고딕"/>
                        </a:rPr>
                        <a:t>UC-06  관리자 통합 관제 및 감사 추적</a:t>
                      </a:r>
                    </a:p>
                  </a:txBody>
                  <a:tcPr>
                    <a:solidFill>
                      <a:srgbClr val="3B5AA8"/>
                    </a:solidFill>
                  </a:tcPr>
                </a:tc>
                <a:extLst>
                  <a:ext uri="{0D108BD9-81ED-4DB2-BD59-A6C34878D82A}">
                    <a16:rowId xmlns:a16="http://schemas.microsoft.com/office/drawing/2014/main" val="10000"/>
                  </a:ext>
                </a:extLst>
              </a:tr>
              <a:tr h="384048">
                <a:tc>
                  <a:txBody>
                    <a:bodyPr/>
                    <a:lstStyle/>
                    <a:p>
                      <a:pPr algn="ctr">
                        <a:lnSpc>
                          <a:spcPct val="95000"/>
                        </a:lnSpc>
                        <a:spcBef>
                          <a:spcPts val="0"/>
                        </a:spcBef>
                        <a:spcAft>
                          <a:spcPts val="0"/>
                        </a:spcAft>
                      </a:pPr>
                      <a:r>
                        <a:rPr sz="680" b="1">
                          <a:solidFill>
                            <a:srgbClr val="3B5AA8"/>
                          </a:solidFill>
                          <a:latin typeface="맑은 고딕"/>
                        </a:rPr>
                        <a:t>목적</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전체 사용자·배터리·디바이스 상태를 통합 확인하고 운영 변경 이력을 감사 가능하게 남긴다.</a:t>
                      </a:r>
                    </a:p>
                  </a:txBody>
                  <a:tcPr>
                    <a:solidFill>
                      <a:srgbClr val="FFFFFF"/>
                    </a:solidFill>
                  </a:tcPr>
                </a:tc>
                <a:extLst>
                  <a:ext uri="{0D108BD9-81ED-4DB2-BD59-A6C34878D82A}">
                    <a16:rowId xmlns:a16="http://schemas.microsoft.com/office/drawing/2014/main" val="10001"/>
                  </a:ext>
                </a:extLst>
              </a:tr>
              <a:tr h="164592">
                <a:tc rowSpan="2">
                  <a:txBody>
                    <a:bodyPr/>
                    <a:lstStyle/>
                    <a:p>
                      <a:pPr algn="ctr">
                        <a:lnSpc>
                          <a:spcPct val="95000"/>
                        </a:lnSpc>
                        <a:spcBef>
                          <a:spcPts val="0"/>
                        </a:spcBef>
                        <a:spcAft>
                          <a:spcPts val="0"/>
                        </a:spcAft>
                      </a:pPr>
                      <a:r>
                        <a:rPr sz="680" b="1">
                          <a:solidFill>
                            <a:srgbClr val="3B5AA8"/>
                          </a:solidFill>
                          <a:latin typeface="맑은 고딕"/>
                        </a:rPr>
                        <a:t>관련 액터</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주 액터: 관리자</a:t>
                      </a:r>
                    </a:p>
                  </a:txBody>
                  <a:tcPr>
                    <a:solidFill>
                      <a:srgbClr val="FFFFFF"/>
                    </a:solidFill>
                  </a:tcPr>
                </a:tc>
                <a:extLst>
                  <a:ext uri="{0D108BD9-81ED-4DB2-BD59-A6C34878D82A}">
                    <a16:rowId xmlns:a16="http://schemas.microsoft.com/office/drawing/2014/main" val="10002"/>
                  </a:ext>
                </a:extLst>
              </a:tr>
              <a:tr h="164592">
                <a:tc vMerge="1">
                  <a:txBody>
                    <a:bodyPr/>
                    <a:lstStyle/>
                    <a:p>
                      <a:pPr algn="ctr">
                        <a:lnSpc>
                          <a:spcPct val="95000"/>
                        </a:lnSpc>
                        <a:spcBef>
                          <a:spcPts val="0"/>
                        </a:spcBef>
                        <a:spcAft>
                          <a:spcPts val="0"/>
                        </a:spcAft>
                      </a:pPr>
                      <a:endParaRP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보조 액터: RBAC, 사용자·배터리 관리 API, 시스템 헬스, audit_log</a:t>
                      </a:r>
                    </a:p>
                  </a:txBody>
                  <a:tcPr>
                    <a:solidFill>
                      <a:srgbClr val="FFFFFF"/>
                    </a:solidFill>
                  </a:tcPr>
                </a:tc>
                <a:extLst>
                  <a:ext uri="{0D108BD9-81ED-4DB2-BD59-A6C34878D82A}">
                    <a16:rowId xmlns:a16="http://schemas.microsoft.com/office/drawing/2014/main" val="10003"/>
                  </a:ext>
                </a:extLst>
              </a:tr>
              <a:tr h="329184">
                <a:tc>
                  <a:txBody>
                    <a:bodyPr/>
                    <a:lstStyle/>
                    <a:p>
                      <a:pPr algn="ctr">
                        <a:lnSpc>
                          <a:spcPct val="95000"/>
                        </a:lnSpc>
                        <a:spcBef>
                          <a:spcPts val="0"/>
                        </a:spcBef>
                        <a:spcAft>
                          <a:spcPts val="0"/>
                        </a:spcAft>
                      </a:pPr>
                      <a:r>
                        <a:rPr sz="680" b="1">
                          <a:solidFill>
                            <a:srgbClr val="3B5AA8"/>
                          </a:solidFill>
                          <a:latin typeface="맑은 고딕"/>
                        </a:rPr>
                        <a:t>우선순위/중요도</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우선순위 P2 / 중요도 High / 이유: 초기 운영 MVP의 관리·통제 기준</a:t>
                      </a:r>
                    </a:p>
                  </a:txBody>
                  <a:tcPr>
                    <a:solidFill>
                      <a:srgbClr val="FFFFFF"/>
                    </a:solidFill>
                  </a:tcPr>
                </a:tc>
                <a:extLst>
                  <a:ext uri="{0D108BD9-81ED-4DB2-BD59-A6C34878D82A}">
                    <a16:rowId xmlns:a16="http://schemas.microsoft.com/office/drawing/2014/main" val="10004"/>
                  </a:ext>
                </a:extLst>
              </a:tr>
              <a:tr h="457200">
                <a:tc>
                  <a:txBody>
                    <a:bodyPr/>
                    <a:lstStyle/>
                    <a:p>
                      <a:pPr algn="ctr">
                        <a:lnSpc>
                          <a:spcPct val="95000"/>
                        </a:lnSpc>
                        <a:spcBef>
                          <a:spcPts val="0"/>
                        </a:spcBef>
                        <a:spcAft>
                          <a:spcPts val="0"/>
                        </a:spcAft>
                      </a:pPr>
                      <a:r>
                        <a:rPr sz="680" b="1">
                          <a:solidFill>
                            <a:srgbClr val="3B5AA8"/>
                          </a:solidFill>
                          <a:latin typeface="맑은 고딕"/>
                        </a:rPr>
                        <a:t>선행조건</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ADMIN 권한 로그인, /admin/* 접근 검증 통과, 관리자 대시보드와 상세 조회 API 사용 가능.</a:t>
                      </a:r>
                    </a:p>
                  </a:txBody>
                  <a:tcPr>
                    <a:solidFill>
                      <a:srgbClr val="FFFFFF"/>
                    </a:solidFill>
                  </a:tcPr>
                </a:tc>
                <a:extLst>
                  <a:ext uri="{0D108BD9-81ED-4DB2-BD59-A6C34878D82A}">
                    <a16:rowId xmlns:a16="http://schemas.microsoft.com/office/drawing/2014/main" val="10005"/>
                  </a:ext>
                </a:extLst>
              </a:tr>
              <a:tr h="320040">
                <a:tc>
                  <a:txBody>
                    <a:bodyPr/>
                    <a:lstStyle/>
                    <a:p>
                      <a:pPr algn="ctr">
                        <a:lnSpc>
                          <a:spcPct val="95000"/>
                        </a:lnSpc>
                        <a:spcBef>
                          <a:spcPts val="0"/>
                        </a:spcBef>
                        <a:spcAft>
                          <a:spcPts val="0"/>
                        </a:spcAft>
                      </a:pPr>
                      <a:r>
                        <a:rPr sz="680" b="1">
                          <a:solidFill>
                            <a:srgbClr val="3B5AA8"/>
                          </a:solidFill>
                          <a:latin typeface="맑은 고딕"/>
                        </a:rPr>
                        <a:t>트리거</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관리자가 관리자 대시보드, 유저 관리, 배터리 관리, 감사 로그 메뉴에 진입.</a:t>
                      </a:r>
                    </a:p>
                  </a:txBody>
                  <a:tcPr>
                    <a:solidFill>
                      <a:srgbClr val="FFFFFF"/>
                    </a:solidFill>
                  </a:tcPr>
                </a:tc>
                <a:extLst>
                  <a:ext uri="{0D108BD9-81ED-4DB2-BD59-A6C34878D82A}">
                    <a16:rowId xmlns:a16="http://schemas.microsoft.com/office/drawing/2014/main" val="10006"/>
                  </a:ext>
                </a:extLst>
              </a:tr>
              <a:tr h="896112">
                <a:tc>
                  <a:txBody>
                    <a:bodyPr/>
                    <a:lstStyle/>
                    <a:p>
                      <a:pPr algn="ctr">
                        <a:lnSpc>
                          <a:spcPct val="95000"/>
                        </a:lnSpc>
                        <a:spcBef>
                          <a:spcPts val="0"/>
                        </a:spcBef>
                        <a:spcAft>
                          <a:spcPts val="0"/>
                        </a:spcAft>
                      </a:pPr>
                      <a:r>
                        <a:rPr sz="680" b="1">
                          <a:solidFill>
                            <a:srgbClr val="3B5AA8"/>
                          </a:solidFill>
                          <a:latin typeface="맑은 고딕"/>
                        </a:rPr>
                        <a:t>기본 흐름</a:t>
                      </a:r>
                    </a:p>
                  </a:txBody>
                  <a:tcPr>
                    <a:solidFill>
                      <a:srgbClr val="E2EBFC"/>
                    </a:solidFill>
                  </a:tcPr>
                </a:tc>
                <a:tc>
                  <a:txBody>
                    <a:bodyPr/>
                    <a:lstStyle/>
                    <a:p>
                      <a:pPr algn="l">
                        <a:lnSpc>
                          <a:spcPct val="95000"/>
                        </a:lnSpc>
                        <a:spcBef>
                          <a:spcPts val="0"/>
                        </a:spcBef>
                        <a:spcAft>
                          <a:spcPts val="0"/>
                        </a:spcAft>
                      </a:pPr>
                      <a:r>
                        <a:rPr sz="640" b="0">
                          <a:solidFill>
                            <a:srgbClr val="232323"/>
                          </a:solidFill>
                          <a:latin typeface="맑은 고딕"/>
                        </a:rPr>
                        <a:t>1. 전체 요약 카드 확인</a:t>
                      </a:r>
                    </a:p>
                    <a:p>
                      <a:pPr algn="l">
                        <a:lnSpc>
                          <a:spcPct val="95000"/>
                        </a:lnSpc>
                        <a:spcBef>
                          <a:spcPts val="0"/>
                        </a:spcBef>
                        <a:spcAft>
                          <a:spcPts val="0"/>
                        </a:spcAft>
                      </a:pPr>
                      <a:r>
                        <a:rPr sz="640" b="0">
                          <a:solidFill>
                            <a:srgbClr val="232323"/>
                          </a:solidFill>
                          <a:latin typeface="맑은 고딕"/>
                        </a:rPr>
                        <a:t>2. 위험 배터리·오프라인 디바이스·최근 조작 확인</a:t>
                      </a:r>
                    </a:p>
                    <a:p>
                      <a:pPr algn="l">
                        <a:lnSpc>
                          <a:spcPct val="95000"/>
                        </a:lnSpc>
                        <a:spcBef>
                          <a:spcPts val="0"/>
                        </a:spcBef>
                        <a:spcAft>
                          <a:spcPts val="0"/>
                        </a:spcAft>
                      </a:pPr>
                      <a:r>
                        <a:rPr sz="640" b="0">
                          <a:solidFill>
                            <a:srgbClr val="232323"/>
                          </a:solidFill>
                          <a:latin typeface="맑은 고딕"/>
                        </a:rPr>
                        <a:t>3. 유저/배터리 상세 조회와 상태 변경</a:t>
                      </a:r>
                    </a:p>
                    <a:p>
                      <a:pPr algn="l">
                        <a:lnSpc>
                          <a:spcPct val="95000"/>
                        </a:lnSpc>
                        <a:spcBef>
                          <a:spcPts val="0"/>
                        </a:spcBef>
                        <a:spcAft>
                          <a:spcPts val="0"/>
                        </a:spcAft>
                      </a:pPr>
                      <a:r>
                        <a:rPr sz="640" b="0">
                          <a:solidFill>
                            <a:srgbClr val="232323"/>
                          </a:solidFill>
                          <a:latin typeface="맑은 고딕"/>
                        </a:rPr>
                        <a:t>4. 감사 로그에서 변경 전후 값과 사유 확인</a:t>
                      </a:r>
                    </a:p>
                  </a:txBody>
                  <a:tcPr>
                    <a:solidFill>
                      <a:srgbClr val="FFFFFF"/>
                    </a:solidFill>
                  </a:tcPr>
                </a:tc>
                <a:extLst>
                  <a:ext uri="{0D108BD9-81ED-4DB2-BD59-A6C34878D82A}">
                    <a16:rowId xmlns:a16="http://schemas.microsoft.com/office/drawing/2014/main" val="10007"/>
                  </a:ext>
                </a:extLst>
              </a:tr>
              <a:tr h="658368">
                <a:tc>
                  <a:txBody>
                    <a:bodyPr/>
                    <a:lstStyle/>
                    <a:p>
                      <a:pPr algn="ctr">
                        <a:lnSpc>
                          <a:spcPct val="95000"/>
                        </a:lnSpc>
                        <a:spcBef>
                          <a:spcPts val="0"/>
                        </a:spcBef>
                        <a:spcAft>
                          <a:spcPts val="0"/>
                        </a:spcAft>
                      </a:pPr>
                      <a:r>
                        <a:rPr sz="680" b="1">
                          <a:solidFill>
                            <a:srgbClr val="3B5AA8"/>
                          </a:solidFill>
                          <a:latin typeface="맑은 고딕"/>
                        </a:rPr>
                        <a:t>대안/예외 흐름</a:t>
                      </a:r>
                    </a:p>
                  </a:txBody>
                  <a:tcPr>
                    <a:solidFill>
                      <a:srgbClr val="E2EBFC"/>
                    </a:solidFill>
                  </a:tcPr>
                </a:tc>
                <a:tc>
                  <a:txBody>
                    <a:bodyPr/>
                    <a:lstStyle/>
                    <a:p>
                      <a:pPr algn="l">
                        <a:lnSpc>
                          <a:spcPct val="95000"/>
                        </a:lnSpc>
                        <a:spcBef>
                          <a:spcPts val="0"/>
                        </a:spcBef>
                        <a:spcAft>
                          <a:spcPts val="0"/>
                        </a:spcAft>
                      </a:pPr>
                      <a:r>
                        <a:rPr sz="640" b="0">
                          <a:solidFill>
                            <a:srgbClr val="232323"/>
                          </a:solidFill>
                          <a:latin typeface="맑은 고딕"/>
                        </a:rPr>
                        <a:t>권한 없음: 접근 거부 및 감사 기록 / BLOCKED 변경: 사유 필수 / 감사 로그: 수정·삭제 차단.</a:t>
                      </a:r>
                    </a:p>
                  </a:txBody>
                  <a:tcPr>
                    <a:solidFill>
                      <a:srgbClr val="FFFFFF"/>
                    </a:solidFill>
                  </a:tcPr>
                </a:tc>
                <a:extLst>
                  <a:ext uri="{0D108BD9-81ED-4DB2-BD59-A6C34878D82A}">
                    <a16:rowId xmlns:a16="http://schemas.microsoft.com/office/drawing/2014/main" val="10008"/>
                  </a:ext>
                </a:extLst>
              </a:tr>
              <a:tr h="411480">
                <a:tc>
                  <a:txBody>
                    <a:bodyPr/>
                    <a:lstStyle/>
                    <a:p>
                      <a:pPr algn="ctr">
                        <a:lnSpc>
                          <a:spcPct val="95000"/>
                        </a:lnSpc>
                        <a:spcBef>
                          <a:spcPts val="0"/>
                        </a:spcBef>
                        <a:spcAft>
                          <a:spcPts val="0"/>
                        </a:spcAft>
                      </a:pPr>
                      <a:r>
                        <a:rPr sz="680" b="1">
                          <a:solidFill>
                            <a:srgbClr val="3B5AA8"/>
                          </a:solidFill>
                          <a:latin typeface="맑은 고딕"/>
                        </a:rPr>
                        <a:t>후행조건</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운영 상태, 관리자 메모, 계정 변경 내역이 감사 가능한 기록으로 보존된다.</a:t>
                      </a:r>
                    </a:p>
                  </a:txBody>
                  <a:tcPr>
                    <a:solidFill>
                      <a:srgbClr val="FFFFFF"/>
                    </a:solidFill>
                  </a:tcPr>
                </a:tc>
                <a:extLst>
                  <a:ext uri="{0D108BD9-81ED-4DB2-BD59-A6C34878D82A}">
                    <a16:rowId xmlns:a16="http://schemas.microsoft.com/office/drawing/2014/main" val="10009"/>
                  </a:ext>
                </a:extLst>
              </a:tr>
              <a:tr h="310896">
                <a:tc>
                  <a:txBody>
                    <a:bodyPr/>
                    <a:lstStyle/>
                    <a:p>
                      <a:pPr algn="ctr">
                        <a:lnSpc>
                          <a:spcPct val="95000"/>
                        </a:lnSpc>
                        <a:spcBef>
                          <a:spcPts val="0"/>
                        </a:spcBef>
                        <a:spcAft>
                          <a:spcPts val="0"/>
                        </a:spcAft>
                      </a:pPr>
                      <a:r>
                        <a:rPr sz="680" b="1">
                          <a:solidFill>
                            <a:srgbClr val="3B5AA8"/>
                          </a:solidFill>
                          <a:latin typeface="맑은 고딕"/>
                        </a:rPr>
                        <a:t>관련 데이터</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admin_user, battery_operation_status, device_health, system_health, audit_log</a:t>
                      </a:r>
                    </a:p>
                  </a:txBody>
                  <a:tcPr>
                    <a:solidFill>
                      <a:srgbClr val="FFFFFF"/>
                    </a:solidFill>
                  </a:tcPr>
                </a:tc>
                <a:extLst>
                  <a:ext uri="{0D108BD9-81ED-4DB2-BD59-A6C34878D82A}">
                    <a16:rowId xmlns:a16="http://schemas.microsoft.com/office/drawing/2014/main" val="10010"/>
                  </a:ext>
                </a:extLst>
              </a:tr>
              <a:tr h="310896">
                <a:tc>
                  <a:txBody>
                    <a:bodyPr/>
                    <a:lstStyle/>
                    <a:p>
                      <a:pPr algn="ctr">
                        <a:lnSpc>
                          <a:spcPct val="95000"/>
                        </a:lnSpc>
                        <a:spcBef>
                          <a:spcPts val="0"/>
                        </a:spcBef>
                        <a:spcAft>
                          <a:spcPts val="0"/>
                        </a:spcAft>
                      </a:pPr>
                      <a:r>
                        <a:rPr sz="680" b="1">
                          <a:solidFill>
                            <a:srgbClr val="3B5AA8"/>
                          </a:solidFill>
                          <a:latin typeface="맑은 고딕"/>
                        </a:rPr>
                        <a:t>추적 요구사항</a:t>
                      </a:r>
                    </a:p>
                  </a:txBody>
                  <a:tcPr>
                    <a:solidFill>
                      <a:srgbClr val="E2EBFC"/>
                    </a:solidFill>
                  </a:tcPr>
                </a:tc>
                <a:tc>
                  <a:txBody>
                    <a:bodyPr/>
                    <a:lstStyle/>
                    <a:p>
                      <a:pPr algn="l">
                        <a:lnSpc>
                          <a:spcPct val="95000"/>
                        </a:lnSpc>
                        <a:spcBef>
                          <a:spcPts val="0"/>
                        </a:spcBef>
                        <a:spcAft>
                          <a:spcPts val="0"/>
                        </a:spcAft>
                      </a:pPr>
                      <a:r>
                        <a:rPr sz="670" b="0">
                          <a:solidFill>
                            <a:srgbClr val="232323"/>
                          </a:solidFill>
                          <a:latin typeface="맑은 고딕"/>
                        </a:rPr>
                        <a:t>REQ-WEB-101~126, REQ-WEB-133~136</a:t>
                      </a:r>
                    </a:p>
                  </a:txBody>
                  <a:tcPr>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직사각형 20"/>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2" name="직선 연결선 21"/>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직선 연결선 24"/>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pic>
        <p:nvPicPr>
          <p:cNvPr id="30" name="Picture 2"/>
          <p:cNvPicPr>
            <a:picLocks noChangeAspect="1" noChangeArrowheads="1"/>
          </p:cNvPicPr>
          <p:nvPr/>
        </p:nvPicPr>
        <p:blipFill>
          <a:blip r:embed="rId3" cstate="print"/>
          <a:srcRect/>
          <a:stretch>
            <a:fillRect/>
          </a:stretch>
        </p:blipFill>
        <p:spPr bwMode="auto">
          <a:xfrm>
            <a:off x="8676456" y="476671"/>
            <a:ext cx="454960" cy="158965"/>
          </a:xfrm>
          <a:prstGeom prst="rect">
            <a:avLst/>
          </a:prstGeom>
          <a:noFill/>
          <a:ln w="9525">
            <a:noFill/>
            <a:miter lim="800000"/>
            <a:headEnd/>
            <a:tailEnd/>
          </a:ln>
        </p:spPr>
      </p:pic>
      <p:sp>
        <p:nvSpPr>
          <p:cNvPr id="32" name="막힌 원호 31"/>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 name="직사각형 2">
            <a:extLst>
              <a:ext uri="{FF2B5EF4-FFF2-40B4-BE49-F238E27FC236}">
                <a16:creationId xmlns:a16="http://schemas.microsoft.com/office/drawing/2014/main" id="{E9BCB1CE-2DD6-40DC-A0F7-0303DCBC1F92}"/>
              </a:ext>
            </a:extLst>
          </p:cNvPr>
          <p:cNvSpPr/>
          <p:nvPr/>
        </p:nvSpPr>
        <p:spPr>
          <a:xfrm>
            <a:off x="222256" y="1176830"/>
            <a:ext cx="8742232" cy="5348513"/>
          </a:xfrm>
          <a:prstGeom prst="rect">
            <a:avLst/>
          </a:prstGeom>
          <a:noFill/>
          <a:ln>
            <a:solidFill>
              <a:schemeClr val="accent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b="1" dirty="0">
              <a:solidFill>
                <a:schemeClr val="tx1"/>
              </a:solidFill>
            </a:endParaRPr>
          </a:p>
        </p:txBody>
      </p:sp>
      <p:pic>
        <p:nvPicPr>
          <p:cNvPr id="2" name="그림 1">
            <a:extLst>
              <a:ext uri="{FF2B5EF4-FFF2-40B4-BE49-F238E27FC236}">
                <a16:creationId xmlns:a16="http://schemas.microsoft.com/office/drawing/2014/main" id="{BC05F760-5A43-8BEB-E2CD-64E1D6F25B5B}"/>
              </a:ext>
            </a:extLst>
          </p:cNvPr>
          <p:cNvPicPr>
            <a:picLocks noChangeAspect="1"/>
          </p:cNvPicPr>
          <p:nvPr/>
        </p:nvPicPr>
        <p:blipFill>
          <a:blip r:embed="rId4"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4" name="제목 12">
            <a:extLst>
              <a:ext uri="{FF2B5EF4-FFF2-40B4-BE49-F238E27FC236}">
                <a16:creationId xmlns:a16="http://schemas.microsoft.com/office/drawing/2014/main" id="{7ADB48A4-E2D1-87A1-7382-1F1A160B2A07}"/>
              </a:ext>
            </a:extLst>
          </p:cNvPr>
          <p:cNvSpPr txBox="1">
            <a:spLocks/>
          </p:cNvSpPr>
          <p:nvPr/>
        </p:nvSpPr>
        <p:spPr>
          <a:xfrm>
            <a:off x="323528" y="692697"/>
            <a:ext cx="2952328" cy="272474"/>
          </a:xfrm>
          <a:prstGeom prst="rect">
            <a:avLst/>
          </a:prstGeom>
        </p:spPr>
        <p:txBody>
          <a:bodyPr vert="horz" lIns="91440" tIns="45720" rIns="91440" bIns="45720" rtlCol="0" anchor="t">
            <a:noAutofit/>
          </a:bodyPr>
          <a:lstStyle/>
          <a:p>
            <a:pPr>
              <a:spcBef>
                <a:spcPct val="0"/>
              </a:spcBef>
              <a:defRPr/>
            </a:pPr>
            <a:r>
              <a:rPr kumimoji="0" lang="en-US" altLang="ko-KR" sz="1700" b="1" i="0" u="none" strike="noStrike" kern="1200" cap="none" spc="0" normalizeH="0" baseline="0" noProof="0" dirty="0">
                <a:ln>
                  <a:noFill/>
                </a:ln>
                <a:solidFill>
                  <a:schemeClr val="bg1"/>
                </a:solidFill>
                <a:effectLst/>
                <a:uLnTx/>
                <a:uFillTx/>
                <a:latin typeface="+mn-ea"/>
                <a:cs typeface="+mj-cs"/>
              </a:rPr>
              <a:t>| </a:t>
            </a:r>
            <a:r>
              <a:rPr lang="ko-KR" altLang="en-US" sz="1700" b="1" dirty="0">
                <a:solidFill>
                  <a:schemeClr val="bg1"/>
                </a:solidFill>
                <a:latin typeface="+mn-ea"/>
                <a:cs typeface="+mj-cs"/>
              </a:rPr>
              <a:t>서비스 구성도</a:t>
            </a:r>
            <a:r>
              <a:rPr lang="en-US" altLang="ko-KR" sz="1000" b="1" dirty="0">
                <a:solidFill>
                  <a:schemeClr val="bg1"/>
                </a:solidFill>
                <a:latin typeface="+mn-ea"/>
                <a:cs typeface="+mj-cs"/>
              </a:rPr>
              <a:t> </a:t>
            </a:r>
            <a:r>
              <a:rPr lang="en-US" altLang="ko-KR" sz="1600" b="1" dirty="0">
                <a:solidFill>
                  <a:schemeClr val="bg1"/>
                </a:solidFill>
                <a:latin typeface="+mn-ea"/>
              </a:rPr>
              <a:t>- </a:t>
            </a:r>
            <a:r>
              <a:rPr lang="ko-KR" altLang="en-US" sz="1000" b="1" dirty="0">
                <a:solidFill>
                  <a:schemeClr val="bg1"/>
                </a:solidFill>
                <a:latin typeface="+mn-ea"/>
              </a:rPr>
              <a:t>서비스 시나리오</a:t>
            </a:r>
            <a:endParaRPr lang="ko-KR" altLang="en-US" sz="1000" spc="-50" dirty="0">
              <a:solidFill>
                <a:schemeClr val="bg1"/>
              </a:solidFill>
              <a:latin typeface="+mn-ea"/>
            </a:endParaRPr>
          </a:p>
          <a:p>
            <a:pPr marL="0" marR="0" lvl="0" indent="0" algn="l" defTabSz="914400" rtl="0" eaLnBrk="1" fontAlgn="auto" latinLnBrk="1" hangingPunct="1">
              <a:lnSpc>
                <a:spcPct val="100000"/>
              </a:lnSpc>
              <a:spcBef>
                <a:spcPct val="0"/>
              </a:spcBef>
              <a:spcAft>
                <a:spcPts val="0"/>
              </a:spcAft>
              <a:buClrTx/>
              <a:buSzTx/>
              <a:buFontTx/>
              <a:buNone/>
              <a:tabLst/>
              <a:defRPr/>
            </a:pPr>
            <a:endParaRPr kumimoji="0" lang="ko-KR" altLang="en-US" sz="1000" b="0" i="0" u="none" strike="noStrike" kern="1200" cap="none" spc="-50" normalizeH="0" baseline="0" noProof="0" dirty="0">
              <a:ln>
                <a:noFill/>
              </a:ln>
              <a:solidFill>
                <a:schemeClr val="bg1"/>
              </a:solidFill>
              <a:effectLst/>
              <a:uLnTx/>
              <a:uFillTx/>
              <a:latin typeface="+mn-ea"/>
              <a:cs typeface="+mj-cs"/>
            </a:endParaRPr>
          </a:p>
        </p:txBody>
      </p:sp>
      <p:pic>
        <p:nvPicPr>
          <p:cNvPr id="15" name="그림 14">
            <a:extLst>
              <a:ext uri="{FF2B5EF4-FFF2-40B4-BE49-F238E27FC236}">
                <a16:creationId xmlns:a16="http://schemas.microsoft.com/office/drawing/2014/main" id="{08F0074C-F074-5F8C-A533-ED4F1D05CC99}"/>
              </a:ext>
            </a:extLst>
          </p:cNvPr>
          <p:cNvPicPr>
            <a:picLocks noChangeAspect="1"/>
          </p:cNvPicPr>
          <p:nvPr/>
        </p:nvPicPr>
        <p:blipFill>
          <a:blip r:embed="rId5"/>
          <a:stretch>
            <a:fillRect/>
          </a:stretch>
        </p:blipFill>
        <p:spPr>
          <a:xfrm>
            <a:off x="323527" y="1233893"/>
            <a:ext cx="8598217" cy="5291450"/>
          </a:xfrm>
          <a:prstGeom prst="rect">
            <a:avLst/>
          </a:prstGeom>
        </p:spPr>
      </p:pic>
    </p:spTree>
    <p:extLst>
      <p:ext uri="{BB962C8B-B14F-4D97-AF65-F5344CB8AC3E}">
        <p14:creationId xmlns:p14="http://schemas.microsoft.com/office/powerpoint/2010/main" val="23437896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63A17-A937-9E4E-3EDC-A8E57F8CC255}"/>
            </a:ext>
          </a:extLst>
        </p:cNvPr>
        <p:cNvGrpSpPr/>
        <p:nvPr/>
      </p:nvGrpSpPr>
      <p:grpSpPr>
        <a:xfrm>
          <a:off x="0" y="0"/>
          <a:ext cx="0" cy="0"/>
          <a:chOff x="0" y="0"/>
          <a:chExt cx="0" cy="0"/>
        </a:xfrm>
      </p:grpSpPr>
      <p:sp>
        <p:nvSpPr>
          <p:cNvPr id="21" name="직사각형 20">
            <a:extLst>
              <a:ext uri="{FF2B5EF4-FFF2-40B4-BE49-F238E27FC236}">
                <a16:creationId xmlns:a16="http://schemas.microsoft.com/office/drawing/2014/main" id="{FF6B36C6-D0A7-638D-C5C6-3CA229D6F532}"/>
              </a:ext>
            </a:extLst>
          </p:cNvPr>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2" name="직선 연결선 21">
            <a:extLst>
              <a:ext uri="{FF2B5EF4-FFF2-40B4-BE49-F238E27FC236}">
                <a16:creationId xmlns:a16="http://schemas.microsoft.com/office/drawing/2014/main" id="{96942E78-01CB-D200-FBC9-B6C14779AB5B}"/>
              </a:ext>
            </a:extLst>
          </p:cNvPr>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직선 연결선 24">
            <a:extLst>
              <a:ext uri="{FF2B5EF4-FFF2-40B4-BE49-F238E27FC236}">
                <a16:creationId xmlns:a16="http://schemas.microsoft.com/office/drawing/2014/main" id="{222F8DA5-6EB9-9003-D62E-471B6F9D5D6E}"/>
              </a:ext>
            </a:extLst>
          </p:cNvPr>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pic>
        <p:nvPicPr>
          <p:cNvPr id="30" name="Picture 2">
            <a:extLst>
              <a:ext uri="{FF2B5EF4-FFF2-40B4-BE49-F238E27FC236}">
                <a16:creationId xmlns:a16="http://schemas.microsoft.com/office/drawing/2014/main" id="{A4DE0552-D806-E363-56AE-EEB61595EF08}"/>
              </a:ext>
            </a:extLst>
          </p:cNvPr>
          <p:cNvPicPr>
            <a:picLocks noChangeAspect="1" noChangeArrowheads="1"/>
          </p:cNvPicPr>
          <p:nvPr/>
        </p:nvPicPr>
        <p:blipFill>
          <a:blip r:embed="rId3" cstate="print"/>
          <a:srcRect/>
          <a:stretch>
            <a:fillRect/>
          </a:stretch>
        </p:blipFill>
        <p:spPr bwMode="auto">
          <a:xfrm>
            <a:off x="8676456" y="476671"/>
            <a:ext cx="454960" cy="158965"/>
          </a:xfrm>
          <a:prstGeom prst="rect">
            <a:avLst/>
          </a:prstGeom>
          <a:noFill/>
          <a:ln w="9525">
            <a:noFill/>
            <a:miter lim="800000"/>
            <a:headEnd/>
            <a:tailEnd/>
          </a:ln>
        </p:spPr>
      </p:pic>
      <p:sp>
        <p:nvSpPr>
          <p:cNvPr id="32" name="막힌 원호 31">
            <a:extLst>
              <a:ext uri="{FF2B5EF4-FFF2-40B4-BE49-F238E27FC236}">
                <a16:creationId xmlns:a16="http://schemas.microsoft.com/office/drawing/2014/main" id="{928B661F-603F-8352-C35B-8B223B4E0402}"/>
              </a:ext>
            </a:extLst>
          </p:cNvPr>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 name="직사각형 2">
            <a:extLst>
              <a:ext uri="{FF2B5EF4-FFF2-40B4-BE49-F238E27FC236}">
                <a16:creationId xmlns:a16="http://schemas.microsoft.com/office/drawing/2014/main" id="{B9CDFCC7-16E2-44FB-B865-B095FE5750C2}"/>
              </a:ext>
            </a:extLst>
          </p:cNvPr>
          <p:cNvSpPr/>
          <p:nvPr/>
        </p:nvSpPr>
        <p:spPr>
          <a:xfrm>
            <a:off x="222256" y="1473901"/>
            <a:ext cx="8742232" cy="2482527"/>
          </a:xfrm>
          <a:prstGeom prst="rect">
            <a:avLst/>
          </a:prstGeom>
          <a:noFill/>
          <a:ln>
            <a:solidFill>
              <a:schemeClr val="accent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b="1" dirty="0">
              <a:solidFill>
                <a:schemeClr val="tx1"/>
              </a:solidFill>
            </a:endParaRPr>
          </a:p>
        </p:txBody>
      </p:sp>
      <p:pic>
        <p:nvPicPr>
          <p:cNvPr id="2" name="그림 1">
            <a:extLst>
              <a:ext uri="{FF2B5EF4-FFF2-40B4-BE49-F238E27FC236}">
                <a16:creationId xmlns:a16="http://schemas.microsoft.com/office/drawing/2014/main" id="{61445DD5-1DF4-4093-D8BE-53838153C3D0}"/>
              </a:ext>
            </a:extLst>
          </p:cNvPr>
          <p:cNvPicPr>
            <a:picLocks noChangeAspect="1"/>
          </p:cNvPicPr>
          <p:nvPr/>
        </p:nvPicPr>
        <p:blipFill>
          <a:blip r:embed="rId4"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4" name="제목 12">
            <a:extLst>
              <a:ext uri="{FF2B5EF4-FFF2-40B4-BE49-F238E27FC236}">
                <a16:creationId xmlns:a16="http://schemas.microsoft.com/office/drawing/2014/main" id="{3F46E048-AEED-A661-19C2-246A3E36A012}"/>
              </a:ext>
            </a:extLst>
          </p:cNvPr>
          <p:cNvSpPr txBox="1">
            <a:spLocks/>
          </p:cNvSpPr>
          <p:nvPr/>
        </p:nvSpPr>
        <p:spPr>
          <a:xfrm>
            <a:off x="323528" y="692697"/>
            <a:ext cx="2952328" cy="272474"/>
          </a:xfrm>
          <a:prstGeom prst="rect">
            <a:avLst/>
          </a:prstGeom>
        </p:spPr>
        <p:txBody>
          <a:bodyPr vert="horz" lIns="91440" tIns="45720" rIns="91440" bIns="45720" rtlCol="0" anchor="t">
            <a:noAutofit/>
          </a:bodyPr>
          <a:lstStyle/>
          <a:p>
            <a:pPr>
              <a:spcBef>
                <a:spcPct val="0"/>
              </a:spcBef>
              <a:defRPr/>
            </a:pPr>
            <a:r>
              <a:rPr kumimoji="0" lang="en-US" altLang="ko-KR" sz="1700" b="1" i="0" u="none" strike="noStrike" kern="1200" cap="none" spc="0" normalizeH="0" baseline="0" noProof="0" dirty="0">
                <a:ln>
                  <a:noFill/>
                </a:ln>
                <a:solidFill>
                  <a:schemeClr val="bg1"/>
                </a:solidFill>
                <a:effectLst/>
                <a:uLnTx/>
                <a:uFillTx/>
                <a:latin typeface="+mn-ea"/>
                <a:cs typeface="+mj-cs"/>
              </a:rPr>
              <a:t>| </a:t>
            </a:r>
            <a:r>
              <a:rPr lang="ko-KR" altLang="en-US" sz="1700" b="1" dirty="0">
                <a:solidFill>
                  <a:schemeClr val="bg1"/>
                </a:solidFill>
                <a:latin typeface="+mn-ea"/>
                <a:cs typeface="+mj-cs"/>
              </a:rPr>
              <a:t>서비스 구성도</a:t>
            </a:r>
            <a:r>
              <a:rPr lang="en-US" altLang="ko-KR" sz="1000" b="1" dirty="0">
                <a:solidFill>
                  <a:schemeClr val="bg1"/>
                </a:solidFill>
                <a:latin typeface="+mn-ea"/>
                <a:cs typeface="+mj-cs"/>
              </a:rPr>
              <a:t> </a:t>
            </a:r>
            <a:r>
              <a:rPr lang="en-US" altLang="ko-KR" sz="1600" b="1" dirty="0">
                <a:solidFill>
                  <a:schemeClr val="bg1"/>
                </a:solidFill>
                <a:latin typeface="+mn-ea"/>
              </a:rPr>
              <a:t>- </a:t>
            </a:r>
            <a:r>
              <a:rPr lang="ko-KR" altLang="en-US" sz="1000" b="1" dirty="0">
                <a:solidFill>
                  <a:schemeClr val="bg1"/>
                </a:solidFill>
                <a:latin typeface="+mn-ea"/>
              </a:rPr>
              <a:t>서비스 시나리오</a:t>
            </a:r>
            <a:endParaRPr lang="ko-KR" altLang="en-US" sz="1000" spc="-50" dirty="0">
              <a:solidFill>
                <a:schemeClr val="bg1"/>
              </a:solidFill>
              <a:latin typeface="+mn-ea"/>
            </a:endParaRPr>
          </a:p>
          <a:p>
            <a:pPr marL="0" marR="0" lvl="0" indent="0" algn="l" defTabSz="914400" rtl="0" eaLnBrk="1" fontAlgn="auto" latinLnBrk="1" hangingPunct="1">
              <a:lnSpc>
                <a:spcPct val="100000"/>
              </a:lnSpc>
              <a:spcBef>
                <a:spcPct val="0"/>
              </a:spcBef>
              <a:spcAft>
                <a:spcPts val="0"/>
              </a:spcAft>
              <a:buClrTx/>
              <a:buSzTx/>
              <a:buFontTx/>
              <a:buNone/>
              <a:tabLst/>
              <a:defRPr/>
            </a:pPr>
            <a:endParaRPr kumimoji="0" lang="ko-KR" altLang="en-US" sz="1000" b="0" i="0" u="none" strike="noStrike" kern="1200" cap="none" spc="-50" normalizeH="0" baseline="0" noProof="0" dirty="0">
              <a:ln>
                <a:noFill/>
              </a:ln>
              <a:solidFill>
                <a:schemeClr val="bg1"/>
              </a:solidFill>
              <a:effectLst/>
              <a:uLnTx/>
              <a:uFillTx/>
              <a:latin typeface="+mn-ea"/>
              <a:cs typeface="+mj-cs"/>
            </a:endParaRPr>
          </a:p>
        </p:txBody>
      </p:sp>
      <p:pic>
        <p:nvPicPr>
          <p:cNvPr id="6" name="그림 5">
            <a:extLst>
              <a:ext uri="{FF2B5EF4-FFF2-40B4-BE49-F238E27FC236}">
                <a16:creationId xmlns:a16="http://schemas.microsoft.com/office/drawing/2014/main" id="{C1FD1A0E-BF48-3088-9753-04D84E2F98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8721" y="1568606"/>
            <a:ext cx="8699488" cy="2315140"/>
          </a:xfrm>
          <a:prstGeom prst="rect">
            <a:avLst/>
          </a:prstGeom>
        </p:spPr>
      </p:pic>
      <p:sp>
        <p:nvSpPr>
          <p:cNvPr id="7" name="직사각형 6">
            <a:extLst>
              <a:ext uri="{FF2B5EF4-FFF2-40B4-BE49-F238E27FC236}">
                <a16:creationId xmlns:a16="http://schemas.microsoft.com/office/drawing/2014/main" id="{5ED62579-8EB7-314B-E80E-2912E1A1C12C}"/>
              </a:ext>
            </a:extLst>
          </p:cNvPr>
          <p:cNvSpPr/>
          <p:nvPr/>
        </p:nvSpPr>
        <p:spPr>
          <a:xfrm>
            <a:off x="222256" y="4051133"/>
            <a:ext cx="8742232" cy="2482527"/>
          </a:xfrm>
          <a:prstGeom prst="rect">
            <a:avLst/>
          </a:prstGeom>
          <a:noFill/>
          <a:ln>
            <a:solidFill>
              <a:schemeClr val="accent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b="1" dirty="0">
              <a:solidFill>
                <a:schemeClr val="tx1"/>
              </a:solidFill>
            </a:endParaRPr>
          </a:p>
        </p:txBody>
      </p:sp>
      <p:graphicFrame>
        <p:nvGraphicFramePr>
          <p:cNvPr id="10" name="표 9">
            <a:extLst>
              <a:ext uri="{FF2B5EF4-FFF2-40B4-BE49-F238E27FC236}">
                <a16:creationId xmlns:a16="http://schemas.microsoft.com/office/drawing/2014/main" id="{1DE5A3AC-FD73-9AF5-64DA-D97BFEB531DE}"/>
              </a:ext>
            </a:extLst>
          </p:cNvPr>
          <p:cNvGraphicFramePr>
            <a:graphicFrameLocks noGrp="1"/>
          </p:cNvGraphicFramePr>
          <p:nvPr/>
        </p:nvGraphicFramePr>
        <p:xfrm>
          <a:off x="323528" y="4107896"/>
          <a:ext cx="8598216" cy="2387692"/>
        </p:xfrm>
        <a:graphic>
          <a:graphicData uri="http://schemas.openxmlformats.org/drawingml/2006/table">
            <a:tbl>
              <a:tblPr/>
              <a:tblGrid>
                <a:gridCol w="4299108">
                  <a:extLst>
                    <a:ext uri="{9D8B030D-6E8A-4147-A177-3AD203B41FA5}">
                      <a16:colId xmlns:a16="http://schemas.microsoft.com/office/drawing/2014/main" val="867829774"/>
                    </a:ext>
                  </a:extLst>
                </a:gridCol>
                <a:gridCol w="4299108">
                  <a:extLst>
                    <a:ext uri="{9D8B030D-6E8A-4147-A177-3AD203B41FA5}">
                      <a16:colId xmlns:a16="http://schemas.microsoft.com/office/drawing/2014/main" val="2860466899"/>
                    </a:ext>
                  </a:extLst>
                </a:gridCol>
              </a:tblGrid>
              <a:tr h="323509">
                <a:tc>
                  <a:txBody>
                    <a:bodyPr/>
                    <a:lstStyle/>
                    <a:p>
                      <a:pPr>
                        <a:buNone/>
                      </a:pPr>
                      <a:r>
                        <a:rPr lang="ko-KR" b="1" dirty="0" err="1">
                          <a:solidFill>
                            <a:schemeClr val="bg1"/>
                          </a:solidFill>
                        </a:rPr>
                        <a:t>Frontend</a:t>
                      </a:r>
                      <a:endParaRPr lang="ko-KR" dirty="0">
                        <a:solidFill>
                          <a:schemeClr val="bg1"/>
                        </a:solidFill>
                      </a:endParaRPr>
                    </a:p>
                  </a:txBody>
                  <a:tcPr anchor="ctr">
                    <a:lnL>
                      <a:noFill/>
                    </a:lnL>
                    <a:lnR>
                      <a:noFill/>
                    </a:lnR>
                    <a:lnT>
                      <a:noFill/>
                    </a:lnT>
                    <a:lnB>
                      <a:noFill/>
                    </a:lnB>
                    <a:solidFill>
                      <a:srgbClr val="3B5AA8"/>
                    </a:solidFill>
                  </a:tcPr>
                </a:tc>
                <a:tc>
                  <a:txBody>
                    <a:bodyPr/>
                    <a:lstStyle/>
                    <a:p>
                      <a:pPr>
                        <a:buNone/>
                      </a:pPr>
                      <a:r>
                        <a:rPr lang="ko-KR" b="1" dirty="0" err="1">
                          <a:solidFill>
                            <a:schemeClr val="bg1"/>
                          </a:solidFill>
                        </a:rPr>
                        <a:t>Backend</a:t>
                      </a:r>
                      <a:endParaRPr lang="ko-KR" dirty="0">
                        <a:solidFill>
                          <a:schemeClr val="bg1"/>
                        </a:solidFill>
                      </a:endParaRPr>
                    </a:p>
                  </a:txBody>
                  <a:tcPr anchor="ctr">
                    <a:lnL>
                      <a:noFill/>
                    </a:lnL>
                    <a:lnR>
                      <a:noFill/>
                    </a:lnR>
                    <a:lnT>
                      <a:noFill/>
                    </a:lnT>
                    <a:lnB>
                      <a:noFill/>
                    </a:lnB>
                    <a:solidFill>
                      <a:srgbClr val="3B5AA8"/>
                    </a:solidFill>
                  </a:tcPr>
                </a:tc>
                <a:extLst>
                  <a:ext uri="{0D108BD9-81ED-4DB2-BD59-A6C34878D82A}">
                    <a16:rowId xmlns:a16="http://schemas.microsoft.com/office/drawing/2014/main" val="568019238"/>
                  </a:ext>
                </a:extLst>
              </a:tr>
              <a:tr h="566141">
                <a:tc>
                  <a:txBody>
                    <a:bodyPr/>
                    <a:lstStyle/>
                    <a:p>
                      <a:pPr>
                        <a:buNone/>
                      </a:pPr>
                      <a:r>
                        <a:rPr lang="ko-KR" sz="1200" dirty="0"/>
                        <a:t>실시간 배터리 상태 및 AI 분석 결과 시각화</a:t>
                      </a:r>
                    </a:p>
                  </a:txBody>
                  <a:tcPr anchor="ctr">
                    <a:lnL>
                      <a:noFill/>
                    </a:lnL>
                    <a:lnR>
                      <a:noFill/>
                    </a:lnR>
                    <a:lnT>
                      <a:noFill/>
                    </a:lnT>
                    <a:lnB>
                      <a:noFill/>
                    </a:lnB>
                    <a:noFill/>
                  </a:tcPr>
                </a:tc>
                <a:tc>
                  <a:txBody>
                    <a:bodyPr/>
                    <a:lstStyle/>
                    <a:p>
                      <a:pPr>
                        <a:buNone/>
                      </a:pPr>
                      <a:r>
                        <a:rPr lang="ko-KR" sz="1200" dirty="0" err="1"/>
                        <a:t>Kafka</a:t>
                      </a:r>
                      <a:r>
                        <a:rPr lang="ko-KR" sz="1200" dirty="0"/>
                        <a:t> 기반 센서 데이터 수집 및 스트리밍</a:t>
                      </a:r>
                    </a:p>
                  </a:txBody>
                  <a:tcPr anchor="ctr">
                    <a:lnL>
                      <a:noFill/>
                    </a:lnL>
                    <a:lnR>
                      <a:noFill/>
                    </a:lnR>
                    <a:lnT>
                      <a:noFill/>
                    </a:lnT>
                    <a:lnB>
                      <a:noFill/>
                    </a:lnB>
                    <a:noFill/>
                  </a:tcPr>
                </a:tc>
                <a:extLst>
                  <a:ext uri="{0D108BD9-81ED-4DB2-BD59-A6C34878D82A}">
                    <a16:rowId xmlns:a16="http://schemas.microsoft.com/office/drawing/2014/main" val="4254293222"/>
                  </a:ext>
                </a:extLst>
              </a:tr>
              <a:tr h="566141">
                <a:tc>
                  <a:txBody>
                    <a:bodyPr/>
                    <a:lstStyle/>
                    <a:p>
                      <a:pPr>
                        <a:buNone/>
                      </a:pPr>
                      <a:r>
                        <a:rPr lang="en-US" altLang="ko-KR" sz="1200" dirty="0"/>
                        <a:t> React</a:t>
                      </a:r>
                      <a:r>
                        <a:rPr lang="ko-KR" sz="1200" dirty="0"/>
                        <a:t> 기반 실시간 대시보드 제공</a:t>
                      </a:r>
                    </a:p>
                  </a:txBody>
                  <a:tcPr anchor="ctr">
                    <a:lnL>
                      <a:noFill/>
                    </a:lnL>
                    <a:lnR>
                      <a:noFill/>
                    </a:lnR>
                    <a:lnT>
                      <a:noFill/>
                    </a:lnT>
                    <a:lnB>
                      <a:noFill/>
                    </a:lnB>
                    <a:solidFill>
                      <a:schemeClr val="accent1">
                        <a:lumMod val="20000"/>
                        <a:lumOff val="80000"/>
                      </a:schemeClr>
                    </a:solidFill>
                  </a:tcPr>
                </a:tc>
                <a:tc>
                  <a:txBody>
                    <a:bodyPr/>
                    <a:lstStyle/>
                    <a:p>
                      <a:pPr>
                        <a:buNone/>
                      </a:pPr>
                      <a:r>
                        <a:rPr lang="ko-KR" sz="1200" dirty="0"/>
                        <a:t>AI 이상 탐지 및 위험도 분석 수행</a:t>
                      </a:r>
                    </a:p>
                  </a:txBody>
                  <a:tcPr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3846387230"/>
                  </a:ext>
                </a:extLst>
              </a:tr>
              <a:tr h="323509">
                <a:tc>
                  <a:txBody>
                    <a:bodyPr/>
                    <a:lstStyle/>
                    <a:p>
                      <a:pPr>
                        <a:buNone/>
                      </a:pPr>
                      <a:r>
                        <a:rPr lang="ko-KR" sz="1200" dirty="0"/>
                        <a:t>위험 알림 및 이벤트 이력 조회</a:t>
                      </a:r>
                    </a:p>
                  </a:txBody>
                  <a:tcPr anchor="ctr">
                    <a:lnL>
                      <a:noFill/>
                    </a:lnL>
                    <a:lnR>
                      <a:noFill/>
                    </a:lnR>
                    <a:lnT>
                      <a:noFill/>
                    </a:lnT>
                    <a:lnB>
                      <a:noFill/>
                    </a:lnB>
                    <a:noFill/>
                  </a:tcPr>
                </a:tc>
                <a:tc>
                  <a:txBody>
                    <a:bodyPr/>
                    <a:lstStyle/>
                    <a:p>
                      <a:pPr>
                        <a:buNone/>
                      </a:pPr>
                      <a:r>
                        <a:rPr lang="ko-KR" sz="1200" dirty="0" err="1"/>
                        <a:t>PostgreSQL·TimescaleDB</a:t>
                      </a:r>
                      <a:r>
                        <a:rPr lang="ko-KR" sz="1200" dirty="0"/>
                        <a:t> 데이터 관리</a:t>
                      </a:r>
                    </a:p>
                  </a:txBody>
                  <a:tcPr anchor="ctr">
                    <a:lnL>
                      <a:noFill/>
                    </a:lnL>
                    <a:lnR>
                      <a:noFill/>
                    </a:lnR>
                    <a:lnT>
                      <a:noFill/>
                    </a:lnT>
                    <a:lnB>
                      <a:noFill/>
                    </a:lnB>
                    <a:noFill/>
                  </a:tcPr>
                </a:tc>
                <a:extLst>
                  <a:ext uri="{0D108BD9-81ED-4DB2-BD59-A6C34878D82A}">
                    <a16:rowId xmlns:a16="http://schemas.microsoft.com/office/drawing/2014/main" val="2768418394"/>
                  </a:ext>
                </a:extLst>
              </a:tr>
              <a:tr h="566141">
                <a:tc>
                  <a:txBody>
                    <a:bodyPr/>
                    <a:lstStyle/>
                    <a:p>
                      <a:pPr>
                        <a:buNone/>
                      </a:pPr>
                      <a:r>
                        <a:rPr lang="ko-KR" sz="1200" dirty="0" err="1"/>
                        <a:t>Relay</a:t>
                      </a:r>
                      <a:r>
                        <a:rPr lang="ko-KR" sz="1200" dirty="0"/>
                        <a:t> </a:t>
                      </a:r>
                      <a:r>
                        <a:rPr lang="ko-KR" sz="1200" dirty="0" err="1"/>
                        <a:t>Kill-Switch</a:t>
                      </a:r>
                      <a:r>
                        <a:rPr lang="ko-KR" sz="1200" dirty="0"/>
                        <a:t> 제어 인터페이스 제공</a:t>
                      </a:r>
                    </a:p>
                  </a:txBody>
                  <a:tcPr anchor="ctr">
                    <a:lnL>
                      <a:noFill/>
                    </a:lnL>
                    <a:lnR>
                      <a:noFill/>
                    </a:lnR>
                    <a:lnT>
                      <a:noFill/>
                    </a:lnT>
                    <a:lnB>
                      <a:noFill/>
                    </a:lnB>
                    <a:solidFill>
                      <a:schemeClr val="accent1">
                        <a:lumMod val="20000"/>
                        <a:lumOff val="80000"/>
                      </a:schemeClr>
                    </a:solidFill>
                  </a:tcPr>
                </a:tc>
                <a:tc>
                  <a:txBody>
                    <a:bodyPr/>
                    <a:lstStyle/>
                    <a:p>
                      <a:pPr>
                        <a:buNone/>
                      </a:pPr>
                      <a:r>
                        <a:rPr lang="ko-KR" sz="1200" dirty="0"/>
                        <a:t>REST </a:t>
                      </a:r>
                      <a:r>
                        <a:rPr lang="ko-KR" sz="1200" dirty="0" err="1"/>
                        <a:t>API·WebSocket</a:t>
                      </a:r>
                      <a:r>
                        <a:rPr lang="ko-KR" sz="1200" dirty="0"/>
                        <a:t> 서비스 제공</a:t>
                      </a:r>
                    </a:p>
                  </a:txBody>
                  <a:tcPr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2271458614"/>
                  </a:ext>
                </a:extLst>
              </a:tr>
            </a:tbl>
          </a:graphicData>
        </a:graphic>
      </p:graphicFrame>
    </p:spTree>
    <p:extLst>
      <p:ext uri="{BB962C8B-B14F-4D97-AF65-F5344CB8AC3E}">
        <p14:creationId xmlns:p14="http://schemas.microsoft.com/office/powerpoint/2010/main" val="5960398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직사각형 20"/>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2" name="직선 연결선 21"/>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직선 연결선 24"/>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8" name="제목 12"/>
          <p:cNvSpPr txBox="1">
            <a:spLocks/>
          </p:cNvSpPr>
          <p:nvPr/>
        </p:nvSpPr>
        <p:spPr>
          <a:xfrm>
            <a:off x="323528" y="692697"/>
            <a:ext cx="2952328" cy="272474"/>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a:t>
            </a:r>
            <a:r>
              <a:rPr lang="ko-KR" altLang="en-US" sz="1700" b="1" dirty="0">
                <a:solidFill>
                  <a:schemeClr val="bg1"/>
                </a:solidFill>
                <a:latin typeface="+mn-ea"/>
                <a:cs typeface="+mj-cs"/>
              </a:rPr>
              <a:t>서비스 흐름도</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30"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2" name="막힌 원호 31"/>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51" name="직사각형 50"/>
          <p:cNvSpPr/>
          <p:nvPr/>
        </p:nvSpPr>
        <p:spPr>
          <a:xfrm>
            <a:off x="3851920" y="548680"/>
            <a:ext cx="5112568" cy="338554"/>
          </a:xfrm>
          <a:prstGeom prst="rect">
            <a:avLst/>
          </a:prstGeom>
        </p:spPr>
        <p:txBody>
          <a:bodyPr wrap="square">
            <a:spAutoFit/>
          </a:bodyPr>
          <a:lstStyle/>
          <a:p>
            <a:pPr marL="265113" indent="-265113" algn="r" latinLnBrk="0"/>
            <a:r>
              <a:rPr lang="ko-KR" altLang="en-US" sz="1600" b="1" i="1" dirty="0">
                <a:solidFill>
                  <a:srgbClr val="FF0000"/>
                </a:solidFill>
                <a:latin typeface="+mj-lt"/>
              </a:rPr>
              <a:t>샘플</a:t>
            </a:r>
            <a:r>
              <a:rPr lang="en-US" altLang="ko-KR" sz="1600" b="1" i="1" dirty="0">
                <a:solidFill>
                  <a:srgbClr val="FF0000"/>
                </a:solidFill>
                <a:latin typeface="+mj-lt"/>
              </a:rPr>
              <a:t> 1</a:t>
            </a:r>
            <a:endParaRPr lang="ko-KR" altLang="en-US" sz="1600" b="1" i="1" dirty="0">
              <a:solidFill>
                <a:srgbClr val="FF0000"/>
              </a:solidFill>
              <a:latin typeface="+mj-lt"/>
            </a:endParaRPr>
          </a:p>
        </p:txBody>
      </p:sp>
      <p:sp>
        <p:nvSpPr>
          <p:cNvPr id="26" name="직사각형 25">
            <a:extLst>
              <a:ext uri="{FF2B5EF4-FFF2-40B4-BE49-F238E27FC236}">
                <a16:creationId xmlns:a16="http://schemas.microsoft.com/office/drawing/2014/main" id="{E9BCB1CE-2DD6-40DC-A0F7-0303DCBC1F92}"/>
              </a:ext>
            </a:extLst>
          </p:cNvPr>
          <p:cNvSpPr/>
          <p:nvPr/>
        </p:nvSpPr>
        <p:spPr>
          <a:xfrm>
            <a:off x="222256" y="1473901"/>
            <a:ext cx="4291660" cy="4386448"/>
          </a:xfrm>
          <a:prstGeom prst="rect">
            <a:avLst/>
          </a:prstGeom>
          <a:noFill/>
          <a:ln>
            <a:solidFill>
              <a:schemeClr val="accent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b="1" dirty="0">
              <a:solidFill>
                <a:schemeClr val="tx1"/>
              </a:solidFill>
            </a:endParaRPr>
          </a:p>
        </p:txBody>
      </p:sp>
      <p:sp>
        <p:nvSpPr>
          <p:cNvPr id="27" name="직사각형 26">
            <a:extLst>
              <a:ext uri="{FF2B5EF4-FFF2-40B4-BE49-F238E27FC236}">
                <a16:creationId xmlns:a16="http://schemas.microsoft.com/office/drawing/2014/main" id="{749E862D-DEC1-4F85-9CD2-0CF387D69237}"/>
              </a:ext>
            </a:extLst>
          </p:cNvPr>
          <p:cNvSpPr/>
          <p:nvPr/>
        </p:nvSpPr>
        <p:spPr>
          <a:xfrm>
            <a:off x="4572000" y="1473901"/>
            <a:ext cx="4291660" cy="4386448"/>
          </a:xfrm>
          <a:prstGeom prst="rect">
            <a:avLst/>
          </a:prstGeom>
          <a:noFill/>
          <a:ln>
            <a:solidFill>
              <a:schemeClr val="accent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b="1" dirty="0">
              <a:solidFill>
                <a:schemeClr val="tx1"/>
              </a:solidFill>
            </a:endParaRPr>
          </a:p>
        </p:txBody>
      </p:sp>
      <p:pic>
        <p:nvPicPr>
          <p:cNvPr id="2" name="그림 1">
            <a:extLst>
              <a:ext uri="{FF2B5EF4-FFF2-40B4-BE49-F238E27FC236}">
                <a16:creationId xmlns:a16="http://schemas.microsoft.com/office/drawing/2014/main" id="{1BBF02A6-9C10-72D4-AC93-9BA89BC3626F}"/>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pic>
        <p:nvPicPr>
          <p:cNvPr id="6" name="그림 5">
            <a:extLst>
              <a:ext uri="{FF2B5EF4-FFF2-40B4-BE49-F238E27FC236}">
                <a16:creationId xmlns:a16="http://schemas.microsoft.com/office/drawing/2014/main" id="{308DC7EF-9631-F2A2-AC6A-2284FDA0F1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6196" y="1549998"/>
            <a:ext cx="4267720" cy="4183258"/>
          </a:xfrm>
          <a:prstGeom prst="rect">
            <a:avLst/>
          </a:prstGeom>
        </p:spPr>
      </p:pic>
      <p:graphicFrame>
        <p:nvGraphicFramePr>
          <p:cNvPr id="3" name="표 2">
            <a:extLst>
              <a:ext uri="{FF2B5EF4-FFF2-40B4-BE49-F238E27FC236}">
                <a16:creationId xmlns:a16="http://schemas.microsoft.com/office/drawing/2014/main" id="{643EF4EE-A605-A599-67E4-4452FAE433D8}"/>
              </a:ext>
            </a:extLst>
          </p:cNvPr>
          <p:cNvGraphicFramePr>
            <a:graphicFrameLocks noGrp="1"/>
          </p:cNvGraphicFramePr>
          <p:nvPr/>
        </p:nvGraphicFramePr>
        <p:xfrm>
          <a:off x="4630086" y="1499795"/>
          <a:ext cx="4204531" cy="4233463"/>
        </p:xfrm>
        <a:graphic>
          <a:graphicData uri="http://schemas.openxmlformats.org/drawingml/2006/table">
            <a:tbl>
              <a:tblPr/>
              <a:tblGrid>
                <a:gridCol w="4204531">
                  <a:extLst>
                    <a:ext uri="{9D8B030D-6E8A-4147-A177-3AD203B41FA5}">
                      <a16:colId xmlns:a16="http://schemas.microsoft.com/office/drawing/2014/main" val="2980468099"/>
                    </a:ext>
                  </a:extLst>
                </a:gridCol>
              </a:tblGrid>
              <a:tr h="282231">
                <a:tc>
                  <a:txBody>
                    <a:bodyPr/>
                    <a:lstStyle/>
                    <a:p>
                      <a:pPr>
                        <a:buNone/>
                      </a:pPr>
                      <a:r>
                        <a:rPr lang="ko-KR" sz="1200" dirty="0"/>
                        <a:t>공항 보조배터리 안전 확인 시나리오</a:t>
                      </a:r>
                    </a:p>
                  </a:txBody>
                  <a:tcPr anchor="ctr">
                    <a:lnL>
                      <a:noFill/>
                    </a:lnL>
                    <a:lnR>
                      <a:noFill/>
                    </a:lnR>
                    <a:lnT>
                      <a:noFill/>
                    </a:lnT>
                    <a:lnB>
                      <a:noFill/>
                    </a:lnB>
                    <a:solidFill>
                      <a:srgbClr val="3B5AA8"/>
                    </a:solidFill>
                  </a:tcPr>
                </a:tc>
                <a:extLst>
                  <a:ext uri="{0D108BD9-81ED-4DB2-BD59-A6C34878D82A}">
                    <a16:rowId xmlns:a16="http://schemas.microsoft.com/office/drawing/2014/main" val="2022971181"/>
                  </a:ext>
                </a:extLst>
              </a:tr>
              <a:tr h="493904">
                <a:tc>
                  <a:txBody>
                    <a:bodyPr/>
                    <a:lstStyle/>
                    <a:p>
                      <a:pPr>
                        <a:buNone/>
                      </a:pPr>
                      <a:r>
                        <a:rPr lang="ko-KR" sz="1100" dirty="0"/>
                        <a:t>① 탑승객이 공항 보안 검색대에서 보조배터리를 검사 장치에 연결한다.</a:t>
                      </a:r>
                    </a:p>
                  </a:txBody>
                  <a:tcPr anchor="ctr">
                    <a:lnL>
                      <a:noFill/>
                    </a:lnL>
                    <a:lnR>
                      <a:noFill/>
                    </a:lnR>
                    <a:lnT>
                      <a:noFill/>
                    </a:lnT>
                    <a:lnB>
                      <a:noFill/>
                    </a:lnB>
                    <a:noFill/>
                  </a:tcPr>
                </a:tc>
                <a:extLst>
                  <a:ext uri="{0D108BD9-81ED-4DB2-BD59-A6C34878D82A}">
                    <a16:rowId xmlns:a16="http://schemas.microsoft.com/office/drawing/2014/main" val="1583339975"/>
                  </a:ext>
                </a:extLst>
              </a:tr>
              <a:tr h="493904">
                <a:tc>
                  <a:txBody>
                    <a:bodyPr/>
                    <a:lstStyle/>
                    <a:p>
                      <a:pPr>
                        <a:buNone/>
                      </a:pPr>
                      <a:r>
                        <a:rPr lang="ko-KR" sz="1100" dirty="0"/>
                        <a:t>② 검사 장치가 보조배터리의 전압, 전류, 온도, SOC, 가스, 압력 데이터를 실시간으로 측정한다.</a:t>
                      </a:r>
                    </a:p>
                  </a:txBody>
                  <a:tcPr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177200227"/>
                  </a:ext>
                </a:extLst>
              </a:tr>
              <a:tr h="493904">
                <a:tc>
                  <a:txBody>
                    <a:bodyPr/>
                    <a:lstStyle/>
                    <a:p>
                      <a:pPr>
                        <a:buNone/>
                      </a:pPr>
                      <a:r>
                        <a:rPr lang="ko-KR" sz="1100" dirty="0"/>
                        <a:t>③ 측정된 센서 데이터는 서버로 전송되고 </a:t>
                      </a:r>
                      <a:r>
                        <a:rPr lang="ko-KR" sz="1100" dirty="0" err="1"/>
                        <a:t>Database에</a:t>
                      </a:r>
                      <a:r>
                        <a:rPr lang="ko-KR" sz="1100" dirty="0"/>
                        <a:t> 저장된다.</a:t>
                      </a:r>
                    </a:p>
                  </a:txBody>
                  <a:tcPr anchor="ctr">
                    <a:lnL>
                      <a:noFill/>
                    </a:lnL>
                    <a:lnR>
                      <a:noFill/>
                    </a:lnR>
                    <a:lnT>
                      <a:noFill/>
                    </a:lnT>
                    <a:lnB>
                      <a:noFill/>
                    </a:lnB>
                    <a:noFill/>
                  </a:tcPr>
                </a:tc>
                <a:extLst>
                  <a:ext uri="{0D108BD9-81ED-4DB2-BD59-A6C34878D82A}">
                    <a16:rowId xmlns:a16="http://schemas.microsoft.com/office/drawing/2014/main" val="2811270436"/>
                  </a:ext>
                </a:extLst>
              </a:tr>
              <a:tr h="493904">
                <a:tc>
                  <a:txBody>
                    <a:bodyPr/>
                    <a:lstStyle/>
                    <a:p>
                      <a:pPr>
                        <a:buNone/>
                      </a:pPr>
                      <a:r>
                        <a:rPr lang="ko-KR" sz="1100" dirty="0"/>
                        <a:t>④ </a:t>
                      </a:r>
                      <a:r>
                        <a:rPr lang="ko-KR" sz="1100" dirty="0" err="1"/>
                        <a:t>Hybrid</a:t>
                      </a:r>
                      <a:r>
                        <a:rPr lang="ko-KR" sz="1100" dirty="0"/>
                        <a:t> </a:t>
                      </a:r>
                      <a:r>
                        <a:rPr lang="ko-KR" sz="1100" dirty="0" err="1"/>
                        <a:t>AI가</a:t>
                      </a:r>
                      <a:r>
                        <a:rPr lang="ko-KR" sz="1100" dirty="0"/>
                        <a:t> 센서 데이터를 분석하여 이상점수와 위험등급을 계산한다.</a:t>
                      </a:r>
                    </a:p>
                  </a:txBody>
                  <a:tcPr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2314932209"/>
                  </a:ext>
                </a:extLst>
              </a:tr>
              <a:tr h="493904">
                <a:tc>
                  <a:txBody>
                    <a:bodyPr/>
                    <a:lstStyle/>
                    <a:p>
                      <a:pPr>
                        <a:buNone/>
                      </a:pPr>
                      <a:r>
                        <a:rPr lang="ko-KR" sz="1100" dirty="0"/>
                        <a:t>⑤ 정상 상태일 경우 </a:t>
                      </a:r>
                      <a:r>
                        <a:rPr lang="ko-KR" sz="1100" dirty="0" err="1"/>
                        <a:t>Web</a:t>
                      </a:r>
                      <a:r>
                        <a:rPr lang="ko-KR" sz="1100" dirty="0"/>
                        <a:t> </a:t>
                      </a:r>
                      <a:r>
                        <a:rPr lang="ko-KR" sz="1100" dirty="0" err="1"/>
                        <a:t>Dashboard에</a:t>
                      </a:r>
                      <a:r>
                        <a:rPr lang="ko-KR" sz="1100" dirty="0"/>
                        <a:t> 반입 가능 상태가 표시된다.</a:t>
                      </a:r>
                    </a:p>
                  </a:txBody>
                  <a:tcPr anchor="ctr">
                    <a:lnL>
                      <a:noFill/>
                    </a:lnL>
                    <a:lnR>
                      <a:noFill/>
                    </a:lnR>
                    <a:lnT>
                      <a:noFill/>
                    </a:lnT>
                    <a:lnB>
                      <a:noFill/>
                    </a:lnB>
                    <a:noFill/>
                  </a:tcPr>
                </a:tc>
                <a:extLst>
                  <a:ext uri="{0D108BD9-81ED-4DB2-BD59-A6C34878D82A}">
                    <a16:rowId xmlns:a16="http://schemas.microsoft.com/office/drawing/2014/main" val="3719911239"/>
                  </a:ext>
                </a:extLst>
              </a:tr>
              <a:tr h="493904">
                <a:tc>
                  <a:txBody>
                    <a:bodyPr/>
                    <a:lstStyle/>
                    <a:p>
                      <a:pPr>
                        <a:buNone/>
                      </a:pPr>
                      <a:r>
                        <a:rPr lang="ko-KR" sz="1100" dirty="0"/>
                        <a:t>⑥ 이상 상태가 감지되면 </a:t>
                      </a:r>
                      <a:r>
                        <a:rPr lang="ko-KR" sz="1100" dirty="0" err="1"/>
                        <a:t>Dashboard에</a:t>
                      </a:r>
                      <a:r>
                        <a:rPr lang="ko-KR" sz="1100" dirty="0"/>
                        <a:t> 경고가 표시되고 공항 직원에게 알림이 전달된다.</a:t>
                      </a:r>
                    </a:p>
                  </a:txBody>
                  <a:tcPr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1323549309"/>
                  </a:ext>
                </a:extLst>
              </a:tr>
              <a:tr h="493904">
                <a:tc>
                  <a:txBody>
                    <a:bodyPr/>
                    <a:lstStyle/>
                    <a:p>
                      <a:pPr>
                        <a:buNone/>
                      </a:pPr>
                      <a:r>
                        <a:rPr lang="ko-KR" sz="1100" dirty="0"/>
                        <a:t>⑦ 위험 수준이 높을 경우 </a:t>
                      </a:r>
                      <a:r>
                        <a:rPr lang="ko-KR" sz="1100" dirty="0" err="1"/>
                        <a:t>Relay</a:t>
                      </a:r>
                      <a:r>
                        <a:rPr lang="ko-KR" sz="1100" dirty="0"/>
                        <a:t> </a:t>
                      </a:r>
                      <a:r>
                        <a:rPr lang="ko-KR" sz="1100" dirty="0" err="1"/>
                        <a:t>Kill-Switch가</a:t>
                      </a:r>
                      <a:r>
                        <a:rPr lang="ko-KR" sz="1100" dirty="0"/>
                        <a:t> 작동하여 보조배터리 전원을 차단한다.</a:t>
                      </a:r>
                    </a:p>
                  </a:txBody>
                  <a:tcPr anchor="ctr">
                    <a:lnL>
                      <a:noFill/>
                    </a:lnL>
                    <a:lnR>
                      <a:noFill/>
                    </a:lnR>
                    <a:lnT>
                      <a:noFill/>
                    </a:lnT>
                    <a:lnB>
                      <a:noFill/>
                    </a:lnB>
                    <a:noFill/>
                  </a:tcPr>
                </a:tc>
                <a:extLst>
                  <a:ext uri="{0D108BD9-81ED-4DB2-BD59-A6C34878D82A}">
                    <a16:rowId xmlns:a16="http://schemas.microsoft.com/office/drawing/2014/main" val="2039986105"/>
                  </a:ext>
                </a:extLst>
              </a:tr>
              <a:tr h="493904">
                <a:tc>
                  <a:txBody>
                    <a:bodyPr/>
                    <a:lstStyle/>
                    <a:p>
                      <a:pPr>
                        <a:buNone/>
                      </a:pPr>
                      <a:r>
                        <a:rPr lang="ko-KR" sz="1100" dirty="0"/>
                        <a:t>⑧ 공항 직원은 검사 결과에 따라 보조배터리 반입 허용 또는 별도 조치를 진행한다.</a:t>
                      </a:r>
                    </a:p>
                  </a:txBody>
                  <a:tcPr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1111222322"/>
                  </a:ext>
                </a:extLst>
              </a:tr>
            </a:tbl>
          </a:graphicData>
        </a:graphic>
      </p:graphicFrame>
    </p:spTree>
    <p:extLst>
      <p:ext uri="{BB962C8B-B14F-4D97-AF65-F5344CB8AC3E}">
        <p14:creationId xmlns:p14="http://schemas.microsoft.com/office/powerpoint/2010/main" val="12210480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직사각형 23"/>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5" name="직선 연결선 24"/>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 name="직선 연결선 25"/>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7"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UI/UX 정의서</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29"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2" name="막힌 원호 31"/>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2" name="그림 1">
            <a:extLst>
              <a:ext uri="{FF2B5EF4-FFF2-40B4-BE49-F238E27FC236}">
                <a16:creationId xmlns:a16="http://schemas.microsoft.com/office/drawing/2014/main" id="{431DD24D-FF12-3894-E23F-6A8B7D676233}"/>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34" name="TextBox 33"/>
          <p:cNvSpPr txBox="1"/>
          <p:nvPr/>
        </p:nvSpPr>
        <p:spPr>
          <a:xfrm>
            <a:off x="402336" y="1481328"/>
            <a:ext cx="4937760" cy="292608"/>
          </a:xfrm>
          <a:prstGeom prst="rect">
            <a:avLst/>
          </a:prstGeom>
          <a:noFill/>
        </p:spPr>
        <p:txBody>
          <a:bodyPr wrap="none" lIns="0" tIns="0" bIns="0">
            <a:spAutoFit/>
          </a:bodyPr>
          <a:lstStyle/>
          <a:p>
            <a:r>
              <a:rPr sz="1300" b="0" i="0">
                <a:solidFill>
                  <a:srgbClr val="2563EB"/>
                </a:solidFill>
                <a:latin typeface="맑은 고딕"/>
              </a:rPr>
              <a:t>▍ </a:t>
            </a:r>
            <a:r>
              <a:rPr sz="1300" b="1" i="0">
                <a:solidFill>
                  <a:srgbClr val="2A2A2A"/>
                </a:solidFill>
                <a:latin typeface="맑은 고딕"/>
              </a:rPr>
              <a:t>디자인 원칙</a:t>
            </a:r>
          </a:p>
        </p:txBody>
      </p:sp>
      <p:sp>
        <p:nvSpPr>
          <p:cNvPr id="35" name="Rounded Rectangle 34"/>
          <p:cNvSpPr/>
          <p:nvPr/>
        </p:nvSpPr>
        <p:spPr>
          <a:xfrm>
            <a:off x="402336" y="1810512"/>
            <a:ext cx="4892040" cy="822960"/>
          </a:xfrm>
          <a:prstGeom prst="roundRect">
            <a:avLst>
              <a:gd name="adj" fmla="val 6000"/>
            </a:avLst>
          </a:prstGeom>
          <a:solidFill>
            <a:srgbClr val="FFFFFF"/>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114300" tIns="88900" rIns="114300" bIns="76200" rtlCol="0" anchor="t"/>
          <a:lstStyle/>
          <a:p>
            <a:pPr algn="l"/>
            <a:r>
              <a:rPr sz="1150" b="0" i="0">
                <a:solidFill>
                  <a:srgbClr val="2563EB"/>
                </a:solidFill>
                <a:latin typeface="맑은 고딕"/>
              </a:rPr>
              <a:t>● </a:t>
            </a:r>
            <a:r>
              <a:rPr sz="1150" b="1" i="0">
                <a:solidFill>
                  <a:srgbClr val="2A2A2A"/>
                </a:solidFill>
                <a:latin typeface="맑은 고딕"/>
              </a:rPr>
              <a:t>1. 위험 우선 노출</a:t>
            </a:r>
          </a:p>
          <a:p>
            <a:pPr algn="l">
              <a:spcBef>
                <a:spcPts val="300"/>
              </a:spcBef>
            </a:pPr>
            <a:r>
              <a:rPr sz="950" b="0" i="0">
                <a:solidFill>
                  <a:srgbClr val="6B665E"/>
                </a:solidFill>
                <a:latin typeface="맑은 고딕"/>
              </a:rPr>
              <a:t>긴급 경고 · 현재 이상점수 · Kill-Switch를 화면 최상단과 최단 동선에 배치한다.</a:t>
            </a:r>
          </a:p>
        </p:txBody>
      </p:sp>
      <p:sp>
        <p:nvSpPr>
          <p:cNvPr id="36" name="Rounded Rectangle 35"/>
          <p:cNvSpPr/>
          <p:nvPr/>
        </p:nvSpPr>
        <p:spPr>
          <a:xfrm>
            <a:off x="402336" y="2729484"/>
            <a:ext cx="4892040" cy="822960"/>
          </a:xfrm>
          <a:prstGeom prst="roundRect">
            <a:avLst>
              <a:gd name="adj" fmla="val 6000"/>
            </a:avLst>
          </a:prstGeom>
          <a:solidFill>
            <a:srgbClr val="FFFFFF"/>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114300" tIns="88900" rIns="114300" bIns="76200" rtlCol="0" anchor="t"/>
          <a:lstStyle/>
          <a:p>
            <a:pPr algn="l"/>
            <a:r>
              <a:rPr sz="1150" b="0" i="0">
                <a:solidFill>
                  <a:srgbClr val="2563EB"/>
                </a:solidFill>
                <a:latin typeface="맑은 고딕"/>
              </a:rPr>
              <a:t>● </a:t>
            </a:r>
            <a:r>
              <a:rPr sz="1150" b="1" i="0">
                <a:solidFill>
                  <a:srgbClr val="2A2A2A"/>
                </a:solidFill>
                <a:latin typeface="맑은 고딕"/>
              </a:rPr>
              <a:t>2. 실시간 안정성</a:t>
            </a:r>
          </a:p>
          <a:p>
            <a:pPr algn="l">
              <a:spcBef>
                <a:spcPts val="300"/>
              </a:spcBef>
            </a:pPr>
            <a:r>
              <a:rPr sz="950" b="0" i="0">
                <a:solidFill>
                  <a:srgbClr val="6B665E"/>
                </a:solidFill>
                <a:latin typeface="맑은 고딕"/>
              </a:rPr>
              <a:t>100ms 갱신 중에도 레이아웃 흔들림 없이 값과 상태 색만 갱신한다.</a:t>
            </a:r>
          </a:p>
        </p:txBody>
      </p:sp>
      <p:sp>
        <p:nvSpPr>
          <p:cNvPr id="37" name="Rounded Rectangle 36"/>
          <p:cNvSpPr/>
          <p:nvPr/>
        </p:nvSpPr>
        <p:spPr>
          <a:xfrm>
            <a:off x="402336" y="3648456"/>
            <a:ext cx="4892040" cy="822960"/>
          </a:xfrm>
          <a:prstGeom prst="roundRect">
            <a:avLst>
              <a:gd name="adj" fmla="val 6000"/>
            </a:avLst>
          </a:prstGeom>
          <a:solidFill>
            <a:srgbClr val="FFFFFF"/>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114300" tIns="88900" rIns="114300" bIns="76200" rtlCol="0" anchor="t"/>
          <a:lstStyle/>
          <a:p>
            <a:pPr algn="l"/>
            <a:r>
              <a:rPr sz="1150" b="0" i="0">
                <a:solidFill>
                  <a:srgbClr val="2563EB"/>
                </a:solidFill>
                <a:latin typeface="맑은 고딕"/>
              </a:rPr>
              <a:t>● </a:t>
            </a:r>
            <a:r>
              <a:rPr sz="1150" b="1" i="0">
                <a:solidFill>
                  <a:srgbClr val="2A2A2A"/>
                </a:solidFill>
                <a:latin typeface="맑은 고딕"/>
              </a:rPr>
              <a:t>3. 상태의 시각 언어</a:t>
            </a:r>
          </a:p>
          <a:p>
            <a:pPr algn="l">
              <a:spcBef>
                <a:spcPts val="300"/>
              </a:spcBef>
            </a:pPr>
            <a:r>
              <a:rPr sz="950" b="0" i="0">
                <a:solidFill>
                  <a:srgbClr val="6B665E"/>
                </a:solidFill>
                <a:latin typeface="맑은 고딕"/>
              </a:rPr>
              <a:t>정상 · 주의 · 경고 · 위험을 색 + 아이콘 + 라벨 3중으로 중복 표기한다.</a:t>
            </a:r>
          </a:p>
        </p:txBody>
      </p:sp>
      <p:sp>
        <p:nvSpPr>
          <p:cNvPr id="38" name="Rounded Rectangle 37"/>
          <p:cNvSpPr/>
          <p:nvPr/>
        </p:nvSpPr>
        <p:spPr>
          <a:xfrm>
            <a:off x="402336" y="4567427"/>
            <a:ext cx="4892040" cy="822960"/>
          </a:xfrm>
          <a:prstGeom prst="roundRect">
            <a:avLst>
              <a:gd name="adj" fmla="val 6000"/>
            </a:avLst>
          </a:prstGeom>
          <a:solidFill>
            <a:srgbClr val="FFFFFF"/>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114300" tIns="88900" rIns="114300" bIns="76200" rtlCol="0" anchor="t"/>
          <a:lstStyle/>
          <a:p>
            <a:pPr algn="l"/>
            <a:r>
              <a:rPr sz="1150" b="0" i="0">
                <a:solidFill>
                  <a:srgbClr val="2563EB"/>
                </a:solidFill>
                <a:latin typeface="맑은 고딕"/>
              </a:rPr>
              <a:t>● </a:t>
            </a:r>
            <a:r>
              <a:rPr sz="1150" b="1" i="0">
                <a:solidFill>
                  <a:srgbClr val="2A2A2A"/>
                </a:solidFill>
                <a:latin typeface="맑은 고딕"/>
              </a:rPr>
              <a:t>4. 정보 밀도 적응</a:t>
            </a:r>
          </a:p>
          <a:p>
            <a:pPr algn="l">
              <a:spcBef>
                <a:spcPts val="300"/>
              </a:spcBef>
            </a:pPr>
            <a:r>
              <a:rPr sz="950" b="0" i="0">
                <a:solidFill>
                  <a:srgbClr val="6B665E"/>
                </a:solidFill>
                <a:latin typeface="맑은 고딕"/>
              </a:rPr>
              <a:t>데스크톱 다중 컬럼, 태블릿 2컬럼, 모바일 단일 컬럼 카드로 전환한다.</a:t>
            </a:r>
          </a:p>
        </p:txBody>
      </p:sp>
      <p:sp>
        <p:nvSpPr>
          <p:cNvPr id="39" name="Rounded Rectangle 38"/>
          <p:cNvSpPr/>
          <p:nvPr/>
        </p:nvSpPr>
        <p:spPr>
          <a:xfrm>
            <a:off x="402336" y="5486399"/>
            <a:ext cx="4892040" cy="822960"/>
          </a:xfrm>
          <a:prstGeom prst="roundRect">
            <a:avLst>
              <a:gd name="adj" fmla="val 6000"/>
            </a:avLst>
          </a:prstGeom>
          <a:solidFill>
            <a:srgbClr val="FFFFFF"/>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114300" tIns="88900" rIns="114300" bIns="76200" rtlCol="0" anchor="t"/>
          <a:lstStyle/>
          <a:p>
            <a:pPr algn="l"/>
            <a:r>
              <a:rPr sz="1150" b="0" i="0">
                <a:solidFill>
                  <a:srgbClr val="2563EB"/>
                </a:solidFill>
                <a:latin typeface="맑은 고딕"/>
              </a:rPr>
              <a:t>● </a:t>
            </a:r>
            <a:r>
              <a:rPr sz="1150" b="1" i="0">
                <a:solidFill>
                  <a:srgbClr val="2A2A2A"/>
                </a:solidFill>
                <a:latin typeface="맑은 고딕"/>
              </a:rPr>
              <a:t>5. 접근성 기본값</a:t>
            </a:r>
          </a:p>
          <a:p>
            <a:pPr algn="l">
              <a:spcBef>
                <a:spcPts val="300"/>
              </a:spcBef>
            </a:pPr>
            <a:r>
              <a:rPr sz="950" b="0" i="0">
                <a:solidFill>
                  <a:srgbClr val="6B665E"/>
                </a:solidFill>
                <a:latin typeface="맑은 고딕"/>
              </a:rPr>
              <a:t>명도 대비 4.5:1 이상, 전체 키보드 탐색, 스크린리더 라벨을 제공한다.</a:t>
            </a:r>
          </a:p>
        </p:txBody>
      </p:sp>
      <p:sp>
        <p:nvSpPr>
          <p:cNvPr id="40" name="TextBox 39"/>
          <p:cNvSpPr txBox="1"/>
          <p:nvPr/>
        </p:nvSpPr>
        <p:spPr>
          <a:xfrm>
            <a:off x="5504688" y="1481328"/>
            <a:ext cx="3291840" cy="292608"/>
          </a:xfrm>
          <a:prstGeom prst="rect">
            <a:avLst/>
          </a:prstGeom>
          <a:noFill/>
        </p:spPr>
        <p:txBody>
          <a:bodyPr wrap="none" lIns="0" tIns="0" bIns="0">
            <a:spAutoFit/>
          </a:bodyPr>
          <a:lstStyle/>
          <a:p>
            <a:r>
              <a:rPr sz="1300" b="0" i="0">
                <a:solidFill>
                  <a:srgbClr val="2563EB"/>
                </a:solidFill>
                <a:latin typeface="맑은 고딕"/>
              </a:rPr>
              <a:t>▍ </a:t>
            </a:r>
            <a:r>
              <a:rPr sz="1300" b="1" i="0">
                <a:solidFill>
                  <a:srgbClr val="2A2A2A"/>
                </a:solidFill>
                <a:latin typeface="맑은 고딕"/>
              </a:rPr>
              <a:t>컬러 시스템</a:t>
            </a:r>
          </a:p>
        </p:txBody>
      </p:sp>
      <p:sp>
        <p:nvSpPr>
          <p:cNvPr id="41" name="Rounded Rectangle 40"/>
          <p:cNvSpPr/>
          <p:nvPr/>
        </p:nvSpPr>
        <p:spPr>
          <a:xfrm>
            <a:off x="5532120" y="1847088"/>
            <a:ext cx="237744" cy="237744"/>
          </a:xfrm>
          <a:prstGeom prst="roundRect">
            <a:avLst>
              <a:gd name="adj" fmla="val 20000"/>
            </a:avLst>
          </a:prstGeom>
          <a:solidFill>
            <a:srgbClr val="2563EB"/>
          </a:solidFill>
          <a:ln w="6350">
            <a:solidFill>
              <a:srgbClr val="E3DF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843016" y="1801368"/>
            <a:ext cx="2935224" cy="329184"/>
          </a:xfrm>
          <a:prstGeom prst="rect">
            <a:avLst/>
          </a:prstGeom>
          <a:noFill/>
        </p:spPr>
        <p:txBody>
          <a:bodyPr wrap="none" lIns="0" tIns="0" bIns="0" anchor="ctr">
            <a:spAutoFit/>
          </a:bodyPr>
          <a:lstStyle/>
          <a:p>
            <a:r>
              <a:rPr sz="900" b="0" i="0">
                <a:solidFill>
                  <a:srgbClr val="6B665E"/>
                </a:solidFill>
                <a:latin typeface="맑은 고딕"/>
              </a:rPr>
              <a:t>#2563EB </a:t>
            </a:r>
            <a:r>
              <a:rPr sz="1000" b="1" i="0">
                <a:solidFill>
                  <a:srgbClr val="2A2A2A"/>
                </a:solidFill>
                <a:latin typeface="맑은 고딕"/>
              </a:rPr>
              <a:t>Primary</a:t>
            </a:r>
          </a:p>
          <a:p>
            <a:r>
              <a:rPr sz="880" b="0" i="0">
                <a:solidFill>
                  <a:srgbClr val="6B665E"/>
                </a:solidFill>
                <a:latin typeface="맑은 고딕"/>
              </a:rPr>
              <a:t>주요 액션 · 링크 · 활성 상태</a:t>
            </a:r>
          </a:p>
        </p:txBody>
      </p:sp>
      <p:sp>
        <p:nvSpPr>
          <p:cNvPr id="43" name="Rounded Rectangle 42"/>
          <p:cNvSpPr/>
          <p:nvPr/>
        </p:nvSpPr>
        <p:spPr>
          <a:xfrm>
            <a:off x="5532120" y="2249424"/>
            <a:ext cx="237744" cy="237744"/>
          </a:xfrm>
          <a:prstGeom prst="roundRect">
            <a:avLst>
              <a:gd name="adj" fmla="val 20000"/>
            </a:avLst>
          </a:prstGeom>
          <a:solidFill>
            <a:srgbClr val="1D4ED8"/>
          </a:solidFill>
          <a:ln w="6350">
            <a:solidFill>
              <a:srgbClr val="E3DF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843016" y="2203704"/>
            <a:ext cx="2935224" cy="329184"/>
          </a:xfrm>
          <a:prstGeom prst="rect">
            <a:avLst/>
          </a:prstGeom>
          <a:noFill/>
        </p:spPr>
        <p:txBody>
          <a:bodyPr wrap="none" lIns="0" tIns="0" bIns="0" anchor="ctr">
            <a:spAutoFit/>
          </a:bodyPr>
          <a:lstStyle/>
          <a:p>
            <a:r>
              <a:rPr sz="900" b="0" i="0">
                <a:solidFill>
                  <a:srgbClr val="6B665E"/>
                </a:solidFill>
                <a:latin typeface="맑은 고딕"/>
              </a:rPr>
              <a:t>#1D4ED8 </a:t>
            </a:r>
            <a:r>
              <a:rPr sz="1000" b="1" i="0">
                <a:solidFill>
                  <a:srgbClr val="2A2A2A"/>
                </a:solidFill>
                <a:latin typeface="맑은 고딕"/>
              </a:rPr>
              <a:t>Blue Dark</a:t>
            </a:r>
          </a:p>
          <a:p>
            <a:r>
              <a:rPr sz="880" b="0" i="0">
                <a:solidFill>
                  <a:srgbClr val="6B665E"/>
                </a:solidFill>
                <a:latin typeface="맑은 고딕"/>
              </a:rPr>
              <a:t>헤더 · 강조 · 허브</a:t>
            </a:r>
          </a:p>
        </p:txBody>
      </p:sp>
      <p:sp>
        <p:nvSpPr>
          <p:cNvPr id="45" name="Rounded Rectangle 44"/>
          <p:cNvSpPr/>
          <p:nvPr/>
        </p:nvSpPr>
        <p:spPr>
          <a:xfrm>
            <a:off x="5532120" y="2651760"/>
            <a:ext cx="237744" cy="237744"/>
          </a:xfrm>
          <a:prstGeom prst="roundRect">
            <a:avLst>
              <a:gd name="adj" fmla="val 20000"/>
            </a:avLst>
          </a:prstGeom>
          <a:solidFill>
            <a:srgbClr val="F7F7F5"/>
          </a:solidFill>
          <a:ln w="6350">
            <a:solidFill>
              <a:srgbClr val="E3DF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843016" y="2606040"/>
            <a:ext cx="2935224" cy="329184"/>
          </a:xfrm>
          <a:prstGeom prst="rect">
            <a:avLst/>
          </a:prstGeom>
          <a:noFill/>
        </p:spPr>
        <p:txBody>
          <a:bodyPr wrap="none" lIns="0" tIns="0" bIns="0" anchor="ctr">
            <a:spAutoFit/>
          </a:bodyPr>
          <a:lstStyle/>
          <a:p>
            <a:r>
              <a:rPr sz="900" b="0" i="0">
                <a:solidFill>
                  <a:srgbClr val="6B665E"/>
                </a:solidFill>
                <a:latin typeface="맑은 고딕"/>
              </a:rPr>
              <a:t>#F7F7F5 </a:t>
            </a:r>
            <a:r>
              <a:rPr sz="1000" b="1" i="0">
                <a:solidFill>
                  <a:srgbClr val="2A2A2A"/>
                </a:solidFill>
                <a:latin typeface="맑은 고딕"/>
              </a:rPr>
              <a:t>Background</a:t>
            </a:r>
          </a:p>
          <a:p>
            <a:r>
              <a:rPr sz="880" b="0" i="0">
                <a:solidFill>
                  <a:srgbClr val="6B665E"/>
                </a:solidFill>
                <a:latin typeface="맑은 고딕"/>
              </a:rPr>
              <a:t>앱 배경 (웜 그레이)</a:t>
            </a:r>
          </a:p>
        </p:txBody>
      </p:sp>
      <p:sp>
        <p:nvSpPr>
          <p:cNvPr id="47" name="Rounded Rectangle 46"/>
          <p:cNvSpPr/>
          <p:nvPr/>
        </p:nvSpPr>
        <p:spPr>
          <a:xfrm>
            <a:off x="5532120" y="3054096"/>
            <a:ext cx="237744" cy="237744"/>
          </a:xfrm>
          <a:prstGeom prst="roundRect">
            <a:avLst>
              <a:gd name="adj" fmla="val 20000"/>
            </a:avLst>
          </a:prstGeom>
          <a:solidFill>
            <a:srgbClr val="E3DFD7"/>
          </a:solidFill>
          <a:ln w="6350">
            <a:solidFill>
              <a:srgbClr val="E3DF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843016" y="3008376"/>
            <a:ext cx="2935224" cy="329184"/>
          </a:xfrm>
          <a:prstGeom prst="rect">
            <a:avLst/>
          </a:prstGeom>
          <a:noFill/>
        </p:spPr>
        <p:txBody>
          <a:bodyPr wrap="none" lIns="0" tIns="0" bIns="0" anchor="ctr">
            <a:spAutoFit/>
          </a:bodyPr>
          <a:lstStyle/>
          <a:p>
            <a:r>
              <a:rPr sz="900" b="0" i="0">
                <a:solidFill>
                  <a:srgbClr val="6B665E"/>
                </a:solidFill>
                <a:latin typeface="맑은 고딕"/>
              </a:rPr>
              <a:t>#E3DFD7 </a:t>
            </a:r>
            <a:r>
              <a:rPr sz="1000" b="1" i="0">
                <a:solidFill>
                  <a:srgbClr val="2A2A2A"/>
                </a:solidFill>
                <a:latin typeface="맑은 고딕"/>
              </a:rPr>
              <a:t>Border</a:t>
            </a:r>
          </a:p>
          <a:p>
            <a:r>
              <a:rPr sz="880" b="0" i="0">
                <a:solidFill>
                  <a:srgbClr val="6B665E"/>
                </a:solidFill>
                <a:latin typeface="맑은 고딕"/>
              </a:rPr>
              <a:t>구분선 · 카드 테두리</a:t>
            </a:r>
          </a:p>
        </p:txBody>
      </p:sp>
      <p:sp>
        <p:nvSpPr>
          <p:cNvPr id="49" name="Rounded Rectangle 48"/>
          <p:cNvSpPr/>
          <p:nvPr/>
        </p:nvSpPr>
        <p:spPr>
          <a:xfrm>
            <a:off x="5532120" y="3456432"/>
            <a:ext cx="237744" cy="237744"/>
          </a:xfrm>
          <a:prstGeom prst="roundRect">
            <a:avLst>
              <a:gd name="adj" fmla="val 20000"/>
            </a:avLst>
          </a:prstGeom>
          <a:solidFill>
            <a:srgbClr val="2A2A2A"/>
          </a:solidFill>
          <a:ln w="6350">
            <a:solidFill>
              <a:srgbClr val="E3DF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843016" y="3410712"/>
            <a:ext cx="2935224" cy="329184"/>
          </a:xfrm>
          <a:prstGeom prst="rect">
            <a:avLst/>
          </a:prstGeom>
          <a:noFill/>
        </p:spPr>
        <p:txBody>
          <a:bodyPr wrap="none" lIns="0" tIns="0" bIns="0" anchor="ctr">
            <a:spAutoFit/>
          </a:bodyPr>
          <a:lstStyle/>
          <a:p>
            <a:r>
              <a:rPr sz="900" b="0" i="0">
                <a:solidFill>
                  <a:srgbClr val="6B665E"/>
                </a:solidFill>
                <a:latin typeface="맑은 고딕"/>
              </a:rPr>
              <a:t>#2A2A2A </a:t>
            </a:r>
            <a:r>
              <a:rPr sz="1000" b="1" i="0">
                <a:solidFill>
                  <a:srgbClr val="2A2A2A"/>
                </a:solidFill>
                <a:latin typeface="맑은 고딕"/>
              </a:rPr>
              <a:t>Text</a:t>
            </a:r>
          </a:p>
          <a:p>
            <a:r>
              <a:rPr sz="880" b="0" i="0">
                <a:solidFill>
                  <a:srgbClr val="6B665E"/>
                </a:solidFill>
                <a:latin typeface="맑은 고딕"/>
              </a:rPr>
              <a:t>본문 텍스트</a:t>
            </a:r>
          </a:p>
        </p:txBody>
      </p:sp>
      <p:sp>
        <p:nvSpPr>
          <p:cNvPr id="51" name="Rounded Rectangle 50"/>
          <p:cNvSpPr/>
          <p:nvPr/>
        </p:nvSpPr>
        <p:spPr>
          <a:xfrm>
            <a:off x="5532120" y="3858768"/>
            <a:ext cx="237744" cy="237744"/>
          </a:xfrm>
          <a:prstGeom prst="roundRect">
            <a:avLst>
              <a:gd name="adj" fmla="val 20000"/>
            </a:avLst>
          </a:prstGeom>
          <a:solidFill>
            <a:srgbClr val="6B665E"/>
          </a:solidFill>
          <a:ln w="6350">
            <a:solidFill>
              <a:srgbClr val="E3DF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843016" y="3813048"/>
            <a:ext cx="2935224" cy="329184"/>
          </a:xfrm>
          <a:prstGeom prst="rect">
            <a:avLst/>
          </a:prstGeom>
          <a:noFill/>
        </p:spPr>
        <p:txBody>
          <a:bodyPr wrap="none" lIns="0" tIns="0" bIns="0" anchor="ctr">
            <a:spAutoFit/>
          </a:bodyPr>
          <a:lstStyle/>
          <a:p>
            <a:r>
              <a:rPr sz="900" b="0" i="0">
                <a:solidFill>
                  <a:srgbClr val="6B665E"/>
                </a:solidFill>
                <a:latin typeface="맑은 고딕"/>
              </a:rPr>
              <a:t>#6B665E </a:t>
            </a:r>
            <a:r>
              <a:rPr sz="1000" b="1" i="0">
                <a:solidFill>
                  <a:srgbClr val="2A2A2A"/>
                </a:solidFill>
                <a:latin typeface="맑은 고딕"/>
              </a:rPr>
              <a:t>Text Sub</a:t>
            </a:r>
          </a:p>
          <a:p>
            <a:r>
              <a:rPr sz="880" b="0" i="0">
                <a:solidFill>
                  <a:srgbClr val="6B665E"/>
                </a:solidFill>
                <a:latin typeface="맑은 고딕"/>
              </a:rPr>
              <a:t>보조 · 캡션 텍스트</a:t>
            </a:r>
          </a:p>
        </p:txBody>
      </p:sp>
      <p:sp>
        <p:nvSpPr>
          <p:cNvPr id="53" name="TextBox 52"/>
          <p:cNvSpPr txBox="1"/>
          <p:nvPr/>
        </p:nvSpPr>
        <p:spPr>
          <a:xfrm>
            <a:off x="5504688" y="4407408"/>
            <a:ext cx="3291840" cy="292608"/>
          </a:xfrm>
          <a:prstGeom prst="rect">
            <a:avLst/>
          </a:prstGeom>
          <a:noFill/>
        </p:spPr>
        <p:txBody>
          <a:bodyPr wrap="none" lIns="0" tIns="0" bIns="0">
            <a:spAutoFit/>
          </a:bodyPr>
          <a:lstStyle/>
          <a:p>
            <a:r>
              <a:rPr sz="1300" b="0" i="0">
                <a:solidFill>
                  <a:srgbClr val="2563EB"/>
                </a:solidFill>
                <a:latin typeface="맑은 고딕"/>
              </a:rPr>
              <a:t>▍ </a:t>
            </a:r>
            <a:r>
              <a:rPr sz="1300" b="1" i="0">
                <a:solidFill>
                  <a:srgbClr val="2A2A2A"/>
                </a:solidFill>
                <a:latin typeface="맑은 고딕"/>
              </a:rPr>
              <a:t>타이포그래피</a:t>
            </a:r>
          </a:p>
        </p:txBody>
      </p:sp>
      <p:sp>
        <p:nvSpPr>
          <p:cNvPr id="54" name="Rounded Rectangle 53"/>
          <p:cNvSpPr/>
          <p:nvPr/>
        </p:nvSpPr>
        <p:spPr>
          <a:xfrm>
            <a:off x="5532120" y="4718304"/>
            <a:ext cx="3246120" cy="1463040"/>
          </a:xfrm>
          <a:prstGeom prst="roundRect">
            <a:avLst>
              <a:gd name="adj" fmla="val 5000"/>
            </a:avLst>
          </a:prstGeom>
          <a:solidFill>
            <a:srgbClr val="FFFFFF"/>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139700" tIns="101600" rIns="114300" rtlCol="0" anchor="ctr"/>
          <a:lstStyle/>
          <a:p>
            <a:pPr algn="ctr">
              <a:spcBef>
                <a:spcPts val="400"/>
              </a:spcBef>
            </a:pPr>
            <a:r>
              <a:rPr sz="1000" b="1" i="0">
                <a:solidFill>
                  <a:srgbClr val="2563EB"/>
                </a:solidFill>
                <a:latin typeface="맑은 고딕"/>
              </a:rPr>
              <a:t>서체  </a:t>
            </a:r>
            <a:r>
              <a:rPr sz="1000" b="0" i="0">
                <a:solidFill>
                  <a:srgbClr val="2A2A2A"/>
                </a:solidFill>
                <a:latin typeface="맑은 고딕"/>
              </a:rPr>
              <a:t>Pretendard / 맑은 고딕 계열</a:t>
            </a:r>
          </a:p>
          <a:p>
            <a:pPr>
              <a:spcBef>
                <a:spcPts val="400"/>
              </a:spcBef>
            </a:pPr>
            <a:r>
              <a:rPr sz="1000" b="1" i="0">
                <a:solidFill>
                  <a:srgbClr val="2563EB"/>
                </a:solidFill>
                <a:latin typeface="맑은 고딕"/>
              </a:rPr>
              <a:t>스케일  </a:t>
            </a:r>
            <a:r>
              <a:rPr sz="1000" b="0" i="0">
                <a:solidFill>
                  <a:srgbClr val="2A2A2A"/>
                </a:solidFill>
                <a:latin typeface="맑은 고딕"/>
              </a:rPr>
              <a:t>Display 28 · Title 20 · Heading 15</a:t>
            </a:r>
          </a:p>
          <a:p>
            <a:pPr>
              <a:spcBef>
                <a:spcPts val="400"/>
              </a:spcBef>
            </a:pPr>
            <a:r>
              <a:rPr sz="1000" b="0" i="0">
                <a:solidFill>
                  <a:srgbClr val="2A2A2A"/>
                </a:solidFill>
                <a:latin typeface="맑은 고딕"/>
              </a:rPr>
              <a:t>Body 13 · Caption 11 (pt)</a:t>
            </a:r>
          </a:p>
          <a:p>
            <a:pPr>
              <a:spcBef>
                <a:spcPts val="400"/>
              </a:spcBef>
            </a:pPr>
            <a:r>
              <a:rPr sz="1000" b="1" i="0">
                <a:solidFill>
                  <a:srgbClr val="2563EB"/>
                </a:solidFill>
                <a:latin typeface="맑은 고딕"/>
              </a:rPr>
              <a:t>계측값  </a:t>
            </a:r>
            <a:r>
              <a:rPr sz="1000" b="0" i="0">
                <a:solidFill>
                  <a:srgbClr val="2A2A2A"/>
                </a:solidFill>
                <a:latin typeface="맑은 고딕"/>
              </a:rPr>
              <a:t>숫자는 Bold · Tabular 정렬</a:t>
            </a:r>
          </a:p>
        </p:txBody>
      </p:sp>
    </p:spTree>
    <p:extLst>
      <p:ext uri="{BB962C8B-B14F-4D97-AF65-F5344CB8AC3E}">
        <p14:creationId xmlns:p14="http://schemas.microsoft.com/office/powerpoint/2010/main" val="32904210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직사각형 23"/>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5" name="직선 연결선 24"/>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 name="직선 연결선 25"/>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7"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UI/UX 정의서</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28" name="Picture 27" descr="image.png"/>
          <p:cNvPicPr>
            <a:picLocks noChangeAspect="1"/>
          </p:cNvPicPr>
          <p:nvPr/>
        </p:nvPicPr>
        <p:blipFill>
          <a:blip r:embed="rId2"/>
          <a:stretch>
            <a:fillRect/>
          </a:stretch>
        </p:blipFill>
        <p:spPr>
          <a:xfrm>
            <a:off x="8676456" y="476671"/>
            <a:ext cx="454960" cy="158965"/>
          </a:xfrm>
          <a:prstGeom prst="rect">
            <a:avLst/>
          </a:prstGeom>
        </p:spPr>
      </p:pic>
      <p:sp>
        <p:nvSpPr>
          <p:cNvPr id="32" name="막힌 원호 31"/>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3" name="Picture 32" descr="image.png"/>
          <p:cNvPicPr>
            <a:picLocks noChangeAspect="1"/>
          </p:cNvPicPr>
          <p:nvPr/>
        </p:nvPicPr>
        <p:blipFill>
          <a:blip r:embed="rId3"/>
          <a:stretch>
            <a:fillRect/>
          </a:stretch>
        </p:blipFill>
        <p:spPr>
          <a:xfrm>
            <a:off x="7528235" y="98344"/>
            <a:ext cx="1498208" cy="347199"/>
          </a:xfrm>
          <a:prstGeom prst="rect">
            <a:avLst/>
          </a:prstGeom>
        </p:spPr>
      </p:pic>
      <p:sp>
        <p:nvSpPr>
          <p:cNvPr id="35" name="TextBox 34"/>
          <p:cNvSpPr txBox="1"/>
          <p:nvPr/>
        </p:nvSpPr>
        <p:spPr>
          <a:xfrm>
            <a:off x="402336" y="1463040"/>
            <a:ext cx="8229600" cy="292608"/>
          </a:xfrm>
          <a:prstGeom prst="rect">
            <a:avLst/>
          </a:prstGeom>
          <a:noFill/>
        </p:spPr>
        <p:txBody>
          <a:bodyPr wrap="none" lIns="0" tIns="0" bIns="0">
            <a:spAutoFit/>
          </a:bodyPr>
          <a:lstStyle/>
          <a:p>
            <a:r>
              <a:rPr sz="1300" b="0" i="0">
                <a:solidFill>
                  <a:srgbClr val="2563EB"/>
                </a:solidFill>
                <a:latin typeface="맑은 고딕"/>
              </a:rPr>
              <a:t>▍ </a:t>
            </a:r>
            <a:r>
              <a:rPr sz="1300" b="1" i="0">
                <a:solidFill>
                  <a:srgbClr val="2A2A2A"/>
                </a:solidFill>
                <a:latin typeface="맑은 고딕"/>
              </a:rPr>
              <a:t>상태 등급 색상 체계 (LSTM-AutoEncoder 재구성 오차 기반 이상점수)</a:t>
            </a:r>
          </a:p>
        </p:txBody>
      </p:sp>
      <p:graphicFrame>
        <p:nvGraphicFramePr>
          <p:cNvPr id="36" name="Table 35"/>
          <p:cNvGraphicFramePr>
            <a:graphicFrameLocks noGrp="1"/>
          </p:cNvGraphicFramePr>
          <p:nvPr/>
        </p:nvGraphicFramePr>
        <p:xfrm>
          <a:off x="402336" y="1810512"/>
          <a:ext cx="8339325" cy="1828800"/>
        </p:xfrm>
        <a:graphic>
          <a:graphicData uri="http://schemas.openxmlformats.org/drawingml/2006/table">
            <a:tbl>
              <a:tblPr firstRow="1">
                <a:tableStyleId>{5C22544A-7EE6-4342-B048-85BDC9FD1C3A}</a:tableStyleId>
              </a:tblPr>
              <a:tblGrid>
                <a:gridCol w="962230">
                  <a:extLst>
                    <a:ext uri="{9D8B030D-6E8A-4147-A177-3AD203B41FA5}">
                      <a16:colId xmlns:a16="http://schemas.microsoft.com/office/drawing/2014/main" val="20000"/>
                    </a:ext>
                  </a:extLst>
                </a:gridCol>
                <a:gridCol w="1176059">
                  <a:extLst>
                    <a:ext uri="{9D8B030D-6E8A-4147-A177-3AD203B41FA5}">
                      <a16:colId xmlns:a16="http://schemas.microsoft.com/office/drawing/2014/main" val="20001"/>
                    </a:ext>
                  </a:extLst>
                </a:gridCol>
                <a:gridCol w="1389887">
                  <a:extLst>
                    <a:ext uri="{9D8B030D-6E8A-4147-A177-3AD203B41FA5}">
                      <a16:colId xmlns:a16="http://schemas.microsoft.com/office/drawing/2014/main" val="20002"/>
                    </a:ext>
                  </a:extLst>
                </a:gridCol>
                <a:gridCol w="1389887">
                  <a:extLst>
                    <a:ext uri="{9D8B030D-6E8A-4147-A177-3AD203B41FA5}">
                      <a16:colId xmlns:a16="http://schemas.microsoft.com/office/drawing/2014/main" val="20003"/>
                    </a:ext>
                  </a:extLst>
                </a:gridCol>
                <a:gridCol w="3421262">
                  <a:extLst>
                    <a:ext uri="{9D8B030D-6E8A-4147-A177-3AD203B41FA5}">
                      <a16:colId xmlns:a16="http://schemas.microsoft.com/office/drawing/2014/main" val="20004"/>
                    </a:ext>
                  </a:extLst>
                </a:gridCol>
              </a:tblGrid>
              <a:tr h="365760">
                <a:tc>
                  <a:txBody>
                    <a:bodyPr/>
                    <a:lstStyle/>
                    <a:p>
                      <a:pPr algn="l"/>
                      <a:r>
                        <a:rPr sz="1000" b="1" i="0">
                          <a:solidFill>
                            <a:srgbClr val="FFFFFF"/>
                          </a:solidFill>
                          <a:latin typeface="맑은 고딕"/>
                        </a:rPr>
                        <a:t>등급</a:t>
                      </a:r>
                    </a:p>
                  </a:txBody>
                  <a:tcPr marL="76200" marR="50800" marT="38100" marB="38100" anchor="ctr">
                    <a:solidFill>
                      <a:srgbClr val="1D4ED8"/>
                    </a:solidFill>
                  </a:tcPr>
                </a:tc>
                <a:tc>
                  <a:txBody>
                    <a:bodyPr/>
                    <a:lstStyle/>
                    <a:p>
                      <a:pPr algn="l"/>
                      <a:r>
                        <a:rPr sz="1000" b="1" i="0">
                          <a:solidFill>
                            <a:srgbClr val="FFFFFF"/>
                          </a:solidFill>
                          <a:latin typeface="맑은 고딕"/>
                        </a:rPr>
                        <a:t>이상점수</a:t>
                      </a:r>
                    </a:p>
                  </a:txBody>
                  <a:tcPr marL="76200" marR="50800" marT="38100" marB="38100" anchor="ctr">
                    <a:solidFill>
                      <a:srgbClr val="1D4ED8"/>
                    </a:solidFill>
                  </a:tcPr>
                </a:tc>
                <a:tc>
                  <a:txBody>
                    <a:bodyPr/>
                    <a:lstStyle/>
                    <a:p>
                      <a:pPr algn="l"/>
                      <a:r>
                        <a:rPr sz="1000" b="1" i="0">
                          <a:solidFill>
                            <a:srgbClr val="FFFFFF"/>
                          </a:solidFill>
                          <a:latin typeface="맑은 고딕"/>
                        </a:rPr>
                        <a:t>게이지(0–100)</a:t>
                      </a:r>
                    </a:p>
                  </a:txBody>
                  <a:tcPr marL="76200" marR="50800" marT="38100" marB="38100" anchor="ctr">
                    <a:solidFill>
                      <a:srgbClr val="1D4ED8"/>
                    </a:solidFill>
                  </a:tcPr>
                </a:tc>
                <a:tc>
                  <a:txBody>
                    <a:bodyPr/>
                    <a:lstStyle/>
                    <a:p>
                      <a:pPr algn="l"/>
                      <a:r>
                        <a:rPr sz="1000" b="1" i="0">
                          <a:solidFill>
                            <a:srgbClr val="FFFFFF"/>
                          </a:solidFill>
                          <a:latin typeface="맑은 고딕"/>
                        </a:rPr>
                        <a:t>색상</a:t>
                      </a:r>
                    </a:p>
                  </a:txBody>
                  <a:tcPr marL="76200" marR="50800" marT="38100" marB="38100" anchor="ctr">
                    <a:solidFill>
                      <a:srgbClr val="1D4ED8"/>
                    </a:solidFill>
                  </a:tcPr>
                </a:tc>
                <a:tc>
                  <a:txBody>
                    <a:bodyPr/>
                    <a:lstStyle/>
                    <a:p>
                      <a:pPr algn="l"/>
                      <a:r>
                        <a:rPr sz="1000" b="1" i="0">
                          <a:solidFill>
                            <a:srgbClr val="FFFFFF"/>
                          </a:solidFill>
                          <a:latin typeface="맑은 고딕"/>
                        </a:rPr>
                        <a:t>용도 · 대응</a:t>
                      </a:r>
                    </a:p>
                  </a:txBody>
                  <a:tcPr marL="76200" marR="50800" marT="38100" marB="38100" anchor="ctr">
                    <a:solidFill>
                      <a:srgbClr val="1D4ED8"/>
                    </a:solidFill>
                  </a:tcPr>
                </a:tc>
                <a:extLst>
                  <a:ext uri="{0D108BD9-81ED-4DB2-BD59-A6C34878D82A}">
                    <a16:rowId xmlns:a16="http://schemas.microsoft.com/office/drawing/2014/main" val="10000"/>
                  </a:ext>
                </a:extLst>
              </a:tr>
              <a:tr h="365760">
                <a:tc>
                  <a:txBody>
                    <a:bodyPr/>
                    <a:lstStyle/>
                    <a:p>
                      <a:pPr algn="l"/>
                      <a:r>
                        <a:rPr sz="950" b="1" i="0">
                          <a:solidFill>
                            <a:srgbClr val="16A34A"/>
                          </a:solidFill>
                          <a:latin typeface="맑은 고딕"/>
                        </a:rPr>
                        <a:t>정상</a:t>
                      </a:r>
                    </a:p>
                  </a:txBody>
                  <a:tcPr marL="76200" marR="50800" marT="38100" marB="38100" anchor="ctr">
                    <a:solidFill>
                      <a:srgbClr val="FFFFFF"/>
                    </a:solidFill>
                  </a:tcPr>
                </a:tc>
                <a:tc>
                  <a:txBody>
                    <a:bodyPr/>
                    <a:lstStyle/>
                    <a:p>
                      <a:pPr algn="l"/>
                      <a:r>
                        <a:rPr sz="950" b="0" i="0">
                          <a:solidFill>
                            <a:srgbClr val="2A2A2A"/>
                          </a:solidFill>
                          <a:latin typeface="맑은 고딕"/>
                        </a:rPr>
                        <a:t>0.0 – 0.3</a:t>
                      </a:r>
                    </a:p>
                  </a:txBody>
                  <a:tcPr marL="76200" marR="50800" marT="38100" marB="38100" anchor="ctr">
                    <a:solidFill>
                      <a:srgbClr val="FFFFFF"/>
                    </a:solidFill>
                  </a:tcPr>
                </a:tc>
                <a:tc>
                  <a:txBody>
                    <a:bodyPr/>
                    <a:lstStyle/>
                    <a:p>
                      <a:pPr algn="l"/>
                      <a:r>
                        <a:rPr sz="950" b="0" i="0">
                          <a:solidFill>
                            <a:srgbClr val="2A2A2A"/>
                          </a:solidFill>
                          <a:latin typeface="맑은 고딕"/>
                        </a:rPr>
                        <a:t>0 – 30</a:t>
                      </a:r>
                    </a:p>
                  </a:txBody>
                  <a:tcPr marL="76200" marR="50800" marT="38100" marB="38100" anchor="ctr">
                    <a:solidFill>
                      <a:srgbClr val="FFFFFF"/>
                    </a:solidFill>
                  </a:tcPr>
                </a:tc>
                <a:tc>
                  <a:txBody>
                    <a:bodyPr/>
                    <a:lstStyle/>
                    <a:p>
                      <a:pPr algn="l"/>
                      <a:r>
                        <a:rPr sz="950" b="0" i="0">
                          <a:solidFill>
                            <a:srgbClr val="16A34A"/>
                          </a:solidFill>
                          <a:latin typeface="맑은 고딕"/>
                        </a:rPr>
                        <a:t>■ #16A34A</a:t>
                      </a:r>
                    </a:p>
                  </a:txBody>
                  <a:tcPr marL="76200" marR="50800" marT="38100" marB="38100" anchor="ctr">
                    <a:solidFill>
                      <a:srgbClr val="FFFFFF"/>
                    </a:solidFill>
                  </a:tcPr>
                </a:tc>
                <a:tc>
                  <a:txBody>
                    <a:bodyPr/>
                    <a:lstStyle/>
                    <a:p>
                      <a:pPr algn="l"/>
                      <a:r>
                        <a:rPr sz="950" b="0" i="0">
                          <a:solidFill>
                            <a:srgbClr val="2A2A2A"/>
                          </a:solidFill>
                          <a:latin typeface="맑은 고딕"/>
                        </a:rPr>
                        <a:t>정상 가동 · 별도 조치 불필요</a:t>
                      </a:r>
                    </a:p>
                  </a:txBody>
                  <a:tcPr marL="76200" marR="50800" marT="38100" marB="38100" anchor="ctr">
                    <a:solidFill>
                      <a:srgbClr val="FFFFFF"/>
                    </a:solidFill>
                  </a:tcPr>
                </a:tc>
                <a:extLst>
                  <a:ext uri="{0D108BD9-81ED-4DB2-BD59-A6C34878D82A}">
                    <a16:rowId xmlns:a16="http://schemas.microsoft.com/office/drawing/2014/main" val="10001"/>
                  </a:ext>
                </a:extLst>
              </a:tr>
              <a:tr h="365760">
                <a:tc>
                  <a:txBody>
                    <a:bodyPr/>
                    <a:lstStyle/>
                    <a:p>
                      <a:pPr algn="l"/>
                      <a:r>
                        <a:rPr sz="950" b="1" i="0">
                          <a:solidFill>
                            <a:srgbClr val="F59E0B"/>
                          </a:solidFill>
                          <a:latin typeface="맑은 고딕"/>
                        </a:rPr>
                        <a:t>주의</a:t>
                      </a:r>
                    </a:p>
                  </a:txBody>
                  <a:tcPr marL="76200" marR="50800" marT="38100" marB="38100" anchor="ctr">
                    <a:solidFill>
                      <a:srgbClr val="FAFAF8"/>
                    </a:solidFill>
                  </a:tcPr>
                </a:tc>
                <a:tc>
                  <a:txBody>
                    <a:bodyPr/>
                    <a:lstStyle/>
                    <a:p>
                      <a:pPr algn="l"/>
                      <a:r>
                        <a:rPr sz="950" b="0" i="0">
                          <a:solidFill>
                            <a:srgbClr val="2A2A2A"/>
                          </a:solidFill>
                          <a:latin typeface="맑은 고딕"/>
                        </a:rPr>
                        <a:t>0.3 – 0.6</a:t>
                      </a:r>
                    </a:p>
                  </a:txBody>
                  <a:tcPr marL="76200" marR="50800" marT="38100" marB="38100" anchor="ctr">
                    <a:solidFill>
                      <a:srgbClr val="FAFAF8"/>
                    </a:solidFill>
                  </a:tcPr>
                </a:tc>
                <a:tc>
                  <a:txBody>
                    <a:bodyPr/>
                    <a:lstStyle/>
                    <a:p>
                      <a:pPr algn="l"/>
                      <a:r>
                        <a:rPr sz="950" b="0" i="0">
                          <a:solidFill>
                            <a:srgbClr val="2A2A2A"/>
                          </a:solidFill>
                          <a:latin typeface="맑은 고딕"/>
                        </a:rPr>
                        <a:t>30 – 60</a:t>
                      </a:r>
                    </a:p>
                  </a:txBody>
                  <a:tcPr marL="76200" marR="50800" marT="38100" marB="38100" anchor="ctr">
                    <a:solidFill>
                      <a:srgbClr val="FAFAF8"/>
                    </a:solidFill>
                  </a:tcPr>
                </a:tc>
                <a:tc>
                  <a:txBody>
                    <a:bodyPr/>
                    <a:lstStyle/>
                    <a:p>
                      <a:pPr algn="l"/>
                      <a:r>
                        <a:rPr sz="950" b="0" i="0">
                          <a:solidFill>
                            <a:srgbClr val="F59E0B"/>
                          </a:solidFill>
                          <a:latin typeface="맑은 고딕"/>
                        </a:rPr>
                        <a:t>■ #F59E0B</a:t>
                      </a:r>
                    </a:p>
                  </a:txBody>
                  <a:tcPr marL="76200" marR="50800" marT="38100" marB="38100" anchor="ctr">
                    <a:solidFill>
                      <a:srgbClr val="FAFAF8"/>
                    </a:solidFill>
                  </a:tcPr>
                </a:tc>
                <a:tc>
                  <a:txBody>
                    <a:bodyPr/>
                    <a:lstStyle/>
                    <a:p>
                      <a:pPr algn="l"/>
                      <a:r>
                        <a:rPr sz="950" b="0" i="0">
                          <a:solidFill>
                            <a:srgbClr val="2A2A2A"/>
                          </a:solidFill>
                          <a:latin typeface="맑은 고딕"/>
                        </a:rPr>
                        <a:t>추세 관찰 · 알림 준비</a:t>
                      </a:r>
                    </a:p>
                  </a:txBody>
                  <a:tcPr marL="76200" marR="50800" marT="38100" marB="38100" anchor="ctr">
                    <a:solidFill>
                      <a:srgbClr val="FAFAF8"/>
                    </a:solidFill>
                  </a:tcPr>
                </a:tc>
                <a:extLst>
                  <a:ext uri="{0D108BD9-81ED-4DB2-BD59-A6C34878D82A}">
                    <a16:rowId xmlns:a16="http://schemas.microsoft.com/office/drawing/2014/main" val="10002"/>
                  </a:ext>
                </a:extLst>
              </a:tr>
              <a:tr h="365760">
                <a:tc>
                  <a:txBody>
                    <a:bodyPr/>
                    <a:lstStyle/>
                    <a:p>
                      <a:pPr algn="l"/>
                      <a:r>
                        <a:rPr sz="950" b="1" i="0">
                          <a:solidFill>
                            <a:srgbClr val="EA580C"/>
                          </a:solidFill>
                          <a:latin typeface="맑은 고딕"/>
                        </a:rPr>
                        <a:t>경고</a:t>
                      </a:r>
                    </a:p>
                  </a:txBody>
                  <a:tcPr marL="76200" marR="50800" marT="38100" marB="38100" anchor="ctr">
                    <a:solidFill>
                      <a:srgbClr val="FFFFFF"/>
                    </a:solidFill>
                  </a:tcPr>
                </a:tc>
                <a:tc>
                  <a:txBody>
                    <a:bodyPr/>
                    <a:lstStyle/>
                    <a:p>
                      <a:pPr algn="l"/>
                      <a:r>
                        <a:rPr sz="950" b="0" i="0">
                          <a:solidFill>
                            <a:srgbClr val="2A2A2A"/>
                          </a:solidFill>
                          <a:latin typeface="맑은 고딕"/>
                        </a:rPr>
                        <a:t>0.6 – 0.8</a:t>
                      </a:r>
                    </a:p>
                  </a:txBody>
                  <a:tcPr marL="76200" marR="50800" marT="38100" marB="38100" anchor="ctr">
                    <a:solidFill>
                      <a:srgbClr val="FFFFFF"/>
                    </a:solidFill>
                  </a:tcPr>
                </a:tc>
                <a:tc>
                  <a:txBody>
                    <a:bodyPr/>
                    <a:lstStyle/>
                    <a:p>
                      <a:pPr algn="l"/>
                      <a:r>
                        <a:rPr sz="950" b="0" i="0">
                          <a:solidFill>
                            <a:srgbClr val="2A2A2A"/>
                          </a:solidFill>
                          <a:latin typeface="맑은 고딕"/>
                        </a:rPr>
                        <a:t>60 – 80</a:t>
                      </a:r>
                    </a:p>
                  </a:txBody>
                  <a:tcPr marL="76200" marR="50800" marT="38100" marB="38100" anchor="ctr">
                    <a:solidFill>
                      <a:srgbClr val="FFFFFF"/>
                    </a:solidFill>
                  </a:tcPr>
                </a:tc>
                <a:tc>
                  <a:txBody>
                    <a:bodyPr/>
                    <a:lstStyle/>
                    <a:p>
                      <a:pPr algn="l"/>
                      <a:r>
                        <a:rPr sz="950" b="0" i="0">
                          <a:solidFill>
                            <a:srgbClr val="EA580C"/>
                          </a:solidFill>
                          <a:latin typeface="맑은 고딕"/>
                        </a:rPr>
                        <a:t>■ #EA580C</a:t>
                      </a:r>
                    </a:p>
                  </a:txBody>
                  <a:tcPr marL="76200" marR="50800" marT="38100" marB="38100" anchor="ctr">
                    <a:solidFill>
                      <a:srgbClr val="FFFFFF"/>
                    </a:solidFill>
                  </a:tcPr>
                </a:tc>
                <a:tc>
                  <a:txBody>
                    <a:bodyPr/>
                    <a:lstStyle/>
                    <a:p>
                      <a:pPr algn="l"/>
                      <a:r>
                        <a:rPr sz="950" b="0" i="0">
                          <a:solidFill>
                            <a:srgbClr val="2A2A2A"/>
                          </a:solidFill>
                          <a:latin typeface="맑은 고딕"/>
                        </a:rPr>
                        <a:t>점검 권고 · 카카오톡 알림 발송</a:t>
                      </a:r>
                    </a:p>
                  </a:txBody>
                  <a:tcPr marL="76200" marR="50800" marT="38100" marB="38100" anchor="ctr">
                    <a:solidFill>
                      <a:srgbClr val="FFFFFF"/>
                    </a:solidFill>
                  </a:tcPr>
                </a:tc>
                <a:extLst>
                  <a:ext uri="{0D108BD9-81ED-4DB2-BD59-A6C34878D82A}">
                    <a16:rowId xmlns:a16="http://schemas.microsoft.com/office/drawing/2014/main" val="10003"/>
                  </a:ext>
                </a:extLst>
              </a:tr>
              <a:tr h="365760">
                <a:tc>
                  <a:txBody>
                    <a:bodyPr/>
                    <a:lstStyle/>
                    <a:p>
                      <a:pPr algn="l"/>
                      <a:r>
                        <a:rPr sz="950" b="1" i="0">
                          <a:solidFill>
                            <a:srgbClr val="DC2626"/>
                          </a:solidFill>
                          <a:latin typeface="맑은 고딕"/>
                        </a:rPr>
                        <a:t>위험</a:t>
                      </a:r>
                    </a:p>
                  </a:txBody>
                  <a:tcPr marL="76200" marR="50800" marT="38100" marB="38100" anchor="ctr">
                    <a:solidFill>
                      <a:srgbClr val="FAFAF8"/>
                    </a:solidFill>
                  </a:tcPr>
                </a:tc>
                <a:tc>
                  <a:txBody>
                    <a:bodyPr/>
                    <a:lstStyle/>
                    <a:p>
                      <a:pPr algn="l"/>
                      <a:r>
                        <a:rPr sz="950" b="0" i="0">
                          <a:solidFill>
                            <a:srgbClr val="2A2A2A"/>
                          </a:solidFill>
                          <a:latin typeface="맑은 고딕"/>
                        </a:rPr>
                        <a:t>0.8 – 1.0</a:t>
                      </a:r>
                    </a:p>
                  </a:txBody>
                  <a:tcPr marL="76200" marR="50800" marT="38100" marB="38100" anchor="ctr">
                    <a:solidFill>
                      <a:srgbClr val="FAFAF8"/>
                    </a:solidFill>
                  </a:tcPr>
                </a:tc>
                <a:tc>
                  <a:txBody>
                    <a:bodyPr/>
                    <a:lstStyle/>
                    <a:p>
                      <a:pPr algn="l"/>
                      <a:r>
                        <a:rPr sz="950" b="0" i="0">
                          <a:solidFill>
                            <a:srgbClr val="2A2A2A"/>
                          </a:solidFill>
                          <a:latin typeface="맑은 고딕"/>
                        </a:rPr>
                        <a:t>80 – 100</a:t>
                      </a:r>
                    </a:p>
                  </a:txBody>
                  <a:tcPr marL="76200" marR="50800" marT="38100" marB="38100" anchor="ctr">
                    <a:solidFill>
                      <a:srgbClr val="FAFAF8"/>
                    </a:solidFill>
                  </a:tcPr>
                </a:tc>
                <a:tc>
                  <a:txBody>
                    <a:bodyPr/>
                    <a:lstStyle/>
                    <a:p>
                      <a:pPr algn="l"/>
                      <a:r>
                        <a:rPr sz="950" b="0" i="0">
                          <a:solidFill>
                            <a:srgbClr val="DC2626"/>
                          </a:solidFill>
                          <a:latin typeface="맑은 고딕"/>
                        </a:rPr>
                        <a:t>■ #DC2626</a:t>
                      </a:r>
                    </a:p>
                  </a:txBody>
                  <a:tcPr marL="76200" marR="50800" marT="38100" marB="38100" anchor="ctr">
                    <a:solidFill>
                      <a:srgbClr val="FAFAF8"/>
                    </a:solidFill>
                  </a:tcPr>
                </a:tc>
                <a:tc>
                  <a:txBody>
                    <a:bodyPr/>
                    <a:lstStyle/>
                    <a:p>
                      <a:pPr algn="l"/>
                      <a:r>
                        <a:rPr sz="950" b="0" i="0">
                          <a:solidFill>
                            <a:srgbClr val="2A2A2A"/>
                          </a:solidFill>
                          <a:latin typeface="맑은 고딕"/>
                        </a:rPr>
                        <a:t>즉시 대응 · Kill-Switch(릴레이) 차단</a:t>
                      </a:r>
                    </a:p>
                  </a:txBody>
                  <a:tcPr marL="76200" marR="50800" marT="38100" marB="38100" anchor="ctr">
                    <a:solidFill>
                      <a:srgbClr val="FAFAF8"/>
                    </a:solidFill>
                  </a:tcPr>
                </a:tc>
                <a:extLst>
                  <a:ext uri="{0D108BD9-81ED-4DB2-BD59-A6C34878D82A}">
                    <a16:rowId xmlns:a16="http://schemas.microsoft.com/office/drawing/2014/main" val="10004"/>
                  </a:ext>
                </a:extLst>
              </a:tr>
            </a:tbl>
          </a:graphicData>
        </a:graphic>
      </p:graphicFrame>
      <p:sp>
        <p:nvSpPr>
          <p:cNvPr id="37" name="TextBox 36"/>
          <p:cNvSpPr txBox="1"/>
          <p:nvPr/>
        </p:nvSpPr>
        <p:spPr>
          <a:xfrm>
            <a:off x="402336" y="3913632"/>
            <a:ext cx="8229600" cy="292608"/>
          </a:xfrm>
          <a:prstGeom prst="rect">
            <a:avLst/>
          </a:prstGeom>
          <a:noFill/>
        </p:spPr>
        <p:txBody>
          <a:bodyPr wrap="none" lIns="0" tIns="0" bIns="0">
            <a:spAutoFit/>
          </a:bodyPr>
          <a:lstStyle/>
          <a:p>
            <a:r>
              <a:rPr sz="1300" b="0" i="0">
                <a:solidFill>
                  <a:srgbClr val="2563EB"/>
                </a:solidFill>
                <a:latin typeface="맑은 고딕"/>
              </a:rPr>
              <a:t>▍ </a:t>
            </a:r>
            <a:r>
              <a:rPr sz="1300" b="1" i="0">
                <a:solidFill>
                  <a:srgbClr val="2A2A2A"/>
                </a:solidFill>
                <a:latin typeface="맑은 고딕"/>
              </a:rPr>
              <a:t>핵심 UI 컴포넌트 카탈로그</a:t>
            </a:r>
          </a:p>
        </p:txBody>
      </p:sp>
      <p:sp>
        <p:nvSpPr>
          <p:cNvPr id="38" name="Rounded Rectangle 37"/>
          <p:cNvSpPr/>
          <p:nvPr/>
        </p:nvSpPr>
        <p:spPr>
          <a:xfrm>
            <a:off x="402336" y="4224528"/>
            <a:ext cx="1993392" cy="932688"/>
          </a:xfrm>
          <a:prstGeom prst="roundRect">
            <a:avLst>
              <a:gd name="adj" fmla="val 6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114300" tIns="88900" rIns="114300" bIns="76200" rtlCol="0" anchor="t"/>
          <a:lstStyle/>
          <a:p>
            <a:pPr algn="l"/>
            <a:r>
              <a:rPr sz="1000" b="0" i="0">
                <a:solidFill>
                  <a:srgbClr val="2563EB"/>
                </a:solidFill>
                <a:latin typeface="맑은 고딕"/>
              </a:rPr>
              <a:t>● </a:t>
            </a:r>
            <a:r>
              <a:rPr sz="1000" b="1" i="0">
                <a:solidFill>
                  <a:srgbClr val="2A2A2A"/>
                </a:solidFill>
                <a:latin typeface="맑은 고딕"/>
              </a:rPr>
              <a:t>사이드바 내비게이션</a:t>
            </a:r>
          </a:p>
          <a:p>
            <a:pPr algn="l">
              <a:spcBef>
                <a:spcPts val="300"/>
              </a:spcBef>
            </a:pPr>
            <a:r>
              <a:rPr sz="880" b="0" i="0">
                <a:solidFill>
                  <a:srgbClr val="6B665E"/>
                </a:solidFill>
                <a:latin typeface="맑은 고딕"/>
              </a:rPr>
              <a:t>미연결 시 잠금(🔒) · 배터리 연결 후 활성</a:t>
            </a:r>
          </a:p>
        </p:txBody>
      </p:sp>
      <p:sp>
        <p:nvSpPr>
          <p:cNvPr id="39" name="Rounded Rectangle 38"/>
          <p:cNvSpPr/>
          <p:nvPr/>
        </p:nvSpPr>
        <p:spPr>
          <a:xfrm>
            <a:off x="2514600" y="4224528"/>
            <a:ext cx="1993392" cy="932688"/>
          </a:xfrm>
          <a:prstGeom prst="roundRect">
            <a:avLst>
              <a:gd name="adj" fmla="val 6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114300" tIns="88900" rIns="114300" bIns="76200" rtlCol="0" anchor="t"/>
          <a:lstStyle/>
          <a:p>
            <a:pPr algn="l"/>
            <a:r>
              <a:rPr sz="1000" b="0" i="0">
                <a:solidFill>
                  <a:srgbClr val="2563EB"/>
                </a:solidFill>
                <a:latin typeface="맑은 고딕"/>
              </a:rPr>
              <a:t>● </a:t>
            </a:r>
            <a:r>
              <a:rPr sz="1000" b="1" i="0">
                <a:solidFill>
                  <a:srgbClr val="2A2A2A"/>
                </a:solidFill>
                <a:latin typeface="맑은 고딕"/>
              </a:rPr>
              <a:t>계측값 카드 V·I·T·SOC</a:t>
            </a:r>
          </a:p>
          <a:p>
            <a:pPr algn="l">
              <a:spcBef>
                <a:spcPts val="300"/>
              </a:spcBef>
            </a:pPr>
            <a:r>
              <a:rPr sz="880" b="0" i="0">
                <a:solidFill>
                  <a:srgbClr val="6B665E"/>
                </a:solidFill>
                <a:latin typeface="맑은 고딕"/>
              </a:rPr>
              <a:t>현재값 + 상태 배지 · 미니 추세선</a:t>
            </a:r>
          </a:p>
        </p:txBody>
      </p:sp>
      <p:sp>
        <p:nvSpPr>
          <p:cNvPr id="40" name="Rounded Rectangle 39"/>
          <p:cNvSpPr/>
          <p:nvPr/>
        </p:nvSpPr>
        <p:spPr>
          <a:xfrm>
            <a:off x="4626864" y="4224528"/>
            <a:ext cx="1993392" cy="932688"/>
          </a:xfrm>
          <a:prstGeom prst="roundRect">
            <a:avLst>
              <a:gd name="adj" fmla="val 6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114300" tIns="88900" rIns="114300" bIns="76200" rtlCol="0" anchor="t"/>
          <a:lstStyle/>
          <a:p>
            <a:pPr algn="l"/>
            <a:r>
              <a:rPr sz="1000" b="0" i="0">
                <a:solidFill>
                  <a:srgbClr val="2563EB"/>
                </a:solidFill>
                <a:latin typeface="맑은 고딕"/>
              </a:rPr>
              <a:t>● </a:t>
            </a:r>
            <a:r>
              <a:rPr sz="1000" b="1" i="0">
                <a:solidFill>
                  <a:srgbClr val="2A2A2A"/>
                </a:solidFill>
                <a:latin typeface="맑은 고딕"/>
              </a:rPr>
              <a:t>이상점수 게이지</a:t>
            </a:r>
          </a:p>
          <a:p>
            <a:pPr algn="l">
              <a:spcBef>
                <a:spcPts val="300"/>
              </a:spcBef>
            </a:pPr>
            <a:r>
              <a:rPr sz="880" b="0" i="0">
                <a:solidFill>
                  <a:srgbClr val="6B665E"/>
                </a:solidFill>
                <a:latin typeface="맑은 고딕"/>
              </a:rPr>
              <a:t>0–100 반원 게이지 · 구간 색 밴드</a:t>
            </a:r>
          </a:p>
        </p:txBody>
      </p:sp>
      <p:sp>
        <p:nvSpPr>
          <p:cNvPr id="41" name="Rounded Rectangle 40"/>
          <p:cNvSpPr/>
          <p:nvPr/>
        </p:nvSpPr>
        <p:spPr>
          <a:xfrm>
            <a:off x="6739128" y="4224528"/>
            <a:ext cx="1993392" cy="932688"/>
          </a:xfrm>
          <a:prstGeom prst="roundRect">
            <a:avLst>
              <a:gd name="adj" fmla="val 6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114300" tIns="88900" rIns="114300" bIns="76200" rtlCol="0" anchor="t"/>
          <a:lstStyle/>
          <a:p>
            <a:pPr algn="l"/>
            <a:r>
              <a:rPr sz="1000" b="0" i="0">
                <a:solidFill>
                  <a:srgbClr val="2563EB"/>
                </a:solidFill>
                <a:latin typeface="맑은 고딕"/>
              </a:rPr>
              <a:t>● </a:t>
            </a:r>
            <a:r>
              <a:rPr sz="1000" b="1" i="0">
                <a:solidFill>
                  <a:srgbClr val="2A2A2A"/>
                </a:solidFill>
                <a:latin typeface="맑은 고딕"/>
              </a:rPr>
              <a:t>긴급 경고 배너</a:t>
            </a:r>
          </a:p>
          <a:p>
            <a:pPr algn="l">
              <a:spcBef>
                <a:spcPts val="300"/>
              </a:spcBef>
            </a:pPr>
            <a:r>
              <a:rPr sz="880" b="0" i="0">
                <a:solidFill>
                  <a:srgbClr val="6B665E"/>
                </a:solidFill>
                <a:latin typeface="맑은 고딕"/>
              </a:rPr>
              <a:t>위험 시 상단 고정 + 릴레이 차단 버튼</a:t>
            </a:r>
          </a:p>
        </p:txBody>
      </p:sp>
      <p:sp>
        <p:nvSpPr>
          <p:cNvPr id="42" name="Rounded Rectangle 41"/>
          <p:cNvSpPr/>
          <p:nvPr/>
        </p:nvSpPr>
        <p:spPr>
          <a:xfrm>
            <a:off x="402336" y="5266944"/>
            <a:ext cx="1993392" cy="932688"/>
          </a:xfrm>
          <a:prstGeom prst="roundRect">
            <a:avLst>
              <a:gd name="adj" fmla="val 6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114300" tIns="88900" rIns="114300" bIns="76200" rtlCol="0" anchor="t"/>
          <a:lstStyle/>
          <a:p>
            <a:pPr algn="l"/>
            <a:r>
              <a:rPr sz="1000" b="0" i="0">
                <a:solidFill>
                  <a:srgbClr val="2563EB"/>
                </a:solidFill>
                <a:latin typeface="맑은 고딕"/>
              </a:rPr>
              <a:t>● </a:t>
            </a:r>
            <a:r>
              <a:rPr sz="1000" b="1" i="0">
                <a:solidFill>
                  <a:srgbClr val="2A2A2A"/>
                </a:solidFill>
                <a:latin typeface="맑은 고딕"/>
              </a:rPr>
              <a:t>XAI 기여도 바</a:t>
            </a:r>
          </a:p>
          <a:p>
            <a:pPr algn="l">
              <a:spcBef>
                <a:spcPts val="300"/>
              </a:spcBef>
            </a:pPr>
            <a:r>
              <a:rPr sz="880" b="0" i="0">
                <a:solidFill>
                  <a:srgbClr val="6B665E"/>
                </a:solidFill>
                <a:latin typeface="맑은 고딕"/>
              </a:rPr>
              <a:t>특징별 +기여값(dT/dt·gas·V_drop 등)</a:t>
            </a:r>
          </a:p>
        </p:txBody>
      </p:sp>
      <p:sp>
        <p:nvSpPr>
          <p:cNvPr id="43" name="Rounded Rectangle 42"/>
          <p:cNvSpPr/>
          <p:nvPr/>
        </p:nvSpPr>
        <p:spPr>
          <a:xfrm>
            <a:off x="2514600" y="5266944"/>
            <a:ext cx="1993392" cy="932688"/>
          </a:xfrm>
          <a:prstGeom prst="roundRect">
            <a:avLst>
              <a:gd name="adj" fmla="val 6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114300" tIns="88900" rIns="114300" bIns="76200" rtlCol="0" anchor="t"/>
          <a:lstStyle/>
          <a:p>
            <a:pPr algn="l"/>
            <a:r>
              <a:rPr sz="1000" b="0" i="0">
                <a:solidFill>
                  <a:srgbClr val="2563EB"/>
                </a:solidFill>
                <a:latin typeface="맑은 고딕"/>
              </a:rPr>
              <a:t>● </a:t>
            </a:r>
            <a:r>
              <a:rPr sz="1000" b="1" i="0">
                <a:solidFill>
                  <a:srgbClr val="2A2A2A"/>
                </a:solidFill>
                <a:latin typeface="맑은 고딕"/>
              </a:rPr>
              <a:t>데이터 테이블</a:t>
            </a:r>
          </a:p>
          <a:p>
            <a:pPr algn="l">
              <a:spcBef>
                <a:spcPts val="300"/>
              </a:spcBef>
            </a:pPr>
            <a:r>
              <a:rPr sz="880" b="0" i="0">
                <a:solidFill>
                  <a:srgbClr val="6B665E"/>
                </a:solidFill>
                <a:latin typeface="맑은 고딕"/>
              </a:rPr>
              <a:t>검색·필터·상태 배지 · 모바일 카드 전환</a:t>
            </a:r>
          </a:p>
        </p:txBody>
      </p:sp>
      <p:sp>
        <p:nvSpPr>
          <p:cNvPr id="44" name="Rounded Rectangle 43"/>
          <p:cNvSpPr/>
          <p:nvPr/>
        </p:nvSpPr>
        <p:spPr>
          <a:xfrm>
            <a:off x="4626864" y="5266944"/>
            <a:ext cx="1993392" cy="932688"/>
          </a:xfrm>
          <a:prstGeom prst="roundRect">
            <a:avLst>
              <a:gd name="adj" fmla="val 6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114300" tIns="88900" rIns="114300" bIns="76200" rtlCol="0" anchor="t"/>
          <a:lstStyle/>
          <a:p>
            <a:pPr algn="l"/>
            <a:r>
              <a:rPr sz="1000" b="0" i="0">
                <a:solidFill>
                  <a:srgbClr val="2563EB"/>
                </a:solidFill>
                <a:latin typeface="맑은 고딕"/>
              </a:rPr>
              <a:t>● </a:t>
            </a:r>
            <a:r>
              <a:rPr sz="1000" b="1" i="0">
                <a:solidFill>
                  <a:srgbClr val="2A2A2A"/>
                </a:solidFill>
                <a:latin typeface="맑은 고딕"/>
              </a:rPr>
              <a:t>확인 모달</a:t>
            </a:r>
          </a:p>
          <a:p>
            <a:pPr algn="l">
              <a:spcBef>
                <a:spcPts val="300"/>
              </a:spcBef>
            </a:pPr>
            <a:r>
              <a:rPr sz="880" b="0" i="0">
                <a:solidFill>
                  <a:srgbClr val="6B665E"/>
                </a:solidFill>
                <a:latin typeface="맑은 고딕"/>
              </a:rPr>
              <a:t>연결·차단 등 파괴적 액션 2단 확인</a:t>
            </a:r>
          </a:p>
        </p:txBody>
      </p:sp>
      <p:sp>
        <p:nvSpPr>
          <p:cNvPr id="45" name="Rounded Rectangle 44"/>
          <p:cNvSpPr/>
          <p:nvPr/>
        </p:nvSpPr>
        <p:spPr>
          <a:xfrm>
            <a:off x="6739128" y="5266944"/>
            <a:ext cx="1993392" cy="932688"/>
          </a:xfrm>
          <a:prstGeom prst="roundRect">
            <a:avLst>
              <a:gd name="adj" fmla="val 6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114300" tIns="88900" rIns="114300" bIns="76200" rtlCol="0" anchor="t"/>
          <a:lstStyle/>
          <a:p>
            <a:pPr algn="l"/>
            <a:r>
              <a:rPr sz="1000" b="0" i="0">
                <a:solidFill>
                  <a:srgbClr val="2563EB"/>
                </a:solidFill>
                <a:latin typeface="맑은 고딕"/>
              </a:rPr>
              <a:t>● </a:t>
            </a:r>
            <a:r>
              <a:rPr sz="1000" b="1" i="0">
                <a:solidFill>
                  <a:srgbClr val="2A2A2A"/>
                </a:solidFill>
                <a:latin typeface="맑은 고딕"/>
              </a:rPr>
              <a:t>알림·토스트</a:t>
            </a:r>
          </a:p>
          <a:p>
            <a:pPr algn="l">
              <a:spcBef>
                <a:spcPts val="300"/>
              </a:spcBef>
            </a:pPr>
            <a:r>
              <a:rPr sz="880" b="0" i="0">
                <a:solidFill>
                  <a:srgbClr val="6B665E"/>
                </a:solidFill>
                <a:latin typeface="맑은 고딕"/>
              </a:rPr>
              <a:t>Ack(확인) · SOP 런북 진입 액션</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직사각형 23"/>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5" name="직선 연결선 24"/>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 name="직선 연결선 25"/>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7"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UI/UX 정의서</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28" name="Picture 27" descr="image.png"/>
          <p:cNvPicPr>
            <a:picLocks noChangeAspect="1"/>
          </p:cNvPicPr>
          <p:nvPr/>
        </p:nvPicPr>
        <p:blipFill>
          <a:blip r:embed="rId2"/>
          <a:stretch>
            <a:fillRect/>
          </a:stretch>
        </p:blipFill>
        <p:spPr>
          <a:xfrm>
            <a:off x="8676456" y="476671"/>
            <a:ext cx="454960" cy="158965"/>
          </a:xfrm>
          <a:prstGeom prst="rect">
            <a:avLst/>
          </a:prstGeom>
        </p:spPr>
      </p:pic>
      <p:sp>
        <p:nvSpPr>
          <p:cNvPr id="32" name="막힌 원호 31"/>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3" name="Picture 32" descr="image.png"/>
          <p:cNvPicPr>
            <a:picLocks noChangeAspect="1"/>
          </p:cNvPicPr>
          <p:nvPr/>
        </p:nvPicPr>
        <p:blipFill>
          <a:blip r:embed="rId3"/>
          <a:stretch>
            <a:fillRect/>
          </a:stretch>
        </p:blipFill>
        <p:spPr>
          <a:xfrm>
            <a:off x="7528235" y="98344"/>
            <a:ext cx="1498208" cy="347199"/>
          </a:xfrm>
          <a:prstGeom prst="rect">
            <a:avLst/>
          </a:prstGeom>
        </p:spPr>
      </p:pic>
      <p:sp>
        <p:nvSpPr>
          <p:cNvPr id="35" name="TextBox 34"/>
          <p:cNvSpPr txBox="1"/>
          <p:nvPr/>
        </p:nvSpPr>
        <p:spPr>
          <a:xfrm>
            <a:off x="402336" y="1463040"/>
            <a:ext cx="8229600" cy="292608"/>
          </a:xfrm>
          <a:prstGeom prst="rect">
            <a:avLst/>
          </a:prstGeom>
          <a:noFill/>
        </p:spPr>
        <p:txBody>
          <a:bodyPr wrap="none" lIns="0" tIns="0" bIns="0">
            <a:spAutoFit/>
          </a:bodyPr>
          <a:lstStyle/>
          <a:p>
            <a:r>
              <a:rPr sz="1300" b="0" i="0">
                <a:solidFill>
                  <a:srgbClr val="2563EB"/>
                </a:solidFill>
                <a:latin typeface="맑은 고딕"/>
              </a:rPr>
              <a:t>▍ </a:t>
            </a:r>
            <a:r>
              <a:rPr sz="1300" b="1" i="0">
                <a:solidFill>
                  <a:srgbClr val="2A2A2A"/>
                </a:solidFill>
                <a:latin typeface="맑은 고딕"/>
              </a:rPr>
              <a:t>반응형 브레이크포인트</a:t>
            </a:r>
          </a:p>
        </p:txBody>
      </p:sp>
      <p:sp>
        <p:nvSpPr>
          <p:cNvPr id="36" name="Rounded Rectangle 35"/>
          <p:cNvSpPr/>
          <p:nvPr/>
        </p:nvSpPr>
        <p:spPr>
          <a:xfrm>
            <a:off x="402336" y="1810512"/>
            <a:ext cx="2715768" cy="1783080"/>
          </a:xfrm>
          <a:prstGeom prst="roundRect">
            <a:avLst>
              <a:gd name="adj" fmla="val 5000"/>
            </a:avLst>
          </a:prstGeom>
          <a:solidFill>
            <a:srgbClr val="FFFFFF"/>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139700" tIns="114300" rIns="127000" bIns="101600" rtlCol="0" anchor="t"/>
          <a:lstStyle/>
          <a:p>
            <a:pPr algn="ctr"/>
            <a:r>
              <a:rPr sz="1200" b="1" i="0">
                <a:solidFill>
                  <a:srgbClr val="1D4ED8"/>
                </a:solidFill>
                <a:latin typeface="맑은 고딕"/>
              </a:rPr>
              <a:t>데스크톱  ≥ 1200px</a:t>
            </a:r>
          </a:p>
          <a:p>
            <a:pPr>
              <a:spcBef>
                <a:spcPts val="500"/>
              </a:spcBef>
            </a:pPr>
            <a:r>
              <a:rPr sz="1000" b="1" i="0">
                <a:solidFill>
                  <a:srgbClr val="2563EB"/>
                </a:solidFill>
                <a:latin typeface="맑은 고딕"/>
              </a:rPr>
              <a:t>· </a:t>
            </a:r>
            <a:r>
              <a:rPr sz="1000" b="0" i="0">
                <a:solidFill>
                  <a:srgbClr val="2A2A2A"/>
                </a:solidFill>
                <a:latin typeface="맑은 고딕"/>
              </a:rPr>
              <a:t>좌측 고정 사이드바 + 다중 컬럼 관제</a:t>
            </a:r>
          </a:p>
          <a:p>
            <a:pPr>
              <a:spcBef>
                <a:spcPts val="500"/>
              </a:spcBef>
            </a:pPr>
            <a:r>
              <a:rPr sz="1000" b="1" i="0">
                <a:solidFill>
                  <a:srgbClr val="2563EB"/>
                </a:solidFill>
                <a:latin typeface="맑은 고딕"/>
              </a:rPr>
              <a:t>· </a:t>
            </a:r>
            <a:r>
              <a:rPr sz="1000" b="0" i="0">
                <a:solidFill>
                  <a:srgbClr val="2A2A2A"/>
                </a:solidFill>
                <a:latin typeface="맑은 고딕"/>
              </a:rPr>
              <a:t>높은 정보 밀도 · 동시 모니터링</a:t>
            </a:r>
          </a:p>
          <a:p>
            <a:pPr>
              <a:spcBef>
                <a:spcPts val="500"/>
              </a:spcBef>
            </a:pPr>
            <a:r>
              <a:rPr sz="1000" b="1" i="0">
                <a:solidFill>
                  <a:srgbClr val="2563EB"/>
                </a:solidFill>
                <a:latin typeface="맑은 고딕"/>
              </a:rPr>
              <a:t>· </a:t>
            </a:r>
            <a:r>
              <a:rPr sz="1000" b="0" i="0">
                <a:solidFill>
                  <a:srgbClr val="2A2A2A"/>
                </a:solidFill>
                <a:latin typeface="맑은 고딕"/>
              </a:rPr>
              <a:t>전체 추세·XAI 패널 상시 노출</a:t>
            </a:r>
          </a:p>
        </p:txBody>
      </p:sp>
      <p:sp>
        <p:nvSpPr>
          <p:cNvPr id="37" name="Rounded Rectangle 36"/>
          <p:cNvSpPr/>
          <p:nvPr/>
        </p:nvSpPr>
        <p:spPr>
          <a:xfrm>
            <a:off x="3255264" y="1810512"/>
            <a:ext cx="2715768" cy="1783080"/>
          </a:xfrm>
          <a:prstGeom prst="roundRect">
            <a:avLst>
              <a:gd name="adj" fmla="val 5000"/>
            </a:avLst>
          </a:prstGeom>
          <a:solidFill>
            <a:srgbClr val="FFFFFF"/>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139700" tIns="114300" rIns="127000" bIns="101600" rtlCol="0" anchor="t"/>
          <a:lstStyle/>
          <a:p>
            <a:pPr algn="ctr"/>
            <a:r>
              <a:rPr sz="1200" b="1" i="0">
                <a:solidFill>
                  <a:srgbClr val="1D4ED8"/>
                </a:solidFill>
                <a:latin typeface="맑은 고딕"/>
              </a:rPr>
              <a:t>태블릿  768 – 1199px</a:t>
            </a:r>
          </a:p>
          <a:p>
            <a:pPr>
              <a:spcBef>
                <a:spcPts val="500"/>
              </a:spcBef>
            </a:pPr>
            <a:r>
              <a:rPr sz="1000" b="1" i="0">
                <a:solidFill>
                  <a:srgbClr val="2563EB"/>
                </a:solidFill>
                <a:latin typeface="맑은 고딕"/>
              </a:rPr>
              <a:t>· </a:t>
            </a:r>
            <a:r>
              <a:rPr sz="1000" b="0" i="0">
                <a:solidFill>
                  <a:srgbClr val="2A2A2A"/>
                </a:solidFill>
                <a:latin typeface="맑은 고딕"/>
              </a:rPr>
              <a:t>접힘(햄버거) 메뉴 + 2컬럼</a:t>
            </a:r>
          </a:p>
          <a:p>
            <a:pPr>
              <a:spcBef>
                <a:spcPts val="500"/>
              </a:spcBef>
            </a:pPr>
            <a:r>
              <a:rPr sz="1000" b="1" i="0">
                <a:solidFill>
                  <a:srgbClr val="2563EB"/>
                </a:solidFill>
                <a:latin typeface="맑은 고딕"/>
              </a:rPr>
              <a:t>· </a:t>
            </a:r>
            <a:r>
              <a:rPr sz="1000" b="0" i="0">
                <a:solidFill>
                  <a:srgbClr val="2A2A2A"/>
                </a:solidFill>
                <a:latin typeface="맑은 고딕"/>
              </a:rPr>
              <a:t>터치 타깃 최소 44px 유지</a:t>
            </a:r>
          </a:p>
          <a:p>
            <a:pPr>
              <a:spcBef>
                <a:spcPts val="500"/>
              </a:spcBef>
            </a:pPr>
            <a:r>
              <a:rPr sz="1000" b="1" i="0">
                <a:solidFill>
                  <a:srgbClr val="2563EB"/>
                </a:solidFill>
                <a:latin typeface="맑은 고딕"/>
              </a:rPr>
              <a:t>· </a:t>
            </a:r>
            <a:r>
              <a:rPr sz="1000" b="0" i="0">
                <a:solidFill>
                  <a:srgbClr val="2A2A2A"/>
                </a:solidFill>
                <a:latin typeface="맑은 고딕"/>
              </a:rPr>
              <a:t>차트·필터 터치 조작 최적화</a:t>
            </a:r>
          </a:p>
        </p:txBody>
      </p:sp>
      <p:sp>
        <p:nvSpPr>
          <p:cNvPr id="38" name="Rounded Rectangle 37"/>
          <p:cNvSpPr/>
          <p:nvPr/>
        </p:nvSpPr>
        <p:spPr>
          <a:xfrm>
            <a:off x="6108192" y="1810512"/>
            <a:ext cx="2715768" cy="1783080"/>
          </a:xfrm>
          <a:prstGeom prst="roundRect">
            <a:avLst>
              <a:gd name="adj" fmla="val 5000"/>
            </a:avLst>
          </a:prstGeom>
          <a:solidFill>
            <a:srgbClr val="FFFFFF"/>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139700" tIns="114300" rIns="127000" bIns="101600" rtlCol="0" anchor="t"/>
          <a:lstStyle/>
          <a:p>
            <a:pPr algn="ctr"/>
            <a:r>
              <a:rPr sz="1200" b="1" i="0">
                <a:solidFill>
                  <a:srgbClr val="1D4ED8"/>
                </a:solidFill>
                <a:latin typeface="맑은 고딕"/>
              </a:rPr>
              <a:t>모바일  &lt; 768px</a:t>
            </a:r>
          </a:p>
          <a:p>
            <a:pPr>
              <a:spcBef>
                <a:spcPts val="500"/>
              </a:spcBef>
            </a:pPr>
            <a:r>
              <a:rPr sz="1000" b="1" i="0">
                <a:solidFill>
                  <a:srgbClr val="2563EB"/>
                </a:solidFill>
                <a:latin typeface="맑은 고딕"/>
              </a:rPr>
              <a:t>· </a:t>
            </a:r>
            <a:r>
              <a:rPr sz="1000" b="0" i="0">
                <a:solidFill>
                  <a:srgbClr val="2A2A2A"/>
                </a:solidFill>
                <a:latin typeface="맑은 고딕"/>
              </a:rPr>
              <a:t>하단 내비 + 단일 컬럼 카드</a:t>
            </a:r>
          </a:p>
          <a:p>
            <a:pPr>
              <a:spcBef>
                <a:spcPts val="500"/>
              </a:spcBef>
            </a:pPr>
            <a:r>
              <a:rPr sz="1000" b="1" i="0">
                <a:solidFill>
                  <a:srgbClr val="2563EB"/>
                </a:solidFill>
                <a:latin typeface="맑은 고딕"/>
              </a:rPr>
              <a:t>· </a:t>
            </a:r>
            <a:r>
              <a:rPr sz="1000" b="0" i="0">
                <a:solidFill>
                  <a:srgbClr val="2A2A2A"/>
                </a:solidFill>
                <a:latin typeface="맑은 고딕"/>
              </a:rPr>
              <a:t>표 → 카드 목록/상세로 전환</a:t>
            </a:r>
          </a:p>
          <a:p>
            <a:pPr>
              <a:spcBef>
                <a:spcPts val="500"/>
              </a:spcBef>
            </a:pPr>
            <a:r>
              <a:rPr sz="1000" b="1" i="0">
                <a:solidFill>
                  <a:srgbClr val="2563EB"/>
                </a:solidFill>
                <a:latin typeface="맑은 고딕"/>
              </a:rPr>
              <a:t>· </a:t>
            </a:r>
            <a:r>
              <a:rPr sz="1000" b="0" i="0">
                <a:solidFill>
                  <a:srgbClr val="2A2A2A"/>
                </a:solidFill>
                <a:latin typeface="맑은 고딕"/>
              </a:rPr>
              <a:t>긴급경고·이상점수·Kill-Switch 우선</a:t>
            </a:r>
          </a:p>
        </p:txBody>
      </p:sp>
      <p:sp>
        <p:nvSpPr>
          <p:cNvPr id="39" name="TextBox 38"/>
          <p:cNvSpPr txBox="1"/>
          <p:nvPr/>
        </p:nvSpPr>
        <p:spPr>
          <a:xfrm>
            <a:off x="402336" y="3822191"/>
            <a:ext cx="8229600" cy="292608"/>
          </a:xfrm>
          <a:prstGeom prst="rect">
            <a:avLst/>
          </a:prstGeom>
          <a:noFill/>
        </p:spPr>
        <p:txBody>
          <a:bodyPr wrap="none" lIns="0" tIns="0" bIns="0">
            <a:spAutoFit/>
          </a:bodyPr>
          <a:lstStyle/>
          <a:p>
            <a:r>
              <a:rPr sz="1300" b="0" i="0">
                <a:solidFill>
                  <a:srgbClr val="2563EB"/>
                </a:solidFill>
                <a:latin typeface="맑은 고딕"/>
              </a:rPr>
              <a:t>▍ </a:t>
            </a:r>
            <a:r>
              <a:rPr sz="1300" b="1" i="0">
                <a:solidFill>
                  <a:srgbClr val="2A2A2A"/>
                </a:solidFill>
                <a:latin typeface="맑은 고딕"/>
              </a:rPr>
              <a:t>인터랙션 · 상태 &amp; 접근성</a:t>
            </a:r>
          </a:p>
        </p:txBody>
      </p:sp>
      <p:sp>
        <p:nvSpPr>
          <p:cNvPr id="40" name="Rounded Rectangle 39"/>
          <p:cNvSpPr/>
          <p:nvPr/>
        </p:nvSpPr>
        <p:spPr>
          <a:xfrm>
            <a:off x="402336" y="4169663"/>
            <a:ext cx="4114800" cy="2148840"/>
          </a:xfrm>
          <a:prstGeom prst="roundRect">
            <a:avLst>
              <a:gd name="adj" fmla="val 5000"/>
            </a:avLst>
          </a:prstGeom>
          <a:solidFill>
            <a:srgbClr val="FFFFFF"/>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139700" tIns="114300" rIns="127000" bIns="101600" rtlCol="0" anchor="t"/>
          <a:lstStyle/>
          <a:p>
            <a:pPr algn="ctr"/>
            <a:r>
              <a:rPr sz="1200" b="1" i="0">
                <a:solidFill>
                  <a:srgbClr val="2A2A2A"/>
                </a:solidFill>
                <a:latin typeface="맑은 고딕"/>
              </a:rPr>
              <a:t>인터랙션 · 상태 처리</a:t>
            </a:r>
          </a:p>
          <a:p>
            <a:pPr>
              <a:spcBef>
                <a:spcPts val="500"/>
              </a:spcBef>
            </a:pPr>
            <a:r>
              <a:rPr sz="1000" b="1" i="0">
                <a:solidFill>
                  <a:srgbClr val="2563EB"/>
                </a:solidFill>
                <a:latin typeface="맑은 고딕"/>
              </a:rPr>
              <a:t>· </a:t>
            </a:r>
            <a:r>
              <a:rPr sz="1000" b="0" i="0">
                <a:solidFill>
                  <a:srgbClr val="2A2A2A"/>
                </a:solidFill>
                <a:latin typeface="맑은 고딕"/>
              </a:rPr>
              <a:t>로딩: 스켈레톤 / 빈 상태: 안내 + 액션 유도</a:t>
            </a:r>
          </a:p>
          <a:p>
            <a:pPr>
              <a:spcBef>
                <a:spcPts val="500"/>
              </a:spcBef>
            </a:pPr>
            <a:r>
              <a:rPr sz="1000" b="1" i="0">
                <a:solidFill>
                  <a:srgbClr val="2563EB"/>
                </a:solidFill>
                <a:latin typeface="맑은 고딕"/>
              </a:rPr>
              <a:t>· </a:t>
            </a:r>
            <a:r>
              <a:rPr sz="1000" b="0" i="0">
                <a:solidFill>
                  <a:srgbClr val="2A2A2A"/>
                </a:solidFill>
                <a:latin typeface="맑은 고딕"/>
              </a:rPr>
              <a:t>에러: 원인 + 재시도 경로 제시</a:t>
            </a:r>
          </a:p>
          <a:p>
            <a:pPr>
              <a:spcBef>
                <a:spcPts val="500"/>
              </a:spcBef>
            </a:pPr>
            <a:r>
              <a:rPr sz="1000" b="1" i="0">
                <a:solidFill>
                  <a:srgbClr val="2563EB"/>
                </a:solidFill>
                <a:latin typeface="맑은 고딕"/>
              </a:rPr>
              <a:t>· </a:t>
            </a:r>
            <a:r>
              <a:rPr sz="1000" b="0" i="0">
                <a:solidFill>
                  <a:srgbClr val="2A2A2A"/>
                </a:solidFill>
                <a:latin typeface="맑은 고딕"/>
              </a:rPr>
              <a:t>실시간 갱신은 값·상태 색만 변경(레이아웃 고정)</a:t>
            </a:r>
          </a:p>
          <a:p>
            <a:pPr>
              <a:spcBef>
                <a:spcPts val="500"/>
              </a:spcBef>
            </a:pPr>
            <a:r>
              <a:rPr sz="1000" b="1" i="0">
                <a:solidFill>
                  <a:srgbClr val="2563EB"/>
                </a:solidFill>
                <a:latin typeface="맑은 고딕"/>
              </a:rPr>
              <a:t>· </a:t>
            </a:r>
            <a:r>
              <a:rPr sz="1000" b="0" i="0">
                <a:solidFill>
                  <a:srgbClr val="2A2A2A"/>
                </a:solidFill>
                <a:latin typeface="맑은 고딕"/>
              </a:rPr>
              <a:t>파괴적 액션(연결·릴레이 차단)은 확인 모달</a:t>
            </a:r>
          </a:p>
          <a:p>
            <a:pPr>
              <a:spcBef>
                <a:spcPts val="500"/>
              </a:spcBef>
            </a:pPr>
            <a:r>
              <a:rPr sz="1000" b="1" i="0">
                <a:solidFill>
                  <a:srgbClr val="2563EB"/>
                </a:solidFill>
                <a:latin typeface="맑은 고딕"/>
              </a:rPr>
              <a:t>· </a:t>
            </a:r>
            <a:r>
              <a:rPr sz="1000" b="0" i="0">
                <a:solidFill>
                  <a:srgbClr val="2A2A2A"/>
                </a:solidFill>
                <a:latin typeface="맑은 고딕"/>
              </a:rPr>
              <a:t>다크모드 · 라이트모드 테마 토글 지원</a:t>
            </a:r>
          </a:p>
        </p:txBody>
      </p:sp>
      <p:sp>
        <p:nvSpPr>
          <p:cNvPr id="41" name="Rounded Rectangle 40"/>
          <p:cNvSpPr/>
          <p:nvPr/>
        </p:nvSpPr>
        <p:spPr>
          <a:xfrm>
            <a:off x="4663440" y="4169663"/>
            <a:ext cx="4114800" cy="2148840"/>
          </a:xfrm>
          <a:prstGeom prst="roundRect">
            <a:avLst>
              <a:gd name="adj" fmla="val 5000"/>
            </a:avLst>
          </a:prstGeom>
          <a:solidFill>
            <a:srgbClr val="FFFFFF"/>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139700" tIns="114300" rIns="127000" bIns="101600" rtlCol="0" anchor="t"/>
          <a:lstStyle/>
          <a:p>
            <a:pPr algn="ctr"/>
            <a:r>
              <a:rPr sz="1200" b="1" i="0">
                <a:solidFill>
                  <a:srgbClr val="2A2A2A"/>
                </a:solidFill>
                <a:latin typeface="맑은 고딕"/>
              </a:rPr>
              <a:t>접근성 체크리스트</a:t>
            </a:r>
          </a:p>
          <a:p>
            <a:pPr>
              <a:spcBef>
                <a:spcPts val="500"/>
              </a:spcBef>
            </a:pPr>
            <a:r>
              <a:rPr sz="1000" b="1" i="0">
                <a:solidFill>
                  <a:srgbClr val="2563EB"/>
                </a:solidFill>
                <a:latin typeface="맑은 고딕"/>
              </a:rPr>
              <a:t>· </a:t>
            </a:r>
            <a:r>
              <a:rPr sz="1000" b="0" i="0">
                <a:solidFill>
                  <a:srgbClr val="2A2A2A"/>
                </a:solidFill>
                <a:latin typeface="맑은 고딕"/>
              </a:rPr>
              <a:t>명도 대비 4.5:1 이상 · 색맹 대비 아이콘 병행</a:t>
            </a:r>
          </a:p>
          <a:p>
            <a:pPr>
              <a:spcBef>
                <a:spcPts val="500"/>
              </a:spcBef>
            </a:pPr>
            <a:r>
              <a:rPr sz="1000" b="1" i="0">
                <a:solidFill>
                  <a:srgbClr val="2563EB"/>
                </a:solidFill>
                <a:latin typeface="맑은 고딕"/>
              </a:rPr>
              <a:t>· </a:t>
            </a:r>
            <a:r>
              <a:rPr sz="1000" b="0" i="0">
                <a:solidFill>
                  <a:srgbClr val="2A2A2A"/>
                </a:solidFill>
                <a:latin typeface="맑은 고딕"/>
              </a:rPr>
              <a:t>키보드 포커스 링 · 전체 탭 순서 보장</a:t>
            </a:r>
          </a:p>
          <a:p>
            <a:pPr>
              <a:spcBef>
                <a:spcPts val="500"/>
              </a:spcBef>
            </a:pPr>
            <a:r>
              <a:rPr sz="1000" b="1" i="0">
                <a:solidFill>
                  <a:srgbClr val="2563EB"/>
                </a:solidFill>
                <a:latin typeface="맑은 고딕"/>
              </a:rPr>
              <a:t>· </a:t>
            </a:r>
            <a:r>
              <a:rPr sz="1000" b="0" i="0">
                <a:solidFill>
                  <a:srgbClr val="2A2A2A"/>
                </a:solidFill>
                <a:latin typeface="맑은 고딕"/>
              </a:rPr>
              <a:t>ARIA 라벨 · live region으로 이상점수 갱신 안내</a:t>
            </a:r>
          </a:p>
          <a:p>
            <a:pPr>
              <a:spcBef>
                <a:spcPts val="500"/>
              </a:spcBef>
            </a:pPr>
            <a:r>
              <a:rPr sz="1000" b="1" i="0">
                <a:solidFill>
                  <a:srgbClr val="2563EB"/>
                </a:solidFill>
                <a:latin typeface="맑은 고딕"/>
              </a:rPr>
              <a:t>· </a:t>
            </a:r>
            <a:r>
              <a:rPr sz="1000" b="0" i="0">
                <a:solidFill>
                  <a:srgbClr val="2A2A2A"/>
                </a:solidFill>
                <a:latin typeface="맑은 고딕"/>
              </a:rPr>
              <a:t>상태는 색 단독이 아닌 라벨·아이콘 병기</a:t>
            </a:r>
          </a:p>
          <a:p>
            <a:pPr>
              <a:spcBef>
                <a:spcPts val="500"/>
              </a:spcBef>
            </a:pPr>
            <a:r>
              <a:rPr sz="1000" b="1" i="0">
                <a:solidFill>
                  <a:srgbClr val="2563EB"/>
                </a:solidFill>
                <a:latin typeface="맑은 고딕"/>
              </a:rPr>
              <a:t>· </a:t>
            </a:r>
            <a:r>
              <a:rPr sz="1000" b="0" i="0">
                <a:solidFill>
                  <a:srgbClr val="2A2A2A"/>
                </a:solidFill>
                <a:latin typeface="맑은 고딕"/>
              </a:rPr>
              <a:t>최소 터치 영역 44×44px 유지</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EB8B1-9227-7928-6D4B-A9CDB7FA50A0}"/>
            </a:ext>
          </a:extLst>
        </p:cNvPr>
        <p:cNvGrpSpPr/>
        <p:nvPr/>
      </p:nvGrpSpPr>
      <p:grpSpPr>
        <a:xfrm>
          <a:off x="0" y="0"/>
          <a:ext cx="0" cy="0"/>
          <a:chOff x="0" y="0"/>
          <a:chExt cx="0" cy="0"/>
        </a:xfrm>
      </p:grpSpPr>
      <p:sp>
        <p:nvSpPr>
          <p:cNvPr id="56" name="직사각형 56"/>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57" name="직선 연결선 57"/>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8" name="직선 연결선 58"/>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59" name="제목 59"/>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목차</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60" name="막힌 원호 60"/>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5E95D258-2779-54EE-7B9F-01E6850E2674}"/>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A72B42C4-D3AF-A06A-2D67-C3689F587C9F}"/>
              </a:ext>
            </a:extLst>
          </p:cNvPr>
          <p:cNvPicPr/>
          <p:nvPr/>
        </p:nvPicPr>
        <p:blipFill>
          <a:blip r:embed="rId4" cstate="print"/>
          <a:stretch>
            <a:fillRect/>
          </a:stretch>
        </p:blipFill>
        <p:spPr>
          <a:xfrm>
            <a:off x="7275128" y="314247"/>
            <a:ext cx="1325611" cy="307338"/>
          </a:xfrm>
          <a:prstGeom prst="rect">
            <a:avLst/>
          </a:prstGeom>
        </p:spPr>
      </p:pic>
      <p:sp>
        <p:nvSpPr>
          <p:cNvPr id="9" name="Shape 11">
            <a:extLst>
              <a:ext uri="{FF2B5EF4-FFF2-40B4-BE49-F238E27FC236}">
                <a16:creationId xmlns:a16="http://schemas.microsoft.com/office/drawing/2014/main" id="{7713131B-AEF4-964A-9874-C5E3A0DB29C0}"/>
              </a:ext>
            </a:extLst>
          </p:cNvPr>
          <p:cNvSpPr/>
          <p:nvPr/>
        </p:nvSpPr>
        <p:spPr>
          <a:xfrm>
            <a:off x="657199" y="1684545"/>
            <a:ext cx="484784" cy="484784"/>
          </a:xfrm>
          <a:prstGeom prst="roundRect">
            <a:avLst>
              <a:gd name="adj" fmla="val 50000"/>
            </a:avLst>
          </a:prstGeom>
          <a:solidFill>
            <a:srgbClr val="3B5BA7"/>
          </a:solidFill>
          <a:ln/>
        </p:spPr>
        <p:txBody>
          <a:bodyPr/>
          <a:lstStyle/>
          <a:p>
            <a:endParaRPr lang="ko-KR" altLang="en-US" sz="1634"/>
          </a:p>
        </p:txBody>
      </p:sp>
      <p:sp>
        <p:nvSpPr>
          <p:cNvPr id="11" name="Text 12">
            <a:extLst>
              <a:ext uri="{FF2B5EF4-FFF2-40B4-BE49-F238E27FC236}">
                <a16:creationId xmlns:a16="http://schemas.microsoft.com/office/drawing/2014/main" id="{8DB0352A-5C71-80B2-C329-3206425D9F18}"/>
              </a:ext>
            </a:extLst>
          </p:cNvPr>
          <p:cNvSpPr/>
          <p:nvPr/>
        </p:nvSpPr>
        <p:spPr>
          <a:xfrm>
            <a:off x="657199" y="1684545"/>
            <a:ext cx="484784" cy="484784"/>
          </a:xfrm>
          <a:prstGeom prst="rect">
            <a:avLst/>
          </a:prstGeom>
          <a:noFill/>
          <a:ln/>
        </p:spPr>
        <p:txBody>
          <a:bodyPr wrap="square" rtlCol="0" anchor="ctr"/>
          <a:lstStyle/>
          <a:p>
            <a:pPr algn="ctr"/>
            <a:r>
              <a:rPr lang="en-US" sz="1369" b="1" dirty="0">
                <a:solidFill>
                  <a:srgbClr val="FFFFFF"/>
                </a:solidFill>
                <a:latin typeface="맑은 고딕" pitchFamily="34" charset="0"/>
                <a:ea typeface="맑은 고딕" pitchFamily="34" charset="-122"/>
                <a:cs typeface="맑은 고딕" pitchFamily="34" charset="-120"/>
              </a:rPr>
              <a:t>I</a:t>
            </a:r>
            <a:endParaRPr lang="en-US" sz="1369" dirty="0"/>
          </a:p>
        </p:txBody>
      </p:sp>
      <p:sp>
        <p:nvSpPr>
          <p:cNvPr id="13" name="Text 13">
            <a:extLst>
              <a:ext uri="{FF2B5EF4-FFF2-40B4-BE49-F238E27FC236}">
                <a16:creationId xmlns:a16="http://schemas.microsoft.com/office/drawing/2014/main" id="{08D26974-D473-9F46-E3DB-D1D84568E065}"/>
              </a:ext>
            </a:extLst>
          </p:cNvPr>
          <p:cNvSpPr/>
          <p:nvPr/>
        </p:nvSpPr>
        <p:spPr>
          <a:xfrm>
            <a:off x="1321825" y="1700183"/>
            <a:ext cx="7037187" cy="250211"/>
          </a:xfrm>
          <a:prstGeom prst="rect">
            <a:avLst/>
          </a:prstGeom>
          <a:noFill/>
          <a:ln/>
        </p:spPr>
        <p:txBody>
          <a:bodyPr wrap="square" rtlCol="0" anchor="ctr"/>
          <a:lstStyle/>
          <a:p>
            <a:r>
              <a:rPr lang="en-US" sz="1197" b="1" dirty="0">
                <a:solidFill>
                  <a:srgbClr val="1E293B"/>
                </a:solidFill>
                <a:latin typeface="맑은 고딕" pitchFamily="34" charset="0"/>
                <a:ea typeface="맑은 고딕" pitchFamily="34" charset="-122"/>
                <a:cs typeface="맑은 고딕" pitchFamily="34" charset="-120"/>
              </a:rPr>
              <a:t>시스템 개요</a:t>
            </a:r>
            <a:endParaRPr lang="en-US" sz="1197" dirty="0"/>
          </a:p>
        </p:txBody>
      </p:sp>
      <p:sp>
        <p:nvSpPr>
          <p:cNvPr id="15" name="Text 14">
            <a:extLst>
              <a:ext uri="{FF2B5EF4-FFF2-40B4-BE49-F238E27FC236}">
                <a16:creationId xmlns:a16="http://schemas.microsoft.com/office/drawing/2014/main" id="{EF9DE0AF-134D-C0DA-0AB1-D7B31B265A8C}"/>
              </a:ext>
            </a:extLst>
          </p:cNvPr>
          <p:cNvSpPr/>
          <p:nvPr/>
        </p:nvSpPr>
        <p:spPr>
          <a:xfrm>
            <a:off x="1321825" y="1934756"/>
            <a:ext cx="7037187" cy="234573"/>
          </a:xfrm>
          <a:prstGeom prst="rect">
            <a:avLst/>
          </a:prstGeom>
          <a:noFill/>
          <a:ln/>
        </p:spPr>
        <p:txBody>
          <a:bodyPr wrap="square" rtlCol="0" anchor="ctr"/>
          <a:lstStyle/>
          <a:p>
            <a:r>
              <a:rPr lang="en-US" sz="855" dirty="0">
                <a:solidFill>
                  <a:srgbClr val="64748B"/>
                </a:solidFill>
                <a:latin typeface="맑은 고딕" pitchFamily="34" charset="0"/>
                <a:ea typeface="맑은 고딕" pitchFamily="34" charset="-122"/>
                <a:cs typeface="맑은 고딕" pitchFamily="34" charset="-120"/>
              </a:rPr>
              <a:t>설계 목적 · 핵심 차별화 · 하드웨어 블록 구조</a:t>
            </a:r>
            <a:endParaRPr lang="en-US" sz="855" dirty="0"/>
          </a:p>
        </p:txBody>
      </p:sp>
      <p:sp>
        <p:nvSpPr>
          <p:cNvPr id="17" name="Shape 15">
            <a:extLst>
              <a:ext uri="{FF2B5EF4-FFF2-40B4-BE49-F238E27FC236}">
                <a16:creationId xmlns:a16="http://schemas.microsoft.com/office/drawing/2014/main" id="{601918F0-58E7-1715-D276-CC57E90F28B2}"/>
              </a:ext>
            </a:extLst>
          </p:cNvPr>
          <p:cNvSpPr/>
          <p:nvPr/>
        </p:nvSpPr>
        <p:spPr>
          <a:xfrm>
            <a:off x="657199" y="2449088"/>
            <a:ext cx="8053671" cy="0"/>
          </a:xfrm>
          <a:prstGeom prst="line">
            <a:avLst/>
          </a:prstGeom>
          <a:noFill/>
          <a:ln w="9525">
            <a:solidFill>
              <a:srgbClr val="D8E0E6"/>
            </a:solidFill>
            <a:prstDash val="solid"/>
          </a:ln>
        </p:spPr>
        <p:txBody>
          <a:bodyPr/>
          <a:lstStyle/>
          <a:p>
            <a:endParaRPr lang="ko-KR" altLang="en-US" sz="1634"/>
          </a:p>
        </p:txBody>
      </p:sp>
      <p:sp>
        <p:nvSpPr>
          <p:cNvPr id="19" name="Shape 16">
            <a:extLst>
              <a:ext uri="{FF2B5EF4-FFF2-40B4-BE49-F238E27FC236}">
                <a16:creationId xmlns:a16="http://schemas.microsoft.com/office/drawing/2014/main" id="{9707943E-8C2C-D602-A0AA-61E35AD88C13}"/>
              </a:ext>
            </a:extLst>
          </p:cNvPr>
          <p:cNvSpPr/>
          <p:nvPr/>
        </p:nvSpPr>
        <p:spPr>
          <a:xfrm>
            <a:off x="657199" y="2685047"/>
            <a:ext cx="484784" cy="484784"/>
          </a:xfrm>
          <a:prstGeom prst="roundRect">
            <a:avLst>
              <a:gd name="adj" fmla="val 50000"/>
            </a:avLst>
          </a:prstGeom>
          <a:solidFill>
            <a:srgbClr val="3B5BA7"/>
          </a:solidFill>
          <a:ln/>
        </p:spPr>
        <p:txBody>
          <a:bodyPr/>
          <a:lstStyle/>
          <a:p>
            <a:endParaRPr lang="ko-KR" altLang="en-US" sz="1634"/>
          </a:p>
        </p:txBody>
      </p:sp>
      <p:sp>
        <p:nvSpPr>
          <p:cNvPr id="21" name="Text 17">
            <a:extLst>
              <a:ext uri="{FF2B5EF4-FFF2-40B4-BE49-F238E27FC236}">
                <a16:creationId xmlns:a16="http://schemas.microsoft.com/office/drawing/2014/main" id="{4DE8112B-2A75-7035-C32F-38AF6F148724}"/>
              </a:ext>
            </a:extLst>
          </p:cNvPr>
          <p:cNvSpPr/>
          <p:nvPr/>
        </p:nvSpPr>
        <p:spPr>
          <a:xfrm>
            <a:off x="657199" y="2685047"/>
            <a:ext cx="484784" cy="484784"/>
          </a:xfrm>
          <a:prstGeom prst="rect">
            <a:avLst/>
          </a:prstGeom>
          <a:noFill/>
          <a:ln/>
        </p:spPr>
        <p:txBody>
          <a:bodyPr wrap="square" rtlCol="0" anchor="ctr"/>
          <a:lstStyle/>
          <a:p>
            <a:pPr algn="ctr"/>
            <a:r>
              <a:rPr lang="en-US" sz="1369" b="1" dirty="0">
                <a:solidFill>
                  <a:srgbClr val="FFFFFF"/>
                </a:solidFill>
                <a:latin typeface="맑은 고딕" pitchFamily="34" charset="0"/>
                <a:ea typeface="맑은 고딕" pitchFamily="34" charset="-122"/>
                <a:cs typeface="맑은 고딕" pitchFamily="34" charset="-120"/>
              </a:rPr>
              <a:t>II</a:t>
            </a:r>
            <a:endParaRPr lang="en-US" sz="1369" dirty="0"/>
          </a:p>
        </p:txBody>
      </p:sp>
      <p:sp>
        <p:nvSpPr>
          <p:cNvPr id="23" name="Text 18">
            <a:extLst>
              <a:ext uri="{FF2B5EF4-FFF2-40B4-BE49-F238E27FC236}">
                <a16:creationId xmlns:a16="http://schemas.microsoft.com/office/drawing/2014/main" id="{9FDC759B-03DA-A698-4670-B4CC9475AE01}"/>
              </a:ext>
            </a:extLst>
          </p:cNvPr>
          <p:cNvSpPr/>
          <p:nvPr/>
        </p:nvSpPr>
        <p:spPr>
          <a:xfrm>
            <a:off x="1321825" y="2700685"/>
            <a:ext cx="7037187" cy="250211"/>
          </a:xfrm>
          <a:prstGeom prst="rect">
            <a:avLst/>
          </a:prstGeom>
          <a:noFill/>
          <a:ln/>
        </p:spPr>
        <p:txBody>
          <a:bodyPr wrap="square" rtlCol="0" anchor="ctr"/>
          <a:lstStyle/>
          <a:p>
            <a:r>
              <a:rPr lang="en-US" sz="1197" b="1" dirty="0">
                <a:solidFill>
                  <a:srgbClr val="1E293B"/>
                </a:solidFill>
                <a:latin typeface="맑은 고딕" pitchFamily="34" charset="0"/>
                <a:ea typeface="맑은 고딕" pitchFamily="34" charset="-122"/>
                <a:cs typeface="맑은 고딕" pitchFamily="34" charset="-120"/>
              </a:rPr>
              <a:t>사용 부품 리스트</a:t>
            </a:r>
            <a:endParaRPr lang="en-US" sz="1197" dirty="0"/>
          </a:p>
        </p:txBody>
      </p:sp>
      <p:sp>
        <p:nvSpPr>
          <p:cNvPr id="25" name="Text 19">
            <a:extLst>
              <a:ext uri="{FF2B5EF4-FFF2-40B4-BE49-F238E27FC236}">
                <a16:creationId xmlns:a16="http://schemas.microsoft.com/office/drawing/2014/main" id="{043CD9CB-033F-0563-7365-25515EA80E40}"/>
              </a:ext>
            </a:extLst>
          </p:cNvPr>
          <p:cNvSpPr/>
          <p:nvPr/>
        </p:nvSpPr>
        <p:spPr>
          <a:xfrm>
            <a:off x="1321825" y="2935258"/>
            <a:ext cx="7037187" cy="234573"/>
          </a:xfrm>
          <a:prstGeom prst="rect">
            <a:avLst/>
          </a:prstGeom>
          <a:noFill/>
          <a:ln/>
        </p:spPr>
        <p:txBody>
          <a:bodyPr wrap="square" rtlCol="0" anchor="ctr"/>
          <a:lstStyle/>
          <a:p>
            <a:r>
              <a:rPr lang="en-US" sz="855" dirty="0">
                <a:solidFill>
                  <a:srgbClr val="64748B"/>
                </a:solidFill>
                <a:latin typeface="맑은 고딕" pitchFamily="34" charset="0"/>
                <a:ea typeface="맑은 고딕" pitchFamily="34" charset="-122"/>
                <a:cs typeface="맑은 고딕" pitchFamily="34" charset="-120"/>
              </a:rPr>
              <a:t>부품별 역할 · 전체 BOM 총괄표</a:t>
            </a:r>
            <a:endParaRPr lang="en-US" sz="855" dirty="0"/>
          </a:p>
        </p:txBody>
      </p:sp>
      <p:sp>
        <p:nvSpPr>
          <p:cNvPr id="27" name="Shape 20">
            <a:extLst>
              <a:ext uri="{FF2B5EF4-FFF2-40B4-BE49-F238E27FC236}">
                <a16:creationId xmlns:a16="http://schemas.microsoft.com/office/drawing/2014/main" id="{6753F617-1E39-370E-4709-9C3DB5F768C5}"/>
              </a:ext>
            </a:extLst>
          </p:cNvPr>
          <p:cNvSpPr/>
          <p:nvPr/>
        </p:nvSpPr>
        <p:spPr>
          <a:xfrm>
            <a:off x="657199" y="3418823"/>
            <a:ext cx="8053671" cy="0"/>
          </a:xfrm>
          <a:prstGeom prst="line">
            <a:avLst/>
          </a:prstGeom>
          <a:noFill/>
          <a:ln w="9525">
            <a:solidFill>
              <a:srgbClr val="D8E0E6"/>
            </a:solidFill>
            <a:prstDash val="solid"/>
          </a:ln>
        </p:spPr>
        <p:txBody>
          <a:bodyPr/>
          <a:lstStyle/>
          <a:p>
            <a:endParaRPr lang="ko-KR" altLang="en-US" sz="1634"/>
          </a:p>
        </p:txBody>
      </p:sp>
      <p:sp>
        <p:nvSpPr>
          <p:cNvPr id="29" name="Shape 21">
            <a:extLst>
              <a:ext uri="{FF2B5EF4-FFF2-40B4-BE49-F238E27FC236}">
                <a16:creationId xmlns:a16="http://schemas.microsoft.com/office/drawing/2014/main" id="{B941A93B-6219-F2F6-6BE1-2BB81467170B}"/>
              </a:ext>
            </a:extLst>
          </p:cNvPr>
          <p:cNvSpPr/>
          <p:nvPr/>
        </p:nvSpPr>
        <p:spPr>
          <a:xfrm>
            <a:off x="657199" y="3670422"/>
            <a:ext cx="484784" cy="484784"/>
          </a:xfrm>
          <a:prstGeom prst="roundRect">
            <a:avLst>
              <a:gd name="adj" fmla="val 50000"/>
            </a:avLst>
          </a:prstGeom>
          <a:solidFill>
            <a:srgbClr val="3B5BA7"/>
          </a:solidFill>
          <a:ln/>
        </p:spPr>
        <p:txBody>
          <a:bodyPr/>
          <a:lstStyle/>
          <a:p>
            <a:endParaRPr lang="ko-KR" altLang="en-US" sz="1634"/>
          </a:p>
        </p:txBody>
      </p:sp>
      <p:sp>
        <p:nvSpPr>
          <p:cNvPr id="31" name="Text 22">
            <a:extLst>
              <a:ext uri="{FF2B5EF4-FFF2-40B4-BE49-F238E27FC236}">
                <a16:creationId xmlns:a16="http://schemas.microsoft.com/office/drawing/2014/main" id="{D57B265E-F5E6-67F9-8478-1A1D31C1A756}"/>
              </a:ext>
            </a:extLst>
          </p:cNvPr>
          <p:cNvSpPr/>
          <p:nvPr/>
        </p:nvSpPr>
        <p:spPr>
          <a:xfrm>
            <a:off x="657199" y="3670422"/>
            <a:ext cx="484784" cy="484784"/>
          </a:xfrm>
          <a:prstGeom prst="rect">
            <a:avLst/>
          </a:prstGeom>
          <a:noFill/>
          <a:ln/>
        </p:spPr>
        <p:txBody>
          <a:bodyPr wrap="square" rtlCol="0" anchor="ctr"/>
          <a:lstStyle/>
          <a:p>
            <a:pPr algn="ctr"/>
            <a:r>
              <a:rPr lang="en-US" sz="1369" b="1" dirty="0">
                <a:solidFill>
                  <a:srgbClr val="FFFFFF"/>
                </a:solidFill>
                <a:latin typeface="맑은 고딕" pitchFamily="34" charset="0"/>
                <a:ea typeface="맑은 고딕" pitchFamily="34" charset="-122"/>
                <a:cs typeface="맑은 고딕" pitchFamily="34" charset="-120"/>
              </a:rPr>
              <a:t>III</a:t>
            </a:r>
            <a:endParaRPr lang="en-US" sz="1369" dirty="0"/>
          </a:p>
        </p:txBody>
      </p:sp>
      <p:sp>
        <p:nvSpPr>
          <p:cNvPr id="33" name="Text 23">
            <a:extLst>
              <a:ext uri="{FF2B5EF4-FFF2-40B4-BE49-F238E27FC236}">
                <a16:creationId xmlns:a16="http://schemas.microsoft.com/office/drawing/2014/main" id="{119B04F1-1737-2781-8A33-8FD3AC07BBD6}"/>
              </a:ext>
            </a:extLst>
          </p:cNvPr>
          <p:cNvSpPr/>
          <p:nvPr/>
        </p:nvSpPr>
        <p:spPr>
          <a:xfrm>
            <a:off x="1321825" y="3686060"/>
            <a:ext cx="7037187" cy="250211"/>
          </a:xfrm>
          <a:prstGeom prst="rect">
            <a:avLst/>
          </a:prstGeom>
          <a:noFill/>
          <a:ln/>
        </p:spPr>
        <p:txBody>
          <a:bodyPr wrap="square" rtlCol="0" anchor="ctr"/>
          <a:lstStyle/>
          <a:p>
            <a:r>
              <a:rPr lang="en-US" sz="1197" b="1" dirty="0">
                <a:solidFill>
                  <a:srgbClr val="1E293B"/>
                </a:solidFill>
                <a:latin typeface="맑은 고딕" pitchFamily="34" charset="0"/>
                <a:ea typeface="맑은 고딕" pitchFamily="34" charset="-122"/>
                <a:cs typeface="맑은 고딕" pitchFamily="34" charset="-120"/>
              </a:rPr>
              <a:t>회로 설계</a:t>
            </a:r>
            <a:endParaRPr lang="en-US" sz="1197" dirty="0"/>
          </a:p>
        </p:txBody>
      </p:sp>
      <p:sp>
        <p:nvSpPr>
          <p:cNvPr id="35" name="Text 24">
            <a:extLst>
              <a:ext uri="{FF2B5EF4-FFF2-40B4-BE49-F238E27FC236}">
                <a16:creationId xmlns:a16="http://schemas.microsoft.com/office/drawing/2014/main" id="{E433F81A-B5EC-CE31-313C-AC33178D559E}"/>
              </a:ext>
            </a:extLst>
          </p:cNvPr>
          <p:cNvSpPr/>
          <p:nvPr/>
        </p:nvSpPr>
        <p:spPr>
          <a:xfrm>
            <a:off x="1321825" y="3920633"/>
            <a:ext cx="7037187" cy="234573"/>
          </a:xfrm>
          <a:prstGeom prst="rect">
            <a:avLst/>
          </a:prstGeom>
          <a:noFill/>
          <a:ln/>
        </p:spPr>
        <p:txBody>
          <a:bodyPr wrap="square" rtlCol="0" anchor="ctr"/>
          <a:lstStyle/>
          <a:p>
            <a:r>
              <a:rPr lang="en-US" sz="855" dirty="0">
                <a:solidFill>
                  <a:srgbClr val="64748B"/>
                </a:solidFill>
                <a:latin typeface="맑은 고딕" pitchFamily="34" charset="0"/>
                <a:ea typeface="맑은 고딕" pitchFamily="34" charset="-122"/>
                <a:cs typeface="맑은 고딕" pitchFamily="34" charset="-120"/>
              </a:rPr>
              <a:t>I2C 통신 구조 · 아날로그 신호경로 · 릴레이 로직 · GPIO 핀맵</a:t>
            </a:r>
            <a:endParaRPr lang="en-US" sz="855" dirty="0"/>
          </a:p>
        </p:txBody>
      </p:sp>
      <p:sp>
        <p:nvSpPr>
          <p:cNvPr id="37" name="Shape 25">
            <a:extLst>
              <a:ext uri="{FF2B5EF4-FFF2-40B4-BE49-F238E27FC236}">
                <a16:creationId xmlns:a16="http://schemas.microsoft.com/office/drawing/2014/main" id="{B22578AA-EAA0-FF48-3E66-7CB69CAF58A1}"/>
              </a:ext>
            </a:extLst>
          </p:cNvPr>
          <p:cNvSpPr/>
          <p:nvPr/>
        </p:nvSpPr>
        <p:spPr>
          <a:xfrm>
            <a:off x="657199" y="4404198"/>
            <a:ext cx="8053671" cy="0"/>
          </a:xfrm>
          <a:prstGeom prst="line">
            <a:avLst/>
          </a:prstGeom>
          <a:noFill/>
          <a:ln w="9525">
            <a:solidFill>
              <a:srgbClr val="D8E0E6"/>
            </a:solidFill>
            <a:prstDash val="solid"/>
          </a:ln>
        </p:spPr>
        <p:txBody>
          <a:bodyPr/>
          <a:lstStyle/>
          <a:p>
            <a:endParaRPr lang="ko-KR" altLang="en-US" sz="1634"/>
          </a:p>
        </p:txBody>
      </p:sp>
      <p:sp>
        <p:nvSpPr>
          <p:cNvPr id="39" name="Shape 26">
            <a:extLst>
              <a:ext uri="{FF2B5EF4-FFF2-40B4-BE49-F238E27FC236}">
                <a16:creationId xmlns:a16="http://schemas.microsoft.com/office/drawing/2014/main" id="{8CF204EA-C070-5A49-A19C-A068A289EAB9}"/>
              </a:ext>
            </a:extLst>
          </p:cNvPr>
          <p:cNvSpPr/>
          <p:nvPr/>
        </p:nvSpPr>
        <p:spPr>
          <a:xfrm>
            <a:off x="657199" y="4655796"/>
            <a:ext cx="484784" cy="484784"/>
          </a:xfrm>
          <a:prstGeom prst="roundRect">
            <a:avLst>
              <a:gd name="adj" fmla="val 50000"/>
            </a:avLst>
          </a:prstGeom>
          <a:solidFill>
            <a:srgbClr val="3B5BA7"/>
          </a:solidFill>
          <a:ln/>
        </p:spPr>
        <p:txBody>
          <a:bodyPr/>
          <a:lstStyle/>
          <a:p>
            <a:endParaRPr lang="ko-KR" altLang="en-US" sz="1634"/>
          </a:p>
        </p:txBody>
      </p:sp>
      <p:sp>
        <p:nvSpPr>
          <p:cNvPr id="41" name="Text 27">
            <a:extLst>
              <a:ext uri="{FF2B5EF4-FFF2-40B4-BE49-F238E27FC236}">
                <a16:creationId xmlns:a16="http://schemas.microsoft.com/office/drawing/2014/main" id="{90DAC5D6-64A8-C236-7399-02EA02AA9197}"/>
              </a:ext>
            </a:extLst>
          </p:cNvPr>
          <p:cNvSpPr/>
          <p:nvPr/>
        </p:nvSpPr>
        <p:spPr>
          <a:xfrm>
            <a:off x="657199" y="4655796"/>
            <a:ext cx="484784" cy="484784"/>
          </a:xfrm>
          <a:prstGeom prst="rect">
            <a:avLst/>
          </a:prstGeom>
          <a:noFill/>
          <a:ln/>
        </p:spPr>
        <p:txBody>
          <a:bodyPr wrap="square" rtlCol="0" anchor="ctr"/>
          <a:lstStyle/>
          <a:p>
            <a:pPr algn="ctr"/>
            <a:r>
              <a:rPr lang="en-US" sz="1369" b="1" dirty="0">
                <a:solidFill>
                  <a:srgbClr val="FFFFFF"/>
                </a:solidFill>
                <a:latin typeface="맑은 고딕" pitchFamily="34" charset="0"/>
                <a:ea typeface="맑은 고딕" pitchFamily="34" charset="-122"/>
                <a:cs typeface="맑은 고딕" pitchFamily="34" charset="-120"/>
              </a:rPr>
              <a:t>IV</a:t>
            </a:r>
            <a:endParaRPr lang="en-US" sz="1369" dirty="0"/>
          </a:p>
        </p:txBody>
      </p:sp>
      <p:sp>
        <p:nvSpPr>
          <p:cNvPr id="43" name="Text 28">
            <a:extLst>
              <a:ext uri="{FF2B5EF4-FFF2-40B4-BE49-F238E27FC236}">
                <a16:creationId xmlns:a16="http://schemas.microsoft.com/office/drawing/2014/main" id="{AA92F0C3-DAD2-EB87-D61C-2C56286C7974}"/>
              </a:ext>
            </a:extLst>
          </p:cNvPr>
          <p:cNvSpPr/>
          <p:nvPr/>
        </p:nvSpPr>
        <p:spPr>
          <a:xfrm>
            <a:off x="1321825" y="4671434"/>
            <a:ext cx="7037187" cy="250211"/>
          </a:xfrm>
          <a:prstGeom prst="rect">
            <a:avLst/>
          </a:prstGeom>
          <a:noFill/>
          <a:ln/>
        </p:spPr>
        <p:txBody>
          <a:bodyPr wrap="square" rtlCol="0" anchor="ctr"/>
          <a:lstStyle/>
          <a:p>
            <a:r>
              <a:rPr lang="en-US" sz="1197" b="1" dirty="0">
                <a:solidFill>
                  <a:srgbClr val="1E293B"/>
                </a:solidFill>
                <a:latin typeface="맑은 고딕" pitchFamily="34" charset="0"/>
                <a:ea typeface="맑은 고딕" pitchFamily="34" charset="-122"/>
                <a:cs typeface="맑은 고딕" pitchFamily="34" charset="-120"/>
              </a:rPr>
              <a:t>핵심 State 정의</a:t>
            </a:r>
            <a:endParaRPr lang="en-US" sz="1197" dirty="0"/>
          </a:p>
        </p:txBody>
      </p:sp>
      <p:sp>
        <p:nvSpPr>
          <p:cNvPr id="45" name="Text 29">
            <a:extLst>
              <a:ext uri="{FF2B5EF4-FFF2-40B4-BE49-F238E27FC236}">
                <a16:creationId xmlns:a16="http://schemas.microsoft.com/office/drawing/2014/main" id="{50FA7B11-842F-75F3-54A3-0117AFAF34D2}"/>
              </a:ext>
            </a:extLst>
          </p:cNvPr>
          <p:cNvSpPr/>
          <p:nvPr/>
        </p:nvSpPr>
        <p:spPr>
          <a:xfrm>
            <a:off x="1321825" y="4906007"/>
            <a:ext cx="7037187" cy="234573"/>
          </a:xfrm>
          <a:prstGeom prst="rect">
            <a:avLst/>
          </a:prstGeom>
          <a:noFill/>
          <a:ln/>
        </p:spPr>
        <p:txBody>
          <a:bodyPr wrap="square" rtlCol="0" anchor="ctr"/>
          <a:lstStyle/>
          <a:p>
            <a:r>
              <a:rPr lang="en-US" sz="855" dirty="0">
                <a:solidFill>
                  <a:srgbClr val="64748B"/>
                </a:solidFill>
                <a:latin typeface="맑은 고딕" pitchFamily="34" charset="0"/>
                <a:ea typeface="맑은 고딕" pitchFamily="34" charset="-122"/>
                <a:cs typeface="맑은 고딕" pitchFamily="34" charset="-120"/>
              </a:rPr>
              <a:t>5가지 시스템 상태와 전이 조건</a:t>
            </a:r>
            <a:endParaRPr lang="en-US" sz="855" dirty="0"/>
          </a:p>
        </p:txBody>
      </p:sp>
      <p:sp>
        <p:nvSpPr>
          <p:cNvPr id="47" name="Shape 30">
            <a:extLst>
              <a:ext uri="{FF2B5EF4-FFF2-40B4-BE49-F238E27FC236}">
                <a16:creationId xmlns:a16="http://schemas.microsoft.com/office/drawing/2014/main" id="{7348D255-A7A6-4A19-56EC-D7FC558DC59B}"/>
              </a:ext>
            </a:extLst>
          </p:cNvPr>
          <p:cNvSpPr/>
          <p:nvPr/>
        </p:nvSpPr>
        <p:spPr>
          <a:xfrm>
            <a:off x="657199" y="5389572"/>
            <a:ext cx="8053671" cy="0"/>
          </a:xfrm>
          <a:prstGeom prst="line">
            <a:avLst/>
          </a:prstGeom>
          <a:noFill/>
          <a:ln w="9525">
            <a:solidFill>
              <a:srgbClr val="D8E0E6"/>
            </a:solidFill>
            <a:prstDash val="solid"/>
          </a:ln>
        </p:spPr>
        <p:txBody>
          <a:bodyPr/>
          <a:lstStyle/>
          <a:p>
            <a:endParaRPr lang="ko-KR" altLang="en-US" sz="1634"/>
          </a:p>
        </p:txBody>
      </p:sp>
      <p:sp>
        <p:nvSpPr>
          <p:cNvPr id="49" name="Shape 31">
            <a:extLst>
              <a:ext uri="{FF2B5EF4-FFF2-40B4-BE49-F238E27FC236}">
                <a16:creationId xmlns:a16="http://schemas.microsoft.com/office/drawing/2014/main" id="{A9F8A18E-B372-49DF-ADF1-AC3DF39622A3}"/>
              </a:ext>
            </a:extLst>
          </p:cNvPr>
          <p:cNvSpPr/>
          <p:nvPr/>
        </p:nvSpPr>
        <p:spPr>
          <a:xfrm>
            <a:off x="657199" y="5641170"/>
            <a:ext cx="484784" cy="484784"/>
          </a:xfrm>
          <a:prstGeom prst="roundRect">
            <a:avLst>
              <a:gd name="adj" fmla="val 50000"/>
            </a:avLst>
          </a:prstGeom>
          <a:solidFill>
            <a:srgbClr val="3B5BA7"/>
          </a:solidFill>
          <a:ln/>
        </p:spPr>
        <p:txBody>
          <a:bodyPr/>
          <a:lstStyle/>
          <a:p>
            <a:endParaRPr lang="ko-KR" altLang="en-US" sz="1634"/>
          </a:p>
        </p:txBody>
      </p:sp>
      <p:sp>
        <p:nvSpPr>
          <p:cNvPr id="51" name="Text 32">
            <a:extLst>
              <a:ext uri="{FF2B5EF4-FFF2-40B4-BE49-F238E27FC236}">
                <a16:creationId xmlns:a16="http://schemas.microsoft.com/office/drawing/2014/main" id="{98361B52-6C1C-7CAA-C6D7-538E8AC314A3}"/>
              </a:ext>
            </a:extLst>
          </p:cNvPr>
          <p:cNvSpPr/>
          <p:nvPr/>
        </p:nvSpPr>
        <p:spPr>
          <a:xfrm>
            <a:off x="657199" y="5641170"/>
            <a:ext cx="484784" cy="484784"/>
          </a:xfrm>
          <a:prstGeom prst="rect">
            <a:avLst/>
          </a:prstGeom>
          <a:noFill/>
          <a:ln/>
        </p:spPr>
        <p:txBody>
          <a:bodyPr wrap="square" rtlCol="0" anchor="ctr"/>
          <a:lstStyle/>
          <a:p>
            <a:pPr algn="ctr"/>
            <a:r>
              <a:rPr lang="en-US" sz="1369" b="1" dirty="0">
                <a:solidFill>
                  <a:srgbClr val="FFFFFF"/>
                </a:solidFill>
                <a:latin typeface="맑은 고딕" pitchFamily="34" charset="0"/>
                <a:ea typeface="맑은 고딕" pitchFamily="34" charset="-122"/>
                <a:cs typeface="맑은 고딕" pitchFamily="34" charset="-120"/>
              </a:rPr>
              <a:t>V</a:t>
            </a:r>
            <a:endParaRPr lang="en-US" sz="1369" dirty="0"/>
          </a:p>
        </p:txBody>
      </p:sp>
      <p:sp>
        <p:nvSpPr>
          <p:cNvPr id="53" name="Text 33">
            <a:extLst>
              <a:ext uri="{FF2B5EF4-FFF2-40B4-BE49-F238E27FC236}">
                <a16:creationId xmlns:a16="http://schemas.microsoft.com/office/drawing/2014/main" id="{8A6FF3C6-ADF3-C71C-88E0-E74C6115F335}"/>
              </a:ext>
            </a:extLst>
          </p:cNvPr>
          <p:cNvSpPr/>
          <p:nvPr/>
        </p:nvSpPr>
        <p:spPr>
          <a:xfrm>
            <a:off x="1321825" y="5656809"/>
            <a:ext cx="7037187" cy="250211"/>
          </a:xfrm>
          <a:prstGeom prst="rect">
            <a:avLst/>
          </a:prstGeom>
          <a:noFill/>
          <a:ln/>
        </p:spPr>
        <p:txBody>
          <a:bodyPr wrap="square" rtlCol="0" anchor="ctr"/>
          <a:lstStyle/>
          <a:p>
            <a:r>
              <a:rPr lang="en-US" sz="1197" b="1" dirty="0">
                <a:solidFill>
                  <a:srgbClr val="1E293B"/>
                </a:solidFill>
                <a:latin typeface="맑은 고딕" pitchFamily="34" charset="0"/>
                <a:ea typeface="맑은 고딕" pitchFamily="34" charset="-122"/>
                <a:cs typeface="맑은 고딕" pitchFamily="34" charset="-120"/>
              </a:rPr>
              <a:t>모드별 세부 동작 메커니즘</a:t>
            </a:r>
            <a:endParaRPr lang="en-US" sz="1197" dirty="0"/>
          </a:p>
        </p:txBody>
      </p:sp>
      <p:sp>
        <p:nvSpPr>
          <p:cNvPr id="55" name="Text 34">
            <a:extLst>
              <a:ext uri="{FF2B5EF4-FFF2-40B4-BE49-F238E27FC236}">
                <a16:creationId xmlns:a16="http://schemas.microsoft.com/office/drawing/2014/main" id="{0EA74BD5-4015-8FDA-585D-70622FA980C0}"/>
              </a:ext>
            </a:extLst>
          </p:cNvPr>
          <p:cNvSpPr/>
          <p:nvPr/>
        </p:nvSpPr>
        <p:spPr>
          <a:xfrm>
            <a:off x="1321825" y="5891381"/>
            <a:ext cx="7037187" cy="234573"/>
          </a:xfrm>
          <a:prstGeom prst="rect">
            <a:avLst/>
          </a:prstGeom>
          <a:noFill/>
          <a:ln/>
        </p:spPr>
        <p:txBody>
          <a:bodyPr wrap="square" rtlCol="0" anchor="ctr"/>
          <a:lstStyle/>
          <a:p>
            <a:r>
              <a:rPr lang="en-US" sz="855" dirty="0">
                <a:solidFill>
                  <a:srgbClr val="64748B"/>
                </a:solidFill>
                <a:latin typeface="맑은 고딕" pitchFamily="34" charset="0"/>
                <a:ea typeface="맑은 고딕" pitchFamily="34" charset="-122"/>
                <a:cs typeface="맑은 고딕" pitchFamily="34" charset="-120"/>
              </a:rPr>
              <a:t>모드1·2·3 충/방전 시퀀스 및 대시보드 연동</a:t>
            </a:r>
            <a:endParaRPr lang="en-US" sz="855" dirty="0"/>
          </a:p>
        </p:txBody>
      </p:sp>
    </p:spTree>
    <p:extLst>
      <p:ext uri="{BB962C8B-B14F-4D97-AF65-F5344CB8AC3E}">
        <p14:creationId xmlns:p14="http://schemas.microsoft.com/office/powerpoint/2010/main" val="34540697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88933-EAA8-04A9-B970-E3419A618B2F}"/>
            </a:ext>
          </a:extLst>
        </p:cNvPr>
        <p:cNvGrpSpPr/>
        <p:nvPr/>
      </p:nvGrpSpPr>
      <p:grpSpPr>
        <a:xfrm>
          <a:off x="0" y="0"/>
          <a:ext cx="0" cy="0"/>
          <a:chOff x="0" y="0"/>
          <a:chExt cx="0" cy="0"/>
        </a:xfrm>
      </p:grpSpPr>
      <p:sp>
        <p:nvSpPr>
          <p:cNvPr id="46" name="직사각형 46"/>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7" name="직선 연결선 47"/>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8" name="직선 연결선 48"/>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49" name="제목 49"/>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시스템 개요</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50" name="막힌 원호 50"/>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F7EA789A-4D6D-4C7A-8F61-994C31F43550}"/>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8F63BF4A-53AA-00EA-03F5-CEC59980B955}"/>
              </a:ext>
            </a:extLst>
          </p:cNvPr>
          <p:cNvPicPr/>
          <p:nvPr/>
        </p:nvPicPr>
        <p:blipFill>
          <a:blip r:embed="rId4" cstate="print"/>
          <a:stretch>
            <a:fillRect/>
          </a:stretch>
        </p:blipFill>
        <p:spPr>
          <a:xfrm>
            <a:off x="7275128" y="314247"/>
            <a:ext cx="1325611" cy="307338"/>
          </a:xfrm>
          <a:prstGeom prst="rect">
            <a:avLst/>
          </a:prstGeom>
        </p:spPr>
      </p:pic>
      <p:sp>
        <p:nvSpPr>
          <p:cNvPr id="9" name="Shape 12">
            <a:extLst>
              <a:ext uri="{FF2B5EF4-FFF2-40B4-BE49-F238E27FC236}">
                <a16:creationId xmlns:a16="http://schemas.microsoft.com/office/drawing/2014/main" id="{74EB801E-6B47-E620-2E80-EB8EF7575A9B}"/>
              </a:ext>
            </a:extLst>
          </p:cNvPr>
          <p:cNvSpPr/>
          <p:nvPr/>
        </p:nvSpPr>
        <p:spPr>
          <a:xfrm>
            <a:off x="648514" y="1654488"/>
            <a:ext cx="70371" cy="172020"/>
          </a:xfrm>
          <a:prstGeom prst="rect">
            <a:avLst/>
          </a:prstGeom>
          <a:solidFill>
            <a:srgbClr val="3B5BA7"/>
          </a:solidFill>
          <a:ln/>
        </p:spPr>
        <p:txBody>
          <a:bodyPr/>
          <a:lstStyle/>
          <a:p>
            <a:endParaRPr lang="ko-KR" altLang="en-US" sz="1634"/>
          </a:p>
        </p:txBody>
      </p:sp>
      <p:sp>
        <p:nvSpPr>
          <p:cNvPr id="11" name="Text 13">
            <a:extLst>
              <a:ext uri="{FF2B5EF4-FFF2-40B4-BE49-F238E27FC236}">
                <a16:creationId xmlns:a16="http://schemas.microsoft.com/office/drawing/2014/main" id="{E5AB973C-AA7B-DBB2-72CE-7A2EF99D5085}"/>
              </a:ext>
            </a:extLst>
          </p:cNvPr>
          <p:cNvSpPr/>
          <p:nvPr/>
        </p:nvSpPr>
        <p:spPr>
          <a:xfrm>
            <a:off x="789255" y="1631031"/>
            <a:ext cx="625527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정의</a:t>
            </a:r>
            <a:endParaRPr lang="en-US" sz="1112" dirty="0"/>
          </a:p>
        </p:txBody>
      </p:sp>
      <p:sp>
        <p:nvSpPr>
          <p:cNvPr id="13" name="Shape 14">
            <a:extLst>
              <a:ext uri="{FF2B5EF4-FFF2-40B4-BE49-F238E27FC236}">
                <a16:creationId xmlns:a16="http://schemas.microsoft.com/office/drawing/2014/main" id="{D2904382-4148-9686-A8D2-0252FBFB1EB0}"/>
              </a:ext>
            </a:extLst>
          </p:cNvPr>
          <p:cNvSpPr/>
          <p:nvPr/>
        </p:nvSpPr>
        <p:spPr>
          <a:xfrm>
            <a:off x="648511" y="1928156"/>
            <a:ext cx="8053671" cy="1172865"/>
          </a:xfrm>
          <a:prstGeom prst="roundRect">
            <a:avLst>
              <a:gd name="adj" fmla="val 4667"/>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15" name="Text 15">
            <a:extLst>
              <a:ext uri="{FF2B5EF4-FFF2-40B4-BE49-F238E27FC236}">
                <a16:creationId xmlns:a16="http://schemas.microsoft.com/office/drawing/2014/main" id="{0F54591E-33F0-9EF2-5071-1C47D9F0486A}"/>
              </a:ext>
            </a:extLst>
          </p:cNvPr>
          <p:cNvSpPr/>
          <p:nvPr/>
        </p:nvSpPr>
        <p:spPr>
          <a:xfrm>
            <a:off x="804894" y="2045442"/>
            <a:ext cx="7740906" cy="938292"/>
          </a:xfrm>
          <a:prstGeom prst="rect">
            <a:avLst/>
          </a:prstGeom>
          <a:noFill/>
          <a:ln/>
        </p:spPr>
        <p:txBody>
          <a:bodyPr wrap="square" rtlCol="0" anchor="t"/>
          <a:lstStyle/>
          <a:p>
            <a:pPr>
              <a:lnSpc>
                <a:spcPct val="125000"/>
              </a:lnSpc>
              <a:spcAft>
                <a:spcPts val="684"/>
              </a:spcAft>
            </a:pPr>
            <a:r>
              <a:rPr lang="en-US" sz="1026" dirty="0">
                <a:solidFill>
                  <a:srgbClr val="1E293B"/>
                </a:solidFill>
                <a:latin typeface="맑은 고딕" pitchFamily="34" charset="0"/>
                <a:ea typeface="맑은 고딕" pitchFamily="34" charset="-122"/>
                <a:cs typeface="맑은 고딕" pitchFamily="34" charset="-120"/>
              </a:rPr>
              <a:t>본 시스템은 라즈베리파이 5를 메인 컨트롤러로 활용해 제어 신뢰성을 높이고, 서로 다른 특성을 가진 3종의 배터리(내장 1셀 · 외부 순수 셀 · 외부 완제품 보조배터리)를 단일 디바이스에서 안전하고 정밀하게 통합 진단하도록 설계된 '독립 전원 기반 3 in 1 지능형 BMS'이다.</a:t>
            </a:r>
            <a:endParaRPr lang="en-US" sz="1026" dirty="0"/>
          </a:p>
        </p:txBody>
      </p:sp>
      <p:sp>
        <p:nvSpPr>
          <p:cNvPr id="17" name="Shape 16">
            <a:extLst>
              <a:ext uri="{FF2B5EF4-FFF2-40B4-BE49-F238E27FC236}">
                <a16:creationId xmlns:a16="http://schemas.microsoft.com/office/drawing/2014/main" id="{F7E1A738-74E2-72FC-488E-336E25B090DD}"/>
              </a:ext>
            </a:extLst>
          </p:cNvPr>
          <p:cNvSpPr/>
          <p:nvPr/>
        </p:nvSpPr>
        <p:spPr>
          <a:xfrm>
            <a:off x="648514" y="3257405"/>
            <a:ext cx="70371" cy="172020"/>
          </a:xfrm>
          <a:prstGeom prst="rect">
            <a:avLst/>
          </a:prstGeom>
          <a:solidFill>
            <a:srgbClr val="3B5BA7"/>
          </a:solidFill>
          <a:ln/>
        </p:spPr>
        <p:txBody>
          <a:bodyPr/>
          <a:lstStyle/>
          <a:p>
            <a:endParaRPr lang="ko-KR" altLang="en-US" sz="1634"/>
          </a:p>
        </p:txBody>
      </p:sp>
      <p:sp>
        <p:nvSpPr>
          <p:cNvPr id="19" name="Text 17">
            <a:extLst>
              <a:ext uri="{FF2B5EF4-FFF2-40B4-BE49-F238E27FC236}">
                <a16:creationId xmlns:a16="http://schemas.microsoft.com/office/drawing/2014/main" id="{F119FE86-9614-B893-2797-63B2937F912E}"/>
              </a:ext>
            </a:extLst>
          </p:cNvPr>
          <p:cNvSpPr/>
          <p:nvPr/>
        </p:nvSpPr>
        <p:spPr>
          <a:xfrm>
            <a:off x="789255" y="3233945"/>
            <a:ext cx="625527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안전 설계 원칙</a:t>
            </a:r>
            <a:endParaRPr lang="en-US" sz="1112" dirty="0"/>
          </a:p>
        </p:txBody>
      </p:sp>
      <p:sp>
        <p:nvSpPr>
          <p:cNvPr id="21" name="Shape 18">
            <a:extLst>
              <a:ext uri="{FF2B5EF4-FFF2-40B4-BE49-F238E27FC236}">
                <a16:creationId xmlns:a16="http://schemas.microsoft.com/office/drawing/2014/main" id="{FB3C701C-3ACB-4659-84A9-ECDDB519F39A}"/>
              </a:ext>
            </a:extLst>
          </p:cNvPr>
          <p:cNvSpPr/>
          <p:nvPr/>
        </p:nvSpPr>
        <p:spPr>
          <a:xfrm>
            <a:off x="648511" y="3531073"/>
            <a:ext cx="8053671" cy="1485628"/>
          </a:xfrm>
          <a:prstGeom prst="roundRect">
            <a:avLst>
              <a:gd name="adj" fmla="val 3684"/>
            </a:avLst>
          </a:prstGeom>
          <a:solidFill>
            <a:srgbClr val="E8F1FF"/>
          </a:solidFill>
          <a:ln/>
          <a:effectLst>
            <a:outerShdw blurRad="63500" dist="25400" dir="2700000" algn="bl" rotWithShape="0">
              <a:srgbClr val="000000">
                <a:alpha val="10000"/>
              </a:srgbClr>
            </a:outerShdw>
          </a:effectLst>
        </p:spPr>
        <p:txBody>
          <a:bodyPr/>
          <a:lstStyle/>
          <a:p>
            <a:endParaRPr lang="ko-KR" altLang="en-US" sz="1634"/>
          </a:p>
        </p:txBody>
      </p:sp>
      <p:sp>
        <p:nvSpPr>
          <p:cNvPr id="23" name="Text 19">
            <a:extLst>
              <a:ext uri="{FF2B5EF4-FFF2-40B4-BE49-F238E27FC236}">
                <a16:creationId xmlns:a16="http://schemas.microsoft.com/office/drawing/2014/main" id="{225E2779-6E2C-68CB-DC33-30B9CEA48DC2}"/>
              </a:ext>
            </a:extLst>
          </p:cNvPr>
          <p:cNvSpPr/>
          <p:nvPr/>
        </p:nvSpPr>
        <p:spPr>
          <a:xfrm>
            <a:off x="804894" y="3648357"/>
            <a:ext cx="7740906" cy="1329247"/>
          </a:xfrm>
          <a:prstGeom prst="rect">
            <a:avLst/>
          </a:prstGeom>
          <a:noFill/>
          <a:ln/>
        </p:spPr>
        <p:txBody>
          <a:bodyPr wrap="square" rtlCol="0" anchor="t"/>
          <a:lstStyle/>
          <a:p>
            <a:pPr>
              <a:lnSpc>
                <a:spcPct val="125000"/>
              </a:lnSpc>
              <a:spcAft>
                <a:spcPts val="684"/>
              </a:spcAft>
            </a:pPr>
            <a:r>
              <a:rPr lang="en-US" sz="898" dirty="0">
                <a:solidFill>
                  <a:srgbClr val="1E293B"/>
                </a:solidFill>
                <a:latin typeface="맑은 고딕" pitchFamily="34" charset="0"/>
                <a:ea typeface="맑은 고딕" pitchFamily="34" charset="-122"/>
                <a:cs typeface="맑은 고딕" pitchFamily="34" charset="-120"/>
              </a:rPr>
              <a:t>•  </a:t>
            </a:r>
            <a:r>
              <a:rPr lang="en-US" sz="1026" dirty="0">
                <a:solidFill>
                  <a:srgbClr val="1E293B"/>
                </a:solidFill>
                <a:latin typeface="맑은 고딕" pitchFamily="34" charset="0"/>
                <a:ea typeface="맑은 고딕" pitchFamily="34" charset="-122"/>
                <a:cs typeface="맑은 고딕" pitchFamily="34" charset="-120"/>
              </a:rPr>
              <a:t>메인 제어부의 구동 전원과 3종 진단 대상 배터리의 전력 경로를 완전히 분리해 상호 간섭과 전력 충돌을 원천 차단.</a:t>
            </a:r>
            <a:endParaRPr lang="en-US" sz="1026" dirty="0"/>
          </a:p>
          <a:p>
            <a:pPr>
              <a:lnSpc>
                <a:spcPct val="125000"/>
              </a:lnSpc>
              <a:spcAft>
                <a:spcPts val="684"/>
              </a:spcAft>
            </a:pPr>
            <a:r>
              <a:rPr lang="en-US" sz="1026" dirty="0">
                <a:solidFill>
                  <a:srgbClr val="1E293B"/>
                </a:solidFill>
                <a:latin typeface="맑은 고딕" pitchFamily="34" charset="0"/>
                <a:ea typeface="맑은 고딕" pitchFamily="34" charset="-122"/>
                <a:cs typeface="맑은 고딕" pitchFamily="34" charset="-120"/>
              </a:rPr>
              <a:t>•  새로운 진단 모드가 활성화되기 전 이전 모드의 릴레이 채널을 반드시 먼저 차단(OFF)하는 </a:t>
            </a:r>
            <a:r>
              <a:rPr lang="en-US" sz="1026" dirty="0" err="1">
                <a:solidFill>
                  <a:srgbClr val="1E293B"/>
                </a:solidFill>
                <a:latin typeface="맑은 고딕" pitchFamily="34" charset="0"/>
                <a:ea typeface="맑은 고딕" pitchFamily="34" charset="-122"/>
                <a:cs typeface="맑은 고딕" pitchFamily="34" charset="-120"/>
              </a:rPr>
              <a:t>하드웨어·소프트웨어</a:t>
            </a:r>
            <a:r>
              <a:rPr lang="en-US" sz="1026" dirty="0">
                <a:solidFill>
                  <a:srgbClr val="1E293B"/>
                </a:solidFill>
                <a:latin typeface="맑은 고딕" pitchFamily="34" charset="0"/>
                <a:ea typeface="맑은 고딕" pitchFamily="34" charset="-122"/>
                <a:cs typeface="맑은 고딕" pitchFamily="34" charset="-120"/>
              </a:rPr>
              <a:t> </a:t>
            </a:r>
            <a:r>
              <a:rPr lang="en-US" sz="1026" dirty="0" err="1">
                <a:solidFill>
                  <a:srgbClr val="1E293B"/>
                </a:solidFill>
                <a:latin typeface="맑은 고딕" pitchFamily="34" charset="0"/>
                <a:ea typeface="맑은 고딕" pitchFamily="34" charset="-122"/>
                <a:cs typeface="맑은 고딕" pitchFamily="34" charset="-120"/>
              </a:rPr>
              <a:t>인터락</a:t>
            </a:r>
            <a:r>
              <a:rPr lang="en-US" sz="1026" dirty="0">
                <a:solidFill>
                  <a:srgbClr val="1E293B"/>
                </a:solidFill>
                <a:latin typeface="맑은 고딕" pitchFamily="34" charset="0"/>
                <a:ea typeface="맑은 고딕" pitchFamily="34" charset="-122"/>
                <a:cs typeface="맑은 고딕" pitchFamily="34" charset="-120"/>
              </a:rPr>
              <a:t>         (Interlock)을 필수 적용.</a:t>
            </a:r>
            <a:endParaRPr lang="en-US" sz="1026" dirty="0"/>
          </a:p>
          <a:p>
            <a:pPr>
              <a:lnSpc>
                <a:spcPct val="125000"/>
              </a:lnSpc>
              <a:spcAft>
                <a:spcPts val="684"/>
              </a:spcAft>
            </a:pPr>
            <a:r>
              <a:rPr lang="en-US" sz="1026" dirty="0">
                <a:solidFill>
                  <a:srgbClr val="1E293B"/>
                </a:solidFill>
                <a:latin typeface="맑은 고딕" pitchFamily="34" charset="0"/>
                <a:ea typeface="맑은 고딕" pitchFamily="34" charset="-122"/>
                <a:cs typeface="맑은 고딕" pitchFamily="34" charset="-120"/>
              </a:rPr>
              <a:t>•  모든 배터리 전력경로 스위칭은 릴레이 NO(Normally Open) 접점으로 구성해, 컨트롤러 전원이 나가도 자동으로 안전한 </a:t>
            </a:r>
            <a:r>
              <a:rPr lang="en-US" sz="1026" dirty="0" err="1">
                <a:solidFill>
                  <a:srgbClr val="1E293B"/>
                </a:solidFill>
                <a:latin typeface="맑은 고딕" pitchFamily="34" charset="0"/>
                <a:ea typeface="맑은 고딕" pitchFamily="34" charset="-122"/>
                <a:cs typeface="맑은 고딕" pitchFamily="34" charset="-120"/>
              </a:rPr>
              <a:t>차단</a:t>
            </a:r>
            <a:r>
              <a:rPr lang="en-US" sz="1026" dirty="0">
                <a:solidFill>
                  <a:srgbClr val="1E293B"/>
                </a:solidFill>
                <a:latin typeface="맑은 고딕" pitchFamily="34" charset="0"/>
                <a:ea typeface="맑은 고딕" pitchFamily="34" charset="-122"/>
                <a:cs typeface="맑은 고딕" pitchFamily="34" charset="-120"/>
              </a:rPr>
              <a:t>         </a:t>
            </a:r>
            <a:r>
              <a:rPr lang="en-US" sz="1026" dirty="0" err="1">
                <a:solidFill>
                  <a:srgbClr val="1E293B"/>
                </a:solidFill>
                <a:latin typeface="맑은 고딕" pitchFamily="34" charset="0"/>
                <a:ea typeface="맑은 고딕" pitchFamily="34" charset="-122"/>
                <a:cs typeface="맑은 고딕" pitchFamily="34" charset="-120"/>
              </a:rPr>
              <a:t>상태가</a:t>
            </a:r>
            <a:r>
              <a:rPr lang="en-US" sz="1026" dirty="0">
                <a:solidFill>
                  <a:srgbClr val="1E293B"/>
                </a:solidFill>
                <a:latin typeface="맑은 고딕" pitchFamily="34" charset="0"/>
                <a:ea typeface="맑은 고딕" pitchFamily="34" charset="-122"/>
                <a:cs typeface="맑은 고딕" pitchFamily="34" charset="-120"/>
              </a:rPr>
              <a:t> 되도록 설계.</a:t>
            </a:r>
            <a:endParaRPr lang="en-US" sz="1026" dirty="0"/>
          </a:p>
        </p:txBody>
      </p:sp>
      <p:sp>
        <p:nvSpPr>
          <p:cNvPr id="25" name="Shape 20">
            <a:extLst>
              <a:ext uri="{FF2B5EF4-FFF2-40B4-BE49-F238E27FC236}">
                <a16:creationId xmlns:a16="http://schemas.microsoft.com/office/drawing/2014/main" id="{CB24B030-21A1-786A-27D9-0E67ABC0FB5F}"/>
              </a:ext>
            </a:extLst>
          </p:cNvPr>
          <p:cNvSpPr/>
          <p:nvPr/>
        </p:nvSpPr>
        <p:spPr>
          <a:xfrm>
            <a:off x="648514" y="5212178"/>
            <a:ext cx="70371" cy="172020"/>
          </a:xfrm>
          <a:prstGeom prst="rect">
            <a:avLst/>
          </a:prstGeom>
          <a:solidFill>
            <a:srgbClr val="3B5BA7"/>
          </a:solidFill>
          <a:ln/>
        </p:spPr>
        <p:txBody>
          <a:bodyPr/>
          <a:lstStyle/>
          <a:p>
            <a:endParaRPr lang="ko-KR" altLang="en-US" sz="1634"/>
          </a:p>
        </p:txBody>
      </p:sp>
      <p:sp>
        <p:nvSpPr>
          <p:cNvPr id="27" name="Text 21">
            <a:extLst>
              <a:ext uri="{FF2B5EF4-FFF2-40B4-BE49-F238E27FC236}">
                <a16:creationId xmlns:a16="http://schemas.microsoft.com/office/drawing/2014/main" id="{E1F0B2C4-7928-62CE-450D-5C86DDB38FF8}"/>
              </a:ext>
            </a:extLst>
          </p:cNvPr>
          <p:cNvSpPr/>
          <p:nvPr/>
        </p:nvSpPr>
        <p:spPr>
          <a:xfrm>
            <a:off x="789255" y="5188720"/>
            <a:ext cx="625527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타겟 사용자</a:t>
            </a:r>
            <a:endParaRPr lang="en-US" sz="1112" dirty="0"/>
          </a:p>
        </p:txBody>
      </p:sp>
      <p:sp>
        <p:nvSpPr>
          <p:cNvPr id="29" name="Shape 22">
            <a:extLst>
              <a:ext uri="{FF2B5EF4-FFF2-40B4-BE49-F238E27FC236}">
                <a16:creationId xmlns:a16="http://schemas.microsoft.com/office/drawing/2014/main" id="{9210EA2F-A4D8-069F-46CB-8689CB78C86F}"/>
              </a:ext>
            </a:extLst>
          </p:cNvPr>
          <p:cNvSpPr/>
          <p:nvPr/>
        </p:nvSpPr>
        <p:spPr>
          <a:xfrm>
            <a:off x="648512" y="5485847"/>
            <a:ext cx="2580302" cy="899196"/>
          </a:xfrm>
          <a:prstGeom prst="roundRect">
            <a:avLst>
              <a:gd name="adj" fmla="val 5217"/>
            </a:avLst>
          </a:prstGeom>
          <a:solidFill>
            <a:srgbClr val="F6F6F5"/>
          </a:solidFill>
          <a:ln/>
        </p:spPr>
        <p:txBody>
          <a:bodyPr/>
          <a:lstStyle/>
          <a:p>
            <a:endParaRPr lang="ko-KR" altLang="en-US" sz="1634"/>
          </a:p>
        </p:txBody>
      </p:sp>
      <p:sp>
        <p:nvSpPr>
          <p:cNvPr id="31" name="Text 23">
            <a:extLst>
              <a:ext uri="{FF2B5EF4-FFF2-40B4-BE49-F238E27FC236}">
                <a16:creationId xmlns:a16="http://schemas.microsoft.com/office/drawing/2014/main" id="{63D7B0DB-5DAC-74FF-A0BA-C4CE0DA03C83}"/>
              </a:ext>
            </a:extLst>
          </p:cNvPr>
          <p:cNvSpPr/>
          <p:nvPr/>
        </p:nvSpPr>
        <p:spPr>
          <a:xfrm>
            <a:off x="765798" y="5564036"/>
            <a:ext cx="2345729" cy="234573"/>
          </a:xfrm>
          <a:prstGeom prst="rect">
            <a:avLst/>
          </a:prstGeom>
          <a:noFill/>
          <a:ln/>
        </p:spPr>
        <p:txBody>
          <a:bodyPr wrap="square" rtlCol="0" anchor="ctr"/>
          <a:lstStyle/>
          <a:p>
            <a:r>
              <a:rPr lang="en-US" sz="941" b="1" dirty="0">
                <a:solidFill>
                  <a:srgbClr val="3B5BA7"/>
                </a:solidFill>
                <a:latin typeface="맑은 고딕" pitchFamily="34" charset="0"/>
                <a:ea typeface="맑은 고딕" pitchFamily="34" charset="-122"/>
                <a:cs typeface="맑은 고딕" pitchFamily="34" charset="-120"/>
              </a:rPr>
              <a:t>연구/개발자</a:t>
            </a:r>
            <a:endParaRPr lang="en-US" sz="941" dirty="0"/>
          </a:p>
        </p:txBody>
      </p:sp>
      <p:sp>
        <p:nvSpPr>
          <p:cNvPr id="33" name="Text 24">
            <a:extLst>
              <a:ext uri="{FF2B5EF4-FFF2-40B4-BE49-F238E27FC236}">
                <a16:creationId xmlns:a16="http://schemas.microsoft.com/office/drawing/2014/main" id="{3B06742C-7F4F-0954-B9E8-CF256606EA9D}"/>
              </a:ext>
            </a:extLst>
          </p:cNvPr>
          <p:cNvSpPr/>
          <p:nvPr/>
        </p:nvSpPr>
        <p:spPr>
          <a:xfrm>
            <a:off x="765798" y="5814247"/>
            <a:ext cx="2345729" cy="508241"/>
          </a:xfrm>
          <a:prstGeom prst="rect">
            <a:avLst/>
          </a:prstGeom>
          <a:noFill/>
          <a:ln/>
        </p:spPr>
        <p:txBody>
          <a:bodyPr wrap="square" rtlCol="0" anchor="t"/>
          <a:lstStyle/>
          <a:p>
            <a:r>
              <a:rPr lang="en-US" sz="812" dirty="0">
                <a:solidFill>
                  <a:srgbClr val="1E293B"/>
                </a:solidFill>
                <a:latin typeface="맑은 고딕" pitchFamily="34" charset="0"/>
                <a:ea typeface="맑은 고딕" pitchFamily="34" charset="-122"/>
                <a:cs typeface="맑은 고딕" pitchFamily="34" charset="-120"/>
              </a:rPr>
              <a:t>배터리 실험 및 진단 알고리즘 개발</a:t>
            </a:r>
            <a:endParaRPr lang="en-US" sz="812" dirty="0"/>
          </a:p>
        </p:txBody>
      </p:sp>
      <p:sp>
        <p:nvSpPr>
          <p:cNvPr id="35" name="Shape 25">
            <a:extLst>
              <a:ext uri="{FF2B5EF4-FFF2-40B4-BE49-F238E27FC236}">
                <a16:creationId xmlns:a16="http://schemas.microsoft.com/office/drawing/2014/main" id="{59B970FC-F1B5-E70C-743D-D66B31EB04A4}"/>
              </a:ext>
            </a:extLst>
          </p:cNvPr>
          <p:cNvSpPr/>
          <p:nvPr/>
        </p:nvSpPr>
        <p:spPr>
          <a:xfrm>
            <a:off x="3385196" y="5485847"/>
            <a:ext cx="2580302" cy="899196"/>
          </a:xfrm>
          <a:prstGeom prst="roundRect">
            <a:avLst>
              <a:gd name="adj" fmla="val 5217"/>
            </a:avLst>
          </a:prstGeom>
          <a:solidFill>
            <a:srgbClr val="F6F6F5"/>
          </a:solidFill>
          <a:ln/>
        </p:spPr>
        <p:txBody>
          <a:bodyPr/>
          <a:lstStyle/>
          <a:p>
            <a:endParaRPr lang="ko-KR" altLang="en-US" sz="1634"/>
          </a:p>
        </p:txBody>
      </p:sp>
      <p:sp>
        <p:nvSpPr>
          <p:cNvPr id="37" name="Text 26">
            <a:extLst>
              <a:ext uri="{FF2B5EF4-FFF2-40B4-BE49-F238E27FC236}">
                <a16:creationId xmlns:a16="http://schemas.microsoft.com/office/drawing/2014/main" id="{CDA59464-DD8E-2276-2029-7F9B5182BF7D}"/>
              </a:ext>
            </a:extLst>
          </p:cNvPr>
          <p:cNvSpPr/>
          <p:nvPr/>
        </p:nvSpPr>
        <p:spPr>
          <a:xfrm>
            <a:off x="3502482" y="5564036"/>
            <a:ext cx="2345729" cy="234573"/>
          </a:xfrm>
          <a:prstGeom prst="rect">
            <a:avLst/>
          </a:prstGeom>
          <a:noFill/>
          <a:ln/>
        </p:spPr>
        <p:txBody>
          <a:bodyPr wrap="square" rtlCol="0" anchor="ctr"/>
          <a:lstStyle/>
          <a:p>
            <a:r>
              <a:rPr lang="en-US" sz="941" b="1" dirty="0">
                <a:solidFill>
                  <a:srgbClr val="3B5BA7"/>
                </a:solidFill>
                <a:latin typeface="맑은 고딕" pitchFamily="34" charset="0"/>
                <a:ea typeface="맑은 고딕" pitchFamily="34" charset="-122"/>
                <a:cs typeface="맑은 고딕" pitchFamily="34" charset="-120"/>
              </a:rPr>
              <a:t>현장 운영자·관리자</a:t>
            </a:r>
            <a:endParaRPr lang="en-US" sz="941" dirty="0"/>
          </a:p>
        </p:txBody>
      </p:sp>
      <p:sp>
        <p:nvSpPr>
          <p:cNvPr id="39" name="Text 27">
            <a:extLst>
              <a:ext uri="{FF2B5EF4-FFF2-40B4-BE49-F238E27FC236}">
                <a16:creationId xmlns:a16="http://schemas.microsoft.com/office/drawing/2014/main" id="{43FE27D3-7A1A-E262-6790-56D016FE259E}"/>
              </a:ext>
            </a:extLst>
          </p:cNvPr>
          <p:cNvSpPr/>
          <p:nvPr/>
        </p:nvSpPr>
        <p:spPr>
          <a:xfrm>
            <a:off x="3502482" y="5814247"/>
            <a:ext cx="2345729" cy="508241"/>
          </a:xfrm>
          <a:prstGeom prst="rect">
            <a:avLst/>
          </a:prstGeom>
          <a:noFill/>
          <a:ln/>
        </p:spPr>
        <p:txBody>
          <a:bodyPr wrap="square" rtlCol="0" anchor="t"/>
          <a:lstStyle/>
          <a:p>
            <a:r>
              <a:rPr lang="en-US" sz="812" dirty="0">
                <a:solidFill>
                  <a:srgbClr val="1E293B"/>
                </a:solidFill>
                <a:latin typeface="맑은 고딕" pitchFamily="34" charset="0"/>
                <a:ea typeface="맑은 고딕" pitchFamily="34" charset="-122"/>
                <a:cs typeface="맑은 고딕" pitchFamily="34" charset="-120"/>
              </a:rPr>
              <a:t>장비 상태 모니터링 및 이상 알림 수신</a:t>
            </a:r>
            <a:endParaRPr lang="en-US" sz="812" dirty="0"/>
          </a:p>
        </p:txBody>
      </p:sp>
      <p:sp>
        <p:nvSpPr>
          <p:cNvPr id="41" name="Shape 28">
            <a:extLst>
              <a:ext uri="{FF2B5EF4-FFF2-40B4-BE49-F238E27FC236}">
                <a16:creationId xmlns:a16="http://schemas.microsoft.com/office/drawing/2014/main" id="{BCD685F9-98F7-9BDE-EBF7-A6A39121EF0C}"/>
              </a:ext>
            </a:extLst>
          </p:cNvPr>
          <p:cNvSpPr/>
          <p:nvPr/>
        </p:nvSpPr>
        <p:spPr>
          <a:xfrm>
            <a:off x="6121879" y="5485847"/>
            <a:ext cx="2580302" cy="899196"/>
          </a:xfrm>
          <a:prstGeom prst="roundRect">
            <a:avLst>
              <a:gd name="adj" fmla="val 5217"/>
            </a:avLst>
          </a:prstGeom>
          <a:solidFill>
            <a:srgbClr val="F6F6F5"/>
          </a:solidFill>
          <a:ln/>
        </p:spPr>
        <p:txBody>
          <a:bodyPr/>
          <a:lstStyle/>
          <a:p>
            <a:endParaRPr lang="ko-KR" altLang="en-US" sz="1634"/>
          </a:p>
        </p:txBody>
      </p:sp>
      <p:sp>
        <p:nvSpPr>
          <p:cNvPr id="43" name="Text 29">
            <a:extLst>
              <a:ext uri="{FF2B5EF4-FFF2-40B4-BE49-F238E27FC236}">
                <a16:creationId xmlns:a16="http://schemas.microsoft.com/office/drawing/2014/main" id="{95788475-256C-7ECE-2442-5E078663E129}"/>
              </a:ext>
            </a:extLst>
          </p:cNvPr>
          <p:cNvSpPr/>
          <p:nvPr/>
        </p:nvSpPr>
        <p:spPr>
          <a:xfrm>
            <a:off x="6239166" y="5564036"/>
            <a:ext cx="2345729" cy="234573"/>
          </a:xfrm>
          <a:prstGeom prst="rect">
            <a:avLst/>
          </a:prstGeom>
          <a:noFill/>
          <a:ln/>
        </p:spPr>
        <p:txBody>
          <a:bodyPr wrap="square" rtlCol="0" anchor="ctr"/>
          <a:lstStyle/>
          <a:p>
            <a:r>
              <a:rPr lang="en-US" sz="941" b="1" dirty="0">
                <a:solidFill>
                  <a:srgbClr val="3B5BA7"/>
                </a:solidFill>
                <a:latin typeface="맑은 고딕" pitchFamily="34" charset="0"/>
                <a:ea typeface="맑은 고딕" pitchFamily="34" charset="-122"/>
                <a:cs typeface="맑은 고딕" pitchFamily="34" charset="-120"/>
              </a:rPr>
              <a:t>프로젝트 팀 내부 개발자</a:t>
            </a:r>
            <a:endParaRPr lang="en-US" sz="941" dirty="0"/>
          </a:p>
        </p:txBody>
      </p:sp>
      <p:sp>
        <p:nvSpPr>
          <p:cNvPr id="45" name="Text 30">
            <a:extLst>
              <a:ext uri="{FF2B5EF4-FFF2-40B4-BE49-F238E27FC236}">
                <a16:creationId xmlns:a16="http://schemas.microsoft.com/office/drawing/2014/main" id="{632B5100-EF26-C505-9C7D-F4EDCE42BBD1}"/>
              </a:ext>
            </a:extLst>
          </p:cNvPr>
          <p:cNvSpPr/>
          <p:nvPr/>
        </p:nvSpPr>
        <p:spPr>
          <a:xfrm>
            <a:off x="6239166" y="5814247"/>
            <a:ext cx="2345729" cy="508241"/>
          </a:xfrm>
          <a:prstGeom prst="rect">
            <a:avLst/>
          </a:prstGeom>
          <a:noFill/>
          <a:ln/>
        </p:spPr>
        <p:txBody>
          <a:bodyPr wrap="square" rtlCol="0" anchor="t"/>
          <a:lstStyle/>
          <a:p>
            <a:r>
              <a:rPr lang="en-US" sz="812" dirty="0">
                <a:solidFill>
                  <a:srgbClr val="1E293B"/>
                </a:solidFill>
                <a:latin typeface="맑은 고딕" pitchFamily="34" charset="0"/>
                <a:ea typeface="맑은 고딕" pitchFamily="34" charset="-122"/>
                <a:cs typeface="맑은 고딕" pitchFamily="34" charset="-120"/>
              </a:rPr>
              <a:t>임베디드 · 데이터 · AI · 웹 담당</a:t>
            </a:r>
            <a:endParaRPr lang="en-US" sz="812" dirty="0"/>
          </a:p>
        </p:txBody>
      </p:sp>
    </p:spTree>
    <p:extLst>
      <p:ext uri="{BB962C8B-B14F-4D97-AF65-F5344CB8AC3E}">
        <p14:creationId xmlns:p14="http://schemas.microsoft.com/office/powerpoint/2010/main" val="23723044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8E729-2235-57B3-4BBE-345D3C518250}"/>
            </a:ext>
          </a:extLst>
        </p:cNvPr>
        <p:cNvGrpSpPr/>
        <p:nvPr/>
      </p:nvGrpSpPr>
      <p:grpSpPr>
        <a:xfrm>
          <a:off x="0" y="0"/>
          <a:ext cx="0" cy="0"/>
          <a:chOff x="0" y="0"/>
          <a:chExt cx="0" cy="0"/>
        </a:xfrm>
      </p:grpSpPr>
      <p:sp>
        <p:nvSpPr>
          <p:cNvPr id="30" name="직사각형 30"/>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1" name="직선 연결선 31"/>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 name="직선 연결선 32"/>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33" name="제목 33"/>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시스템 개요</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34" name="막힌 원호 34"/>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5377A862-68F0-5201-400D-4699CBB3BD06}"/>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AB8EBC1E-CAB3-DD8C-B2E8-45D3F686E568}"/>
              </a:ext>
            </a:extLst>
          </p:cNvPr>
          <p:cNvPicPr/>
          <p:nvPr/>
        </p:nvPicPr>
        <p:blipFill>
          <a:blip r:embed="rId4" cstate="print"/>
          <a:stretch>
            <a:fillRect/>
          </a:stretch>
        </p:blipFill>
        <p:spPr>
          <a:xfrm>
            <a:off x="7275128" y="314247"/>
            <a:ext cx="1325611" cy="307338"/>
          </a:xfrm>
          <a:prstGeom prst="rect">
            <a:avLst/>
          </a:prstGeom>
        </p:spPr>
      </p:pic>
      <p:sp>
        <p:nvSpPr>
          <p:cNvPr id="9" name="Shape 12">
            <a:extLst>
              <a:ext uri="{FF2B5EF4-FFF2-40B4-BE49-F238E27FC236}">
                <a16:creationId xmlns:a16="http://schemas.microsoft.com/office/drawing/2014/main" id="{DB6444A8-0BEF-66F7-E1F3-E47152E6306E}"/>
              </a:ext>
            </a:extLst>
          </p:cNvPr>
          <p:cNvSpPr/>
          <p:nvPr/>
        </p:nvSpPr>
        <p:spPr>
          <a:xfrm>
            <a:off x="623169" y="1563994"/>
            <a:ext cx="70371" cy="172020"/>
          </a:xfrm>
          <a:prstGeom prst="rect">
            <a:avLst/>
          </a:prstGeom>
          <a:solidFill>
            <a:srgbClr val="3B5BA7"/>
          </a:solidFill>
          <a:ln/>
        </p:spPr>
        <p:txBody>
          <a:bodyPr/>
          <a:lstStyle/>
          <a:p>
            <a:endParaRPr lang="ko-KR" altLang="en-US" sz="1634"/>
          </a:p>
        </p:txBody>
      </p:sp>
      <p:sp>
        <p:nvSpPr>
          <p:cNvPr id="11" name="Text 13">
            <a:extLst>
              <a:ext uri="{FF2B5EF4-FFF2-40B4-BE49-F238E27FC236}">
                <a16:creationId xmlns:a16="http://schemas.microsoft.com/office/drawing/2014/main" id="{F8B1814E-7A03-82FD-0A24-EF2E5E541369}"/>
              </a:ext>
            </a:extLst>
          </p:cNvPr>
          <p:cNvSpPr/>
          <p:nvPr/>
        </p:nvSpPr>
        <p:spPr>
          <a:xfrm>
            <a:off x="763910" y="1540537"/>
            <a:ext cx="625527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물리적으로 2개의 측정 블록으로 구성</a:t>
            </a:r>
            <a:endParaRPr lang="en-US" sz="1112" dirty="0"/>
          </a:p>
        </p:txBody>
      </p:sp>
      <p:graphicFrame>
        <p:nvGraphicFramePr>
          <p:cNvPr id="13" name="Table 0">
            <a:extLst>
              <a:ext uri="{FF2B5EF4-FFF2-40B4-BE49-F238E27FC236}">
                <a16:creationId xmlns:a16="http://schemas.microsoft.com/office/drawing/2014/main" id="{0D594D8D-EADE-27A7-B509-EA55007F476B}"/>
              </a:ext>
            </a:extLst>
          </p:cNvPr>
          <p:cNvGraphicFramePr>
            <a:graphicFrameLocks noGrp="1"/>
          </p:cNvGraphicFramePr>
          <p:nvPr/>
        </p:nvGraphicFramePr>
        <p:xfrm>
          <a:off x="623166" y="1814205"/>
          <a:ext cx="8053670" cy="1993869"/>
        </p:xfrm>
        <a:graphic>
          <a:graphicData uri="http://schemas.openxmlformats.org/drawingml/2006/table">
            <a:tbl>
              <a:tblPr/>
              <a:tblGrid>
                <a:gridCol w="1642010">
                  <a:extLst>
                    <a:ext uri="{9D8B030D-6E8A-4147-A177-3AD203B41FA5}">
                      <a16:colId xmlns:a16="http://schemas.microsoft.com/office/drawing/2014/main" val="20000"/>
                    </a:ext>
                  </a:extLst>
                </a:gridCol>
                <a:gridCol w="2345729">
                  <a:extLst>
                    <a:ext uri="{9D8B030D-6E8A-4147-A177-3AD203B41FA5}">
                      <a16:colId xmlns:a16="http://schemas.microsoft.com/office/drawing/2014/main" val="20001"/>
                    </a:ext>
                  </a:extLst>
                </a:gridCol>
                <a:gridCol w="4065931">
                  <a:extLst>
                    <a:ext uri="{9D8B030D-6E8A-4147-A177-3AD203B41FA5}">
                      <a16:colId xmlns:a16="http://schemas.microsoft.com/office/drawing/2014/main" val="20002"/>
                    </a:ext>
                  </a:extLst>
                </a:gridCol>
              </a:tblGrid>
              <a:tr h="664623">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블록</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대상 모드</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구성 부품</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extLst>
                  <a:ext uri="{0D108BD9-81ED-4DB2-BD59-A6C34878D82A}">
                    <a16:rowId xmlns:a16="http://schemas.microsoft.com/office/drawing/2014/main" val="10000"/>
                  </a:ext>
                </a:extLst>
              </a:tr>
              <a:tr h="664623">
                <a:tc>
                  <a:txBody>
                    <a:bodyPr/>
                    <a:lstStyle/>
                    <a:p>
                      <a:pPr marL="0" indent="0">
                        <a:buNone/>
                      </a:pPr>
                      <a:r>
                        <a:rPr lang="en-US" sz="800" b="1" dirty="0">
                          <a:solidFill>
                            <a:srgbClr val="000000"/>
                          </a:solidFill>
                          <a:latin typeface="맑은 고딕" pitchFamily="34" charset="0"/>
                          <a:ea typeface="맑은 고딕" pitchFamily="34" charset="-122"/>
                          <a:cs typeface="맑은 고딕" pitchFamily="34" charset="-120"/>
                        </a:rPr>
                        <a:t>모드1 블록</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모드1 — 내장 1셀, 상시 연결</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BQ27441 #1 · DS18B20 · ADS1115 #1(0x48) + MQ-2 · MiCS-5524 · FSR-406 · 피에조</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1"/>
                  </a:ext>
                </a:extLst>
              </a:tr>
              <a:tr h="664623">
                <a:tc>
                  <a:txBody>
                    <a:bodyPr/>
                    <a:lstStyle/>
                    <a:p>
                      <a:pPr marL="0" indent="0">
                        <a:buNone/>
                      </a:pPr>
                      <a:r>
                        <a:rPr lang="en-US" sz="800" b="1" dirty="0">
                          <a:solidFill>
                            <a:srgbClr val="000000"/>
                          </a:solidFill>
                          <a:latin typeface="맑은 고딕" pitchFamily="34" charset="0"/>
                          <a:ea typeface="맑은 고딕" pitchFamily="34" charset="-122"/>
                          <a:cs typeface="맑은 고딕" pitchFamily="34" charset="-120"/>
                        </a:rPr>
                        <a:t>모드2·3 공용 블록</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모드2(외부 순수셀) / 모드3(외부 완제품), 착탈식</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BQ27441 #2 · INA226 · MLX90614 · ADS1115 #2(0x49) + MQ-2 · MiCS-5524 · FSR-406 · 피에조</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2"/>
                  </a:ext>
                </a:extLst>
              </a:tr>
            </a:tbl>
          </a:graphicData>
        </a:graphic>
      </p:graphicFrame>
      <p:sp>
        <p:nvSpPr>
          <p:cNvPr id="15" name="Shape 14">
            <a:extLst>
              <a:ext uri="{FF2B5EF4-FFF2-40B4-BE49-F238E27FC236}">
                <a16:creationId xmlns:a16="http://schemas.microsoft.com/office/drawing/2014/main" id="{7CCD1E7A-E136-50A9-C3AF-051CB8CEDF99}"/>
              </a:ext>
            </a:extLst>
          </p:cNvPr>
          <p:cNvSpPr/>
          <p:nvPr/>
        </p:nvSpPr>
        <p:spPr>
          <a:xfrm>
            <a:off x="623169" y="3893612"/>
            <a:ext cx="70371" cy="172020"/>
          </a:xfrm>
          <a:prstGeom prst="rect">
            <a:avLst/>
          </a:prstGeom>
          <a:solidFill>
            <a:srgbClr val="3B5BA7"/>
          </a:solidFill>
          <a:ln/>
        </p:spPr>
        <p:txBody>
          <a:bodyPr/>
          <a:lstStyle/>
          <a:p>
            <a:endParaRPr lang="ko-KR" altLang="en-US" sz="1634"/>
          </a:p>
        </p:txBody>
      </p:sp>
      <p:sp>
        <p:nvSpPr>
          <p:cNvPr id="17" name="Text 15">
            <a:extLst>
              <a:ext uri="{FF2B5EF4-FFF2-40B4-BE49-F238E27FC236}">
                <a16:creationId xmlns:a16="http://schemas.microsoft.com/office/drawing/2014/main" id="{C9BE66F9-E292-1C56-9CBA-108C6D54A21A}"/>
              </a:ext>
            </a:extLst>
          </p:cNvPr>
          <p:cNvSpPr/>
          <p:nvPr/>
        </p:nvSpPr>
        <p:spPr>
          <a:xfrm>
            <a:off x="763910" y="3870155"/>
            <a:ext cx="1814031"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2블록으로 </a:t>
            </a:r>
            <a:r>
              <a:rPr lang="en-US" sz="1112" b="1" dirty="0" err="1">
                <a:solidFill>
                  <a:srgbClr val="1E293B"/>
                </a:solidFill>
                <a:latin typeface="맑은 고딕" pitchFamily="34" charset="0"/>
                <a:ea typeface="맑은 고딕" pitchFamily="34" charset="-122"/>
                <a:cs typeface="맑은 고딕" pitchFamily="34" charset="-120"/>
              </a:rPr>
              <a:t>분리</a:t>
            </a:r>
            <a:r>
              <a:rPr lang="en-US" sz="1112" b="1" dirty="0">
                <a:solidFill>
                  <a:srgbClr val="1E293B"/>
                </a:solidFill>
                <a:latin typeface="맑은 고딕" pitchFamily="34" charset="0"/>
                <a:ea typeface="맑은 고딕" pitchFamily="34" charset="-122"/>
                <a:cs typeface="맑은 고딕" pitchFamily="34" charset="-120"/>
              </a:rPr>
              <a:t> </a:t>
            </a:r>
            <a:r>
              <a:rPr lang="ko-KR" altLang="en-US" sz="1112" b="1" dirty="0">
                <a:solidFill>
                  <a:srgbClr val="1E293B"/>
                </a:solidFill>
                <a:latin typeface="맑은 고딕" pitchFamily="34" charset="0"/>
                <a:ea typeface="맑은 고딕" pitchFamily="34" charset="-122"/>
                <a:cs typeface="맑은 고딕" pitchFamily="34" charset="-120"/>
              </a:rPr>
              <a:t>목적</a:t>
            </a:r>
            <a:endParaRPr lang="en-US" sz="1112" dirty="0"/>
          </a:p>
        </p:txBody>
      </p:sp>
      <p:sp>
        <p:nvSpPr>
          <p:cNvPr id="19" name="Shape 16">
            <a:extLst>
              <a:ext uri="{FF2B5EF4-FFF2-40B4-BE49-F238E27FC236}">
                <a16:creationId xmlns:a16="http://schemas.microsoft.com/office/drawing/2014/main" id="{8DC546C9-03C4-5D84-AE59-07F4807F461F}"/>
              </a:ext>
            </a:extLst>
          </p:cNvPr>
          <p:cNvSpPr/>
          <p:nvPr/>
        </p:nvSpPr>
        <p:spPr>
          <a:xfrm>
            <a:off x="623166" y="4179009"/>
            <a:ext cx="8053671" cy="1172865"/>
          </a:xfrm>
          <a:prstGeom prst="roundRect">
            <a:avLst>
              <a:gd name="adj" fmla="val 4667"/>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21" name="Text 17">
            <a:extLst>
              <a:ext uri="{FF2B5EF4-FFF2-40B4-BE49-F238E27FC236}">
                <a16:creationId xmlns:a16="http://schemas.microsoft.com/office/drawing/2014/main" id="{752E8C38-AE2B-9E8D-C439-6CC3A22C6DC9}"/>
              </a:ext>
            </a:extLst>
          </p:cNvPr>
          <p:cNvSpPr/>
          <p:nvPr/>
        </p:nvSpPr>
        <p:spPr>
          <a:xfrm>
            <a:off x="816727" y="4202466"/>
            <a:ext cx="7740906" cy="1016483"/>
          </a:xfrm>
          <a:prstGeom prst="rect">
            <a:avLst/>
          </a:prstGeom>
          <a:noFill/>
          <a:ln/>
        </p:spPr>
        <p:txBody>
          <a:bodyPr wrap="square" rtlCol="0" anchor="t"/>
          <a:lstStyle/>
          <a:p>
            <a:pPr>
              <a:lnSpc>
                <a:spcPct val="125000"/>
              </a:lnSpc>
              <a:spcAft>
                <a:spcPts val="684"/>
              </a:spcAft>
            </a:pPr>
            <a:r>
              <a:rPr lang="en-US" sz="1026" dirty="0">
                <a:solidFill>
                  <a:srgbClr val="1E293B"/>
                </a:solidFill>
                <a:latin typeface="맑은 고딕" pitchFamily="34" charset="0"/>
                <a:ea typeface="맑은 고딕" pitchFamily="34" charset="-122"/>
                <a:cs typeface="맑은 고딕" pitchFamily="34" charset="-120"/>
              </a:rPr>
              <a:t>•  모드2·3는 착탈식 외부 배터리를 다루므로 동일한 센서 세트(가스·압력·음향)를 공유하는 하나의 </a:t>
            </a:r>
            <a:r>
              <a:rPr lang="en-US" sz="1026" dirty="0" err="1">
                <a:solidFill>
                  <a:srgbClr val="1E293B"/>
                </a:solidFill>
                <a:latin typeface="맑은 고딕" pitchFamily="34" charset="0"/>
                <a:ea typeface="맑은 고딕" pitchFamily="34" charset="-122"/>
                <a:cs typeface="맑은 고딕" pitchFamily="34" charset="-120"/>
              </a:rPr>
              <a:t>케이스로</a:t>
            </a:r>
            <a:r>
              <a:rPr lang="en-US" sz="1026" dirty="0">
                <a:solidFill>
                  <a:srgbClr val="1E293B"/>
                </a:solidFill>
                <a:latin typeface="맑은 고딕" pitchFamily="34" charset="0"/>
                <a:ea typeface="맑은 고딕" pitchFamily="34" charset="-122"/>
                <a:cs typeface="맑은 고딕" pitchFamily="34" charset="-120"/>
              </a:rPr>
              <a:t> </a:t>
            </a:r>
            <a:r>
              <a:rPr lang="en-US" sz="1026" dirty="0" err="1">
                <a:solidFill>
                  <a:srgbClr val="1E293B"/>
                </a:solidFill>
                <a:latin typeface="맑은 고딕" pitchFamily="34" charset="0"/>
                <a:ea typeface="맑은 고딕" pitchFamily="34" charset="-122"/>
                <a:cs typeface="맑은 고딕" pitchFamily="34" charset="-120"/>
              </a:rPr>
              <a:t>통합</a:t>
            </a:r>
            <a:r>
              <a:rPr lang="en-US" sz="1026" dirty="0">
                <a:solidFill>
                  <a:srgbClr val="1E293B"/>
                </a:solidFill>
                <a:latin typeface="맑은 고딕" pitchFamily="34" charset="0"/>
                <a:ea typeface="맑은 고딕" pitchFamily="34" charset="-122"/>
                <a:cs typeface="맑은 고딕" pitchFamily="34" charset="-120"/>
              </a:rPr>
              <a:t> </a:t>
            </a:r>
          </a:p>
          <a:p>
            <a:pPr>
              <a:lnSpc>
                <a:spcPct val="125000"/>
              </a:lnSpc>
              <a:spcAft>
                <a:spcPts val="684"/>
              </a:spcAft>
            </a:pPr>
            <a:r>
              <a:rPr lang="en-US" sz="1026" dirty="0">
                <a:solidFill>
                  <a:srgbClr val="1E293B"/>
                </a:solidFill>
                <a:latin typeface="맑은 고딕" pitchFamily="34" charset="0"/>
                <a:ea typeface="맑은 고딕" pitchFamily="34" charset="-122"/>
                <a:cs typeface="맑은 고딕" pitchFamily="34" charset="-120"/>
              </a:rPr>
              <a:t>   -&gt; </a:t>
            </a:r>
            <a:r>
              <a:rPr lang="en-US" sz="1026" dirty="0" err="1">
                <a:solidFill>
                  <a:srgbClr val="1E293B"/>
                </a:solidFill>
                <a:latin typeface="맑은 고딕" pitchFamily="34" charset="0"/>
                <a:ea typeface="맑은 고딕" pitchFamily="34" charset="-122"/>
                <a:cs typeface="맑은 고딕" pitchFamily="34" charset="-120"/>
              </a:rPr>
              <a:t>배터리만</a:t>
            </a:r>
            <a:r>
              <a:rPr lang="en-US" sz="1026" dirty="0">
                <a:solidFill>
                  <a:srgbClr val="1E293B"/>
                </a:solidFill>
                <a:latin typeface="맑은 고딕" pitchFamily="34" charset="0"/>
                <a:ea typeface="맑은 고딕" pitchFamily="34" charset="-122"/>
                <a:cs typeface="맑은 고딕" pitchFamily="34" charset="-120"/>
              </a:rPr>
              <a:t> 바꿔 끼우는 구조.</a:t>
            </a:r>
            <a:endParaRPr lang="en-US" sz="1026" dirty="0"/>
          </a:p>
          <a:p>
            <a:pPr>
              <a:lnSpc>
                <a:spcPct val="125000"/>
              </a:lnSpc>
              <a:spcAft>
                <a:spcPts val="684"/>
              </a:spcAft>
            </a:pPr>
            <a:r>
              <a:rPr lang="en-US" sz="1026" dirty="0">
                <a:solidFill>
                  <a:srgbClr val="1E293B"/>
                </a:solidFill>
                <a:latin typeface="맑은 고딕" pitchFamily="34" charset="0"/>
                <a:ea typeface="맑은 고딕" pitchFamily="34" charset="-122"/>
                <a:cs typeface="맑은 고딕" pitchFamily="34" charset="-120"/>
              </a:rPr>
              <a:t>•  모드1(내장, 상시연결)만 별도 소형 블록으로 분리해 물리적으로 독립된 플러그인 모듈 </a:t>
            </a:r>
            <a:r>
              <a:rPr lang="en-US" sz="1026" dirty="0" err="1">
                <a:solidFill>
                  <a:srgbClr val="1E293B"/>
                </a:solidFill>
                <a:latin typeface="맑은 고딕" pitchFamily="34" charset="0"/>
                <a:ea typeface="맑은 고딕" pitchFamily="34" charset="-122"/>
                <a:cs typeface="맑은 고딕" pitchFamily="34" charset="-120"/>
              </a:rPr>
              <a:t>형태를</a:t>
            </a:r>
            <a:r>
              <a:rPr lang="en-US" sz="1026" dirty="0">
                <a:solidFill>
                  <a:srgbClr val="1E293B"/>
                </a:solidFill>
                <a:latin typeface="맑은 고딕" pitchFamily="34" charset="0"/>
                <a:ea typeface="맑은 고딕" pitchFamily="34" charset="-122"/>
                <a:cs typeface="맑은 고딕" pitchFamily="34" charset="-120"/>
              </a:rPr>
              <a:t> </a:t>
            </a:r>
            <a:r>
              <a:rPr lang="en-US" sz="1026" dirty="0" err="1">
                <a:solidFill>
                  <a:srgbClr val="1E293B"/>
                </a:solidFill>
                <a:latin typeface="맑은 고딕" pitchFamily="34" charset="0"/>
                <a:ea typeface="맑은 고딕" pitchFamily="34" charset="-122"/>
                <a:cs typeface="맑은 고딕" pitchFamily="34" charset="-120"/>
              </a:rPr>
              <a:t>유지</a:t>
            </a:r>
            <a:endParaRPr lang="en-US" sz="1026" dirty="0">
              <a:solidFill>
                <a:srgbClr val="1E293B"/>
              </a:solidFill>
              <a:latin typeface="맑은 고딕" pitchFamily="34" charset="0"/>
              <a:ea typeface="맑은 고딕" pitchFamily="34" charset="-122"/>
              <a:cs typeface="맑은 고딕" pitchFamily="34" charset="-120"/>
            </a:endParaRPr>
          </a:p>
          <a:p>
            <a:pPr>
              <a:lnSpc>
                <a:spcPct val="125000"/>
              </a:lnSpc>
              <a:spcAft>
                <a:spcPts val="684"/>
              </a:spcAft>
            </a:pPr>
            <a:r>
              <a:rPr lang="en-US" sz="1026" dirty="0">
                <a:solidFill>
                  <a:srgbClr val="1E293B"/>
                </a:solidFill>
                <a:latin typeface="맑은 고딕" pitchFamily="34" charset="0"/>
                <a:ea typeface="맑은 고딕" pitchFamily="34" charset="-122"/>
                <a:cs typeface="맑은 고딕" pitchFamily="34" charset="-120"/>
              </a:rPr>
              <a:t>   -&gt; </a:t>
            </a:r>
            <a:r>
              <a:rPr lang="en-US" sz="1026" dirty="0" err="1">
                <a:solidFill>
                  <a:srgbClr val="1E293B"/>
                </a:solidFill>
                <a:latin typeface="맑은 고딕" pitchFamily="34" charset="0"/>
                <a:ea typeface="맑은 고딕" pitchFamily="34" charset="-122"/>
                <a:cs typeface="맑은 고딕" pitchFamily="34" charset="-120"/>
              </a:rPr>
              <a:t>조립·유지보수·고장</a:t>
            </a:r>
            <a:r>
              <a:rPr lang="en-US" sz="1026" dirty="0">
                <a:solidFill>
                  <a:srgbClr val="1E293B"/>
                </a:solidFill>
                <a:latin typeface="맑은 고딕" pitchFamily="34" charset="0"/>
                <a:ea typeface="맑은 고딕" pitchFamily="34" charset="-122"/>
                <a:cs typeface="맑은 고딕" pitchFamily="34" charset="-120"/>
              </a:rPr>
              <a:t> 격리가 쉬움.</a:t>
            </a:r>
            <a:endParaRPr lang="en-US" sz="1026" dirty="0"/>
          </a:p>
        </p:txBody>
      </p:sp>
      <p:sp>
        <p:nvSpPr>
          <p:cNvPr id="23" name="Shape 18">
            <a:extLst>
              <a:ext uri="{FF2B5EF4-FFF2-40B4-BE49-F238E27FC236}">
                <a16:creationId xmlns:a16="http://schemas.microsoft.com/office/drawing/2014/main" id="{C6CE3003-5DE5-9D75-183E-9C9599E4A6DB}"/>
              </a:ext>
            </a:extLst>
          </p:cNvPr>
          <p:cNvSpPr/>
          <p:nvPr/>
        </p:nvSpPr>
        <p:spPr>
          <a:xfrm>
            <a:off x="623169" y="5465251"/>
            <a:ext cx="70371" cy="172020"/>
          </a:xfrm>
          <a:prstGeom prst="rect">
            <a:avLst/>
          </a:prstGeom>
          <a:solidFill>
            <a:srgbClr val="3B5BA7"/>
          </a:solidFill>
          <a:ln/>
        </p:spPr>
        <p:txBody>
          <a:bodyPr/>
          <a:lstStyle/>
          <a:p>
            <a:endParaRPr lang="ko-KR" altLang="en-US" sz="1634"/>
          </a:p>
        </p:txBody>
      </p:sp>
      <p:sp>
        <p:nvSpPr>
          <p:cNvPr id="25" name="Text 19">
            <a:extLst>
              <a:ext uri="{FF2B5EF4-FFF2-40B4-BE49-F238E27FC236}">
                <a16:creationId xmlns:a16="http://schemas.microsoft.com/office/drawing/2014/main" id="{63831539-805E-E0B7-B421-095688865185}"/>
              </a:ext>
            </a:extLst>
          </p:cNvPr>
          <p:cNvSpPr/>
          <p:nvPr/>
        </p:nvSpPr>
        <p:spPr>
          <a:xfrm>
            <a:off x="763910" y="5441794"/>
            <a:ext cx="625527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I2C 주소 충돌 회피</a:t>
            </a:r>
            <a:endParaRPr lang="en-US" sz="1112" dirty="0"/>
          </a:p>
        </p:txBody>
      </p:sp>
      <p:sp>
        <p:nvSpPr>
          <p:cNvPr id="27" name="Shape 20">
            <a:extLst>
              <a:ext uri="{FF2B5EF4-FFF2-40B4-BE49-F238E27FC236}">
                <a16:creationId xmlns:a16="http://schemas.microsoft.com/office/drawing/2014/main" id="{DD2C12DF-8F0E-DEFA-B83E-A49259182DD6}"/>
              </a:ext>
            </a:extLst>
          </p:cNvPr>
          <p:cNvSpPr/>
          <p:nvPr/>
        </p:nvSpPr>
        <p:spPr>
          <a:xfrm>
            <a:off x="623166" y="5738919"/>
            <a:ext cx="8053671" cy="652895"/>
          </a:xfrm>
          <a:prstGeom prst="roundRect">
            <a:avLst>
              <a:gd name="adj" fmla="val 6087"/>
            </a:avLst>
          </a:prstGeom>
          <a:solidFill>
            <a:srgbClr val="E8F1FF"/>
          </a:solidFill>
          <a:ln/>
          <a:effectLst>
            <a:outerShdw blurRad="63500" dist="25400" dir="2700000" algn="bl" rotWithShape="0">
              <a:srgbClr val="000000">
                <a:alpha val="10000"/>
              </a:srgbClr>
            </a:outerShdw>
          </a:effectLst>
        </p:spPr>
        <p:txBody>
          <a:bodyPr/>
          <a:lstStyle/>
          <a:p>
            <a:endParaRPr lang="ko-KR" altLang="en-US" sz="1634"/>
          </a:p>
        </p:txBody>
      </p:sp>
      <p:sp>
        <p:nvSpPr>
          <p:cNvPr id="29" name="Text 21">
            <a:extLst>
              <a:ext uri="{FF2B5EF4-FFF2-40B4-BE49-F238E27FC236}">
                <a16:creationId xmlns:a16="http://schemas.microsoft.com/office/drawing/2014/main" id="{DFDD50A9-99A5-FA2D-DF8F-32C6BB677152}"/>
              </a:ext>
            </a:extLst>
          </p:cNvPr>
          <p:cNvSpPr/>
          <p:nvPr/>
        </p:nvSpPr>
        <p:spPr>
          <a:xfrm>
            <a:off x="779549" y="5794126"/>
            <a:ext cx="7740906" cy="781910"/>
          </a:xfrm>
          <a:prstGeom prst="rect">
            <a:avLst/>
          </a:prstGeom>
          <a:noFill/>
          <a:ln/>
        </p:spPr>
        <p:txBody>
          <a:bodyPr wrap="square" rtlCol="0" anchor="t"/>
          <a:lstStyle/>
          <a:p>
            <a:pPr>
              <a:lnSpc>
                <a:spcPct val="125000"/>
              </a:lnSpc>
              <a:spcAft>
                <a:spcPts val="684"/>
              </a:spcAft>
            </a:pPr>
            <a:r>
              <a:rPr lang="en-US" sz="1026" dirty="0">
                <a:solidFill>
                  <a:srgbClr val="1E293B"/>
                </a:solidFill>
                <a:latin typeface="맑은 고딕" pitchFamily="34" charset="0"/>
                <a:ea typeface="맑은 고딕" pitchFamily="34" charset="-122"/>
                <a:cs typeface="맑은 고딕" pitchFamily="34" charset="-120"/>
              </a:rPr>
              <a:t>•  BQ27441(0x55 고정)이 물리적으로 2개, MLX90614(0x5A 고정) 등 고정주소 칩이 존재 — TCA9548A I2C 멀티플렉서로 블록별 채널(CH0/CH1)을 분리해 소프트웨어 변경 없이 하드웨어 레벨에서 충돌을 회피.</a:t>
            </a:r>
            <a:endParaRPr lang="en-US" sz="1026" dirty="0"/>
          </a:p>
        </p:txBody>
      </p:sp>
    </p:spTree>
    <p:extLst>
      <p:ext uri="{BB962C8B-B14F-4D97-AF65-F5344CB8AC3E}">
        <p14:creationId xmlns:p14="http://schemas.microsoft.com/office/powerpoint/2010/main" val="33464912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5F071-57E7-4E24-0C9F-5A05623C90A7}"/>
            </a:ext>
          </a:extLst>
        </p:cNvPr>
        <p:cNvGrpSpPr/>
        <p:nvPr/>
      </p:nvGrpSpPr>
      <p:grpSpPr>
        <a:xfrm>
          <a:off x="0" y="0"/>
          <a:ext cx="0" cy="0"/>
          <a:chOff x="0" y="0"/>
          <a:chExt cx="0" cy="0"/>
        </a:xfrm>
      </p:grpSpPr>
      <p:sp>
        <p:nvSpPr>
          <p:cNvPr id="16" name="직사각형 16"/>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7" name="직선 연결선 17"/>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 name="직선 연결선 18"/>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19" name="제목 19"/>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부품 리스트</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20" name="막힌 원호 20"/>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BFEE55B3-C32D-23C6-5CE6-EC2ADE2B7237}"/>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2445AEFC-DECC-1843-FF02-274D4DBE5CF9}"/>
              </a:ext>
            </a:extLst>
          </p:cNvPr>
          <p:cNvPicPr/>
          <p:nvPr/>
        </p:nvPicPr>
        <p:blipFill>
          <a:blip r:embed="rId4" cstate="print"/>
          <a:stretch>
            <a:fillRect/>
          </a:stretch>
        </p:blipFill>
        <p:spPr>
          <a:xfrm>
            <a:off x="7275128" y="314247"/>
            <a:ext cx="1325611" cy="307338"/>
          </a:xfrm>
          <a:prstGeom prst="rect">
            <a:avLst/>
          </a:prstGeom>
        </p:spPr>
      </p:pic>
      <p:sp>
        <p:nvSpPr>
          <p:cNvPr id="9" name="Shape 12">
            <a:extLst>
              <a:ext uri="{FF2B5EF4-FFF2-40B4-BE49-F238E27FC236}">
                <a16:creationId xmlns:a16="http://schemas.microsoft.com/office/drawing/2014/main" id="{14A40175-E8AD-4771-360E-0E67FB6827D1}"/>
              </a:ext>
            </a:extLst>
          </p:cNvPr>
          <p:cNvSpPr/>
          <p:nvPr/>
        </p:nvSpPr>
        <p:spPr>
          <a:xfrm>
            <a:off x="648514" y="1723640"/>
            <a:ext cx="68546" cy="172020"/>
          </a:xfrm>
          <a:prstGeom prst="rect">
            <a:avLst/>
          </a:prstGeom>
          <a:solidFill>
            <a:srgbClr val="3B5BA7"/>
          </a:solidFill>
          <a:ln/>
        </p:spPr>
        <p:txBody>
          <a:bodyPr/>
          <a:lstStyle/>
          <a:p>
            <a:endParaRPr lang="ko-KR" altLang="en-US" sz="1634"/>
          </a:p>
        </p:txBody>
      </p:sp>
      <p:sp>
        <p:nvSpPr>
          <p:cNvPr id="11" name="Text 13">
            <a:extLst>
              <a:ext uri="{FF2B5EF4-FFF2-40B4-BE49-F238E27FC236}">
                <a16:creationId xmlns:a16="http://schemas.microsoft.com/office/drawing/2014/main" id="{B60350A1-FCB8-87F9-B0EF-6FB9DE272265}"/>
              </a:ext>
            </a:extLst>
          </p:cNvPr>
          <p:cNvSpPr/>
          <p:nvPr/>
        </p:nvSpPr>
        <p:spPr>
          <a:xfrm>
            <a:off x="789255" y="1700183"/>
            <a:ext cx="6092969" cy="218934"/>
          </a:xfrm>
          <a:prstGeom prst="rect">
            <a:avLst/>
          </a:prstGeom>
          <a:noFill/>
          <a:ln/>
        </p:spPr>
        <p:txBody>
          <a:bodyPr wrap="square" rtlCol="0" anchor="ctr"/>
          <a:lstStyle/>
          <a:p>
            <a:r>
              <a:rPr lang="ko-KR" altLang="en-US" sz="1112" b="1" dirty="0">
                <a:solidFill>
                  <a:srgbClr val="1E293B"/>
                </a:solidFill>
                <a:latin typeface="맑은 고딕" pitchFamily="34" charset="0"/>
                <a:ea typeface="맑은 고딕" pitchFamily="34" charset="-122"/>
                <a:cs typeface="맑은 고딕" pitchFamily="34" charset="-120"/>
              </a:rPr>
              <a:t>전체 </a:t>
            </a:r>
            <a:r>
              <a:rPr lang="en-US" sz="1112" b="1" dirty="0" err="1">
                <a:solidFill>
                  <a:srgbClr val="1E293B"/>
                </a:solidFill>
                <a:latin typeface="맑은 고딕" pitchFamily="34" charset="0"/>
                <a:ea typeface="맑은 고딕" pitchFamily="34" charset="-122"/>
                <a:cs typeface="맑은 고딕" pitchFamily="34" charset="-120"/>
              </a:rPr>
              <a:t>부품</a:t>
            </a:r>
            <a:r>
              <a:rPr lang="en-US" sz="1112" b="1" dirty="0">
                <a:solidFill>
                  <a:srgbClr val="1E293B"/>
                </a:solidFill>
                <a:latin typeface="맑은 고딕" pitchFamily="34" charset="0"/>
                <a:ea typeface="맑은 고딕" pitchFamily="34" charset="-122"/>
                <a:cs typeface="맑은 고딕" pitchFamily="34" charset="-120"/>
              </a:rPr>
              <a:t>(BOM) 목록 — 총 28개</a:t>
            </a:r>
            <a:endParaRPr lang="en-US" sz="1112" dirty="0"/>
          </a:p>
        </p:txBody>
      </p:sp>
      <p:graphicFrame>
        <p:nvGraphicFramePr>
          <p:cNvPr id="13" name="Table 0">
            <a:extLst>
              <a:ext uri="{FF2B5EF4-FFF2-40B4-BE49-F238E27FC236}">
                <a16:creationId xmlns:a16="http://schemas.microsoft.com/office/drawing/2014/main" id="{ABD56C8C-EB6D-6BF9-BFC8-5333EC007778}"/>
              </a:ext>
            </a:extLst>
          </p:cNvPr>
          <p:cNvGraphicFramePr>
            <a:graphicFrameLocks noGrp="1"/>
          </p:cNvGraphicFramePr>
          <p:nvPr/>
        </p:nvGraphicFramePr>
        <p:xfrm>
          <a:off x="648512" y="2036404"/>
          <a:ext cx="3808106" cy="3612420"/>
        </p:xfrm>
        <a:graphic>
          <a:graphicData uri="http://schemas.openxmlformats.org/drawingml/2006/table">
            <a:tbl>
              <a:tblPr/>
              <a:tblGrid>
                <a:gridCol w="609297">
                  <a:extLst>
                    <a:ext uri="{9D8B030D-6E8A-4147-A177-3AD203B41FA5}">
                      <a16:colId xmlns:a16="http://schemas.microsoft.com/office/drawing/2014/main" val="20000"/>
                    </a:ext>
                  </a:extLst>
                </a:gridCol>
                <a:gridCol w="2437188">
                  <a:extLst>
                    <a:ext uri="{9D8B030D-6E8A-4147-A177-3AD203B41FA5}">
                      <a16:colId xmlns:a16="http://schemas.microsoft.com/office/drawing/2014/main" val="20001"/>
                    </a:ext>
                  </a:extLst>
                </a:gridCol>
                <a:gridCol w="761621">
                  <a:extLst>
                    <a:ext uri="{9D8B030D-6E8A-4147-A177-3AD203B41FA5}">
                      <a16:colId xmlns:a16="http://schemas.microsoft.com/office/drawing/2014/main" val="20002"/>
                    </a:ext>
                  </a:extLst>
                </a:gridCol>
              </a:tblGrid>
              <a:tr h="258030">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Ref</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부품명</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수량</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extLst>
                  <a:ext uri="{0D108BD9-81ED-4DB2-BD59-A6C34878D82A}">
                    <a16:rowId xmlns:a16="http://schemas.microsoft.com/office/drawing/2014/main" val="10000"/>
                  </a:ext>
                </a:extLst>
              </a:tr>
              <a:tr h="258030">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U1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Raspberry Pi 5</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1"/>
                  </a:ext>
                </a:extLst>
              </a:tr>
              <a:tr h="258030">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U2</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TCA9548A (I2C 멀티플렉서)</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2"/>
                  </a:ext>
                </a:extLst>
              </a:tr>
              <a:tr h="258030">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U3</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BQ27441 — 모드1용</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3"/>
                  </a:ext>
                </a:extLst>
              </a:tr>
              <a:tr h="258030">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U4</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BQ27441 — 모드2용</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4"/>
                  </a:ext>
                </a:extLst>
              </a:tr>
              <a:tr h="258030">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U5</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INA226 — 모드3용</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5"/>
                  </a:ext>
                </a:extLst>
              </a:tr>
              <a:tr h="258030">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U7</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DS18B20</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6"/>
                  </a:ext>
                </a:extLst>
              </a:tr>
              <a:tr h="258030">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U8</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MLX90614</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7"/>
                  </a:ext>
                </a:extLst>
              </a:tr>
              <a:tr h="258030">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U9</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ADS1115 #1 (0x48)</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8"/>
                  </a:ext>
                </a:extLst>
              </a:tr>
              <a:tr h="258030">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U10</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ADS1115 #2 (0x49)</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9"/>
                  </a:ext>
                </a:extLst>
              </a:tr>
              <a:tr h="258030">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U11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MQ-2 — 모드1용</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10"/>
                  </a:ext>
                </a:extLst>
              </a:tr>
              <a:tr h="258030">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U12</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MQ-2 — 모드2·3 공용</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11"/>
                  </a:ext>
                </a:extLst>
              </a:tr>
              <a:tr h="258030">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U13</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MiCS-5524 — 모드1용</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12"/>
                  </a:ext>
                </a:extLst>
              </a:tr>
              <a:tr h="258030">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U14</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MiCS-5524 — 모드2·3 공용</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graphicFrame>
        <p:nvGraphicFramePr>
          <p:cNvPr id="15" name="Table 1">
            <a:extLst>
              <a:ext uri="{FF2B5EF4-FFF2-40B4-BE49-F238E27FC236}">
                <a16:creationId xmlns:a16="http://schemas.microsoft.com/office/drawing/2014/main" id="{AA2F74AA-B3E3-6C26-8493-E37603D25CBA}"/>
              </a:ext>
            </a:extLst>
          </p:cNvPr>
          <p:cNvGraphicFramePr>
            <a:graphicFrameLocks noGrp="1"/>
          </p:cNvGraphicFramePr>
          <p:nvPr/>
        </p:nvGraphicFramePr>
        <p:xfrm>
          <a:off x="4792634" y="2036404"/>
          <a:ext cx="3808106" cy="3096360"/>
        </p:xfrm>
        <a:graphic>
          <a:graphicData uri="http://schemas.openxmlformats.org/drawingml/2006/table">
            <a:tbl>
              <a:tblPr/>
              <a:tblGrid>
                <a:gridCol w="609297">
                  <a:extLst>
                    <a:ext uri="{9D8B030D-6E8A-4147-A177-3AD203B41FA5}">
                      <a16:colId xmlns:a16="http://schemas.microsoft.com/office/drawing/2014/main" val="20000"/>
                    </a:ext>
                  </a:extLst>
                </a:gridCol>
                <a:gridCol w="2437188">
                  <a:extLst>
                    <a:ext uri="{9D8B030D-6E8A-4147-A177-3AD203B41FA5}">
                      <a16:colId xmlns:a16="http://schemas.microsoft.com/office/drawing/2014/main" val="20001"/>
                    </a:ext>
                  </a:extLst>
                </a:gridCol>
                <a:gridCol w="761621">
                  <a:extLst>
                    <a:ext uri="{9D8B030D-6E8A-4147-A177-3AD203B41FA5}">
                      <a16:colId xmlns:a16="http://schemas.microsoft.com/office/drawing/2014/main" val="20002"/>
                    </a:ext>
                  </a:extLst>
                </a:gridCol>
              </a:tblGrid>
              <a:tr h="258030">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Ref</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부품명</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수량</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extLst>
                  <a:ext uri="{0D108BD9-81ED-4DB2-BD59-A6C34878D82A}">
                    <a16:rowId xmlns:a16="http://schemas.microsoft.com/office/drawing/2014/main" val="10000"/>
                  </a:ext>
                </a:extLst>
              </a:tr>
              <a:tr h="258030">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FSR1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FSR-406 — 모드1용</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1"/>
                  </a:ext>
                </a:extLst>
              </a:tr>
              <a:tr h="258030">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FSR2</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FSR-406 — 모드2·3 공용</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2"/>
                  </a:ext>
                </a:extLst>
              </a:tr>
              <a:tr h="258030">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PZ1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피에조 디스크 — 모드1용</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3"/>
                  </a:ext>
                </a:extLst>
              </a:tr>
              <a:tr h="258030">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PZ2</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피에조 디스크 — 모드2·3 공용</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4"/>
                  </a:ext>
                </a:extLst>
              </a:tr>
              <a:tr h="258030">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RLY1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4채널 릴레이(SZH-RLBG-012)</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5"/>
                  </a:ext>
                </a:extLst>
              </a:tr>
              <a:tr h="258030">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CN1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모드1 배터리 단자(상시연결)</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6"/>
                  </a:ext>
                </a:extLst>
              </a:tr>
              <a:tr h="258030">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CN2</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모드2 배터리 단자(악어클립)</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7"/>
                  </a:ext>
                </a:extLst>
              </a:tr>
              <a:tr h="258030">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CN3</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ZY12PDN-A (모드3 출력)</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8"/>
                  </a:ext>
                </a:extLst>
              </a:tr>
              <a:tr h="258030">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CN5</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ATORCH 연결단자</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9"/>
                  </a:ext>
                </a:extLst>
              </a:tr>
              <a:tr h="258030">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CN6</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TP4056 연결단자</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10"/>
                  </a:ext>
                </a:extLst>
              </a:tr>
              <a:tr h="258030">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R1~R5</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풀업/풀다운/바이어스 저항 5종</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5</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4959780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E7E4-EABF-248A-95AF-08BB8D0962F4}"/>
            </a:ext>
          </a:extLst>
        </p:cNvPr>
        <p:cNvGrpSpPr/>
        <p:nvPr/>
      </p:nvGrpSpPr>
      <p:grpSpPr>
        <a:xfrm>
          <a:off x="0" y="0"/>
          <a:ext cx="0" cy="0"/>
          <a:chOff x="0" y="0"/>
          <a:chExt cx="0" cy="0"/>
        </a:xfrm>
      </p:grpSpPr>
      <p:sp>
        <p:nvSpPr>
          <p:cNvPr id="76" name="직사각형 76"/>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7" name="직선 연결선 77"/>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78" name="직선 연결선 78"/>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79" name="제목 79"/>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부품 리스트</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80" name="막힌 원호 80"/>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858AC746-39BF-F1D4-F68F-3DB5DD6059BB}"/>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5F8BDA4E-D149-C72C-DCCB-A6235C252F7F}"/>
              </a:ext>
            </a:extLst>
          </p:cNvPr>
          <p:cNvPicPr/>
          <p:nvPr/>
        </p:nvPicPr>
        <p:blipFill>
          <a:blip r:embed="rId4" cstate="print"/>
          <a:stretch>
            <a:fillRect/>
          </a:stretch>
        </p:blipFill>
        <p:spPr>
          <a:xfrm>
            <a:off x="7275128" y="314247"/>
            <a:ext cx="1325611" cy="307338"/>
          </a:xfrm>
          <a:prstGeom prst="rect">
            <a:avLst/>
          </a:prstGeom>
        </p:spPr>
      </p:pic>
      <p:sp>
        <p:nvSpPr>
          <p:cNvPr id="9" name="Shape 12">
            <a:extLst>
              <a:ext uri="{FF2B5EF4-FFF2-40B4-BE49-F238E27FC236}">
                <a16:creationId xmlns:a16="http://schemas.microsoft.com/office/drawing/2014/main" id="{4CE46312-5517-FAE9-492B-46FEE3603082}"/>
              </a:ext>
            </a:extLst>
          </p:cNvPr>
          <p:cNvSpPr/>
          <p:nvPr/>
        </p:nvSpPr>
        <p:spPr>
          <a:xfrm>
            <a:off x="623167" y="1838489"/>
            <a:ext cx="2554238" cy="4300504"/>
          </a:xfrm>
          <a:prstGeom prst="roundRect">
            <a:avLst>
              <a:gd name="adj" fmla="val 2143"/>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11" name="Text 13">
            <a:extLst>
              <a:ext uri="{FF2B5EF4-FFF2-40B4-BE49-F238E27FC236}">
                <a16:creationId xmlns:a16="http://schemas.microsoft.com/office/drawing/2014/main" id="{65FF489F-5079-CFB5-9CC1-068D4D2F9E47}"/>
              </a:ext>
            </a:extLst>
          </p:cNvPr>
          <p:cNvSpPr/>
          <p:nvPr/>
        </p:nvSpPr>
        <p:spPr>
          <a:xfrm>
            <a:off x="763910" y="1963594"/>
            <a:ext cx="2272751" cy="312764"/>
          </a:xfrm>
          <a:prstGeom prst="rect">
            <a:avLst/>
          </a:prstGeom>
          <a:noFill/>
          <a:ln/>
        </p:spPr>
        <p:txBody>
          <a:bodyPr wrap="square" rtlCol="0" anchor="ctr"/>
          <a:lstStyle/>
          <a:p>
            <a:r>
              <a:rPr lang="en-US" sz="1112" b="1" dirty="0">
                <a:solidFill>
                  <a:srgbClr val="3B5BA7"/>
                </a:solidFill>
                <a:latin typeface="맑은 고딕" pitchFamily="34" charset="0"/>
                <a:ea typeface="맑은 고딕" pitchFamily="34" charset="-122"/>
                <a:cs typeface="맑은 고딕" pitchFamily="34" charset="-120"/>
              </a:rPr>
              <a:t>Raspberry Pi 5</a:t>
            </a:r>
            <a:endParaRPr lang="en-US" sz="1112" dirty="0"/>
          </a:p>
        </p:txBody>
      </p:sp>
      <p:sp>
        <p:nvSpPr>
          <p:cNvPr id="13" name="Text 14">
            <a:extLst>
              <a:ext uri="{FF2B5EF4-FFF2-40B4-BE49-F238E27FC236}">
                <a16:creationId xmlns:a16="http://schemas.microsoft.com/office/drawing/2014/main" id="{41D9999A-E737-E62E-670D-7F884822ADC8}"/>
              </a:ext>
            </a:extLst>
          </p:cNvPr>
          <p:cNvSpPr/>
          <p:nvPr/>
        </p:nvSpPr>
        <p:spPr>
          <a:xfrm>
            <a:off x="763910" y="2268539"/>
            <a:ext cx="2272751" cy="218934"/>
          </a:xfrm>
          <a:prstGeom prst="rect">
            <a:avLst/>
          </a:prstGeom>
          <a:noFill/>
          <a:ln/>
        </p:spPr>
        <p:txBody>
          <a:bodyPr wrap="square" rtlCol="0" anchor="ctr"/>
          <a:lstStyle/>
          <a:p>
            <a:r>
              <a:rPr lang="en-US" sz="812" dirty="0">
                <a:solidFill>
                  <a:srgbClr val="64748B"/>
                </a:solidFill>
                <a:latin typeface="맑은 고딕" pitchFamily="34" charset="0"/>
                <a:ea typeface="맑은 고딕" pitchFamily="34" charset="-122"/>
                <a:cs typeface="맑은 고딕" pitchFamily="34" charset="-120"/>
              </a:rPr>
              <a:t>메인 컨트롤러 · 1개</a:t>
            </a:r>
            <a:endParaRPr lang="en-US" sz="812" dirty="0"/>
          </a:p>
        </p:txBody>
      </p:sp>
      <p:sp>
        <p:nvSpPr>
          <p:cNvPr id="15" name="Text 15">
            <a:extLst>
              <a:ext uri="{FF2B5EF4-FFF2-40B4-BE49-F238E27FC236}">
                <a16:creationId xmlns:a16="http://schemas.microsoft.com/office/drawing/2014/main" id="{1B319B6F-C865-E80F-F929-E5A95A1691AB}"/>
              </a:ext>
            </a:extLst>
          </p:cNvPr>
          <p:cNvSpPr/>
          <p:nvPr/>
        </p:nvSpPr>
        <p:spPr>
          <a:xfrm>
            <a:off x="763910" y="2557846"/>
            <a:ext cx="2272751" cy="1290151"/>
          </a:xfrm>
          <a:prstGeom prst="rect">
            <a:avLst/>
          </a:prstGeom>
          <a:noFill/>
          <a:ln/>
        </p:spPr>
        <p:txBody>
          <a:bodyPr wrap="square" rtlCol="0" anchor="t"/>
          <a:lstStyle/>
          <a:p>
            <a:pPr>
              <a:lnSpc>
                <a:spcPct val="120000"/>
              </a:lnSpc>
            </a:pPr>
            <a:r>
              <a:rPr lang="en-US" sz="855" dirty="0">
                <a:solidFill>
                  <a:srgbClr val="1E293B"/>
                </a:solidFill>
                <a:latin typeface="맑은 고딕" pitchFamily="34" charset="0"/>
                <a:ea typeface="맑은 고딕" pitchFamily="34" charset="-122"/>
                <a:cs typeface="맑은 고딕" pitchFamily="34" charset="-120"/>
              </a:rPr>
              <a:t>센서 데이터를 통합 관리하고 릴레이 스위칭 · AI 이상탐지 연동을 수행하는 시스템의 두뇌. GPIO로 I2C · 1-Wire · 릴레이 제어선을 직접 구동한다.</a:t>
            </a:r>
            <a:endParaRPr lang="en-US" sz="855" dirty="0"/>
          </a:p>
        </p:txBody>
      </p:sp>
      <p:sp>
        <p:nvSpPr>
          <p:cNvPr id="17" name="Shape 16">
            <a:extLst>
              <a:ext uri="{FF2B5EF4-FFF2-40B4-BE49-F238E27FC236}">
                <a16:creationId xmlns:a16="http://schemas.microsoft.com/office/drawing/2014/main" id="{2A868580-1E8E-60F1-A13A-D6321FDE1505}"/>
              </a:ext>
            </a:extLst>
          </p:cNvPr>
          <p:cNvSpPr/>
          <p:nvPr/>
        </p:nvSpPr>
        <p:spPr>
          <a:xfrm>
            <a:off x="763910" y="3910550"/>
            <a:ext cx="2272751" cy="2072061"/>
          </a:xfrm>
          <a:prstGeom prst="roundRect">
            <a:avLst>
              <a:gd name="adj" fmla="val 2264"/>
            </a:avLst>
          </a:prstGeom>
          <a:solidFill>
            <a:srgbClr val="FBFBFA"/>
          </a:solidFill>
          <a:ln w="12700">
            <a:solidFill>
              <a:srgbClr val="B9C2CB"/>
            </a:solidFill>
            <a:prstDash val="dash"/>
          </a:ln>
        </p:spPr>
        <p:txBody>
          <a:bodyPr/>
          <a:lstStyle/>
          <a:p>
            <a:endParaRPr lang="ko-KR" altLang="en-US" sz="1634"/>
          </a:p>
        </p:txBody>
      </p:sp>
      <p:sp>
        <p:nvSpPr>
          <p:cNvPr id="19" name="Shape 17">
            <a:extLst>
              <a:ext uri="{FF2B5EF4-FFF2-40B4-BE49-F238E27FC236}">
                <a16:creationId xmlns:a16="http://schemas.microsoft.com/office/drawing/2014/main" id="{2D72788B-7863-8C4C-0615-CE9B25B23455}"/>
              </a:ext>
            </a:extLst>
          </p:cNvPr>
          <p:cNvSpPr/>
          <p:nvPr/>
        </p:nvSpPr>
        <p:spPr>
          <a:xfrm>
            <a:off x="1681351" y="4618178"/>
            <a:ext cx="437870" cy="312764"/>
          </a:xfrm>
          <a:prstGeom prst="roundRect">
            <a:avLst>
              <a:gd name="adj" fmla="val 10000"/>
            </a:avLst>
          </a:prstGeom>
          <a:solidFill>
            <a:srgbClr val="E7EBEE"/>
          </a:solidFill>
          <a:ln w="12700">
            <a:solidFill>
              <a:srgbClr val="B9C2CB"/>
            </a:solidFill>
            <a:prstDash val="solid"/>
          </a:ln>
        </p:spPr>
        <p:txBody>
          <a:bodyPr/>
          <a:lstStyle/>
          <a:p>
            <a:endParaRPr lang="ko-KR" altLang="en-US" sz="1634"/>
          </a:p>
        </p:txBody>
      </p:sp>
      <p:sp>
        <p:nvSpPr>
          <p:cNvPr id="21" name="Shape 18">
            <a:extLst>
              <a:ext uri="{FF2B5EF4-FFF2-40B4-BE49-F238E27FC236}">
                <a16:creationId xmlns:a16="http://schemas.microsoft.com/office/drawing/2014/main" id="{818FA3F4-F9EF-25BB-13FD-83A3961BD249}"/>
              </a:ext>
            </a:extLst>
          </p:cNvPr>
          <p:cNvSpPr/>
          <p:nvPr/>
        </p:nvSpPr>
        <p:spPr>
          <a:xfrm>
            <a:off x="1767361" y="4688553"/>
            <a:ext cx="78191" cy="78191"/>
          </a:xfrm>
          <a:prstGeom prst="ellipse">
            <a:avLst/>
          </a:prstGeom>
          <a:solidFill>
            <a:srgbClr val="C9D1D8"/>
          </a:solidFill>
          <a:ln/>
        </p:spPr>
        <p:txBody>
          <a:bodyPr/>
          <a:lstStyle/>
          <a:p>
            <a:endParaRPr lang="ko-KR" altLang="en-US" sz="1634"/>
          </a:p>
        </p:txBody>
      </p:sp>
      <p:sp>
        <p:nvSpPr>
          <p:cNvPr id="23" name="Shape 19">
            <a:extLst>
              <a:ext uri="{FF2B5EF4-FFF2-40B4-BE49-F238E27FC236}">
                <a16:creationId xmlns:a16="http://schemas.microsoft.com/office/drawing/2014/main" id="{16E0C850-EF96-F25D-F50A-78813C90E052}"/>
              </a:ext>
            </a:extLst>
          </p:cNvPr>
          <p:cNvSpPr/>
          <p:nvPr/>
        </p:nvSpPr>
        <p:spPr>
          <a:xfrm>
            <a:off x="1712627" y="4868389"/>
            <a:ext cx="390955" cy="0"/>
          </a:xfrm>
          <a:prstGeom prst="line">
            <a:avLst/>
          </a:prstGeom>
          <a:noFill/>
          <a:ln w="15240">
            <a:solidFill>
              <a:srgbClr val="C9D1D8"/>
            </a:solidFill>
            <a:prstDash val="solid"/>
          </a:ln>
        </p:spPr>
        <p:txBody>
          <a:bodyPr/>
          <a:lstStyle/>
          <a:p>
            <a:endParaRPr lang="ko-KR" altLang="en-US" sz="1634"/>
          </a:p>
        </p:txBody>
      </p:sp>
      <p:sp>
        <p:nvSpPr>
          <p:cNvPr id="25" name="Text 20">
            <a:extLst>
              <a:ext uri="{FF2B5EF4-FFF2-40B4-BE49-F238E27FC236}">
                <a16:creationId xmlns:a16="http://schemas.microsoft.com/office/drawing/2014/main" id="{E164DE89-FDF0-E8A4-D6D7-7F8E2D7B4D93}"/>
              </a:ext>
            </a:extLst>
          </p:cNvPr>
          <p:cNvSpPr/>
          <p:nvPr/>
        </p:nvSpPr>
        <p:spPr>
          <a:xfrm>
            <a:off x="763910" y="4962221"/>
            <a:ext cx="2272751" cy="195477"/>
          </a:xfrm>
          <a:prstGeom prst="rect">
            <a:avLst/>
          </a:prstGeom>
          <a:noFill/>
          <a:ln/>
        </p:spPr>
        <p:txBody>
          <a:bodyPr wrap="square" rtlCol="0" anchor="ctr"/>
          <a:lstStyle/>
          <a:p>
            <a:pPr algn="ctr"/>
            <a:r>
              <a:rPr lang="en-US" sz="812" b="1" dirty="0">
                <a:solidFill>
                  <a:srgbClr val="8A93A0"/>
                </a:solidFill>
                <a:latin typeface="맑은 고딕" pitchFamily="34" charset="0"/>
                <a:ea typeface="맑은 고딕" pitchFamily="34" charset="-122"/>
                <a:cs typeface="맑은 고딕" pitchFamily="34" charset="-120"/>
              </a:rPr>
              <a:t>사진 삽입</a:t>
            </a:r>
            <a:endParaRPr lang="en-US" sz="812" dirty="0"/>
          </a:p>
        </p:txBody>
      </p:sp>
      <p:sp>
        <p:nvSpPr>
          <p:cNvPr id="27" name="Text 21">
            <a:extLst>
              <a:ext uri="{FF2B5EF4-FFF2-40B4-BE49-F238E27FC236}">
                <a16:creationId xmlns:a16="http://schemas.microsoft.com/office/drawing/2014/main" id="{A42A0951-1D1C-06DA-2373-B55D7939D3DB}"/>
              </a:ext>
            </a:extLst>
          </p:cNvPr>
          <p:cNvSpPr/>
          <p:nvPr/>
        </p:nvSpPr>
        <p:spPr>
          <a:xfrm>
            <a:off x="881197" y="5149877"/>
            <a:ext cx="2038178" cy="801458"/>
          </a:xfrm>
          <a:prstGeom prst="rect">
            <a:avLst/>
          </a:prstGeom>
          <a:noFill/>
          <a:ln/>
        </p:spPr>
        <p:txBody>
          <a:bodyPr wrap="square" rtlCol="0" anchor="t"/>
          <a:lstStyle/>
          <a:p>
            <a:pPr algn="ctr"/>
            <a:r>
              <a:rPr lang="en-US" sz="710" i="1" dirty="0">
                <a:solidFill>
                  <a:srgbClr val="8A93A0"/>
                </a:solidFill>
                <a:latin typeface="맑은 고딕" pitchFamily="34" charset="0"/>
                <a:ea typeface="맑은 고딕" pitchFamily="34" charset="-122"/>
                <a:cs typeface="맑은 고딕" pitchFamily="34" charset="-120"/>
              </a:rPr>
              <a:t>Raspberry Pi 5 보드 실물 사진</a:t>
            </a:r>
            <a:endParaRPr lang="en-US" sz="710" dirty="0"/>
          </a:p>
        </p:txBody>
      </p:sp>
      <p:sp>
        <p:nvSpPr>
          <p:cNvPr id="29" name="Shape 22">
            <a:extLst>
              <a:ext uri="{FF2B5EF4-FFF2-40B4-BE49-F238E27FC236}">
                <a16:creationId xmlns:a16="http://schemas.microsoft.com/office/drawing/2014/main" id="{4A8A442F-BEA8-0999-F245-21D44DE13A78}"/>
              </a:ext>
            </a:extLst>
          </p:cNvPr>
          <p:cNvSpPr/>
          <p:nvPr/>
        </p:nvSpPr>
        <p:spPr>
          <a:xfrm>
            <a:off x="3372883" y="1838489"/>
            <a:ext cx="2554238" cy="4300504"/>
          </a:xfrm>
          <a:prstGeom prst="roundRect">
            <a:avLst>
              <a:gd name="adj" fmla="val 2143"/>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31" name="Text 23">
            <a:extLst>
              <a:ext uri="{FF2B5EF4-FFF2-40B4-BE49-F238E27FC236}">
                <a16:creationId xmlns:a16="http://schemas.microsoft.com/office/drawing/2014/main" id="{0FDA75ED-34B7-901E-DB94-40C66F4F3729}"/>
              </a:ext>
            </a:extLst>
          </p:cNvPr>
          <p:cNvSpPr/>
          <p:nvPr/>
        </p:nvSpPr>
        <p:spPr>
          <a:xfrm>
            <a:off x="3513626" y="1963594"/>
            <a:ext cx="2272751" cy="312764"/>
          </a:xfrm>
          <a:prstGeom prst="rect">
            <a:avLst/>
          </a:prstGeom>
          <a:noFill/>
          <a:ln/>
        </p:spPr>
        <p:txBody>
          <a:bodyPr wrap="square" rtlCol="0" anchor="ctr"/>
          <a:lstStyle/>
          <a:p>
            <a:r>
              <a:rPr lang="en-US" sz="1112" b="1" dirty="0">
                <a:solidFill>
                  <a:srgbClr val="3B5BA7"/>
                </a:solidFill>
                <a:latin typeface="맑은 고딕" pitchFamily="34" charset="0"/>
                <a:ea typeface="맑은 고딕" pitchFamily="34" charset="-122"/>
                <a:cs typeface="맑은 고딕" pitchFamily="34" charset="-120"/>
              </a:rPr>
              <a:t>TCA9548A</a:t>
            </a:r>
            <a:endParaRPr lang="en-US" sz="1112" dirty="0"/>
          </a:p>
        </p:txBody>
      </p:sp>
      <p:sp>
        <p:nvSpPr>
          <p:cNvPr id="33" name="Text 24">
            <a:extLst>
              <a:ext uri="{FF2B5EF4-FFF2-40B4-BE49-F238E27FC236}">
                <a16:creationId xmlns:a16="http://schemas.microsoft.com/office/drawing/2014/main" id="{3CF4305D-4F1C-6D2B-6EAA-142AEE988731}"/>
              </a:ext>
            </a:extLst>
          </p:cNvPr>
          <p:cNvSpPr/>
          <p:nvPr/>
        </p:nvSpPr>
        <p:spPr>
          <a:xfrm>
            <a:off x="3513626" y="2268539"/>
            <a:ext cx="2272751" cy="218934"/>
          </a:xfrm>
          <a:prstGeom prst="rect">
            <a:avLst/>
          </a:prstGeom>
          <a:noFill/>
          <a:ln/>
        </p:spPr>
        <p:txBody>
          <a:bodyPr wrap="square" rtlCol="0" anchor="ctr"/>
          <a:lstStyle/>
          <a:p>
            <a:r>
              <a:rPr lang="en-US" sz="812" dirty="0">
                <a:solidFill>
                  <a:srgbClr val="64748B"/>
                </a:solidFill>
                <a:latin typeface="맑은 고딕" pitchFamily="34" charset="0"/>
                <a:ea typeface="맑은 고딕" pitchFamily="34" charset="-122"/>
                <a:cs typeface="맑은 고딕" pitchFamily="34" charset="-120"/>
              </a:rPr>
              <a:t>I2C 멀티플렉서 · 1개</a:t>
            </a:r>
            <a:endParaRPr lang="en-US" sz="812" dirty="0"/>
          </a:p>
        </p:txBody>
      </p:sp>
      <p:sp>
        <p:nvSpPr>
          <p:cNvPr id="35" name="Text 25">
            <a:extLst>
              <a:ext uri="{FF2B5EF4-FFF2-40B4-BE49-F238E27FC236}">
                <a16:creationId xmlns:a16="http://schemas.microsoft.com/office/drawing/2014/main" id="{89DC5792-99E4-8F62-B8E3-6CF5DFA13EEE}"/>
              </a:ext>
            </a:extLst>
          </p:cNvPr>
          <p:cNvSpPr/>
          <p:nvPr/>
        </p:nvSpPr>
        <p:spPr>
          <a:xfrm>
            <a:off x="3513626" y="2557846"/>
            <a:ext cx="2272751" cy="1290151"/>
          </a:xfrm>
          <a:prstGeom prst="rect">
            <a:avLst/>
          </a:prstGeom>
          <a:noFill/>
          <a:ln/>
        </p:spPr>
        <p:txBody>
          <a:bodyPr wrap="square" rtlCol="0" anchor="t"/>
          <a:lstStyle/>
          <a:p>
            <a:pPr>
              <a:lnSpc>
                <a:spcPct val="120000"/>
              </a:lnSpc>
            </a:pPr>
            <a:r>
              <a:rPr lang="en-US" sz="855" dirty="0">
                <a:solidFill>
                  <a:srgbClr val="1E293B"/>
                </a:solidFill>
                <a:latin typeface="맑은 고딕" pitchFamily="34" charset="0"/>
                <a:ea typeface="맑은 고딕" pitchFamily="34" charset="-122"/>
                <a:cs typeface="맑은 고딕" pitchFamily="34" charset="-120"/>
              </a:rPr>
              <a:t>모드1 블록과 모드2·3 공용 블록을 서로 다른 채널(CH0/CH1)로 분리해, BQ27441 · MLX90614 등 고정 I2C 주소 칩이 여러 개 있어도 주소 충돌 없이 공존시킨다.</a:t>
            </a:r>
            <a:endParaRPr lang="en-US" sz="855" dirty="0"/>
          </a:p>
        </p:txBody>
      </p:sp>
      <p:sp>
        <p:nvSpPr>
          <p:cNvPr id="37" name="Shape 26">
            <a:extLst>
              <a:ext uri="{FF2B5EF4-FFF2-40B4-BE49-F238E27FC236}">
                <a16:creationId xmlns:a16="http://schemas.microsoft.com/office/drawing/2014/main" id="{7261E76E-EDA3-4CDD-B48B-EE2DC81621FA}"/>
              </a:ext>
            </a:extLst>
          </p:cNvPr>
          <p:cNvSpPr/>
          <p:nvPr/>
        </p:nvSpPr>
        <p:spPr>
          <a:xfrm>
            <a:off x="3513626" y="3910550"/>
            <a:ext cx="2272751" cy="2072061"/>
          </a:xfrm>
          <a:prstGeom prst="roundRect">
            <a:avLst>
              <a:gd name="adj" fmla="val 2264"/>
            </a:avLst>
          </a:prstGeom>
          <a:solidFill>
            <a:srgbClr val="FBFBFA"/>
          </a:solidFill>
          <a:ln w="12700">
            <a:solidFill>
              <a:srgbClr val="B9C2CB"/>
            </a:solidFill>
            <a:prstDash val="dash"/>
          </a:ln>
        </p:spPr>
        <p:txBody>
          <a:bodyPr/>
          <a:lstStyle/>
          <a:p>
            <a:endParaRPr lang="ko-KR" altLang="en-US" sz="1634"/>
          </a:p>
        </p:txBody>
      </p:sp>
      <p:sp>
        <p:nvSpPr>
          <p:cNvPr id="39" name="Shape 27">
            <a:extLst>
              <a:ext uri="{FF2B5EF4-FFF2-40B4-BE49-F238E27FC236}">
                <a16:creationId xmlns:a16="http://schemas.microsoft.com/office/drawing/2014/main" id="{2AD04947-5E9C-1872-DADB-8C76567B8A9A}"/>
              </a:ext>
            </a:extLst>
          </p:cNvPr>
          <p:cNvSpPr/>
          <p:nvPr/>
        </p:nvSpPr>
        <p:spPr>
          <a:xfrm>
            <a:off x="4431067" y="4618178"/>
            <a:ext cx="437870" cy="312764"/>
          </a:xfrm>
          <a:prstGeom prst="roundRect">
            <a:avLst>
              <a:gd name="adj" fmla="val 10000"/>
            </a:avLst>
          </a:prstGeom>
          <a:solidFill>
            <a:srgbClr val="E7EBEE"/>
          </a:solidFill>
          <a:ln w="12700">
            <a:solidFill>
              <a:srgbClr val="B9C2CB"/>
            </a:solidFill>
            <a:prstDash val="solid"/>
          </a:ln>
        </p:spPr>
        <p:txBody>
          <a:bodyPr/>
          <a:lstStyle/>
          <a:p>
            <a:endParaRPr lang="ko-KR" altLang="en-US" sz="1634"/>
          </a:p>
        </p:txBody>
      </p:sp>
      <p:sp>
        <p:nvSpPr>
          <p:cNvPr id="41" name="Shape 28">
            <a:extLst>
              <a:ext uri="{FF2B5EF4-FFF2-40B4-BE49-F238E27FC236}">
                <a16:creationId xmlns:a16="http://schemas.microsoft.com/office/drawing/2014/main" id="{DAAFB86F-2E9B-C906-E195-1163C9A201AB}"/>
              </a:ext>
            </a:extLst>
          </p:cNvPr>
          <p:cNvSpPr/>
          <p:nvPr/>
        </p:nvSpPr>
        <p:spPr>
          <a:xfrm>
            <a:off x="4517079" y="4688553"/>
            <a:ext cx="78191" cy="78191"/>
          </a:xfrm>
          <a:prstGeom prst="ellipse">
            <a:avLst/>
          </a:prstGeom>
          <a:solidFill>
            <a:srgbClr val="C9D1D8"/>
          </a:solidFill>
          <a:ln/>
        </p:spPr>
        <p:txBody>
          <a:bodyPr/>
          <a:lstStyle/>
          <a:p>
            <a:endParaRPr lang="ko-KR" altLang="en-US" sz="1634"/>
          </a:p>
        </p:txBody>
      </p:sp>
      <p:sp>
        <p:nvSpPr>
          <p:cNvPr id="43" name="Shape 29">
            <a:extLst>
              <a:ext uri="{FF2B5EF4-FFF2-40B4-BE49-F238E27FC236}">
                <a16:creationId xmlns:a16="http://schemas.microsoft.com/office/drawing/2014/main" id="{859DBACE-A441-584F-711E-7BD632AF5F5A}"/>
              </a:ext>
            </a:extLst>
          </p:cNvPr>
          <p:cNvSpPr/>
          <p:nvPr/>
        </p:nvSpPr>
        <p:spPr>
          <a:xfrm>
            <a:off x="4462344" y="4868389"/>
            <a:ext cx="390955" cy="0"/>
          </a:xfrm>
          <a:prstGeom prst="line">
            <a:avLst/>
          </a:prstGeom>
          <a:noFill/>
          <a:ln w="15240">
            <a:solidFill>
              <a:srgbClr val="C9D1D8"/>
            </a:solidFill>
            <a:prstDash val="solid"/>
          </a:ln>
        </p:spPr>
        <p:txBody>
          <a:bodyPr/>
          <a:lstStyle/>
          <a:p>
            <a:endParaRPr lang="ko-KR" altLang="en-US" sz="1634"/>
          </a:p>
        </p:txBody>
      </p:sp>
      <p:sp>
        <p:nvSpPr>
          <p:cNvPr id="45" name="Text 30">
            <a:extLst>
              <a:ext uri="{FF2B5EF4-FFF2-40B4-BE49-F238E27FC236}">
                <a16:creationId xmlns:a16="http://schemas.microsoft.com/office/drawing/2014/main" id="{020634F6-8EC1-F482-61A1-CEC62856F7F2}"/>
              </a:ext>
            </a:extLst>
          </p:cNvPr>
          <p:cNvSpPr/>
          <p:nvPr/>
        </p:nvSpPr>
        <p:spPr>
          <a:xfrm>
            <a:off x="3513626" y="4962221"/>
            <a:ext cx="2272751" cy="195477"/>
          </a:xfrm>
          <a:prstGeom prst="rect">
            <a:avLst/>
          </a:prstGeom>
          <a:noFill/>
          <a:ln/>
        </p:spPr>
        <p:txBody>
          <a:bodyPr wrap="square" rtlCol="0" anchor="ctr"/>
          <a:lstStyle/>
          <a:p>
            <a:pPr algn="ctr"/>
            <a:r>
              <a:rPr lang="en-US" sz="812" b="1" dirty="0">
                <a:solidFill>
                  <a:srgbClr val="8A93A0"/>
                </a:solidFill>
                <a:latin typeface="맑은 고딕" pitchFamily="34" charset="0"/>
                <a:ea typeface="맑은 고딕" pitchFamily="34" charset="-122"/>
                <a:cs typeface="맑은 고딕" pitchFamily="34" charset="-120"/>
              </a:rPr>
              <a:t>사진 삽입</a:t>
            </a:r>
            <a:endParaRPr lang="en-US" sz="812" dirty="0"/>
          </a:p>
        </p:txBody>
      </p:sp>
      <p:sp>
        <p:nvSpPr>
          <p:cNvPr id="47" name="Text 31">
            <a:extLst>
              <a:ext uri="{FF2B5EF4-FFF2-40B4-BE49-F238E27FC236}">
                <a16:creationId xmlns:a16="http://schemas.microsoft.com/office/drawing/2014/main" id="{97CD5217-5C2C-0B10-C40C-329A96DB3C85}"/>
              </a:ext>
            </a:extLst>
          </p:cNvPr>
          <p:cNvSpPr/>
          <p:nvPr/>
        </p:nvSpPr>
        <p:spPr>
          <a:xfrm>
            <a:off x="3630913" y="5149877"/>
            <a:ext cx="2038178" cy="801458"/>
          </a:xfrm>
          <a:prstGeom prst="rect">
            <a:avLst/>
          </a:prstGeom>
          <a:noFill/>
          <a:ln/>
        </p:spPr>
        <p:txBody>
          <a:bodyPr wrap="square" rtlCol="0" anchor="t"/>
          <a:lstStyle/>
          <a:p>
            <a:pPr algn="ctr"/>
            <a:r>
              <a:rPr lang="en-US" sz="710" i="1" dirty="0">
                <a:solidFill>
                  <a:srgbClr val="8A93A0"/>
                </a:solidFill>
                <a:latin typeface="맑은 고딕" pitchFamily="34" charset="0"/>
                <a:ea typeface="맑은 고딕" pitchFamily="34" charset="-122"/>
                <a:cs typeface="맑은 고딕" pitchFamily="34" charset="-120"/>
              </a:rPr>
              <a:t>TCA9548A 브레이크아웃 보드 사진</a:t>
            </a:r>
            <a:endParaRPr lang="en-US" sz="710" dirty="0"/>
          </a:p>
        </p:txBody>
      </p:sp>
      <p:sp>
        <p:nvSpPr>
          <p:cNvPr id="49" name="Shape 32">
            <a:extLst>
              <a:ext uri="{FF2B5EF4-FFF2-40B4-BE49-F238E27FC236}">
                <a16:creationId xmlns:a16="http://schemas.microsoft.com/office/drawing/2014/main" id="{0DC9228F-8AE2-9B83-17EF-6792A970E551}"/>
              </a:ext>
            </a:extLst>
          </p:cNvPr>
          <p:cNvSpPr/>
          <p:nvPr/>
        </p:nvSpPr>
        <p:spPr>
          <a:xfrm>
            <a:off x="6122598" y="1838489"/>
            <a:ext cx="2554238" cy="4300504"/>
          </a:xfrm>
          <a:prstGeom prst="roundRect">
            <a:avLst>
              <a:gd name="adj" fmla="val 2143"/>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51" name="Text 33">
            <a:extLst>
              <a:ext uri="{FF2B5EF4-FFF2-40B4-BE49-F238E27FC236}">
                <a16:creationId xmlns:a16="http://schemas.microsoft.com/office/drawing/2014/main" id="{52384364-F439-5485-3E53-541C29E81B4B}"/>
              </a:ext>
            </a:extLst>
          </p:cNvPr>
          <p:cNvSpPr/>
          <p:nvPr/>
        </p:nvSpPr>
        <p:spPr>
          <a:xfrm>
            <a:off x="6263342" y="1963594"/>
            <a:ext cx="2272751" cy="312764"/>
          </a:xfrm>
          <a:prstGeom prst="rect">
            <a:avLst/>
          </a:prstGeom>
          <a:noFill/>
          <a:ln/>
        </p:spPr>
        <p:txBody>
          <a:bodyPr wrap="square" rtlCol="0" anchor="ctr"/>
          <a:lstStyle/>
          <a:p>
            <a:r>
              <a:rPr lang="en-US" sz="1112" b="1" dirty="0">
                <a:solidFill>
                  <a:srgbClr val="3B5BA7"/>
                </a:solidFill>
                <a:latin typeface="맑은 고딕" pitchFamily="34" charset="0"/>
                <a:ea typeface="맑은 고딕" pitchFamily="34" charset="-122"/>
                <a:cs typeface="맑은 고딕" pitchFamily="34" charset="-120"/>
              </a:rPr>
              <a:t>ADS1115</a:t>
            </a:r>
            <a:endParaRPr lang="en-US" sz="1112" dirty="0"/>
          </a:p>
        </p:txBody>
      </p:sp>
      <p:sp>
        <p:nvSpPr>
          <p:cNvPr id="53" name="Text 34">
            <a:extLst>
              <a:ext uri="{FF2B5EF4-FFF2-40B4-BE49-F238E27FC236}">
                <a16:creationId xmlns:a16="http://schemas.microsoft.com/office/drawing/2014/main" id="{DE5BDC3C-EA78-FB00-087E-B96FC96E2BC6}"/>
              </a:ext>
            </a:extLst>
          </p:cNvPr>
          <p:cNvSpPr/>
          <p:nvPr/>
        </p:nvSpPr>
        <p:spPr>
          <a:xfrm>
            <a:off x="6263342" y="2268539"/>
            <a:ext cx="2272751" cy="218934"/>
          </a:xfrm>
          <a:prstGeom prst="rect">
            <a:avLst/>
          </a:prstGeom>
          <a:noFill/>
          <a:ln/>
        </p:spPr>
        <p:txBody>
          <a:bodyPr wrap="square" rtlCol="0" anchor="ctr"/>
          <a:lstStyle/>
          <a:p>
            <a:r>
              <a:rPr lang="en-US" sz="812" dirty="0">
                <a:solidFill>
                  <a:srgbClr val="64748B"/>
                </a:solidFill>
                <a:latin typeface="맑은 고딕" pitchFamily="34" charset="0"/>
                <a:ea typeface="맑은 고딕" pitchFamily="34" charset="-122"/>
                <a:cs typeface="맑은 고딕" pitchFamily="34" charset="-120"/>
              </a:rPr>
              <a:t>16bit 4채널 ADC · 2개(블록당 1개)</a:t>
            </a:r>
            <a:endParaRPr lang="en-US" sz="812" dirty="0"/>
          </a:p>
        </p:txBody>
      </p:sp>
      <p:sp>
        <p:nvSpPr>
          <p:cNvPr id="55" name="Text 35">
            <a:extLst>
              <a:ext uri="{FF2B5EF4-FFF2-40B4-BE49-F238E27FC236}">
                <a16:creationId xmlns:a16="http://schemas.microsoft.com/office/drawing/2014/main" id="{1E095C8E-1057-3210-EB36-9F27E095BFA2}"/>
              </a:ext>
            </a:extLst>
          </p:cNvPr>
          <p:cNvSpPr/>
          <p:nvPr/>
        </p:nvSpPr>
        <p:spPr>
          <a:xfrm>
            <a:off x="6263342" y="2557846"/>
            <a:ext cx="2272751" cy="1290151"/>
          </a:xfrm>
          <a:prstGeom prst="rect">
            <a:avLst/>
          </a:prstGeom>
          <a:noFill/>
          <a:ln/>
        </p:spPr>
        <p:txBody>
          <a:bodyPr wrap="square" rtlCol="0" anchor="t"/>
          <a:lstStyle/>
          <a:p>
            <a:pPr>
              <a:lnSpc>
                <a:spcPct val="120000"/>
              </a:lnSpc>
            </a:pPr>
            <a:r>
              <a:rPr lang="en-US" sz="855" dirty="0">
                <a:solidFill>
                  <a:srgbClr val="1E293B"/>
                </a:solidFill>
                <a:latin typeface="맑은 고딕" pitchFamily="34" charset="0"/>
                <a:ea typeface="맑은 고딕" pitchFamily="34" charset="-122"/>
                <a:cs typeface="맑은 고딕" pitchFamily="34" charset="-120"/>
              </a:rPr>
              <a:t>MQ-2 · MiCS-5524 · FSR-406 · 피에조 등 아날로그 출력 센서 4종을 I2C로 브리지. 블록당 정확히 4채널을 소진하도록 센서 구성을 맞췄다.</a:t>
            </a:r>
            <a:endParaRPr lang="en-US" sz="855" dirty="0"/>
          </a:p>
        </p:txBody>
      </p:sp>
      <p:sp>
        <p:nvSpPr>
          <p:cNvPr id="57" name="Shape 36">
            <a:extLst>
              <a:ext uri="{FF2B5EF4-FFF2-40B4-BE49-F238E27FC236}">
                <a16:creationId xmlns:a16="http://schemas.microsoft.com/office/drawing/2014/main" id="{42F477A8-A93D-C3CD-15A8-FF34F24D492B}"/>
              </a:ext>
            </a:extLst>
          </p:cNvPr>
          <p:cNvSpPr/>
          <p:nvPr/>
        </p:nvSpPr>
        <p:spPr>
          <a:xfrm>
            <a:off x="6263342" y="3910550"/>
            <a:ext cx="2272751" cy="2072061"/>
          </a:xfrm>
          <a:prstGeom prst="roundRect">
            <a:avLst>
              <a:gd name="adj" fmla="val 2264"/>
            </a:avLst>
          </a:prstGeom>
          <a:solidFill>
            <a:srgbClr val="FBFBFA"/>
          </a:solidFill>
          <a:ln w="12700">
            <a:solidFill>
              <a:srgbClr val="B9C2CB"/>
            </a:solidFill>
            <a:prstDash val="dash"/>
          </a:ln>
        </p:spPr>
        <p:txBody>
          <a:bodyPr/>
          <a:lstStyle/>
          <a:p>
            <a:endParaRPr lang="ko-KR" altLang="en-US" sz="1634"/>
          </a:p>
        </p:txBody>
      </p:sp>
      <p:sp>
        <p:nvSpPr>
          <p:cNvPr id="59" name="Shape 37">
            <a:extLst>
              <a:ext uri="{FF2B5EF4-FFF2-40B4-BE49-F238E27FC236}">
                <a16:creationId xmlns:a16="http://schemas.microsoft.com/office/drawing/2014/main" id="{CBB8AFA4-B666-AC45-CB81-6FFB97FDED0C}"/>
              </a:ext>
            </a:extLst>
          </p:cNvPr>
          <p:cNvSpPr/>
          <p:nvPr/>
        </p:nvSpPr>
        <p:spPr>
          <a:xfrm>
            <a:off x="7180785" y="4618178"/>
            <a:ext cx="437870" cy="312764"/>
          </a:xfrm>
          <a:prstGeom prst="roundRect">
            <a:avLst>
              <a:gd name="adj" fmla="val 10000"/>
            </a:avLst>
          </a:prstGeom>
          <a:solidFill>
            <a:srgbClr val="E7EBEE"/>
          </a:solidFill>
          <a:ln w="12700">
            <a:solidFill>
              <a:srgbClr val="B9C2CB"/>
            </a:solidFill>
            <a:prstDash val="solid"/>
          </a:ln>
        </p:spPr>
        <p:txBody>
          <a:bodyPr/>
          <a:lstStyle/>
          <a:p>
            <a:endParaRPr lang="ko-KR" altLang="en-US" sz="1634"/>
          </a:p>
        </p:txBody>
      </p:sp>
      <p:sp>
        <p:nvSpPr>
          <p:cNvPr id="61" name="Shape 38">
            <a:extLst>
              <a:ext uri="{FF2B5EF4-FFF2-40B4-BE49-F238E27FC236}">
                <a16:creationId xmlns:a16="http://schemas.microsoft.com/office/drawing/2014/main" id="{20CD7610-A935-FF2F-B4F0-E1316B04CA8D}"/>
              </a:ext>
            </a:extLst>
          </p:cNvPr>
          <p:cNvSpPr/>
          <p:nvPr/>
        </p:nvSpPr>
        <p:spPr>
          <a:xfrm>
            <a:off x="7266795" y="4688553"/>
            <a:ext cx="78191" cy="78191"/>
          </a:xfrm>
          <a:prstGeom prst="ellipse">
            <a:avLst/>
          </a:prstGeom>
          <a:solidFill>
            <a:srgbClr val="C9D1D8"/>
          </a:solidFill>
          <a:ln/>
        </p:spPr>
        <p:txBody>
          <a:bodyPr/>
          <a:lstStyle/>
          <a:p>
            <a:endParaRPr lang="ko-KR" altLang="en-US" sz="1634"/>
          </a:p>
        </p:txBody>
      </p:sp>
      <p:sp>
        <p:nvSpPr>
          <p:cNvPr id="63" name="Shape 39">
            <a:extLst>
              <a:ext uri="{FF2B5EF4-FFF2-40B4-BE49-F238E27FC236}">
                <a16:creationId xmlns:a16="http://schemas.microsoft.com/office/drawing/2014/main" id="{2E848069-542C-A63E-2905-5798301274A3}"/>
              </a:ext>
            </a:extLst>
          </p:cNvPr>
          <p:cNvSpPr/>
          <p:nvPr/>
        </p:nvSpPr>
        <p:spPr>
          <a:xfrm>
            <a:off x="7212062" y="4868389"/>
            <a:ext cx="390955" cy="0"/>
          </a:xfrm>
          <a:prstGeom prst="line">
            <a:avLst/>
          </a:prstGeom>
          <a:noFill/>
          <a:ln w="15240">
            <a:solidFill>
              <a:srgbClr val="C9D1D8"/>
            </a:solidFill>
            <a:prstDash val="solid"/>
          </a:ln>
        </p:spPr>
        <p:txBody>
          <a:bodyPr/>
          <a:lstStyle/>
          <a:p>
            <a:endParaRPr lang="ko-KR" altLang="en-US" sz="1634"/>
          </a:p>
        </p:txBody>
      </p:sp>
      <p:sp>
        <p:nvSpPr>
          <p:cNvPr id="65" name="Text 40">
            <a:extLst>
              <a:ext uri="{FF2B5EF4-FFF2-40B4-BE49-F238E27FC236}">
                <a16:creationId xmlns:a16="http://schemas.microsoft.com/office/drawing/2014/main" id="{7D1949F0-DF0C-BE6D-032E-70053F63291A}"/>
              </a:ext>
            </a:extLst>
          </p:cNvPr>
          <p:cNvSpPr/>
          <p:nvPr/>
        </p:nvSpPr>
        <p:spPr>
          <a:xfrm>
            <a:off x="6263342" y="4962221"/>
            <a:ext cx="2272751" cy="195477"/>
          </a:xfrm>
          <a:prstGeom prst="rect">
            <a:avLst/>
          </a:prstGeom>
          <a:noFill/>
          <a:ln/>
        </p:spPr>
        <p:txBody>
          <a:bodyPr wrap="square" rtlCol="0" anchor="ctr"/>
          <a:lstStyle/>
          <a:p>
            <a:pPr algn="ctr"/>
            <a:r>
              <a:rPr lang="en-US" sz="812" b="1" dirty="0">
                <a:solidFill>
                  <a:srgbClr val="8A93A0"/>
                </a:solidFill>
                <a:latin typeface="맑은 고딕" pitchFamily="34" charset="0"/>
                <a:ea typeface="맑은 고딕" pitchFamily="34" charset="-122"/>
                <a:cs typeface="맑은 고딕" pitchFamily="34" charset="-120"/>
              </a:rPr>
              <a:t>사진 삽입</a:t>
            </a:r>
            <a:endParaRPr lang="en-US" sz="812" dirty="0"/>
          </a:p>
        </p:txBody>
      </p:sp>
      <p:sp>
        <p:nvSpPr>
          <p:cNvPr id="67" name="Text 41">
            <a:extLst>
              <a:ext uri="{FF2B5EF4-FFF2-40B4-BE49-F238E27FC236}">
                <a16:creationId xmlns:a16="http://schemas.microsoft.com/office/drawing/2014/main" id="{81E0AC89-12DE-9444-DD54-14A76FB21034}"/>
              </a:ext>
            </a:extLst>
          </p:cNvPr>
          <p:cNvSpPr/>
          <p:nvPr/>
        </p:nvSpPr>
        <p:spPr>
          <a:xfrm>
            <a:off x="6380628" y="5149877"/>
            <a:ext cx="2038178" cy="801458"/>
          </a:xfrm>
          <a:prstGeom prst="rect">
            <a:avLst/>
          </a:prstGeom>
          <a:noFill/>
          <a:ln/>
        </p:spPr>
        <p:txBody>
          <a:bodyPr wrap="square" rtlCol="0" anchor="t"/>
          <a:lstStyle/>
          <a:p>
            <a:pPr algn="ctr"/>
            <a:r>
              <a:rPr lang="en-US" sz="710" i="1" dirty="0">
                <a:solidFill>
                  <a:srgbClr val="8A93A0"/>
                </a:solidFill>
                <a:latin typeface="맑은 고딕" pitchFamily="34" charset="0"/>
                <a:ea typeface="맑은 고딕" pitchFamily="34" charset="-122"/>
                <a:cs typeface="맑은 고딕" pitchFamily="34" charset="-120"/>
              </a:rPr>
              <a:t>ADS1115 브레이크아웃 보드 사진</a:t>
            </a:r>
            <a:endParaRPr lang="en-US" sz="710" dirty="0"/>
          </a:p>
        </p:txBody>
      </p:sp>
      <p:pic>
        <p:nvPicPr>
          <p:cNvPr id="69" name="Picture 1">
            <a:extLst>
              <a:ext uri="{FF2B5EF4-FFF2-40B4-BE49-F238E27FC236}">
                <a16:creationId xmlns:a16="http://schemas.microsoft.com/office/drawing/2014/main" id="{C248BA81-8555-0F07-98BE-886881D2BA47}"/>
              </a:ext>
            </a:extLst>
          </p:cNvPr>
          <p:cNvPicPr>
            <a:picLocks noChangeAspect="1"/>
          </p:cNvPicPr>
          <p:nvPr/>
        </p:nvPicPr>
        <p:blipFill>
          <a:blip r:embed="rId5"/>
          <a:stretch>
            <a:fillRect/>
          </a:stretch>
        </p:blipFill>
        <p:spPr>
          <a:xfrm>
            <a:off x="774338" y="3931915"/>
            <a:ext cx="2262325" cy="2050699"/>
          </a:xfrm>
          <a:prstGeom prst="rect">
            <a:avLst/>
          </a:prstGeom>
          <a:noFill/>
          <a:ln>
            <a:noFill/>
          </a:ln>
          <a:effectLst/>
        </p:spPr>
      </p:pic>
      <p:pic>
        <p:nvPicPr>
          <p:cNvPr id="71" name="Picture 3">
            <a:extLst>
              <a:ext uri="{FF2B5EF4-FFF2-40B4-BE49-F238E27FC236}">
                <a16:creationId xmlns:a16="http://schemas.microsoft.com/office/drawing/2014/main" id="{57B5B398-1BFF-3097-E823-5FF3E88A8F84}"/>
              </a:ext>
            </a:extLst>
          </p:cNvPr>
          <p:cNvPicPr>
            <a:picLocks noChangeAspect="1"/>
          </p:cNvPicPr>
          <p:nvPr/>
        </p:nvPicPr>
        <p:blipFill>
          <a:blip r:embed="rId6"/>
          <a:stretch>
            <a:fillRect/>
          </a:stretch>
        </p:blipFill>
        <p:spPr>
          <a:xfrm rot="5400000">
            <a:off x="3656689" y="3834675"/>
            <a:ext cx="2023021" cy="2272860"/>
          </a:xfrm>
          <a:prstGeom prst="rect">
            <a:avLst/>
          </a:prstGeom>
          <a:noFill/>
          <a:ln>
            <a:noFill/>
          </a:ln>
          <a:effectLst/>
        </p:spPr>
      </p:pic>
      <p:sp>
        <p:nvSpPr>
          <p:cNvPr id="73" name="Rectangle 4">
            <a:extLst>
              <a:ext uri="{FF2B5EF4-FFF2-40B4-BE49-F238E27FC236}">
                <a16:creationId xmlns:a16="http://schemas.microsoft.com/office/drawing/2014/main" id="{5A24CE22-0F19-596E-CCAF-E2DD2282D999}"/>
              </a:ext>
            </a:extLst>
          </p:cNvPr>
          <p:cNvSpPr>
            <a:spLocks noChangeArrowheads="1"/>
          </p:cNvSpPr>
          <p:nvPr/>
        </p:nvSpPr>
        <p:spPr bwMode="auto">
          <a:xfrm>
            <a:off x="6295033" y="3581889"/>
            <a:ext cx="157974" cy="330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8191" tIns="39096" rIns="78191" bIns="39096" numCol="1" anchor="ctr" anchorCtr="0" compatLnSpc="1">
            <a:prstTxWarp prst="textNoShape">
              <a:avLst/>
            </a:prstTxWarp>
            <a:spAutoFit/>
          </a:bodyPr>
          <a:lstStyle/>
          <a:p>
            <a:endParaRPr lang="ko-KR" altLang="en-US" sz="1634"/>
          </a:p>
        </p:txBody>
      </p:sp>
      <p:pic>
        <p:nvPicPr>
          <p:cNvPr id="75" name="_x491034400">
            <a:extLst>
              <a:ext uri="{FF2B5EF4-FFF2-40B4-BE49-F238E27FC236}">
                <a16:creationId xmlns:a16="http://schemas.microsoft.com/office/drawing/2014/main" id="{0FD2ED36-3F2F-DCFB-D96E-BED71BC5AEBB}"/>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295026" y="3942584"/>
            <a:ext cx="2167900" cy="2008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18199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A91EB-AC93-D83B-3338-5AD92E08282F}"/>
            </a:ext>
          </a:extLst>
        </p:cNvPr>
        <p:cNvGrpSpPr/>
        <p:nvPr/>
      </p:nvGrpSpPr>
      <p:grpSpPr>
        <a:xfrm>
          <a:off x="0" y="0"/>
          <a:ext cx="0" cy="0"/>
          <a:chOff x="0" y="0"/>
          <a:chExt cx="0" cy="0"/>
        </a:xfrm>
      </p:grpSpPr>
      <p:sp>
        <p:nvSpPr>
          <p:cNvPr id="74" name="직사각형 74"/>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5" name="직선 연결선 75"/>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76" name="직선 연결선 76"/>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77" name="제목 77"/>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부품 리스트</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78" name="막힌 원호 78"/>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4D6A4969-1CDF-067A-7AEF-D30068C4F8EF}"/>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A6291D41-C5D5-07F7-4D29-D8079167394C}"/>
              </a:ext>
            </a:extLst>
          </p:cNvPr>
          <p:cNvPicPr/>
          <p:nvPr/>
        </p:nvPicPr>
        <p:blipFill>
          <a:blip r:embed="rId4" cstate="print"/>
          <a:stretch>
            <a:fillRect/>
          </a:stretch>
        </p:blipFill>
        <p:spPr>
          <a:xfrm>
            <a:off x="7275128" y="314247"/>
            <a:ext cx="1325611" cy="307338"/>
          </a:xfrm>
          <a:prstGeom prst="rect">
            <a:avLst/>
          </a:prstGeom>
        </p:spPr>
      </p:pic>
      <p:sp>
        <p:nvSpPr>
          <p:cNvPr id="9" name="Shape 12">
            <a:extLst>
              <a:ext uri="{FF2B5EF4-FFF2-40B4-BE49-F238E27FC236}">
                <a16:creationId xmlns:a16="http://schemas.microsoft.com/office/drawing/2014/main" id="{BA56C048-A243-BF70-1499-5C1DBAEC91F5}"/>
              </a:ext>
            </a:extLst>
          </p:cNvPr>
          <p:cNvSpPr/>
          <p:nvPr/>
        </p:nvSpPr>
        <p:spPr>
          <a:xfrm>
            <a:off x="584261" y="1800021"/>
            <a:ext cx="2554238" cy="4300504"/>
          </a:xfrm>
          <a:prstGeom prst="roundRect">
            <a:avLst>
              <a:gd name="adj" fmla="val 2143"/>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11" name="Text 13">
            <a:extLst>
              <a:ext uri="{FF2B5EF4-FFF2-40B4-BE49-F238E27FC236}">
                <a16:creationId xmlns:a16="http://schemas.microsoft.com/office/drawing/2014/main" id="{B2D7D8D7-89E7-E5C4-B39B-64F3D4E4F237}"/>
              </a:ext>
            </a:extLst>
          </p:cNvPr>
          <p:cNvSpPr/>
          <p:nvPr/>
        </p:nvSpPr>
        <p:spPr>
          <a:xfrm>
            <a:off x="725004" y="1925126"/>
            <a:ext cx="2272751" cy="312764"/>
          </a:xfrm>
          <a:prstGeom prst="rect">
            <a:avLst/>
          </a:prstGeom>
          <a:noFill/>
          <a:ln/>
        </p:spPr>
        <p:txBody>
          <a:bodyPr wrap="square" rtlCol="0" anchor="ctr"/>
          <a:lstStyle/>
          <a:p>
            <a:r>
              <a:rPr lang="en-US" sz="1112" b="1" dirty="0">
                <a:solidFill>
                  <a:srgbClr val="3B5BA7"/>
                </a:solidFill>
                <a:latin typeface="맑은 고딕" pitchFamily="34" charset="0"/>
                <a:ea typeface="맑은 고딕" pitchFamily="34" charset="-122"/>
                <a:cs typeface="맑은 고딕" pitchFamily="34" charset="-120"/>
              </a:rPr>
              <a:t>BQ27441</a:t>
            </a:r>
            <a:endParaRPr lang="en-US" sz="1112" dirty="0"/>
          </a:p>
        </p:txBody>
      </p:sp>
      <p:sp>
        <p:nvSpPr>
          <p:cNvPr id="13" name="Text 14">
            <a:extLst>
              <a:ext uri="{FF2B5EF4-FFF2-40B4-BE49-F238E27FC236}">
                <a16:creationId xmlns:a16="http://schemas.microsoft.com/office/drawing/2014/main" id="{135160ED-0083-C487-1F42-EF57A76D4E88}"/>
              </a:ext>
            </a:extLst>
          </p:cNvPr>
          <p:cNvSpPr/>
          <p:nvPr/>
        </p:nvSpPr>
        <p:spPr>
          <a:xfrm>
            <a:off x="725004" y="2230072"/>
            <a:ext cx="2272751" cy="218934"/>
          </a:xfrm>
          <a:prstGeom prst="rect">
            <a:avLst/>
          </a:prstGeom>
          <a:noFill/>
          <a:ln/>
        </p:spPr>
        <p:txBody>
          <a:bodyPr wrap="square" rtlCol="0" anchor="ctr"/>
          <a:lstStyle/>
          <a:p>
            <a:r>
              <a:rPr lang="en-US" sz="812" dirty="0">
                <a:solidFill>
                  <a:srgbClr val="64748B"/>
                </a:solidFill>
                <a:latin typeface="맑은 고딕" pitchFamily="34" charset="0"/>
                <a:ea typeface="맑은 고딕" pitchFamily="34" charset="-122"/>
                <a:cs typeface="맑은 고딕" pitchFamily="34" charset="-120"/>
              </a:rPr>
              <a:t>퓨얼게이지 IC · 2개(모드1·2 전용)</a:t>
            </a:r>
            <a:endParaRPr lang="en-US" sz="812" dirty="0"/>
          </a:p>
        </p:txBody>
      </p:sp>
      <p:sp>
        <p:nvSpPr>
          <p:cNvPr id="15" name="Text 15">
            <a:extLst>
              <a:ext uri="{FF2B5EF4-FFF2-40B4-BE49-F238E27FC236}">
                <a16:creationId xmlns:a16="http://schemas.microsoft.com/office/drawing/2014/main" id="{747E4C3B-5B76-7F0D-7C12-692AFEF9B225}"/>
              </a:ext>
            </a:extLst>
          </p:cNvPr>
          <p:cNvSpPr/>
          <p:nvPr/>
        </p:nvSpPr>
        <p:spPr>
          <a:xfrm>
            <a:off x="725004" y="2519378"/>
            <a:ext cx="2272751" cy="1290151"/>
          </a:xfrm>
          <a:prstGeom prst="rect">
            <a:avLst/>
          </a:prstGeom>
          <a:noFill/>
          <a:ln/>
        </p:spPr>
        <p:txBody>
          <a:bodyPr wrap="square" rtlCol="0" anchor="t"/>
          <a:lstStyle/>
          <a:p>
            <a:pPr>
              <a:lnSpc>
                <a:spcPct val="120000"/>
              </a:lnSpc>
            </a:pPr>
            <a:r>
              <a:rPr lang="en-US" sz="855" dirty="0">
                <a:solidFill>
                  <a:srgbClr val="1E293B"/>
                </a:solidFill>
                <a:latin typeface="맑은 고딕" pitchFamily="34" charset="0"/>
                <a:ea typeface="맑은 고딕" pitchFamily="34" charset="-122"/>
                <a:cs typeface="맑은 고딕" pitchFamily="34" charset="-120"/>
              </a:rPr>
              <a:t>전압 · 전류 · SOC를 실시간 추적하는 정밀 퓨얼게이지. VBATT+/− 가 배터리 단자에 직결되어 항상 전압을 감지하며, 내부 션트로 충/방전 전류를 계측한다.</a:t>
            </a:r>
            <a:endParaRPr lang="en-US" sz="855" dirty="0"/>
          </a:p>
        </p:txBody>
      </p:sp>
      <p:sp>
        <p:nvSpPr>
          <p:cNvPr id="17" name="Shape 16">
            <a:extLst>
              <a:ext uri="{FF2B5EF4-FFF2-40B4-BE49-F238E27FC236}">
                <a16:creationId xmlns:a16="http://schemas.microsoft.com/office/drawing/2014/main" id="{014ED2CB-85E9-A6DE-0E18-D16E964CA6BB}"/>
              </a:ext>
            </a:extLst>
          </p:cNvPr>
          <p:cNvSpPr/>
          <p:nvPr/>
        </p:nvSpPr>
        <p:spPr>
          <a:xfrm>
            <a:off x="725004" y="3872083"/>
            <a:ext cx="2272751" cy="2072061"/>
          </a:xfrm>
          <a:prstGeom prst="roundRect">
            <a:avLst>
              <a:gd name="adj" fmla="val 2264"/>
            </a:avLst>
          </a:prstGeom>
          <a:solidFill>
            <a:srgbClr val="FBFBFA"/>
          </a:solidFill>
          <a:ln w="12700">
            <a:solidFill>
              <a:srgbClr val="B9C2CB"/>
            </a:solidFill>
            <a:prstDash val="dash"/>
          </a:ln>
        </p:spPr>
        <p:txBody>
          <a:bodyPr/>
          <a:lstStyle/>
          <a:p>
            <a:endParaRPr lang="ko-KR" altLang="en-US" sz="1634"/>
          </a:p>
        </p:txBody>
      </p:sp>
      <p:sp>
        <p:nvSpPr>
          <p:cNvPr id="19" name="Shape 17">
            <a:extLst>
              <a:ext uri="{FF2B5EF4-FFF2-40B4-BE49-F238E27FC236}">
                <a16:creationId xmlns:a16="http://schemas.microsoft.com/office/drawing/2014/main" id="{AAB947CA-5ED7-2B95-172C-CA94DF073FA8}"/>
              </a:ext>
            </a:extLst>
          </p:cNvPr>
          <p:cNvSpPr/>
          <p:nvPr/>
        </p:nvSpPr>
        <p:spPr>
          <a:xfrm>
            <a:off x="1642445" y="4579711"/>
            <a:ext cx="437870" cy="312764"/>
          </a:xfrm>
          <a:prstGeom prst="roundRect">
            <a:avLst>
              <a:gd name="adj" fmla="val 10000"/>
            </a:avLst>
          </a:prstGeom>
          <a:solidFill>
            <a:srgbClr val="E7EBEE"/>
          </a:solidFill>
          <a:ln w="12700">
            <a:solidFill>
              <a:srgbClr val="B9C2CB"/>
            </a:solidFill>
            <a:prstDash val="solid"/>
          </a:ln>
        </p:spPr>
        <p:txBody>
          <a:bodyPr/>
          <a:lstStyle/>
          <a:p>
            <a:endParaRPr lang="ko-KR" altLang="en-US" sz="1634"/>
          </a:p>
        </p:txBody>
      </p:sp>
      <p:sp>
        <p:nvSpPr>
          <p:cNvPr id="21" name="Shape 18">
            <a:extLst>
              <a:ext uri="{FF2B5EF4-FFF2-40B4-BE49-F238E27FC236}">
                <a16:creationId xmlns:a16="http://schemas.microsoft.com/office/drawing/2014/main" id="{780D3315-C5CE-289F-AA0D-DEA0D388786A}"/>
              </a:ext>
            </a:extLst>
          </p:cNvPr>
          <p:cNvSpPr/>
          <p:nvPr/>
        </p:nvSpPr>
        <p:spPr>
          <a:xfrm>
            <a:off x="1728455" y="4650085"/>
            <a:ext cx="78191" cy="78191"/>
          </a:xfrm>
          <a:prstGeom prst="ellipse">
            <a:avLst/>
          </a:prstGeom>
          <a:solidFill>
            <a:srgbClr val="C9D1D8"/>
          </a:solidFill>
          <a:ln/>
        </p:spPr>
        <p:txBody>
          <a:bodyPr/>
          <a:lstStyle/>
          <a:p>
            <a:endParaRPr lang="ko-KR" altLang="en-US" sz="1634"/>
          </a:p>
        </p:txBody>
      </p:sp>
      <p:sp>
        <p:nvSpPr>
          <p:cNvPr id="23" name="Shape 19">
            <a:extLst>
              <a:ext uri="{FF2B5EF4-FFF2-40B4-BE49-F238E27FC236}">
                <a16:creationId xmlns:a16="http://schemas.microsoft.com/office/drawing/2014/main" id="{F13E7508-3C5E-3A66-E4A3-738A5B0E20CC}"/>
              </a:ext>
            </a:extLst>
          </p:cNvPr>
          <p:cNvSpPr/>
          <p:nvPr/>
        </p:nvSpPr>
        <p:spPr>
          <a:xfrm>
            <a:off x="1673721" y="4829921"/>
            <a:ext cx="390955" cy="0"/>
          </a:xfrm>
          <a:prstGeom prst="line">
            <a:avLst/>
          </a:prstGeom>
          <a:noFill/>
          <a:ln w="15240">
            <a:solidFill>
              <a:srgbClr val="C9D1D8"/>
            </a:solidFill>
            <a:prstDash val="solid"/>
          </a:ln>
        </p:spPr>
        <p:txBody>
          <a:bodyPr/>
          <a:lstStyle/>
          <a:p>
            <a:endParaRPr lang="ko-KR" altLang="en-US" sz="1634"/>
          </a:p>
        </p:txBody>
      </p:sp>
      <p:sp>
        <p:nvSpPr>
          <p:cNvPr id="25" name="Text 20">
            <a:extLst>
              <a:ext uri="{FF2B5EF4-FFF2-40B4-BE49-F238E27FC236}">
                <a16:creationId xmlns:a16="http://schemas.microsoft.com/office/drawing/2014/main" id="{0688FC17-DBA0-5170-F6CD-AEC2F2B6D283}"/>
              </a:ext>
            </a:extLst>
          </p:cNvPr>
          <p:cNvSpPr/>
          <p:nvPr/>
        </p:nvSpPr>
        <p:spPr>
          <a:xfrm>
            <a:off x="725004" y="4923753"/>
            <a:ext cx="2272751" cy="195477"/>
          </a:xfrm>
          <a:prstGeom prst="rect">
            <a:avLst/>
          </a:prstGeom>
          <a:noFill/>
          <a:ln/>
        </p:spPr>
        <p:txBody>
          <a:bodyPr wrap="square" rtlCol="0" anchor="ctr"/>
          <a:lstStyle/>
          <a:p>
            <a:pPr algn="ctr"/>
            <a:r>
              <a:rPr lang="en-US" sz="812" b="1" dirty="0">
                <a:solidFill>
                  <a:srgbClr val="8A93A0"/>
                </a:solidFill>
                <a:latin typeface="맑은 고딕" pitchFamily="34" charset="0"/>
                <a:ea typeface="맑은 고딕" pitchFamily="34" charset="-122"/>
                <a:cs typeface="맑은 고딕" pitchFamily="34" charset="-120"/>
              </a:rPr>
              <a:t>사진 삽입</a:t>
            </a:r>
            <a:endParaRPr lang="en-US" sz="812" dirty="0"/>
          </a:p>
        </p:txBody>
      </p:sp>
      <p:sp>
        <p:nvSpPr>
          <p:cNvPr id="27" name="Text 21">
            <a:extLst>
              <a:ext uri="{FF2B5EF4-FFF2-40B4-BE49-F238E27FC236}">
                <a16:creationId xmlns:a16="http://schemas.microsoft.com/office/drawing/2014/main" id="{967DAD24-12E7-6706-9C07-3616F2F245AF}"/>
              </a:ext>
            </a:extLst>
          </p:cNvPr>
          <p:cNvSpPr/>
          <p:nvPr/>
        </p:nvSpPr>
        <p:spPr>
          <a:xfrm>
            <a:off x="842291" y="5111409"/>
            <a:ext cx="2038178" cy="801458"/>
          </a:xfrm>
          <a:prstGeom prst="rect">
            <a:avLst/>
          </a:prstGeom>
          <a:noFill/>
          <a:ln/>
        </p:spPr>
        <p:txBody>
          <a:bodyPr wrap="square" rtlCol="0" anchor="t"/>
          <a:lstStyle/>
          <a:p>
            <a:pPr algn="ctr"/>
            <a:r>
              <a:rPr lang="en-US" sz="710" i="1" dirty="0">
                <a:solidFill>
                  <a:srgbClr val="8A93A0"/>
                </a:solidFill>
                <a:latin typeface="맑은 고딕" pitchFamily="34" charset="0"/>
                <a:ea typeface="맑은 고딕" pitchFamily="34" charset="-122"/>
                <a:cs typeface="맑은 고딕" pitchFamily="34" charset="-120"/>
              </a:rPr>
              <a:t>BQ27441 Battery Babysitter 보드 사진</a:t>
            </a:r>
            <a:endParaRPr lang="en-US" sz="710" dirty="0"/>
          </a:p>
        </p:txBody>
      </p:sp>
      <p:sp>
        <p:nvSpPr>
          <p:cNvPr id="29" name="Shape 22">
            <a:extLst>
              <a:ext uri="{FF2B5EF4-FFF2-40B4-BE49-F238E27FC236}">
                <a16:creationId xmlns:a16="http://schemas.microsoft.com/office/drawing/2014/main" id="{723B463E-949E-7836-C7C5-8CBD401D7E4C}"/>
              </a:ext>
            </a:extLst>
          </p:cNvPr>
          <p:cNvSpPr/>
          <p:nvPr/>
        </p:nvSpPr>
        <p:spPr>
          <a:xfrm>
            <a:off x="3333977" y="1800021"/>
            <a:ext cx="2554238" cy="4300504"/>
          </a:xfrm>
          <a:prstGeom prst="roundRect">
            <a:avLst>
              <a:gd name="adj" fmla="val 2143"/>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31" name="Text 23">
            <a:extLst>
              <a:ext uri="{FF2B5EF4-FFF2-40B4-BE49-F238E27FC236}">
                <a16:creationId xmlns:a16="http://schemas.microsoft.com/office/drawing/2014/main" id="{5E4B1AED-EAA3-0934-3AEF-1F6004195428}"/>
              </a:ext>
            </a:extLst>
          </p:cNvPr>
          <p:cNvSpPr/>
          <p:nvPr/>
        </p:nvSpPr>
        <p:spPr>
          <a:xfrm>
            <a:off x="3474720" y="1925126"/>
            <a:ext cx="2272751" cy="312764"/>
          </a:xfrm>
          <a:prstGeom prst="rect">
            <a:avLst/>
          </a:prstGeom>
          <a:noFill/>
          <a:ln/>
        </p:spPr>
        <p:txBody>
          <a:bodyPr wrap="square" rtlCol="0" anchor="ctr"/>
          <a:lstStyle/>
          <a:p>
            <a:r>
              <a:rPr lang="en-US" sz="1112" b="1" dirty="0">
                <a:solidFill>
                  <a:srgbClr val="3B5BA7"/>
                </a:solidFill>
                <a:latin typeface="맑은 고딕" pitchFamily="34" charset="0"/>
                <a:ea typeface="맑은 고딕" pitchFamily="34" charset="-122"/>
                <a:cs typeface="맑은 고딕" pitchFamily="34" charset="-120"/>
              </a:rPr>
              <a:t>INA226</a:t>
            </a:r>
            <a:endParaRPr lang="en-US" sz="1112" dirty="0"/>
          </a:p>
        </p:txBody>
      </p:sp>
      <p:sp>
        <p:nvSpPr>
          <p:cNvPr id="33" name="Text 24">
            <a:extLst>
              <a:ext uri="{FF2B5EF4-FFF2-40B4-BE49-F238E27FC236}">
                <a16:creationId xmlns:a16="http://schemas.microsoft.com/office/drawing/2014/main" id="{4AC2D6F2-E755-0340-6189-676B66AF6DCA}"/>
              </a:ext>
            </a:extLst>
          </p:cNvPr>
          <p:cNvSpPr/>
          <p:nvPr/>
        </p:nvSpPr>
        <p:spPr>
          <a:xfrm>
            <a:off x="3474720" y="2230072"/>
            <a:ext cx="2272751" cy="218934"/>
          </a:xfrm>
          <a:prstGeom prst="rect">
            <a:avLst/>
          </a:prstGeom>
          <a:noFill/>
          <a:ln/>
        </p:spPr>
        <p:txBody>
          <a:bodyPr wrap="square" rtlCol="0" anchor="ctr"/>
          <a:lstStyle/>
          <a:p>
            <a:r>
              <a:rPr lang="en-US" sz="812" dirty="0">
                <a:solidFill>
                  <a:srgbClr val="64748B"/>
                </a:solidFill>
                <a:latin typeface="맑은 고딕" pitchFamily="34" charset="0"/>
                <a:ea typeface="맑은 고딕" pitchFamily="34" charset="-122"/>
                <a:cs typeface="맑은 고딕" pitchFamily="34" charset="-120"/>
              </a:rPr>
              <a:t>전력 측정 센서 · 1개(모드3 전용)</a:t>
            </a:r>
            <a:endParaRPr lang="en-US" sz="812" dirty="0"/>
          </a:p>
        </p:txBody>
      </p:sp>
      <p:sp>
        <p:nvSpPr>
          <p:cNvPr id="35" name="Text 25">
            <a:extLst>
              <a:ext uri="{FF2B5EF4-FFF2-40B4-BE49-F238E27FC236}">
                <a16:creationId xmlns:a16="http://schemas.microsoft.com/office/drawing/2014/main" id="{7D9A82D3-177A-F80F-B845-11FD1F71414D}"/>
              </a:ext>
            </a:extLst>
          </p:cNvPr>
          <p:cNvSpPr/>
          <p:nvPr/>
        </p:nvSpPr>
        <p:spPr>
          <a:xfrm>
            <a:off x="3474720" y="2519378"/>
            <a:ext cx="2272751" cy="1290151"/>
          </a:xfrm>
          <a:prstGeom prst="rect">
            <a:avLst/>
          </a:prstGeom>
          <a:noFill/>
          <a:ln/>
        </p:spPr>
        <p:txBody>
          <a:bodyPr wrap="square" rtlCol="0" anchor="t"/>
          <a:lstStyle/>
          <a:p>
            <a:pPr>
              <a:lnSpc>
                <a:spcPct val="120000"/>
              </a:lnSpc>
            </a:pPr>
            <a:r>
              <a:rPr lang="en-US" sz="855" dirty="0">
                <a:solidFill>
                  <a:srgbClr val="1E293B"/>
                </a:solidFill>
                <a:latin typeface="맑은 고딕" pitchFamily="34" charset="0"/>
                <a:ea typeface="맑은 고딕" pitchFamily="34" charset="-122"/>
                <a:cs typeface="맑은 고딕" pitchFamily="34" charset="-120"/>
              </a:rPr>
              <a:t>완제품 보조배터리는 내부 회로에 접근할 수 없어 BQ27441 대신 채택. 16bit 고해상도로 외부 단자의 전압 · 전류 · 전력을 정밀 계측한다.</a:t>
            </a:r>
            <a:endParaRPr lang="en-US" sz="855" dirty="0"/>
          </a:p>
        </p:txBody>
      </p:sp>
      <p:sp>
        <p:nvSpPr>
          <p:cNvPr id="37" name="Shape 26">
            <a:extLst>
              <a:ext uri="{FF2B5EF4-FFF2-40B4-BE49-F238E27FC236}">
                <a16:creationId xmlns:a16="http://schemas.microsoft.com/office/drawing/2014/main" id="{9344AD37-C266-EE3D-0E97-06CB147B35D0}"/>
              </a:ext>
            </a:extLst>
          </p:cNvPr>
          <p:cNvSpPr/>
          <p:nvPr/>
        </p:nvSpPr>
        <p:spPr>
          <a:xfrm>
            <a:off x="3474720" y="3872083"/>
            <a:ext cx="2272751" cy="2072061"/>
          </a:xfrm>
          <a:prstGeom prst="roundRect">
            <a:avLst>
              <a:gd name="adj" fmla="val 2264"/>
            </a:avLst>
          </a:prstGeom>
          <a:solidFill>
            <a:srgbClr val="FBFBFA"/>
          </a:solidFill>
          <a:ln w="12700">
            <a:solidFill>
              <a:srgbClr val="B9C2CB"/>
            </a:solidFill>
            <a:prstDash val="dash"/>
          </a:ln>
        </p:spPr>
        <p:txBody>
          <a:bodyPr/>
          <a:lstStyle/>
          <a:p>
            <a:endParaRPr lang="ko-KR" altLang="en-US" sz="1634"/>
          </a:p>
        </p:txBody>
      </p:sp>
      <p:sp>
        <p:nvSpPr>
          <p:cNvPr id="39" name="Shape 27">
            <a:extLst>
              <a:ext uri="{FF2B5EF4-FFF2-40B4-BE49-F238E27FC236}">
                <a16:creationId xmlns:a16="http://schemas.microsoft.com/office/drawing/2014/main" id="{2D926BC6-86D5-EEF0-BA57-47778185D798}"/>
              </a:ext>
            </a:extLst>
          </p:cNvPr>
          <p:cNvSpPr/>
          <p:nvPr/>
        </p:nvSpPr>
        <p:spPr>
          <a:xfrm>
            <a:off x="4392161" y="4579711"/>
            <a:ext cx="437870" cy="312764"/>
          </a:xfrm>
          <a:prstGeom prst="roundRect">
            <a:avLst>
              <a:gd name="adj" fmla="val 10000"/>
            </a:avLst>
          </a:prstGeom>
          <a:solidFill>
            <a:srgbClr val="E7EBEE"/>
          </a:solidFill>
          <a:ln w="12700">
            <a:solidFill>
              <a:srgbClr val="B9C2CB"/>
            </a:solidFill>
            <a:prstDash val="solid"/>
          </a:ln>
        </p:spPr>
        <p:txBody>
          <a:bodyPr/>
          <a:lstStyle/>
          <a:p>
            <a:endParaRPr lang="ko-KR" altLang="en-US" sz="1634"/>
          </a:p>
        </p:txBody>
      </p:sp>
      <p:sp>
        <p:nvSpPr>
          <p:cNvPr id="41" name="Shape 28">
            <a:extLst>
              <a:ext uri="{FF2B5EF4-FFF2-40B4-BE49-F238E27FC236}">
                <a16:creationId xmlns:a16="http://schemas.microsoft.com/office/drawing/2014/main" id="{2FE0A461-16FE-CB74-AE88-7F8224D20B6C}"/>
              </a:ext>
            </a:extLst>
          </p:cNvPr>
          <p:cNvSpPr/>
          <p:nvPr/>
        </p:nvSpPr>
        <p:spPr>
          <a:xfrm>
            <a:off x="4478173" y="4650085"/>
            <a:ext cx="78191" cy="78191"/>
          </a:xfrm>
          <a:prstGeom prst="ellipse">
            <a:avLst/>
          </a:prstGeom>
          <a:solidFill>
            <a:srgbClr val="C9D1D8"/>
          </a:solidFill>
          <a:ln/>
        </p:spPr>
        <p:txBody>
          <a:bodyPr/>
          <a:lstStyle/>
          <a:p>
            <a:endParaRPr lang="ko-KR" altLang="en-US" sz="1634"/>
          </a:p>
        </p:txBody>
      </p:sp>
      <p:sp>
        <p:nvSpPr>
          <p:cNvPr id="43" name="Shape 29">
            <a:extLst>
              <a:ext uri="{FF2B5EF4-FFF2-40B4-BE49-F238E27FC236}">
                <a16:creationId xmlns:a16="http://schemas.microsoft.com/office/drawing/2014/main" id="{611909B9-C05D-D5BB-BC42-6D303E1C06D7}"/>
              </a:ext>
            </a:extLst>
          </p:cNvPr>
          <p:cNvSpPr/>
          <p:nvPr/>
        </p:nvSpPr>
        <p:spPr>
          <a:xfrm>
            <a:off x="4423437" y="4829921"/>
            <a:ext cx="390955" cy="0"/>
          </a:xfrm>
          <a:prstGeom prst="line">
            <a:avLst/>
          </a:prstGeom>
          <a:noFill/>
          <a:ln w="15240">
            <a:solidFill>
              <a:srgbClr val="C9D1D8"/>
            </a:solidFill>
            <a:prstDash val="solid"/>
          </a:ln>
        </p:spPr>
        <p:txBody>
          <a:bodyPr/>
          <a:lstStyle/>
          <a:p>
            <a:endParaRPr lang="ko-KR" altLang="en-US" sz="1634"/>
          </a:p>
        </p:txBody>
      </p:sp>
      <p:sp>
        <p:nvSpPr>
          <p:cNvPr id="45" name="Text 30">
            <a:extLst>
              <a:ext uri="{FF2B5EF4-FFF2-40B4-BE49-F238E27FC236}">
                <a16:creationId xmlns:a16="http://schemas.microsoft.com/office/drawing/2014/main" id="{A667583B-A349-1A5C-B24B-7BCD44EE4B51}"/>
              </a:ext>
            </a:extLst>
          </p:cNvPr>
          <p:cNvSpPr/>
          <p:nvPr/>
        </p:nvSpPr>
        <p:spPr>
          <a:xfrm>
            <a:off x="3474720" y="4923753"/>
            <a:ext cx="2272751" cy="195477"/>
          </a:xfrm>
          <a:prstGeom prst="rect">
            <a:avLst/>
          </a:prstGeom>
          <a:noFill/>
          <a:ln/>
        </p:spPr>
        <p:txBody>
          <a:bodyPr wrap="square" rtlCol="0" anchor="ctr"/>
          <a:lstStyle/>
          <a:p>
            <a:pPr algn="ctr"/>
            <a:r>
              <a:rPr lang="en-US" sz="812" b="1" dirty="0">
                <a:solidFill>
                  <a:srgbClr val="8A93A0"/>
                </a:solidFill>
                <a:latin typeface="맑은 고딕" pitchFamily="34" charset="0"/>
                <a:ea typeface="맑은 고딕" pitchFamily="34" charset="-122"/>
                <a:cs typeface="맑은 고딕" pitchFamily="34" charset="-120"/>
              </a:rPr>
              <a:t>사진 삽입</a:t>
            </a:r>
            <a:endParaRPr lang="en-US" sz="812" dirty="0"/>
          </a:p>
        </p:txBody>
      </p:sp>
      <p:sp>
        <p:nvSpPr>
          <p:cNvPr id="47" name="Text 31">
            <a:extLst>
              <a:ext uri="{FF2B5EF4-FFF2-40B4-BE49-F238E27FC236}">
                <a16:creationId xmlns:a16="http://schemas.microsoft.com/office/drawing/2014/main" id="{644E7D53-4DB4-5083-97B0-4CF17A8FD34D}"/>
              </a:ext>
            </a:extLst>
          </p:cNvPr>
          <p:cNvSpPr/>
          <p:nvPr/>
        </p:nvSpPr>
        <p:spPr>
          <a:xfrm>
            <a:off x="3592007" y="5111409"/>
            <a:ext cx="2038178" cy="801458"/>
          </a:xfrm>
          <a:prstGeom prst="rect">
            <a:avLst/>
          </a:prstGeom>
          <a:noFill/>
          <a:ln/>
        </p:spPr>
        <p:txBody>
          <a:bodyPr wrap="square" rtlCol="0" anchor="t"/>
          <a:lstStyle/>
          <a:p>
            <a:pPr algn="ctr"/>
            <a:r>
              <a:rPr lang="en-US" sz="710" i="1" dirty="0">
                <a:solidFill>
                  <a:srgbClr val="8A93A0"/>
                </a:solidFill>
                <a:latin typeface="맑은 고딕" pitchFamily="34" charset="0"/>
                <a:ea typeface="맑은 고딕" pitchFamily="34" charset="-122"/>
                <a:cs typeface="맑은 고딕" pitchFamily="34" charset="-120"/>
              </a:rPr>
              <a:t>INA226 브레이크아웃 보드 사진</a:t>
            </a:r>
            <a:endParaRPr lang="en-US" sz="710" dirty="0"/>
          </a:p>
        </p:txBody>
      </p:sp>
      <p:sp>
        <p:nvSpPr>
          <p:cNvPr id="49" name="Shape 32">
            <a:extLst>
              <a:ext uri="{FF2B5EF4-FFF2-40B4-BE49-F238E27FC236}">
                <a16:creationId xmlns:a16="http://schemas.microsoft.com/office/drawing/2014/main" id="{A8DF6427-596E-95B8-4886-296BA6609630}"/>
              </a:ext>
            </a:extLst>
          </p:cNvPr>
          <p:cNvSpPr/>
          <p:nvPr/>
        </p:nvSpPr>
        <p:spPr>
          <a:xfrm>
            <a:off x="6083692" y="1800021"/>
            <a:ext cx="2554238" cy="4300504"/>
          </a:xfrm>
          <a:prstGeom prst="roundRect">
            <a:avLst>
              <a:gd name="adj" fmla="val 2143"/>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51" name="Text 33">
            <a:extLst>
              <a:ext uri="{FF2B5EF4-FFF2-40B4-BE49-F238E27FC236}">
                <a16:creationId xmlns:a16="http://schemas.microsoft.com/office/drawing/2014/main" id="{07F6607A-957E-DAA3-1FDC-B45127F042E9}"/>
              </a:ext>
            </a:extLst>
          </p:cNvPr>
          <p:cNvSpPr/>
          <p:nvPr/>
        </p:nvSpPr>
        <p:spPr>
          <a:xfrm>
            <a:off x="6224436" y="1925126"/>
            <a:ext cx="2272751" cy="312764"/>
          </a:xfrm>
          <a:prstGeom prst="rect">
            <a:avLst/>
          </a:prstGeom>
          <a:noFill/>
          <a:ln/>
        </p:spPr>
        <p:txBody>
          <a:bodyPr wrap="square" rtlCol="0" anchor="ctr"/>
          <a:lstStyle/>
          <a:p>
            <a:r>
              <a:rPr lang="en-US" sz="1112" b="1" dirty="0">
                <a:solidFill>
                  <a:srgbClr val="3B5BA7"/>
                </a:solidFill>
                <a:latin typeface="맑은 고딕" pitchFamily="34" charset="0"/>
                <a:ea typeface="맑은 고딕" pitchFamily="34" charset="-122"/>
                <a:cs typeface="맑은 고딕" pitchFamily="34" charset="-120"/>
              </a:rPr>
              <a:t>DS18B20</a:t>
            </a:r>
            <a:endParaRPr lang="en-US" sz="1112" dirty="0"/>
          </a:p>
        </p:txBody>
      </p:sp>
      <p:sp>
        <p:nvSpPr>
          <p:cNvPr id="53" name="Text 34">
            <a:extLst>
              <a:ext uri="{FF2B5EF4-FFF2-40B4-BE49-F238E27FC236}">
                <a16:creationId xmlns:a16="http://schemas.microsoft.com/office/drawing/2014/main" id="{5BF6A43D-0212-3EA5-41EB-7E6660140C41}"/>
              </a:ext>
            </a:extLst>
          </p:cNvPr>
          <p:cNvSpPr/>
          <p:nvPr/>
        </p:nvSpPr>
        <p:spPr>
          <a:xfrm>
            <a:off x="6224436" y="2230072"/>
            <a:ext cx="2272751" cy="218934"/>
          </a:xfrm>
          <a:prstGeom prst="rect">
            <a:avLst/>
          </a:prstGeom>
          <a:noFill/>
          <a:ln/>
        </p:spPr>
        <p:txBody>
          <a:bodyPr wrap="square" rtlCol="0" anchor="ctr"/>
          <a:lstStyle/>
          <a:p>
            <a:r>
              <a:rPr lang="en-US" sz="812" dirty="0">
                <a:solidFill>
                  <a:srgbClr val="64748B"/>
                </a:solidFill>
                <a:latin typeface="맑은 고딕" pitchFamily="34" charset="0"/>
                <a:ea typeface="맑은 고딕" pitchFamily="34" charset="-122"/>
                <a:cs typeface="맑은 고딕" pitchFamily="34" charset="-120"/>
              </a:rPr>
              <a:t>접촉식 온도 센서 · 1개(모드1 전용)</a:t>
            </a:r>
            <a:endParaRPr lang="en-US" sz="812" dirty="0"/>
          </a:p>
        </p:txBody>
      </p:sp>
      <p:sp>
        <p:nvSpPr>
          <p:cNvPr id="55" name="Text 35">
            <a:extLst>
              <a:ext uri="{FF2B5EF4-FFF2-40B4-BE49-F238E27FC236}">
                <a16:creationId xmlns:a16="http://schemas.microsoft.com/office/drawing/2014/main" id="{A9288AFB-3959-C3C3-6529-9F269689BBE4}"/>
              </a:ext>
            </a:extLst>
          </p:cNvPr>
          <p:cNvSpPr/>
          <p:nvPr/>
        </p:nvSpPr>
        <p:spPr>
          <a:xfrm>
            <a:off x="6224436" y="2519378"/>
            <a:ext cx="2272751" cy="1290151"/>
          </a:xfrm>
          <a:prstGeom prst="rect">
            <a:avLst/>
          </a:prstGeom>
          <a:noFill/>
          <a:ln/>
        </p:spPr>
        <p:txBody>
          <a:bodyPr wrap="square" rtlCol="0" anchor="t"/>
          <a:lstStyle/>
          <a:p>
            <a:pPr>
              <a:lnSpc>
                <a:spcPct val="120000"/>
              </a:lnSpc>
            </a:pPr>
            <a:r>
              <a:rPr lang="en-US" sz="855" dirty="0">
                <a:solidFill>
                  <a:srgbClr val="1E293B"/>
                </a:solidFill>
                <a:latin typeface="맑은 고딕" pitchFamily="34" charset="0"/>
                <a:ea typeface="맑은 고딕" pitchFamily="34" charset="-122"/>
                <a:cs typeface="맑은 고딕" pitchFamily="34" charset="-120"/>
              </a:rPr>
              <a:t>내장 1셀 배터리 표면에 직접 밀착시켜 실시간 온도 변화를 지연 없이 포착하는 디지털 1-Wire 온도 센서.</a:t>
            </a:r>
            <a:endParaRPr lang="en-US" sz="855" dirty="0"/>
          </a:p>
        </p:txBody>
      </p:sp>
      <p:sp>
        <p:nvSpPr>
          <p:cNvPr id="57" name="Shape 36">
            <a:extLst>
              <a:ext uri="{FF2B5EF4-FFF2-40B4-BE49-F238E27FC236}">
                <a16:creationId xmlns:a16="http://schemas.microsoft.com/office/drawing/2014/main" id="{35422459-26F5-0AB9-E15B-BE40D9AD88EE}"/>
              </a:ext>
            </a:extLst>
          </p:cNvPr>
          <p:cNvSpPr/>
          <p:nvPr/>
        </p:nvSpPr>
        <p:spPr>
          <a:xfrm>
            <a:off x="6224436" y="3872083"/>
            <a:ext cx="2272751" cy="2072061"/>
          </a:xfrm>
          <a:prstGeom prst="roundRect">
            <a:avLst>
              <a:gd name="adj" fmla="val 2264"/>
            </a:avLst>
          </a:prstGeom>
          <a:solidFill>
            <a:srgbClr val="FBFBFA"/>
          </a:solidFill>
          <a:ln w="12700">
            <a:solidFill>
              <a:srgbClr val="B9C2CB"/>
            </a:solidFill>
            <a:prstDash val="dash"/>
          </a:ln>
        </p:spPr>
        <p:txBody>
          <a:bodyPr/>
          <a:lstStyle/>
          <a:p>
            <a:endParaRPr lang="ko-KR" altLang="en-US" sz="1634"/>
          </a:p>
        </p:txBody>
      </p:sp>
      <p:sp>
        <p:nvSpPr>
          <p:cNvPr id="59" name="Shape 37">
            <a:extLst>
              <a:ext uri="{FF2B5EF4-FFF2-40B4-BE49-F238E27FC236}">
                <a16:creationId xmlns:a16="http://schemas.microsoft.com/office/drawing/2014/main" id="{E16C0D60-4871-418B-86C3-646CA97AB2F8}"/>
              </a:ext>
            </a:extLst>
          </p:cNvPr>
          <p:cNvSpPr/>
          <p:nvPr/>
        </p:nvSpPr>
        <p:spPr>
          <a:xfrm>
            <a:off x="7141879" y="4579711"/>
            <a:ext cx="437870" cy="312764"/>
          </a:xfrm>
          <a:prstGeom prst="roundRect">
            <a:avLst>
              <a:gd name="adj" fmla="val 10000"/>
            </a:avLst>
          </a:prstGeom>
          <a:solidFill>
            <a:srgbClr val="E7EBEE"/>
          </a:solidFill>
          <a:ln w="12700">
            <a:solidFill>
              <a:srgbClr val="B9C2CB"/>
            </a:solidFill>
            <a:prstDash val="solid"/>
          </a:ln>
        </p:spPr>
        <p:txBody>
          <a:bodyPr/>
          <a:lstStyle/>
          <a:p>
            <a:endParaRPr lang="ko-KR" altLang="en-US" sz="1634"/>
          </a:p>
        </p:txBody>
      </p:sp>
      <p:sp>
        <p:nvSpPr>
          <p:cNvPr id="61" name="Shape 38">
            <a:extLst>
              <a:ext uri="{FF2B5EF4-FFF2-40B4-BE49-F238E27FC236}">
                <a16:creationId xmlns:a16="http://schemas.microsoft.com/office/drawing/2014/main" id="{E839CAFA-358F-CE02-73A8-C40A4A77616A}"/>
              </a:ext>
            </a:extLst>
          </p:cNvPr>
          <p:cNvSpPr/>
          <p:nvPr/>
        </p:nvSpPr>
        <p:spPr>
          <a:xfrm>
            <a:off x="7227889" y="4650085"/>
            <a:ext cx="78191" cy="78191"/>
          </a:xfrm>
          <a:prstGeom prst="ellipse">
            <a:avLst/>
          </a:prstGeom>
          <a:solidFill>
            <a:srgbClr val="C9D1D8"/>
          </a:solidFill>
          <a:ln/>
        </p:spPr>
        <p:txBody>
          <a:bodyPr/>
          <a:lstStyle/>
          <a:p>
            <a:endParaRPr lang="ko-KR" altLang="en-US" sz="1634"/>
          </a:p>
        </p:txBody>
      </p:sp>
      <p:sp>
        <p:nvSpPr>
          <p:cNvPr id="63" name="Shape 39">
            <a:extLst>
              <a:ext uri="{FF2B5EF4-FFF2-40B4-BE49-F238E27FC236}">
                <a16:creationId xmlns:a16="http://schemas.microsoft.com/office/drawing/2014/main" id="{9DCA82EA-A556-3C69-A883-B3492FEBED83}"/>
              </a:ext>
            </a:extLst>
          </p:cNvPr>
          <p:cNvSpPr/>
          <p:nvPr/>
        </p:nvSpPr>
        <p:spPr>
          <a:xfrm>
            <a:off x="7173155" y="4829921"/>
            <a:ext cx="390955" cy="0"/>
          </a:xfrm>
          <a:prstGeom prst="line">
            <a:avLst/>
          </a:prstGeom>
          <a:noFill/>
          <a:ln w="15240">
            <a:solidFill>
              <a:srgbClr val="C9D1D8"/>
            </a:solidFill>
            <a:prstDash val="solid"/>
          </a:ln>
        </p:spPr>
        <p:txBody>
          <a:bodyPr/>
          <a:lstStyle/>
          <a:p>
            <a:endParaRPr lang="ko-KR" altLang="en-US" sz="1634"/>
          </a:p>
        </p:txBody>
      </p:sp>
      <p:sp>
        <p:nvSpPr>
          <p:cNvPr id="65" name="Text 40">
            <a:extLst>
              <a:ext uri="{FF2B5EF4-FFF2-40B4-BE49-F238E27FC236}">
                <a16:creationId xmlns:a16="http://schemas.microsoft.com/office/drawing/2014/main" id="{068D544D-5312-8FE7-003E-034605075980}"/>
              </a:ext>
            </a:extLst>
          </p:cNvPr>
          <p:cNvSpPr/>
          <p:nvPr/>
        </p:nvSpPr>
        <p:spPr>
          <a:xfrm>
            <a:off x="6224436" y="4923753"/>
            <a:ext cx="2272751" cy="195477"/>
          </a:xfrm>
          <a:prstGeom prst="rect">
            <a:avLst/>
          </a:prstGeom>
          <a:noFill/>
          <a:ln/>
        </p:spPr>
        <p:txBody>
          <a:bodyPr wrap="square" rtlCol="0" anchor="ctr"/>
          <a:lstStyle/>
          <a:p>
            <a:pPr algn="ctr"/>
            <a:r>
              <a:rPr lang="en-US" sz="812" b="1" dirty="0">
                <a:solidFill>
                  <a:srgbClr val="8A93A0"/>
                </a:solidFill>
                <a:latin typeface="맑은 고딕" pitchFamily="34" charset="0"/>
                <a:ea typeface="맑은 고딕" pitchFamily="34" charset="-122"/>
                <a:cs typeface="맑은 고딕" pitchFamily="34" charset="-120"/>
              </a:rPr>
              <a:t>사진 삽입</a:t>
            </a:r>
            <a:endParaRPr lang="en-US" sz="812" dirty="0"/>
          </a:p>
        </p:txBody>
      </p:sp>
      <p:sp>
        <p:nvSpPr>
          <p:cNvPr id="67" name="Text 41">
            <a:extLst>
              <a:ext uri="{FF2B5EF4-FFF2-40B4-BE49-F238E27FC236}">
                <a16:creationId xmlns:a16="http://schemas.microsoft.com/office/drawing/2014/main" id="{0D5F3E68-CF01-3877-BEB6-BCA8D40C7E66}"/>
              </a:ext>
            </a:extLst>
          </p:cNvPr>
          <p:cNvSpPr/>
          <p:nvPr/>
        </p:nvSpPr>
        <p:spPr>
          <a:xfrm>
            <a:off x="6341722" y="5111409"/>
            <a:ext cx="2038178" cy="801458"/>
          </a:xfrm>
          <a:prstGeom prst="rect">
            <a:avLst/>
          </a:prstGeom>
          <a:noFill/>
          <a:ln/>
        </p:spPr>
        <p:txBody>
          <a:bodyPr wrap="square" rtlCol="0" anchor="t"/>
          <a:lstStyle/>
          <a:p>
            <a:pPr algn="ctr"/>
            <a:r>
              <a:rPr lang="en-US" sz="710" i="1" dirty="0">
                <a:solidFill>
                  <a:srgbClr val="8A93A0"/>
                </a:solidFill>
                <a:latin typeface="맑은 고딕" pitchFamily="34" charset="0"/>
                <a:ea typeface="맑은 고딕" pitchFamily="34" charset="-122"/>
                <a:cs typeface="맑은 고딕" pitchFamily="34" charset="-120"/>
              </a:rPr>
              <a:t>DS18B20 프로브 사진</a:t>
            </a:r>
            <a:endParaRPr lang="en-US" sz="710" dirty="0"/>
          </a:p>
        </p:txBody>
      </p:sp>
      <p:pic>
        <p:nvPicPr>
          <p:cNvPr id="69" name="Picture 5">
            <a:extLst>
              <a:ext uri="{FF2B5EF4-FFF2-40B4-BE49-F238E27FC236}">
                <a16:creationId xmlns:a16="http://schemas.microsoft.com/office/drawing/2014/main" id="{4A44946F-35F6-C628-B269-8C0C2A4A8F65}"/>
              </a:ext>
            </a:extLst>
          </p:cNvPr>
          <p:cNvPicPr>
            <a:picLocks noChangeAspect="1"/>
          </p:cNvPicPr>
          <p:nvPr/>
        </p:nvPicPr>
        <p:blipFill>
          <a:blip r:embed="rId5"/>
          <a:stretch>
            <a:fillRect/>
          </a:stretch>
        </p:blipFill>
        <p:spPr>
          <a:xfrm>
            <a:off x="837589" y="3909818"/>
            <a:ext cx="2075428" cy="2067731"/>
          </a:xfrm>
          <a:prstGeom prst="rect">
            <a:avLst/>
          </a:prstGeom>
          <a:noFill/>
          <a:ln>
            <a:noFill/>
          </a:ln>
          <a:effectLst/>
        </p:spPr>
      </p:pic>
      <p:pic>
        <p:nvPicPr>
          <p:cNvPr id="71" name="_x491030872">
            <a:extLst>
              <a:ext uri="{FF2B5EF4-FFF2-40B4-BE49-F238E27FC236}">
                <a16:creationId xmlns:a16="http://schemas.microsoft.com/office/drawing/2014/main" id="{89024DBC-3CCD-8A25-11B5-9E982F2A33B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84010" y="3974971"/>
            <a:ext cx="2241492" cy="1930079"/>
          </a:xfrm>
          <a:prstGeom prst="rect">
            <a:avLst/>
          </a:prstGeom>
          <a:noFill/>
          <a:extLst>
            <a:ext uri="{909E8E84-426E-40DD-AFC4-6F175D3DCCD1}">
              <a14:hiddenFill xmlns:a14="http://schemas.microsoft.com/office/drawing/2010/main">
                <a:solidFill>
                  <a:srgbClr val="FFFFFF"/>
                </a:solidFill>
              </a14:hiddenFill>
            </a:ext>
          </a:extLst>
        </p:spPr>
      </p:pic>
      <p:pic>
        <p:nvPicPr>
          <p:cNvPr id="73" name="그림 72">
            <a:extLst>
              <a:ext uri="{FF2B5EF4-FFF2-40B4-BE49-F238E27FC236}">
                <a16:creationId xmlns:a16="http://schemas.microsoft.com/office/drawing/2014/main" id="{75FC8E55-BE26-0785-B443-D1D8B79FF2D5}"/>
              </a:ext>
            </a:extLst>
          </p:cNvPr>
          <p:cNvPicPr>
            <a:picLocks noChangeAspect="1"/>
          </p:cNvPicPr>
          <p:nvPr/>
        </p:nvPicPr>
        <p:blipFill>
          <a:blip r:embed="rId7"/>
          <a:stretch>
            <a:fillRect/>
          </a:stretch>
        </p:blipFill>
        <p:spPr>
          <a:xfrm>
            <a:off x="3526374" y="3909164"/>
            <a:ext cx="2221105" cy="1995890"/>
          </a:xfrm>
          <a:prstGeom prst="rect">
            <a:avLst/>
          </a:prstGeom>
        </p:spPr>
      </p:pic>
    </p:spTree>
    <p:extLst>
      <p:ext uri="{BB962C8B-B14F-4D97-AF65-F5344CB8AC3E}">
        <p14:creationId xmlns:p14="http://schemas.microsoft.com/office/powerpoint/2010/main" val="32803802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A3856-F6B3-8095-7489-824023E7405B}"/>
            </a:ext>
          </a:extLst>
        </p:cNvPr>
        <p:cNvGrpSpPr/>
        <p:nvPr/>
      </p:nvGrpSpPr>
      <p:grpSpPr>
        <a:xfrm>
          <a:off x="0" y="0"/>
          <a:ext cx="0" cy="0"/>
          <a:chOff x="0" y="0"/>
          <a:chExt cx="0" cy="0"/>
        </a:xfrm>
      </p:grpSpPr>
      <p:sp>
        <p:nvSpPr>
          <p:cNvPr id="78" name="직사각형 78"/>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9" name="직선 연결선 79"/>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80" name="직선 연결선 80"/>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81" name="제목 81"/>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부품 리스트</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82" name="막힌 원호 82"/>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8B3B2075-9EA5-C226-083E-33A1EDFA00BB}"/>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776ACEB6-8602-3B21-4F63-76D6A427F8F0}"/>
              </a:ext>
            </a:extLst>
          </p:cNvPr>
          <p:cNvPicPr/>
          <p:nvPr/>
        </p:nvPicPr>
        <p:blipFill>
          <a:blip r:embed="rId4" cstate="print"/>
          <a:stretch>
            <a:fillRect/>
          </a:stretch>
        </p:blipFill>
        <p:spPr>
          <a:xfrm>
            <a:off x="7275128" y="314247"/>
            <a:ext cx="1325611" cy="307338"/>
          </a:xfrm>
          <a:prstGeom prst="rect">
            <a:avLst/>
          </a:prstGeom>
        </p:spPr>
      </p:pic>
      <p:sp>
        <p:nvSpPr>
          <p:cNvPr id="9" name="Shape 12">
            <a:extLst>
              <a:ext uri="{FF2B5EF4-FFF2-40B4-BE49-F238E27FC236}">
                <a16:creationId xmlns:a16="http://schemas.microsoft.com/office/drawing/2014/main" id="{8B8FBFAF-0796-8D96-14C9-5FA3837A580A}"/>
              </a:ext>
            </a:extLst>
          </p:cNvPr>
          <p:cNvSpPr/>
          <p:nvPr/>
        </p:nvSpPr>
        <p:spPr>
          <a:xfrm>
            <a:off x="560608" y="1865183"/>
            <a:ext cx="2554238" cy="4300504"/>
          </a:xfrm>
          <a:prstGeom prst="roundRect">
            <a:avLst>
              <a:gd name="adj" fmla="val 2143"/>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11" name="Text 13">
            <a:extLst>
              <a:ext uri="{FF2B5EF4-FFF2-40B4-BE49-F238E27FC236}">
                <a16:creationId xmlns:a16="http://schemas.microsoft.com/office/drawing/2014/main" id="{589A1FF2-5543-828D-BEE7-2CDF0E9E11E1}"/>
              </a:ext>
            </a:extLst>
          </p:cNvPr>
          <p:cNvSpPr/>
          <p:nvPr/>
        </p:nvSpPr>
        <p:spPr>
          <a:xfrm>
            <a:off x="701352" y="1990286"/>
            <a:ext cx="2272751" cy="312764"/>
          </a:xfrm>
          <a:prstGeom prst="rect">
            <a:avLst/>
          </a:prstGeom>
          <a:noFill/>
          <a:ln/>
        </p:spPr>
        <p:txBody>
          <a:bodyPr wrap="square" rtlCol="0" anchor="ctr"/>
          <a:lstStyle/>
          <a:p>
            <a:r>
              <a:rPr lang="en-US" sz="1112" b="1" dirty="0">
                <a:solidFill>
                  <a:srgbClr val="3B5BA7"/>
                </a:solidFill>
                <a:latin typeface="맑은 고딕" pitchFamily="34" charset="0"/>
                <a:ea typeface="맑은 고딕" pitchFamily="34" charset="-122"/>
                <a:cs typeface="맑은 고딕" pitchFamily="34" charset="-120"/>
              </a:rPr>
              <a:t>MLX90614</a:t>
            </a:r>
            <a:endParaRPr lang="en-US" sz="1112" dirty="0"/>
          </a:p>
        </p:txBody>
      </p:sp>
      <p:sp>
        <p:nvSpPr>
          <p:cNvPr id="13" name="Text 14">
            <a:extLst>
              <a:ext uri="{FF2B5EF4-FFF2-40B4-BE49-F238E27FC236}">
                <a16:creationId xmlns:a16="http://schemas.microsoft.com/office/drawing/2014/main" id="{B9AA2DBC-CF33-E3CE-1452-FDC99F2DBF6B}"/>
              </a:ext>
            </a:extLst>
          </p:cNvPr>
          <p:cNvSpPr/>
          <p:nvPr/>
        </p:nvSpPr>
        <p:spPr>
          <a:xfrm>
            <a:off x="701352" y="2295231"/>
            <a:ext cx="2272751" cy="218934"/>
          </a:xfrm>
          <a:prstGeom prst="rect">
            <a:avLst/>
          </a:prstGeom>
          <a:noFill/>
          <a:ln/>
        </p:spPr>
        <p:txBody>
          <a:bodyPr wrap="square" rtlCol="0" anchor="ctr"/>
          <a:lstStyle/>
          <a:p>
            <a:r>
              <a:rPr lang="en-US" sz="812" dirty="0">
                <a:solidFill>
                  <a:srgbClr val="64748B"/>
                </a:solidFill>
                <a:latin typeface="맑은 고딕" pitchFamily="34" charset="0"/>
                <a:ea typeface="맑은 고딕" pitchFamily="34" charset="-122"/>
                <a:cs typeface="맑은 고딕" pitchFamily="34" charset="-120"/>
              </a:rPr>
              <a:t>비접촉 IR 온도 센서 · 1개(모드2·3 공용)</a:t>
            </a:r>
            <a:endParaRPr lang="en-US" sz="812" dirty="0"/>
          </a:p>
        </p:txBody>
      </p:sp>
      <p:sp>
        <p:nvSpPr>
          <p:cNvPr id="15" name="Text 15">
            <a:extLst>
              <a:ext uri="{FF2B5EF4-FFF2-40B4-BE49-F238E27FC236}">
                <a16:creationId xmlns:a16="http://schemas.microsoft.com/office/drawing/2014/main" id="{429BC806-89FA-91A3-8E73-9C039BF4BAC9}"/>
              </a:ext>
            </a:extLst>
          </p:cNvPr>
          <p:cNvSpPr/>
          <p:nvPr/>
        </p:nvSpPr>
        <p:spPr>
          <a:xfrm>
            <a:off x="701352" y="2584538"/>
            <a:ext cx="2272751" cy="1290151"/>
          </a:xfrm>
          <a:prstGeom prst="rect">
            <a:avLst/>
          </a:prstGeom>
          <a:noFill/>
          <a:ln/>
        </p:spPr>
        <p:txBody>
          <a:bodyPr wrap="square" rtlCol="0" anchor="t"/>
          <a:lstStyle/>
          <a:p>
            <a:pPr>
              <a:lnSpc>
                <a:spcPct val="120000"/>
              </a:lnSpc>
            </a:pPr>
            <a:r>
              <a:rPr lang="en-US" sz="855" dirty="0">
                <a:solidFill>
                  <a:srgbClr val="1E293B"/>
                </a:solidFill>
                <a:latin typeface="맑은 고딕" pitchFamily="34" charset="0"/>
                <a:ea typeface="맑은 고딕" pitchFamily="34" charset="-122"/>
                <a:cs typeface="맑은 고딕" pitchFamily="34" charset="-120"/>
              </a:rPr>
              <a:t>적외선으로 배터리 표면 온도를 비접촉 방식으로 측정. 완제품처럼 셀에 직접 닿을 수 없는 대상의 표면 발열 기울기를 추적하는 핵심 센서.</a:t>
            </a:r>
            <a:endParaRPr lang="en-US" sz="855" dirty="0"/>
          </a:p>
        </p:txBody>
      </p:sp>
      <p:sp>
        <p:nvSpPr>
          <p:cNvPr id="17" name="Shape 16">
            <a:extLst>
              <a:ext uri="{FF2B5EF4-FFF2-40B4-BE49-F238E27FC236}">
                <a16:creationId xmlns:a16="http://schemas.microsoft.com/office/drawing/2014/main" id="{FB4C42EE-730E-4500-4297-9841D12B8C64}"/>
              </a:ext>
            </a:extLst>
          </p:cNvPr>
          <p:cNvSpPr/>
          <p:nvPr/>
        </p:nvSpPr>
        <p:spPr>
          <a:xfrm>
            <a:off x="701352" y="3937241"/>
            <a:ext cx="2272751" cy="2072061"/>
          </a:xfrm>
          <a:prstGeom prst="roundRect">
            <a:avLst>
              <a:gd name="adj" fmla="val 2264"/>
            </a:avLst>
          </a:prstGeom>
          <a:solidFill>
            <a:srgbClr val="FBFBFA"/>
          </a:solidFill>
          <a:ln w="12700">
            <a:solidFill>
              <a:srgbClr val="B9C2CB"/>
            </a:solidFill>
            <a:prstDash val="dash"/>
          </a:ln>
        </p:spPr>
        <p:txBody>
          <a:bodyPr/>
          <a:lstStyle/>
          <a:p>
            <a:endParaRPr lang="ko-KR" altLang="en-US" sz="1634"/>
          </a:p>
        </p:txBody>
      </p:sp>
      <p:sp>
        <p:nvSpPr>
          <p:cNvPr id="19" name="Shape 17">
            <a:extLst>
              <a:ext uri="{FF2B5EF4-FFF2-40B4-BE49-F238E27FC236}">
                <a16:creationId xmlns:a16="http://schemas.microsoft.com/office/drawing/2014/main" id="{8DD89055-E119-358D-D853-A656329A8176}"/>
              </a:ext>
            </a:extLst>
          </p:cNvPr>
          <p:cNvSpPr/>
          <p:nvPr/>
        </p:nvSpPr>
        <p:spPr>
          <a:xfrm>
            <a:off x="1618795" y="4644869"/>
            <a:ext cx="437870" cy="312764"/>
          </a:xfrm>
          <a:prstGeom prst="roundRect">
            <a:avLst>
              <a:gd name="adj" fmla="val 10000"/>
            </a:avLst>
          </a:prstGeom>
          <a:solidFill>
            <a:srgbClr val="E7EBEE"/>
          </a:solidFill>
          <a:ln w="12700">
            <a:solidFill>
              <a:srgbClr val="B9C2CB"/>
            </a:solidFill>
            <a:prstDash val="solid"/>
          </a:ln>
        </p:spPr>
        <p:txBody>
          <a:bodyPr/>
          <a:lstStyle/>
          <a:p>
            <a:endParaRPr lang="ko-KR" altLang="en-US" sz="1634"/>
          </a:p>
        </p:txBody>
      </p:sp>
      <p:sp>
        <p:nvSpPr>
          <p:cNvPr id="21" name="Shape 18">
            <a:extLst>
              <a:ext uri="{FF2B5EF4-FFF2-40B4-BE49-F238E27FC236}">
                <a16:creationId xmlns:a16="http://schemas.microsoft.com/office/drawing/2014/main" id="{F82A48CF-4265-6503-EE81-D1A312274D6B}"/>
              </a:ext>
            </a:extLst>
          </p:cNvPr>
          <p:cNvSpPr/>
          <p:nvPr/>
        </p:nvSpPr>
        <p:spPr>
          <a:xfrm>
            <a:off x="1704804" y="4715242"/>
            <a:ext cx="78191" cy="78191"/>
          </a:xfrm>
          <a:prstGeom prst="ellipse">
            <a:avLst/>
          </a:prstGeom>
          <a:solidFill>
            <a:srgbClr val="C9D1D8"/>
          </a:solidFill>
          <a:ln/>
        </p:spPr>
        <p:txBody>
          <a:bodyPr/>
          <a:lstStyle/>
          <a:p>
            <a:endParaRPr lang="ko-KR" altLang="en-US" sz="1634"/>
          </a:p>
        </p:txBody>
      </p:sp>
      <p:sp>
        <p:nvSpPr>
          <p:cNvPr id="23" name="Shape 19">
            <a:extLst>
              <a:ext uri="{FF2B5EF4-FFF2-40B4-BE49-F238E27FC236}">
                <a16:creationId xmlns:a16="http://schemas.microsoft.com/office/drawing/2014/main" id="{9E59C94A-1FFE-E0E7-E7EB-5CF09D0539AF}"/>
              </a:ext>
            </a:extLst>
          </p:cNvPr>
          <p:cNvSpPr/>
          <p:nvPr/>
        </p:nvSpPr>
        <p:spPr>
          <a:xfrm>
            <a:off x="1650071" y="4895081"/>
            <a:ext cx="390955" cy="0"/>
          </a:xfrm>
          <a:prstGeom prst="line">
            <a:avLst/>
          </a:prstGeom>
          <a:noFill/>
          <a:ln w="15240">
            <a:solidFill>
              <a:srgbClr val="C9D1D8"/>
            </a:solidFill>
            <a:prstDash val="solid"/>
          </a:ln>
        </p:spPr>
        <p:txBody>
          <a:bodyPr/>
          <a:lstStyle/>
          <a:p>
            <a:endParaRPr lang="ko-KR" altLang="en-US" sz="1634"/>
          </a:p>
        </p:txBody>
      </p:sp>
      <p:sp>
        <p:nvSpPr>
          <p:cNvPr id="25" name="Text 20">
            <a:extLst>
              <a:ext uri="{FF2B5EF4-FFF2-40B4-BE49-F238E27FC236}">
                <a16:creationId xmlns:a16="http://schemas.microsoft.com/office/drawing/2014/main" id="{5A907D64-D255-724F-D514-D2E6EC0EC8D3}"/>
              </a:ext>
            </a:extLst>
          </p:cNvPr>
          <p:cNvSpPr/>
          <p:nvPr/>
        </p:nvSpPr>
        <p:spPr>
          <a:xfrm>
            <a:off x="701352" y="4988910"/>
            <a:ext cx="2272751" cy="195477"/>
          </a:xfrm>
          <a:prstGeom prst="rect">
            <a:avLst/>
          </a:prstGeom>
          <a:noFill/>
          <a:ln/>
        </p:spPr>
        <p:txBody>
          <a:bodyPr wrap="square" rtlCol="0" anchor="ctr"/>
          <a:lstStyle/>
          <a:p>
            <a:pPr algn="ctr"/>
            <a:r>
              <a:rPr lang="en-US" sz="812" b="1" dirty="0">
                <a:solidFill>
                  <a:srgbClr val="8A93A0"/>
                </a:solidFill>
                <a:latin typeface="맑은 고딕" pitchFamily="34" charset="0"/>
                <a:ea typeface="맑은 고딕" pitchFamily="34" charset="-122"/>
                <a:cs typeface="맑은 고딕" pitchFamily="34" charset="-120"/>
              </a:rPr>
              <a:t>사진 삽입</a:t>
            </a:r>
            <a:endParaRPr lang="en-US" sz="812" dirty="0"/>
          </a:p>
        </p:txBody>
      </p:sp>
      <p:sp>
        <p:nvSpPr>
          <p:cNvPr id="27" name="Text 21">
            <a:extLst>
              <a:ext uri="{FF2B5EF4-FFF2-40B4-BE49-F238E27FC236}">
                <a16:creationId xmlns:a16="http://schemas.microsoft.com/office/drawing/2014/main" id="{83434018-9BD4-DB53-FF38-BCE19C9A37A4}"/>
              </a:ext>
            </a:extLst>
          </p:cNvPr>
          <p:cNvSpPr/>
          <p:nvPr/>
        </p:nvSpPr>
        <p:spPr>
          <a:xfrm>
            <a:off x="818638" y="5176568"/>
            <a:ext cx="2038178" cy="801458"/>
          </a:xfrm>
          <a:prstGeom prst="rect">
            <a:avLst/>
          </a:prstGeom>
          <a:noFill/>
          <a:ln/>
        </p:spPr>
        <p:txBody>
          <a:bodyPr wrap="square" rtlCol="0" anchor="t"/>
          <a:lstStyle/>
          <a:p>
            <a:pPr algn="ctr"/>
            <a:r>
              <a:rPr lang="en-US" sz="710" i="1" dirty="0">
                <a:solidFill>
                  <a:srgbClr val="8A93A0"/>
                </a:solidFill>
                <a:latin typeface="맑은 고딕" pitchFamily="34" charset="0"/>
                <a:ea typeface="맑은 고딕" pitchFamily="34" charset="-122"/>
                <a:cs typeface="맑은 고딕" pitchFamily="34" charset="-120"/>
              </a:rPr>
              <a:t>MLX90614 브레이크아웃 보드 사진</a:t>
            </a:r>
            <a:endParaRPr lang="en-US" sz="710" dirty="0"/>
          </a:p>
        </p:txBody>
      </p:sp>
      <p:sp>
        <p:nvSpPr>
          <p:cNvPr id="29" name="Shape 22">
            <a:extLst>
              <a:ext uri="{FF2B5EF4-FFF2-40B4-BE49-F238E27FC236}">
                <a16:creationId xmlns:a16="http://schemas.microsoft.com/office/drawing/2014/main" id="{82B303AC-E789-D45F-C972-05316B3D6950}"/>
              </a:ext>
            </a:extLst>
          </p:cNvPr>
          <p:cNvSpPr/>
          <p:nvPr/>
        </p:nvSpPr>
        <p:spPr>
          <a:xfrm>
            <a:off x="3310324" y="1865183"/>
            <a:ext cx="2554238" cy="4300504"/>
          </a:xfrm>
          <a:prstGeom prst="roundRect">
            <a:avLst>
              <a:gd name="adj" fmla="val 2143"/>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31" name="Text 23">
            <a:extLst>
              <a:ext uri="{FF2B5EF4-FFF2-40B4-BE49-F238E27FC236}">
                <a16:creationId xmlns:a16="http://schemas.microsoft.com/office/drawing/2014/main" id="{010CFBAE-AF35-82A2-A941-19A48C207F7E}"/>
              </a:ext>
            </a:extLst>
          </p:cNvPr>
          <p:cNvSpPr/>
          <p:nvPr/>
        </p:nvSpPr>
        <p:spPr>
          <a:xfrm>
            <a:off x="3451068" y="1990286"/>
            <a:ext cx="2272751" cy="312764"/>
          </a:xfrm>
          <a:prstGeom prst="rect">
            <a:avLst/>
          </a:prstGeom>
          <a:noFill/>
          <a:ln/>
        </p:spPr>
        <p:txBody>
          <a:bodyPr wrap="square" rtlCol="0" anchor="ctr"/>
          <a:lstStyle/>
          <a:p>
            <a:r>
              <a:rPr lang="en-US" sz="1112" b="1" dirty="0">
                <a:solidFill>
                  <a:srgbClr val="3B5BA7"/>
                </a:solidFill>
                <a:latin typeface="맑은 고딕" pitchFamily="34" charset="0"/>
                <a:ea typeface="맑은 고딕" pitchFamily="34" charset="-122"/>
                <a:cs typeface="맑은 고딕" pitchFamily="34" charset="-120"/>
              </a:rPr>
              <a:t>MQ-2</a:t>
            </a:r>
            <a:endParaRPr lang="en-US" sz="1112" dirty="0"/>
          </a:p>
        </p:txBody>
      </p:sp>
      <p:sp>
        <p:nvSpPr>
          <p:cNvPr id="33" name="Text 24">
            <a:extLst>
              <a:ext uri="{FF2B5EF4-FFF2-40B4-BE49-F238E27FC236}">
                <a16:creationId xmlns:a16="http://schemas.microsoft.com/office/drawing/2014/main" id="{C1AE7294-E46A-856F-DBA8-E61E8A21CBC2}"/>
              </a:ext>
            </a:extLst>
          </p:cNvPr>
          <p:cNvSpPr/>
          <p:nvPr/>
        </p:nvSpPr>
        <p:spPr>
          <a:xfrm>
            <a:off x="3451068" y="2295231"/>
            <a:ext cx="2272751" cy="218934"/>
          </a:xfrm>
          <a:prstGeom prst="rect">
            <a:avLst/>
          </a:prstGeom>
          <a:noFill/>
          <a:ln/>
        </p:spPr>
        <p:txBody>
          <a:bodyPr wrap="square" rtlCol="0" anchor="ctr"/>
          <a:lstStyle/>
          <a:p>
            <a:r>
              <a:rPr lang="en-US" sz="812" dirty="0">
                <a:solidFill>
                  <a:srgbClr val="64748B"/>
                </a:solidFill>
                <a:latin typeface="맑은 고딕" pitchFamily="34" charset="0"/>
                <a:ea typeface="맑은 고딕" pitchFamily="34" charset="-122"/>
                <a:cs typeface="맑은 고딕" pitchFamily="34" charset="-120"/>
              </a:rPr>
              <a:t>가스 센서 · 2개(블록당 1개)</a:t>
            </a:r>
            <a:endParaRPr lang="en-US" sz="812" dirty="0"/>
          </a:p>
        </p:txBody>
      </p:sp>
      <p:sp>
        <p:nvSpPr>
          <p:cNvPr id="35" name="Text 25">
            <a:extLst>
              <a:ext uri="{FF2B5EF4-FFF2-40B4-BE49-F238E27FC236}">
                <a16:creationId xmlns:a16="http://schemas.microsoft.com/office/drawing/2014/main" id="{77DE2A13-3838-4926-4A30-7FEB0F737087}"/>
              </a:ext>
            </a:extLst>
          </p:cNvPr>
          <p:cNvSpPr/>
          <p:nvPr/>
        </p:nvSpPr>
        <p:spPr>
          <a:xfrm>
            <a:off x="3451068" y="2584538"/>
            <a:ext cx="2272751" cy="1290151"/>
          </a:xfrm>
          <a:prstGeom prst="rect">
            <a:avLst/>
          </a:prstGeom>
          <a:noFill/>
          <a:ln/>
        </p:spPr>
        <p:txBody>
          <a:bodyPr wrap="square" rtlCol="0" anchor="t"/>
          <a:lstStyle/>
          <a:p>
            <a:pPr>
              <a:lnSpc>
                <a:spcPct val="120000"/>
              </a:lnSpc>
            </a:pPr>
            <a:r>
              <a:rPr lang="en-US" sz="855" dirty="0">
                <a:solidFill>
                  <a:srgbClr val="1E293B"/>
                </a:solidFill>
                <a:latin typeface="맑은 고딕" pitchFamily="34" charset="0"/>
                <a:ea typeface="맑은 고딕" pitchFamily="34" charset="-122"/>
                <a:cs typeface="맑은 고딕" pitchFamily="34" charset="-120"/>
              </a:rPr>
              <a:t>가연성가스 · 연기 · 수소 등을 감지해, 전압 · 온도가 정상이어도 먼저 나타나는 오프가스 급상승을 포착한다 — 열폭주의 가장 빠른 조기경보 신호.</a:t>
            </a:r>
            <a:endParaRPr lang="en-US" sz="855" dirty="0"/>
          </a:p>
        </p:txBody>
      </p:sp>
      <p:sp>
        <p:nvSpPr>
          <p:cNvPr id="37" name="Shape 26">
            <a:extLst>
              <a:ext uri="{FF2B5EF4-FFF2-40B4-BE49-F238E27FC236}">
                <a16:creationId xmlns:a16="http://schemas.microsoft.com/office/drawing/2014/main" id="{8CEAD0FF-AE5C-397F-431F-17D6421A3A19}"/>
              </a:ext>
            </a:extLst>
          </p:cNvPr>
          <p:cNvSpPr/>
          <p:nvPr/>
        </p:nvSpPr>
        <p:spPr>
          <a:xfrm>
            <a:off x="3451068" y="3937241"/>
            <a:ext cx="2272751" cy="2072061"/>
          </a:xfrm>
          <a:prstGeom prst="roundRect">
            <a:avLst>
              <a:gd name="adj" fmla="val 2264"/>
            </a:avLst>
          </a:prstGeom>
          <a:solidFill>
            <a:srgbClr val="FBFBFA"/>
          </a:solidFill>
          <a:ln w="12700">
            <a:solidFill>
              <a:srgbClr val="B9C2CB"/>
            </a:solidFill>
            <a:prstDash val="dash"/>
          </a:ln>
        </p:spPr>
        <p:txBody>
          <a:bodyPr/>
          <a:lstStyle/>
          <a:p>
            <a:endParaRPr lang="ko-KR" altLang="en-US" sz="1634"/>
          </a:p>
        </p:txBody>
      </p:sp>
      <p:sp>
        <p:nvSpPr>
          <p:cNvPr id="39" name="Shape 27">
            <a:extLst>
              <a:ext uri="{FF2B5EF4-FFF2-40B4-BE49-F238E27FC236}">
                <a16:creationId xmlns:a16="http://schemas.microsoft.com/office/drawing/2014/main" id="{BD76258E-D1A6-5262-B27C-CD99A9AA6EFF}"/>
              </a:ext>
            </a:extLst>
          </p:cNvPr>
          <p:cNvSpPr/>
          <p:nvPr/>
        </p:nvSpPr>
        <p:spPr>
          <a:xfrm>
            <a:off x="4368509" y="4644869"/>
            <a:ext cx="437870" cy="312764"/>
          </a:xfrm>
          <a:prstGeom prst="roundRect">
            <a:avLst>
              <a:gd name="adj" fmla="val 10000"/>
            </a:avLst>
          </a:prstGeom>
          <a:solidFill>
            <a:srgbClr val="E7EBEE"/>
          </a:solidFill>
          <a:ln w="12700">
            <a:solidFill>
              <a:srgbClr val="B9C2CB"/>
            </a:solidFill>
            <a:prstDash val="solid"/>
          </a:ln>
        </p:spPr>
        <p:txBody>
          <a:bodyPr/>
          <a:lstStyle/>
          <a:p>
            <a:endParaRPr lang="ko-KR" altLang="en-US" sz="1634"/>
          </a:p>
        </p:txBody>
      </p:sp>
      <p:sp>
        <p:nvSpPr>
          <p:cNvPr id="41" name="Shape 28">
            <a:extLst>
              <a:ext uri="{FF2B5EF4-FFF2-40B4-BE49-F238E27FC236}">
                <a16:creationId xmlns:a16="http://schemas.microsoft.com/office/drawing/2014/main" id="{E21ED37A-3EEC-9BD7-8EEC-6AB6D39A2706}"/>
              </a:ext>
            </a:extLst>
          </p:cNvPr>
          <p:cNvSpPr/>
          <p:nvPr/>
        </p:nvSpPr>
        <p:spPr>
          <a:xfrm>
            <a:off x="4454519" y="4715242"/>
            <a:ext cx="78191" cy="78191"/>
          </a:xfrm>
          <a:prstGeom prst="ellipse">
            <a:avLst/>
          </a:prstGeom>
          <a:solidFill>
            <a:srgbClr val="C9D1D8"/>
          </a:solidFill>
          <a:ln/>
        </p:spPr>
        <p:txBody>
          <a:bodyPr/>
          <a:lstStyle/>
          <a:p>
            <a:endParaRPr lang="ko-KR" altLang="en-US" sz="1634"/>
          </a:p>
        </p:txBody>
      </p:sp>
      <p:sp>
        <p:nvSpPr>
          <p:cNvPr id="43" name="Shape 29">
            <a:extLst>
              <a:ext uri="{FF2B5EF4-FFF2-40B4-BE49-F238E27FC236}">
                <a16:creationId xmlns:a16="http://schemas.microsoft.com/office/drawing/2014/main" id="{C1E8C675-5FDC-EDD1-9BA9-6D63B52296AD}"/>
              </a:ext>
            </a:extLst>
          </p:cNvPr>
          <p:cNvSpPr/>
          <p:nvPr/>
        </p:nvSpPr>
        <p:spPr>
          <a:xfrm>
            <a:off x="4399785" y="4895081"/>
            <a:ext cx="390955" cy="0"/>
          </a:xfrm>
          <a:prstGeom prst="line">
            <a:avLst/>
          </a:prstGeom>
          <a:noFill/>
          <a:ln w="15240">
            <a:solidFill>
              <a:srgbClr val="C9D1D8"/>
            </a:solidFill>
            <a:prstDash val="solid"/>
          </a:ln>
        </p:spPr>
        <p:txBody>
          <a:bodyPr/>
          <a:lstStyle/>
          <a:p>
            <a:endParaRPr lang="ko-KR" altLang="en-US" sz="1634"/>
          </a:p>
        </p:txBody>
      </p:sp>
      <p:sp>
        <p:nvSpPr>
          <p:cNvPr id="45" name="Text 30">
            <a:extLst>
              <a:ext uri="{FF2B5EF4-FFF2-40B4-BE49-F238E27FC236}">
                <a16:creationId xmlns:a16="http://schemas.microsoft.com/office/drawing/2014/main" id="{6D4B367C-7620-290C-73C0-070A904ACA0A}"/>
              </a:ext>
            </a:extLst>
          </p:cNvPr>
          <p:cNvSpPr/>
          <p:nvPr/>
        </p:nvSpPr>
        <p:spPr>
          <a:xfrm>
            <a:off x="3451068" y="4988910"/>
            <a:ext cx="2272751" cy="195477"/>
          </a:xfrm>
          <a:prstGeom prst="rect">
            <a:avLst/>
          </a:prstGeom>
          <a:noFill/>
          <a:ln/>
        </p:spPr>
        <p:txBody>
          <a:bodyPr wrap="square" rtlCol="0" anchor="ctr"/>
          <a:lstStyle/>
          <a:p>
            <a:pPr algn="ctr"/>
            <a:r>
              <a:rPr lang="en-US" sz="812" b="1" dirty="0">
                <a:solidFill>
                  <a:srgbClr val="8A93A0"/>
                </a:solidFill>
                <a:latin typeface="맑은 고딕" pitchFamily="34" charset="0"/>
                <a:ea typeface="맑은 고딕" pitchFamily="34" charset="-122"/>
                <a:cs typeface="맑은 고딕" pitchFamily="34" charset="-120"/>
              </a:rPr>
              <a:t>사진 삽입</a:t>
            </a:r>
            <a:endParaRPr lang="en-US" sz="812" dirty="0"/>
          </a:p>
        </p:txBody>
      </p:sp>
      <p:sp>
        <p:nvSpPr>
          <p:cNvPr id="47" name="Text 31">
            <a:extLst>
              <a:ext uri="{FF2B5EF4-FFF2-40B4-BE49-F238E27FC236}">
                <a16:creationId xmlns:a16="http://schemas.microsoft.com/office/drawing/2014/main" id="{7DD5C306-6EF8-6E30-DF3F-785CD71C09BE}"/>
              </a:ext>
            </a:extLst>
          </p:cNvPr>
          <p:cNvSpPr/>
          <p:nvPr/>
        </p:nvSpPr>
        <p:spPr>
          <a:xfrm>
            <a:off x="3568354" y="5176568"/>
            <a:ext cx="2038178" cy="801458"/>
          </a:xfrm>
          <a:prstGeom prst="rect">
            <a:avLst/>
          </a:prstGeom>
          <a:noFill/>
          <a:ln/>
        </p:spPr>
        <p:txBody>
          <a:bodyPr wrap="square" rtlCol="0" anchor="t"/>
          <a:lstStyle/>
          <a:p>
            <a:pPr algn="ctr"/>
            <a:r>
              <a:rPr lang="en-US" sz="710" i="1" dirty="0">
                <a:solidFill>
                  <a:srgbClr val="8A93A0"/>
                </a:solidFill>
                <a:latin typeface="맑은 고딕" pitchFamily="34" charset="0"/>
                <a:ea typeface="맑은 고딕" pitchFamily="34" charset="-122"/>
                <a:cs typeface="맑은 고딕" pitchFamily="34" charset="-120"/>
              </a:rPr>
              <a:t>MQ-2 가스센서 모듈 사진</a:t>
            </a:r>
            <a:endParaRPr lang="en-US" sz="710" dirty="0"/>
          </a:p>
        </p:txBody>
      </p:sp>
      <p:sp>
        <p:nvSpPr>
          <p:cNvPr id="49" name="Shape 32">
            <a:extLst>
              <a:ext uri="{FF2B5EF4-FFF2-40B4-BE49-F238E27FC236}">
                <a16:creationId xmlns:a16="http://schemas.microsoft.com/office/drawing/2014/main" id="{0C711FA0-B47C-566C-E9CE-4D8D8905DA8C}"/>
              </a:ext>
            </a:extLst>
          </p:cNvPr>
          <p:cNvSpPr/>
          <p:nvPr/>
        </p:nvSpPr>
        <p:spPr>
          <a:xfrm>
            <a:off x="6060040" y="1865183"/>
            <a:ext cx="2554238" cy="4300504"/>
          </a:xfrm>
          <a:prstGeom prst="roundRect">
            <a:avLst>
              <a:gd name="adj" fmla="val 2143"/>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51" name="Text 33">
            <a:extLst>
              <a:ext uri="{FF2B5EF4-FFF2-40B4-BE49-F238E27FC236}">
                <a16:creationId xmlns:a16="http://schemas.microsoft.com/office/drawing/2014/main" id="{9868822B-FA63-3F1A-2F34-5BD754105523}"/>
              </a:ext>
            </a:extLst>
          </p:cNvPr>
          <p:cNvSpPr/>
          <p:nvPr/>
        </p:nvSpPr>
        <p:spPr>
          <a:xfrm>
            <a:off x="6200784" y="1990286"/>
            <a:ext cx="2272751" cy="312764"/>
          </a:xfrm>
          <a:prstGeom prst="rect">
            <a:avLst/>
          </a:prstGeom>
          <a:noFill/>
          <a:ln/>
        </p:spPr>
        <p:txBody>
          <a:bodyPr wrap="square" rtlCol="0" anchor="ctr"/>
          <a:lstStyle/>
          <a:p>
            <a:r>
              <a:rPr lang="en-US" sz="1112" b="1" dirty="0">
                <a:solidFill>
                  <a:srgbClr val="3B5BA7"/>
                </a:solidFill>
                <a:latin typeface="맑은 고딕" pitchFamily="34" charset="0"/>
                <a:ea typeface="맑은 고딕" pitchFamily="34" charset="-122"/>
                <a:cs typeface="맑은 고딕" pitchFamily="34" charset="-120"/>
              </a:rPr>
              <a:t>MiCS-5524</a:t>
            </a:r>
            <a:endParaRPr lang="en-US" sz="1112" dirty="0"/>
          </a:p>
        </p:txBody>
      </p:sp>
      <p:sp>
        <p:nvSpPr>
          <p:cNvPr id="53" name="Text 34">
            <a:extLst>
              <a:ext uri="{FF2B5EF4-FFF2-40B4-BE49-F238E27FC236}">
                <a16:creationId xmlns:a16="http://schemas.microsoft.com/office/drawing/2014/main" id="{C25AA020-51BE-C5CE-61F5-20C76134EDAF}"/>
              </a:ext>
            </a:extLst>
          </p:cNvPr>
          <p:cNvSpPr/>
          <p:nvPr/>
        </p:nvSpPr>
        <p:spPr>
          <a:xfrm>
            <a:off x="6200784" y="2295231"/>
            <a:ext cx="2272751" cy="218934"/>
          </a:xfrm>
          <a:prstGeom prst="rect">
            <a:avLst/>
          </a:prstGeom>
          <a:noFill/>
          <a:ln/>
        </p:spPr>
        <p:txBody>
          <a:bodyPr wrap="square" rtlCol="0" anchor="ctr"/>
          <a:lstStyle/>
          <a:p>
            <a:r>
              <a:rPr lang="en-US" sz="812" dirty="0">
                <a:solidFill>
                  <a:srgbClr val="64748B"/>
                </a:solidFill>
                <a:latin typeface="맑은 고딕" pitchFamily="34" charset="0"/>
                <a:ea typeface="맑은 고딕" pitchFamily="34" charset="-122"/>
                <a:cs typeface="맑은 고딕" pitchFamily="34" charset="-120"/>
              </a:rPr>
              <a:t>가스 센서 · 2개(블록당 1개)</a:t>
            </a:r>
            <a:endParaRPr lang="en-US" sz="812" dirty="0"/>
          </a:p>
        </p:txBody>
      </p:sp>
      <p:sp>
        <p:nvSpPr>
          <p:cNvPr id="55" name="Text 35">
            <a:extLst>
              <a:ext uri="{FF2B5EF4-FFF2-40B4-BE49-F238E27FC236}">
                <a16:creationId xmlns:a16="http://schemas.microsoft.com/office/drawing/2014/main" id="{F77B3B25-52D2-D6B7-C2F7-2D70222B8EAA}"/>
              </a:ext>
            </a:extLst>
          </p:cNvPr>
          <p:cNvSpPr/>
          <p:nvPr/>
        </p:nvSpPr>
        <p:spPr>
          <a:xfrm>
            <a:off x="6200784" y="2584538"/>
            <a:ext cx="2272751" cy="1290151"/>
          </a:xfrm>
          <a:prstGeom prst="rect">
            <a:avLst/>
          </a:prstGeom>
          <a:noFill/>
          <a:ln/>
        </p:spPr>
        <p:txBody>
          <a:bodyPr wrap="square" rtlCol="0" anchor="t"/>
          <a:lstStyle/>
          <a:p>
            <a:pPr>
              <a:lnSpc>
                <a:spcPct val="120000"/>
              </a:lnSpc>
            </a:pPr>
            <a:r>
              <a:rPr lang="en-US" sz="855" dirty="0">
                <a:solidFill>
                  <a:srgbClr val="1E293B"/>
                </a:solidFill>
                <a:latin typeface="맑은 고딕" pitchFamily="34" charset="0"/>
                <a:ea typeface="맑은 고딕" pitchFamily="34" charset="-122"/>
                <a:cs typeface="맑은 고딕" pitchFamily="34" charset="-120"/>
              </a:rPr>
              <a:t>CO · 에탄올 · 수소 · 암모니아 · 메탄을 감지하는 반도체식 센서. MQ-2와 화학종이 달라 이중화 시 단일 센서 대비 오탐률을 낮춘다. En 핀은 GPIO로 히터 on/off 제어.</a:t>
            </a:r>
            <a:endParaRPr lang="en-US" sz="855" dirty="0"/>
          </a:p>
        </p:txBody>
      </p:sp>
      <p:sp>
        <p:nvSpPr>
          <p:cNvPr id="57" name="Shape 36">
            <a:extLst>
              <a:ext uri="{FF2B5EF4-FFF2-40B4-BE49-F238E27FC236}">
                <a16:creationId xmlns:a16="http://schemas.microsoft.com/office/drawing/2014/main" id="{D04E67F8-6176-2CF3-DFD3-BA579C3E9483}"/>
              </a:ext>
            </a:extLst>
          </p:cNvPr>
          <p:cNvSpPr/>
          <p:nvPr/>
        </p:nvSpPr>
        <p:spPr>
          <a:xfrm>
            <a:off x="6200784" y="3937241"/>
            <a:ext cx="2272751" cy="2072061"/>
          </a:xfrm>
          <a:prstGeom prst="roundRect">
            <a:avLst>
              <a:gd name="adj" fmla="val 2264"/>
            </a:avLst>
          </a:prstGeom>
          <a:solidFill>
            <a:srgbClr val="FBFBFA"/>
          </a:solidFill>
          <a:ln w="12700">
            <a:solidFill>
              <a:srgbClr val="B9C2CB"/>
            </a:solidFill>
            <a:prstDash val="dash"/>
          </a:ln>
        </p:spPr>
        <p:txBody>
          <a:bodyPr/>
          <a:lstStyle/>
          <a:p>
            <a:endParaRPr lang="ko-KR" altLang="en-US" sz="1634"/>
          </a:p>
        </p:txBody>
      </p:sp>
      <p:sp>
        <p:nvSpPr>
          <p:cNvPr id="59" name="Shape 37">
            <a:extLst>
              <a:ext uri="{FF2B5EF4-FFF2-40B4-BE49-F238E27FC236}">
                <a16:creationId xmlns:a16="http://schemas.microsoft.com/office/drawing/2014/main" id="{B6CAF521-BE1B-E67B-20EC-8AF66C780161}"/>
              </a:ext>
            </a:extLst>
          </p:cNvPr>
          <p:cNvSpPr/>
          <p:nvPr/>
        </p:nvSpPr>
        <p:spPr>
          <a:xfrm>
            <a:off x="7118224" y="4644869"/>
            <a:ext cx="437870" cy="312764"/>
          </a:xfrm>
          <a:prstGeom prst="roundRect">
            <a:avLst>
              <a:gd name="adj" fmla="val 10000"/>
            </a:avLst>
          </a:prstGeom>
          <a:solidFill>
            <a:srgbClr val="E7EBEE"/>
          </a:solidFill>
          <a:ln w="12700">
            <a:solidFill>
              <a:srgbClr val="B9C2CB"/>
            </a:solidFill>
            <a:prstDash val="solid"/>
          </a:ln>
        </p:spPr>
        <p:txBody>
          <a:bodyPr/>
          <a:lstStyle/>
          <a:p>
            <a:endParaRPr lang="ko-KR" altLang="en-US" sz="1634"/>
          </a:p>
        </p:txBody>
      </p:sp>
      <p:sp>
        <p:nvSpPr>
          <p:cNvPr id="61" name="Shape 38">
            <a:extLst>
              <a:ext uri="{FF2B5EF4-FFF2-40B4-BE49-F238E27FC236}">
                <a16:creationId xmlns:a16="http://schemas.microsoft.com/office/drawing/2014/main" id="{9B63BB02-99F3-14AC-263C-847A6FE0D6A4}"/>
              </a:ext>
            </a:extLst>
          </p:cNvPr>
          <p:cNvSpPr/>
          <p:nvPr/>
        </p:nvSpPr>
        <p:spPr>
          <a:xfrm>
            <a:off x="7204237" y="4715242"/>
            <a:ext cx="78191" cy="78191"/>
          </a:xfrm>
          <a:prstGeom prst="ellipse">
            <a:avLst/>
          </a:prstGeom>
          <a:solidFill>
            <a:srgbClr val="C9D1D8"/>
          </a:solidFill>
          <a:ln/>
        </p:spPr>
        <p:txBody>
          <a:bodyPr/>
          <a:lstStyle/>
          <a:p>
            <a:endParaRPr lang="ko-KR" altLang="en-US" sz="1634"/>
          </a:p>
        </p:txBody>
      </p:sp>
      <p:sp>
        <p:nvSpPr>
          <p:cNvPr id="63" name="Shape 39">
            <a:extLst>
              <a:ext uri="{FF2B5EF4-FFF2-40B4-BE49-F238E27FC236}">
                <a16:creationId xmlns:a16="http://schemas.microsoft.com/office/drawing/2014/main" id="{6855F53E-3410-6F6F-0D03-594785A621C7}"/>
              </a:ext>
            </a:extLst>
          </p:cNvPr>
          <p:cNvSpPr/>
          <p:nvPr/>
        </p:nvSpPr>
        <p:spPr>
          <a:xfrm>
            <a:off x="7149501" y="4895081"/>
            <a:ext cx="390955" cy="0"/>
          </a:xfrm>
          <a:prstGeom prst="line">
            <a:avLst/>
          </a:prstGeom>
          <a:noFill/>
          <a:ln w="15240">
            <a:solidFill>
              <a:srgbClr val="C9D1D8"/>
            </a:solidFill>
            <a:prstDash val="solid"/>
          </a:ln>
        </p:spPr>
        <p:txBody>
          <a:bodyPr/>
          <a:lstStyle/>
          <a:p>
            <a:endParaRPr lang="ko-KR" altLang="en-US" sz="1634"/>
          </a:p>
        </p:txBody>
      </p:sp>
      <p:sp>
        <p:nvSpPr>
          <p:cNvPr id="65" name="Text 40">
            <a:extLst>
              <a:ext uri="{FF2B5EF4-FFF2-40B4-BE49-F238E27FC236}">
                <a16:creationId xmlns:a16="http://schemas.microsoft.com/office/drawing/2014/main" id="{79B4FE57-5113-40E0-1542-202897452D2D}"/>
              </a:ext>
            </a:extLst>
          </p:cNvPr>
          <p:cNvSpPr/>
          <p:nvPr/>
        </p:nvSpPr>
        <p:spPr>
          <a:xfrm>
            <a:off x="6200784" y="4988910"/>
            <a:ext cx="2272751" cy="195477"/>
          </a:xfrm>
          <a:prstGeom prst="rect">
            <a:avLst/>
          </a:prstGeom>
          <a:noFill/>
          <a:ln/>
        </p:spPr>
        <p:txBody>
          <a:bodyPr wrap="square" rtlCol="0" anchor="ctr"/>
          <a:lstStyle/>
          <a:p>
            <a:pPr algn="ctr"/>
            <a:r>
              <a:rPr lang="en-US" sz="812" b="1" dirty="0">
                <a:solidFill>
                  <a:srgbClr val="8A93A0"/>
                </a:solidFill>
                <a:latin typeface="맑은 고딕" pitchFamily="34" charset="0"/>
                <a:ea typeface="맑은 고딕" pitchFamily="34" charset="-122"/>
                <a:cs typeface="맑은 고딕" pitchFamily="34" charset="-120"/>
              </a:rPr>
              <a:t>사진 삽입</a:t>
            </a:r>
            <a:endParaRPr lang="en-US" sz="812" dirty="0"/>
          </a:p>
        </p:txBody>
      </p:sp>
      <p:sp>
        <p:nvSpPr>
          <p:cNvPr id="67" name="Text 41">
            <a:extLst>
              <a:ext uri="{FF2B5EF4-FFF2-40B4-BE49-F238E27FC236}">
                <a16:creationId xmlns:a16="http://schemas.microsoft.com/office/drawing/2014/main" id="{C92FC80D-6329-1E84-E28B-FFD68B03A450}"/>
              </a:ext>
            </a:extLst>
          </p:cNvPr>
          <p:cNvSpPr/>
          <p:nvPr/>
        </p:nvSpPr>
        <p:spPr>
          <a:xfrm>
            <a:off x="6318070" y="5176568"/>
            <a:ext cx="2038178" cy="801458"/>
          </a:xfrm>
          <a:prstGeom prst="rect">
            <a:avLst/>
          </a:prstGeom>
          <a:noFill/>
          <a:ln/>
        </p:spPr>
        <p:txBody>
          <a:bodyPr wrap="square" rtlCol="0" anchor="t"/>
          <a:lstStyle/>
          <a:p>
            <a:pPr algn="ctr"/>
            <a:r>
              <a:rPr lang="en-US" sz="710" i="1" dirty="0">
                <a:solidFill>
                  <a:srgbClr val="8A93A0"/>
                </a:solidFill>
                <a:latin typeface="맑은 고딕" pitchFamily="34" charset="0"/>
                <a:ea typeface="맑은 고딕" pitchFamily="34" charset="-122"/>
                <a:cs typeface="맑은 고딕" pitchFamily="34" charset="-120"/>
              </a:rPr>
              <a:t>MiCS-5524 브레이크아웃 보드 사진</a:t>
            </a:r>
            <a:endParaRPr lang="en-US" sz="710" dirty="0"/>
          </a:p>
        </p:txBody>
      </p:sp>
      <p:sp>
        <p:nvSpPr>
          <p:cNvPr id="69" name="Rectangle 2">
            <a:extLst>
              <a:ext uri="{FF2B5EF4-FFF2-40B4-BE49-F238E27FC236}">
                <a16:creationId xmlns:a16="http://schemas.microsoft.com/office/drawing/2014/main" id="{235CF96C-E659-59CD-55FF-FD24D917BA72}"/>
              </a:ext>
            </a:extLst>
          </p:cNvPr>
          <p:cNvSpPr>
            <a:spLocks noChangeArrowheads="1"/>
          </p:cNvSpPr>
          <p:nvPr/>
        </p:nvSpPr>
        <p:spPr bwMode="auto">
          <a:xfrm>
            <a:off x="756332" y="3633180"/>
            <a:ext cx="157974" cy="330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8191" tIns="39096" rIns="78191" bIns="39096" numCol="1" anchor="ctr" anchorCtr="0" compatLnSpc="1">
            <a:prstTxWarp prst="textNoShape">
              <a:avLst/>
            </a:prstTxWarp>
            <a:spAutoFit/>
          </a:bodyPr>
          <a:lstStyle/>
          <a:p>
            <a:endParaRPr lang="ko-KR" altLang="en-US" sz="1634"/>
          </a:p>
        </p:txBody>
      </p:sp>
      <p:pic>
        <p:nvPicPr>
          <p:cNvPr id="71" name="_x491070472">
            <a:extLst>
              <a:ext uri="{FF2B5EF4-FFF2-40B4-BE49-F238E27FC236}">
                <a16:creationId xmlns:a16="http://schemas.microsoft.com/office/drawing/2014/main" id="{9D28F42F-FAD0-001A-D347-6CDB686A4B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6324" y="3993875"/>
            <a:ext cx="2167900" cy="1984151"/>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4">
            <a:extLst>
              <a:ext uri="{FF2B5EF4-FFF2-40B4-BE49-F238E27FC236}">
                <a16:creationId xmlns:a16="http://schemas.microsoft.com/office/drawing/2014/main" id="{942DFCEA-A384-4E7F-721E-3E8514199F90}"/>
              </a:ext>
            </a:extLst>
          </p:cNvPr>
          <p:cNvSpPr>
            <a:spLocks noChangeArrowheads="1"/>
          </p:cNvSpPr>
          <p:nvPr/>
        </p:nvSpPr>
        <p:spPr bwMode="auto">
          <a:xfrm>
            <a:off x="3555926" y="3633180"/>
            <a:ext cx="157974" cy="330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8191" tIns="39096" rIns="78191" bIns="39096" numCol="1" anchor="ctr" anchorCtr="0" compatLnSpc="1">
            <a:prstTxWarp prst="textNoShape">
              <a:avLst/>
            </a:prstTxWarp>
            <a:spAutoFit/>
          </a:bodyPr>
          <a:lstStyle/>
          <a:p>
            <a:endParaRPr lang="ko-KR" altLang="en-US" sz="1634"/>
          </a:p>
        </p:txBody>
      </p:sp>
      <p:pic>
        <p:nvPicPr>
          <p:cNvPr id="75" name="_x491073064">
            <a:extLst>
              <a:ext uri="{FF2B5EF4-FFF2-40B4-BE49-F238E27FC236}">
                <a16:creationId xmlns:a16="http://schemas.microsoft.com/office/drawing/2014/main" id="{D3A777D9-593A-913D-87F1-55AFBC0FDBF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55919" y="3993878"/>
            <a:ext cx="2167900" cy="1911172"/>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7">
            <a:extLst>
              <a:ext uri="{FF2B5EF4-FFF2-40B4-BE49-F238E27FC236}">
                <a16:creationId xmlns:a16="http://schemas.microsoft.com/office/drawing/2014/main" id="{3E581002-264F-1821-5D73-9E50396DF66A}"/>
              </a:ext>
            </a:extLst>
          </p:cNvPr>
          <p:cNvPicPr>
            <a:picLocks noChangeAspect="1"/>
          </p:cNvPicPr>
          <p:nvPr/>
        </p:nvPicPr>
        <p:blipFill>
          <a:blip r:embed="rId7"/>
          <a:stretch>
            <a:fillRect/>
          </a:stretch>
        </p:blipFill>
        <p:spPr>
          <a:xfrm>
            <a:off x="6249404" y="3982179"/>
            <a:ext cx="2167302" cy="1956838"/>
          </a:xfrm>
          <a:prstGeom prst="rect">
            <a:avLst/>
          </a:prstGeom>
          <a:noFill/>
          <a:ln>
            <a:noFill/>
          </a:ln>
          <a:effectLst/>
        </p:spPr>
      </p:pic>
    </p:spTree>
    <p:extLst>
      <p:ext uri="{BB962C8B-B14F-4D97-AF65-F5344CB8AC3E}">
        <p14:creationId xmlns:p14="http://schemas.microsoft.com/office/powerpoint/2010/main" val="23405968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59C73-A917-DAC4-BDA2-7E73BE1F9B83}"/>
            </a:ext>
          </a:extLst>
        </p:cNvPr>
        <p:cNvGrpSpPr/>
        <p:nvPr/>
      </p:nvGrpSpPr>
      <p:grpSpPr>
        <a:xfrm>
          <a:off x="0" y="0"/>
          <a:ext cx="0" cy="0"/>
          <a:chOff x="0" y="0"/>
          <a:chExt cx="0" cy="0"/>
        </a:xfrm>
      </p:grpSpPr>
      <p:sp>
        <p:nvSpPr>
          <p:cNvPr id="76" name="직사각형 76"/>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7" name="직선 연결선 77"/>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78" name="직선 연결선 78"/>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79" name="제목 79"/>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부품 리스트</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80" name="막힌 원호 80"/>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5E5A10E1-ADCB-0791-6AED-7F598F7E21F7}"/>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29A15F13-0461-B056-400A-4615E9977191}"/>
              </a:ext>
            </a:extLst>
          </p:cNvPr>
          <p:cNvPicPr/>
          <p:nvPr/>
        </p:nvPicPr>
        <p:blipFill>
          <a:blip r:embed="rId4" cstate="print"/>
          <a:stretch>
            <a:fillRect/>
          </a:stretch>
        </p:blipFill>
        <p:spPr>
          <a:xfrm>
            <a:off x="7275128" y="314247"/>
            <a:ext cx="1325611" cy="307338"/>
          </a:xfrm>
          <a:prstGeom prst="rect">
            <a:avLst/>
          </a:prstGeom>
        </p:spPr>
      </p:pic>
      <p:sp>
        <p:nvSpPr>
          <p:cNvPr id="9" name="Shape 12">
            <a:extLst>
              <a:ext uri="{FF2B5EF4-FFF2-40B4-BE49-F238E27FC236}">
                <a16:creationId xmlns:a16="http://schemas.microsoft.com/office/drawing/2014/main" id="{3CADFBCC-D736-075D-B380-BDEB28E95B5E}"/>
              </a:ext>
            </a:extLst>
          </p:cNvPr>
          <p:cNvSpPr/>
          <p:nvPr/>
        </p:nvSpPr>
        <p:spPr>
          <a:xfrm>
            <a:off x="544487" y="1865183"/>
            <a:ext cx="2554238" cy="4300504"/>
          </a:xfrm>
          <a:prstGeom prst="roundRect">
            <a:avLst>
              <a:gd name="adj" fmla="val 2143"/>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11" name="Text 13">
            <a:extLst>
              <a:ext uri="{FF2B5EF4-FFF2-40B4-BE49-F238E27FC236}">
                <a16:creationId xmlns:a16="http://schemas.microsoft.com/office/drawing/2014/main" id="{7952C602-ACB3-B369-30E4-82F06D0D6251}"/>
              </a:ext>
            </a:extLst>
          </p:cNvPr>
          <p:cNvSpPr/>
          <p:nvPr/>
        </p:nvSpPr>
        <p:spPr>
          <a:xfrm>
            <a:off x="685230" y="1990286"/>
            <a:ext cx="2272751" cy="312764"/>
          </a:xfrm>
          <a:prstGeom prst="rect">
            <a:avLst/>
          </a:prstGeom>
          <a:noFill/>
          <a:ln/>
        </p:spPr>
        <p:txBody>
          <a:bodyPr wrap="square" rtlCol="0" anchor="ctr"/>
          <a:lstStyle/>
          <a:p>
            <a:r>
              <a:rPr lang="en-US" sz="1112" b="1" dirty="0">
                <a:solidFill>
                  <a:srgbClr val="3B5BA7"/>
                </a:solidFill>
                <a:latin typeface="맑은 고딕" pitchFamily="34" charset="0"/>
                <a:ea typeface="맑은 고딕" pitchFamily="34" charset="-122"/>
                <a:cs typeface="맑은 고딕" pitchFamily="34" charset="-120"/>
              </a:rPr>
              <a:t>FSR-406</a:t>
            </a:r>
            <a:endParaRPr lang="en-US" sz="1112" dirty="0"/>
          </a:p>
        </p:txBody>
      </p:sp>
      <p:sp>
        <p:nvSpPr>
          <p:cNvPr id="13" name="Text 14">
            <a:extLst>
              <a:ext uri="{FF2B5EF4-FFF2-40B4-BE49-F238E27FC236}">
                <a16:creationId xmlns:a16="http://schemas.microsoft.com/office/drawing/2014/main" id="{46E7F72E-25C5-E502-17A6-8B905B9A7AB5}"/>
              </a:ext>
            </a:extLst>
          </p:cNvPr>
          <p:cNvSpPr/>
          <p:nvPr/>
        </p:nvSpPr>
        <p:spPr>
          <a:xfrm>
            <a:off x="685230" y="2295231"/>
            <a:ext cx="2272751" cy="218934"/>
          </a:xfrm>
          <a:prstGeom prst="rect">
            <a:avLst/>
          </a:prstGeom>
          <a:noFill/>
          <a:ln/>
        </p:spPr>
        <p:txBody>
          <a:bodyPr wrap="square" rtlCol="0" anchor="ctr"/>
          <a:lstStyle/>
          <a:p>
            <a:r>
              <a:rPr lang="en-US" sz="812" dirty="0">
                <a:solidFill>
                  <a:srgbClr val="64748B"/>
                </a:solidFill>
                <a:latin typeface="맑은 고딕" pitchFamily="34" charset="0"/>
                <a:ea typeface="맑은 고딕" pitchFamily="34" charset="-122"/>
                <a:cs typeface="맑은 고딕" pitchFamily="34" charset="-120"/>
              </a:rPr>
              <a:t>압력 센서 · 2개(블록당 1개)</a:t>
            </a:r>
            <a:endParaRPr lang="en-US" sz="812" dirty="0"/>
          </a:p>
        </p:txBody>
      </p:sp>
      <p:sp>
        <p:nvSpPr>
          <p:cNvPr id="15" name="Text 15">
            <a:extLst>
              <a:ext uri="{FF2B5EF4-FFF2-40B4-BE49-F238E27FC236}">
                <a16:creationId xmlns:a16="http://schemas.microsoft.com/office/drawing/2014/main" id="{0EF9AA2F-6C78-D066-39C7-CAA3FD6ED401}"/>
              </a:ext>
            </a:extLst>
          </p:cNvPr>
          <p:cNvSpPr/>
          <p:nvPr/>
        </p:nvSpPr>
        <p:spPr>
          <a:xfrm>
            <a:off x="685230" y="2584538"/>
            <a:ext cx="2272751" cy="1290151"/>
          </a:xfrm>
          <a:prstGeom prst="rect">
            <a:avLst/>
          </a:prstGeom>
          <a:noFill/>
          <a:ln/>
        </p:spPr>
        <p:txBody>
          <a:bodyPr wrap="square" rtlCol="0" anchor="t"/>
          <a:lstStyle/>
          <a:p>
            <a:pPr>
              <a:lnSpc>
                <a:spcPct val="120000"/>
              </a:lnSpc>
            </a:pPr>
            <a:r>
              <a:rPr lang="en-US" sz="855" dirty="0">
                <a:solidFill>
                  <a:srgbClr val="1E293B"/>
                </a:solidFill>
                <a:latin typeface="맑은 고딕" pitchFamily="34" charset="0"/>
                <a:ea typeface="맑은 고딕" pitchFamily="34" charset="-122"/>
                <a:cs typeface="맑은 고딕" pitchFamily="34" charset="-120"/>
              </a:rPr>
              <a:t>배터리의 스웰링(부풀음) 압력과 변형률을 감지. ADS1115 입력단에 10kΩ 풀다운을 더해 전압분배 회로로 구성한다.</a:t>
            </a:r>
            <a:endParaRPr lang="en-US" sz="855" dirty="0"/>
          </a:p>
        </p:txBody>
      </p:sp>
      <p:sp>
        <p:nvSpPr>
          <p:cNvPr id="17" name="Shape 16">
            <a:extLst>
              <a:ext uri="{FF2B5EF4-FFF2-40B4-BE49-F238E27FC236}">
                <a16:creationId xmlns:a16="http://schemas.microsoft.com/office/drawing/2014/main" id="{9073E523-6F3F-6995-0201-6F5117AFB4DD}"/>
              </a:ext>
            </a:extLst>
          </p:cNvPr>
          <p:cNvSpPr/>
          <p:nvPr/>
        </p:nvSpPr>
        <p:spPr>
          <a:xfrm>
            <a:off x="685230" y="3937241"/>
            <a:ext cx="2272751" cy="2072061"/>
          </a:xfrm>
          <a:prstGeom prst="roundRect">
            <a:avLst>
              <a:gd name="adj" fmla="val 2264"/>
            </a:avLst>
          </a:prstGeom>
          <a:solidFill>
            <a:srgbClr val="FBFBFA"/>
          </a:solidFill>
          <a:ln w="12700">
            <a:solidFill>
              <a:srgbClr val="B9C2CB"/>
            </a:solidFill>
            <a:prstDash val="dash"/>
          </a:ln>
        </p:spPr>
        <p:txBody>
          <a:bodyPr/>
          <a:lstStyle/>
          <a:p>
            <a:endParaRPr lang="ko-KR" altLang="en-US" sz="1634"/>
          </a:p>
        </p:txBody>
      </p:sp>
      <p:sp>
        <p:nvSpPr>
          <p:cNvPr id="19" name="Shape 17">
            <a:extLst>
              <a:ext uri="{FF2B5EF4-FFF2-40B4-BE49-F238E27FC236}">
                <a16:creationId xmlns:a16="http://schemas.microsoft.com/office/drawing/2014/main" id="{E7397018-E266-1872-4E3A-3874E9F5B0F5}"/>
              </a:ext>
            </a:extLst>
          </p:cNvPr>
          <p:cNvSpPr/>
          <p:nvPr/>
        </p:nvSpPr>
        <p:spPr>
          <a:xfrm>
            <a:off x="1602673" y="4644869"/>
            <a:ext cx="437870" cy="312764"/>
          </a:xfrm>
          <a:prstGeom prst="roundRect">
            <a:avLst>
              <a:gd name="adj" fmla="val 10000"/>
            </a:avLst>
          </a:prstGeom>
          <a:solidFill>
            <a:srgbClr val="E7EBEE"/>
          </a:solidFill>
          <a:ln w="12700">
            <a:solidFill>
              <a:srgbClr val="B9C2CB"/>
            </a:solidFill>
            <a:prstDash val="solid"/>
          </a:ln>
        </p:spPr>
        <p:txBody>
          <a:bodyPr/>
          <a:lstStyle/>
          <a:p>
            <a:endParaRPr lang="ko-KR" altLang="en-US" sz="1634"/>
          </a:p>
        </p:txBody>
      </p:sp>
      <p:sp>
        <p:nvSpPr>
          <p:cNvPr id="21" name="Shape 18">
            <a:extLst>
              <a:ext uri="{FF2B5EF4-FFF2-40B4-BE49-F238E27FC236}">
                <a16:creationId xmlns:a16="http://schemas.microsoft.com/office/drawing/2014/main" id="{C48C9DE3-3504-D843-6049-A5A1397E9D9C}"/>
              </a:ext>
            </a:extLst>
          </p:cNvPr>
          <p:cNvSpPr/>
          <p:nvPr/>
        </p:nvSpPr>
        <p:spPr>
          <a:xfrm>
            <a:off x="1688681" y="4715242"/>
            <a:ext cx="78191" cy="78191"/>
          </a:xfrm>
          <a:prstGeom prst="ellipse">
            <a:avLst/>
          </a:prstGeom>
          <a:solidFill>
            <a:srgbClr val="C9D1D8"/>
          </a:solidFill>
          <a:ln/>
        </p:spPr>
        <p:txBody>
          <a:bodyPr/>
          <a:lstStyle/>
          <a:p>
            <a:endParaRPr lang="ko-KR" altLang="en-US" sz="1634"/>
          </a:p>
        </p:txBody>
      </p:sp>
      <p:sp>
        <p:nvSpPr>
          <p:cNvPr id="23" name="Shape 19">
            <a:extLst>
              <a:ext uri="{FF2B5EF4-FFF2-40B4-BE49-F238E27FC236}">
                <a16:creationId xmlns:a16="http://schemas.microsoft.com/office/drawing/2014/main" id="{E621FD66-1C16-560D-A6B5-1BE01CDF6C76}"/>
              </a:ext>
            </a:extLst>
          </p:cNvPr>
          <p:cNvSpPr/>
          <p:nvPr/>
        </p:nvSpPr>
        <p:spPr>
          <a:xfrm>
            <a:off x="1633948" y="4895081"/>
            <a:ext cx="390955" cy="0"/>
          </a:xfrm>
          <a:prstGeom prst="line">
            <a:avLst/>
          </a:prstGeom>
          <a:noFill/>
          <a:ln w="15240">
            <a:solidFill>
              <a:srgbClr val="C9D1D8"/>
            </a:solidFill>
            <a:prstDash val="solid"/>
          </a:ln>
        </p:spPr>
        <p:txBody>
          <a:bodyPr/>
          <a:lstStyle/>
          <a:p>
            <a:endParaRPr lang="ko-KR" altLang="en-US" sz="1634"/>
          </a:p>
        </p:txBody>
      </p:sp>
      <p:sp>
        <p:nvSpPr>
          <p:cNvPr id="25" name="Text 20">
            <a:extLst>
              <a:ext uri="{FF2B5EF4-FFF2-40B4-BE49-F238E27FC236}">
                <a16:creationId xmlns:a16="http://schemas.microsoft.com/office/drawing/2014/main" id="{10F18751-3E2F-6D29-87D1-5B9D4CED8121}"/>
              </a:ext>
            </a:extLst>
          </p:cNvPr>
          <p:cNvSpPr/>
          <p:nvPr/>
        </p:nvSpPr>
        <p:spPr>
          <a:xfrm>
            <a:off x="685230" y="4988910"/>
            <a:ext cx="2272751" cy="195477"/>
          </a:xfrm>
          <a:prstGeom prst="rect">
            <a:avLst/>
          </a:prstGeom>
          <a:noFill/>
          <a:ln/>
        </p:spPr>
        <p:txBody>
          <a:bodyPr wrap="square" rtlCol="0" anchor="ctr"/>
          <a:lstStyle/>
          <a:p>
            <a:pPr algn="ctr"/>
            <a:r>
              <a:rPr lang="en-US" sz="812" b="1" dirty="0">
                <a:solidFill>
                  <a:srgbClr val="8A93A0"/>
                </a:solidFill>
                <a:latin typeface="맑은 고딕" pitchFamily="34" charset="0"/>
                <a:ea typeface="맑은 고딕" pitchFamily="34" charset="-122"/>
                <a:cs typeface="맑은 고딕" pitchFamily="34" charset="-120"/>
              </a:rPr>
              <a:t>사진 삽입</a:t>
            </a:r>
            <a:endParaRPr lang="en-US" sz="812" dirty="0"/>
          </a:p>
        </p:txBody>
      </p:sp>
      <p:sp>
        <p:nvSpPr>
          <p:cNvPr id="27" name="Text 21">
            <a:extLst>
              <a:ext uri="{FF2B5EF4-FFF2-40B4-BE49-F238E27FC236}">
                <a16:creationId xmlns:a16="http://schemas.microsoft.com/office/drawing/2014/main" id="{988370A4-CD24-DF4C-D46A-BA9CCB092319}"/>
              </a:ext>
            </a:extLst>
          </p:cNvPr>
          <p:cNvSpPr/>
          <p:nvPr/>
        </p:nvSpPr>
        <p:spPr>
          <a:xfrm>
            <a:off x="802517" y="5176568"/>
            <a:ext cx="2038178" cy="801458"/>
          </a:xfrm>
          <a:prstGeom prst="rect">
            <a:avLst/>
          </a:prstGeom>
          <a:noFill/>
          <a:ln/>
        </p:spPr>
        <p:txBody>
          <a:bodyPr wrap="square" rtlCol="0" anchor="t"/>
          <a:lstStyle/>
          <a:p>
            <a:pPr algn="ctr"/>
            <a:r>
              <a:rPr lang="en-US" sz="710" i="1" dirty="0">
                <a:solidFill>
                  <a:srgbClr val="8A93A0"/>
                </a:solidFill>
                <a:latin typeface="맑은 고딕" pitchFamily="34" charset="0"/>
                <a:ea typeface="맑은 고딕" pitchFamily="34" charset="-122"/>
                <a:cs typeface="맑은 고딕" pitchFamily="34" charset="-120"/>
              </a:rPr>
              <a:t>FSR-406 압력센서 사진</a:t>
            </a:r>
            <a:endParaRPr lang="en-US" sz="710" dirty="0"/>
          </a:p>
        </p:txBody>
      </p:sp>
      <p:sp>
        <p:nvSpPr>
          <p:cNvPr id="29" name="Shape 22">
            <a:extLst>
              <a:ext uri="{FF2B5EF4-FFF2-40B4-BE49-F238E27FC236}">
                <a16:creationId xmlns:a16="http://schemas.microsoft.com/office/drawing/2014/main" id="{5F2B2957-ABEC-94F9-87A7-BD5137AE7EDA}"/>
              </a:ext>
            </a:extLst>
          </p:cNvPr>
          <p:cNvSpPr/>
          <p:nvPr/>
        </p:nvSpPr>
        <p:spPr>
          <a:xfrm>
            <a:off x="3294203" y="1865183"/>
            <a:ext cx="2554238" cy="4300504"/>
          </a:xfrm>
          <a:prstGeom prst="roundRect">
            <a:avLst>
              <a:gd name="adj" fmla="val 2143"/>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31" name="Text 23">
            <a:extLst>
              <a:ext uri="{FF2B5EF4-FFF2-40B4-BE49-F238E27FC236}">
                <a16:creationId xmlns:a16="http://schemas.microsoft.com/office/drawing/2014/main" id="{1BDE103B-57BC-36BE-DAED-62F1578D8B42}"/>
              </a:ext>
            </a:extLst>
          </p:cNvPr>
          <p:cNvSpPr/>
          <p:nvPr/>
        </p:nvSpPr>
        <p:spPr>
          <a:xfrm>
            <a:off x="3434947" y="1990286"/>
            <a:ext cx="2272751" cy="312764"/>
          </a:xfrm>
          <a:prstGeom prst="rect">
            <a:avLst/>
          </a:prstGeom>
          <a:noFill/>
          <a:ln/>
        </p:spPr>
        <p:txBody>
          <a:bodyPr wrap="square" rtlCol="0" anchor="ctr"/>
          <a:lstStyle/>
          <a:p>
            <a:r>
              <a:rPr lang="en-US" sz="1112" b="1" dirty="0">
                <a:solidFill>
                  <a:srgbClr val="3B5BA7"/>
                </a:solidFill>
                <a:latin typeface="맑은 고딕" pitchFamily="34" charset="0"/>
                <a:ea typeface="맑은 고딕" pitchFamily="34" charset="-122"/>
                <a:cs typeface="맑은 고딕" pitchFamily="34" charset="-120"/>
              </a:rPr>
              <a:t>피에조 디스크</a:t>
            </a:r>
            <a:endParaRPr lang="en-US" sz="1112" dirty="0"/>
          </a:p>
        </p:txBody>
      </p:sp>
      <p:sp>
        <p:nvSpPr>
          <p:cNvPr id="33" name="Text 24">
            <a:extLst>
              <a:ext uri="{FF2B5EF4-FFF2-40B4-BE49-F238E27FC236}">
                <a16:creationId xmlns:a16="http://schemas.microsoft.com/office/drawing/2014/main" id="{64C4A413-7AC7-3E3F-AE4A-1CCAEE427E76}"/>
              </a:ext>
            </a:extLst>
          </p:cNvPr>
          <p:cNvSpPr/>
          <p:nvPr/>
        </p:nvSpPr>
        <p:spPr>
          <a:xfrm>
            <a:off x="3434947" y="2295231"/>
            <a:ext cx="2272751" cy="218934"/>
          </a:xfrm>
          <a:prstGeom prst="rect">
            <a:avLst/>
          </a:prstGeom>
          <a:noFill/>
          <a:ln/>
        </p:spPr>
        <p:txBody>
          <a:bodyPr wrap="square" rtlCol="0" anchor="ctr"/>
          <a:lstStyle/>
          <a:p>
            <a:r>
              <a:rPr lang="en-US" sz="812" dirty="0">
                <a:solidFill>
                  <a:srgbClr val="64748B"/>
                </a:solidFill>
                <a:latin typeface="맑은 고딕" pitchFamily="34" charset="0"/>
                <a:ea typeface="맑은 고딕" pitchFamily="34" charset="-122"/>
                <a:cs typeface="맑은 고딕" pitchFamily="34" charset="-120"/>
              </a:rPr>
              <a:t>음향 센서 · 2개(블록당 1개)</a:t>
            </a:r>
            <a:endParaRPr lang="en-US" sz="812" dirty="0"/>
          </a:p>
        </p:txBody>
      </p:sp>
      <p:sp>
        <p:nvSpPr>
          <p:cNvPr id="35" name="Text 25">
            <a:extLst>
              <a:ext uri="{FF2B5EF4-FFF2-40B4-BE49-F238E27FC236}">
                <a16:creationId xmlns:a16="http://schemas.microsoft.com/office/drawing/2014/main" id="{DF9B1A0F-2DEB-72F9-0F41-5EFFC76FCA0F}"/>
              </a:ext>
            </a:extLst>
          </p:cNvPr>
          <p:cNvSpPr/>
          <p:nvPr/>
        </p:nvSpPr>
        <p:spPr>
          <a:xfrm>
            <a:off x="3434947" y="2584538"/>
            <a:ext cx="2272751" cy="1290151"/>
          </a:xfrm>
          <a:prstGeom prst="rect">
            <a:avLst/>
          </a:prstGeom>
          <a:noFill/>
          <a:ln/>
        </p:spPr>
        <p:txBody>
          <a:bodyPr wrap="square" rtlCol="0" anchor="t"/>
          <a:lstStyle/>
          <a:p>
            <a:pPr>
              <a:lnSpc>
                <a:spcPct val="120000"/>
              </a:lnSpc>
            </a:pPr>
            <a:r>
              <a:rPr lang="en-US" sz="855" dirty="0">
                <a:solidFill>
                  <a:srgbClr val="1E293B"/>
                </a:solidFill>
                <a:latin typeface="맑은 고딕" pitchFamily="34" charset="0"/>
                <a:ea typeface="맑은 고딕" pitchFamily="34" charset="-122"/>
                <a:cs typeface="맑은 고딕" pitchFamily="34" charset="-120"/>
              </a:rPr>
              <a:t>셀 내부의 미세한 크랙(균열)이 만들어내는 음향 신호를 포착. 1MΩ 바이어스 저항으로 방전 경로를 확보한다.</a:t>
            </a:r>
            <a:endParaRPr lang="en-US" sz="855" dirty="0"/>
          </a:p>
        </p:txBody>
      </p:sp>
      <p:sp>
        <p:nvSpPr>
          <p:cNvPr id="37" name="Shape 26">
            <a:extLst>
              <a:ext uri="{FF2B5EF4-FFF2-40B4-BE49-F238E27FC236}">
                <a16:creationId xmlns:a16="http://schemas.microsoft.com/office/drawing/2014/main" id="{B38238D3-2D0C-2CCF-397F-5D9AAB12AC22}"/>
              </a:ext>
            </a:extLst>
          </p:cNvPr>
          <p:cNvSpPr/>
          <p:nvPr/>
        </p:nvSpPr>
        <p:spPr>
          <a:xfrm>
            <a:off x="3434947" y="3937241"/>
            <a:ext cx="2272751" cy="2072061"/>
          </a:xfrm>
          <a:prstGeom prst="roundRect">
            <a:avLst>
              <a:gd name="adj" fmla="val 2264"/>
            </a:avLst>
          </a:prstGeom>
          <a:solidFill>
            <a:srgbClr val="FBFBFA"/>
          </a:solidFill>
          <a:ln w="12700">
            <a:solidFill>
              <a:srgbClr val="B9C2CB"/>
            </a:solidFill>
            <a:prstDash val="dash"/>
          </a:ln>
        </p:spPr>
        <p:txBody>
          <a:bodyPr/>
          <a:lstStyle/>
          <a:p>
            <a:endParaRPr lang="ko-KR" altLang="en-US" sz="1634"/>
          </a:p>
        </p:txBody>
      </p:sp>
      <p:sp>
        <p:nvSpPr>
          <p:cNvPr id="39" name="Shape 27">
            <a:extLst>
              <a:ext uri="{FF2B5EF4-FFF2-40B4-BE49-F238E27FC236}">
                <a16:creationId xmlns:a16="http://schemas.microsoft.com/office/drawing/2014/main" id="{FC45BFF7-02EB-34D5-C844-99D0627ED0B9}"/>
              </a:ext>
            </a:extLst>
          </p:cNvPr>
          <p:cNvSpPr/>
          <p:nvPr/>
        </p:nvSpPr>
        <p:spPr>
          <a:xfrm>
            <a:off x="4352387" y="4644869"/>
            <a:ext cx="437870" cy="312764"/>
          </a:xfrm>
          <a:prstGeom prst="roundRect">
            <a:avLst>
              <a:gd name="adj" fmla="val 10000"/>
            </a:avLst>
          </a:prstGeom>
          <a:solidFill>
            <a:srgbClr val="E7EBEE"/>
          </a:solidFill>
          <a:ln w="12700">
            <a:solidFill>
              <a:srgbClr val="B9C2CB"/>
            </a:solidFill>
            <a:prstDash val="solid"/>
          </a:ln>
        </p:spPr>
        <p:txBody>
          <a:bodyPr/>
          <a:lstStyle/>
          <a:p>
            <a:endParaRPr lang="ko-KR" altLang="en-US" sz="1634"/>
          </a:p>
        </p:txBody>
      </p:sp>
      <p:sp>
        <p:nvSpPr>
          <p:cNvPr id="41" name="Shape 28">
            <a:extLst>
              <a:ext uri="{FF2B5EF4-FFF2-40B4-BE49-F238E27FC236}">
                <a16:creationId xmlns:a16="http://schemas.microsoft.com/office/drawing/2014/main" id="{DA449DCD-95D5-6B27-DF9A-55A8DF7349DC}"/>
              </a:ext>
            </a:extLst>
          </p:cNvPr>
          <p:cNvSpPr/>
          <p:nvPr/>
        </p:nvSpPr>
        <p:spPr>
          <a:xfrm>
            <a:off x="4438399" y="4715242"/>
            <a:ext cx="78191" cy="78191"/>
          </a:xfrm>
          <a:prstGeom prst="ellipse">
            <a:avLst/>
          </a:prstGeom>
          <a:solidFill>
            <a:srgbClr val="C9D1D8"/>
          </a:solidFill>
          <a:ln/>
        </p:spPr>
        <p:txBody>
          <a:bodyPr/>
          <a:lstStyle/>
          <a:p>
            <a:endParaRPr lang="ko-KR" altLang="en-US" sz="1634"/>
          </a:p>
        </p:txBody>
      </p:sp>
      <p:sp>
        <p:nvSpPr>
          <p:cNvPr id="43" name="Shape 29">
            <a:extLst>
              <a:ext uri="{FF2B5EF4-FFF2-40B4-BE49-F238E27FC236}">
                <a16:creationId xmlns:a16="http://schemas.microsoft.com/office/drawing/2014/main" id="{2A7E7245-A0B7-D73F-8437-625AA4C0B694}"/>
              </a:ext>
            </a:extLst>
          </p:cNvPr>
          <p:cNvSpPr/>
          <p:nvPr/>
        </p:nvSpPr>
        <p:spPr>
          <a:xfrm>
            <a:off x="4383664" y="4895081"/>
            <a:ext cx="390955" cy="0"/>
          </a:xfrm>
          <a:prstGeom prst="line">
            <a:avLst/>
          </a:prstGeom>
          <a:noFill/>
          <a:ln w="15240">
            <a:solidFill>
              <a:srgbClr val="C9D1D8"/>
            </a:solidFill>
            <a:prstDash val="solid"/>
          </a:ln>
        </p:spPr>
        <p:txBody>
          <a:bodyPr/>
          <a:lstStyle/>
          <a:p>
            <a:endParaRPr lang="ko-KR" altLang="en-US" sz="1634"/>
          </a:p>
        </p:txBody>
      </p:sp>
      <p:sp>
        <p:nvSpPr>
          <p:cNvPr id="45" name="Text 30">
            <a:extLst>
              <a:ext uri="{FF2B5EF4-FFF2-40B4-BE49-F238E27FC236}">
                <a16:creationId xmlns:a16="http://schemas.microsoft.com/office/drawing/2014/main" id="{B8E31BE3-8940-CB3C-15FD-3F0BB7B4BB41}"/>
              </a:ext>
            </a:extLst>
          </p:cNvPr>
          <p:cNvSpPr/>
          <p:nvPr/>
        </p:nvSpPr>
        <p:spPr>
          <a:xfrm>
            <a:off x="3434947" y="4988910"/>
            <a:ext cx="2272751" cy="195477"/>
          </a:xfrm>
          <a:prstGeom prst="rect">
            <a:avLst/>
          </a:prstGeom>
          <a:noFill/>
          <a:ln/>
        </p:spPr>
        <p:txBody>
          <a:bodyPr wrap="square" rtlCol="0" anchor="ctr"/>
          <a:lstStyle/>
          <a:p>
            <a:pPr algn="ctr"/>
            <a:r>
              <a:rPr lang="en-US" sz="812" b="1" dirty="0">
                <a:solidFill>
                  <a:srgbClr val="8A93A0"/>
                </a:solidFill>
                <a:latin typeface="맑은 고딕" pitchFamily="34" charset="0"/>
                <a:ea typeface="맑은 고딕" pitchFamily="34" charset="-122"/>
                <a:cs typeface="맑은 고딕" pitchFamily="34" charset="-120"/>
              </a:rPr>
              <a:t>사진 삽입</a:t>
            </a:r>
            <a:endParaRPr lang="en-US" sz="812" dirty="0"/>
          </a:p>
        </p:txBody>
      </p:sp>
      <p:sp>
        <p:nvSpPr>
          <p:cNvPr id="47" name="Text 31">
            <a:extLst>
              <a:ext uri="{FF2B5EF4-FFF2-40B4-BE49-F238E27FC236}">
                <a16:creationId xmlns:a16="http://schemas.microsoft.com/office/drawing/2014/main" id="{283D9D72-8FF9-8DDC-B4AE-8399AC018C56}"/>
              </a:ext>
            </a:extLst>
          </p:cNvPr>
          <p:cNvSpPr/>
          <p:nvPr/>
        </p:nvSpPr>
        <p:spPr>
          <a:xfrm>
            <a:off x="3552233" y="5176568"/>
            <a:ext cx="2038178" cy="801458"/>
          </a:xfrm>
          <a:prstGeom prst="rect">
            <a:avLst/>
          </a:prstGeom>
          <a:noFill/>
          <a:ln/>
        </p:spPr>
        <p:txBody>
          <a:bodyPr wrap="square" rtlCol="0" anchor="t"/>
          <a:lstStyle/>
          <a:p>
            <a:pPr algn="ctr"/>
            <a:r>
              <a:rPr lang="en-US" sz="710" i="1" dirty="0">
                <a:solidFill>
                  <a:srgbClr val="8A93A0"/>
                </a:solidFill>
                <a:latin typeface="맑은 고딕" pitchFamily="34" charset="0"/>
                <a:ea typeface="맑은 고딕" pitchFamily="34" charset="-122"/>
                <a:cs typeface="맑은 고딕" pitchFamily="34" charset="-120"/>
              </a:rPr>
              <a:t>피에조 디스크 사진</a:t>
            </a:r>
            <a:endParaRPr lang="en-US" sz="710" dirty="0"/>
          </a:p>
        </p:txBody>
      </p:sp>
      <p:sp>
        <p:nvSpPr>
          <p:cNvPr id="49" name="Shape 32">
            <a:extLst>
              <a:ext uri="{FF2B5EF4-FFF2-40B4-BE49-F238E27FC236}">
                <a16:creationId xmlns:a16="http://schemas.microsoft.com/office/drawing/2014/main" id="{E9B90942-B7E1-F112-3464-F0B189ABA016}"/>
              </a:ext>
            </a:extLst>
          </p:cNvPr>
          <p:cNvSpPr/>
          <p:nvPr/>
        </p:nvSpPr>
        <p:spPr>
          <a:xfrm>
            <a:off x="6043918" y="1865183"/>
            <a:ext cx="2554238" cy="4300504"/>
          </a:xfrm>
          <a:prstGeom prst="roundRect">
            <a:avLst>
              <a:gd name="adj" fmla="val 2143"/>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51" name="Text 33">
            <a:extLst>
              <a:ext uri="{FF2B5EF4-FFF2-40B4-BE49-F238E27FC236}">
                <a16:creationId xmlns:a16="http://schemas.microsoft.com/office/drawing/2014/main" id="{0D504945-0AA2-418C-7B9B-35730530B07A}"/>
              </a:ext>
            </a:extLst>
          </p:cNvPr>
          <p:cNvSpPr/>
          <p:nvPr/>
        </p:nvSpPr>
        <p:spPr>
          <a:xfrm>
            <a:off x="6184662" y="1990286"/>
            <a:ext cx="2272751" cy="312764"/>
          </a:xfrm>
          <a:prstGeom prst="rect">
            <a:avLst/>
          </a:prstGeom>
          <a:noFill/>
          <a:ln/>
        </p:spPr>
        <p:txBody>
          <a:bodyPr wrap="square" rtlCol="0" anchor="ctr"/>
          <a:lstStyle/>
          <a:p>
            <a:r>
              <a:rPr lang="en-US" sz="1112" b="1" dirty="0">
                <a:solidFill>
                  <a:srgbClr val="3B5BA7"/>
                </a:solidFill>
                <a:latin typeface="맑은 고딕" pitchFamily="34" charset="0"/>
                <a:ea typeface="맑은 고딕" pitchFamily="34" charset="-122"/>
                <a:cs typeface="맑은 고딕" pitchFamily="34" charset="-120"/>
              </a:rPr>
              <a:t>4채널 릴레이 모듈</a:t>
            </a:r>
            <a:endParaRPr lang="en-US" sz="1112" dirty="0"/>
          </a:p>
        </p:txBody>
      </p:sp>
      <p:sp>
        <p:nvSpPr>
          <p:cNvPr id="53" name="Text 34">
            <a:extLst>
              <a:ext uri="{FF2B5EF4-FFF2-40B4-BE49-F238E27FC236}">
                <a16:creationId xmlns:a16="http://schemas.microsoft.com/office/drawing/2014/main" id="{6F22A50E-F7D3-4D23-1251-5F8299A0524D}"/>
              </a:ext>
            </a:extLst>
          </p:cNvPr>
          <p:cNvSpPr/>
          <p:nvPr/>
        </p:nvSpPr>
        <p:spPr>
          <a:xfrm>
            <a:off x="6184662" y="2295231"/>
            <a:ext cx="2272751" cy="218934"/>
          </a:xfrm>
          <a:prstGeom prst="rect">
            <a:avLst/>
          </a:prstGeom>
          <a:noFill/>
          <a:ln/>
        </p:spPr>
        <p:txBody>
          <a:bodyPr wrap="square" rtlCol="0" anchor="ctr"/>
          <a:lstStyle/>
          <a:p>
            <a:r>
              <a:rPr lang="en-US" sz="812" dirty="0">
                <a:solidFill>
                  <a:srgbClr val="64748B"/>
                </a:solidFill>
                <a:latin typeface="맑은 고딕" pitchFamily="34" charset="0"/>
                <a:ea typeface="맑은 고딕" pitchFamily="34" charset="-122"/>
                <a:cs typeface="맑은 고딕" pitchFamily="34" charset="-120"/>
              </a:rPr>
              <a:t>SZH-RLBG-012 · 1개</a:t>
            </a:r>
            <a:endParaRPr lang="en-US" sz="812" dirty="0"/>
          </a:p>
        </p:txBody>
      </p:sp>
      <p:sp>
        <p:nvSpPr>
          <p:cNvPr id="55" name="Text 35">
            <a:extLst>
              <a:ext uri="{FF2B5EF4-FFF2-40B4-BE49-F238E27FC236}">
                <a16:creationId xmlns:a16="http://schemas.microsoft.com/office/drawing/2014/main" id="{5E76D057-A145-53E3-94D1-EA96A517C3D8}"/>
              </a:ext>
            </a:extLst>
          </p:cNvPr>
          <p:cNvSpPr/>
          <p:nvPr/>
        </p:nvSpPr>
        <p:spPr>
          <a:xfrm>
            <a:off x="6184662" y="2584538"/>
            <a:ext cx="2272751" cy="1290151"/>
          </a:xfrm>
          <a:prstGeom prst="rect">
            <a:avLst/>
          </a:prstGeom>
          <a:noFill/>
          <a:ln/>
        </p:spPr>
        <p:txBody>
          <a:bodyPr wrap="square" rtlCol="0" anchor="t"/>
          <a:lstStyle/>
          <a:p>
            <a:pPr>
              <a:lnSpc>
                <a:spcPct val="120000"/>
              </a:lnSpc>
            </a:pPr>
            <a:r>
              <a:rPr lang="en-US" sz="855" dirty="0">
                <a:solidFill>
                  <a:srgbClr val="1E293B"/>
                </a:solidFill>
                <a:latin typeface="맑은 고딕" pitchFamily="34" charset="0"/>
                <a:ea typeface="맑은 고딕" pitchFamily="34" charset="-122"/>
                <a:cs typeface="맑은 고딕" pitchFamily="34" charset="-120"/>
              </a:rPr>
              <a:t>모드1·2·3 배터리 전력경로 선택(채널1~3)과 모드1 충/방전 전환(채널4)을 겸하는 시스템의 핵심 스위칭 소자. NO접점 배선으로 무여자 시 자동 안전차단.</a:t>
            </a:r>
            <a:endParaRPr lang="en-US" sz="855" dirty="0"/>
          </a:p>
        </p:txBody>
      </p:sp>
      <p:sp>
        <p:nvSpPr>
          <p:cNvPr id="57" name="Shape 36">
            <a:extLst>
              <a:ext uri="{FF2B5EF4-FFF2-40B4-BE49-F238E27FC236}">
                <a16:creationId xmlns:a16="http://schemas.microsoft.com/office/drawing/2014/main" id="{66C162E2-7FBA-619B-1476-C6CD14E0965F}"/>
              </a:ext>
            </a:extLst>
          </p:cNvPr>
          <p:cNvSpPr/>
          <p:nvPr/>
        </p:nvSpPr>
        <p:spPr>
          <a:xfrm>
            <a:off x="6184662" y="3937241"/>
            <a:ext cx="2272751" cy="2072061"/>
          </a:xfrm>
          <a:prstGeom prst="roundRect">
            <a:avLst>
              <a:gd name="adj" fmla="val 2264"/>
            </a:avLst>
          </a:prstGeom>
          <a:solidFill>
            <a:srgbClr val="FBFBFA"/>
          </a:solidFill>
          <a:ln w="12700">
            <a:solidFill>
              <a:srgbClr val="B9C2CB"/>
            </a:solidFill>
            <a:prstDash val="dash"/>
          </a:ln>
        </p:spPr>
        <p:txBody>
          <a:bodyPr/>
          <a:lstStyle/>
          <a:p>
            <a:endParaRPr lang="ko-KR" altLang="en-US" sz="1634"/>
          </a:p>
        </p:txBody>
      </p:sp>
      <p:sp>
        <p:nvSpPr>
          <p:cNvPr id="59" name="Shape 37">
            <a:extLst>
              <a:ext uri="{FF2B5EF4-FFF2-40B4-BE49-F238E27FC236}">
                <a16:creationId xmlns:a16="http://schemas.microsoft.com/office/drawing/2014/main" id="{7626FFB6-56A9-F89B-DF0A-73E13387DF3F}"/>
              </a:ext>
            </a:extLst>
          </p:cNvPr>
          <p:cNvSpPr/>
          <p:nvPr/>
        </p:nvSpPr>
        <p:spPr>
          <a:xfrm>
            <a:off x="7102105" y="4644869"/>
            <a:ext cx="437870" cy="312764"/>
          </a:xfrm>
          <a:prstGeom prst="roundRect">
            <a:avLst>
              <a:gd name="adj" fmla="val 10000"/>
            </a:avLst>
          </a:prstGeom>
          <a:solidFill>
            <a:srgbClr val="E7EBEE"/>
          </a:solidFill>
          <a:ln w="12700">
            <a:solidFill>
              <a:srgbClr val="B9C2CB"/>
            </a:solidFill>
            <a:prstDash val="solid"/>
          </a:ln>
        </p:spPr>
        <p:txBody>
          <a:bodyPr/>
          <a:lstStyle/>
          <a:p>
            <a:endParaRPr lang="ko-KR" altLang="en-US" sz="1634"/>
          </a:p>
        </p:txBody>
      </p:sp>
      <p:sp>
        <p:nvSpPr>
          <p:cNvPr id="61" name="Shape 38">
            <a:extLst>
              <a:ext uri="{FF2B5EF4-FFF2-40B4-BE49-F238E27FC236}">
                <a16:creationId xmlns:a16="http://schemas.microsoft.com/office/drawing/2014/main" id="{7861148E-6E2D-5E2A-6C30-F62E4DF85979}"/>
              </a:ext>
            </a:extLst>
          </p:cNvPr>
          <p:cNvSpPr/>
          <p:nvPr/>
        </p:nvSpPr>
        <p:spPr>
          <a:xfrm>
            <a:off x="7188116" y="4715242"/>
            <a:ext cx="78191" cy="78191"/>
          </a:xfrm>
          <a:prstGeom prst="ellipse">
            <a:avLst/>
          </a:prstGeom>
          <a:solidFill>
            <a:srgbClr val="C9D1D8"/>
          </a:solidFill>
          <a:ln/>
        </p:spPr>
        <p:txBody>
          <a:bodyPr/>
          <a:lstStyle/>
          <a:p>
            <a:endParaRPr lang="ko-KR" altLang="en-US" sz="1634"/>
          </a:p>
        </p:txBody>
      </p:sp>
      <p:sp>
        <p:nvSpPr>
          <p:cNvPr id="63" name="Shape 39">
            <a:extLst>
              <a:ext uri="{FF2B5EF4-FFF2-40B4-BE49-F238E27FC236}">
                <a16:creationId xmlns:a16="http://schemas.microsoft.com/office/drawing/2014/main" id="{260197BB-9514-65E1-BF1E-AB800F783FC5}"/>
              </a:ext>
            </a:extLst>
          </p:cNvPr>
          <p:cNvSpPr/>
          <p:nvPr/>
        </p:nvSpPr>
        <p:spPr>
          <a:xfrm>
            <a:off x="7133382" y="4895081"/>
            <a:ext cx="390955" cy="0"/>
          </a:xfrm>
          <a:prstGeom prst="line">
            <a:avLst/>
          </a:prstGeom>
          <a:noFill/>
          <a:ln w="15240">
            <a:solidFill>
              <a:srgbClr val="C9D1D8"/>
            </a:solidFill>
            <a:prstDash val="solid"/>
          </a:ln>
        </p:spPr>
        <p:txBody>
          <a:bodyPr/>
          <a:lstStyle/>
          <a:p>
            <a:endParaRPr lang="ko-KR" altLang="en-US" sz="1634"/>
          </a:p>
        </p:txBody>
      </p:sp>
      <p:sp>
        <p:nvSpPr>
          <p:cNvPr id="65" name="Text 40">
            <a:extLst>
              <a:ext uri="{FF2B5EF4-FFF2-40B4-BE49-F238E27FC236}">
                <a16:creationId xmlns:a16="http://schemas.microsoft.com/office/drawing/2014/main" id="{F19BBEAD-FA41-647B-4A91-3180F7467C1D}"/>
              </a:ext>
            </a:extLst>
          </p:cNvPr>
          <p:cNvSpPr/>
          <p:nvPr/>
        </p:nvSpPr>
        <p:spPr>
          <a:xfrm>
            <a:off x="6184662" y="4988910"/>
            <a:ext cx="2272751" cy="195477"/>
          </a:xfrm>
          <a:prstGeom prst="rect">
            <a:avLst/>
          </a:prstGeom>
          <a:noFill/>
          <a:ln/>
        </p:spPr>
        <p:txBody>
          <a:bodyPr wrap="square" rtlCol="0" anchor="ctr"/>
          <a:lstStyle/>
          <a:p>
            <a:pPr algn="ctr"/>
            <a:r>
              <a:rPr lang="en-US" sz="812" b="1" dirty="0">
                <a:solidFill>
                  <a:srgbClr val="8A93A0"/>
                </a:solidFill>
                <a:latin typeface="맑은 고딕" pitchFamily="34" charset="0"/>
                <a:ea typeface="맑은 고딕" pitchFamily="34" charset="-122"/>
                <a:cs typeface="맑은 고딕" pitchFamily="34" charset="-120"/>
              </a:rPr>
              <a:t>사진 삽입</a:t>
            </a:r>
            <a:endParaRPr lang="en-US" sz="812" dirty="0"/>
          </a:p>
        </p:txBody>
      </p:sp>
      <p:sp>
        <p:nvSpPr>
          <p:cNvPr id="67" name="Text 41">
            <a:extLst>
              <a:ext uri="{FF2B5EF4-FFF2-40B4-BE49-F238E27FC236}">
                <a16:creationId xmlns:a16="http://schemas.microsoft.com/office/drawing/2014/main" id="{8DAAD327-350C-AC81-B5A1-DCC4C47888F4}"/>
              </a:ext>
            </a:extLst>
          </p:cNvPr>
          <p:cNvSpPr/>
          <p:nvPr/>
        </p:nvSpPr>
        <p:spPr>
          <a:xfrm>
            <a:off x="6301948" y="5176568"/>
            <a:ext cx="2038178" cy="801458"/>
          </a:xfrm>
          <a:prstGeom prst="rect">
            <a:avLst/>
          </a:prstGeom>
          <a:noFill/>
          <a:ln/>
        </p:spPr>
        <p:txBody>
          <a:bodyPr wrap="square" rtlCol="0" anchor="t"/>
          <a:lstStyle/>
          <a:p>
            <a:pPr algn="ctr"/>
            <a:r>
              <a:rPr lang="en-US" sz="710" i="1" dirty="0">
                <a:solidFill>
                  <a:srgbClr val="8A93A0"/>
                </a:solidFill>
                <a:latin typeface="맑은 고딕" pitchFamily="34" charset="0"/>
                <a:ea typeface="맑은 고딕" pitchFamily="34" charset="-122"/>
                <a:cs typeface="맑은 고딕" pitchFamily="34" charset="-120"/>
              </a:rPr>
              <a:t>4채널 릴레이 모듈 사진</a:t>
            </a:r>
            <a:endParaRPr lang="en-US" sz="710" dirty="0"/>
          </a:p>
        </p:txBody>
      </p:sp>
      <p:pic>
        <p:nvPicPr>
          <p:cNvPr id="69" name="Picture 9">
            <a:extLst>
              <a:ext uri="{FF2B5EF4-FFF2-40B4-BE49-F238E27FC236}">
                <a16:creationId xmlns:a16="http://schemas.microsoft.com/office/drawing/2014/main" id="{A3D3F13F-4E1A-ACF4-4176-A1B36AE260EA}"/>
              </a:ext>
            </a:extLst>
          </p:cNvPr>
          <p:cNvPicPr>
            <a:picLocks noChangeAspect="1"/>
          </p:cNvPicPr>
          <p:nvPr/>
        </p:nvPicPr>
        <p:blipFill>
          <a:blip r:embed="rId5"/>
          <a:stretch>
            <a:fillRect/>
          </a:stretch>
        </p:blipFill>
        <p:spPr>
          <a:xfrm rot="5400000">
            <a:off x="829082" y="3880405"/>
            <a:ext cx="2017097" cy="2240714"/>
          </a:xfrm>
          <a:prstGeom prst="rect">
            <a:avLst/>
          </a:prstGeom>
          <a:noFill/>
          <a:ln>
            <a:noFill/>
          </a:ln>
          <a:effectLst/>
        </p:spPr>
      </p:pic>
      <p:pic>
        <p:nvPicPr>
          <p:cNvPr id="71" name="Picture 11">
            <a:extLst>
              <a:ext uri="{FF2B5EF4-FFF2-40B4-BE49-F238E27FC236}">
                <a16:creationId xmlns:a16="http://schemas.microsoft.com/office/drawing/2014/main" id="{E721BC08-67DB-9B75-8310-B5A7EC64C5A5}"/>
              </a:ext>
            </a:extLst>
          </p:cNvPr>
          <p:cNvPicPr>
            <a:picLocks noChangeAspect="1"/>
          </p:cNvPicPr>
          <p:nvPr/>
        </p:nvPicPr>
        <p:blipFill>
          <a:blip r:embed="rId6"/>
          <a:stretch>
            <a:fillRect/>
          </a:stretch>
        </p:blipFill>
        <p:spPr>
          <a:xfrm>
            <a:off x="3495497" y="3992208"/>
            <a:ext cx="2167302" cy="1912842"/>
          </a:xfrm>
          <a:prstGeom prst="rect">
            <a:avLst/>
          </a:prstGeom>
          <a:noFill/>
          <a:ln>
            <a:noFill/>
          </a:ln>
          <a:effectLst/>
        </p:spPr>
      </p:pic>
      <p:sp>
        <p:nvSpPr>
          <p:cNvPr id="73" name="Rectangle 2">
            <a:extLst>
              <a:ext uri="{FF2B5EF4-FFF2-40B4-BE49-F238E27FC236}">
                <a16:creationId xmlns:a16="http://schemas.microsoft.com/office/drawing/2014/main" id="{9EED758B-6920-FD10-2F50-5CDDDE2D6EF8}"/>
              </a:ext>
            </a:extLst>
          </p:cNvPr>
          <p:cNvSpPr>
            <a:spLocks noChangeArrowheads="1"/>
          </p:cNvSpPr>
          <p:nvPr/>
        </p:nvSpPr>
        <p:spPr bwMode="auto">
          <a:xfrm>
            <a:off x="6239643" y="3631511"/>
            <a:ext cx="157974" cy="330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8191" tIns="39096" rIns="78191" bIns="39096" numCol="1" anchor="ctr" anchorCtr="0" compatLnSpc="1">
            <a:prstTxWarp prst="textNoShape">
              <a:avLst/>
            </a:prstTxWarp>
            <a:spAutoFit/>
          </a:bodyPr>
          <a:lstStyle/>
          <a:p>
            <a:endParaRPr lang="ko-KR" altLang="en-US" sz="1634"/>
          </a:p>
        </p:txBody>
      </p:sp>
      <p:pic>
        <p:nvPicPr>
          <p:cNvPr id="75" name="_x491071984">
            <a:extLst>
              <a:ext uri="{FF2B5EF4-FFF2-40B4-BE49-F238E27FC236}">
                <a16:creationId xmlns:a16="http://schemas.microsoft.com/office/drawing/2014/main" id="{AED6A27C-8F58-A97B-F79E-40C6D5E2D02B}"/>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239636" y="3992206"/>
            <a:ext cx="2167900" cy="1985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86233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4BCB1-6F9C-FF13-163B-3B67BAD1363E}"/>
            </a:ext>
          </a:extLst>
        </p:cNvPr>
        <p:cNvGrpSpPr/>
        <p:nvPr/>
      </p:nvGrpSpPr>
      <p:grpSpPr>
        <a:xfrm>
          <a:off x="0" y="0"/>
          <a:ext cx="0" cy="0"/>
          <a:chOff x="0" y="0"/>
          <a:chExt cx="0" cy="0"/>
        </a:xfrm>
      </p:grpSpPr>
      <p:sp>
        <p:nvSpPr>
          <p:cNvPr id="74" name="직사각형 74"/>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5" name="직선 연결선 75"/>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76" name="직선 연결선 76"/>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77" name="제목 77"/>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부품 리스트</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78" name="막힌 원호 78"/>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965D1DAB-8B8C-F1E6-7F63-03EA283C7634}"/>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27ACF885-16DE-B153-ED6B-729FD1877254}"/>
              </a:ext>
            </a:extLst>
          </p:cNvPr>
          <p:cNvPicPr/>
          <p:nvPr/>
        </p:nvPicPr>
        <p:blipFill>
          <a:blip r:embed="rId4" cstate="print"/>
          <a:stretch>
            <a:fillRect/>
          </a:stretch>
        </p:blipFill>
        <p:spPr>
          <a:xfrm>
            <a:off x="7275128" y="314247"/>
            <a:ext cx="1325611" cy="307338"/>
          </a:xfrm>
          <a:prstGeom prst="rect">
            <a:avLst/>
          </a:prstGeom>
        </p:spPr>
      </p:pic>
      <p:sp>
        <p:nvSpPr>
          <p:cNvPr id="9" name="Shape 12">
            <a:extLst>
              <a:ext uri="{FF2B5EF4-FFF2-40B4-BE49-F238E27FC236}">
                <a16:creationId xmlns:a16="http://schemas.microsoft.com/office/drawing/2014/main" id="{4DCF1881-3236-99DB-B220-AE747D72358E}"/>
              </a:ext>
            </a:extLst>
          </p:cNvPr>
          <p:cNvSpPr/>
          <p:nvPr/>
        </p:nvSpPr>
        <p:spPr>
          <a:xfrm>
            <a:off x="561952" y="1865183"/>
            <a:ext cx="2554238" cy="4300504"/>
          </a:xfrm>
          <a:prstGeom prst="roundRect">
            <a:avLst>
              <a:gd name="adj" fmla="val 2143"/>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11" name="Text 13">
            <a:extLst>
              <a:ext uri="{FF2B5EF4-FFF2-40B4-BE49-F238E27FC236}">
                <a16:creationId xmlns:a16="http://schemas.microsoft.com/office/drawing/2014/main" id="{5FA5B1A6-4EE6-8E9D-C171-A31F28FDE844}"/>
              </a:ext>
            </a:extLst>
          </p:cNvPr>
          <p:cNvSpPr/>
          <p:nvPr/>
        </p:nvSpPr>
        <p:spPr>
          <a:xfrm>
            <a:off x="702696" y="1990286"/>
            <a:ext cx="2272751" cy="312764"/>
          </a:xfrm>
          <a:prstGeom prst="rect">
            <a:avLst/>
          </a:prstGeom>
          <a:noFill/>
          <a:ln/>
        </p:spPr>
        <p:txBody>
          <a:bodyPr wrap="square" rtlCol="0" anchor="ctr"/>
          <a:lstStyle/>
          <a:p>
            <a:r>
              <a:rPr lang="en-US" sz="1112" b="1" dirty="0">
                <a:solidFill>
                  <a:srgbClr val="3B5BA7"/>
                </a:solidFill>
                <a:latin typeface="맑은 고딕" pitchFamily="34" charset="0"/>
                <a:ea typeface="맑은 고딕" pitchFamily="34" charset="-122"/>
                <a:cs typeface="맑은 고딕" pitchFamily="34" charset="-120"/>
              </a:rPr>
              <a:t>TP4056 (보호회로 포함형)</a:t>
            </a:r>
            <a:endParaRPr lang="en-US" sz="1112" dirty="0"/>
          </a:p>
        </p:txBody>
      </p:sp>
      <p:sp>
        <p:nvSpPr>
          <p:cNvPr id="13" name="Text 14">
            <a:extLst>
              <a:ext uri="{FF2B5EF4-FFF2-40B4-BE49-F238E27FC236}">
                <a16:creationId xmlns:a16="http://schemas.microsoft.com/office/drawing/2014/main" id="{12C14F8A-4CAB-358B-C215-C8B7ECB6FDF9}"/>
              </a:ext>
            </a:extLst>
          </p:cNvPr>
          <p:cNvSpPr/>
          <p:nvPr/>
        </p:nvSpPr>
        <p:spPr>
          <a:xfrm>
            <a:off x="702696" y="2295231"/>
            <a:ext cx="2272751" cy="218934"/>
          </a:xfrm>
          <a:prstGeom prst="rect">
            <a:avLst/>
          </a:prstGeom>
          <a:noFill/>
          <a:ln/>
        </p:spPr>
        <p:txBody>
          <a:bodyPr wrap="square" rtlCol="0" anchor="ctr"/>
          <a:lstStyle/>
          <a:p>
            <a:r>
              <a:rPr lang="en-US" sz="812" dirty="0">
                <a:solidFill>
                  <a:srgbClr val="64748B"/>
                </a:solidFill>
                <a:latin typeface="맑은 고딕" pitchFamily="34" charset="0"/>
                <a:ea typeface="맑은 고딕" pitchFamily="34" charset="-122"/>
                <a:cs typeface="맑은 고딕" pitchFamily="34" charset="-120"/>
              </a:rPr>
              <a:t>충전모듈 · 1개(모드1 전용)</a:t>
            </a:r>
            <a:endParaRPr lang="en-US" sz="812" dirty="0"/>
          </a:p>
        </p:txBody>
      </p:sp>
      <p:sp>
        <p:nvSpPr>
          <p:cNvPr id="15" name="Text 15">
            <a:extLst>
              <a:ext uri="{FF2B5EF4-FFF2-40B4-BE49-F238E27FC236}">
                <a16:creationId xmlns:a16="http://schemas.microsoft.com/office/drawing/2014/main" id="{F3C81370-7EE0-FB6D-14A9-BB140C1BC32D}"/>
              </a:ext>
            </a:extLst>
          </p:cNvPr>
          <p:cNvSpPr/>
          <p:nvPr/>
        </p:nvSpPr>
        <p:spPr>
          <a:xfrm>
            <a:off x="702696" y="2584538"/>
            <a:ext cx="2272751" cy="1290151"/>
          </a:xfrm>
          <a:prstGeom prst="rect">
            <a:avLst/>
          </a:prstGeom>
          <a:noFill/>
          <a:ln/>
        </p:spPr>
        <p:txBody>
          <a:bodyPr wrap="square" rtlCol="0" anchor="t"/>
          <a:lstStyle/>
          <a:p>
            <a:pPr>
              <a:lnSpc>
                <a:spcPct val="120000"/>
              </a:lnSpc>
            </a:pPr>
            <a:r>
              <a:rPr lang="en-US" sz="855" dirty="0">
                <a:solidFill>
                  <a:srgbClr val="1E293B"/>
                </a:solidFill>
                <a:latin typeface="맑은 고딕" pitchFamily="34" charset="0"/>
                <a:ea typeface="맑은 고딕" pitchFamily="34" charset="-122"/>
                <a:cs typeface="맑은 고딕" pitchFamily="34" charset="-120"/>
              </a:rPr>
              <a:t>내장 1셀 배터리의 충전을 전담. 과충전 · 과방전 · 과전류 보호 IC가 내장되어 OUT+/− 가 충전 여부와 무관하게 상시 살아있어 방전 경로로도 활용된다.</a:t>
            </a:r>
            <a:endParaRPr lang="en-US" sz="855" dirty="0"/>
          </a:p>
        </p:txBody>
      </p:sp>
      <p:sp>
        <p:nvSpPr>
          <p:cNvPr id="17" name="Shape 16">
            <a:extLst>
              <a:ext uri="{FF2B5EF4-FFF2-40B4-BE49-F238E27FC236}">
                <a16:creationId xmlns:a16="http://schemas.microsoft.com/office/drawing/2014/main" id="{88C022CD-8938-2011-0E1D-1E9712A1408A}"/>
              </a:ext>
            </a:extLst>
          </p:cNvPr>
          <p:cNvSpPr/>
          <p:nvPr/>
        </p:nvSpPr>
        <p:spPr>
          <a:xfrm>
            <a:off x="702696" y="3937241"/>
            <a:ext cx="2272751" cy="2072061"/>
          </a:xfrm>
          <a:prstGeom prst="roundRect">
            <a:avLst>
              <a:gd name="adj" fmla="val 2264"/>
            </a:avLst>
          </a:prstGeom>
          <a:solidFill>
            <a:srgbClr val="FBFBFA"/>
          </a:solidFill>
          <a:ln w="12700">
            <a:solidFill>
              <a:srgbClr val="B9C2CB"/>
            </a:solidFill>
            <a:prstDash val="dash"/>
          </a:ln>
        </p:spPr>
        <p:txBody>
          <a:bodyPr/>
          <a:lstStyle/>
          <a:p>
            <a:endParaRPr lang="ko-KR" altLang="en-US" sz="1634"/>
          </a:p>
        </p:txBody>
      </p:sp>
      <p:sp>
        <p:nvSpPr>
          <p:cNvPr id="19" name="Shape 17">
            <a:extLst>
              <a:ext uri="{FF2B5EF4-FFF2-40B4-BE49-F238E27FC236}">
                <a16:creationId xmlns:a16="http://schemas.microsoft.com/office/drawing/2014/main" id="{FED5F7F5-E493-FFC0-3805-777B527E0A3F}"/>
              </a:ext>
            </a:extLst>
          </p:cNvPr>
          <p:cNvSpPr/>
          <p:nvPr/>
        </p:nvSpPr>
        <p:spPr>
          <a:xfrm>
            <a:off x="1620136" y="4644869"/>
            <a:ext cx="437870" cy="312764"/>
          </a:xfrm>
          <a:prstGeom prst="roundRect">
            <a:avLst>
              <a:gd name="adj" fmla="val 10000"/>
            </a:avLst>
          </a:prstGeom>
          <a:solidFill>
            <a:srgbClr val="E7EBEE"/>
          </a:solidFill>
          <a:ln w="12700">
            <a:solidFill>
              <a:srgbClr val="B9C2CB"/>
            </a:solidFill>
            <a:prstDash val="solid"/>
          </a:ln>
        </p:spPr>
        <p:txBody>
          <a:bodyPr/>
          <a:lstStyle/>
          <a:p>
            <a:endParaRPr lang="ko-KR" altLang="en-US" sz="1634"/>
          </a:p>
        </p:txBody>
      </p:sp>
      <p:sp>
        <p:nvSpPr>
          <p:cNvPr id="21" name="Shape 18">
            <a:extLst>
              <a:ext uri="{FF2B5EF4-FFF2-40B4-BE49-F238E27FC236}">
                <a16:creationId xmlns:a16="http://schemas.microsoft.com/office/drawing/2014/main" id="{FE5FF4D7-5F8F-6F37-C73A-9B8A5A0C1F6C}"/>
              </a:ext>
            </a:extLst>
          </p:cNvPr>
          <p:cNvSpPr/>
          <p:nvPr/>
        </p:nvSpPr>
        <p:spPr>
          <a:xfrm>
            <a:off x="1706148" y="4715242"/>
            <a:ext cx="78191" cy="78191"/>
          </a:xfrm>
          <a:prstGeom prst="ellipse">
            <a:avLst/>
          </a:prstGeom>
          <a:solidFill>
            <a:srgbClr val="C9D1D8"/>
          </a:solidFill>
          <a:ln/>
        </p:spPr>
        <p:txBody>
          <a:bodyPr/>
          <a:lstStyle/>
          <a:p>
            <a:endParaRPr lang="ko-KR" altLang="en-US" sz="1634"/>
          </a:p>
        </p:txBody>
      </p:sp>
      <p:sp>
        <p:nvSpPr>
          <p:cNvPr id="23" name="Shape 19">
            <a:extLst>
              <a:ext uri="{FF2B5EF4-FFF2-40B4-BE49-F238E27FC236}">
                <a16:creationId xmlns:a16="http://schemas.microsoft.com/office/drawing/2014/main" id="{2D516664-84BE-E7D0-55E7-36C5B4D500FD}"/>
              </a:ext>
            </a:extLst>
          </p:cNvPr>
          <p:cNvSpPr/>
          <p:nvPr/>
        </p:nvSpPr>
        <p:spPr>
          <a:xfrm>
            <a:off x="1651413" y="4895081"/>
            <a:ext cx="390955" cy="0"/>
          </a:xfrm>
          <a:prstGeom prst="line">
            <a:avLst/>
          </a:prstGeom>
          <a:noFill/>
          <a:ln w="15240">
            <a:solidFill>
              <a:srgbClr val="C9D1D8"/>
            </a:solidFill>
            <a:prstDash val="solid"/>
          </a:ln>
        </p:spPr>
        <p:txBody>
          <a:bodyPr/>
          <a:lstStyle/>
          <a:p>
            <a:endParaRPr lang="ko-KR" altLang="en-US" sz="1634"/>
          </a:p>
        </p:txBody>
      </p:sp>
      <p:sp>
        <p:nvSpPr>
          <p:cNvPr id="25" name="Text 20">
            <a:extLst>
              <a:ext uri="{FF2B5EF4-FFF2-40B4-BE49-F238E27FC236}">
                <a16:creationId xmlns:a16="http://schemas.microsoft.com/office/drawing/2014/main" id="{9D684199-DA59-0729-CDED-98899A89C744}"/>
              </a:ext>
            </a:extLst>
          </p:cNvPr>
          <p:cNvSpPr/>
          <p:nvPr/>
        </p:nvSpPr>
        <p:spPr>
          <a:xfrm>
            <a:off x="702696" y="4988910"/>
            <a:ext cx="2272751" cy="195477"/>
          </a:xfrm>
          <a:prstGeom prst="rect">
            <a:avLst/>
          </a:prstGeom>
          <a:noFill/>
          <a:ln/>
        </p:spPr>
        <p:txBody>
          <a:bodyPr wrap="square" rtlCol="0" anchor="ctr"/>
          <a:lstStyle/>
          <a:p>
            <a:pPr algn="ctr"/>
            <a:r>
              <a:rPr lang="en-US" sz="812" b="1" dirty="0">
                <a:solidFill>
                  <a:srgbClr val="8A93A0"/>
                </a:solidFill>
                <a:latin typeface="맑은 고딕" pitchFamily="34" charset="0"/>
                <a:ea typeface="맑은 고딕" pitchFamily="34" charset="-122"/>
                <a:cs typeface="맑은 고딕" pitchFamily="34" charset="-120"/>
              </a:rPr>
              <a:t>사진 삽입</a:t>
            </a:r>
            <a:endParaRPr lang="en-US" sz="812" dirty="0"/>
          </a:p>
        </p:txBody>
      </p:sp>
      <p:sp>
        <p:nvSpPr>
          <p:cNvPr id="27" name="Text 21">
            <a:extLst>
              <a:ext uri="{FF2B5EF4-FFF2-40B4-BE49-F238E27FC236}">
                <a16:creationId xmlns:a16="http://schemas.microsoft.com/office/drawing/2014/main" id="{A0BDA0AE-ACA8-B27C-508E-D81599479E21}"/>
              </a:ext>
            </a:extLst>
          </p:cNvPr>
          <p:cNvSpPr/>
          <p:nvPr/>
        </p:nvSpPr>
        <p:spPr>
          <a:xfrm>
            <a:off x="819982" y="5176568"/>
            <a:ext cx="2038178" cy="801458"/>
          </a:xfrm>
          <a:prstGeom prst="rect">
            <a:avLst/>
          </a:prstGeom>
          <a:noFill/>
          <a:ln/>
        </p:spPr>
        <p:txBody>
          <a:bodyPr wrap="square" rtlCol="0" anchor="t"/>
          <a:lstStyle/>
          <a:p>
            <a:pPr algn="ctr"/>
            <a:r>
              <a:rPr lang="en-US" sz="710" i="1" dirty="0">
                <a:solidFill>
                  <a:srgbClr val="8A93A0"/>
                </a:solidFill>
                <a:latin typeface="맑은 고딕" pitchFamily="34" charset="0"/>
                <a:ea typeface="맑은 고딕" pitchFamily="34" charset="-122"/>
                <a:cs typeface="맑은 고딕" pitchFamily="34" charset="-120"/>
              </a:rPr>
              <a:t>TP4056 보호회로 모듈 사진</a:t>
            </a:r>
            <a:endParaRPr lang="en-US" sz="710" dirty="0"/>
          </a:p>
        </p:txBody>
      </p:sp>
      <p:sp>
        <p:nvSpPr>
          <p:cNvPr id="29" name="Shape 22">
            <a:extLst>
              <a:ext uri="{FF2B5EF4-FFF2-40B4-BE49-F238E27FC236}">
                <a16:creationId xmlns:a16="http://schemas.microsoft.com/office/drawing/2014/main" id="{3FB6DB90-2BCA-67DB-7E5C-C4AFBDB0D184}"/>
              </a:ext>
            </a:extLst>
          </p:cNvPr>
          <p:cNvSpPr/>
          <p:nvPr/>
        </p:nvSpPr>
        <p:spPr>
          <a:xfrm>
            <a:off x="3311667" y="1865183"/>
            <a:ext cx="2554238" cy="4300504"/>
          </a:xfrm>
          <a:prstGeom prst="roundRect">
            <a:avLst>
              <a:gd name="adj" fmla="val 2143"/>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31" name="Text 23">
            <a:extLst>
              <a:ext uri="{FF2B5EF4-FFF2-40B4-BE49-F238E27FC236}">
                <a16:creationId xmlns:a16="http://schemas.microsoft.com/office/drawing/2014/main" id="{C91E2D65-0960-E3ED-5E85-953A2B024D25}"/>
              </a:ext>
            </a:extLst>
          </p:cNvPr>
          <p:cNvSpPr/>
          <p:nvPr/>
        </p:nvSpPr>
        <p:spPr>
          <a:xfrm>
            <a:off x="3452411" y="1990286"/>
            <a:ext cx="2272751" cy="312764"/>
          </a:xfrm>
          <a:prstGeom prst="rect">
            <a:avLst/>
          </a:prstGeom>
          <a:noFill/>
          <a:ln/>
        </p:spPr>
        <p:txBody>
          <a:bodyPr wrap="square" rtlCol="0" anchor="ctr"/>
          <a:lstStyle/>
          <a:p>
            <a:r>
              <a:rPr lang="en-US" sz="1112" b="1" dirty="0">
                <a:solidFill>
                  <a:srgbClr val="3B5BA7"/>
                </a:solidFill>
                <a:latin typeface="맑은 고딕" pitchFamily="34" charset="0"/>
                <a:ea typeface="맑은 고딕" pitchFamily="34" charset="-122"/>
                <a:cs typeface="맑은 고딕" pitchFamily="34" charset="-120"/>
              </a:rPr>
              <a:t>ZY12PDN</a:t>
            </a:r>
            <a:endParaRPr lang="en-US" sz="1112" dirty="0"/>
          </a:p>
        </p:txBody>
      </p:sp>
      <p:sp>
        <p:nvSpPr>
          <p:cNvPr id="33" name="Text 24">
            <a:extLst>
              <a:ext uri="{FF2B5EF4-FFF2-40B4-BE49-F238E27FC236}">
                <a16:creationId xmlns:a16="http://schemas.microsoft.com/office/drawing/2014/main" id="{24B44C50-9962-76FD-F1A0-44C54345935A}"/>
              </a:ext>
            </a:extLst>
          </p:cNvPr>
          <p:cNvSpPr/>
          <p:nvPr/>
        </p:nvSpPr>
        <p:spPr>
          <a:xfrm>
            <a:off x="3452411" y="2295231"/>
            <a:ext cx="2272751" cy="218934"/>
          </a:xfrm>
          <a:prstGeom prst="rect">
            <a:avLst/>
          </a:prstGeom>
          <a:noFill/>
          <a:ln/>
        </p:spPr>
        <p:txBody>
          <a:bodyPr wrap="square" rtlCol="0" anchor="ctr"/>
          <a:lstStyle/>
          <a:p>
            <a:r>
              <a:rPr lang="en-US" sz="812" dirty="0">
                <a:solidFill>
                  <a:srgbClr val="64748B"/>
                </a:solidFill>
                <a:latin typeface="맑은 고딕" pitchFamily="34" charset="0"/>
                <a:ea typeface="맑은 고딕" pitchFamily="34" charset="-122"/>
                <a:cs typeface="맑은 고딕" pitchFamily="34" charset="-120"/>
              </a:rPr>
              <a:t>USB-C PD 트리거 · 1개(모드3 전용)</a:t>
            </a:r>
            <a:endParaRPr lang="en-US" sz="812" dirty="0"/>
          </a:p>
        </p:txBody>
      </p:sp>
      <p:sp>
        <p:nvSpPr>
          <p:cNvPr id="35" name="Text 25">
            <a:extLst>
              <a:ext uri="{FF2B5EF4-FFF2-40B4-BE49-F238E27FC236}">
                <a16:creationId xmlns:a16="http://schemas.microsoft.com/office/drawing/2014/main" id="{8D848167-EEFA-BDB2-C7A6-A73C32A49BB6}"/>
              </a:ext>
            </a:extLst>
          </p:cNvPr>
          <p:cNvSpPr/>
          <p:nvPr/>
        </p:nvSpPr>
        <p:spPr>
          <a:xfrm>
            <a:off x="3452411" y="2584538"/>
            <a:ext cx="2272751" cy="1290151"/>
          </a:xfrm>
          <a:prstGeom prst="rect">
            <a:avLst/>
          </a:prstGeom>
          <a:noFill/>
          <a:ln/>
        </p:spPr>
        <p:txBody>
          <a:bodyPr wrap="square" rtlCol="0" anchor="t"/>
          <a:lstStyle/>
          <a:p>
            <a:pPr>
              <a:lnSpc>
                <a:spcPct val="120000"/>
              </a:lnSpc>
            </a:pPr>
            <a:r>
              <a:rPr lang="en-US" sz="855" dirty="0">
                <a:solidFill>
                  <a:srgbClr val="1E293B"/>
                </a:solidFill>
                <a:latin typeface="맑은 고딕" pitchFamily="34" charset="0"/>
                <a:ea typeface="맑은 고딕" pitchFamily="34" charset="-122"/>
                <a:cs typeface="맑은 고딕" pitchFamily="34" charset="-120"/>
              </a:rPr>
              <a:t>완제품 보조배터리의 USB-C 출력에서 데이터선 없이 전원선(V+/V−)만 인출해 INA226으로 넘기는 역할을 한다.</a:t>
            </a:r>
            <a:endParaRPr lang="en-US" sz="855" dirty="0"/>
          </a:p>
        </p:txBody>
      </p:sp>
      <p:sp>
        <p:nvSpPr>
          <p:cNvPr id="37" name="Shape 26">
            <a:extLst>
              <a:ext uri="{FF2B5EF4-FFF2-40B4-BE49-F238E27FC236}">
                <a16:creationId xmlns:a16="http://schemas.microsoft.com/office/drawing/2014/main" id="{994F564E-546A-5303-69E1-CAA799FDA198}"/>
              </a:ext>
            </a:extLst>
          </p:cNvPr>
          <p:cNvSpPr/>
          <p:nvPr/>
        </p:nvSpPr>
        <p:spPr>
          <a:xfrm>
            <a:off x="3452411" y="3937241"/>
            <a:ext cx="2272751" cy="2072061"/>
          </a:xfrm>
          <a:prstGeom prst="roundRect">
            <a:avLst>
              <a:gd name="adj" fmla="val 2264"/>
            </a:avLst>
          </a:prstGeom>
          <a:solidFill>
            <a:srgbClr val="FBFBFA"/>
          </a:solidFill>
          <a:ln w="12700">
            <a:solidFill>
              <a:srgbClr val="B9C2CB"/>
            </a:solidFill>
            <a:prstDash val="dash"/>
          </a:ln>
        </p:spPr>
        <p:txBody>
          <a:bodyPr/>
          <a:lstStyle/>
          <a:p>
            <a:endParaRPr lang="ko-KR" altLang="en-US" sz="1634"/>
          </a:p>
        </p:txBody>
      </p:sp>
      <p:sp>
        <p:nvSpPr>
          <p:cNvPr id="39" name="Shape 27">
            <a:extLst>
              <a:ext uri="{FF2B5EF4-FFF2-40B4-BE49-F238E27FC236}">
                <a16:creationId xmlns:a16="http://schemas.microsoft.com/office/drawing/2014/main" id="{17EF24A0-E435-4C53-0634-3649F858F646}"/>
              </a:ext>
            </a:extLst>
          </p:cNvPr>
          <p:cNvSpPr/>
          <p:nvPr/>
        </p:nvSpPr>
        <p:spPr>
          <a:xfrm>
            <a:off x="4369854" y="4644869"/>
            <a:ext cx="437870" cy="312764"/>
          </a:xfrm>
          <a:prstGeom prst="roundRect">
            <a:avLst>
              <a:gd name="adj" fmla="val 10000"/>
            </a:avLst>
          </a:prstGeom>
          <a:solidFill>
            <a:srgbClr val="E7EBEE"/>
          </a:solidFill>
          <a:ln w="12700">
            <a:solidFill>
              <a:srgbClr val="B9C2CB"/>
            </a:solidFill>
            <a:prstDash val="solid"/>
          </a:ln>
        </p:spPr>
        <p:txBody>
          <a:bodyPr/>
          <a:lstStyle/>
          <a:p>
            <a:endParaRPr lang="ko-KR" altLang="en-US" sz="1634"/>
          </a:p>
        </p:txBody>
      </p:sp>
      <p:sp>
        <p:nvSpPr>
          <p:cNvPr id="41" name="Shape 28">
            <a:extLst>
              <a:ext uri="{FF2B5EF4-FFF2-40B4-BE49-F238E27FC236}">
                <a16:creationId xmlns:a16="http://schemas.microsoft.com/office/drawing/2014/main" id="{E8EBD0BB-3792-0279-C9E0-D271D8417121}"/>
              </a:ext>
            </a:extLst>
          </p:cNvPr>
          <p:cNvSpPr/>
          <p:nvPr/>
        </p:nvSpPr>
        <p:spPr>
          <a:xfrm>
            <a:off x="4455863" y="4715242"/>
            <a:ext cx="78191" cy="78191"/>
          </a:xfrm>
          <a:prstGeom prst="ellipse">
            <a:avLst/>
          </a:prstGeom>
          <a:solidFill>
            <a:srgbClr val="C9D1D8"/>
          </a:solidFill>
          <a:ln/>
        </p:spPr>
        <p:txBody>
          <a:bodyPr/>
          <a:lstStyle/>
          <a:p>
            <a:endParaRPr lang="ko-KR" altLang="en-US" sz="1634"/>
          </a:p>
        </p:txBody>
      </p:sp>
      <p:sp>
        <p:nvSpPr>
          <p:cNvPr id="43" name="Shape 29">
            <a:extLst>
              <a:ext uri="{FF2B5EF4-FFF2-40B4-BE49-F238E27FC236}">
                <a16:creationId xmlns:a16="http://schemas.microsoft.com/office/drawing/2014/main" id="{79CE5192-D9FE-A42A-E582-14D0105BFD7A}"/>
              </a:ext>
            </a:extLst>
          </p:cNvPr>
          <p:cNvSpPr/>
          <p:nvPr/>
        </p:nvSpPr>
        <p:spPr>
          <a:xfrm>
            <a:off x="4401131" y="4895081"/>
            <a:ext cx="390955" cy="0"/>
          </a:xfrm>
          <a:prstGeom prst="line">
            <a:avLst/>
          </a:prstGeom>
          <a:noFill/>
          <a:ln w="15240">
            <a:solidFill>
              <a:srgbClr val="C9D1D8"/>
            </a:solidFill>
            <a:prstDash val="solid"/>
          </a:ln>
        </p:spPr>
        <p:txBody>
          <a:bodyPr/>
          <a:lstStyle/>
          <a:p>
            <a:endParaRPr lang="ko-KR" altLang="en-US" sz="1634"/>
          </a:p>
        </p:txBody>
      </p:sp>
      <p:sp>
        <p:nvSpPr>
          <p:cNvPr id="45" name="Text 30">
            <a:extLst>
              <a:ext uri="{FF2B5EF4-FFF2-40B4-BE49-F238E27FC236}">
                <a16:creationId xmlns:a16="http://schemas.microsoft.com/office/drawing/2014/main" id="{DA05946B-501C-FF68-8F49-5AB0048C5D03}"/>
              </a:ext>
            </a:extLst>
          </p:cNvPr>
          <p:cNvSpPr/>
          <p:nvPr/>
        </p:nvSpPr>
        <p:spPr>
          <a:xfrm>
            <a:off x="3452411" y="4988910"/>
            <a:ext cx="2272751" cy="195477"/>
          </a:xfrm>
          <a:prstGeom prst="rect">
            <a:avLst/>
          </a:prstGeom>
          <a:noFill/>
          <a:ln/>
        </p:spPr>
        <p:txBody>
          <a:bodyPr wrap="square" rtlCol="0" anchor="ctr"/>
          <a:lstStyle/>
          <a:p>
            <a:pPr algn="ctr"/>
            <a:r>
              <a:rPr lang="en-US" sz="812" b="1" dirty="0">
                <a:solidFill>
                  <a:srgbClr val="8A93A0"/>
                </a:solidFill>
                <a:latin typeface="맑은 고딕" pitchFamily="34" charset="0"/>
                <a:ea typeface="맑은 고딕" pitchFamily="34" charset="-122"/>
                <a:cs typeface="맑은 고딕" pitchFamily="34" charset="-120"/>
              </a:rPr>
              <a:t>사진 삽입</a:t>
            </a:r>
            <a:endParaRPr lang="en-US" sz="812" dirty="0"/>
          </a:p>
        </p:txBody>
      </p:sp>
      <p:sp>
        <p:nvSpPr>
          <p:cNvPr id="47" name="Text 31">
            <a:extLst>
              <a:ext uri="{FF2B5EF4-FFF2-40B4-BE49-F238E27FC236}">
                <a16:creationId xmlns:a16="http://schemas.microsoft.com/office/drawing/2014/main" id="{A98E3776-06E3-DE67-5B59-4FFECC8D53D7}"/>
              </a:ext>
            </a:extLst>
          </p:cNvPr>
          <p:cNvSpPr/>
          <p:nvPr/>
        </p:nvSpPr>
        <p:spPr>
          <a:xfrm>
            <a:off x="3569697" y="5176568"/>
            <a:ext cx="2038178" cy="801458"/>
          </a:xfrm>
          <a:prstGeom prst="rect">
            <a:avLst/>
          </a:prstGeom>
          <a:noFill/>
          <a:ln/>
        </p:spPr>
        <p:txBody>
          <a:bodyPr wrap="square" rtlCol="0" anchor="t"/>
          <a:lstStyle/>
          <a:p>
            <a:pPr algn="ctr"/>
            <a:r>
              <a:rPr lang="en-US" sz="710" i="1" dirty="0">
                <a:solidFill>
                  <a:srgbClr val="8A93A0"/>
                </a:solidFill>
                <a:latin typeface="맑은 고딕" pitchFamily="34" charset="0"/>
                <a:ea typeface="맑은 고딕" pitchFamily="34" charset="-122"/>
                <a:cs typeface="맑은 고딕" pitchFamily="34" charset="-120"/>
              </a:rPr>
              <a:t>ZY12PDN PD 트리거 보드 사진</a:t>
            </a:r>
            <a:endParaRPr lang="en-US" sz="710" dirty="0"/>
          </a:p>
        </p:txBody>
      </p:sp>
      <p:sp>
        <p:nvSpPr>
          <p:cNvPr id="49" name="Shape 32">
            <a:extLst>
              <a:ext uri="{FF2B5EF4-FFF2-40B4-BE49-F238E27FC236}">
                <a16:creationId xmlns:a16="http://schemas.microsoft.com/office/drawing/2014/main" id="{05EDB81E-6D1C-8A11-0050-BA5F6600C695}"/>
              </a:ext>
            </a:extLst>
          </p:cNvPr>
          <p:cNvSpPr/>
          <p:nvPr/>
        </p:nvSpPr>
        <p:spPr>
          <a:xfrm>
            <a:off x="6061383" y="1865183"/>
            <a:ext cx="2554238" cy="4300504"/>
          </a:xfrm>
          <a:prstGeom prst="roundRect">
            <a:avLst>
              <a:gd name="adj" fmla="val 2143"/>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51" name="Text 33">
            <a:extLst>
              <a:ext uri="{FF2B5EF4-FFF2-40B4-BE49-F238E27FC236}">
                <a16:creationId xmlns:a16="http://schemas.microsoft.com/office/drawing/2014/main" id="{9673D066-0897-F687-77A9-C35F523F7C4D}"/>
              </a:ext>
            </a:extLst>
          </p:cNvPr>
          <p:cNvSpPr/>
          <p:nvPr/>
        </p:nvSpPr>
        <p:spPr>
          <a:xfrm>
            <a:off x="6202127" y="1990286"/>
            <a:ext cx="2272751" cy="312764"/>
          </a:xfrm>
          <a:prstGeom prst="rect">
            <a:avLst/>
          </a:prstGeom>
          <a:noFill/>
          <a:ln/>
        </p:spPr>
        <p:txBody>
          <a:bodyPr wrap="square" rtlCol="0" anchor="ctr"/>
          <a:lstStyle/>
          <a:p>
            <a:r>
              <a:rPr lang="en-US" sz="1112" b="1" dirty="0">
                <a:solidFill>
                  <a:srgbClr val="3B5BA7"/>
                </a:solidFill>
                <a:latin typeface="맑은 고딕" pitchFamily="34" charset="0"/>
                <a:ea typeface="맑은 고딕" pitchFamily="34" charset="-122"/>
                <a:cs typeface="맑은 고딕" pitchFamily="34" charset="-120"/>
              </a:rPr>
              <a:t>ATORCH Smart Battery Tester</a:t>
            </a:r>
            <a:endParaRPr lang="en-US" sz="1112" dirty="0"/>
          </a:p>
        </p:txBody>
      </p:sp>
      <p:sp>
        <p:nvSpPr>
          <p:cNvPr id="53" name="Text 34">
            <a:extLst>
              <a:ext uri="{FF2B5EF4-FFF2-40B4-BE49-F238E27FC236}">
                <a16:creationId xmlns:a16="http://schemas.microsoft.com/office/drawing/2014/main" id="{359DDC6F-A6F5-9B86-1FC7-8E3E56040264}"/>
              </a:ext>
            </a:extLst>
          </p:cNvPr>
          <p:cNvSpPr/>
          <p:nvPr/>
        </p:nvSpPr>
        <p:spPr>
          <a:xfrm>
            <a:off x="6202127" y="2295231"/>
            <a:ext cx="2272751" cy="218934"/>
          </a:xfrm>
          <a:prstGeom prst="rect">
            <a:avLst/>
          </a:prstGeom>
          <a:noFill/>
          <a:ln/>
        </p:spPr>
        <p:txBody>
          <a:bodyPr wrap="square" rtlCol="0" anchor="ctr"/>
          <a:lstStyle/>
          <a:p>
            <a:r>
              <a:rPr lang="en-US" sz="812" dirty="0">
                <a:solidFill>
                  <a:srgbClr val="64748B"/>
                </a:solidFill>
                <a:latin typeface="맑은 고딕" pitchFamily="34" charset="0"/>
                <a:ea typeface="맑은 고딕" pitchFamily="34" charset="-122"/>
                <a:cs typeface="맑은 고딕" pitchFamily="34" charset="-120"/>
              </a:rPr>
              <a:t>전자부하 · 1개(모드1·2·3 공용)</a:t>
            </a:r>
            <a:endParaRPr lang="en-US" sz="812" dirty="0"/>
          </a:p>
        </p:txBody>
      </p:sp>
      <p:sp>
        <p:nvSpPr>
          <p:cNvPr id="55" name="Text 35">
            <a:extLst>
              <a:ext uri="{FF2B5EF4-FFF2-40B4-BE49-F238E27FC236}">
                <a16:creationId xmlns:a16="http://schemas.microsoft.com/office/drawing/2014/main" id="{0099BDD4-2714-DCF4-C1FD-56213DCEC5EE}"/>
              </a:ext>
            </a:extLst>
          </p:cNvPr>
          <p:cNvSpPr/>
          <p:nvPr/>
        </p:nvSpPr>
        <p:spPr>
          <a:xfrm>
            <a:off x="6202127" y="2584538"/>
            <a:ext cx="2272751" cy="1290151"/>
          </a:xfrm>
          <a:prstGeom prst="rect">
            <a:avLst/>
          </a:prstGeom>
          <a:noFill/>
          <a:ln/>
        </p:spPr>
        <p:txBody>
          <a:bodyPr wrap="square" rtlCol="0" anchor="t"/>
          <a:lstStyle/>
          <a:p>
            <a:pPr>
              <a:lnSpc>
                <a:spcPct val="120000"/>
              </a:lnSpc>
            </a:pPr>
            <a:r>
              <a:rPr lang="en-US" sz="855" dirty="0">
                <a:solidFill>
                  <a:srgbClr val="1E293B"/>
                </a:solidFill>
                <a:latin typeface="맑은 고딕" pitchFamily="34" charset="0"/>
                <a:ea typeface="맑은 고딕" pitchFamily="34" charset="-122"/>
                <a:cs typeface="맑은 고딕" pitchFamily="34" charset="-120"/>
              </a:rPr>
              <a:t>모드1 · 2 · 3의 방전 측정을 전부 담당하는 공용 전자부하. 릴레이로 스위칭된 배터리가 항상 이 장비 하나로 모여 방전 테스트가 이뤄진다.</a:t>
            </a:r>
            <a:endParaRPr lang="en-US" sz="855" dirty="0"/>
          </a:p>
        </p:txBody>
      </p:sp>
      <p:sp>
        <p:nvSpPr>
          <p:cNvPr id="57" name="Shape 36">
            <a:extLst>
              <a:ext uri="{FF2B5EF4-FFF2-40B4-BE49-F238E27FC236}">
                <a16:creationId xmlns:a16="http://schemas.microsoft.com/office/drawing/2014/main" id="{3B1C78FB-7FF5-145E-9535-D74C48B3C129}"/>
              </a:ext>
            </a:extLst>
          </p:cNvPr>
          <p:cNvSpPr/>
          <p:nvPr/>
        </p:nvSpPr>
        <p:spPr>
          <a:xfrm>
            <a:off x="6202127" y="3937241"/>
            <a:ext cx="2272751" cy="2072061"/>
          </a:xfrm>
          <a:prstGeom prst="roundRect">
            <a:avLst>
              <a:gd name="adj" fmla="val 2264"/>
            </a:avLst>
          </a:prstGeom>
          <a:solidFill>
            <a:srgbClr val="FBFBFA"/>
          </a:solidFill>
          <a:ln w="12700">
            <a:solidFill>
              <a:srgbClr val="B9C2CB"/>
            </a:solidFill>
            <a:prstDash val="dash"/>
          </a:ln>
        </p:spPr>
        <p:txBody>
          <a:bodyPr/>
          <a:lstStyle/>
          <a:p>
            <a:endParaRPr lang="ko-KR" altLang="en-US" sz="1634"/>
          </a:p>
        </p:txBody>
      </p:sp>
      <p:sp>
        <p:nvSpPr>
          <p:cNvPr id="59" name="Shape 37">
            <a:extLst>
              <a:ext uri="{FF2B5EF4-FFF2-40B4-BE49-F238E27FC236}">
                <a16:creationId xmlns:a16="http://schemas.microsoft.com/office/drawing/2014/main" id="{D8E4E919-B1DB-8C69-3641-1471437C1A45}"/>
              </a:ext>
            </a:extLst>
          </p:cNvPr>
          <p:cNvSpPr/>
          <p:nvPr/>
        </p:nvSpPr>
        <p:spPr>
          <a:xfrm>
            <a:off x="7119568" y="4644869"/>
            <a:ext cx="437870" cy="312764"/>
          </a:xfrm>
          <a:prstGeom prst="roundRect">
            <a:avLst>
              <a:gd name="adj" fmla="val 10000"/>
            </a:avLst>
          </a:prstGeom>
          <a:solidFill>
            <a:srgbClr val="E7EBEE"/>
          </a:solidFill>
          <a:ln w="12700">
            <a:solidFill>
              <a:srgbClr val="B9C2CB"/>
            </a:solidFill>
            <a:prstDash val="solid"/>
          </a:ln>
        </p:spPr>
        <p:txBody>
          <a:bodyPr/>
          <a:lstStyle/>
          <a:p>
            <a:endParaRPr lang="ko-KR" altLang="en-US" sz="1634"/>
          </a:p>
        </p:txBody>
      </p:sp>
      <p:sp>
        <p:nvSpPr>
          <p:cNvPr id="61" name="Shape 38">
            <a:extLst>
              <a:ext uri="{FF2B5EF4-FFF2-40B4-BE49-F238E27FC236}">
                <a16:creationId xmlns:a16="http://schemas.microsoft.com/office/drawing/2014/main" id="{C2F01A2D-5C89-2695-6AF6-7818A6546832}"/>
              </a:ext>
            </a:extLst>
          </p:cNvPr>
          <p:cNvSpPr/>
          <p:nvPr/>
        </p:nvSpPr>
        <p:spPr>
          <a:xfrm>
            <a:off x="7205578" y="4715242"/>
            <a:ext cx="78191" cy="78191"/>
          </a:xfrm>
          <a:prstGeom prst="ellipse">
            <a:avLst/>
          </a:prstGeom>
          <a:solidFill>
            <a:srgbClr val="C9D1D8"/>
          </a:solidFill>
          <a:ln/>
        </p:spPr>
        <p:txBody>
          <a:bodyPr/>
          <a:lstStyle/>
          <a:p>
            <a:endParaRPr lang="ko-KR" altLang="en-US" sz="1634"/>
          </a:p>
        </p:txBody>
      </p:sp>
      <p:sp>
        <p:nvSpPr>
          <p:cNvPr id="63" name="Shape 39">
            <a:extLst>
              <a:ext uri="{FF2B5EF4-FFF2-40B4-BE49-F238E27FC236}">
                <a16:creationId xmlns:a16="http://schemas.microsoft.com/office/drawing/2014/main" id="{EB56C609-1BC1-6B99-FD5B-6BE882B35C53}"/>
              </a:ext>
            </a:extLst>
          </p:cNvPr>
          <p:cNvSpPr/>
          <p:nvPr/>
        </p:nvSpPr>
        <p:spPr>
          <a:xfrm>
            <a:off x="7150844" y="4895081"/>
            <a:ext cx="390955" cy="0"/>
          </a:xfrm>
          <a:prstGeom prst="line">
            <a:avLst/>
          </a:prstGeom>
          <a:noFill/>
          <a:ln w="15240">
            <a:solidFill>
              <a:srgbClr val="C9D1D8"/>
            </a:solidFill>
            <a:prstDash val="solid"/>
          </a:ln>
        </p:spPr>
        <p:txBody>
          <a:bodyPr/>
          <a:lstStyle/>
          <a:p>
            <a:endParaRPr lang="ko-KR" altLang="en-US" sz="1634"/>
          </a:p>
        </p:txBody>
      </p:sp>
      <p:sp>
        <p:nvSpPr>
          <p:cNvPr id="65" name="Text 40">
            <a:extLst>
              <a:ext uri="{FF2B5EF4-FFF2-40B4-BE49-F238E27FC236}">
                <a16:creationId xmlns:a16="http://schemas.microsoft.com/office/drawing/2014/main" id="{D7F03E5D-1A4C-6D8A-DA83-F88B7FC252B6}"/>
              </a:ext>
            </a:extLst>
          </p:cNvPr>
          <p:cNvSpPr/>
          <p:nvPr/>
        </p:nvSpPr>
        <p:spPr>
          <a:xfrm>
            <a:off x="6202127" y="4988910"/>
            <a:ext cx="2272751" cy="195477"/>
          </a:xfrm>
          <a:prstGeom prst="rect">
            <a:avLst/>
          </a:prstGeom>
          <a:noFill/>
          <a:ln/>
        </p:spPr>
        <p:txBody>
          <a:bodyPr wrap="square" rtlCol="0" anchor="ctr"/>
          <a:lstStyle/>
          <a:p>
            <a:pPr algn="ctr"/>
            <a:r>
              <a:rPr lang="en-US" sz="812" b="1" dirty="0">
                <a:solidFill>
                  <a:srgbClr val="8A93A0"/>
                </a:solidFill>
                <a:latin typeface="맑은 고딕" pitchFamily="34" charset="0"/>
                <a:ea typeface="맑은 고딕" pitchFamily="34" charset="-122"/>
                <a:cs typeface="맑은 고딕" pitchFamily="34" charset="-120"/>
              </a:rPr>
              <a:t>사진 삽입</a:t>
            </a:r>
            <a:endParaRPr lang="en-US" sz="812" dirty="0"/>
          </a:p>
        </p:txBody>
      </p:sp>
      <p:sp>
        <p:nvSpPr>
          <p:cNvPr id="67" name="Text 41">
            <a:extLst>
              <a:ext uri="{FF2B5EF4-FFF2-40B4-BE49-F238E27FC236}">
                <a16:creationId xmlns:a16="http://schemas.microsoft.com/office/drawing/2014/main" id="{F6927F4D-BF86-1B8F-16CC-80C32CDD525B}"/>
              </a:ext>
            </a:extLst>
          </p:cNvPr>
          <p:cNvSpPr/>
          <p:nvPr/>
        </p:nvSpPr>
        <p:spPr>
          <a:xfrm>
            <a:off x="6319413" y="5176568"/>
            <a:ext cx="2038178" cy="801458"/>
          </a:xfrm>
          <a:prstGeom prst="rect">
            <a:avLst/>
          </a:prstGeom>
          <a:noFill/>
          <a:ln/>
        </p:spPr>
        <p:txBody>
          <a:bodyPr wrap="square" rtlCol="0" anchor="t"/>
          <a:lstStyle/>
          <a:p>
            <a:pPr algn="ctr"/>
            <a:r>
              <a:rPr lang="en-US" sz="710" i="1" dirty="0">
                <a:solidFill>
                  <a:srgbClr val="8A93A0"/>
                </a:solidFill>
                <a:latin typeface="맑은 고딕" pitchFamily="34" charset="0"/>
                <a:ea typeface="맑은 고딕" pitchFamily="34" charset="-122"/>
                <a:cs typeface="맑은 고딕" pitchFamily="34" charset="-120"/>
              </a:rPr>
              <a:t>ATORCH Smart Battery Tester 사진</a:t>
            </a:r>
            <a:endParaRPr lang="en-US" sz="710" dirty="0"/>
          </a:p>
        </p:txBody>
      </p:sp>
      <p:pic>
        <p:nvPicPr>
          <p:cNvPr id="69" name="Picture 13">
            <a:extLst>
              <a:ext uri="{FF2B5EF4-FFF2-40B4-BE49-F238E27FC236}">
                <a16:creationId xmlns:a16="http://schemas.microsoft.com/office/drawing/2014/main" id="{B3BC7730-43CF-AF06-CF26-A7FC7EB5C320}"/>
              </a:ext>
            </a:extLst>
          </p:cNvPr>
          <p:cNvPicPr>
            <a:picLocks noChangeAspect="1"/>
          </p:cNvPicPr>
          <p:nvPr/>
        </p:nvPicPr>
        <p:blipFill>
          <a:blip r:embed="rId5"/>
          <a:stretch>
            <a:fillRect/>
          </a:stretch>
        </p:blipFill>
        <p:spPr>
          <a:xfrm>
            <a:off x="746197" y="3998367"/>
            <a:ext cx="2167302" cy="2015108"/>
          </a:xfrm>
          <a:prstGeom prst="rect">
            <a:avLst/>
          </a:prstGeom>
          <a:noFill/>
          <a:ln>
            <a:noFill/>
          </a:ln>
          <a:effectLst/>
        </p:spPr>
      </p:pic>
      <p:pic>
        <p:nvPicPr>
          <p:cNvPr id="71" name="Picture 15">
            <a:extLst>
              <a:ext uri="{FF2B5EF4-FFF2-40B4-BE49-F238E27FC236}">
                <a16:creationId xmlns:a16="http://schemas.microsoft.com/office/drawing/2014/main" id="{5F0A5D8D-9A39-5344-5442-88E03D5E0EE6}"/>
              </a:ext>
            </a:extLst>
          </p:cNvPr>
          <p:cNvPicPr>
            <a:picLocks noChangeAspect="1"/>
          </p:cNvPicPr>
          <p:nvPr/>
        </p:nvPicPr>
        <p:blipFill>
          <a:blip r:embed="rId6"/>
          <a:stretch>
            <a:fillRect/>
          </a:stretch>
        </p:blipFill>
        <p:spPr>
          <a:xfrm>
            <a:off x="6254859" y="3983339"/>
            <a:ext cx="2167302" cy="1921709"/>
          </a:xfrm>
          <a:prstGeom prst="rect">
            <a:avLst/>
          </a:prstGeom>
          <a:noFill/>
          <a:ln>
            <a:noFill/>
          </a:ln>
          <a:effectLst/>
        </p:spPr>
      </p:pic>
      <p:pic>
        <p:nvPicPr>
          <p:cNvPr id="73" name="그림 72">
            <a:extLst>
              <a:ext uri="{FF2B5EF4-FFF2-40B4-BE49-F238E27FC236}">
                <a16:creationId xmlns:a16="http://schemas.microsoft.com/office/drawing/2014/main" id="{80F14267-99AD-5AD9-2D3E-8E8245EB79F9}"/>
              </a:ext>
            </a:extLst>
          </p:cNvPr>
          <p:cNvPicPr>
            <a:picLocks noChangeAspect="1"/>
          </p:cNvPicPr>
          <p:nvPr/>
        </p:nvPicPr>
        <p:blipFill>
          <a:blip r:embed="rId7"/>
          <a:stretch>
            <a:fillRect/>
          </a:stretch>
        </p:blipFill>
        <p:spPr>
          <a:xfrm>
            <a:off x="3483662" y="3970205"/>
            <a:ext cx="2185074" cy="1934848"/>
          </a:xfrm>
          <a:prstGeom prst="rect">
            <a:avLst/>
          </a:prstGeom>
        </p:spPr>
      </p:pic>
    </p:spTree>
    <p:extLst>
      <p:ext uri="{BB962C8B-B14F-4D97-AF65-F5344CB8AC3E}">
        <p14:creationId xmlns:p14="http://schemas.microsoft.com/office/powerpoint/2010/main" val="862480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FEA53-036E-ACA9-AB9D-37C82BA7DD0E}"/>
            </a:ext>
          </a:extLst>
        </p:cNvPr>
        <p:cNvGrpSpPr/>
        <p:nvPr/>
      </p:nvGrpSpPr>
      <p:grpSpPr>
        <a:xfrm>
          <a:off x="0" y="0"/>
          <a:ext cx="0" cy="0"/>
          <a:chOff x="0" y="0"/>
          <a:chExt cx="0" cy="0"/>
        </a:xfrm>
      </p:grpSpPr>
      <p:sp>
        <p:nvSpPr>
          <p:cNvPr id="16" name="직사각형 16"/>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7" name="직선 연결선 17"/>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 name="직선 연결선 18"/>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19" name="제목 19"/>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회로설계</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20" name="막힌 원호 20"/>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5D48FBD5-ADB2-3E57-1134-448F354E66C8}"/>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AF690742-B44C-9A56-43DE-E897DA894D3A}"/>
              </a:ext>
            </a:extLst>
          </p:cNvPr>
          <p:cNvPicPr/>
          <p:nvPr/>
        </p:nvPicPr>
        <p:blipFill>
          <a:blip r:embed="rId4" cstate="print"/>
          <a:stretch>
            <a:fillRect/>
          </a:stretch>
        </p:blipFill>
        <p:spPr>
          <a:xfrm>
            <a:off x="7275128" y="314247"/>
            <a:ext cx="1325611" cy="307338"/>
          </a:xfrm>
          <a:prstGeom prst="rect">
            <a:avLst/>
          </a:prstGeom>
        </p:spPr>
      </p:pic>
      <p:sp>
        <p:nvSpPr>
          <p:cNvPr id="9" name="Shape 12">
            <a:extLst>
              <a:ext uri="{FF2B5EF4-FFF2-40B4-BE49-F238E27FC236}">
                <a16:creationId xmlns:a16="http://schemas.microsoft.com/office/drawing/2014/main" id="{005F2B7E-B2EB-DB2D-E146-3AF48169B4A4}"/>
              </a:ext>
            </a:extLst>
          </p:cNvPr>
          <p:cNvSpPr/>
          <p:nvPr/>
        </p:nvSpPr>
        <p:spPr>
          <a:xfrm>
            <a:off x="597295" y="1570663"/>
            <a:ext cx="70371" cy="172020"/>
          </a:xfrm>
          <a:prstGeom prst="rect">
            <a:avLst/>
          </a:prstGeom>
          <a:solidFill>
            <a:srgbClr val="3B5BA7"/>
          </a:solidFill>
          <a:ln/>
        </p:spPr>
        <p:txBody>
          <a:bodyPr/>
          <a:lstStyle/>
          <a:p>
            <a:endParaRPr lang="ko-KR" altLang="en-US" sz="1634"/>
          </a:p>
        </p:txBody>
      </p:sp>
      <p:sp>
        <p:nvSpPr>
          <p:cNvPr id="11" name="Text 13">
            <a:extLst>
              <a:ext uri="{FF2B5EF4-FFF2-40B4-BE49-F238E27FC236}">
                <a16:creationId xmlns:a16="http://schemas.microsoft.com/office/drawing/2014/main" id="{860FBE93-BED7-BA9E-66F1-B2FEB0301E11}"/>
              </a:ext>
            </a:extLst>
          </p:cNvPr>
          <p:cNvSpPr/>
          <p:nvPr/>
        </p:nvSpPr>
        <p:spPr>
          <a:xfrm>
            <a:off x="738035" y="1547206"/>
            <a:ext cx="6255278" cy="218934"/>
          </a:xfrm>
          <a:prstGeom prst="rect">
            <a:avLst/>
          </a:prstGeom>
          <a:noFill/>
          <a:ln/>
        </p:spPr>
        <p:txBody>
          <a:bodyPr wrap="square" rtlCol="0" anchor="ctr"/>
          <a:lstStyle/>
          <a:p>
            <a:r>
              <a:rPr lang="en-US" sz="1112" b="1" dirty="0" err="1">
                <a:solidFill>
                  <a:srgbClr val="1E293B"/>
                </a:solidFill>
                <a:latin typeface="맑은 고딕" pitchFamily="34" charset="0"/>
                <a:ea typeface="맑은 고딕" pitchFamily="34" charset="-122"/>
                <a:cs typeface="맑은 고딕" pitchFamily="34" charset="-120"/>
              </a:rPr>
              <a:t>전체</a:t>
            </a:r>
            <a:r>
              <a:rPr lang="en-US" sz="1112" b="1" dirty="0">
                <a:solidFill>
                  <a:srgbClr val="1E293B"/>
                </a:solidFill>
                <a:latin typeface="맑은 고딕" pitchFamily="34" charset="0"/>
                <a:ea typeface="맑은 고딕" pitchFamily="34" charset="-122"/>
                <a:cs typeface="맑은 고딕" pitchFamily="34" charset="-120"/>
              </a:rPr>
              <a:t> </a:t>
            </a:r>
            <a:r>
              <a:rPr lang="en-US" sz="1112" b="1" dirty="0" err="1">
                <a:solidFill>
                  <a:srgbClr val="1E293B"/>
                </a:solidFill>
                <a:latin typeface="맑은 고딕" pitchFamily="34" charset="0"/>
                <a:ea typeface="맑은 고딕" pitchFamily="34" charset="-122"/>
                <a:cs typeface="맑은 고딕" pitchFamily="34" charset="-120"/>
              </a:rPr>
              <a:t>회로도</a:t>
            </a:r>
            <a:r>
              <a:rPr lang="en-US" sz="1112" b="1" dirty="0">
                <a:solidFill>
                  <a:srgbClr val="1E293B"/>
                </a:solidFill>
                <a:latin typeface="맑은 고딕" pitchFamily="34" charset="0"/>
                <a:ea typeface="맑은 고딕" pitchFamily="34" charset="-122"/>
                <a:cs typeface="맑은 고딕" pitchFamily="34" charset="-120"/>
              </a:rPr>
              <a:t> – </a:t>
            </a:r>
            <a:r>
              <a:rPr lang="en-US" sz="1112" b="1" dirty="0" err="1">
                <a:solidFill>
                  <a:srgbClr val="1E293B"/>
                </a:solidFill>
                <a:latin typeface="맑은 고딕" pitchFamily="34" charset="0"/>
                <a:ea typeface="맑은 고딕" pitchFamily="34" charset="-122"/>
                <a:cs typeface="맑은 고딕" pitchFamily="34" charset="-120"/>
              </a:rPr>
              <a:t>kicad</a:t>
            </a:r>
            <a:r>
              <a:rPr lang="en-US" sz="1112" b="1" dirty="0">
                <a:solidFill>
                  <a:srgbClr val="1E293B"/>
                </a:solidFill>
                <a:latin typeface="맑은 고딕" pitchFamily="34" charset="0"/>
                <a:ea typeface="맑은 고딕" pitchFamily="34" charset="-122"/>
                <a:cs typeface="맑은 고딕" pitchFamily="34" charset="-120"/>
              </a:rPr>
              <a:t> </a:t>
            </a:r>
            <a:r>
              <a:rPr lang="ko-KR" altLang="en-US" sz="1112" b="1" dirty="0">
                <a:solidFill>
                  <a:srgbClr val="1E293B"/>
                </a:solidFill>
                <a:latin typeface="맑은 고딕" pitchFamily="34" charset="0"/>
                <a:ea typeface="맑은 고딕" pitchFamily="34" charset="-122"/>
                <a:cs typeface="맑은 고딕" pitchFamily="34" charset="-120"/>
              </a:rPr>
              <a:t>설계도</a:t>
            </a:r>
            <a:endParaRPr lang="en-US" sz="1112" dirty="0"/>
          </a:p>
        </p:txBody>
      </p:sp>
      <p:sp>
        <p:nvSpPr>
          <p:cNvPr id="13" name="Shape 14">
            <a:extLst>
              <a:ext uri="{FF2B5EF4-FFF2-40B4-BE49-F238E27FC236}">
                <a16:creationId xmlns:a16="http://schemas.microsoft.com/office/drawing/2014/main" id="{0F8044B2-987C-6710-B5F2-163622C4C087}"/>
              </a:ext>
            </a:extLst>
          </p:cNvPr>
          <p:cNvSpPr/>
          <p:nvPr/>
        </p:nvSpPr>
        <p:spPr>
          <a:xfrm>
            <a:off x="597292" y="1844331"/>
            <a:ext cx="8003447" cy="4613267"/>
          </a:xfrm>
          <a:prstGeom prst="roundRect">
            <a:avLst>
              <a:gd name="adj" fmla="val 1017"/>
            </a:avLst>
          </a:prstGeom>
          <a:solidFill>
            <a:srgbClr val="FBFBFA"/>
          </a:solidFill>
          <a:ln w="12700">
            <a:solidFill>
              <a:srgbClr val="B9C2CB"/>
            </a:solidFill>
            <a:prstDash val="dash"/>
          </a:ln>
        </p:spPr>
        <p:txBody>
          <a:bodyPr/>
          <a:lstStyle/>
          <a:p>
            <a:endParaRPr lang="ko-KR" altLang="en-US" sz="1634"/>
          </a:p>
        </p:txBody>
      </p:sp>
      <p:pic>
        <p:nvPicPr>
          <p:cNvPr id="15" name="그림 14">
            <a:extLst>
              <a:ext uri="{FF2B5EF4-FFF2-40B4-BE49-F238E27FC236}">
                <a16:creationId xmlns:a16="http://schemas.microsoft.com/office/drawing/2014/main" id="{87F6949E-DC46-9F12-619A-6877306A18C0}"/>
              </a:ext>
            </a:extLst>
          </p:cNvPr>
          <p:cNvPicPr>
            <a:picLocks noChangeAspect="1"/>
          </p:cNvPicPr>
          <p:nvPr/>
        </p:nvPicPr>
        <p:blipFill>
          <a:blip r:embed="rId5"/>
          <a:stretch>
            <a:fillRect/>
          </a:stretch>
        </p:blipFill>
        <p:spPr>
          <a:xfrm>
            <a:off x="1845741" y="1867796"/>
            <a:ext cx="5147572" cy="4598585"/>
          </a:xfrm>
          <a:prstGeom prst="rect">
            <a:avLst/>
          </a:prstGeom>
        </p:spPr>
      </p:pic>
    </p:spTree>
    <p:extLst>
      <p:ext uri="{BB962C8B-B14F-4D97-AF65-F5344CB8AC3E}">
        <p14:creationId xmlns:p14="http://schemas.microsoft.com/office/powerpoint/2010/main" val="2164839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93C2F-39F5-10E8-B123-6208EC702272}"/>
            </a:ext>
          </a:extLst>
        </p:cNvPr>
        <p:cNvGrpSpPr/>
        <p:nvPr/>
      </p:nvGrpSpPr>
      <p:grpSpPr>
        <a:xfrm>
          <a:off x="0" y="0"/>
          <a:ext cx="0" cy="0"/>
          <a:chOff x="0" y="0"/>
          <a:chExt cx="0" cy="0"/>
        </a:xfrm>
      </p:grpSpPr>
      <p:sp>
        <p:nvSpPr>
          <p:cNvPr id="16" name="직사각형 16"/>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7" name="직선 연결선 17"/>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 name="직선 연결선 18"/>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19" name="제목 19"/>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회로설계</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20" name="막힌 원호 20"/>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4B9D4695-CF02-0BF5-7555-A6CC3402C002}"/>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584084BC-A00B-73AE-AFD4-BECD50233059}"/>
              </a:ext>
            </a:extLst>
          </p:cNvPr>
          <p:cNvPicPr/>
          <p:nvPr/>
        </p:nvPicPr>
        <p:blipFill>
          <a:blip r:embed="rId4" cstate="print"/>
          <a:stretch>
            <a:fillRect/>
          </a:stretch>
        </p:blipFill>
        <p:spPr>
          <a:xfrm>
            <a:off x="7275128" y="314247"/>
            <a:ext cx="1325611" cy="307338"/>
          </a:xfrm>
          <a:prstGeom prst="rect">
            <a:avLst/>
          </a:prstGeom>
        </p:spPr>
      </p:pic>
      <p:sp>
        <p:nvSpPr>
          <p:cNvPr id="9" name="Shape 12">
            <a:extLst>
              <a:ext uri="{FF2B5EF4-FFF2-40B4-BE49-F238E27FC236}">
                <a16:creationId xmlns:a16="http://schemas.microsoft.com/office/drawing/2014/main" id="{FCDA2979-E373-AA88-0EF4-9FE885822F6B}"/>
              </a:ext>
            </a:extLst>
          </p:cNvPr>
          <p:cNvSpPr/>
          <p:nvPr/>
        </p:nvSpPr>
        <p:spPr>
          <a:xfrm>
            <a:off x="597295" y="1570663"/>
            <a:ext cx="70371" cy="172020"/>
          </a:xfrm>
          <a:prstGeom prst="rect">
            <a:avLst/>
          </a:prstGeom>
          <a:solidFill>
            <a:srgbClr val="3B5BA7"/>
          </a:solidFill>
          <a:ln/>
        </p:spPr>
        <p:txBody>
          <a:bodyPr/>
          <a:lstStyle/>
          <a:p>
            <a:endParaRPr lang="ko-KR" altLang="en-US" sz="1634"/>
          </a:p>
        </p:txBody>
      </p:sp>
      <p:sp>
        <p:nvSpPr>
          <p:cNvPr id="11" name="Text 13">
            <a:extLst>
              <a:ext uri="{FF2B5EF4-FFF2-40B4-BE49-F238E27FC236}">
                <a16:creationId xmlns:a16="http://schemas.microsoft.com/office/drawing/2014/main" id="{99047FFC-B9B4-679E-9D98-DA3F3AB0700E}"/>
              </a:ext>
            </a:extLst>
          </p:cNvPr>
          <p:cNvSpPr/>
          <p:nvPr/>
        </p:nvSpPr>
        <p:spPr>
          <a:xfrm>
            <a:off x="738035" y="1547206"/>
            <a:ext cx="6255278" cy="218934"/>
          </a:xfrm>
          <a:prstGeom prst="rect">
            <a:avLst/>
          </a:prstGeom>
          <a:noFill/>
          <a:ln/>
        </p:spPr>
        <p:txBody>
          <a:bodyPr wrap="square" rtlCol="0" anchor="ctr"/>
          <a:lstStyle/>
          <a:p>
            <a:r>
              <a:rPr lang="en-US" sz="1112" b="1" dirty="0" err="1">
                <a:solidFill>
                  <a:srgbClr val="1E293B"/>
                </a:solidFill>
                <a:latin typeface="맑은 고딕" pitchFamily="34" charset="0"/>
                <a:ea typeface="맑은 고딕" pitchFamily="34" charset="-122"/>
                <a:cs typeface="맑은 고딕" pitchFamily="34" charset="-120"/>
              </a:rPr>
              <a:t>전체</a:t>
            </a:r>
            <a:r>
              <a:rPr lang="en-US" sz="1112" b="1" dirty="0">
                <a:solidFill>
                  <a:srgbClr val="1E293B"/>
                </a:solidFill>
                <a:latin typeface="맑은 고딕" pitchFamily="34" charset="0"/>
                <a:ea typeface="맑은 고딕" pitchFamily="34" charset="-122"/>
                <a:cs typeface="맑은 고딕" pitchFamily="34" charset="-120"/>
              </a:rPr>
              <a:t> </a:t>
            </a:r>
            <a:r>
              <a:rPr lang="en-US" sz="1112" b="1" dirty="0" err="1">
                <a:solidFill>
                  <a:srgbClr val="1E293B"/>
                </a:solidFill>
                <a:latin typeface="맑은 고딕" pitchFamily="34" charset="0"/>
                <a:ea typeface="맑은 고딕" pitchFamily="34" charset="-122"/>
                <a:cs typeface="맑은 고딕" pitchFamily="34" charset="-120"/>
              </a:rPr>
              <a:t>회로도</a:t>
            </a:r>
            <a:r>
              <a:rPr lang="en-US" sz="1112" b="1" dirty="0">
                <a:solidFill>
                  <a:srgbClr val="1E293B"/>
                </a:solidFill>
                <a:latin typeface="맑은 고딕" pitchFamily="34" charset="0"/>
                <a:ea typeface="맑은 고딕" pitchFamily="34" charset="-122"/>
                <a:cs typeface="맑은 고딕" pitchFamily="34" charset="-120"/>
              </a:rPr>
              <a:t> – HTML</a:t>
            </a:r>
            <a:r>
              <a:rPr lang="ko-KR" altLang="en-US" sz="1112" b="1" dirty="0">
                <a:solidFill>
                  <a:srgbClr val="1E293B"/>
                </a:solidFill>
                <a:latin typeface="맑은 고딕" pitchFamily="34" charset="0"/>
                <a:ea typeface="맑은 고딕" pitchFamily="34" charset="-122"/>
                <a:cs typeface="맑은 고딕" pitchFamily="34" charset="-120"/>
              </a:rPr>
              <a:t> 이미지</a:t>
            </a:r>
            <a:endParaRPr lang="en-US" sz="1112" dirty="0"/>
          </a:p>
        </p:txBody>
      </p:sp>
      <p:sp>
        <p:nvSpPr>
          <p:cNvPr id="13" name="Shape 14">
            <a:extLst>
              <a:ext uri="{FF2B5EF4-FFF2-40B4-BE49-F238E27FC236}">
                <a16:creationId xmlns:a16="http://schemas.microsoft.com/office/drawing/2014/main" id="{0C20A937-934F-C341-7738-23E7D98040EC}"/>
              </a:ext>
            </a:extLst>
          </p:cNvPr>
          <p:cNvSpPr/>
          <p:nvPr/>
        </p:nvSpPr>
        <p:spPr>
          <a:xfrm>
            <a:off x="597292" y="1844331"/>
            <a:ext cx="8003440" cy="4613267"/>
          </a:xfrm>
          <a:prstGeom prst="roundRect">
            <a:avLst>
              <a:gd name="adj" fmla="val 1017"/>
            </a:avLst>
          </a:prstGeom>
          <a:solidFill>
            <a:srgbClr val="FBFBFA"/>
          </a:solidFill>
          <a:ln w="12700">
            <a:solidFill>
              <a:srgbClr val="B9C2CB"/>
            </a:solidFill>
            <a:prstDash val="dash"/>
          </a:ln>
        </p:spPr>
        <p:txBody>
          <a:bodyPr/>
          <a:lstStyle/>
          <a:p>
            <a:endParaRPr lang="ko-KR" altLang="en-US" sz="1634"/>
          </a:p>
        </p:txBody>
      </p:sp>
      <p:pic>
        <p:nvPicPr>
          <p:cNvPr id="15" name="그림 14">
            <a:extLst>
              <a:ext uri="{FF2B5EF4-FFF2-40B4-BE49-F238E27FC236}">
                <a16:creationId xmlns:a16="http://schemas.microsoft.com/office/drawing/2014/main" id="{FA99E780-FD79-3700-D8AD-5DD7F3AC3204}"/>
              </a:ext>
            </a:extLst>
          </p:cNvPr>
          <p:cNvPicPr>
            <a:picLocks noChangeAspect="1"/>
          </p:cNvPicPr>
          <p:nvPr/>
        </p:nvPicPr>
        <p:blipFill>
          <a:blip r:embed="rId5"/>
          <a:stretch>
            <a:fillRect/>
          </a:stretch>
        </p:blipFill>
        <p:spPr>
          <a:xfrm>
            <a:off x="1399134" y="1850407"/>
            <a:ext cx="6365671" cy="4607199"/>
          </a:xfrm>
          <a:prstGeom prst="rect">
            <a:avLst/>
          </a:prstGeom>
        </p:spPr>
      </p:pic>
    </p:spTree>
    <p:extLst>
      <p:ext uri="{BB962C8B-B14F-4D97-AF65-F5344CB8AC3E}">
        <p14:creationId xmlns:p14="http://schemas.microsoft.com/office/powerpoint/2010/main" val="38108479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5F5EC-9B67-8313-EC24-F300E62826E0}"/>
            </a:ext>
          </a:extLst>
        </p:cNvPr>
        <p:cNvGrpSpPr/>
        <p:nvPr/>
      </p:nvGrpSpPr>
      <p:grpSpPr>
        <a:xfrm>
          <a:off x="0" y="0"/>
          <a:ext cx="0" cy="0"/>
          <a:chOff x="0" y="0"/>
          <a:chExt cx="0" cy="0"/>
        </a:xfrm>
      </p:grpSpPr>
      <p:sp>
        <p:nvSpPr>
          <p:cNvPr id="16" name="직사각형 16"/>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7" name="직선 연결선 17"/>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 name="직선 연결선 18"/>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19" name="제목 19"/>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회로설계</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20" name="막힌 원호 20"/>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5BD05069-4439-0A72-6937-9A4E501C2291}"/>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39856B23-326C-0D14-DEB2-2B6B8D6F3F88}"/>
              </a:ext>
            </a:extLst>
          </p:cNvPr>
          <p:cNvPicPr/>
          <p:nvPr/>
        </p:nvPicPr>
        <p:blipFill>
          <a:blip r:embed="rId4" cstate="print"/>
          <a:stretch>
            <a:fillRect/>
          </a:stretch>
        </p:blipFill>
        <p:spPr>
          <a:xfrm>
            <a:off x="7275128" y="314247"/>
            <a:ext cx="1325611" cy="307338"/>
          </a:xfrm>
          <a:prstGeom prst="rect">
            <a:avLst/>
          </a:prstGeom>
        </p:spPr>
      </p:pic>
      <p:sp>
        <p:nvSpPr>
          <p:cNvPr id="9" name="Shape 12">
            <a:extLst>
              <a:ext uri="{FF2B5EF4-FFF2-40B4-BE49-F238E27FC236}">
                <a16:creationId xmlns:a16="http://schemas.microsoft.com/office/drawing/2014/main" id="{B801DDFC-B9A4-963E-B96A-733BF283BE44}"/>
              </a:ext>
            </a:extLst>
          </p:cNvPr>
          <p:cNvSpPr/>
          <p:nvPr/>
        </p:nvSpPr>
        <p:spPr>
          <a:xfrm>
            <a:off x="579418" y="1732339"/>
            <a:ext cx="70371" cy="172020"/>
          </a:xfrm>
          <a:prstGeom prst="rect">
            <a:avLst/>
          </a:prstGeom>
          <a:solidFill>
            <a:srgbClr val="3B5BA7"/>
          </a:solidFill>
          <a:ln/>
        </p:spPr>
        <p:txBody>
          <a:bodyPr/>
          <a:lstStyle/>
          <a:p>
            <a:endParaRPr lang="ko-KR" altLang="en-US" sz="1634"/>
          </a:p>
        </p:txBody>
      </p:sp>
      <p:sp>
        <p:nvSpPr>
          <p:cNvPr id="11" name="Text 13">
            <a:extLst>
              <a:ext uri="{FF2B5EF4-FFF2-40B4-BE49-F238E27FC236}">
                <a16:creationId xmlns:a16="http://schemas.microsoft.com/office/drawing/2014/main" id="{FF9D5F19-5E91-1B03-699E-244E232E4C0E}"/>
              </a:ext>
            </a:extLst>
          </p:cNvPr>
          <p:cNvSpPr/>
          <p:nvPr/>
        </p:nvSpPr>
        <p:spPr>
          <a:xfrm>
            <a:off x="720161" y="1708882"/>
            <a:ext cx="625527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Raspberry Pi 5 GPIO 배정</a:t>
            </a:r>
            <a:endParaRPr lang="en-US" sz="1112" dirty="0"/>
          </a:p>
        </p:txBody>
      </p:sp>
      <p:graphicFrame>
        <p:nvGraphicFramePr>
          <p:cNvPr id="13" name="Table 0">
            <a:extLst>
              <a:ext uri="{FF2B5EF4-FFF2-40B4-BE49-F238E27FC236}">
                <a16:creationId xmlns:a16="http://schemas.microsoft.com/office/drawing/2014/main" id="{9930231B-5891-B389-2D63-916433A95654}"/>
              </a:ext>
            </a:extLst>
          </p:cNvPr>
          <p:cNvGraphicFramePr>
            <a:graphicFrameLocks noGrp="1"/>
          </p:cNvGraphicFramePr>
          <p:nvPr/>
        </p:nvGraphicFramePr>
        <p:xfrm>
          <a:off x="579417" y="2045103"/>
          <a:ext cx="8053671" cy="3596780"/>
        </p:xfrm>
        <a:graphic>
          <a:graphicData uri="http://schemas.openxmlformats.org/drawingml/2006/table">
            <a:tbl>
              <a:tblPr/>
              <a:tblGrid>
                <a:gridCol w="1798392">
                  <a:extLst>
                    <a:ext uri="{9D8B030D-6E8A-4147-A177-3AD203B41FA5}">
                      <a16:colId xmlns:a16="http://schemas.microsoft.com/office/drawing/2014/main" val="20000"/>
                    </a:ext>
                  </a:extLst>
                </a:gridCol>
                <a:gridCol w="2111157">
                  <a:extLst>
                    <a:ext uri="{9D8B030D-6E8A-4147-A177-3AD203B41FA5}">
                      <a16:colId xmlns:a16="http://schemas.microsoft.com/office/drawing/2014/main" val="20001"/>
                    </a:ext>
                  </a:extLst>
                </a:gridCol>
                <a:gridCol w="4144122">
                  <a:extLst>
                    <a:ext uri="{9D8B030D-6E8A-4147-A177-3AD203B41FA5}">
                      <a16:colId xmlns:a16="http://schemas.microsoft.com/office/drawing/2014/main" val="20002"/>
                    </a:ext>
                  </a:extLst>
                </a:gridCol>
              </a:tblGrid>
              <a:tr h="359678">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GPIO</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기능</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연결 대상</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extLst>
                  <a:ext uri="{0D108BD9-81ED-4DB2-BD59-A6C34878D82A}">
                    <a16:rowId xmlns:a16="http://schemas.microsoft.com/office/drawing/2014/main" val="10000"/>
                  </a:ext>
                </a:extLst>
              </a:tr>
              <a:tr h="359678">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GPIO2 (SDA1)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I2C 데이터(업스트림)</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TCA9548A SDA</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1"/>
                  </a:ext>
                </a:extLst>
              </a:tr>
              <a:tr h="359678">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GPIO3 (SCL1)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I2C 클럭(업스트림)</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TCA9548A SCL</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2"/>
                  </a:ext>
                </a:extLst>
              </a:tr>
              <a:tr h="359678">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GPIO4</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1-Wire 데이터</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DS18B20 DQ (+4.7kΩ 풀업)</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3"/>
                  </a:ext>
                </a:extLst>
              </a:tr>
              <a:tr h="359678">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GPIO17</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디지털 출력</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MiCS-5524 #1 En (모드1 히터)</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4"/>
                  </a:ext>
                </a:extLst>
              </a:tr>
              <a:tr h="359678">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GPIO27</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디지털 출력</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MiCS-5524 #2 En (모드2·3 히터)</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5"/>
                  </a:ext>
                </a:extLst>
              </a:tr>
              <a:tr h="359678">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GPIO22</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릴레이 트리거</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릴레이 IN1 — 모드1 선택</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6"/>
                  </a:ext>
                </a:extLst>
              </a:tr>
              <a:tr h="359678">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GPIO23</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릴레이 트리거</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릴레이 IN2 — 모드2 방전 Kill-Switch</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7"/>
                  </a:ext>
                </a:extLst>
              </a:tr>
              <a:tr h="359678">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GPIO24</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릴레이 트리거</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릴레이 IN3 — 모드3 방전 Kill-Switch</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8"/>
                  </a:ext>
                </a:extLst>
              </a:tr>
              <a:tr h="359678">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GPIO25</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릴레이 트리거</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릴레이 IN4 — 모드1 충/방전 전환</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15" name="Text 15">
            <a:extLst>
              <a:ext uri="{FF2B5EF4-FFF2-40B4-BE49-F238E27FC236}">
                <a16:creationId xmlns:a16="http://schemas.microsoft.com/office/drawing/2014/main" id="{714AF27B-30A0-A12C-E99B-B693279B15B8}"/>
              </a:ext>
            </a:extLst>
          </p:cNvPr>
          <p:cNvSpPr/>
          <p:nvPr/>
        </p:nvSpPr>
        <p:spPr>
          <a:xfrm>
            <a:off x="796602" y="5609662"/>
            <a:ext cx="7740906" cy="821006"/>
          </a:xfrm>
          <a:prstGeom prst="rect">
            <a:avLst/>
          </a:prstGeom>
          <a:noFill/>
          <a:ln/>
        </p:spPr>
        <p:txBody>
          <a:bodyPr wrap="square" rtlCol="0" anchor="t"/>
          <a:lstStyle/>
          <a:p>
            <a:endParaRPr lang="en-US" sz="898" dirty="0"/>
          </a:p>
        </p:txBody>
      </p:sp>
    </p:spTree>
    <p:extLst>
      <p:ext uri="{BB962C8B-B14F-4D97-AF65-F5344CB8AC3E}">
        <p14:creationId xmlns:p14="http://schemas.microsoft.com/office/powerpoint/2010/main" val="740973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E34D7-FACB-E6C9-74E2-33F52D8B47F7}"/>
            </a:ext>
          </a:extLst>
        </p:cNvPr>
        <p:cNvGrpSpPr/>
        <p:nvPr/>
      </p:nvGrpSpPr>
      <p:grpSpPr>
        <a:xfrm>
          <a:off x="0" y="0"/>
          <a:ext cx="0" cy="0"/>
          <a:chOff x="0" y="0"/>
          <a:chExt cx="0" cy="0"/>
        </a:xfrm>
      </p:grpSpPr>
      <p:sp>
        <p:nvSpPr>
          <p:cNvPr id="30" name="직사각형 30"/>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1" name="직선 연결선 31"/>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 name="직선 연결선 32"/>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33" name="제목 33"/>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회로설계</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34" name="막힌 원호 34"/>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CB076EEB-47FF-9591-E766-CF2CE523E87D}"/>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E5238A8E-92B3-CA9E-C853-E36FC45DD43F}"/>
              </a:ext>
            </a:extLst>
          </p:cNvPr>
          <p:cNvPicPr/>
          <p:nvPr/>
        </p:nvPicPr>
        <p:blipFill>
          <a:blip r:embed="rId4" cstate="print"/>
          <a:stretch>
            <a:fillRect/>
          </a:stretch>
        </p:blipFill>
        <p:spPr>
          <a:xfrm>
            <a:off x="7275128" y="314247"/>
            <a:ext cx="1325611" cy="307338"/>
          </a:xfrm>
          <a:prstGeom prst="rect">
            <a:avLst/>
          </a:prstGeom>
        </p:spPr>
      </p:pic>
      <p:sp>
        <p:nvSpPr>
          <p:cNvPr id="9" name="Shape 12">
            <a:extLst>
              <a:ext uri="{FF2B5EF4-FFF2-40B4-BE49-F238E27FC236}">
                <a16:creationId xmlns:a16="http://schemas.microsoft.com/office/drawing/2014/main" id="{676970C3-72AC-AA0E-BE69-A4EA7C254C7B}"/>
              </a:ext>
            </a:extLst>
          </p:cNvPr>
          <p:cNvSpPr/>
          <p:nvPr/>
        </p:nvSpPr>
        <p:spPr>
          <a:xfrm>
            <a:off x="563970" y="1552417"/>
            <a:ext cx="70371" cy="172020"/>
          </a:xfrm>
          <a:prstGeom prst="rect">
            <a:avLst/>
          </a:prstGeom>
          <a:solidFill>
            <a:srgbClr val="3B5BA7"/>
          </a:solidFill>
          <a:ln/>
        </p:spPr>
        <p:txBody>
          <a:bodyPr/>
          <a:lstStyle/>
          <a:p>
            <a:endParaRPr lang="ko-KR" altLang="en-US" sz="1634"/>
          </a:p>
        </p:txBody>
      </p:sp>
      <p:sp>
        <p:nvSpPr>
          <p:cNvPr id="11" name="Text 13">
            <a:extLst>
              <a:ext uri="{FF2B5EF4-FFF2-40B4-BE49-F238E27FC236}">
                <a16:creationId xmlns:a16="http://schemas.microsoft.com/office/drawing/2014/main" id="{B08CCE42-AD6C-9C06-404D-C9BB77A56C90}"/>
              </a:ext>
            </a:extLst>
          </p:cNvPr>
          <p:cNvSpPr/>
          <p:nvPr/>
        </p:nvSpPr>
        <p:spPr>
          <a:xfrm>
            <a:off x="704711" y="1528960"/>
            <a:ext cx="625527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TCA9548A 멀티플렉서 채널 분리</a:t>
            </a:r>
            <a:endParaRPr lang="en-US" sz="1112" dirty="0"/>
          </a:p>
        </p:txBody>
      </p:sp>
      <p:graphicFrame>
        <p:nvGraphicFramePr>
          <p:cNvPr id="13" name="Table 0">
            <a:extLst>
              <a:ext uri="{FF2B5EF4-FFF2-40B4-BE49-F238E27FC236}">
                <a16:creationId xmlns:a16="http://schemas.microsoft.com/office/drawing/2014/main" id="{0F2866B6-B1C4-091A-BE56-E97D2FE617BC}"/>
              </a:ext>
            </a:extLst>
          </p:cNvPr>
          <p:cNvGraphicFramePr>
            <a:graphicFrameLocks noGrp="1"/>
          </p:cNvGraphicFramePr>
          <p:nvPr/>
        </p:nvGraphicFramePr>
        <p:xfrm>
          <a:off x="563966" y="1902709"/>
          <a:ext cx="8053671" cy="1876584"/>
        </p:xfrm>
        <a:graphic>
          <a:graphicData uri="http://schemas.openxmlformats.org/drawingml/2006/table">
            <a:tbl>
              <a:tblPr/>
              <a:tblGrid>
                <a:gridCol w="1172865">
                  <a:extLst>
                    <a:ext uri="{9D8B030D-6E8A-4147-A177-3AD203B41FA5}">
                      <a16:colId xmlns:a16="http://schemas.microsoft.com/office/drawing/2014/main" val="20000"/>
                    </a:ext>
                  </a:extLst>
                </a:gridCol>
                <a:gridCol w="1798392">
                  <a:extLst>
                    <a:ext uri="{9D8B030D-6E8A-4147-A177-3AD203B41FA5}">
                      <a16:colId xmlns:a16="http://schemas.microsoft.com/office/drawing/2014/main" val="20001"/>
                    </a:ext>
                  </a:extLst>
                </a:gridCol>
                <a:gridCol w="2971257">
                  <a:extLst>
                    <a:ext uri="{9D8B030D-6E8A-4147-A177-3AD203B41FA5}">
                      <a16:colId xmlns:a16="http://schemas.microsoft.com/office/drawing/2014/main" val="20002"/>
                    </a:ext>
                  </a:extLst>
                </a:gridCol>
                <a:gridCol w="2111157">
                  <a:extLst>
                    <a:ext uri="{9D8B030D-6E8A-4147-A177-3AD203B41FA5}">
                      <a16:colId xmlns:a16="http://schemas.microsoft.com/office/drawing/2014/main" val="20003"/>
                    </a:ext>
                  </a:extLst>
                </a:gridCol>
              </a:tblGrid>
              <a:tr h="469146">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채널</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소속 블록</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연결 부품</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I2C 주소</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extLst>
                  <a:ext uri="{0D108BD9-81ED-4DB2-BD59-A6C34878D82A}">
                    <a16:rowId xmlns:a16="http://schemas.microsoft.com/office/drawing/2014/main" val="10000"/>
                  </a:ext>
                </a:extLst>
              </a:tr>
              <a:tr h="469146">
                <a:tc>
                  <a:txBody>
                    <a:bodyPr/>
                    <a:lstStyle/>
                    <a:p>
                      <a:pPr marL="0" indent="0">
                        <a:buNone/>
                      </a:pPr>
                      <a:r>
                        <a:rPr lang="en-US" sz="800" b="1" dirty="0">
                          <a:solidFill>
                            <a:srgbClr val="000000"/>
                          </a:solidFill>
                          <a:latin typeface="맑은 고딕" pitchFamily="34" charset="0"/>
                          <a:ea typeface="맑은 고딕" pitchFamily="34" charset="-122"/>
                          <a:cs typeface="맑은 고딕" pitchFamily="34" charset="-120"/>
                        </a:rPr>
                        <a:t>업스트림</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RPi5 ↔ TCA9548A</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GPIO2(SDA1) · GPIO3(SCL1)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Mux=0x70</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1"/>
                  </a:ext>
                </a:extLst>
              </a:tr>
              <a:tr h="469146">
                <a:tc>
                  <a:txBody>
                    <a:bodyPr/>
                    <a:lstStyle/>
                    <a:p>
                      <a:pPr marL="0" indent="0">
                        <a:buNone/>
                      </a:pPr>
                      <a:r>
                        <a:rPr lang="en-US" sz="800" b="1" dirty="0">
                          <a:solidFill>
                            <a:srgbClr val="000000"/>
                          </a:solidFill>
                          <a:latin typeface="맑은 고딕" pitchFamily="34" charset="0"/>
                          <a:ea typeface="맑은 고딕" pitchFamily="34" charset="-122"/>
                          <a:cs typeface="맑은 고딕" pitchFamily="34" charset="-120"/>
                        </a:rPr>
                        <a:t>CH0</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모드1 블록</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BQ27441 #1, ADS1115 #1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0x55 · 0x48</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2"/>
                  </a:ext>
                </a:extLst>
              </a:tr>
              <a:tr h="469146">
                <a:tc>
                  <a:txBody>
                    <a:bodyPr/>
                    <a:lstStyle/>
                    <a:p>
                      <a:pPr marL="0" indent="0">
                        <a:buNone/>
                      </a:pPr>
                      <a:r>
                        <a:rPr lang="en-US" sz="800" b="1" dirty="0">
                          <a:solidFill>
                            <a:srgbClr val="000000"/>
                          </a:solidFill>
                          <a:latin typeface="맑은 고딕" pitchFamily="34" charset="0"/>
                          <a:ea typeface="맑은 고딕" pitchFamily="34" charset="-122"/>
                          <a:cs typeface="맑은 고딕" pitchFamily="34" charset="-120"/>
                        </a:rPr>
                        <a:t>CH1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모드2·3 공용 블록</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BQ27441 #2, MLX90614, ADS1115 #2, INA226</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0x55 · 0x5A · 0x49 · 0x40</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5" name="Shape 14">
            <a:extLst>
              <a:ext uri="{FF2B5EF4-FFF2-40B4-BE49-F238E27FC236}">
                <a16:creationId xmlns:a16="http://schemas.microsoft.com/office/drawing/2014/main" id="{C4265FE6-A337-9E76-DEA2-7FA32D676207}"/>
              </a:ext>
            </a:extLst>
          </p:cNvPr>
          <p:cNvSpPr/>
          <p:nvPr/>
        </p:nvSpPr>
        <p:spPr>
          <a:xfrm>
            <a:off x="554698" y="4023558"/>
            <a:ext cx="70371" cy="172020"/>
          </a:xfrm>
          <a:prstGeom prst="rect">
            <a:avLst/>
          </a:prstGeom>
          <a:solidFill>
            <a:srgbClr val="3B5BA7"/>
          </a:solidFill>
          <a:ln/>
        </p:spPr>
        <p:txBody>
          <a:bodyPr/>
          <a:lstStyle/>
          <a:p>
            <a:endParaRPr lang="ko-KR" altLang="en-US" sz="1634"/>
          </a:p>
        </p:txBody>
      </p:sp>
      <p:sp>
        <p:nvSpPr>
          <p:cNvPr id="17" name="Text 15">
            <a:extLst>
              <a:ext uri="{FF2B5EF4-FFF2-40B4-BE49-F238E27FC236}">
                <a16:creationId xmlns:a16="http://schemas.microsoft.com/office/drawing/2014/main" id="{FED60F5F-E377-2F9F-DA03-2C348BAFEDA7}"/>
              </a:ext>
            </a:extLst>
          </p:cNvPr>
          <p:cNvSpPr/>
          <p:nvPr/>
        </p:nvSpPr>
        <p:spPr>
          <a:xfrm>
            <a:off x="695438" y="4000098"/>
            <a:ext cx="625527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1-Wire (멀티플렉서 미경유)</a:t>
            </a:r>
            <a:endParaRPr lang="en-US" sz="1112" dirty="0"/>
          </a:p>
        </p:txBody>
      </p:sp>
      <p:sp>
        <p:nvSpPr>
          <p:cNvPr id="19" name="Shape 16">
            <a:extLst>
              <a:ext uri="{FF2B5EF4-FFF2-40B4-BE49-F238E27FC236}">
                <a16:creationId xmlns:a16="http://schemas.microsoft.com/office/drawing/2014/main" id="{4A4A948E-4BC7-01F3-8601-ED0221580D77}"/>
              </a:ext>
            </a:extLst>
          </p:cNvPr>
          <p:cNvSpPr/>
          <p:nvPr/>
        </p:nvSpPr>
        <p:spPr>
          <a:xfrm>
            <a:off x="554694" y="4297231"/>
            <a:ext cx="8053671" cy="448256"/>
          </a:xfrm>
          <a:prstGeom prst="roundRect">
            <a:avLst>
              <a:gd name="adj" fmla="val 8235"/>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dirty="0"/>
          </a:p>
        </p:txBody>
      </p:sp>
      <p:sp>
        <p:nvSpPr>
          <p:cNvPr id="21" name="Text 17">
            <a:extLst>
              <a:ext uri="{FF2B5EF4-FFF2-40B4-BE49-F238E27FC236}">
                <a16:creationId xmlns:a16="http://schemas.microsoft.com/office/drawing/2014/main" id="{2D53A18E-4761-4A7E-AEC1-72BA643B892C}"/>
              </a:ext>
            </a:extLst>
          </p:cNvPr>
          <p:cNvSpPr/>
          <p:nvPr/>
        </p:nvSpPr>
        <p:spPr>
          <a:xfrm>
            <a:off x="517091" y="4279018"/>
            <a:ext cx="7740906" cy="469146"/>
          </a:xfrm>
          <a:prstGeom prst="rect">
            <a:avLst/>
          </a:prstGeom>
          <a:noFill/>
          <a:ln/>
        </p:spPr>
        <p:txBody>
          <a:bodyPr wrap="square" rtlCol="0" anchor="ctr"/>
          <a:lstStyle/>
          <a:p>
            <a:r>
              <a:rPr lang="en-US" altLang="ko-KR" sz="1026" dirty="0">
                <a:solidFill>
                  <a:srgbClr val="1E293B"/>
                </a:solidFill>
                <a:latin typeface="맑은 고딕" pitchFamily="34" charset="0"/>
                <a:ea typeface="맑은 고딕" pitchFamily="34" charset="-122"/>
                <a:cs typeface="맑은 고딕" pitchFamily="34" charset="-120"/>
              </a:rPr>
              <a:t>• </a:t>
            </a:r>
            <a:r>
              <a:rPr lang="en-US" sz="1026" dirty="0">
                <a:solidFill>
                  <a:srgbClr val="1E293B"/>
                </a:solidFill>
                <a:latin typeface="맑은 고딕" pitchFamily="34" charset="0"/>
                <a:ea typeface="맑은 고딕" pitchFamily="34" charset="-122"/>
                <a:cs typeface="맑은 고딕" pitchFamily="34" charset="-120"/>
              </a:rPr>
              <a:t>DS18B20은 I2C가 아닌 1-Wire 방식이라 멀티플렉서를 거치지 않고 RPi GPIO4에 직결 (4.7kΩ 풀업 → 3.3V)</a:t>
            </a:r>
            <a:endParaRPr lang="en-US" sz="1026" dirty="0"/>
          </a:p>
        </p:txBody>
      </p:sp>
      <p:sp>
        <p:nvSpPr>
          <p:cNvPr id="23" name="Shape 18">
            <a:extLst>
              <a:ext uri="{FF2B5EF4-FFF2-40B4-BE49-F238E27FC236}">
                <a16:creationId xmlns:a16="http://schemas.microsoft.com/office/drawing/2014/main" id="{17C62E5E-B05A-C30E-D5CD-E645042FE38E}"/>
              </a:ext>
            </a:extLst>
          </p:cNvPr>
          <p:cNvSpPr/>
          <p:nvPr/>
        </p:nvSpPr>
        <p:spPr>
          <a:xfrm>
            <a:off x="554698" y="5023573"/>
            <a:ext cx="70371" cy="172020"/>
          </a:xfrm>
          <a:prstGeom prst="rect">
            <a:avLst/>
          </a:prstGeom>
          <a:solidFill>
            <a:srgbClr val="3B5BA7"/>
          </a:solidFill>
          <a:ln/>
        </p:spPr>
        <p:txBody>
          <a:bodyPr/>
          <a:lstStyle/>
          <a:p>
            <a:endParaRPr lang="ko-KR" altLang="en-US" sz="1634"/>
          </a:p>
        </p:txBody>
      </p:sp>
      <p:sp>
        <p:nvSpPr>
          <p:cNvPr id="25" name="Text 19">
            <a:extLst>
              <a:ext uri="{FF2B5EF4-FFF2-40B4-BE49-F238E27FC236}">
                <a16:creationId xmlns:a16="http://schemas.microsoft.com/office/drawing/2014/main" id="{82523714-70FE-45CD-377D-935A21611DE8}"/>
              </a:ext>
            </a:extLst>
          </p:cNvPr>
          <p:cNvSpPr/>
          <p:nvPr/>
        </p:nvSpPr>
        <p:spPr>
          <a:xfrm>
            <a:off x="695438" y="5000114"/>
            <a:ext cx="625527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주소 충돌 검증</a:t>
            </a:r>
            <a:endParaRPr lang="en-US" sz="1112" dirty="0"/>
          </a:p>
        </p:txBody>
      </p:sp>
      <p:sp>
        <p:nvSpPr>
          <p:cNvPr id="27" name="Shape 20">
            <a:extLst>
              <a:ext uri="{FF2B5EF4-FFF2-40B4-BE49-F238E27FC236}">
                <a16:creationId xmlns:a16="http://schemas.microsoft.com/office/drawing/2014/main" id="{63B0AD26-9A53-BBE6-98AE-7C9526F7556A}"/>
              </a:ext>
            </a:extLst>
          </p:cNvPr>
          <p:cNvSpPr/>
          <p:nvPr/>
        </p:nvSpPr>
        <p:spPr>
          <a:xfrm>
            <a:off x="554694" y="5297240"/>
            <a:ext cx="8053671" cy="860100"/>
          </a:xfrm>
          <a:prstGeom prst="roundRect">
            <a:avLst>
              <a:gd name="adj" fmla="val 4000"/>
            </a:avLst>
          </a:prstGeom>
          <a:solidFill>
            <a:srgbClr val="E8F1FF"/>
          </a:solidFill>
          <a:ln/>
          <a:effectLst>
            <a:outerShdw blurRad="63500" dist="25400" dir="2700000" algn="bl" rotWithShape="0">
              <a:srgbClr val="000000">
                <a:alpha val="10000"/>
              </a:srgbClr>
            </a:outerShdw>
          </a:effectLst>
        </p:spPr>
        <p:txBody>
          <a:bodyPr/>
          <a:lstStyle/>
          <a:p>
            <a:endParaRPr lang="ko-KR" altLang="en-US" sz="1634"/>
          </a:p>
        </p:txBody>
      </p:sp>
      <p:sp>
        <p:nvSpPr>
          <p:cNvPr id="29" name="Text 21">
            <a:extLst>
              <a:ext uri="{FF2B5EF4-FFF2-40B4-BE49-F238E27FC236}">
                <a16:creationId xmlns:a16="http://schemas.microsoft.com/office/drawing/2014/main" id="{CB649CE3-CF5E-F26D-471D-D49D49CEBE75}"/>
              </a:ext>
            </a:extLst>
          </p:cNvPr>
          <p:cNvSpPr/>
          <p:nvPr/>
        </p:nvSpPr>
        <p:spPr>
          <a:xfrm>
            <a:off x="554694" y="5297241"/>
            <a:ext cx="8053671" cy="1172865"/>
          </a:xfrm>
          <a:prstGeom prst="rect">
            <a:avLst/>
          </a:prstGeom>
          <a:noFill/>
          <a:ln/>
        </p:spPr>
        <p:txBody>
          <a:bodyPr wrap="square" rtlCol="0" anchor="t"/>
          <a:lstStyle/>
          <a:p>
            <a:pPr>
              <a:lnSpc>
                <a:spcPct val="125000"/>
              </a:lnSpc>
              <a:spcAft>
                <a:spcPts val="684"/>
              </a:spcAft>
            </a:pPr>
            <a:r>
              <a:rPr lang="en-US" sz="855" dirty="0">
                <a:solidFill>
                  <a:srgbClr val="1E293B"/>
                </a:solidFill>
                <a:latin typeface="맑은 고딕" pitchFamily="34" charset="0"/>
                <a:ea typeface="맑은 고딕" pitchFamily="34" charset="-122"/>
                <a:cs typeface="맑은 고딕" pitchFamily="34" charset="-120"/>
              </a:rPr>
              <a:t>•  </a:t>
            </a:r>
            <a:r>
              <a:rPr lang="en-US" sz="1026" dirty="0">
                <a:solidFill>
                  <a:srgbClr val="1E293B"/>
                </a:solidFill>
                <a:latin typeface="맑은 고딕" pitchFamily="34" charset="0"/>
                <a:ea typeface="맑은 고딕" pitchFamily="34" charset="-122"/>
                <a:cs typeface="맑은 고딕" pitchFamily="34" charset="-120"/>
              </a:rPr>
              <a:t>채널0 내부: BQ27441(0x55), ADS1115 #1(0x48) — 충돌 없음</a:t>
            </a:r>
            <a:endParaRPr lang="en-US" sz="1026" dirty="0"/>
          </a:p>
          <a:p>
            <a:pPr>
              <a:lnSpc>
                <a:spcPct val="125000"/>
              </a:lnSpc>
              <a:spcAft>
                <a:spcPts val="684"/>
              </a:spcAft>
            </a:pPr>
            <a:r>
              <a:rPr lang="en-US" sz="1026" dirty="0">
                <a:solidFill>
                  <a:srgbClr val="1E293B"/>
                </a:solidFill>
                <a:latin typeface="맑은 고딕" pitchFamily="34" charset="0"/>
                <a:ea typeface="맑은 고딕" pitchFamily="34" charset="-122"/>
                <a:cs typeface="맑은 고딕" pitchFamily="34" charset="-120"/>
              </a:rPr>
              <a:t>•  채널1 내부: BQ27441(0x55), MLX90614(0x5A), ADS1115 #2(0x49), INA226(0x40, A0/A1→GND) — 충돌 없음</a:t>
            </a:r>
            <a:endParaRPr lang="en-US" sz="1026" dirty="0"/>
          </a:p>
          <a:p>
            <a:pPr>
              <a:lnSpc>
                <a:spcPct val="125000"/>
              </a:lnSpc>
              <a:spcAft>
                <a:spcPts val="684"/>
              </a:spcAft>
            </a:pPr>
            <a:r>
              <a:rPr lang="en-US" sz="1026" dirty="0">
                <a:solidFill>
                  <a:srgbClr val="1E293B"/>
                </a:solidFill>
                <a:latin typeface="맑은 고딕" pitchFamily="34" charset="0"/>
                <a:ea typeface="맑은 고딕" pitchFamily="34" charset="-122"/>
                <a:cs typeface="맑은 고딕" pitchFamily="34" charset="-120"/>
              </a:rPr>
              <a:t>•  BQ27441이 물리적으로 2개(0x55 동일)여도, 서로 다른 채널에 있어 소프트웨어가 채널을 열 때만 해당 칩이 보이므로 충돌하지 않음</a:t>
            </a:r>
            <a:endParaRPr lang="en-US" sz="1026" dirty="0"/>
          </a:p>
        </p:txBody>
      </p:sp>
    </p:spTree>
    <p:extLst>
      <p:ext uri="{BB962C8B-B14F-4D97-AF65-F5344CB8AC3E}">
        <p14:creationId xmlns:p14="http://schemas.microsoft.com/office/powerpoint/2010/main" val="4536210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CF994-E607-EADD-698C-0EA36865CFD8}"/>
            </a:ext>
          </a:extLst>
        </p:cNvPr>
        <p:cNvGrpSpPr/>
        <p:nvPr/>
      </p:nvGrpSpPr>
      <p:grpSpPr>
        <a:xfrm>
          <a:off x="0" y="0"/>
          <a:ext cx="0" cy="0"/>
          <a:chOff x="0" y="0"/>
          <a:chExt cx="0" cy="0"/>
        </a:xfrm>
      </p:grpSpPr>
      <p:sp>
        <p:nvSpPr>
          <p:cNvPr id="40" name="직사각형 40"/>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1" name="직선 연결선 41"/>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2" name="직선 연결선 42"/>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43" name="제목 43"/>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회로설계</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44" name="막힌 원호 44"/>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698F720C-B754-0F4A-30B8-DA8C83AC9356}"/>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5E9E08D1-8CA2-487D-29D7-44D146F331E7}"/>
              </a:ext>
            </a:extLst>
          </p:cNvPr>
          <p:cNvPicPr/>
          <p:nvPr/>
        </p:nvPicPr>
        <p:blipFill>
          <a:blip r:embed="rId4" cstate="print"/>
          <a:stretch>
            <a:fillRect/>
          </a:stretch>
        </p:blipFill>
        <p:spPr>
          <a:xfrm>
            <a:off x="7275128" y="314247"/>
            <a:ext cx="1325611" cy="307338"/>
          </a:xfrm>
          <a:prstGeom prst="rect">
            <a:avLst/>
          </a:prstGeom>
        </p:spPr>
      </p:pic>
      <p:sp>
        <p:nvSpPr>
          <p:cNvPr id="9" name="Shape 12">
            <a:extLst>
              <a:ext uri="{FF2B5EF4-FFF2-40B4-BE49-F238E27FC236}">
                <a16:creationId xmlns:a16="http://schemas.microsoft.com/office/drawing/2014/main" id="{0810B6AD-BD1F-E4C7-BF81-933D9D66F53E}"/>
              </a:ext>
            </a:extLst>
          </p:cNvPr>
          <p:cNvSpPr/>
          <p:nvPr/>
        </p:nvSpPr>
        <p:spPr>
          <a:xfrm>
            <a:off x="562624" y="1628004"/>
            <a:ext cx="70371" cy="172020"/>
          </a:xfrm>
          <a:prstGeom prst="rect">
            <a:avLst/>
          </a:prstGeom>
          <a:solidFill>
            <a:srgbClr val="3B5BA7"/>
          </a:solidFill>
          <a:ln/>
        </p:spPr>
        <p:txBody>
          <a:bodyPr/>
          <a:lstStyle/>
          <a:p>
            <a:endParaRPr lang="ko-KR" altLang="en-US" sz="1634"/>
          </a:p>
        </p:txBody>
      </p:sp>
      <p:sp>
        <p:nvSpPr>
          <p:cNvPr id="11" name="Text 13">
            <a:extLst>
              <a:ext uri="{FF2B5EF4-FFF2-40B4-BE49-F238E27FC236}">
                <a16:creationId xmlns:a16="http://schemas.microsoft.com/office/drawing/2014/main" id="{617D2121-BD80-69C1-E9B7-BDF1431FF70E}"/>
              </a:ext>
            </a:extLst>
          </p:cNvPr>
          <p:cNvSpPr/>
          <p:nvPr/>
        </p:nvSpPr>
        <p:spPr>
          <a:xfrm>
            <a:off x="703367" y="1604544"/>
            <a:ext cx="625527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ADS1115 채널 배정 — 블록당 4채널 정확히 소진</a:t>
            </a:r>
            <a:endParaRPr lang="en-US" sz="1112" dirty="0"/>
          </a:p>
        </p:txBody>
      </p:sp>
      <p:sp>
        <p:nvSpPr>
          <p:cNvPr id="13" name="Text 14">
            <a:extLst>
              <a:ext uri="{FF2B5EF4-FFF2-40B4-BE49-F238E27FC236}">
                <a16:creationId xmlns:a16="http://schemas.microsoft.com/office/drawing/2014/main" id="{3210F7BD-F688-02D9-7696-7AFB6B000FBC}"/>
              </a:ext>
            </a:extLst>
          </p:cNvPr>
          <p:cNvSpPr/>
          <p:nvPr/>
        </p:nvSpPr>
        <p:spPr>
          <a:xfrm>
            <a:off x="562624" y="1956403"/>
            <a:ext cx="3831357" cy="234573"/>
          </a:xfrm>
          <a:prstGeom prst="rect">
            <a:avLst/>
          </a:prstGeom>
          <a:noFill/>
          <a:ln/>
        </p:spPr>
        <p:txBody>
          <a:bodyPr wrap="square" rtlCol="0" anchor="ctr"/>
          <a:lstStyle/>
          <a:p>
            <a:r>
              <a:rPr lang="en-US" sz="1026" b="1" dirty="0">
                <a:solidFill>
                  <a:srgbClr val="3B5BA7"/>
                </a:solidFill>
                <a:latin typeface="맑은 고딕" pitchFamily="34" charset="0"/>
                <a:ea typeface="맑은 고딕" pitchFamily="34" charset="-122"/>
                <a:cs typeface="맑은 고딕" pitchFamily="34" charset="-120"/>
              </a:rPr>
              <a:t>ADS1115 #1 (모드1 블록)</a:t>
            </a:r>
            <a:endParaRPr lang="en-US" sz="1026" dirty="0"/>
          </a:p>
        </p:txBody>
      </p:sp>
      <p:sp>
        <p:nvSpPr>
          <p:cNvPr id="15" name="Text 15">
            <a:extLst>
              <a:ext uri="{FF2B5EF4-FFF2-40B4-BE49-F238E27FC236}">
                <a16:creationId xmlns:a16="http://schemas.microsoft.com/office/drawing/2014/main" id="{69A8A41F-EF4A-8D0B-F212-15630BFCD6B2}"/>
              </a:ext>
            </a:extLst>
          </p:cNvPr>
          <p:cNvSpPr/>
          <p:nvPr/>
        </p:nvSpPr>
        <p:spPr>
          <a:xfrm>
            <a:off x="562624" y="2175340"/>
            <a:ext cx="3831357" cy="195477"/>
          </a:xfrm>
          <a:prstGeom prst="rect">
            <a:avLst/>
          </a:prstGeom>
          <a:noFill/>
          <a:ln/>
        </p:spPr>
        <p:txBody>
          <a:bodyPr wrap="square" rtlCol="0" anchor="ctr"/>
          <a:lstStyle/>
          <a:p>
            <a:r>
              <a:rPr lang="en-US" sz="812" dirty="0">
                <a:solidFill>
                  <a:srgbClr val="64748B"/>
                </a:solidFill>
                <a:latin typeface="맑은 고딕" pitchFamily="34" charset="0"/>
                <a:ea typeface="맑은 고딕" pitchFamily="34" charset="-122"/>
                <a:cs typeface="맑은 고딕" pitchFamily="34" charset="-120"/>
              </a:rPr>
              <a:t>ADDR → GND → 0x48</a:t>
            </a:r>
            <a:endParaRPr lang="en-US" sz="812" dirty="0"/>
          </a:p>
        </p:txBody>
      </p:sp>
      <p:graphicFrame>
        <p:nvGraphicFramePr>
          <p:cNvPr id="17" name="Table 0">
            <a:extLst>
              <a:ext uri="{FF2B5EF4-FFF2-40B4-BE49-F238E27FC236}">
                <a16:creationId xmlns:a16="http://schemas.microsoft.com/office/drawing/2014/main" id="{7AC7B66A-C7D0-5516-FC98-7569B3919E3E}"/>
              </a:ext>
            </a:extLst>
          </p:cNvPr>
          <p:cNvGraphicFramePr>
            <a:graphicFrameLocks noGrp="1"/>
          </p:cNvGraphicFramePr>
          <p:nvPr/>
        </p:nvGraphicFramePr>
        <p:xfrm>
          <a:off x="562624" y="2409912"/>
          <a:ext cx="3831359" cy="1798390"/>
        </p:xfrm>
        <a:graphic>
          <a:graphicData uri="http://schemas.openxmlformats.org/drawingml/2006/table">
            <a:tbl>
              <a:tblPr/>
              <a:tblGrid>
                <a:gridCol w="703719">
                  <a:extLst>
                    <a:ext uri="{9D8B030D-6E8A-4147-A177-3AD203B41FA5}">
                      <a16:colId xmlns:a16="http://schemas.microsoft.com/office/drawing/2014/main" val="20000"/>
                    </a:ext>
                  </a:extLst>
                </a:gridCol>
                <a:gridCol w="1563820">
                  <a:extLst>
                    <a:ext uri="{9D8B030D-6E8A-4147-A177-3AD203B41FA5}">
                      <a16:colId xmlns:a16="http://schemas.microsoft.com/office/drawing/2014/main" val="20001"/>
                    </a:ext>
                  </a:extLst>
                </a:gridCol>
                <a:gridCol w="1563820">
                  <a:extLst>
                    <a:ext uri="{9D8B030D-6E8A-4147-A177-3AD203B41FA5}">
                      <a16:colId xmlns:a16="http://schemas.microsoft.com/office/drawing/2014/main" val="20002"/>
                    </a:ext>
                  </a:extLst>
                </a:gridCol>
              </a:tblGrid>
              <a:tr h="359678">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채널</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연결 센서</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비고</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extLst>
                  <a:ext uri="{0D108BD9-81ED-4DB2-BD59-A6C34878D82A}">
                    <a16:rowId xmlns:a16="http://schemas.microsoft.com/office/drawing/2014/main" val="10000"/>
                  </a:ext>
                </a:extLst>
              </a:tr>
              <a:tr h="359678">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A0</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MQ-2 #1 AOUT</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가스</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1"/>
                  </a:ext>
                </a:extLst>
              </a:tr>
              <a:tr h="359678">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A1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MiCS-5524 #1 Ao</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가스</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2"/>
                  </a:ext>
                </a:extLst>
              </a:tr>
              <a:tr h="359678">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A2</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FSR-406 #1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압력, +10kΩ 풀다운</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3"/>
                  </a:ext>
                </a:extLst>
              </a:tr>
              <a:tr h="359678">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A3</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피에조 #1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음향, ±1MΩ</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4"/>
                  </a:ext>
                </a:extLst>
              </a:tr>
            </a:tbl>
          </a:graphicData>
        </a:graphic>
      </p:graphicFrame>
      <p:sp>
        <p:nvSpPr>
          <p:cNvPr id="19" name="Text 16">
            <a:extLst>
              <a:ext uri="{FF2B5EF4-FFF2-40B4-BE49-F238E27FC236}">
                <a16:creationId xmlns:a16="http://schemas.microsoft.com/office/drawing/2014/main" id="{89974124-B597-C172-A659-09D7D900179F}"/>
              </a:ext>
            </a:extLst>
          </p:cNvPr>
          <p:cNvSpPr/>
          <p:nvPr/>
        </p:nvSpPr>
        <p:spPr>
          <a:xfrm>
            <a:off x="4706745" y="1956403"/>
            <a:ext cx="3831357" cy="234573"/>
          </a:xfrm>
          <a:prstGeom prst="rect">
            <a:avLst/>
          </a:prstGeom>
          <a:noFill/>
          <a:ln/>
        </p:spPr>
        <p:txBody>
          <a:bodyPr wrap="square" rtlCol="0" anchor="ctr"/>
          <a:lstStyle/>
          <a:p>
            <a:r>
              <a:rPr lang="en-US" sz="1026" b="1" dirty="0">
                <a:solidFill>
                  <a:srgbClr val="3B5BA7"/>
                </a:solidFill>
                <a:latin typeface="맑은 고딕" pitchFamily="34" charset="0"/>
                <a:ea typeface="맑은 고딕" pitchFamily="34" charset="-122"/>
                <a:cs typeface="맑은 고딕" pitchFamily="34" charset="-120"/>
              </a:rPr>
              <a:t>ADS1115 #2 (모드2·3 공용)</a:t>
            </a:r>
            <a:endParaRPr lang="en-US" sz="1026" dirty="0"/>
          </a:p>
        </p:txBody>
      </p:sp>
      <p:sp>
        <p:nvSpPr>
          <p:cNvPr id="21" name="Text 17">
            <a:extLst>
              <a:ext uri="{FF2B5EF4-FFF2-40B4-BE49-F238E27FC236}">
                <a16:creationId xmlns:a16="http://schemas.microsoft.com/office/drawing/2014/main" id="{C575B1C5-AA9F-3338-252A-EDDF655A7EA4}"/>
              </a:ext>
            </a:extLst>
          </p:cNvPr>
          <p:cNvSpPr/>
          <p:nvPr/>
        </p:nvSpPr>
        <p:spPr>
          <a:xfrm>
            <a:off x="4706745" y="2175340"/>
            <a:ext cx="3831357" cy="195477"/>
          </a:xfrm>
          <a:prstGeom prst="rect">
            <a:avLst/>
          </a:prstGeom>
          <a:noFill/>
          <a:ln/>
        </p:spPr>
        <p:txBody>
          <a:bodyPr wrap="square" rtlCol="0" anchor="ctr"/>
          <a:lstStyle/>
          <a:p>
            <a:r>
              <a:rPr lang="en-US" sz="812" dirty="0">
                <a:solidFill>
                  <a:srgbClr val="64748B"/>
                </a:solidFill>
                <a:latin typeface="맑은 고딕" pitchFamily="34" charset="0"/>
                <a:ea typeface="맑은 고딕" pitchFamily="34" charset="-122"/>
                <a:cs typeface="맑은 고딕" pitchFamily="34" charset="-120"/>
              </a:rPr>
              <a:t>ADDR → 3V3 → 0x49</a:t>
            </a:r>
            <a:endParaRPr lang="en-US" sz="812" dirty="0"/>
          </a:p>
        </p:txBody>
      </p:sp>
      <p:graphicFrame>
        <p:nvGraphicFramePr>
          <p:cNvPr id="23" name="Table 1">
            <a:extLst>
              <a:ext uri="{FF2B5EF4-FFF2-40B4-BE49-F238E27FC236}">
                <a16:creationId xmlns:a16="http://schemas.microsoft.com/office/drawing/2014/main" id="{F143FC12-35A4-E1EF-124A-CB34620DC51F}"/>
              </a:ext>
            </a:extLst>
          </p:cNvPr>
          <p:cNvGraphicFramePr>
            <a:graphicFrameLocks noGrp="1"/>
          </p:cNvGraphicFramePr>
          <p:nvPr/>
        </p:nvGraphicFramePr>
        <p:xfrm>
          <a:off x="4706746" y="2409912"/>
          <a:ext cx="3831359" cy="1798390"/>
        </p:xfrm>
        <a:graphic>
          <a:graphicData uri="http://schemas.openxmlformats.org/drawingml/2006/table">
            <a:tbl>
              <a:tblPr/>
              <a:tblGrid>
                <a:gridCol w="703719">
                  <a:extLst>
                    <a:ext uri="{9D8B030D-6E8A-4147-A177-3AD203B41FA5}">
                      <a16:colId xmlns:a16="http://schemas.microsoft.com/office/drawing/2014/main" val="20000"/>
                    </a:ext>
                  </a:extLst>
                </a:gridCol>
                <a:gridCol w="1563820">
                  <a:extLst>
                    <a:ext uri="{9D8B030D-6E8A-4147-A177-3AD203B41FA5}">
                      <a16:colId xmlns:a16="http://schemas.microsoft.com/office/drawing/2014/main" val="20001"/>
                    </a:ext>
                  </a:extLst>
                </a:gridCol>
                <a:gridCol w="1563820">
                  <a:extLst>
                    <a:ext uri="{9D8B030D-6E8A-4147-A177-3AD203B41FA5}">
                      <a16:colId xmlns:a16="http://schemas.microsoft.com/office/drawing/2014/main" val="20002"/>
                    </a:ext>
                  </a:extLst>
                </a:gridCol>
              </a:tblGrid>
              <a:tr h="359678">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채널</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연결 센서</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비고</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extLst>
                  <a:ext uri="{0D108BD9-81ED-4DB2-BD59-A6C34878D82A}">
                    <a16:rowId xmlns:a16="http://schemas.microsoft.com/office/drawing/2014/main" val="10000"/>
                  </a:ext>
                </a:extLst>
              </a:tr>
              <a:tr h="359678">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A0</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MQ-2 #2 AOUT</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가스</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1"/>
                  </a:ext>
                </a:extLst>
              </a:tr>
              <a:tr h="359678">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A1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MiCS-5524 #2 Ao</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가스</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2"/>
                  </a:ext>
                </a:extLst>
              </a:tr>
              <a:tr h="359678">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A2</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FSR-406 #2</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압력, +10kΩ 풀다운</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3"/>
                  </a:ext>
                </a:extLst>
              </a:tr>
              <a:tr h="359678">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A3</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피에조 #2</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음향, ±1MΩ</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4"/>
                  </a:ext>
                </a:extLst>
              </a:tr>
            </a:tbl>
          </a:graphicData>
        </a:graphic>
      </p:graphicFrame>
      <p:sp>
        <p:nvSpPr>
          <p:cNvPr id="25" name="Shape 18">
            <a:extLst>
              <a:ext uri="{FF2B5EF4-FFF2-40B4-BE49-F238E27FC236}">
                <a16:creationId xmlns:a16="http://schemas.microsoft.com/office/drawing/2014/main" id="{DC00E498-6295-E05A-6E6F-290D507877AE}"/>
              </a:ext>
            </a:extLst>
          </p:cNvPr>
          <p:cNvSpPr/>
          <p:nvPr/>
        </p:nvSpPr>
        <p:spPr>
          <a:xfrm>
            <a:off x="562624" y="4325592"/>
            <a:ext cx="70371" cy="172020"/>
          </a:xfrm>
          <a:prstGeom prst="rect">
            <a:avLst/>
          </a:prstGeom>
          <a:solidFill>
            <a:srgbClr val="3B5BA7"/>
          </a:solidFill>
          <a:ln/>
        </p:spPr>
        <p:txBody>
          <a:bodyPr/>
          <a:lstStyle/>
          <a:p>
            <a:endParaRPr lang="ko-KR" altLang="en-US" sz="1634"/>
          </a:p>
        </p:txBody>
      </p:sp>
      <p:sp>
        <p:nvSpPr>
          <p:cNvPr id="27" name="Text 19">
            <a:extLst>
              <a:ext uri="{FF2B5EF4-FFF2-40B4-BE49-F238E27FC236}">
                <a16:creationId xmlns:a16="http://schemas.microsoft.com/office/drawing/2014/main" id="{5D3CB59C-F4B5-EC44-81D5-1ED1B39C786D}"/>
              </a:ext>
            </a:extLst>
          </p:cNvPr>
          <p:cNvSpPr/>
          <p:nvPr/>
        </p:nvSpPr>
        <p:spPr>
          <a:xfrm>
            <a:off x="703367" y="4302133"/>
            <a:ext cx="625527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MiCS-5524 En 핀 — 디지털 제어</a:t>
            </a:r>
            <a:endParaRPr lang="en-US" sz="1112" dirty="0"/>
          </a:p>
        </p:txBody>
      </p:sp>
      <p:sp>
        <p:nvSpPr>
          <p:cNvPr id="29" name="Shape 20">
            <a:extLst>
              <a:ext uri="{FF2B5EF4-FFF2-40B4-BE49-F238E27FC236}">
                <a16:creationId xmlns:a16="http://schemas.microsoft.com/office/drawing/2014/main" id="{202CF53B-08C2-3CE7-6037-1833792EFA4F}"/>
              </a:ext>
            </a:extLst>
          </p:cNvPr>
          <p:cNvSpPr/>
          <p:nvPr/>
        </p:nvSpPr>
        <p:spPr>
          <a:xfrm>
            <a:off x="562623" y="4599258"/>
            <a:ext cx="8053671" cy="547337"/>
          </a:xfrm>
          <a:prstGeom prst="roundRect">
            <a:avLst>
              <a:gd name="adj" fmla="val 10000"/>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31" name="Text 21">
            <a:extLst>
              <a:ext uri="{FF2B5EF4-FFF2-40B4-BE49-F238E27FC236}">
                <a16:creationId xmlns:a16="http://schemas.microsoft.com/office/drawing/2014/main" id="{4CDA7AB1-1676-F247-12F5-EE5F91EC3EB1}"/>
              </a:ext>
            </a:extLst>
          </p:cNvPr>
          <p:cNvSpPr/>
          <p:nvPr/>
        </p:nvSpPr>
        <p:spPr>
          <a:xfrm>
            <a:off x="719006" y="4693088"/>
            <a:ext cx="7740906" cy="390955"/>
          </a:xfrm>
          <a:prstGeom prst="rect">
            <a:avLst/>
          </a:prstGeom>
          <a:noFill/>
          <a:ln/>
        </p:spPr>
        <p:txBody>
          <a:bodyPr wrap="square" rtlCol="0" anchor="ctr"/>
          <a:lstStyle/>
          <a:p>
            <a:r>
              <a:rPr lang="en-US" sz="1026" dirty="0">
                <a:solidFill>
                  <a:srgbClr val="1E293B"/>
                </a:solidFill>
                <a:latin typeface="맑은 고딕" pitchFamily="34" charset="0"/>
                <a:ea typeface="맑은 고딕" pitchFamily="34" charset="-122"/>
                <a:cs typeface="맑은 고딕" pitchFamily="34" charset="-120"/>
              </a:rPr>
              <a:t>MiCS-5524의 En(히터 on/off)은 아날로그가 아닌 디지털 제어 핀이라 ADS1115가 아닌 RPi GPIO(17/27)로 직접 구동한다</a:t>
            </a:r>
            <a:endParaRPr lang="en-US" sz="1026" dirty="0"/>
          </a:p>
        </p:txBody>
      </p:sp>
      <p:sp>
        <p:nvSpPr>
          <p:cNvPr id="33" name="Shape 22">
            <a:extLst>
              <a:ext uri="{FF2B5EF4-FFF2-40B4-BE49-F238E27FC236}">
                <a16:creationId xmlns:a16="http://schemas.microsoft.com/office/drawing/2014/main" id="{A45FA532-BF6C-088F-2D8F-51DBEDB045DC}"/>
              </a:ext>
            </a:extLst>
          </p:cNvPr>
          <p:cNvSpPr/>
          <p:nvPr/>
        </p:nvSpPr>
        <p:spPr>
          <a:xfrm>
            <a:off x="562624" y="5263884"/>
            <a:ext cx="70371" cy="172020"/>
          </a:xfrm>
          <a:prstGeom prst="rect">
            <a:avLst/>
          </a:prstGeom>
          <a:solidFill>
            <a:srgbClr val="3B5BA7"/>
          </a:solidFill>
          <a:ln/>
        </p:spPr>
        <p:txBody>
          <a:bodyPr/>
          <a:lstStyle/>
          <a:p>
            <a:endParaRPr lang="ko-KR" altLang="en-US" sz="1634"/>
          </a:p>
        </p:txBody>
      </p:sp>
      <p:sp>
        <p:nvSpPr>
          <p:cNvPr id="35" name="Text 23">
            <a:extLst>
              <a:ext uri="{FF2B5EF4-FFF2-40B4-BE49-F238E27FC236}">
                <a16:creationId xmlns:a16="http://schemas.microsoft.com/office/drawing/2014/main" id="{FAFCCA9D-CA0B-5D9F-E09B-DBF78D579DB3}"/>
              </a:ext>
            </a:extLst>
          </p:cNvPr>
          <p:cNvSpPr/>
          <p:nvPr/>
        </p:nvSpPr>
        <p:spPr>
          <a:xfrm>
            <a:off x="703367" y="5240424"/>
            <a:ext cx="625527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센서 이중화 설계 의도</a:t>
            </a:r>
            <a:endParaRPr lang="en-US" sz="1112" dirty="0"/>
          </a:p>
        </p:txBody>
      </p:sp>
      <p:sp>
        <p:nvSpPr>
          <p:cNvPr id="37" name="Shape 24">
            <a:extLst>
              <a:ext uri="{FF2B5EF4-FFF2-40B4-BE49-F238E27FC236}">
                <a16:creationId xmlns:a16="http://schemas.microsoft.com/office/drawing/2014/main" id="{ACB76281-581B-8ED2-97A6-0031C3FB9122}"/>
              </a:ext>
            </a:extLst>
          </p:cNvPr>
          <p:cNvSpPr/>
          <p:nvPr/>
        </p:nvSpPr>
        <p:spPr>
          <a:xfrm>
            <a:off x="562623" y="5537552"/>
            <a:ext cx="8053671" cy="664623"/>
          </a:xfrm>
          <a:prstGeom prst="roundRect">
            <a:avLst>
              <a:gd name="adj" fmla="val 8235"/>
            </a:avLst>
          </a:prstGeom>
          <a:solidFill>
            <a:srgbClr val="E8F1FF"/>
          </a:solidFill>
          <a:ln/>
          <a:effectLst>
            <a:outerShdw blurRad="63500" dist="25400" dir="2700000" algn="bl" rotWithShape="0">
              <a:srgbClr val="000000">
                <a:alpha val="10000"/>
              </a:srgbClr>
            </a:outerShdw>
          </a:effectLst>
        </p:spPr>
        <p:txBody>
          <a:bodyPr/>
          <a:lstStyle/>
          <a:p>
            <a:endParaRPr lang="ko-KR" altLang="en-US" sz="1634"/>
          </a:p>
        </p:txBody>
      </p:sp>
      <p:sp>
        <p:nvSpPr>
          <p:cNvPr id="39" name="Text 25">
            <a:extLst>
              <a:ext uri="{FF2B5EF4-FFF2-40B4-BE49-F238E27FC236}">
                <a16:creationId xmlns:a16="http://schemas.microsoft.com/office/drawing/2014/main" id="{0565072A-126F-8330-4A6C-604742281090}"/>
              </a:ext>
            </a:extLst>
          </p:cNvPr>
          <p:cNvSpPr/>
          <p:nvPr/>
        </p:nvSpPr>
        <p:spPr>
          <a:xfrm>
            <a:off x="719006" y="5631379"/>
            <a:ext cx="7740906" cy="508241"/>
          </a:xfrm>
          <a:prstGeom prst="rect">
            <a:avLst/>
          </a:prstGeom>
          <a:noFill/>
          <a:ln/>
        </p:spPr>
        <p:txBody>
          <a:bodyPr wrap="square" rtlCol="0" anchor="ctr"/>
          <a:lstStyle/>
          <a:p>
            <a:r>
              <a:rPr lang="en-US" sz="1026" dirty="0">
                <a:solidFill>
                  <a:srgbClr val="1E293B"/>
                </a:solidFill>
                <a:latin typeface="맑은 고딕" pitchFamily="34" charset="0"/>
                <a:ea typeface="맑은 고딕" pitchFamily="34" charset="-122"/>
                <a:cs typeface="맑은 고딕" pitchFamily="34" charset="-120"/>
              </a:rPr>
              <a:t>MQ-2(가연성가스 계열)와 MiCS-5524(CO·VOC 계열)를 함께 사용해 서로 다른 화학종을 감지 — 단일 가스센서 대비 오탐을 줄이는 Early-Detection 멀티모달 구조</a:t>
            </a:r>
            <a:endParaRPr lang="en-US" sz="1026" dirty="0"/>
          </a:p>
        </p:txBody>
      </p:sp>
    </p:spTree>
    <p:extLst>
      <p:ext uri="{BB962C8B-B14F-4D97-AF65-F5344CB8AC3E}">
        <p14:creationId xmlns:p14="http://schemas.microsoft.com/office/powerpoint/2010/main" val="37004884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A4318-00C1-2CDE-180C-513CCDD78D05}"/>
            </a:ext>
          </a:extLst>
        </p:cNvPr>
        <p:cNvGrpSpPr/>
        <p:nvPr/>
      </p:nvGrpSpPr>
      <p:grpSpPr>
        <a:xfrm>
          <a:off x="0" y="0"/>
          <a:ext cx="0" cy="0"/>
          <a:chOff x="0" y="0"/>
          <a:chExt cx="0" cy="0"/>
        </a:xfrm>
      </p:grpSpPr>
      <p:sp>
        <p:nvSpPr>
          <p:cNvPr id="28" name="직사각형 28"/>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9" name="직선 연결선 29"/>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 name="직선 연결선 30"/>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31" name="제목 31"/>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회로설계</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32" name="막힌 원호 32"/>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BB404E93-5DD1-C1A6-E37E-A153382DC7D4}"/>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5E4541F9-D056-4DFD-313C-C401483B1C68}"/>
              </a:ext>
            </a:extLst>
          </p:cNvPr>
          <p:cNvPicPr/>
          <p:nvPr/>
        </p:nvPicPr>
        <p:blipFill>
          <a:blip r:embed="rId4" cstate="print"/>
          <a:stretch>
            <a:fillRect/>
          </a:stretch>
        </p:blipFill>
        <p:spPr>
          <a:xfrm>
            <a:off x="7275128" y="314247"/>
            <a:ext cx="1325611" cy="307338"/>
          </a:xfrm>
          <a:prstGeom prst="rect">
            <a:avLst/>
          </a:prstGeom>
        </p:spPr>
      </p:pic>
      <p:sp>
        <p:nvSpPr>
          <p:cNvPr id="9" name="Shape 12">
            <a:extLst>
              <a:ext uri="{FF2B5EF4-FFF2-40B4-BE49-F238E27FC236}">
                <a16:creationId xmlns:a16="http://schemas.microsoft.com/office/drawing/2014/main" id="{7884E702-3C4B-C468-F173-244BFF11C2FF}"/>
              </a:ext>
            </a:extLst>
          </p:cNvPr>
          <p:cNvSpPr/>
          <p:nvPr/>
        </p:nvSpPr>
        <p:spPr>
          <a:xfrm>
            <a:off x="586868" y="1562842"/>
            <a:ext cx="70371" cy="172020"/>
          </a:xfrm>
          <a:prstGeom prst="rect">
            <a:avLst/>
          </a:prstGeom>
          <a:solidFill>
            <a:srgbClr val="3B5BA7"/>
          </a:solidFill>
          <a:ln/>
        </p:spPr>
        <p:txBody>
          <a:bodyPr/>
          <a:lstStyle/>
          <a:p>
            <a:endParaRPr lang="ko-KR" altLang="en-US" sz="1634"/>
          </a:p>
        </p:txBody>
      </p:sp>
      <p:sp>
        <p:nvSpPr>
          <p:cNvPr id="11" name="Text 13">
            <a:extLst>
              <a:ext uri="{FF2B5EF4-FFF2-40B4-BE49-F238E27FC236}">
                <a16:creationId xmlns:a16="http://schemas.microsoft.com/office/drawing/2014/main" id="{5083EDA0-FB5C-E057-24DD-A531819E3C76}"/>
              </a:ext>
            </a:extLst>
          </p:cNvPr>
          <p:cNvSpPr/>
          <p:nvPr/>
        </p:nvSpPr>
        <p:spPr>
          <a:xfrm>
            <a:off x="727611" y="1539385"/>
            <a:ext cx="625527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4채널 릴레이 — </a:t>
            </a:r>
            <a:r>
              <a:rPr lang="en-US" sz="1112" b="1" dirty="0" err="1">
                <a:solidFill>
                  <a:srgbClr val="1E293B"/>
                </a:solidFill>
                <a:latin typeface="맑은 고딕" pitchFamily="34" charset="0"/>
                <a:ea typeface="맑은 고딕" pitchFamily="34" charset="-122"/>
                <a:cs typeface="맑은 고딕" pitchFamily="34" charset="-120"/>
              </a:rPr>
              <a:t>채널별</a:t>
            </a:r>
            <a:r>
              <a:rPr lang="en-US" sz="1112" b="1" dirty="0">
                <a:solidFill>
                  <a:srgbClr val="1E293B"/>
                </a:solidFill>
                <a:latin typeface="맑은 고딕" pitchFamily="34" charset="0"/>
                <a:ea typeface="맑은 고딕" pitchFamily="34" charset="-122"/>
                <a:cs typeface="맑은 고딕" pitchFamily="34" charset="-120"/>
              </a:rPr>
              <a:t> </a:t>
            </a:r>
            <a:r>
              <a:rPr lang="en-US" sz="1112" b="1" dirty="0" err="1">
                <a:solidFill>
                  <a:srgbClr val="1E293B"/>
                </a:solidFill>
                <a:latin typeface="맑은 고딕" pitchFamily="34" charset="0"/>
                <a:ea typeface="맑은 고딕" pitchFamily="34" charset="-122"/>
                <a:cs typeface="맑은 고딕" pitchFamily="34" charset="-120"/>
              </a:rPr>
              <a:t>용도</a:t>
            </a:r>
            <a:endParaRPr lang="en-US" sz="1112" dirty="0"/>
          </a:p>
        </p:txBody>
      </p:sp>
      <p:graphicFrame>
        <p:nvGraphicFramePr>
          <p:cNvPr id="13" name="Table 0">
            <a:extLst>
              <a:ext uri="{FF2B5EF4-FFF2-40B4-BE49-F238E27FC236}">
                <a16:creationId xmlns:a16="http://schemas.microsoft.com/office/drawing/2014/main" id="{876B7F98-8EFA-616C-491F-45D166B0CECB}"/>
              </a:ext>
            </a:extLst>
          </p:cNvPr>
          <p:cNvGraphicFramePr>
            <a:graphicFrameLocks noGrp="1"/>
          </p:cNvGraphicFramePr>
          <p:nvPr/>
        </p:nvGraphicFramePr>
        <p:xfrm>
          <a:off x="586867" y="1875606"/>
          <a:ext cx="8053671" cy="2345730"/>
        </p:xfrm>
        <a:graphic>
          <a:graphicData uri="http://schemas.openxmlformats.org/drawingml/2006/table">
            <a:tbl>
              <a:tblPr/>
              <a:tblGrid>
                <a:gridCol w="860100">
                  <a:extLst>
                    <a:ext uri="{9D8B030D-6E8A-4147-A177-3AD203B41FA5}">
                      <a16:colId xmlns:a16="http://schemas.microsoft.com/office/drawing/2014/main" val="20000"/>
                    </a:ext>
                  </a:extLst>
                </a:gridCol>
                <a:gridCol w="2111157">
                  <a:extLst>
                    <a:ext uri="{9D8B030D-6E8A-4147-A177-3AD203B41FA5}">
                      <a16:colId xmlns:a16="http://schemas.microsoft.com/office/drawing/2014/main" val="20001"/>
                    </a:ext>
                  </a:extLst>
                </a:gridCol>
                <a:gridCol w="1798392">
                  <a:extLst>
                    <a:ext uri="{9D8B030D-6E8A-4147-A177-3AD203B41FA5}">
                      <a16:colId xmlns:a16="http://schemas.microsoft.com/office/drawing/2014/main" val="20002"/>
                    </a:ext>
                  </a:extLst>
                </a:gridCol>
                <a:gridCol w="1720202">
                  <a:extLst>
                    <a:ext uri="{9D8B030D-6E8A-4147-A177-3AD203B41FA5}">
                      <a16:colId xmlns:a16="http://schemas.microsoft.com/office/drawing/2014/main" val="20003"/>
                    </a:ext>
                  </a:extLst>
                </a:gridCol>
                <a:gridCol w="1563820">
                  <a:extLst>
                    <a:ext uri="{9D8B030D-6E8A-4147-A177-3AD203B41FA5}">
                      <a16:colId xmlns:a16="http://schemas.microsoft.com/office/drawing/2014/main" val="20004"/>
                    </a:ext>
                  </a:extLst>
                </a:gridCol>
              </a:tblGrid>
              <a:tr h="469146">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채널</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용도</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COM</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NO</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NC</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extLst>
                  <a:ext uri="{0D108BD9-81ED-4DB2-BD59-A6C34878D82A}">
                    <a16:rowId xmlns:a16="http://schemas.microsoft.com/office/drawing/2014/main" val="10000"/>
                  </a:ext>
                </a:extLst>
              </a:tr>
              <a:tr h="469146">
                <a:tc>
                  <a:txBody>
                    <a:bodyPr/>
                    <a:lstStyle/>
                    <a:p>
                      <a:pPr marL="0" indent="0">
                        <a:buNone/>
                      </a:pPr>
                      <a:r>
                        <a:rPr lang="en-US" sz="800" b="1" dirty="0">
                          <a:solidFill>
                            <a:srgbClr val="000000"/>
                          </a:solidFill>
                          <a:latin typeface="맑은 고딕" pitchFamily="34" charset="0"/>
                          <a:ea typeface="맑은 고딕" pitchFamily="34" charset="-122"/>
                          <a:cs typeface="맑은 고딕" pitchFamily="34" charset="-120"/>
                        </a:rPr>
                        <a:t>CH1</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모드1 배터리 선택</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모드1 배터리(+)</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모드1 공용버스</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1"/>
                  </a:ext>
                </a:extLst>
              </a:tr>
              <a:tr h="469146">
                <a:tc>
                  <a:txBody>
                    <a:bodyPr/>
                    <a:lstStyle/>
                    <a:p>
                      <a:pPr marL="0" indent="0">
                        <a:buNone/>
                      </a:pPr>
                      <a:r>
                        <a:rPr lang="en-US" sz="800" b="1" dirty="0">
                          <a:solidFill>
                            <a:srgbClr val="000000"/>
                          </a:solidFill>
                          <a:latin typeface="맑은 고딕" pitchFamily="34" charset="0"/>
                          <a:ea typeface="맑은 고딕" pitchFamily="34" charset="-122"/>
                          <a:cs typeface="맑은 고딕" pitchFamily="34" charset="-120"/>
                        </a:rPr>
                        <a:t>CH2</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모드2 방전 Kill-Switch</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모드2 배터리(+)</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ATORCH(+)</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2"/>
                  </a:ext>
                </a:extLst>
              </a:tr>
              <a:tr h="469146">
                <a:tc>
                  <a:txBody>
                    <a:bodyPr/>
                    <a:lstStyle/>
                    <a:p>
                      <a:pPr marL="0" indent="0">
                        <a:buNone/>
                      </a:pPr>
                      <a:r>
                        <a:rPr lang="en-US" sz="800" b="1" dirty="0">
                          <a:solidFill>
                            <a:srgbClr val="000000"/>
                          </a:solidFill>
                          <a:latin typeface="맑은 고딕" pitchFamily="34" charset="0"/>
                          <a:ea typeface="맑은 고딕" pitchFamily="34" charset="-122"/>
                          <a:cs typeface="맑은 고딕" pitchFamily="34" charset="-120"/>
                        </a:rPr>
                        <a:t>CH3</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모드3 방전 Kill-Switch</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INA226 VIN−</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ATORCH(+)</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3"/>
                  </a:ext>
                </a:extLst>
              </a:tr>
              <a:tr h="469146">
                <a:tc>
                  <a:txBody>
                    <a:bodyPr/>
                    <a:lstStyle/>
                    <a:p>
                      <a:pPr marL="0" indent="0">
                        <a:buNone/>
                      </a:pPr>
                      <a:r>
                        <a:rPr lang="en-US" sz="800" b="1" dirty="0">
                          <a:solidFill>
                            <a:srgbClr val="000000"/>
                          </a:solidFill>
                          <a:latin typeface="맑은 고딕" pitchFamily="34" charset="0"/>
                          <a:ea typeface="맑은 고딕" pitchFamily="34" charset="-122"/>
                          <a:cs typeface="맑은 고딕" pitchFamily="34" charset="-120"/>
                        </a:rPr>
                        <a:t>CH4</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모드1 충/방전 전환</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모드1 공용버스</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ATORCH(+) [방전]</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TP4056 B+ [충전]</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4"/>
                  </a:ext>
                </a:extLst>
              </a:tr>
            </a:tbl>
          </a:graphicData>
        </a:graphic>
      </p:graphicFrame>
      <p:sp>
        <p:nvSpPr>
          <p:cNvPr id="15" name="Shape 14">
            <a:extLst>
              <a:ext uri="{FF2B5EF4-FFF2-40B4-BE49-F238E27FC236}">
                <a16:creationId xmlns:a16="http://schemas.microsoft.com/office/drawing/2014/main" id="{CA77B480-6892-F7E4-B9C5-BEF7BE236FC8}"/>
              </a:ext>
            </a:extLst>
          </p:cNvPr>
          <p:cNvSpPr/>
          <p:nvPr/>
        </p:nvSpPr>
        <p:spPr>
          <a:xfrm>
            <a:off x="571229" y="4343662"/>
            <a:ext cx="70371" cy="172020"/>
          </a:xfrm>
          <a:prstGeom prst="rect">
            <a:avLst/>
          </a:prstGeom>
          <a:solidFill>
            <a:srgbClr val="3B5BA7"/>
          </a:solidFill>
          <a:ln/>
        </p:spPr>
        <p:txBody>
          <a:bodyPr/>
          <a:lstStyle/>
          <a:p>
            <a:endParaRPr lang="ko-KR" altLang="en-US" sz="1634"/>
          </a:p>
        </p:txBody>
      </p:sp>
      <p:sp>
        <p:nvSpPr>
          <p:cNvPr id="17" name="Text 15">
            <a:extLst>
              <a:ext uri="{FF2B5EF4-FFF2-40B4-BE49-F238E27FC236}">
                <a16:creationId xmlns:a16="http://schemas.microsoft.com/office/drawing/2014/main" id="{2F44E62F-DA8E-12C2-64A7-05CE5D99DD72}"/>
              </a:ext>
            </a:extLst>
          </p:cNvPr>
          <p:cNvSpPr/>
          <p:nvPr/>
        </p:nvSpPr>
        <p:spPr>
          <a:xfrm>
            <a:off x="711973" y="4320205"/>
            <a:ext cx="625527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동작 원칙</a:t>
            </a:r>
            <a:endParaRPr lang="en-US" sz="1112" dirty="0"/>
          </a:p>
        </p:txBody>
      </p:sp>
      <p:sp>
        <p:nvSpPr>
          <p:cNvPr id="19" name="Shape 16">
            <a:extLst>
              <a:ext uri="{FF2B5EF4-FFF2-40B4-BE49-F238E27FC236}">
                <a16:creationId xmlns:a16="http://schemas.microsoft.com/office/drawing/2014/main" id="{E09D9F45-1A44-6F30-E01E-D24178481604}"/>
              </a:ext>
            </a:extLst>
          </p:cNvPr>
          <p:cNvSpPr/>
          <p:nvPr/>
        </p:nvSpPr>
        <p:spPr>
          <a:xfrm>
            <a:off x="571228" y="4617331"/>
            <a:ext cx="8053671" cy="1287717"/>
          </a:xfrm>
          <a:prstGeom prst="roundRect">
            <a:avLst>
              <a:gd name="adj" fmla="val 3415"/>
            </a:avLst>
          </a:prstGeom>
          <a:solidFill>
            <a:srgbClr val="E8F1FF"/>
          </a:solidFill>
          <a:ln/>
          <a:effectLst>
            <a:outerShdw blurRad="63500" dist="25400" dir="2700000" algn="bl" rotWithShape="0">
              <a:srgbClr val="000000">
                <a:alpha val="10000"/>
              </a:srgbClr>
            </a:outerShdw>
          </a:effectLst>
        </p:spPr>
        <p:txBody>
          <a:bodyPr/>
          <a:lstStyle/>
          <a:p>
            <a:endParaRPr lang="ko-KR" altLang="en-US" sz="1634"/>
          </a:p>
        </p:txBody>
      </p:sp>
      <p:sp>
        <p:nvSpPr>
          <p:cNvPr id="21" name="Text 17">
            <a:extLst>
              <a:ext uri="{FF2B5EF4-FFF2-40B4-BE49-F238E27FC236}">
                <a16:creationId xmlns:a16="http://schemas.microsoft.com/office/drawing/2014/main" id="{1D2CEF39-8729-CC9F-A05C-D2D7A9F94410}"/>
              </a:ext>
            </a:extLst>
          </p:cNvPr>
          <p:cNvSpPr/>
          <p:nvPr/>
        </p:nvSpPr>
        <p:spPr>
          <a:xfrm>
            <a:off x="727611" y="4734619"/>
            <a:ext cx="7740906" cy="1407437"/>
          </a:xfrm>
          <a:prstGeom prst="rect">
            <a:avLst/>
          </a:prstGeom>
          <a:noFill/>
          <a:ln/>
        </p:spPr>
        <p:txBody>
          <a:bodyPr wrap="square" rtlCol="0" anchor="t"/>
          <a:lstStyle/>
          <a:p>
            <a:pPr>
              <a:lnSpc>
                <a:spcPct val="125000"/>
              </a:lnSpc>
              <a:spcAft>
                <a:spcPts val="513"/>
              </a:spcAft>
            </a:pPr>
            <a:r>
              <a:rPr lang="en-US" sz="898" dirty="0">
                <a:solidFill>
                  <a:srgbClr val="1E293B"/>
                </a:solidFill>
                <a:latin typeface="맑은 고딕" pitchFamily="34" charset="0"/>
                <a:ea typeface="맑은 고딕" pitchFamily="34" charset="-122"/>
                <a:cs typeface="맑은 고딕" pitchFamily="34" charset="-120"/>
              </a:rPr>
              <a:t>•  </a:t>
            </a:r>
            <a:r>
              <a:rPr lang="en-US" sz="1026" dirty="0">
                <a:solidFill>
                  <a:srgbClr val="1E293B"/>
                </a:solidFill>
                <a:latin typeface="맑은 고딕" pitchFamily="34" charset="0"/>
                <a:ea typeface="맑은 고딕" pitchFamily="34" charset="-122"/>
                <a:cs typeface="맑은 고딕" pitchFamily="34" charset="-120"/>
              </a:rPr>
              <a:t>대기 상태: CH1~4 모두 OFF → 전력경로 완전 차단, 대기 전력 소모 없음</a:t>
            </a:r>
            <a:endParaRPr lang="en-US" sz="1026" dirty="0"/>
          </a:p>
          <a:p>
            <a:pPr>
              <a:lnSpc>
                <a:spcPct val="125000"/>
              </a:lnSpc>
              <a:spcAft>
                <a:spcPts val="513"/>
              </a:spcAft>
            </a:pPr>
            <a:r>
              <a:rPr lang="en-US" sz="1026" dirty="0">
                <a:solidFill>
                  <a:srgbClr val="1E293B"/>
                </a:solidFill>
                <a:latin typeface="맑은 고딕" pitchFamily="34" charset="0"/>
                <a:ea typeface="맑은 고딕" pitchFamily="34" charset="-122"/>
                <a:cs typeface="맑은 고딕" pitchFamily="34" charset="-120"/>
              </a:rPr>
              <a:t>•  항상 CH1~3 중 최대 1개만 ON — 동시에 두 모드가 활성화되지 않도록 소프트웨어 인터락이 강제</a:t>
            </a:r>
            <a:endParaRPr lang="en-US" sz="1026" dirty="0"/>
          </a:p>
          <a:p>
            <a:pPr>
              <a:lnSpc>
                <a:spcPct val="125000"/>
              </a:lnSpc>
              <a:spcAft>
                <a:spcPts val="513"/>
              </a:spcAft>
            </a:pPr>
            <a:r>
              <a:rPr lang="en-US" sz="1026" dirty="0">
                <a:solidFill>
                  <a:srgbClr val="1E293B"/>
                </a:solidFill>
                <a:latin typeface="맑은 고딕" pitchFamily="34" charset="0"/>
                <a:ea typeface="맑은 고딕" pitchFamily="34" charset="-122"/>
                <a:cs typeface="맑은 고딕" pitchFamily="34" charset="-120"/>
              </a:rPr>
              <a:t>•  NO(Normally Open) 접점 배선 — 컨트롤러 전원이 나가거나 오작동해도 무여자 시 자동으로 안전(차단) 상태</a:t>
            </a:r>
            <a:endParaRPr lang="en-US" sz="1026" dirty="0"/>
          </a:p>
          <a:p>
            <a:pPr>
              <a:lnSpc>
                <a:spcPct val="125000"/>
              </a:lnSpc>
              <a:spcAft>
                <a:spcPts val="513"/>
              </a:spcAft>
            </a:pPr>
            <a:r>
              <a:rPr lang="en-US" sz="1026" dirty="0">
                <a:solidFill>
                  <a:srgbClr val="1E293B"/>
                </a:solidFill>
                <a:latin typeface="맑은 고딕" pitchFamily="34" charset="0"/>
                <a:ea typeface="맑은 고딕" pitchFamily="34" charset="-122"/>
                <a:cs typeface="맑은 고딕" pitchFamily="34" charset="-120"/>
              </a:rPr>
              <a:t>•  Kill-Switch = 모드 선택 릴레이 그대로 — 열폭주 징조 감지 시 활성 채널을 OFF시키는 것이 곧 물리적 전원 차단</a:t>
            </a:r>
            <a:endParaRPr lang="en-US" sz="1026" dirty="0"/>
          </a:p>
        </p:txBody>
      </p:sp>
      <p:sp>
        <p:nvSpPr>
          <p:cNvPr id="23" name="Shape 18">
            <a:extLst>
              <a:ext uri="{FF2B5EF4-FFF2-40B4-BE49-F238E27FC236}">
                <a16:creationId xmlns:a16="http://schemas.microsoft.com/office/drawing/2014/main" id="{D0A7E296-B8CF-B631-D7BB-CA44D5CAF59F}"/>
              </a:ext>
            </a:extLst>
          </p:cNvPr>
          <p:cNvSpPr/>
          <p:nvPr/>
        </p:nvSpPr>
        <p:spPr>
          <a:xfrm>
            <a:off x="557425" y="6063864"/>
            <a:ext cx="70371" cy="172020"/>
          </a:xfrm>
          <a:prstGeom prst="rect">
            <a:avLst/>
          </a:prstGeom>
          <a:solidFill>
            <a:srgbClr val="3B5BA7"/>
          </a:solidFill>
          <a:ln/>
        </p:spPr>
        <p:txBody>
          <a:bodyPr/>
          <a:lstStyle/>
          <a:p>
            <a:endParaRPr lang="ko-KR" altLang="en-US" sz="1634"/>
          </a:p>
        </p:txBody>
      </p:sp>
      <p:sp>
        <p:nvSpPr>
          <p:cNvPr id="25" name="Text 19">
            <a:extLst>
              <a:ext uri="{FF2B5EF4-FFF2-40B4-BE49-F238E27FC236}">
                <a16:creationId xmlns:a16="http://schemas.microsoft.com/office/drawing/2014/main" id="{269CD326-7EF9-DF67-8386-D2FE5819DF4C}"/>
              </a:ext>
            </a:extLst>
          </p:cNvPr>
          <p:cNvSpPr/>
          <p:nvPr/>
        </p:nvSpPr>
        <p:spPr>
          <a:xfrm>
            <a:off x="698166" y="6040407"/>
            <a:ext cx="625527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ATORCH(+) 합류 노드</a:t>
            </a:r>
            <a:endParaRPr lang="en-US" sz="1112" dirty="0"/>
          </a:p>
        </p:txBody>
      </p:sp>
      <p:sp>
        <p:nvSpPr>
          <p:cNvPr id="27" name="Text 20">
            <a:extLst>
              <a:ext uri="{FF2B5EF4-FFF2-40B4-BE49-F238E27FC236}">
                <a16:creationId xmlns:a16="http://schemas.microsoft.com/office/drawing/2014/main" id="{9AE5FC4B-3B47-ACB5-6885-68CDE2B8105C}"/>
              </a:ext>
            </a:extLst>
          </p:cNvPr>
          <p:cNvSpPr/>
          <p:nvPr/>
        </p:nvSpPr>
        <p:spPr>
          <a:xfrm>
            <a:off x="557421" y="6259341"/>
            <a:ext cx="8053671" cy="312764"/>
          </a:xfrm>
          <a:prstGeom prst="rect">
            <a:avLst/>
          </a:prstGeom>
          <a:noFill/>
          <a:ln/>
        </p:spPr>
        <p:txBody>
          <a:bodyPr wrap="square" rtlCol="0" anchor="ctr"/>
          <a:lstStyle/>
          <a:p>
            <a:r>
              <a:rPr lang="en-US" sz="855" dirty="0">
                <a:solidFill>
                  <a:srgbClr val="64748B"/>
                </a:solidFill>
                <a:latin typeface="맑은 고딕" pitchFamily="34" charset="0"/>
                <a:ea typeface="맑은 고딕" pitchFamily="34" charset="-122"/>
                <a:cs typeface="맑은 고딕" pitchFamily="34" charset="-120"/>
              </a:rPr>
              <a:t>CH2 · CH3 · CH4(방전측)가 모두 ATORCH(+) 앞단에서 합류 — 모드1·2·3 방전 측정을 하나의 공용 전자부하로 처리</a:t>
            </a:r>
            <a:endParaRPr lang="en-US" sz="855" dirty="0"/>
          </a:p>
        </p:txBody>
      </p:sp>
    </p:spTree>
    <p:extLst>
      <p:ext uri="{BB962C8B-B14F-4D97-AF65-F5344CB8AC3E}">
        <p14:creationId xmlns:p14="http://schemas.microsoft.com/office/powerpoint/2010/main" val="12781222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BD537-9EE4-A1A5-BC9E-E1F57DBAE7F1}"/>
            </a:ext>
          </a:extLst>
        </p:cNvPr>
        <p:cNvGrpSpPr/>
        <p:nvPr/>
      </p:nvGrpSpPr>
      <p:grpSpPr>
        <a:xfrm>
          <a:off x="0" y="0"/>
          <a:ext cx="0" cy="0"/>
          <a:chOff x="0" y="0"/>
          <a:chExt cx="0" cy="0"/>
        </a:xfrm>
      </p:grpSpPr>
      <p:sp>
        <p:nvSpPr>
          <p:cNvPr id="19" name="직사각형 19"/>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0" name="직선 연결선 20"/>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 name="직선 연결선 21"/>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2" name="제목 2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핵심 5 state</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23" name="막힌 원호 23"/>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15D7A76A-60B8-F9C7-DD85-08E71FC4C2CA}"/>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CEC917AA-8975-7984-CC73-C782F28A8008}"/>
              </a:ext>
            </a:extLst>
          </p:cNvPr>
          <p:cNvPicPr/>
          <p:nvPr/>
        </p:nvPicPr>
        <p:blipFill>
          <a:blip r:embed="rId4" cstate="print"/>
          <a:stretch>
            <a:fillRect/>
          </a:stretch>
        </p:blipFill>
        <p:spPr>
          <a:xfrm>
            <a:off x="7275128" y="314247"/>
            <a:ext cx="1325611" cy="307338"/>
          </a:xfrm>
          <a:prstGeom prst="rect">
            <a:avLst/>
          </a:prstGeom>
        </p:spPr>
      </p:pic>
      <p:sp>
        <p:nvSpPr>
          <p:cNvPr id="10" name="Shape 12">
            <a:extLst>
              <a:ext uri="{FF2B5EF4-FFF2-40B4-BE49-F238E27FC236}">
                <a16:creationId xmlns:a16="http://schemas.microsoft.com/office/drawing/2014/main" id="{A7A52C0A-B83C-6E93-865B-B3EF096A652E}"/>
              </a:ext>
            </a:extLst>
          </p:cNvPr>
          <p:cNvSpPr/>
          <p:nvPr/>
        </p:nvSpPr>
        <p:spPr>
          <a:xfrm>
            <a:off x="586868" y="1795607"/>
            <a:ext cx="70371" cy="172020"/>
          </a:xfrm>
          <a:prstGeom prst="rect">
            <a:avLst/>
          </a:prstGeom>
          <a:solidFill>
            <a:srgbClr val="3B5BA7"/>
          </a:solidFill>
          <a:ln/>
        </p:spPr>
        <p:txBody>
          <a:bodyPr/>
          <a:lstStyle/>
          <a:p>
            <a:endParaRPr lang="ko-KR" altLang="en-US" sz="1634"/>
          </a:p>
        </p:txBody>
      </p:sp>
      <p:sp>
        <p:nvSpPr>
          <p:cNvPr id="14" name="Text 13">
            <a:extLst>
              <a:ext uri="{FF2B5EF4-FFF2-40B4-BE49-F238E27FC236}">
                <a16:creationId xmlns:a16="http://schemas.microsoft.com/office/drawing/2014/main" id="{81E52FB5-5A1C-19F2-5865-2F43DBF5968D}"/>
              </a:ext>
            </a:extLst>
          </p:cNvPr>
          <p:cNvSpPr/>
          <p:nvPr/>
        </p:nvSpPr>
        <p:spPr>
          <a:xfrm>
            <a:off x="727611" y="1772148"/>
            <a:ext cx="625527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시스템은 항상 5가지 상태 중 하나로 동작한다</a:t>
            </a:r>
            <a:endParaRPr lang="en-US" sz="1112" dirty="0"/>
          </a:p>
        </p:txBody>
      </p:sp>
      <p:graphicFrame>
        <p:nvGraphicFramePr>
          <p:cNvPr id="18" name="Table 0">
            <a:extLst>
              <a:ext uri="{FF2B5EF4-FFF2-40B4-BE49-F238E27FC236}">
                <a16:creationId xmlns:a16="http://schemas.microsoft.com/office/drawing/2014/main" id="{2F647E8B-E909-C94E-95CF-40ED3A65C697}"/>
              </a:ext>
            </a:extLst>
          </p:cNvPr>
          <p:cNvGraphicFramePr>
            <a:graphicFrameLocks noGrp="1"/>
          </p:cNvGraphicFramePr>
          <p:nvPr/>
        </p:nvGraphicFramePr>
        <p:xfrm>
          <a:off x="586867" y="2108369"/>
          <a:ext cx="8053670" cy="3049446"/>
        </p:xfrm>
        <a:graphic>
          <a:graphicData uri="http://schemas.openxmlformats.org/drawingml/2006/table">
            <a:tbl>
              <a:tblPr/>
              <a:tblGrid>
                <a:gridCol w="1329247">
                  <a:extLst>
                    <a:ext uri="{9D8B030D-6E8A-4147-A177-3AD203B41FA5}">
                      <a16:colId xmlns:a16="http://schemas.microsoft.com/office/drawing/2014/main" val="20000"/>
                    </a:ext>
                  </a:extLst>
                </a:gridCol>
                <a:gridCol w="1954774">
                  <a:extLst>
                    <a:ext uri="{9D8B030D-6E8A-4147-A177-3AD203B41FA5}">
                      <a16:colId xmlns:a16="http://schemas.microsoft.com/office/drawing/2014/main" val="20001"/>
                    </a:ext>
                  </a:extLst>
                </a:gridCol>
                <a:gridCol w="1485628">
                  <a:extLst>
                    <a:ext uri="{9D8B030D-6E8A-4147-A177-3AD203B41FA5}">
                      <a16:colId xmlns:a16="http://schemas.microsoft.com/office/drawing/2014/main" val="20002"/>
                    </a:ext>
                  </a:extLst>
                </a:gridCol>
                <a:gridCol w="3284021">
                  <a:extLst>
                    <a:ext uri="{9D8B030D-6E8A-4147-A177-3AD203B41FA5}">
                      <a16:colId xmlns:a16="http://schemas.microsoft.com/office/drawing/2014/main" val="20003"/>
                    </a:ext>
                  </a:extLst>
                </a:gridCol>
              </a:tblGrid>
              <a:tr h="508241">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State</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트리거</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활성 릴레이</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tc>
                  <a:txBody>
                    <a:bodyPr/>
                    <a:lstStyle/>
                    <a:p>
                      <a:pPr marL="0" indent="0">
                        <a:buNone/>
                      </a:pPr>
                      <a:r>
                        <a:rPr lang="en-US" sz="900" b="1" dirty="0">
                          <a:solidFill>
                            <a:srgbClr val="FFFFFF"/>
                          </a:solidFill>
                          <a:latin typeface="맑은 고딕" pitchFamily="34" charset="0"/>
                          <a:ea typeface="맑은 고딕" pitchFamily="34" charset="-122"/>
                          <a:cs typeface="맑은 고딕" pitchFamily="34" charset="-120"/>
                        </a:rPr>
                        <a:t>설명</a:t>
                      </a:r>
                      <a:endParaRPr lang="en-US" sz="9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3B5BA7"/>
                    </a:solidFill>
                  </a:tcPr>
                </a:tc>
                <a:extLst>
                  <a:ext uri="{0D108BD9-81ED-4DB2-BD59-A6C34878D82A}">
                    <a16:rowId xmlns:a16="http://schemas.microsoft.com/office/drawing/2014/main" val="10000"/>
                  </a:ext>
                </a:extLst>
              </a:tr>
              <a:tr h="508241">
                <a:tc>
                  <a:txBody>
                    <a:bodyPr/>
                    <a:lstStyle/>
                    <a:p>
                      <a:pPr marL="0" indent="0">
                        <a:buNone/>
                      </a:pPr>
                      <a:r>
                        <a:rPr lang="en-US" sz="800" b="1" dirty="0">
                          <a:solidFill>
                            <a:srgbClr val="000000"/>
                          </a:solidFill>
                          <a:latin typeface="맑은 고딕" pitchFamily="34" charset="0"/>
                          <a:ea typeface="맑은 고딕" pitchFamily="34" charset="-122"/>
                          <a:cs typeface="맑은 고딕" pitchFamily="34" charset="-120"/>
                        </a:rPr>
                        <a:t>① 모드1 구동</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사용자 모드1 선택</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CH1 ON(+CH4)</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내장1셀, 충·방전 모두 지원</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1"/>
                  </a:ext>
                </a:extLst>
              </a:tr>
              <a:tr h="508241">
                <a:tc>
                  <a:txBody>
                    <a:bodyPr/>
                    <a:lstStyle/>
                    <a:p>
                      <a:pPr marL="0" indent="0">
                        <a:buNone/>
                      </a:pPr>
                      <a:r>
                        <a:rPr lang="en-US" sz="800" b="1" dirty="0">
                          <a:solidFill>
                            <a:srgbClr val="000000"/>
                          </a:solidFill>
                          <a:latin typeface="맑은 고딕" pitchFamily="34" charset="0"/>
                          <a:ea typeface="맑은 고딕" pitchFamily="34" charset="-122"/>
                          <a:cs typeface="맑은 고딕" pitchFamily="34" charset="-120"/>
                        </a:rPr>
                        <a:t>② 모드2 구동</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배터리 연결+모드2 선택</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CH2 ON</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외부 순수셀, 방전 전용</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2"/>
                  </a:ext>
                </a:extLst>
              </a:tr>
              <a:tr h="508241">
                <a:tc>
                  <a:txBody>
                    <a:bodyPr/>
                    <a:lstStyle/>
                    <a:p>
                      <a:pPr marL="0" indent="0">
                        <a:buNone/>
                      </a:pPr>
                      <a:r>
                        <a:rPr lang="en-US" sz="800" b="1" dirty="0">
                          <a:solidFill>
                            <a:srgbClr val="000000"/>
                          </a:solidFill>
                          <a:latin typeface="맑은 고딕" pitchFamily="34" charset="0"/>
                          <a:ea typeface="맑은 고딕" pitchFamily="34" charset="-122"/>
                          <a:cs typeface="맑은 고딕" pitchFamily="34" charset="-120"/>
                        </a:rPr>
                        <a:t>③ 모드3 구동</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배터리 연결+모드3 선택</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CH3 ON</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외부 완제품, 방전 전용 · 3단계 진단</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3"/>
                  </a:ext>
                </a:extLst>
              </a:tr>
              <a:tr h="508241">
                <a:tc>
                  <a:txBody>
                    <a:bodyPr/>
                    <a:lstStyle/>
                    <a:p>
                      <a:pPr marL="0" indent="0">
                        <a:buNone/>
                      </a:pPr>
                      <a:r>
                        <a:rPr lang="en-US" sz="800" b="1" dirty="0">
                          <a:solidFill>
                            <a:srgbClr val="000000"/>
                          </a:solidFill>
                          <a:latin typeface="맑은 고딕" pitchFamily="34" charset="0"/>
                          <a:ea typeface="맑은 고딕" pitchFamily="34" charset="-122"/>
                          <a:cs typeface="맑은 고딕" pitchFamily="34" charset="-120"/>
                        </a:rPr>
                        <a:t>④ 대기 모드</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기본 상태(명령 없음)</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CH1~4 전부 OFF</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전력경로 물리적 차단, 대기전력 최소화</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4"/>
                  </a:ext>
                </a:extLst>
              </a:tr>
              <a:tr h="508241">
                <a:tc>
                  <a:txBody>
                    <a:bodyPr/>
                    <a:lstStyle/>
                    <a:p>
                      <a:pPr marL="0" indent="0">
                        <a:buNone/>
                      </a:pPr>
                      <a:r>
                        <a:rPr lang="en-US" sz="800" b="1" dirty="0">
                          <a:solidFill>
                            <a:schemeClr val="tx1"/>
                          </a:solidFill>
                          <a:latin typeface="맑은 고딕" pitchFamily="34" charset="0"/>
                          <a:ea typeface="맑은 고딕" pitchFamily="34" charset="-122"/>
                          <a:cs typeface="맑은 고딕" pitchFamily="34" charset="-120"/>
                        </a:rPr>
                        <a:t>⑤ Kill-Switch</a:t>
                      </a:r>
                      <a:endParaRPr lang="en-US" sz="800" dirty="0">
                        <a:solidFill>
                          <a:schemeClr val="tx1"/>
                        </a:solidFill>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AI 이상 감지(열폭주 전조)</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활성 채널 강제 OFF</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모든 활성 상태에서 물리적 완전 차단</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4852606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3D00E-CB26-1960-0857-59B57E6EE260}"/>
            </a:ext>
          </a:extLst>
        </p:cNvPr>
        <p:cNvGrpSpPr/>
        <p:nvPr/>
      </p:nvGrpSpPr>
      <p:grpSpPr>
        <a:xfrm>
          <a:off x="0" y="0"/>
          <a:ext cx="0" cy="0"/>
          <a:chOff x="0" y="0"/>
          <a:chExt cx="0" cy="0"/>
        </a:xfrm>
      </p:grpSpPr>
      <p:sp>
        <p:nvSpPr>
          <p:cNvPr id="28" name="직사각형 28"/>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9" name="직선 연결선 29"/>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 name="직선 연결선 30"/>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31" name="제목 31"/>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핵심 5 state</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32" name="막힌 원호 32"/>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178DB171-2F4F-B8BB-607E-5EE152D381F0}"/>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27CC0668-35D9-C92A-6D82-186064DFA066}"/>
              </a:ext>
            </a:extLst>
          </p:cNvPr>
          <p:cNvPicPr/>
          <p:nvPr/>
        </p:nvPicPr>
        <p:blipFill>
          <a:blip r:embed="rId4" cstate="print"/>
          <a:stretch>
            <a:fillRect/>
          </a:stretch>
        </p:blipFill>
        <p:spPr>
          <a:xfrm>
            <a:off x="7275128" y="314247"/>
            <a:ext cx="1325611" cy="307338"/>
          </a:xfrm>
          <a:prstGeom prst="rect">
            <a:avLst/>
          </a:prstGeom>
        </p:spPr>
      </p:pic>
      <p:sp>
        <p:nvSpPr>
          <p:cNvPr id="9" name="Shape 12">
            <a:extLst>
              <a:ext uri="{FF2B5EF4-FFF2-40B4-BE49-F238E27FC236}">
                <a16:creationId xmlns:a16="http://schemas.microsoft.com/office/drawing/2014/main" id="{4C50D1F6-6137-F7BD-D622-0D3E8776353B}"/>
              </a:ext>
            </a:extLst>
          </p:cNvPr>
          <p:cNvSpPr/>
          <p:nvPr/>
        </p:nvSpPr>
        <p:spPr>
          <a:xfrm>
            <a:off x="598338" y="1539384"/>
            <a:ext cx="2486184" cy="312764"/>
          </a:xfrm>
          <a:prstGeom prst="roundRect">
            <a:avLst>
              <a:gd name="adj" fmla="val 50000"/>
            </a:avLst>
          </a:prstGeom>
          <a:solidFill>
            <a:srgbClr val="E8F1FF"/>
          </a:solidFill>
          <a:ln/>
        </p:spPr>
        <p:txBody>
          <a:bodyPr/>
          <a:lstStyle/>
          <a:p>
            <a:endParaRPr lang="ko-KR" altLang="en-US" sz="1634"/>
          </a:p>
        </p:txBody>
      </p:sp>
      <p:sp>
        <p:nvSpPr>
          <p:cNvPr id="11" name="Text 13">
            <a:extLst>
              <a:ext uri="{FF2B5EF4-FFF2-40B4-BE49-F238E27FC236}">
                <a16:creationId xmlns:a16="http://schemas.microsoft.com/office/drawing/2014/main" id="{ABBFF946-902B-722C-8AD0-C7F7C2367795}"/>
              </a:ext>
            </a:extLst>
          </p:cNvPr>
          <p:cNvSpPr/>
          <p:nvPr/>
        </p:nvSpPr>
        <p:spPr>
          <a:xfrm>
            <a:off x="598338" y="1539384"/>
            <a:ext cx="2486184" cy="312764"/>
          </a:xfrm>
          <a:prstGeom prst="rect">
            <a:avLst/>
          </a:prstGeom>
          <a:noFill/>
          <a:ln/>
        </p:spPr>
        <p:txBody>
          <a:bodyPr wrap="square" rtlCol="0" anchor="ctr"/>
          <a:lstStyle/>
          <a:p>
            <a:pPr algn="ctr"/>
            <a:r>
              <a:rPr lang="en-US" sz="898" b="1" dirty="0">
                <a:solidFill>
                  <a:srgbClr val="3B5BA7"/>
                </a:solidFill>
                <a:latin typeface="맑은 고딕" pitchFamily="34" charset="0"/>
                <a:ea typeface="맑은 고딕" pitchFamily="34" charset="-122"/>
                <a:cs typeface="맑은 고딕" pitchFamily="34" charset="-120"/>
              </a:rPr>
              <a:t>State1 : </a:t>
            </a:r>
            <a:r>
              <a:rPr lang="en-US" sz="898" b="1" dirty="0" err="1">
                <a:solidFill>
                  <a:srgbClr val="3B5BA7"/>
                </a:solidFill>
                <a:latin typeface="맑은 고딕" pitchFamily="34" charset="0"/>
                <a:ea typeface="맑은 고딕" pitchFamily="34" charset="-122"/>
                <a:cs typeface="맑은 고딕" pitchFamily="34" charset="-120"/>
              </a:rPr>
              <a:t>내장</a:t>
            </a:r>
            <a:r>
              <a:rPr lang="en-US" sz="898" b="1" dirty="0">
                <a:solidFill>
                  <a:srgbClr val="3B5BA7"/>
                </a:solidFill>
                <a:latin typeface="맑은 고딕" pitchFamily="34" charset="0"/>
                <a:ea typeface="맑은 고딕" pitchFamily="34" charset="-122"/>
                <a:cs typeface="맑은 고딕" pitchFamily="34" charset="-120"/>
              </a:rPr>
              <a:t> 1셀 </a:t>
            </a:r>
            <a:r>
              <a:rPr lang="en-US" sz="898" b="1" dirty="0" err="1">
                <a:solidFill>
                  <a:srgbClr val="3B5BA7"/>
                </a:solidFill>
                <a:latin typeface="맑은 고딕" pitchFamily="34" charset="0"/>
                <a:ea typeface="맑은 고딕" pitchFamily="34" charset="-122"/>
                <a:cs typeface="맑은 고딕" pitchFamily="34" charset="-120"/>
              </a:rPr>
              <a:t>배터리</a:t>
            </a:r>
            <a:r>
              <a:rPr lang="en-US" sz="898" b="1" dirty="0">
                <a:solidFill>
                  <a:srgbClr val="3B5BA7"/>
                </a:solidFill>
                <a:latin typeface="맑은 고딕" pitchFamily="34" charset="0"/>
                <a:ea typeface="맑은 고딕" pitchFamily="34" charset="-122"/>
                <a:cs typeface="맑은 고딕" pitchFamily="34" charset="-120"/>
              </a:rPr>
              <a:t> </a:t>
            </a:r>
            <a:r>
              <a:rPr lang="en-US" sz="898" b="1" dirty="0" err="1">
                <a:solidFill>
                  <a:srgbClr val="3B5BA7"/>
                </a:solidFill>
                <a:latin typeface="맑은 고딕" pitchFamily="34" charset="0"/>
                <a:ea typeface="맑은 고딕" pitchFamily="34" charset="-122"/>
                <a:cs typeface="맑은 고딕" pitchFamily="34" charset="-120"/>
              </a:rPr>
              <a:t>진단</a:t>
            </a:r>
            <a:r>
              <a:rPr lang="en-US" sz="898" b="1" dirty="0">
                <a:solidFill>
                  <a:srgbClr val="3B5BA7"/>
                </a:solidFill>
                <a:latin typeface="맑은 고딕" pitchFamily="34" charset="0"/>
                <a:ea typeface="맑은 고딕" pitchFamily="34" charset="-122"/>
                <a:cs typeface="맑은 고딕" pitchFamily="34" charset="-120"/>
              </a:rPr>
              <a:t>(</a:t>
            </a:r>
            <a:r>
              <a:rPr lang="ko-KR" altLang="en-US" sz="898" b="1" dirty="0">
                <a:solidFill>
                  <a:srgbClr val="3B5BA7"/>
                </a:solidFill>
                <a:latin typeface="맑은 고딕" pitchFamily="34" charset="0"/>
                <a:ea typeface="맑은 고딕" pitchFamily="34" charset="-122"/>
                <a:cs typeface="맑은 고딕" pitchFamily="34" charset="-120"/>
              </a:rPr>
              <a:t>모드</a:t>
            </a:r>
            <a:r>
              <a:rPr lang="en-US" altLang="ko-KR" sz="898" b="1" dirty="0">
                <a:solidFill>
                  <a:srgbClr val="3B5BA7"/>
                </a:solidFill>
                <a:latin typeface="맑은 고딕" pitchFamily="34" charset="0"/>
                <a:ea typeface="맑은 고딕" pitchFamily="34" charset="-122"/>
                <a:cs typeface="맑은 고딕" pitchFamily="34" charset="-120"/>
              </a:rPr>
              <a:t>1)</a:t>
            </a:r>
            <a:endParaRPr lang="en-US" sz="898" dirty="0"/>
          </a:p>
        </p:txBody>
      </p:sp>
      <p:sp>
        <p:nvSpPr>
          <p:cNvPr id="13" name="Shape 14">
            <a:extLst>
              <a:ext uri="{FF2B5EF4-FFF2-40B4-BE49-F238E27FC236}">
                <a16:creationId xmlns:a16="http://schemas.microsoft.com/office/drawing/2014/main" id="{E256B5E3-6289-4406-36EE-BDED927CF38B}"/>
              </a:ext>
            </a:extLst>
          </p:cNvPr>
          <p:cNvSpPr/>
          <p:nvPr/>
        </p:nvSpPr>
        <p:spPr>
          <a:xfrm>
            <a:off x="598339" y="2047627"/>
            <a:ext cx="69923" cy="172020"/>
          </a:xfrm>
          <a:prstGeom prst="rect">
            <a:avLst/>
          </a:prstGeom>
          <a:solidFill>
            <a:srgbClr val="3B5BA7"/>
          </a:solidFill>
          <a:ln/>
        </p:spPr>
        <p:txBody>
          <a:bodyPr/>
          <a:lstStyle/>
          <a:p>
            <a:endParaRPr lang="ko-KR" altLang="en-US" sz="1634"/>
          </a:p>
        </p:txBody>
      </p:sp>
      <p:sp>
        <p:nvSpPr>
          <p:cNvPr id="15" name="Text 15">
            <a:extLst>
              <a:ext uri="{FF2B5EF4-FFF2-40B4-BE49-F238E27FC236}">
                <a16:creationId xmlns:a16="http://schemas.microsoft.com/office/drawing/2014/main" id="{4E280D57-EF42-EE37-BA2B-5E1639C9974A}"/>
              </a:ext>
            </a:extLst>
          </p:cNvPr>
          <p:cNvSpPr/>
          <p:nvPr/>
        </p:nvSpPr>
        <p:spPr>
          <a:xfrm>
            <a:off x="739081" y="2024169"/>
            <a:ext cx="621545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구동 매커니즘</a:t>
            </a:r>
            <a:endParaRPr lang="en-US" sz="1112" dirty="0"/>
          </a:p>
        </p:txBody>
      </p:sp>
      <p:sp>
        <p:nvSpPr>
          <p:cNvPr id="17" name="Shape 16">
            <a:extLst>
              <a:ext uri="{FF2B5EF4-FFF2-40B4-BE49-F238E27FC236}">
                <a16:creationId xmlns:a16="http://schemas.microsoft.com/office/drawing/2014/main" id="{1DF1D611-C5B5-3BFF-5494-79394B4EC3AA}"/>
              </a:ext>
            </a:extLst>
          </p:cNvPr>
          <p:cNvSpPr/>
          <p:nvPr/>
        </p:nvSpPr>
        <p:spPr>
          <a:xfrm>
            <a:off x="598338" y="2321297"/>
            <a:ext cx="8002402" cy="1485628"/>
          </a:xfrm>
          <a:prstGeom prst="roundRect">
            <a:avLst>
              <a:gd name="adj" fmla="val 3684"/>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19" name="Text 17">
            <a:extLst>
              <a:ext uri="{FF2B5EF4-FFF2-40B4-BE49-F238E27FC236}">
                <a16:creationId xmlns:a16="http://schemas.microsoft.com/office/drawing/2014/main" id="{60745D07-3D9E-C987-81A7-B79EA229C00F}"/>
              </a:ext>
            </a:extLst>
          </p:cNvPr>
          <p:cNvSpPr/>
          <p:nvPr/>
        </p:nvSpPr>
        <p:spPr>
          <a:xfrm>
            <a:off x="754720" y="2438581"/>
            <a:ext cx="7691629" cy="1329247"/>
          </a:xfrm>
          <a:prstGeom prst="rect">
            <a:avLst/>
          </a:prstGeom>
          <a:noFill/>
          <a:ln/>
        </p:spPr>
        <p:txBody>
          <a:bodyPr wrap="square" rtlCol="0" anchor="t"/>
          <a:lstStyle/>
          <a:p>
            <a:pPr>
              <a:lnSpc>
                <a:spcPct val="125000"/>
              </a:lnSpc>
              <a:spcAft>
                <a:spcPts val="684"/>
              </a:spcAft>
            </a:pPr>
            <a:r>
              <a:rPr lang="en-US" sz="941" dirty="0">
                <a:solidFill>
                  <a:srgbClr val="1E293B"/>
                </a:solidFill>
                <a:latin typeface="맑은 고딕" pitchFamily="34" charset="0"/>
                <a:ea typeface="맑은 고딕" pitchFamily="34" charset="-122"/>
                <a:cs typeface="맑은 고딕" pitchFamily="34" charset="-120"/>
              </a:rPr>
              <a:t>•  </a:t>
            </a:r>
            <a:r>
              <a:rPr lang="en-US" sz="1026" dirty="0">
                <a:solidFill>
                  <a:srgbClr val="1E293B"/>
                </a:solidFill>
                <a:latin typeface="맑은 고딕" pitchFamily="34" charset="0"/>
                <a:ea typeface="맑은 고딕" pitchFamily="34" charset="-122"/>
                <a:cs typeface="맑은 고딕" pitchFamily="34" charset="-120"/>
              </a:rPr>
              <a:t>릴레이 CH1만 ON시켜 내장 1셀 배터리를 회로에 인입 (CH2, CH3는 OFF 유지).</a:t>
            </a:r>
            <a:endParaRPr lang="en-US" sz="1026" dirty="0"/>
          </a:p>
          <a:p>
            <a:pPr>
              <a:lnSpc>
                <a:spcPct val="125000"/>
              </a:lnSpc>
              <a:spcAft>
                <a:spcPts val="684"/>
              </a:spcAft>
            </a:pPr>
            <a:r>
              <a:rPr lang="en-US" sz="1026" dirty="0">
                <a:solidFill>
                  <a:srgbClr val="1E293B"/>
                </a:solidFill>
                <a:latin typeface="맑은 고딕" pitchFamily="34" charset="0"/>
                <a:ea typeface="맑은 고딕" pitchFamily="34" charset="-122"/>
                <a:cs typeface="맑은 고딕" pitchFamily="34" charset="-120"/>
              </a:rPr>
              <a:t>•  충전 시엔 CH4를 NC(TP4056) 방향으로, 방전 시엔 NO(ATORCH) </a:t>
            </a:r>
            <a:r>
              <a:rPr lang="en-US" sz="1026" dirty="0" err="1">
                <a:solidFill>
                  <a:srgbClr val="1E293B"/>
                </a:solidFill>
                <a:latin typeface="맑은 고딕" pitchFamily="34" charset="0"/>
                <a:ea typeface="맑은 고딕" pitchFamily="34" charset="-122"/>
                <a:cs typeface="맑은 고딕" pitchFamily="34" charset="-120"/>
              </a:rPr>
              <a:t>방향으로</a:t>
            </a:r>
            <a:r>
              <a:rPr lang="en-US" sz="1026" dirty="0">
                <a:solidFill>
                  <a:srgbClr val="1E293B"/>
                </a:solidFill>
                <a:latin typeface="맑은 고딕" pitchFamily="34" charset="0"/>
                <a:ea typeface="맑은 고딕" pitchFamily="34" charset="-122"/>
                <a:cs typeface="맑은 고딕" pitchFamily="34" charset="-120"/>
              </a:rPr>
              <a:t> </a:t>
            </a:r>
            <a:r>
              <a:rPr lang="en-US" sz="1026" dirty="0" err="1">
                <a:solidFill>
                  <a:srgbClr val="1E293B"/>
                </a:solidFill>
                <a:latin typeface="맑은 고딕" pitchFamily="34" charset="0"/>
                <a:ea typeface="맑은 고딕" pitchFamily="34" charset="-122"/>
                <a:cs typeface="맑은 고딕" pitchFamily="34" charset="-120"/>
              </a:rPr>
              <a:t>전환</a:t>
            </a:r>
            <a:r>
              <a:rPr lang="en-US" sz="1026" dirty="0">
                <a:solidFill>
                  <a:srgbClr val="1E293B"/>
                </a:solidFill>
                <a:latin typeface="맑은 고딕" pitchFamily="34" charset="0"/>
                <a:ea typeface="맑은 고딕" pitchFamily="34" charset="-122"/>
                <a:cs typeface="맑은 고딕" pitchFamily="34" charset="-120"/>
              </a:rPr>
              <a:t> -&gt; </a:t>
            </a:r>
            <a:r>
              <a:rPr lang="en-US" sz="1026" dirty="0" err="1">
                <a:solidFill>
                  <a:srgbClr val="1E293B"/>
                </a:solidFill>
                <a:latin typeface="맑은 고딕" pitchFamily="34" charset="0"/>
                <a:ea typeface="맑은 고딕" pitchFamily="34" charset="-122"/>
                <a:cs typeface="맑은 고딕" pitchFamily="34" charset="-120"/>
              </a:rPr>
              <a:t>충전</a:t>
            </a:r>
            <a:r>
              <a:rPr lang="en-US" sz="1026" dirty="0">
                <a:solidFill>
                  <a:srgbClr val="1E293B"/>
                </a:solidFill>
                <a:latin typeface="맑은 고딕" pitchFamily="34" charset="0"/>
                <a:ea typeface="맑은 고딕" pitchFamily="34" charset="-122"/>
                <a:cs typeface="맑은 고딕" pitchFamily="34" charset="-120"/>
              </a:rPr>
              <a:t>, </a:t>
            </a:r>
            <a:r>
              <a:rPr lang="ko-KR" altLang="en-US" sz="1026" dirty="0">
                <a:solidFill>
                  <a:srgbClr val="1E293B"/>
                </a:solidFill>
                <a:latin typeface="맑은 고딕" pitchFamily="34" charset="0"/>
                <a:ea typeface="맑은 고딕" pitchFamily="34" charset="-122"/>
                <a:cs typeface="맑은 고딕" pitchFamily="34" charset="-120"/>
              </a:rPr>
              <a:t>방전 데이터 </a:t>
            </a:r>
            <a:r>
              <a:rPr lang="en-US" sz="1026" dirty="0" err="1">
                <a:solidFill>
                  <a:srgbClr val="1E293B"/>
                </a:solidFill>
                <a:latin typeface="맑은 고딕" pitchFamily="34" charset="0"/>
                <a:ea typeface="맑은 고딕" pitchFamily="34" charset="-122"/>
                <a:cs typeface="맑은 고딕" pitchFamily="34" charset="-120"/>
              </a:rPr>
              <a:t>모두</a:t>
            </a:r>
            <a:r>
              <a:rPr lang="en-US" sz="1026" dirty="0">
                <a:solidFill>
                  <a:srgbClr val="1E293B"/>
                </a:solidFill>
                <a:latin typeface="맑은 고딕" pitchFamily="34" charset="0"/>
                <a:ea typeface="맑은 고딕" pitchFamily="34" charset="-122"/>
                <a:cs typeface="맑은 고딕" pitchFamily="34" charset="-120"/>
              </a:rPr>
              <a:t> </a:t>
            </a:r>
            <a:r>
              <a:rPr lang="en-US" sz="1026" dirty="0" err="1">
                <a:solidFill>
                  <a:srgbClr val="1E293B"/>
                </a:solidFill>
                <a:latin typeface="맑은 고딕" pitchFamily="34" charset="0"/>
                <a:ea typeface="맑은 고딕" pitchFamily="34" charset="-122"/>
                <a:cs typeface="맑은 고딕" pitchFamily="34" charset="-120"/>
              </a:rPr>
              <a:t>지원</a:t>
            </a:r>
            <a:r>
              <a:rPr lang="en-US" sz="1026" dirty="0">
                <a:solidFill>
                  <a:srgbClr val="1E293B"/>
                </a:solidFill>
                <a:latin typeface="맑은 고딕" pitchFamily="34" charset="0"/>
                <a:ea typeface="맑은 고딕" pitchFamily="34" charset="-122"/>
                <a:cs typeface="맑은 고딕" pitchFamily="34" charset="-120"/>
              </a:rPr>
              <a:t> </a:t>
            </a:r>
            <a:r>
              <a:rPr lang="ko-KR" altLang="en-US" sz="1026" dirty="0">
                <a:solidFill>
                  <a:srgbClr val="1E293B"/>
                </a:solidFill>
                <a:latin typeface="맑은 고딕" pitchFamily="34" charset="0"/>
                <a:ea typeface="맑은 고딕" pitchFamily="34" charset="-122"/>
                <a:cs typeface="맑은 고딕" pitchFamily="34" charset="-120"/>
              </a:rPr>
              <a:t>수집</a:t>
            </a:r>
            <a:r>
              <a:rPr lang="en-US" sz="1026" dirty="0">
                <a:solidFill>
                  <a:srgbClr val="1E293B"/>
                </a:solidFill>
                <a:latin typeface="맑은 고딕" pitchFamily="34" charset="0"/>
                <a:ea typeface="맑은 고딕" pitchFamily="34" charset="-122"/>
                <a:cs typeface="맑은 고딕" pitchFamily="34" charset="-120"/>
              </a:rPr>
              <a:t>.</a:t>
            </a:r>
            <a:endParaRPr lang="en-US" sz="1026" dirty="0"/>
          </a:p>
        </p:txBody>
      </p:sp>
      <p:sp>
        <p:nvSpPr>
          <p:cNvPr id="21" name="Shape 18">
            <a:extLst>
              <a:ext uri="{FF2B5EF4-FFF2-40B4-BE49-F238E27FC236}">
                <a16:creationId xmlns:a16="http://schemas.microsoft.com/office/drawing/2014/main" id="{6AE83788-8B4C-6295-2321-B372CD864D5F}"/>
              </a:ext>
            </a:extLst>
          </p:cNvPr>
          <p:cNvSpPr/>
          <p:nvPr/>
        </p:nvSpPr>
        <p:spPr>
          <a:xfrm>
            <a:off x="598339" y="4002401"/>
            <a:ext cx="69923" cy="172020"/>
          </a:xfrm>
          <a:prstGeom prst="rect">
            <a:avLst/>
          </a:prstGeom>
          <a:solidFill>
            <a:srgbClr val="3B5BA7"/>
          </a:solidFill>
          <a:ln/>
        </p:spPr>
        <p:txBody>
          <a:bodyPr/>
          <a:lstStyle/>
          <a:p>
            <a:endParaRPr lang="ko-KR" altLang="en-US" sz="1634"/>
          </a:p>
        </p:txBody>
      </p:sp>
      <p:sp>
        <p:nvSpPr>
          <p:cNvPr id="23" name="Text 19">
            <a:extLst>
              <a:ext uri="{FF2B5EF4-FFF2-40B4-BE49-F238E27FC236}">
                <a16:creationId xmlns:a16="http://schemas.microsoft.com/office/drawing/2014/main" id="{3E0B4909-EB5E-B95D-93EC-23C48CC2E308}"/>
              </a:ext>
            </a:extLst>
          </p:cNvPr>
          <p:cNvSpPr/>
          <p:nvPr/>
        </p:nvSpPr>
        <p:spPr>
          <a:xfrm>
            <a:off x="739081" y="3978944"/>
            <a:ext cx="621545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핵심 특징</a:t>
            </a:r>
            <a:endParaRPr lang="en-US" sz="1112" dirty="0"/>
          </a:p>
        </p:txBody>
      </p:sp>
      <p:sp>
        <p:nvSpPr>
          <p:cNvPr id="25" name="Shape 20">
            <a:extLst>
              <a:ext uri="{FF2B5EF4-FFF2-40B4-BE49-F238E27FC236}">
                <a16:creationId xmlns:a16="http://schemas.microsoft.com/office/drawing/2014/main" id="{300CF2DA-23CA-B832-3C84-A2D1821CF681}"/>
              </a:ext>
            </a:extLst>
          </p:cNvPr>
          <p:cNvSpPr/>
          <p:nvPr/>
        </p:nvSpPr>
        <p:spPr>
          <a:xfrm>
            <a:off x="598338" y="4276069"/>
            <a:ext cx="8002402" cy="2267538"/>
          </a:xfrm>
          <a:prstGeom prst="roundRect">
            <a:avLst>
              <a:gd name="adj" fmla="val 2414"/>
            </a:avLst>
          </a:prstGeom>
          <a:solidFill>
            <a:srgbClr val="E8F1FF"/>
          </a:solidFill>
          <a:ln/>
          <a:effectLst>
            <a:outerShdw blurRad="63500" dist="25400" dir="2700000" algn="bl" rotWithShape="0">
              <a:srgbClr val="000000">
                <a:alpha val="10000"/>
              </a:srgbClr>
            </a:outerShdw>
          </a:effectLst>
        </p:spPr>
        <p:txBody>
          <a:bodyPr/>
          <a:lstStyle/>
          <a:p>
            <a:endParaRPr lang="ko-KR" altLang="en-US" sz="1634"/>
          </a:p>
        </p:txBody>
      </p:sp>
      <p:sp>
        <p:nvSpPr>
          <p:cNvPr id="27" name="Text 21">
            <a:extLst>
              <a:ext uri="{FF2B5EF4-FFF2-40B4-BE49-F238E27FC236}">
                <a16:creationId xmlns:a16="http://schemas.microsoft.com/office/drawing/2014/main" id="{A54C79EC-8017-2451-749B-2E55043C9CC8}"/>
              </a:ext>
            </a:extLst>
          </p:cNvPr>
          <p:cNvSpPr/>
          <p:nvPr/>
        </p:nvSpPr>
        <p:spPr>
          <a:xfrm>
            <a:off x="754720" y="4393355"/>
            <a:ext cx="7691629" cy="2111157"/>
          </a:xfrm>
          <a:prstGeom prst="rect">
            <a:avLst/>
          </a:prstGeom>
          <a:noFill/>
          <a:ln/>
        </p:spPr>
        <p:txBody>
          <a:bodyPr wrap="square" rtlCol="0" anchor="t"/>
          <a:lstStyle/>
          <a:p>
            <a:pPr>
              <a:lnSpc>
                <a:spcPct val="125000"/>
              </a:lnSpc>
              <a:spcAft>
                <a:spcPts val="855"/>
              </a:spcAft>
            </a:pPr>
            <a:r>
              <a:rPr lang="en-US" sz="1026" dirty="0">
                <a:solidFill>
                  <a:srgbClr val="1E293B"/>
                </a:solidFill>
                <a:latin typeface="맑은 고딕" pitchFamily="34" charset="0"/>
                <a:ea typeface="맑은 고딕" pitchFamily="34" charset="-122"/>
                <a:cs typeface="맑은 고딕" pitchFamily="34" charset="-120"/>
              </a:rPr>
              <a:t>•  고정밀 BQ27441 #1과 셀 표면 밀착 DS18B20을 동시 활성화해 전압 · 전류 · SOC · 접촉온도를 지연 없이 실시간 계측.</a:t>
            </a:r>
            <a:endParaRPr lang="en-US" sz="1026" dirty="0"/>
          </a:p>
          <a:p>
            <a:pPr>
              <a:lnSpc>
                <a:spcPct val="125000"/>
              </a:lnSpc>
              <a:spcAft>
                <a:spcPts val="855"/>
              </a:spcAft>
            </a:pPr>
            <a:r>
              <a:rPr lang="en-US" sz="1026" dirty="0">
                <a:solidFill>
                  <a:srgbClr val="1E293B"/>
                </a:solidFill>
                <a:latin typeface="맑은 고딕" pitchFamily="34" charset="0"/>
                <a:ea typeface="맑은 고딕" pitchFamily="34" charset="-122"/>
                <a:cs typeface="맑은 고딕" pitchFamily="34" charset="-120"/>
              </a:rPr>
              <a:t>•  BQ27441의 VBATT+/−가 배터리 단자에 직결되어 있어, 릴레이가 꺼진 대기 중에도 SOC </a:t>
            </a:r>
            <a:r>
              <a:rPr lang="en-US" sz="1026" dirty="0" err="1">
                <a:solidFill>
                  <a:srgbClr val="1E293B"/>
                </a:solidFill>
                <a:latin typeface="맑은 고딕" pitchFamily="34" charset="0"/>
                <a:ea typeface="맑은 고딕" pitchFamily="34" charset="-122"/>
                <a:cs typeface="맑은 고딕" pitchFamily="34" charset="-120"/>
              </a:rPr>
              <a:t>모니터링이</a:t>
            </a:r>
            <a:r>
              <a:rPr lang="en-US" sz="1026" dirty="0">
                <a:solidFill>
                  <a:srgbClr val="1E293B"/>
                </a:solidFill>
                <a:latin typeface="맑은 고딕" pitchFamily="34" charset="0"/>
                <a:ea typeface="맑은 고딕" pitchFamily="34" charset="-122"/>
                <a:cs typeface="맑은 고딕" pitchFamily="34" charset="-120"/>
              </a:rPr>
              <a:t> </a:t>
            </a:r>
            <a:r>
              <a:rPr lang="en-US" sz="1026" dirty="0" err="1">
                <a:solidFill>
                  <a:srgbClr val="1E293B"/>
                </a:solidFill>
                <a:latin typeface="맑은 고딕" pitchFamily="34" charset="0"/>
                <a:ea typeface="맑은 고딕" pitchFamily="34" charset="-122"/>
                <a:cs typeface="맑은 고딕" pitchFamily="34" charset="-120"/>
              </a:rPr>
              <a:t>지속됨</a:t>
            </a:r>
            <a:endParaRPr lang="en-US" sz="1026" dirty="0">
              <a:solidFill>
                <a:srgbClr val="1E293B"/>
              </a:solidFill>
              <a:latin typeface="맑은 고딕" pitchFamily="34" charset="0"/>
              <a:ea typeface="맑은 고딕" pitchFamily="34" charset="-122"/>
              <a:cs typeface="맑은 고딕" pitchFamily="34" charset="-120"/>
            </a:endParaRPr>
          </a:p>
          <a:p>
            <a:pPr>
              <a:lnSpc>
                <a:spcPct val="125000"/>
              </a:lnSpc>
              <a:spcAft>
                <a:spcPts val="855"/>
              </a:spcAft>
            </a:pPr>
            <a:r>
              <a:rPr lang="en-US" sz="1026" dirty="0">
                <a:solidFill>
                  <a:srgbClr val="1E293B"/>
                </a:solidFill>
                <a:latin typeface="맑은 고딕" pitchFamily="34" charset="0"/>
                <a:ea typeface="맑은 고딕" pitchFamily="34" charset="-122"/>
                <a:cs typeface="맑은 고딕" pitchFamily="34" charset="-120"/>
              </a:rPr>
              <a:t>•  가스(MQ-2 · MiCS-5524) · 압력(FSR-406) · 음향(피에조)까지 함께 계측해 온도만으로 못 잡는 초기 징후까지 포착.</a:t>
            </a:r>
            <a:endParaRPr lang="en-US" sz="1026" dirty="0"/>
          </a:p>
        </p:txBody>
      </p:sp>
    </p:spTree>
    <p:extLst>
      <p:ext uri="{BB962C8B-B14F-4D97-AF65-F5344CB8AC3E}">
        <p14:creationId xmlns:p14="http://schemas.microsoft.com/office/powerpoint/2010/main" val="36541196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A55CB-EEE2-1F3A-4230-A8B3092480EC}"/>
            </a:ext>
          </a:extLst>
        </p:cNvPr>
        <p:cNvGrpSpPr/>
        <p:nvPr/>
      </p:nvGrpSpPr>
      <p:grpSpPr>
        <a:xfrm>
          <a:off x="0" y="0"/>
          <a:ext cx="0" cy="0"/>
          <a:chOff x="0" y="0"/>
          <a:chExt cx="0" cy="0"/>
        </a:xfrm>
      </p:grpSpPr>
      <p:sp>
        <p:nvSpPr>
          <p:cNvPr id="24" name="직사각형 24"/>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5" name="직선 연결선 25"/>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 name="직선 연결선 26"/>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7" name="제목 27"/>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핵심 5 state</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28" name="막힌 원호 28"/>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EB73B541-3F53-F12A-CEEF-CAE17942340C}"/>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77536936-616C-045C-1A0E-AF84875C1F94}"/>
              </a:ext>
            </a:extLst>
          </p:cNvPr>
          <p:cNvPicPr/>
          <p:nvPr/>
        </p:nvPicPr>
        <p:blipFill>
          <a:blip r:embed="rId4" cstate="print"/>
          <a:stretch>
            <a:fillRect/>
          </a:stretch>
        </p:blipFill>
        <p:spPr>
          <a:xfrm>
            <a:off x="7275128" y="314247"/>
            <a:ext cx="1325611" cy="307338"/>
          </a:xfrm>
          <a:prstGeom prst="rect">
            <a:avLst/>
          </a:prstGeom>
        </p:spPr>
      </p:pic>
      <p:sp>
        <p:nvSpPr>
          <p:cNvPr id="9" name="Shape 12">
            <a:extLst>
              <a:ext uri="{FF2B5EF4-FFF2-40B4-BE49-F238E27FC236}">
                <a16:creationId xmlns:a16="http://schemas.microsoft.com/office/drawing/2014/main" id="{9CFACEB2-C35D-4B8A-D9D1-FFD9AD775FF2}"/>
              </a:ext>
            </a:extLst>
          </p:cNvPr>
          <p:cNvSpPr/>
          <p:nvPr/>
        </p:nvSpPr>
        <p:spPr>
          <a:xfrm>
            <a:off x="598339" y="1628004"/>
            <a:ext cx="69923" cy="172020"/>
          </a:xfrm>
          <a:prstGeom prst="rect">
            <a:avLst/>
          </a:prstGeom>
          <a:solidFill>
            <a:srgbClr val="3B5BA7"/>
          </a:solidFill>
          <a:ln/>
        </p:spPr>
        <p:txBody>
          <a:bodyPr/>
          <a:lstStyle/>
          <a:p>
            <a:endParaRPr lang="ko-KR" altLang="en-US" sz="1634"/>
          </a:p>
        </p:txBody>
      </p:sp>
      <p:sp>
        <p:nvSpPr>
          <p:cNvPr id="11" name="Text 13">
            <a:extLst>
              <a:ext uri="{FF2B5EF4-FFF2-40B4-BE49-F238E27FC236}">
                <a16:creationId xmlns:a16="http://schemas.microsoft.com/office/drawing/2014/main" id="{13876835-2573-E896-DEE3-6CDB3AD48E12}"/>
              </a:ext>
            </a:extLst>
          </p:cNvPr>
          <p:cNvSpPr/>
          <p:nvPr/>
        </p:nvSpPr>
        <p:spPr>
          <a:xfrm>
            <a:off x="739081" y="1604544"/>
            <a:ext cx="621545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핵심 진단 특징 (Key Features)</a:t>
            </a:r>
            <a:endParaRPr lang="en-US" sz="1112" dirty="0"/>
          </a:p>
        </p:txBody>
      </p:sp>
      <p:sp>
        <p:nvSpPr>
          <p:cNvPr id="13" name="Shape 14">
            <a:extLst>
              <a:ext uri="{FF2B5EF4-FFF2-40B4-BE49-F238E27FC236}">
                <a16:creationId xmlns:a16="http://schemas.microsoft.com/office/drawing/2014/main" id="{A9CD76A4-F9BC-29EA-C280-ECB9BA57C0E2}"/>
              </a:ext>
            </a:extLst>
          </p:cNvPr>
          <p:cNvSpPr/>
          <p:nvPr/>
        </p:nvSpPr>
        <p:spPr>
          <a:xfrm>
            <a:off x="598338" y="1901670"/>
            <a:ext cx="8002402" cy="2345729"/>
          </a:xfrm>
          <a:prstGeom prst="roundRect">
            <a:avLst>
              <a:gd name="adj" fmla="val 2333"/>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15" name="Text 15">
            <a:extLst>
              <a:ext uri="{FF2B5EF4-FFF2-40B4-BE49-F238E27FC236}">
                <a16:creationId xmlns:a16="http://schemas.microsoft.com/office/drawing/2014/main" id="{B6D511B2-DC8F-12FB-FF2B-296731F3A1FC}"/>
              </a:ext>
            </a:extLst>
          </p:cNvPr>
          <p:cNvSpPr/>
          <p:nvPr/>
        </p:nvSpPr>
        <p:spPr>
          <a:xfrm>
            <a:off x="754720" y="2018959"/>
            <a:ext cx="7691629" cy="2189347"/>
          </a:xfrm>
          <a:prstGeom prst="rect">
            <a:avLst/>
          </a:prstGeom>
          <a:noFill/>
          <a:ln/>
        </p:spPr>
        <p:txBody>
          <a:bodyPr wrap="square" rtlCol="0" anchor="t"/>
          <a:lstStyle/>
          <a:p>
            <a:pPr>
              <a:lnSpc>
                <a:spcPct val="125000"/>
              </a:lnSpc>
              <a:spcAft>
                <a:spcPts val="342"/>
              </a:spcAft>
            </a:pPr>
            <a:r>
              <a:rPr lang="en-US" sz="941" b="1" dirty="0">
                <a:solidFill>
                  <a:srgbClr val="3B5BA7"/>
                </a:solidFill>
                <a:latin typeface="맑은 고딕" pitchFamily="34" charset="0"/>
                <a:ea typeface="맑은 고딕" pitchFamily="34" charset="-122"/>
                <a:cs typeface="맑은 고딕" pitchFamily="34" charset="-120"/>
              </a:rPr>
              <a:t>•  시간 지연 없는 즉각적 </a:t>
            </a:r>
            <a:r>
              <a:rPr lang="en-US" sz="941" b="1" dirty="0" err="1">
                <a:solidFill>
                  <a:srgbClr val="3B5BA7"/>
                </a:solidFill>
                <a:latin typeface="맑은 고딕" pitchFamily="34" charset="0"/>
                <a:ea typeface="맑은 고딕" pitchFamily="34" charset="-122"/>
                <a:cs typeface="맑은 고딕" pitchFamily="34" charset="-120"/>
              </a:rPr>
              <a:t>진단</a:t>
            </a:r>
            <a:r>
              <a:rPr lang="en-US" sz="941" b="1" dirty="0">
                <a:solidFill>
                  <a:srgbClr val="3B5BA7"/>
                </a:solidFill>
                <a:latin typeface="맑은 고딕" pitchFamily="34" charset="0"/>
                <a:ea typeface="맑은 고딕" pitchFamily="34" charset="-122"/>
                <a:cs typeface="맑은 고딕" pitchFamily="34" charset="-120"/>
              </a:rPr>
              <a:t>  </a:t>
            </a:r>
            <a:endParaRPr lang="en-US" sz="941" dirty="0"/>
          </a:p>
          <a:p>
            <a:pPr>
              <a:lnSpc>
                <a:spcPct val="125000"/>
              </a:lnSpc>
              <a:spcAft>
                <a:spcPts val="342"/>
              </a:spcAft>
            </a:pPr>
            <a:r>
              <a:rPr lang="en-US" sz="941" dirty="0">
                <a:solidFill>
                  <a:srgbClr val="1E293B"/>
                </a:solidFill>
                <a:latin typeface="맑은 고딕" pitchFamily="34" charset="0"/>
                <a:ea typeface="맑은 고딕" pitchFamily="34" charset="-122"/>
                <a:cs typeface="맑은 고딕" pitchFamily="34" charset="-120"/>
              </a:rPr>
              <a:t>•  별도의 시간 기반 추정 없이, 구동 즉시 최고 신뢰도의 배터리 독점 파라미터를 실시간으로 획득한다.</a:t>
            </a:r>
            <a:endParaRPr lang="en-US" sz="941" dirty="0"/>
          </a:p>
          <a:p>
            <a:pPr>
              <a:lnSpc>
                <a:spcPct val="125000"/>
              </a:lnSpc>
              <a:spcAft>
                <a:spcPts val="342"/>
              </a:spcAft>
            </a:pPr>
            <a:r>
              <a:rPr lang="en-US" sz="941" b="1" dirty="0">
                <a:solidFill>
                  <a:srgbClr val="3B5BA7"/>
                </a:solidFill>
                <a:latin typeface="맑은 고딕" pitchFamily="34" charset="0"/>
                <a:ea typeface="맑은 고딕" pitchFamily="34" charset="-122"/>
                <a:cs typeface="맑은 고딕" pitchFamily="34" charset="-120"/>
              </a:rPr>
              <a:t>•  5대 핵심 계측 요소 </a:t>
            </a:r>
            <a:r>
              <a:rPr lang="en-US" sz="941" b="1" dirty="0" err="1">
                <a:solidFill>
                  <a:srgbClr val="3B5BA7"/>
                </a:solidFill>
                <a:latin typeface="맑은 고딕" pitchFamily="34" charset="0"/>
                <a:ea typeface="맑은 고딕" pitchFamily="34" charset="-122"/>
                <a:cs typeface="맑은 고딕" pitchFamily="34" charset="-120"/>
              </a:rPr>
              <a:t>수집</a:t>
            </a:r>
            <a:r>
              <a:rPr lang="en-US" sz="941" b="1" dirty="0">
                <a:solidFill>
                  <a:srgbClr val="3B5BA7"/>
                </a:solidFill>
                <a:latin typeface="맑은 고딕" pitchFamily="34" charset="0"/>
                <a:ea typeface="맑은 고딕" pitchFamily="34" charset="-122"/>
                <a:cs typeface="맑은 고딕" pitchFamily="34" charset="-120"/>
              </a:rPr>
              <a:t>   </a:t>
            </a:r>
            <a:endParaRPr lang="en-US" sz="941" dirty="0"/>
          </a:p>
          <a:p>
            <a:pPr>
              <a:lnSpc>
                <a:spcPct val="125000"/>
              </a:lnSpc>
              <a:spcAft>
                <a:spcPts val="342"/>
              </a:spcAft>
            </a:pPr>
            <a:r>
              <a:rPr lang="en-US" sz="941" dirty="0">
                <a:solidFill>
                  <a:srgbClr val="1E293B"/>
                </a:solidFill>
                <a:latin typeface="맑은 고딕" pitchFamily="34" charset="0"/>
                <a:ea typeface="맑은 고딕" pitchFamily="34" charset="-122"/>
                <a:cs typeface="맑은 고딕" pitchFamily="34" charset="-120"/>
              </a:rPr>
              <a:t>•  SOC, 전압, 전류, 접촉 온도, 누적 충/방전량을 동시 측정한다.</a:t>
            </a:r>
            <a:endParaRPr lang="en-US" sz="941" dirty="0"/>
          </a:p>
          <a:p>
            <a:pPr>
              <a:lnSpc>
                <a:spcPct val="125000"/>
              </a:lnSpc>
              <a:spcAft>
                <a:spcPts val="342"/>
              </a:spcAft>
            </a:pPr>
            <a:r>
              <a:rPr lang="en-US" sz="941" b="1" dirty="0">
                <a:solidFill>
                  <a:srgbClr val="3B5BA7"/>
                </a:solidFill>
                <a:latin typeface="맑은 고딕" pitchFamily="34" charset="0"/>
                <a:ea typeface="맑은 고딕" pitchFamily="34" charset="-122"/>
                <a:cs typeface="맑은 고딕" pitchFamily="34" charset="-120"/>
              </a:rPr>
              <a:t>•  멀티모달 </a:t>
            </a:r>
            <a:r>
              <a:rPr lang="en-US" sz="941" b="1" dirty="0" err="1">
                <a:solidFill>
                  <a:srgbClr val="3B5BA7"/>
                </a:solidFill>
                <a:latin typeface="맑은 고딕" pitchFamily="34" charset="0"/>
                <a:ea typeface="맑은 고딕" pitchFamily="34" charset="-122"/>
                <a:cs typeface="맑은 고딕" pitchFamily="34" charset="-120"/>
              </a:rPr>
              <a:t>조기감지</a:t>
            </a:r>
            <a:r>
              <a:rPr lang="en-US" sz="941" b="1" dirty="0">
                <a:solidFill>
                  <a:srgbClr val="3B5BA7"/>
                </a:solidFill>
                <a:latin typeface="맑은 고딕" pitchFamily="34" charset="0"/>
                <a:ea typeface="맑은 고딕" pitchFamily="34" charset="-122"/>
                <a:cs typeface="맑은 고딕" pitchFamily="34" charset="-120"/>
              </a:rPr>
              <a:t>   </a:t>
            </a:r>
            <a:endParaRPr lang="en-US" sz="941" dirty="0"/>
          </a:p>
          <a:p>
            <a:pPr>
              <a:lnSpc>
                <a:spcPct val="125000"/>
              </a:lnSpc>
              <a:spcAft>
                <a:spcPts val="342"/>
              </a:spcAft>
            </a:pPr>
            <a:r>
              <a:rPr lang="en-US" sz="941" dirty="0">
                <a:solidFill>
                  <a:srgbClr val="1E293B"/>
                </a:solidFill>
                <a:latin typeface="맑은 고딕" pitchFamily="34" charset="0"/>
                <a:ea typeface="맑은 고딕" pitchFamily="34" charset="-122"/>
                <a:cs typeface="맑은 고딕" pitchFamily="34" charset="-120"/>
              </a:rPr>
              <a:t>•  가스(MQ-2 · MiCS-5524) · 압력(FSR-406) · 음향(피에조)까지 함께 계측해, 전압 · 온도가 정상이어도 먼저 나타나는 이상 신호를 포착한다.</a:t>
            </a:r>
            <a:endParaRPr lang="en-US" sz="941" dirty="0"/>
          </a:p>
          <a:p>
            <a:pPr>
              <a:lnSpc>
                <a:spcPct val="125000"/>
              </a:lnSpc>
              <a:spcAft>
                <a:spcPts val="342"/>
              </a:spcAft>
            </a:pPr>
            <a:r>
              <a:rPr lang="en-US" sz="941" b="1" dirty="0">
                <a:solidFill>
                  <a:srgbClr val="3B5BA7"/>
                </a:solidFill>
                <a:latin typeface="맑은 고딕" pitchFamily="34" charset="0"/>
                <a:ea typeface="맑은 고딕" pitchFamily="34" charset="-122"/>
                <a:cs typeface="맑은 고딕" pitchFamily="34" charset="-120"/>
              </a:rPr>
              <a:t>•  양방향 전류 </a:t>
            </a:r>
            <a:r>
              <a:rPr lang="en-US" sz="941" b="1" dirty="0" err="1">
                <a:solidFill>
                  <a:srgbClr val="3B5BA7"/>
                </a:solidFill>
                <a:latin typeface="맑은 고딕" pitchFamily="34" charset="0"/>
                <a:ea typeface="맑은 고딕" pitchFamily="34" charset="-122"/>
                <a:cs typeface="맑은 고딕" pitchFamily="34" charset="-120"/>
              </a:rPr>
              <a:t>측정</a:t>
            </a:r>
            <a:r>
              <a:rPr lang="en-US" sz="941" b="1" dirty="0">
                <a:solidFill>
                  <a:srgbClr val="3B5BA7"/>
                </a:solidFill>
                <a:latin typeface="맑은 고딕" pitchFamily="34" charset="0"/>
                <a:ea typeface="맑은 고딕" pitchFamily="34" charset="-122"/>
                <a:cs typeface="맑은 고딕" pitchFamily="34" charset="-120"/>
              </a:rPr>
              <a:t>  </a:t>
            </a:r>
            <a:endParaRPr lang="en-US" sz="941" dirty="0"/>
          </a:p>
          <a:p>
            <a:pPr>
              <a:lnSpc>
                <a:spcPct val="125000"/>
              </a:lnSpc>
              <a:spcAft>
                <a:spcPts val="342"/>
              </a:spcAft>
            </a:pPr>
            <a:r>
              <a:rPr lang="en-US" sz="941" dirty="0">
                <a:solidFill>
                  <a:srgbClr val="1E293B"/>
                </a:solidFill>
                <a:latin typeface="맑은 고딕" pitchFamily="34" charset="0"/>
                <a:ea typeface="맑은 고딕" pitchFamily="34" charset="-122"/>
                <a:cs typeface="맑은 고딕" pitchFamily="34" charset="-120"/>
              </a:rPr>
              <a:t>•  TP4056의 보호회로 루프를 BQ27441 션트저항과 연동해, 방전뿐 아니라 충전 중에도 정확한 잔량을 업데이트한다.</a:t>
            </a:r>
            <a:endParaRPr lang="en-US" sz="941" dirty="0"/>
          </a:p>
        </p:txBody>
      </p:sp>
      <p:sp>
        <p:nvSpPr>
          <p:cNvPr id="17" name="Shape 16">
            <a:extLst>
              <a:ext uri="{FF2B5EF4-FFF2-40B4-BE49-F238E27FC236}">
                <a16:creationId xmlns:a16="http://schemas.microsoft.com/office/drawing/2014/main" id="{941E2FEE-49A5-819C-48B4-DDB1B40867D8}"/>
              </a:ext>
            </a:extLst>
          </p:cNvPr>
          <p:cNvSpPr/>
          <p:nvPr/>
        </p:nvSpPr>
        <p:spPr>
          <a:xfrm>
            <a:off x="598339" y="4403781"/>
            <a:ext cx="69923" cy="172020"/>
          </a:xfrm>
          <a:prstGeom prst="rect">
            <a:avLst/>
          </a:prstGeom>
          <a:solidFill>
            <a:srgbClr val="3B5BA7"/>
          </a:solidFill>
          <a:ln/>
        </p:spPr>
        <p:txBody>
          <a:bodyPr/>
          <a:lstStyle/>
          <a:p>
            <a:endParaRPr lang="ko-KR" altLang="en-US" sz="1634"/>
          </a:p>
        </p:txBody>
      </p:sp>
      <p:sp>
        <p:nvSpPr>
          <p:cNvPr id="19" name="Text 17">
            <a:extLst>
              <a:ext uri="{FF2B5EF4-FFF2-40B4-BE49-F238E27FC236}">
                <a16:creationId xmlns:a16="http://schemas.microsoft.com/office/drawing/2014/main" id="{F5899755-05BE-A4F0-64BE-2712FE0B77BF}"/>
              </a:ext>
            </a:extLst>
          </p:cNvPr>
          <p:cNvSpPr/>
          <p:nvPr/>
        </p:nvSpPr>
        <p:spPr>
          <a:xfrm>
            <a:off x="739081" y="4380324"/>
            <a:ext cx="621545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대시보드 실시간 피드백 예시</a:t>
            </a:r>
            <a:endParaRPr lang="en-US" sz="1112" dirty="0"/>
          </a:p>
        </p:txBody>
      </p:sp>
      <p:sp>
        <p:nvSpPr>
          <p:cNvPr id="21" name="Shape 18">
            <a:extLst>
              <a:ext uri="{FF2B5EF4-FFF2-40B4-BE49-F238E27FC236}">
                <a16:creationId xmlns:a16="http://schemas.microsoft.com/office/drawing/2014/main" id="{E1A4585F-6C79-5846-9385-70A4E8DB65AD}"/>
              </a:ext>
            </a:extLst>
          </p:cNvPr>
          <p:cNvSpPr/>
          <p:nvPr/>
        </p:nvSpPr>
        <p:spPr>
          <a:xfrm>
            <a:off x="598338" y="4677449"/>
            <a:ext cx="8002402" cy="1563820"/>
          </a:xfrm>
          <a:prstGeom prst="roundRect">
            <a:avLst>
              <a:gd name="adj" fmla="val 3500"/>
            </a:avLst>
          </a:prstGeom>
          <a:solidFill>
            <a:srgbClr val="E8F1FF"/>
          </a:solidFill>
          <a:ln/>
          <a:effectLst>
            <a:outerShdw blurRad="63500" dist="25400" dir="2700000" algn="bl" rotWithShape="0">
              <a:srgbClr val="000000">
                <a:alpha val="10000"/>
              </a:srgbClr>
            </a:outerShdw>
          </a:effectLst>
        </p:spPr>
        <p:txBody>
          <a:bodyPr/>
          <a:lstStyle/>
          <a:p>
            <a:endParaRPr lang="ko-KR" altLang="en-US" sz="1634"/>
          </a:p>
        </p:txBody>
      </p:sp>
      <p:sp>
        <p:nvSpPr>
          <p:cNvPr id="23" name="Text 19">
            <a:extLst>
              <a:ext uri="{FF2B5EF4-FFF2-40B4-BE49-F238E27FC236}">
                <a16:creationId xmlns:a16="http://schemas.microsoft.com/office/drawing/2014/main" id="{ABAC4C1C-6E4D-3DA8-2F17-6A3E82EE1604}"/>
              </a:ext>
            </a:extLst>
          </p:cNvPr>
          <p:cNvSpPr/>
          <p:nvPr/>
        </p:nvSpPr>
        <p:spPr>
          <a:xfrm>
            <a:off x="754720" y="4794736"/>
            <a:ext cx="7691629" cy="1407437"/>
          </a:xfrm>
          <a:prstGeom prst="rect">
            <a:avLst/>
          </a:prstGeom>
          <a:noFill/>
          <a:ln/>
        </p:spPr>
        <p:txBody>
          <a:bodyPr wrap="square" rtlCol="0" anchor="t"/>
          <a:lstStyle/>
          <a:p>
            <a:pPr>
              <a:lnSpc>
                <a:spcPct val="125000"/>
              </a:lnSpc>
              <a:spcAft>
                <a:spcPts val="513"/>
              </a:spcAft>
            </a:pPr>
            <a:r>
              <a:rPr lang="en-US" sz="898" b="1" dirty="0">
                <a:solidFill>
                  <a:srgbClr val="3B5BA7"/>
                </a:solidFill>
                <a:latin typeface="맑은 고딕" pitchFamily="34" charset="0"/>
                <a:ea typeface="맑은 고딕" pitchFamily="34" charset="-122"/>
                <a:cs typeface="맑은 고딕" pitchFamily="34" charset="-120"/>
              </a:rPr>
              <a:t>•  정상 구동 시 (초록불):  </a:t>
            </a:r>
            <a:endParaRPr lang="en-US" sz="898" dirty="0"/>
          </a:p>
          <a:p>
            <a:pPr>
              <a:lnSpc>
                <a:spcPct val="125000"/>
              </a:lnSpc>
              <a:spcAft>
                <a:spcPts val="513"/>
              </a:spcAft>
            </a:pPr>
            <a:r>
              <a:rPr lang="en-US" sz="898" dirty="0">
                <a:solidFill>
                  <a:srgbClr val="1E293B"/>
                </a:solidFill>
                <a:latin typeface="맑은 고딕" pitchFamily="34" charset="0"/>
                <a:ea typeface="맑은 고딕" pitchFamily="34" charset="-122"/>
                <a:cs typeface="맑은 고딕" pitchFamily="34" charset="-120"/>
              </a:rPr>
              <a:t>•  "배터리 고정밀 진단 중 (SOC: XX%, 전압: X.XV, 표면 온도: XX°C). 셀 상태 매우 안정적입니다."</a:t>
            </a:r>
            <a:endParaRPr lang="en-US" sz="898" dirty="0"/>
          </a:p>
          <a:p>
            <a:pPr>
              <a:lnSpc>
                <a:spcPct val="125000"/>
              </a:lnSpc>
              <a:spcAft>
                <a:spcPts val="513"/>
              </a:spcAft>
            </a:pPr>
            <a:r>
              <a:rPr lang="en-US" sz="898" b="1" dirty="0">
                <a:solidFill>
                  <a:srgbClr val="C0392B"/>
                </a:solidFill>
                <a:latin typeface="맑은 고딕" pitchFamily="34" charset="0"/>
                <a:ea typeface="맑은 고딕" pitchFamily="34" charset="-122"/>
                <a:cs typeface="맑은 고딕" pitchFamily="34" charset="-120"/>
              </a:rPr>
              <a:t>•  이상 징후 발생 시 (빨간불):  </a:t>
            </a:r>
            <a:endParaRPr lang="en-US" sz="898" dirty="0"/>
          </a:p>
          <a:p>
            <a:pPr>
              <a:lnSpc>
                <a:spcPct val="125000"/>
              </a:lnSpc>
              <a:spcAft>
                <a:spcPts val="513"/>
              </a:spcAft>
            </a:pPr>
            <a:r>
              <a:rPr lang="en-US" sz="898" dirty="0">
                <a:solidFill>
                  <a:srgbClr val="1E293B"/>
                </a:solidFill>
                <a:latin typeface="맑은 고딕" pitchFamily="34" charset="0"/>
                <a:ea typeface="맑은 고딕" pitchFamily="34" charset="-122"/>
                <a:cs typeface="맑은 고딕" pitchFamily="34" charset="-120"/>
              </a:rPr>
              <a:t>•  "위험 감지! (급격한 전압 강하 또는 셀 표면 온도 위험선 초과). 시스템 보호를 위해 킬스위치(Kill-Switch)를 발동하여 릴레이를 즉시 차단합니다."</a:t>
            </a:r>
            <a:endParaRPr lang="en-US" sz="898" dirty="0"/>
          </a:p>
        </p:txBody>
      </p:sp>
    </p:spTree>
    <p:extLst>
      <p:ext uri="{BB962C8B-B14F-4D97-AF65-F5344CB8AC3E}">
        <p14:creationId xmlns:p14="http://schemas.microsoft.com/office/powerpoint/2010/main" val="6563106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18808-04C1-882F-30A7-F18784F3FB77}"/>
            </a:ext>
          </a:extLst>
        </p:cNvPr>
        <p:cNvGrpSpPr/>
        <p:nvPr/>
      </p:nvGrpSpPr>
      <p:grpSpPr>
        <a:xfrm>
          <a:off x="0" y="0"/>
          <a:ext cx="0" cy="0"/>
          <a:chOff x="0" y="0"/>
          <a:chExt cx="0" cy="0"/>
        </a:xfrm>
      </p:grpSpPr>
      <p:sp>
        <p:nvSpPr>
          <p:cNvPr id="24" name="직사각형 24"/>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5" name="직선 연결선 25"/>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 name="직선 연결선 26"/>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7" name="제목 27"/>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핵심 5 state</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28" name="막힌 원호 28"/>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22CB57D1-4F45-113E-EA1E-039E29EDACA2}"/>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3C0B08D1-9503-DD3A-58CD-501698FB94D5}"/>
              </a:ext>
            </a:extLst>
          </p:cNvPr>
          <p:cNvPicPr/>
          <p:nvPr/>
        </p:nvPicPr>
        <p:blipFill>
          <a:blip r:embed="rId4" cstate="print"/>
          <a:stretch>
            <a:fillRect/>
          </a:stretch>
        </p:blipFill>
        <p:spPr>
          <a:xfrm>
            <a:off x="7275128" y="314247"/>
            <a:ext cx="1325611" cy="307338"/>
          </a:xfrm>
          <a:prstGeom prst="rect">
            <a:avLst/>
          </a:prstGeom>
        </p:spPr>
      </p:pic>
      <p:sp>
        <p:nvSpPr>
          <p:cNvPr id="9" name="Shape 12">
            <a:extLst>
              <a:ext uri="{FF2B5EF4-FFF2-40B4-BE49-F238E27FC236}">
                <a16:creationId xmlns:a16="http://schemas.microsoft.com/office/drawing/2014/main" id="{30EFC31A-3EB2-9074-C900-F3904B4C7C2A}"/>
              </a:ext>
            </a:extLst>
          </p:cNvPr>
          <p:cNvSpPr/>
          <p:nvPr/>
        </p:nvSpPr>
        <p:spPr>
          <a:xfrm>
            <a:off x="630300" y="1650730"/>
            <a:ext cx="3250083" cy="312764"/>
          </a:xfrm>
          <a:prstGeom prst="roundRect">
            <a:avLst>
              <a:gd name="adj" fmla="val 50000"/>
            </a:avLst>
          </a:prstGeom>
          <a:solidFill>
            <a:srgbClr val="E8F1FF"/>
          </a:solidFill>
          <a:ln/>
        </p:spPr>
        <p:txBody>
          <a:bodyPr/>
          <a:lstStyle/>
          <a:p>
            <a:endParaRPr lang="ko-KR" altLang="en-US" sz="1634"/>
          </a:p>
        </p:txBody>
      </p:sp>
      <p:sp>
        <p:nvSpPr>
          <p:cNvPr id="11" name="Text 13">
            <a:extLst>
              <a:ext uri="{FF2B5EF4-FFF2-40B4-BE49-F238E27FC236}">
                <a16:creationId xmlns:a16="http://schemas.microsoft.com/office/drawing/2014/main" id="{61C29EB7-F218-97E3-3129-52EBFD5E4BB3}"/>
              </a:ext>
            </a:extLst>
          </p:cNvPr>
          <p:cNvSpPr/>
          <p:nvPr/>
        </p:nvSpPr>
        <p:spPr>
          <a:xfrm>
            <a:off x="630300" y="1650730"/>
            <a:ext cx="3250083" cy="312764"/>
          </a:xfrm>
          <a:prstGeom prst="rect">
            <a:avLst/>
          </a:prstGeom>
          <a:noFill/>
          <a:ln/>
        </p:spPr>
        <p:txBody>
          <a:bodyPr wrap="square" rtlCol="0" anchor="ctr"/>
          <a:lstStyle/>
          <a:p>
            <a:pPr algn="ctr"/>
            <a:r>
              <a:rPr lang="en-US" sz="898" b="1" dirty="0">
                <a:solidFill>
                  <a:srgbClr val="3B5BA7"/>
                </a:solidFill>
                <a:latin typeface="맑은 고딕" pitchFamily="34" charset="0"/>
                <a:ea typeface="맑은 고딕" pitchFamily="34" charset="-122"/>
                <a:cs typeface="맑은 고딕" pitchFamily="34" charset="-120"/>
              </a:rPr>
              <a:t>내장 1셀 · 충전 중</a:t>
            </a:r>
            <a:endParaRPr lang="en-US" sz="898" dirty="0"/>
          </a:p>
        </p:txBody>
      </p:sp>
      <p:sp>
        <p:nvSpPr>
          <p:cNvPr id="13" name="Shape 14">
            <a:extLst>
              <a:ext uri="{FF2B5EF4-FFF2-40B4-BE49-F238E27FC236}">
                <a16:creationId xmlns:a16="http://schemas.microsoft.com/office/drawing/2014/main" id="{8A1CFB63-16DB-26F1-FF6D-05C81B7F2621}"/>
              </a:ext>
            </a:extLst>
          </p:cNvPr>
          <p:cNvSpPr/>
          <p:nvPr/>
        </p:nvSpPr>
        <p:spPr>
          <a:xfrm>
            <a:off x="630298" y="2158974"/>
            <a:ext cx="7970442" cy="1993870"/>
          </a:xfrm>
          <a:prstGeom prst="roundRect">
            <a:avLst>
              <a:gd name="adj" fmla="val 2745"/>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15" name="Text 15">
            <a:extLst>
              <a:ext uri="{FF2B5EF4-FFF2-40B4-BE49-F238E27FC236}">
                <a16:creationId xmlns:a16="http://schemas.microsoft.com/office/drawing/2014/main" id="{EE262280-85D0-CF74-5246-BD4D569C975C}"/>
              </a:ext>
            </a:extLst>
          </p:cNvPr>
          <p:cNvSpPr/>
          <p:nvPr/>
        </p:nvSpPr>
        <p:spPr>
          <a:xfrm>
            <a:off x="786680" y="2276258"/>
            <a:ext cx="7660910" cy="234573"/>
          </a:xfrm>
          <a:prstGeom prst="rect">
            <a:avLst/>
          </a:prstGeom>
          <a:noFill/>
          <a:ln/>
        </p:spPr>
        <p:txBody>
          <a:bodyPr wrap="square" rtlCol="0" anchor="ctr"/>
          <a:lstStyle/>
          <a:p>
            <a:r>
              <a:rPr lang="en-US" sz="984" b="1" dirty="0">
                <a:solidFill>
                  <a:srgbClr val="3B5BA7"/>
                </a:solidFill>
                <a:latin typeface="맑은 고딕" pitchFamily="34" charset="0"/>
                <a:ea typeface="맑은 고딕" pitchFamily="34" charset="-122"/>
                <a:cs typeface="맑은 고딕" pitchFamily="34" charset="-120"/>
              </a:rPr>
              <a:t>●  플러스(+) 전류 경로</a:t>
            </a:r>
            <a:endParaRPr lang="en-US" sz="984" dirty="0"/>
          </a:p>
        </p:txBody>
      </p:sp>
      <p:sp>
        <p:nvSpPr>
          <p:cNvPr id="17" name="Text 16">
            <a:extLst>
              <a:ext uri="{FF2B5EF4-FFF2-40B4-BE49-F238E27FC236}">
                <a16:creationId xmlns:a16="http://schemas.microsoft.com/office/drawing/2014/main" id="{03363B57-F62E-8316-3ABD-9CC5D3761BB6}"/>
              </a:ext>
            </a:extLst>
          </p:cNvPr>
          <p:cNvSpPr/>
          <p:nvPr/>
        </p:nvSpPr>
        <p:spPr>
          <a:xfrm>
            <a:off x="786680" y="2549926"/>
            <a:ext cx="7660910" cy="1485628"/>
          </a:xfrm>
          <a:prstGeom prst="rect">
            <a:avLst/>
          </a:prstGeom>
          <a:noFill/>
          <a:ln/>
        </p:spPr>
        <p:txBody>
          <a:bodyPr wrap="square" rtlCol="0" anchor="t"/>
          <a:lstStyle/>
          <a:p>
            <a:pPr>
              <a:lnSpc>
                <a:spcPct val="135000"/>
              </a:lnSpc>
            </a:pPr>
            <a:r>
              <a:rPr lang="en-US" sz="898" dirty="0">
                <a:solidFill>
                  <a:srgbClr val="1E293B"/>
                </a:solidFill>
                <a:latin typeface="맑은 고딕" pitchFamily="34" charset="0"/>
                <a:ea typeface="맑은 고딕" pitchFamily="34" charset="-122"/>
                <a:cs typeface="맑은 고딕" pitchFamily="34" charset="-120"/>
              </a:rPr>
              <a:t>외부 5V 어댑터(+) → TP4056 Type-C 입력 → TP4056 내부 충전IC·보호회로 → TP4056 [B+] → 릴레이 CH4 [COM→NC] → 모드1 공용버스 → 릴레이 CH1 [COM→NO] → 내장 1셀 배터리 (+)</a:t>
            </a:r>
            <a:endParaRPr lang="en-US" sz="898" dirty="0"/>
          </a:p>
        </p:txBody>
      </p:sp>
      <p:sp>
        <p:nvSpPr>
          <p:cNvPr id="19" name="Shape 17">
            <a:extLst>
              <a:ext uri="{FF2B5EF4-FFF2-40B4-BE49-F238E27FC236}">
                <a16:creationId xmlns:a16="http://schemas.microsoft.com/office/drawing/2014/main" id="{37A3A955-15FD-C5A3-F1AE-F75A045563B1}"/>
              </a:ext>
            </a:extLst>
          </p:cNvPr>
          <p:cNvSpPr/>
          <p:nvPr/>
        </p:nvSpPr>
        <p:spPr>
          <a:xfrm>
            <a:off x="630298" y="4309223"/>
            <a:ext cx="7970442" cy="1681106"/>
          </a:xfrm>
          <a:prstGeom prst="roundRect">
            <a:avLst>
              <a:gd name="adj" fmla="val 3256"/>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21" name="Text 18">
            <a:extLst>
              <a:ext uri="{FF2B5EF4-FFF2-40B4-BE49-F238E27FC236}">
                <a16:creationId xmlns:a16="http://schemas.microsoft.com/office/drawing/2014/main" id="{BDA21930-E4F1-9063-2B50-558403DF993B}"/>
              </a:ext>
            </a:extLst>
          </p:cNvPr>
          <p:cNvSpPr/>
          <p:nvPr/>
        </p:nvSpPr>
        <p:spPr>
          <a:xfrm>
            <a:off x="786680" y="4426510"/>
            <a:ext cx="7660910" cy="234573"/>
          </a:xfrm>
          <a:prstGeom prst="rect">
            <a:avLst/>
          </a:prstGeom>
          <a:noFill/>
          <a:ln/>
        </p:spPr>
        <p:txBody>
          <a:bodyPr wrap="square" rtlCol="0" anchor="ctr"/>
          <a:lstStyle/>
          <a:p>
            <a:r>
              <a:rPr lang="en-US" sz="984" b="1" dirty="0">
                <a:solidFill>
                  <a:srgbClr val="1E293B"/>
                </a:solidFill>
                <a:latin typeface="맑은 고딕" pitchFamily="34" charset="0"/>
                <a:ea typeface="맑은 고딕" pitchFamily="34" charset="-122"/>
                <a:cs typeface="맑은 고딕" pitchFamily="34" charset="-120"/>
              </a:rPr>
              <a:t>●  마이너스(−) 전류 귀환 경로</a:t>
            </a:r>
            <a:endParaRPr lang="en-US" sz="984" dirty="0"/>
          </a:p>
        </p:txBody>
      </p:sp>
      <p:sp>
        <p:nvSpPr>
          <p:cNvPr id="23" name="Text 19">
            <a:extLst>
              <a:ext uri="{FF2B5EF4-FFF2-40B4-BE49-F238E27FC236}">
                <a16:creationId xmlns:a16="http://schemas.microsoft.com/office/drawing/2014/main" id="{B90F887F-C4E7-4360-E6AE-AA4139A2F0F0}"/>
              </a:ext>
            </a:extLst>
          </p:cNvPr>
          <p:cNvSpPr/>
          <p:nvPr/>
        </p:nvSpPr>
        <p:spPr>
          <a:xfrm>
            <a:off x="786680" y="4700178"/>
            <a:ext cx="7660910" cy="1172865"/>
          </a:xfrm>
          <a:prstGeom prst="rect">
            <a:avLst/>
          </a:prstGeom>
          <a:noFill/>
          <a:ln/>
        </p:spPr>
        <p:txBody>
          <a:bodyPr wrap="square" rtlCol="0" anchor="t"/>
          <a:lstStyle/>
          <a:p>
            <a:pPr>
              <a:lnSpc>
                <a:spcPct val="135000"/>
              </a:lnSpc>
            </a:pPr>
            <a:r>
              <a:rPr lang="en-US" sz="898" dirty="0">
                <a:solidFill>
                  <a:srgbClr val="1E293B"/>
                </a:solidFill>
                <a:latin typeface="맑은 고딕" pitchFamily="34" charset="0"/>
                <a:ea typeface="맑은 고딕" pitchFamily="34" charset="-122"/>
                <a:cs typeface="맑은 고딕" pitchFamily="34" charset="-120"/>
              </a:rPr>
              <a:t>내장 1셀 배터리 (−) → BQ27441 #1 [VBATT−] → 내부 션트저항 관통(충전전류 계측) → BQ27441 [GND] → 시스템 공통 GND → TP4056 [B−] → 외부 5V 어댑터 (−) 로 최종 귀환</a:t>
            </a:r>
            <a:endParaRPr lang="en-US" sz="898" dirty="0"/>
          </a:p>
        </p:txBody>
      </p:sp>
    </p:spTree>
    <p:extLst>
      <p:ext uri="{BB962C8B-B14F-4D97-AF65-F5344CB8AC3E}">
        <p14:creationId xmlns:p14="http://schemas.microsoft.com/office/powerpoint/2010/main" val="15421295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686DE-D7C7-CBD1-1DA2-0415870D1B7B}"/>
            </a:ext>
          </a:extLst>
        </p:cNvPr>
        <p:cNvGrpSpPr/>
        <p:nvPr/>
      </p:nvGrpSpPr>
      <p:grpSpPr>
        <a:xfrm>
          <a:off x="0" y="0"/>
          <a:ext cx="0" cy="0"/>
          <a:chOff x="0" y="0"/>
          <a:chExt cx="0" cy="0"/>
        </a:xfrm>
      </p:grpSpPr>
      <p:sp>
        <p:nvSpPr>
          <p:cNvPr id="32" name="직사각형 32"/>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3" name="직선 연결선 33"/>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 name="직선 연결선 34"/>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35" name="제목 35"/>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핵심 5 state</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36" name="막힌 원호 36"/>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9134FCC5-F497-B2A4-65AE-BEB76E4FA39F}"/>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97F8D28B-C4B4-2841-CD30-5FE2C3155500}"/>
              </a:ext>
            </a:extLst>
          </p:cNvPr>
          <p:cNvPicPr/>
          <p:nvPr/>
        </p:nvPicPr>
        <p:blipFill>
          <a:blip r:embed="rId4" cstate="print"/>
          <a:stretch>
            <a:fillRect/>
          </a:stretch>
        </p:blipFill>
        <p:spPr>
          <a:xfrm>
            <a:off x="7275128" y="314247"/>
            <a:ext cx="1325611" cy="307338"/>
          </a:xfrm>
          <a:prstGeom prst="rect">
            <a:avLst/>
          </a:prstGeom>
        </p:spPr>
      </p:pic>
      <p:sp>
        <p:nvSpPr>
          <p:cNvPr id="10" name="Shape 12">
            <a:extLst>
              <a:ext uri="{FF2B5EF4-FFF2-40B4-BE49-F238E27FC236}">
                <a16:creationId xmlns:a16="http://schemas.microsoft.com/office/drawing/2014/main" id="{9BA10A5F-B184-6731-EEEF-5BDD355F22EE}"/>
              </a:ext>
            </a:extLst>
          </p:cNvPr>
          <p:cNvSpPr/>
          <p:nvPr/>
        </p:nvSpPr>
        <p:spPr>
          <a:xfrm>
            <a:off x="597294" y="1604544"/>
            <a:ext cx="3263541" cy="312764"/>
          </a:xfrm>
          <a:prstGeom prst="roundRect">
            <a:avLst>
              <a:gd name="adj" fmla="val 50000"/>
            </a:avLst>
          </a:prstGeom>
          <a:solidFill>
            <a:srgbClr val="E8F1FF"/>
          </a:solidFill>
          <a:ln/>
        </p:spPr>
        <p:txBody>
          <a:bodyPr/>
          <a:lstStyle/>
          <a:p>
            <a:endParaRPr lang="ko-KR" altLang="en-US" sz="1634"/>
          </a:p>
        </p:txBody>
      </p:sp>
      <p:sp>
        <p:nvSpPr>
          <p:cNvPr id="14" name="Text 13">
            <a:extLst>
              <a:ext uri="{FF2B5EF4-FFF2-40B4-BE49-F238E27FC236}">
                <a16:creationId xmlns:a16="http://schemas.microsoft.com/office/drawing/2014/main" id="{04091B23-BEBD-FDEE-7F6A-6690D4AD1FFC}"/>
              </a:ext>
            </a:extLst>
          </p:cNvPr>
          <p:cNvSpPr/>
          <p:nvPr/>
        </p:nvSpPr>
        <p:spPr>
          <a:xfrm>
            <a:off x="597294" y="1604544"/>
            <a:ext cx="3263541" cy="312764"/>
          </a:xfrm>
          <a:prstGeom prst="rect">
            <a:avLst/>
          </a:prstGeom>
          <a:noFill/>
          <a:ln/>
        </p:spPr>
        <p:txBody>
          <a:bodyPr wrap="square" rtlCol="0" anchor="ctr"/>
          <a:lstStyle/>
          <a:p>
            <a:pPr algn="ctr"/>
            <a:r>
              <a:rPr lang="en-US" sz="898" b="1" dirty="0">
                <a:solidFill>
                  <a:srgbClr val="3B5BA7"/>
                </a:solidFill>
                <a:latin typeface="맑은 고딕" pitchFamily="34" charset="0"/>
                <a:ea typeface="맑은 고딕" pitchFamily="34" charset="-122"/>
                <a:cs typeface="맑은 고딕" pitchFamily="34" charset="-120"/>
              </a:rPr>
              <a:t>내장 1셀 · 방전 중</a:t>
            </a:r>
            <a:endParaRPr lang="en-US" sz="898" dirty="0"/>
          </a:p>
        </p:txBody>
      </p:sp>
      <p:sp>
        <p:nvSpPr>
          <p:cNvPr id="18" name="Shape 14">
            <a:extLst>
              <a:ext uri="{FF2B5EF4-FFF2-40B4-BE49-F238E27FC236}">
                <a16:creationId xmlns:a16="http://schemas.microsoft.com/office/drawing/2014/main" id="{88ECCA4E-9826-6B5D-BA4D-B11DB4C6C622}"/>
              </a:ext>
            </a:extLst>
          </p:cNvPr>
          <p:cNvSpPr/>
          <p:nvPr/>
        </p:nvSpPr>
        <p:spPr>
          <a:xfrm>
            <a:off x="597292" y="2112787"/>
            <a:ext cx="8003447" cy="1993870"/>
          </a:xfrm>
          <a:prstGeom prst="roundRect">
            <a:avLst>
              <a:gd name="adj" fmla="val 2745"/>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22" name="Text 15">
            <a:extLst>
              <a:ext uri="{FF2B5EF4-FFF2-40B4-BE49-F238E27FC236}">
                <a16:creationId xmlns:a16="http://schemas.microsoft.com/office/drawing/2014/main" id="{A5AF6DD3-5F53-6B71-0579-5367730CA887}"/>
              </a:ext>
            </a:extLst>
          </p:cNvPr>
          <p:cNvSpPr/>
          <p:nvPr/>
        </p:nvSpPr>
        <p:spPr>
          <a:xfrm>
            <a:off x="753675" y="2230071"/>
            <a:ext cx="7692633" cy="234573"/>
          </a:xfrm>
          <a:prstGeom prst="rect">
            <a:avLst/>
          </a:prstGeom>
          <a:noFill/>
          <a:ln/>
        </p:spPr>
        <p:txBody>
          <a:bodyPr wrap="square" rtlCol="0" anchor="ctr"/>
          <a:lstStyle/>
          <a:p>
            <a:r>
              <a:rPr lang="en-US" sz="984" b="1" dirty="0">
                <a:solidFill>
                  <a:srgbClr val="3B5BA7"/>
                </a:solidFill>
                <a:latin typeface="맑은 고딕" pitchFamily="34" charset="0"/>
                <a:ea typeface="맑은 고딕" pitchFamily="34" charset="-122"/>
                <a:cs typeface="맑은 고딕" pitchFamily="34" charset="-120"/>
              </a:rPr>
              <a:t>●  플러스(+) 전류 경로</a:t>
            </a:r>
            <a:endParaRPr lang="en-US" sz="984" dirty="0"/>
          </a:p>
        </p:txBody>
      </p:sp>
      <p:sp>
        <p:nvSpPr>
          <p:cNvPr id="25" name="Text 16">
            <a:extLst>
              <a:ext uri="{FF2B5EF4-FFF2-40B4-BE49-F238E27FC236}">
                <a16:creationId xmlns:a16="http://schemas.microsoft.com/office/drawing/2014/main" id="{31B7E635-10E2-48CB-E8F8-7463AA700AED}"/>
              </a:ext>
            </a:extLst>
          </p:cNvPr>
          <p:cNvSpPr/>
          <p:nvPr/>
        </p:nvSpPr>
        <p:spPr>
          <a:xfrm>
            <a:off x="753675" y="2503740"/>
            <a:ext cx="7692633" cy="1485628"/>
          </a:xfrm>
          <a:prstGeom prst="rect">
            <a:avLst/>
          </a:prstGeom>
          <a:noFill/>
          <a:ln/>
        </p:spPr>
        <p:txBody>
          <a:bodyPr wrap="square" rtlCol="0" anchor="t"/>
          <a:lstStyle/>
          <a:p>
            <a:pPr>
              <a:lnSpc>
                <a:spcPct val="135000"/>
              </a:lnSpc>
            </a:pPr>
            <a:r>
              <a:rPr lang="en-US" sz="898" dirty="0">
                <a:solidFill>
                  <a:srgbClr val="1E293B"/>
                </a:solidFill>
                <a:latin typeface="맑은 고딕" pitchFamily="34" charset="0"/>
                <a:ea typeface="맑은 고딕" pitchFamily="34" charset="-122"/>
                <a:cs typeface="맑은 고딕" pitchFamily="34" charset="-120"/>
              </a:rPr>
              <a:t>내장 1셀 배터리 (+) → 릴레이 CH1 [COM→NO] → 모드1 공용버스 → 릴레이 CH4 [COM→NO] → ATORCH 전자부하 [V+] 도달 및 열 에너지로 소모</a:t>
            </a:r>
            <a:endParaRPr lang="en-US" sz="898" dirty="0"/>
          </a:p>
        </p:txBody>
      </p:sp>
      <p:sp>
        <p:nvSpPr>
          <p:cNvPr id="27" name="Shape 17">
            <a:extLst>
              <a:ext uri="{FF2B5EF4-FFF2-40B4-BE49-F238E27FC236}">
                <a16:creationId xmlns:a16="http://schemas.microsoft.com/office/drawing/2014/main" id="{1F03661D-5C32-48CF-62AC-221B7B5A0D8F}"/>
              </a:ext>
            </a:extLst>
          </p:cNvPr>
          <p:cNvSpPr/>
          <p:nvPr/>
        </p:nvSpPr>
        <p:spPr>
          <a:xfrm>
            <a:off x="597292" y="4263038"/>
            <a:ext cx="8003447" cy="1681106"/>
          </a:xfrm>
          <a:prstGeom prst="roundRect">
            <a:avLst>
              <a:gd name="adj" fmla="val 3256"/>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29" name="Text 18">
            <a:extLst>
              <a:ext uri="{FF2B5EF4-FFF2-40B4-BE49-F238E27FC236}">
                <a16:creationId xmlns:a16="http://schemas.microsoft.com/office/drawing/2014/main" id="{0ED86E98-FD98-334E-D296-616ACDD94AB6}"/>
              </a:ext>
            </a:extLst>
          </p:cNvPr>
          <p:cNvSpPr/>
          <p:nvPr/>
        </p:nvSpPr>
        <p:spPr>
          <a:xfrm>
            <a:off x="753675" y="4380324"/>
            <a:ext cx="7692633" cy="234573"/>
          </a:xfrm>
          <a:prstGeom prst="rect">
            <a:avLst/>
          </a:prstGeom>
          <a:noFill/>
          <a:ln/>
        </p:spPr>
        <p:txBody>
          <a:bodyPr wrap="square" rtlCol="0" anchor="ctr"/>
          <a:lstStyle/>
          <a:p>
            <a:r>
              <a:rPr lang="en-US" sz="984" b="1" dirty="0">
                <a:solidFill>
                  <a:srgbClr val="1E293B"/>
                </a:solidFill>
                <a:latin typeface="맑은 고딕" pitchFamily="34" charset="0"/>
                <a:ea typeface="맑은 고딕" pitchFamily="34" charset="-122"/>
                <a:cs typeface="맑은 고딕" pitchFamily="34" charset="-120"/>
              </a:rPr>
              <a:t>●  마이너스(−) 전류 귀환 경로</a:t>
            </a:r>
            <a:endParaRPr lang="en-US" sz="984" dirty="0"/>
          </a:p>
        </p:txBody>
      </p:sp>
      <p:sp>
        <p:nvSpPr>
          <p:cNvPr id="31" name="Text 19">
            <a:extLst>
              <a:ext uri="{FF2B5EF4-FFF2-40B4-BE49-F238E27FC236}">
                <a16:creationId xmlns:a16="http://schemas.microsoft.com/office/drawing/2014/main" id="{6B4EF7C9-312A-6413-F4E3-B20B8DA19333}"/>
              </a:ext>
            </a:extLst>
          </p:cNvPr>
          <p:cNvSpPr/>
          <p:nvPr/>
        </p:nvSpPr>
        <p:spPr>
          <a:xfrm>
            <a:off x="753675" y="4653992"/>
            <a:ext cx="7692633" cy="1172865"/>
          </a:xfrm>
          <a:prstGeom prst="rect">
            <a:avLst/>
          </a:prstGeom>
          <a:noFill/>
          <a:ln/>
        </p:spPr>
        <p:txBody>
          <a:bodyPr wrap="square" rtlCol="0" anchor="t"/>
          <a:lstStyle/>
          <a:p>
            <a:pPr>
              <a:lnSpc>
                <a:spcPct val="135000"/>
              </a:lnSpc>
            </a:pPr>
            <a:r>
              <a:rPr lang="en-US" sz="898" dirty="0">
                <a:solidFill>
                  <a:srgbClr val="1E293B"/>
                </a:solidFill>
                <a:latin typeface="맑은 고딕" pitchFamily="34" charset="0"/>
                <a:ea typeface="맑은 고딕" pitchFamily="34" charset="-122"/>
                <a:cs typeface="맑은 고딕" pitchFamily="34" charset="-120"/>
              </a:rPr>
              <a:t>ATORCH [V−] → 시스템 공통 GND → BQ27441 #1 [GND] → 내부 션트저항 관통(방전전류 계측) → BQ27441 [VBATT−] → 내장 1셀 배터리 (−) 로 최종 귀환</a:t>
            </a:r>
            <a:endParaRPr lang="en-US" sz="898" dirty="0"/>
          </a:p>
        </p:txBody>
      </p:sp>
    </p:spTree>
    <p:extLst>
      <p:ext uri="{BB962C8B-B14F-4D97-AF65-F5344CB8AC3E}">
        <p14:creationId xmlns:p14="http://schemas.microsoft.com/office/powerpoint/2010/main" val="41000207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D4DCE-57FE-5D2F-725F-07F480B2E999}"/>
            </a:ext>
          </a:extLst>
        </p:cNvPr>
        <p:cNvGrpSpPr/>
        <p:nvPr/>
      </p:nvGrpSpPr>
      <p:grpSpPr>
        <a:xfrm>
          <a:off x="0" y="0"/>
          <a:ext cx="0" cy="0"/>
          <a:chOff x="0" y="0"/>
          <a:chExt cx="0" cy="0"/>
        </a:xfrm>
      </p:grpSpPr>
      <p:sp>
        <p:nvSpPr>
          <p:cNvPr id="30" name="직사각형 30"/>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1" name="직선 연결선 31"/>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 name="직선 연결선 32"/>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33" name="제목 33"/>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핵심 5 state</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34" name="막힌 원호 34"/>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AA7F59DE-961A-2A01-2BA1-A348EF4662FC}"/>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BE7DEFCC-5D8B-FCEA-120F-37C063A5CBAB}"/>
              </a:ext>
            </a:extLst>
          </p:cNvPr>
          <p:cNvPicPr/>
          <p:nvPr/>
        </p:nvPicPr>
        <p:blipFill>
          <a:blip r:embed="rId4" cstate="print"/>
          <a:stretch>
            <a:fillRect/>
          </a:stretch>
        </p:blipFill>
        <p:spPr>
          <a:xfrm>
            <a:off x="7275128" y="314247"/>
            <a:ext cx="1325611" cy="307338"/>
          </a:xfrm>
          <a:prstGeom prst="rect">
            <a:avLst/>
          </a:prstGeom>
        </p:spPr>
      </p:pic>
      <p:sp>
        <p:nvSpPr>
          <p:cNvPr id="9" name="Shape 12">
            <a:extLst>
              <a:ext uri="{FF2B5EF4-FFF2-40B4-BE49-F238E27FC236}">
                <a16:creationId xmlns:a16="http://schemas.microsoft.com/office/drawing/2014/main" id="{DAF4C5FF-9B40-F871-7B35-3CE2FD763920}"/>
              </a:ext>
            </a:extLst>
          </p:cNvPr>
          <p:cNvSpPr/>
          <p:nvPr/>
        </p:nvSpPr>
        <p:spPr>
          <a:xfrm>
            <a:off x="598338" y="1543446"/>
            <a:ext cx="2486184" cy="312764"/>
          </a:xfrm>
          <a:prstGeom prst="roundRect">
            <a:avLst>
              <a:gd name="adj" fmla="val 50000"/>
            </a:avLst>
          </a:prstGeom>
          <a:solidFill>
            <a:srgbClr val="E8F1FF"/>
          </a:solidFill>
          <a:ln/>
        </p:spPr>
        <p:txBody>
          <a:bodyPr/>
          <a:lstStyle/>
          <a:p>
            <a:endParaRPr lang="ko-KR" altLang="en-US" sz="1634"/>
          </a:p>
        </p:txBody>
      </p:sp>
      <p:sp>
        <p:nvSpPr>
          <p:cNvPr id="11" name="Text 13">
            <a:extLst>
              <a:ext uri="{FF2B5EF4-FFF2-40B4-BE49-F238E27FC236}">
                <a16:creationId xmlns:a16="http://schemas.microsoft.com/office/drawing/2014/main" id="{EE7A35BE-0597-E21C-899E-F4ED9BEA470F}"/>
              </a:ext>
            </a:extLst>
          </p:cNvPr>
          <p:cNvSpPr/>
          <p:nvPr/>
        </p:nvSpPr>
        <p:spPr>
          <a:xfrm>
            <a:off x="598338" y="1543446"/>
            <a:ext cx="2486184" cy="312764"/>
          </a:xfrm>
          <a:prstGeom prst="rect">
            <a:avLst/>
          </a:prstGeom>
          <a:noFill/>
          <a:ln/>
        </p:spPr>
        <p:txBody>
          <a:bodyPr wrap="square" rtlCol="0" anchor="ctr"/>
          <a:lstStyle/>
          <a:p>
            <a:pPr algn="ctr"/>
            <a:r>
              <a:rPr lang="en-US" sz="898" b="1" dirty="0">
                <a:solidFill>
                  <a:srgbClr val="3B5BA7"/>
                </a:solidFill>
                <a:latin typeface="맑은 고딕" pitchFamily="34" charset="0"/>
                <a:ea typeface="맑은 고딕" pitchFamily="34" charset="-122"/>
                <a:cs typeface="맑은 고딕" pitchFamily="34" charset="-120"/>
              </a:rPr>
              <a:t>State2 : </a:t>
            </a:r>
            <a:r>
              <a:rPr lang="en-US" sz="898" b="1" dirty="0" err="1">
                <a:solidFill>
                  <a:srgbClr val="3B5BA7"/>
                </a:solidFill>
                <a:latin typeface="맑은 고딕" pitchFamily="34" charset="0"/>
                <a:ea typeface="맑은 고딕" pitchFamily="34" charset="-122"/>
                <a:cs typeface="맑은 고딕" pitchFamily="34" charset="-120"/>
              </a:rPr>
              <a:t>외부</a:t>
            </a:r>
            <a:r>
              <a:rPr lang="en-US" sz="898" b="1" dirty="0">
                <a:solidFill>
                  <a:srgbClr val="3B5BA7"/>
                </a:solidFill>
                <a:latin typeface="맑은 고딕" pitchFamily="34" charset="0"/>
                <a:ea typeface="맑은 고딕" pitchFamily="34" charset="-122"/>
                <a:cs typeface="맑은 고딕" pitchFamily="34" charset="-120"/>
              </a:rPr>
              <a:t> 순수 배터리 셀 </a:t>
            </a:r>
            <a:r>
              <a:rPr lang="en-US" sz="898" b="1" dirty="0" err="1">
                <a:solidFill>
                  <a:srgbClr val="3B5BA7"/>
                </a:solidFill>
                <a:latin typeface="맑은 고딕" pitchFamily="34" charset="0"/>
                <a:ea typeface="맑은 고딕" pitchFamily="34" charset="-122"/>
                <a:cs typeface="맑은 고딕" pitchFamily="34" charset="-120"/>
              </a:rPr>
              <a:t>진단</a:t>
            </a:r>
            <a:r>
              <a:rPr lang="en-US" sz="898" b="1" dirty="0">
                <a:solidFill>
                  <a:srgbClr val="3B5BA7"/>
                </a:solidFill>
                <a:latin typeface="맑은 고딕" pitchFamily="34" charset="0"/>
                <a:ea typeface="맑은 고딕" pitchFamily="34" charset="-122"/>
                <a:cs typeface="맑은 고딕" pitchFamily="34" charset="-120"/>
              </a:rPr>
              <a:t>(</a:t>
            </a:r>
            <a:r>
              <a:rPr lang="ko-KR" altLang="en-US" sz="898" b="1" dirty="0">
                <a:solidFill>
                  <a:srgbClr val="3B5BA7"/>
                </a:solidFill>
                <a:latin typeface="맑은 고딕" pitchFamily="34" charset="0"/>
                <a:ea typeface="맑은 고딕" pitchFamily="34" charset="-122"/>
                <a:cs typeface="맑은 고딕" pitchFamily="34" charset="-120"/>
              </a:rPr>
              <a:t>모드</a:t>
            </a:r>
            <a:r>
              <a:rPr lang="en-US" altLang="ko-KR" sz="898" b="1" dirty="0">
                <a:solidFill>
                  <a:srgbClr val="3B5BA7"/>
                </a:solidFill>
                <a:latin typeface="맑은 고딕" pitchFamily="34" charset="0"/>
                <a:ea typeface="맑은 고딕" pitchFamily="34" charset="-122"/>
                <a:cs typeface="맑은 고딕" pitchFamily="34" charset="-120"/>
              </a:rPr>
              <a:t>2)</a:t>
            </a:r>
            <a:endParaRPr lang="en-US" sz="898" dirty="0"/>
          </a:p>
        </p:txBody>
      </p:sp>
      <p:sp>
        <p:nvSpPr>
          <p:cNvPr id="13" name="Shape 14">
            <a:extLst>
              <a:ext uri="{FF2B5EF4-FFF2-40B4-BE49-F238E27FC236}">
                <a16:creationId xmlns:a16="http://schemas.microsoft.com/office/drawing/2014/main" id="{15042513-34DA-091D-1A6A-6242A34FE4C2}"/>
              </a:ext>
            </a:extLst>
          </p:cNvPr>
          <p:cNvSpPr/>
          <p:nvPr/>
        </p:nvSpPr>
        <p:spPr>
          <a:xfrm>
            <a:off x="598339" y="2051688"/>
            <a:ext cx="69923" cy="172020"/>
          </a:xfrm>
          <a:prstGeom prst="rect">
            <a:avLst/>
          </a:prstGeom>
          <a:solidFill>
            <a:srgbClr val="3B5BA7"/>
          </a:solidFill>
          <a:ln/>
        </p:spPr>
        <p:txBody>
          <a:bodyPr/>
          <a:lstStyle/>
          <a:p>
            <a:endParaRPr lang="ko-KR" altLang="en-US" sz="1634"/>
          </a:p>
        </p:txBody>
      </p:sp>
      <p:sp>
        <p:nvSpPr>
          <p:cNvPr id="15" name="Text 15">
            <a:extLst>
              <a:ext uri="{FF2B5EF4-FFF2-40B4-BE49-F238E27FC236}">
                <a16:creationId xmlns:a16="http://schemas.microsoft.com/office/drawing/2014/main" id="{6DA72206-DE88-E92F-BAF9-1C3E806D375B}"/>
              </a:ext>
            </a:extLst>
          </p:cNvPr>
          <p:cNvSpPr/>
          <p:nvPr/>
        </p:nvSpPr>
        <p:spPr>
          <a:xfrm>
            <a:off x="739081" y="2028231"/>
            <a:ext cx="621545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구동 매커니즘</a:t>
            </a:r>
            <a:endParaRPr lang="en-US" sz="1112" dirty="0"/>
          </a:p>
        </p:txBody>
      </p:sp>
      <p:sp>
        <p:nvSpPr>
          <p:cNvPr id="17" name="Shape 16">
            <a:extLst>
              <a:ext uri="{FF2B5EF4-FFF2-40B4-BE49-F238E27FC236}">
                <a16:creationId xmlns:a16="http://schemas.microsoft.com/office/drawing/2014/main" id="{447C5D89-EC92-D6C3-66D4-A2C012F1EC10}"/>
              </a:ext>
            </a:extLst>
          </p:cNvPr>
          <p:cNvSpPr/>
          <p:nvPr/>
        </p:nvSpPr>
        <p:spPr>
          <a:xfrm>
            <a:off x="598338" y="2325357"/>
            <a:ext cx="8002402" cy="1485628"/>
          </a:xfrm>
          <a:prstGeom prst="roundRect">
            <a:avLst>
              <a:gd name="adj" fmla="val 3684"/>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19" name="Text 17">
            <a:extLst>
              <a:ext uri="{FF2B5EF4-FFF2-40B4-BE49-F238E27FC236}">
                <a16:creationId xmlns:a16="http://schemas.microsoft.com/office/drawing/2014/main" id="{0C07ADFC-1155-B9D9-397A-73E9C66E4593}"/>
              </a:ext>
            </a:extLst>
          </p:cNvPr>
          <p:cNvSpPr/>
          <p:nvPr/>
        </p:nvSpPr>
        <p:spPr>
          <a:xfrm>
            <a:off x="754720" y="2442642"/>
            <a:ext cx="7691629" cy="1329247"/>
          </a:xfrm>
          <a:prstGeom prst="rect">
            <a:avLst/>
          </a:prstGeom>
          <a:noFill/>
          <a:ln/>
        </p:spPr>
        <p:txBody>
          <a:bodyPr wrap="square" rtlCol="0" anchor="t"/>
          <a:lstStyle/>
          <a:p>
            <a:pPr>
              <a:lnSpc>
                <a:spcPct val="125000"/>
              </a:lnSpc>
              <a:spcAft>
                <a:spcPts val="684"/>
              </a:spcAft>
            </a:pPr>
            <a:r>
              <a:rPr lang="en-US" sz="941" dirty="0">
                <a:solidFill>
                  <a:srgbClr val="1E293B"/>
                </a:solidFill>
                <a:latin typeface="맑은 고딕" pitchFamily="34" charset="0"/>
                <a:ea typeface="맑은 고딕" pitchFamily="34" charset="-122"/>
                <a:cs typeface="맑은 고딕" pitchFamily="34" charset="-120"/>
              </a:rPr>
              <a:t>•  </a:t>
            </a:r>
            <a:r>
              <a:rPr lang="en-US" sz="1026" dirty="0">
                <a:solidFill>
                  <a:srgbClr val="1E293B"/>
                </a:solidFill>
                <a:latin typeface="맑은 고딕" pitchFamily="34" charset="0"/>
                <a:ea typeface="맑은 고딕" pitchFamily="34" charset="-122"/>
                <a:cs typeface="맑은 고딕" pitchFamily="34" charset="-120"/>
              </a:rPr>
              <a:t>릴레이 CH2만 ON시켜 악어클립으로 연결된 외부 순수 배터리 셀의 방전 테스트를 즉시 수행 (CH1, CH3는 OFF 유지).</a:t>
            </a:r>
            <a:endParaRPr lang="en-US" sz="1026" dirty="0"/>
          </a:p>
          <a:p>
            <a:pPr>
              <a:lnSpc>
                <a:spcPct val="125000"/>
              </a:lnSpc>
              <a:spcAft>
                <a:spcPts val="684"/>
              </a:spcAft>
            </a:pPr>
            <a:r>
              <a:rPr lang="en-US" sz="1026" dirty="0">
                <a:solidFill>
                  <a:srgbClr val="1E293B"/>
                </a:solidFill>
                <a:latin typeface="맑은 고딕" pitchFamily="34" charset="0"/>
                <a:ea typeface="맑은 고딕" pitchFamily="34" charset="-122"/>
                <a:cs typeface="맑은 고딕" pitchFamily="34" charset="-120"/>
              </a:rPr>
              <a:t>•  CH2 NO가 ATORCH(+)로 직결되어 있어, 별도의 충/방전 전환 없이 연결 즉시 방전 경로가 형성됨.</a:t>
            </a:r>
            <a:endParaRPr lang="en-US" sz="1026" dirty="0"/>
          </a:p>
        </p:txBody>
      </p:sp>
      <p:sp>
        <p:nvSpPr>
          <p:cNvPr id="21" name="Shape 18">
            <a:extLst>
              <a:ext uri="{FF2B5EF4-FFF2-40B4-BE49-F238E27FC236}">
                <a16:creationId xmlns:a16="http://schemas.microsoft.com/office/drawing/2014/main" id="{773A01F1-0AC2-FE96-DCFC-ADC2886E4278}"/>
              </a:ext>
            </a:extLst>
          </p:cNvPr>
          <p:cNvSpPr/>
          <p:nvPr/>
        </p:nvSpPr>
        <p:spPr>
          <a:xfrm>
            <a:off x="598339" y="4006463"/>
            <a:ext cx="69923" cy="172020"/>
          </a:xfrm>
          <a:prstGeom prst="rect">
            <a:avLst/>
          </a:prstGeom>
          <a:solidFill>
            <a:srgbClr val="3B5BA7"/>
          </a:solidFill>
          <a:ln/>
        </p:spPr>
        <p:txBody>
          <a:bodyPr/>
          <a:lstStyle/>
          <a:p>
            <a:endParaRPr lang="ko-KR" altLang="en-US" sz="1634"/>
          </a:p>
        </p:txBody>
      </p:sp>
      <p:sp>
        <p:nvSpPr>
          <p:cNvPr id="23" name="Text 19">
            <a:extLst>
              <a:ext uri="{FF2B5EF4-FFF2-40B4-BE49-F238E27FC236}">
                <a16:creationId xmlns:a16="http://schemas.microsoft.com/office/drawing/2014/main" id="{318A8389-4497-E4A1-C174-63EF94724ADF}"/>
              </a:ext>
            </a:extLst>
          </p:cNvPr>
          <p:cNvSpPr/>
          <p:nvPr/>
        </p:nvSpPr>
        <p:spPr>
          <a:xfrm>
            <a:off x="739081" y="3983006"/>
            <a:ext cx="621545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핵심 특징</a:t>
            </a:r>
            <a:endParaRPr lang="en-US" sz="1112" dirty="0"/>
          </a:p>
        </p:txBody>
      </p:sp>
      <p:sp>
        <p:nvSpPr>
          <p:cNvPr id="25" name="Shape 20">
            <a:extLst>
              <a:ext uri="{FF2B5EF4-FFF2-40B4-BE49-F238E27FC236}">
                <a16:creationId xmlns:a16="http://schemas.microsoft.com/office/drawing/2014/main" id="{9061D0A0-01EA-0A1D-B89F-98CAAA957D5E}"/>
              </a:ext>
            </a:extLst>
          </p:cNvPr>
          <p:cNvSpPr/>
          <p:nvPr/>
        </p:nvSpPr>
        <p:spPr>
          <a:xfrm>
            <a:off x="598338" y="4280130"/>
            <a:ext cx="8002402" cy="2267538"/>
          </a:xfrm>
          <a:prstGeom prst="roundRect">
            <a:avLst>
              <a:gd name="adj" fmla="val 2414"/>
            </a:avLst>
          </a:prstGeom>
          <a:solidFill>
            <a:srgbClr val="E8F1FF"/>
          </a:solidFill>
          <a:ln/>
          <a:effectLst>
            <a:outerShdw blurRad="63500" dist="25400" dir="2700000" algn="bl" rotWithShape="0">
              <a:srgbClr val="000000">
                <a:alpha val="10000"/>
              </a:srgbClr>
            </a:outerShdw>
          </a:effectLst>
        </p:spPr>
        <p:txBody>
          <a:bodyPr/>
          <a:lstStyle/>
          <a:p>
            <a:endParaRPr lang="ko-KR" altLang="en-US" sz="1634"/>
          </a:p>
        </p:txBody>
      </p:sp>
      <p:sp>
        <p:nvSpPr>
          <p:cNvPr id="27" name="Text 21">
            <a:extLst>
              <a:ext uri="{FF2B5EF4-FFF2-40B4-BE49-F238E27FC236}">
                <a16:creationId xmlns:a16="http://schemas.microsoft.com/office/drawing/2014/main" id="{523AD263-C8B9-7F4F-33E9-32964A04899F}"/>
              </a:ext>
            </a:extLst>
          </p:cNvPr>
          <p:cNvSpPr/>
          <p:nvPr/>
        </p:nvSpPr>
        <p:spPr>
          <a:xfrm>
            <a:off x="754720" y="4397417"/>
            <a:ext cx="7691629" cy="2111157"/>
          </a:xfrm>
          <a:prstGeom prst="rect">
            <a:avLst/>
          </a:prstGeom>
          <a:noFill/>
          <a:ln/>
        </p:spPr>
        <p:txBody>
          <a:bodyPr wrap="square" rtlCol="0" anchor="t"/>
          <a:lstStyle/>
          <a:p>
            <a:pPr>
              <a:lnSpc>
                <a:spcPct val="125000"/>
              </a:lnSpc>
              <a:spcAft>
                <a:spcPts val="855"/>
              </a:spcAft>
            </a:pPr>
            <a:r>
              <a:rPr lang="en-US" sz="941" dirty="0">
                <a:solidFill>
                  <a:srgbClr val="1E293B"/>
                </a:solidFill>
                <a:latin typeface="맑은 고딕" pitchFamily="34" charset="0"/>
                <a:ea typeface="맑은 고딕" pitchFamily="34" charset="-122"/>
                <a:cs typeface="맑은 고딕" pitchFamily="34" charset="-120"/>
              </a:rPr>
              <a:t>•  </a:t>
            </a:r>
            <a:r>
              <a:rPr lang="en-US" sz="1026" dirty="0">
                <a:solidFill>
                  <a:srgbClr val="1E293B"/>
                </a:solidFill>
                <a:latin typeface="맑은 고딕" pitchFamily="34" charset="0"/>
                <a:ea typeface="맑은 고딕" pitchFamily="34" charset="-122"/>
                <a:cs typeface="맑은 고딕" pitchFamily="34" charset="-120"/>
              </a:rPr>
              <a:t>모드1과 동일한 계측 원리(BQ27441)를 쓰되, 물리적으로 독립된 BQ27441 #2를 사용해 배터리 직결에 의한 쇼트 및 주소 충돌을 방지.</a:t>
            </a:r>
            <a:endParaRPr lang="en-US" sz="1026" dirty="0"/>
          </a:p>
          <a:p>
            <a:pPr>
              <a:lnSpc>
                <a:spcPct val="125000"/>
              </a:lnSpc>
              <a:spcAft>
                <a:spcPts val="855"/>
              </a:spcAft>
            </a:pPr>
            <a:r>
              <a:rPr lang="en-US" sz="1026" dirty="0">
                <a:solidFill>
                  <a:srgbClr val="1E293B"/>
                </a:solidFill>
                <a:latin typeface="맑은 고딕" pitchFamily="34" charset="0"/>
                <a:ea typeface="맑은 고딕" pitchFamily="34" charset="-122"/>
                <a:cs typeface="맑은 고딕" pitchFamily="34" charset="-120"/>
              </a:rPr>
              <a:t>•  새 배터리가 연결될 때마다 I2C 통신으로 대상 배터리 특성에 맞춰 퓨얼게이지를 동적으로 재초기화해 오차를 최소화.</a:t>
            </a:r>
            <a:endParaRPr lang="en-US" sz="1026" dirty="0"/>
          </a:p>
          <a:p>
            <a:pPr>
              <a:lnSpc>
                <a:spcPct val="125000"/>
              </a:lnSpc>
              <a:spcAft>
                <a:spcPts val="855"/>
              </a:spcAft>
            </a:pPr>
            <a:r>
              <a:rPr lang="en-US" sz="1026" dirty="0">
                <a:solidFill>
                  <a:srgbClr val="1E293B"/>
                </a:solidFill>
                <a:latin typeface="맑은 고딕" pitchFamily="34" charset="0"/>
                <a:ea typeface="맑은 고딕" pitchFamily="34" charset="-122"/>
                <a:cs typeface="맑은 고딕" pitchFamily="34" charset="-120"/>
              </a:rPr>
              <a:t>•  </a:t>
            </a:r>
            <a:r>
              <a:rPr lang="en-US" sz="1026" dirty="0" err="1">
                <a:solidFill>
                  <a:srgbClr val="1E293B"/>
                </a:solidFill>
                <a:latin typeface="맑은 고딕" pitchFamily="34" charset="0"/>
                <a:ea typeface="맑은 고딕" pitchFamily="34" charset="-122"/>
                <a:cs typeface="맑은 고딕" pitchFamily="34" charset="-120"/>
              </a:rPr>
              <a:t>커넥터</a:t>
            </a:r>
            <a:r>
              <a:rPr lang="en-US" sz="1026" dirty="0">
                <a:solidFill>
                  <a:srgbClr val="1E293B"/>
                </a:solidFill>
                <a:latin typeface="맑은 고딕" pitchFamily="34" charset="0"/>
                <a:ea typeface="맑은 고딕" pitchFamily="34" charset="-122"/>
                <a:cs typeface="맑은 고딕" pitchFamily="34" charset="-120"/>
              </a:rPr>
              <a:t> </a:t>
            </a:r>
            <a:r>
              <a:rPr lang="en-US" sz="1026" dirty="0" err="1">
                <a:solidFill>
                  <a:srgbClr val="1E293B"/>
                </a:solidFill>
                <a:latin typeface="맑은 고딕" pitchFamily="34" charset="0"/>
                <a:ea typeface="맑은 고딕" pitchFamily="34" charset="-122"/>
                <a:cs typeface="맑은 고딕" pitchFamily="34" charset="-120"/>
              </a:rPr>
              <a:t>연결</a:t>
            </a:r>
            <a:r>
              <a:rPr lang="ko-KR" altLang="en-US" sz="1026" dirty="0">
                <a:solidFill>
                  <a:srgbClr val="1E293B"/>
                </a:solidFill>
                <a:latin typeface="맑은 고딕" pitchFamily="34" charset="0"/>
                <a:ea typeface="맑은 고딕" pitchFamily="34" charset="-122"/>
                <a:cs typeface="맑은 고딕" pitchFamily="34" charset="-120"/>
              </a:rPr>
              <a:t>을 통한 방전 모드로 데이터 수집</a:t>
            </a:r>
            <a:endParaRPr lang="en-US" sz="1026" dirty="0"/>
          </a:p>
        </p:txBody>
      </p:sp>
      <p:sp>
        <p:nvSpPr>
          <p:cNvPr id="29" name="Text 22">
            <a:extLst>
              <a:ext uri="{FF2B5EF4-FFF2-40B4-BE49-F238E27FC236}">
                <a16:creationId xmlns:a16="http://schemas.microsoft.com/office/drawing/2014/main" id="{EC0A3310-81F7-B216-470D-37DF6C4FA581}"/>
              </a:ext>
            </a:extLst>
          </p:cNvPr>
          <p:cNvSpPr/>
          <p:nvPr/>
        </p:nvSpPr>
        <p:spPr>
          <a:xfrm>
            <a:off x="598338" y="6469478"/>
            <a:ext cx="7380856" cy="218934"/>
          </a:xfrm>
          <a:prstGeom prst="rect">
            <a:avLst/>
          </a:prstGeom>
          <a:noFill/>
          <a:ln/>
        </p:spPr>
        <p:txBody>
          <a:bodyPr wrap="square" rtlCol="0" anchor="ctr"/>
          <a:lstStyle/>
          <a:p>
            <a:endParaRPr lang="en-US" sz="684" dirty="0"/>
          </a:p>
        </p:txBody>
      </p:sp>
    </p:spTree>
    <p:extLst>
      <p:ext uri="{BB962C8B-B14F-4D97-AF65-F5344CB8AC3E}">
        <p14:creationId xmlns:p14="http://schemas.microsoft.com/office/powerpoint/2010/main" val="21274049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316A2-053F-B4ED-45CA-37A0C468150C}"/>
            </a:ext>
          </a:extLst>
        </p:cNvPr>
        <p:cNvGrpSpPr/>
        <p:nvPr/>
      </p:nvGrpSpPr>
      <p:grpSpPr>
        <a:xfrm>
          <a:off x="0" y="0"/>
          <a:ext cx="0" cy="0"/>
          <a:chOff x="0" y="0"/>
          <a:chExt cx="0" cy="0"/>
        </a:xfrm>
      </p:grpSpPr>
      <p:sp>
        <p:nvSpPr>
          <p:cNvPr id="24" name="직사각형 24"/>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5" name="직선 연결선 25"/>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 name="직선 연결선 26"/>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7" name="제목 27"/>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핵심 5 state</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28" name="막힌 원호 28"/>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A8B1472D-299C-BE34-AD72-501DC207D782}"/>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3669B91F-E6FD-1590-279D-B727BB61D96F}"/>
              </a:ext>
            </a:extLst>
          </p:cNvPr>
          <p:cNvPicPr/>
          <p:nvPr/>
        </p:nvPicPr>
        <p:blipFill>
          <a:blip r:embed="rId4" cstate="print"/>
          <a:stretch>
            <a:fillRect/>
          </a:stretch>
        </p:blipFill>
        <p:spPr>
          <a:xfrm>
            <a:off x="7275128" y="314247"/>
            <a:ext cx="1325611" cy="307338"/>
          </a:xfrm>
          <a:prstGeom prst="rect">
            <a:avLst/>
          </a:prstGeom>
        </p:spPr>
      </p:pic>
      <p:sp>
        <p:nvSpPr>
          <p:cNvPr id="9" name="Shape 12">
            <a:extLst>
              <a:ext uri="{FF2B5EF4-FFF2-40B4-BE49-F238E27FC236}">
                <a16:creationId xmlns:a16="http://schemas.microsoft.com/office/drawing/2014/main" id="{50F665C4-E04A-05AF-FCF3-F1A2A7658A58}"/>
              </a:ext>
            </a:extLst>
          </p:cNvPr>
          <p:cNvSpPr/>
          <p:nvPr/>
        </p:nvSpPr>
        <p:spPr>
          <a:xfrm>
            <a:off x="598340" y="1628004"/>
            <a:ext cx="69923" cy="172020"/>
          </a:xfrm>
          <a:prstGeom prst="rect">
            <a:avLst/>
          </a:prstGeom>
          <a:solidFill>
            <a:srgbClr val="3B5BA7"/>
          </a:solidFill>
          <a:ln/>
        </p:spPr>
        <p:txBody>
          <a:bodyPr/>
          <a:lstStyle/>
          <a:p>
            <a:endParaRPr lang="ko-KR" altLang="en-US" sz="1634"/>
          </a:p>
        </p:txBody>
      </p:sp>
      <p:sp>
        <p:nvSpPr>
          <p:cNvPr id="11" name="Text 13">
            <a:extLst>
              <a:ext uri="{FF2B5EF4-FFF2-40B4-BE49-F238E27FC236}">
                <a16:creationId xmlns:a16="http://schemas.microsoft.com/office/drawing/2014/main" id="{8D97AAC7-0C57-EB01-4DC6-9648BBF4DDEC}"/>
              </a:ext>
            </a:extLst>
          </p:cNvPr>
          <p:cNvSpPr/>
          <p:nvPr/>
        </p:nvSpPr>
        <p:spPr>
          <a:xfrm>
            <a:off x="739081" y="1604544"/>
            <a:ext cx="621545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핵심 진단 특징</a:t>
            </a:r>
            <a:endParaRPr lang="en-US" sz="1112" dirty="0"/>
          </a:p>
        </p:txBody>
      </p:sp>
      <p:sp>
        <p:nvSpPr>
          <p:cNvPr id="13" name="Shape 14">
            <a:extLst>
              <a:ext uri="{FF2B5EF4-FFF2-40B4-BE49-F238E27FC236}">
                <a16:creationId xmlns:a16="http://schemas.microsoft.com/office/drawing/2014/main" id="{D3AB53D8-B93B-7439-BC4D-06C6934BA0B7}"/>
              </a:ext>
            </a:extLst>
          </p:cNvPr>
          <p:cNvSpPr/>
          <p:nvPr/>
        </p:nvSpPr>
        <p:spPr>
          <a:xfrm>
            <a:off x="598338" y="1901670"/>
            <a:ext cx="8002402" cy="2032965"/>
          </a:xfrm>
          <a:prstGeom prst="roundRect">
            <a:avLst>
              <a:gd name="adj" fmla="val 2692"/>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15" name="Text 15">
            <a:extLst>
              <a:ext uri="{FF2B5EF4-FFF2-40B4-BE49-F238E27FC236}">
                <a16:creationId xmlns:a16="http://schemas.microsoft.com/office/drawing/2014/main" id="{1AB9E078-1F01-47C7-369E-1269F9BAA590}"/>
              </a:ext>
            </a:extLst>
          </p:cNvPr>
          <p:cNvSpPr/>
          <p:nvPr/>
        </p:nvSpPr>
        <p:spPr>
          <a:xfrm>
            <a:off x="754720" y="2018957"/>
            <a:ext cx="7691629" cy="1876583"/>
          </a:xfrm>
          <a:prstGeom prst="rect">
            <a:avLst/>
          </a:prstGeom>
          <a:noFill/>
          <a:ln/>
        </p:spPr>
        <p:txBody>
          <a:bodyPr wrap="square" rtlCol="0" anchor="t"/>
          <a:lstStyle/>
          <a:p>
            <a:pPr>
              <a:lnSpc>
                <a:spcPct val="125000"/>
              </a:lnSpc>
              <a:spcAft>
                <a:spcPts val="513"/>
              </a:spcAft>
            </a:pPr>
            <a:r>
              <a:rPr lang="en-US" sz="941" b="1" dirty="0">
                <a:solidFill>
                  <a:srgbClr val="3B5BA7"/>
                </a:solidFill>
                <a:latin typeface="맑은 고딕" pitchFamily="34" charset="0"/>
                <a:ea typeface="맑은 고딕" pitchFamily="34" charset="-122"/>
                <a:cs typeface="맑은 고딕" pitchFamily="34" charset="-120"/>
              </a:rPr>
              <a:t>•  쇼트 방지 </a:t>
            </a:r>
            <a:r>
              <a:rPr lang="en-US" sz="941" b="1" dirty="0" err="1">
                <a:solidFill>
                  <a:srgbClr val="3B5BA7"/>
                </a:solidFill>
                <a:latin typeface="맑은 고딕" pitchFamily="34" charset="0"/>
                <a:ea typeface="맑은 고딕" pitchFamily="34" charset="-122"/>
                <a:cs typeface="맑은 고딕" pitchFamily="34" charset="-120"/>
              </a:rPr>
              <a:t>인터락</a:t>
            </a:r>
            <a:r>
              <a:rPr lang="en-US" sz="941" b="1" dirty="0">
                <a:solidFill>
                  <a:srgbClr val="3B5BA7"/>
                </a:solidFill>
                <a:latin typeface="맑은 고딕" pitchFamily="34" charset="0"/>
                <a:ea typeface="맑은 고딕" pitchFamily="34" charset="-122"/>
                <a:cs typeface="맑은 고딕" pitchFamily="34" charset="-120"/>
              </a:rPr>
              <a:t>  </a:t>
            </a:r>
            <a:endParaRPr lang="en-US" sz="941" dirty="0"/>
          </a:p>
          <a:p>
            <a:pPr>
              <a:lnSpc>
                <a:spcPct val="125000"/>
              </a:lnSpc>
              <a:spcAft>
                <a:spcPts val="513"/>
              </a:spcAft>
            </a:pPr>
            <a:r>
              <a:rPr lang="en-US" sz="941" dirty="0">
                <a:solidFill>
                  <a:srgbClr val="1E293B"/>
                </a:solidFill>
                <a:latin typeface="맑은 고딕" pitchFamily="34" charset="0"/>
                <a:ea typeface="맑은 고딕" pitchFamily="34" charset="-122"/>
                <a:cs typeface="맑은 고딕" pitchFamily="34" charset="-120"/>
              </a:rPr>
              <a:t>•  배터리 직결에 의한 쇼트 및 전력 충돌을 원천 차단하기 위해 CH1 · CH3와의 상호배제(인터락) 로직을 철저히 유지한다.</a:t>
            </a:r>
            <a:endParaRPr lang="en-US" sz="941" dirty="0"/>
          </a:p>
          <a:p>
            <a:pPr>
              <a:lnSpc>
                <a:spcPct val="125000"/>
              </a:lnSpc>
              <a:spcAft>
                <a:spcPts val="513"/>
              </a:spcAft>
            </a:pPr>
            <a:r>
              <a:rPr lang="en-US" sz="941" b="1" dirty="0">
                <a:solidFill>
                  <a:srgbClr val="3B5BA7"/>
                </a:solidFill>
                <a:latin typeface="맑은 고딕" pitchFamily="34" charset="0"/>
                <a:ea typeface="맑은 고딕" pitchFamily="34" charset="-122"/>
                <a:cs typeface="맑은 고딕" pitchFamily="34" charset="-120"/>
              </a:rPr>
              <a:t>•  배터리 맞춤형 동적 </a:t>
            </a:r>
            <a:r>
              <a:rPr lang="en-US" sz="941" b="1" dirty="0" err="1">
                <a:solidFill>
                  <a:srgbClr val="3B5BA7"/>
                </a:solidFill>
                <a:latin typeface="맑은 고딕" pitchFamily="34" charset="0"/>
                <a:ea typeface="맑은 고딕" pitchFamily="34" charset="-122"/>
                <a:cs typeface="맑은 고딕" pitchFamily="34" charset="-120"/>
              </a:rPr>
              <a:t>초기화</a:t>
            </a:r>
            <a:r>
              <a:rPr lang="en-US" sz="941" b="1" dirty="0">
                <a:solidFill>
                  <a:srgbClr val="3B5BA7"/>
                </a:solidFill>
                <a:latin typeface="맑은 고딕" pitchFamily="34" charset="0"/>
                <a:ea typeface="맑은 고딕" pitchFamily="34" charset="-122"/>
                <a:cs typeface="맑은 고딕" pitchFamily="34" charset="-120"/>
              </a:rPr>
              <a:t>  </a:t>
            </a:r>
            <a:endParaRPr lang="en-US" sz="941" dirty="0"/>
          </a:p>
          <a:p>
            <a:pPr>
              <a:lnSpc>
                <a:spcPct val="125000"/>
              </a:lnSpc>
              <a:spcAft>
                <a:spcPts val="513"/>
              </a:spcAft>
            </a:pPr>
            <a:r>
              <a:rPr lang="en-US" sz="941" dirty="0">
                <a:solidFill>
                  <a:srgbClr val="1E293B"/>
                </a:solidFill>
                <a:latin typeface="맑은 고딕" pitchFamily="34" charset="0"/>
                <a:ea typeface="맑은 고딕" pitchFamily="34" charset="-122"/>
                <a:cs typeface="맑은 고딕" pitchFamily="34" charset="-120"/>
              </a:rPr>
              <a:t>•  새 배터리가 연결될 때마다 I2C 통신을 통해 해당 배터리의 설계 용량 프로파일을 동적으로 초기화해 오차를 최소화한다.</a:t>
            </a:r>
            <a:endParaRPr lang="en-US" sz="941" dirty="0"/>
          </a:p>
          <a:p>
            <a:pPr>
              <a:lnSpc>
                <a:spcPct val="125000"/>
              </a:lnSpc>
              <a:spcAft>
                <a:spcPts val="513"/>
              </a:spcAft>
            </a:pPr>
            <a:r>
              <a:rPr lang="en-US" sz="941" b="1" dirty="0">
                <a:solidFill>
                  <a:srgbClr val="3B5BA7"/>
                </a:solidFill>
                <a:latin typeface="맑은 고딕" pitchFamily="34" charset="0"/>
                <a:ea typeface="맑은 고딕" pitchFamily="34" charset="-122"/>
                <a:cs typeface="맑은 고딕" pitchFamily="34" charset="-120"/>
              </a:rPr>
              <a:t>•  독립 계측 </a:t>
            </a:r>
            <a:r>
              <a:rPr lang="en-US" sz="941" b="1" dirty="0" err="1">
                <a:solidFill>
                  <a:srgbClr val="3B5BA7"/>
                </a:solidFill>
                <a:latin typeface="맑은 고딕" pitchFamily="34" charset="0"/>
                <a:ea typeface="맑은 고딕" pitchFamily="34" charset="-122"/>
                <a:cs typeface="맑은 고딕" pitchFamily="34" charset="-120"/>
              </a:rPr>
              <a:t>소자</a:t>
            </a:r>
            <a:r>
              <a:rPr lang="en-US" sz="941" b="1" dirty="0">
                <a:solidFill>
                  <a:srgbClr val="3B5BA7"/>
                </a:solidFill>
                <a:latin typeface="맑은 고딕" pitchFamily="34" charset="0"/>
                <a:ea typeface="맑은 고딕" pitchFamily="34" charset="-122"/>
                <a:cs typeface="맑은 고딕" pitchFamily="34" charset="-120"/>
              </a:rPr>
              <a:t>  </a:t>
            </a:r>
            <a:endParaRPr lang="en-US" sz="941" dirty="0"/>
          </a:p>
          <a:p>
            <a:pPr>
              <a:lnSpc>
                <a:spcPct val="125000"/>
              </a:lnSpc>
              <a:spcAft>
                <a:spcPts val="513"/>
              </a:spcAft>
            </a:pPr>
            <a:r>
              <a:rPr lang="en-US" sz="941" dirty="0">
                <a:solidFill>
                  <a:srgbClr val="1E293B"/>
                </a:solidFill>
                <a:latin typeface="맑은 고딕" pitchFamily="34" charset="0"/>
                <a:ea typeface="맑은 고딕" pitchFamily="34" charset="-122"/>
                <a:cs typeface="맑은 고딕" pitchFamily="34" charset="-120"/>
              </a:rPr>
              <a:t>•  모드1과 계측 원리는 같지만 물리적으로 별도인 BQ27441 #2를 사용해 두 모드가 계측 자원을 놓고 경합하지 않는다.</a:t>
            </a:r>
            <a:endParaRPr lang="en-US" sz="941" dirty="0"/>
          </a:p>
        </p:txBody>
      </p:sp>
      <p:sp>
        <p:nvSpPr>
          <p:cNvPr id="17" name="Shape 16">
            <a:extLst>
              <a:ext uri="{FF2B5EF4-FFF2-40B4-BE49-F238E27FC236}">
                <a16:creationId xmlns:a16="http://schemas.microsoft.com/office/drawing/2014/main" id="{B82C3BA0-13DB-0BA0-1D9A-73C39C9BF7CD}"/>
              </a:ext>
            </a:extLst>
          </p:cNvPr>
          <p:cNvSpPr/>
          <p:nvPr/>
        </p:nvSpPr>
        <p:spPr>
          <a:xfrm>
            <a:off x="598340" y="4091020"/>
            <a:ext cx="69923" cy="172020"/>
          </a:xfrm>
          <a:prstGeom prst="rect">
            <a:avLst/>
          </a:prstGeom>
          <a:solidFill>
            <a:srgbClr val="3B5BA7"/>
          </a:solidFill>
          <a:ln/>
        </p:spPr>
        <p:txBody>
          <a:bodyPr/>
          <a:lstStyle/>
          <a:p>
            <a:endParaRPr lang="ko-KR" altLang="en-US" sz="1634"/>
          </a:p>
        </p:txBody>
      </p:sp>
      <p:sp>
        <p:nvSpPr>
          <p:cNvPr id="19" name="Text 17">
            <a:extLst>
              <a:ext uri="{FF2B5EF4-FFF2-40B4-BE49-F238E27FC236}">
                <a16:creationId xmlns:a16="http://schemas.microsoft.com/office/drawing/2014/main" id="{89FE6778-2603-8148-FAD6-F5AE359C94AF}"/>
              </a:ext>
            </a:extLst>
          </p:cNvPr>
          <p:cNvSpPr/>
          <p:nvPr/>
        </p:nvSpPr>
        <p:spPr>
          <a:xfrm>
            <a:off x="739081" y="4067560"/>
            <a:ext cx="621545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대시보드 실시간 피드백 예시</a:t>
            </a:r>
            <a:endParaRPr lang="en-US" sz="1112" dirty="0"/>
          </a:p>
        </p:txBody>
      </p:sp>
      <p:sp>
        <p:nvSpPr>
          <p:cNvPr id="21" name="Shape 18">
            <a:extLst>
              <a:ext uri="{FF2B5EF4-FFF2-40B4-BE49-F238E27FC236}">
                <a16:creationId xmlns:a16="http://schemas.microsoft.com/office/drawing/2014/main" id="{E56E38AA-DB8F-FEED-1D96-8C376D6000A8}"/>
              </a:ext>
            </a:extLst>
          </p:cNvPr>
          <p:cNvSpPr/>
          <p:nvPr/>
        </p:nvSpPr>
        <p:spPr>
          <a:xfrm>
            <a:off x="598338" y="4364688"/>
            <a:ext cx="8002402" cy="1876583"/>
          </a:xfrm>
          <a:prstGeom prst="roundRect">
            <a:avLst>
              <a:gd name="adj" fmla="val 2917"/>
            </a:avLst>
          </a:prstGeom>
          <a:solidFill>
            <a:srgbClr val="E8F1FF"/>
          </a:solidFill>
          <a:ln/>
          <a:effectLst>
            <a:outerShdw blurRad="63500" dist="25400" dir="2700000" algn="bl" rotWithShape="0">
              <a:srgbClr val="000000">
                <a:alpha val="10000"/>
              </a:srgbClr>
            </a:outerShdw>
          </a:effectLst>
        </p:spPr>
        <p:txBody>
          <a:bodyPr/>
          <a:lstStyle/>
          <a:p>
            <a:endParaRPr lang="ko-KR" altLang="en-US" sz="1634"/>
          </a:p>
        </p:txBody>
      </p:sp>
      <p:sp>
        <p:nvSpPr>
          <p:cNvPr id="23" name="Text 19">
            <a:extLst>
              <a:ext uri="{FF2B5EF4-FFF2-40B4-BE49-F238E27FC236}">
                <a16:creationId xmlns:a16="http://schemas.microsoft.com/office/drawing/2014/main" id="{14CCCE50-2FBD-FD05-FAB6-A114BF85389F}"/>
              </a:ext>
            </a:extLst>
          </p:cNvPr>
          <p:cNvSpPr/>
          <p:nvPr/>
        </p:nvSpPr>
        <p:spPr>
          <a:xfrm>
            <a:off x="754720" y="4481974"/>
            <a:ext cx="7691629" cy="1720202"/>
          </a:xfrm>
          <a:prstGeom prst="rect">
            <a:avLst/>
          </a:prstGeom>
          <a:noFill/>
          <a:ln/>
        </p:spPr>
        <p:txBody>
          <a:bodyPr wrap="square" rtlCol="0" anchor="t"/>
          <a:lstStyle/>
          <a:p>
            <a:pPr>
              <a:lnSpc>
                <a:spcPct val="125000"/>
              </a:lnSpc>
              <a:spcAft>
                <a:spcPts val="513"/>
              </a:spcAft>
            </a:pPr>
            <a:r>
              <a:rPr lang="en-US" sz="898" b="1" dirty="0">
                <a:solidFill>
                  <a:srgbClr val="3B5BA7"/>
                </a:solidFill>
                <a:latin typeface="맑은 고딕" pitchFamily="34" charset="0"/>
                <a:ea typeface="맑은 고딕" pitchFamily="34" charset="-122"/>
                <a:cs typeface="맑은 고딕" pitchFamily="34" charset="-120"/>
              </a:rPr>
              <a:t>•  정상 구동 시 (초록불):  </a:t>
            </a:r>
            <a:endParaRPr lang="en-US" sz="898" dirty="0"/>
          </a:p>
          <a:p>
            <a:pPr>
              <a:lnSpc>
                <a:spcPct val="125000"/>
              </a:lnSpc>
              <a:spcAft>
                <a:spcPts val="513"/>
              </a:spcAft>
            </a:pPr>
            <a:r>
              <a:rPr lang="en-US" sz="898" dirty="0">
                <a:solidFill>
                  <a:srgbClr val="1E293B"/>
                </a:solidFill>
                <a:latin typeface="맑은 고딕" pitchFamily="34" charset="0"/>
                <a:ea typeface="맑은 고딕" pitchFamily="34" charset="-122"/>
                <a:cs typeface="맑은 고딕" pitchFamily="34" charset="-120"/>
              </a:rPr>
              <a:t>•  "외부 배터리 진단 중 (SOC: XX%, 전압: X.XV). 방전 곡선이 정상 범주에 있습니다."</a:t>
            </a:r>
            <a:endParaRPr lang="en-US" sz="898" dirty="0"/>
          </a:p>
          <a:p>
            <a:pPr>
              <a:lnSpc>
                <a:spcPct val="125000"/>
              </a:lnSpc>
              <a:spcAft>
                <a:spcPts val="513"/>
              </a:spcAft>
            </a:pPr>
            <a:r>
              <a:rPr lang="en-US" sz="898" b="1" dirty="0">
                <a:solidFill>
                  <a:srgbClr val="C0392B"/>
                </a:solidFill>
                <a:latin typeface="맑은 고딕" pitchFamily="34" charset="0"/>
                <a:ea typeface="맑은 고딕" pitchFamily="34" charset="-122"/>
                <a:cs typeface="맑은 고딕" pitchFamily="34" charset="-120"/>
              </a:rPr>
              <a:t>•  이상 징후 발생 시 (빨간불):  </a:t>
            </a:r>
            <a:endParaRPr lang="en-US" sz="898" dirty="0"/>
          </a:p>
          <a:p>
            <a:pPr>
              <a:lnSpc>
                <a:spcPct val="125000"/>
              </a:lnSpc>
              <a:spcAft>
                <a:spcPts val="513"/>
              </a:spcAft>
            </a:pPr>
            <a:r>
              <a:rPr lang="en-US" sz="898" dirty="0">
                <a:solidFill>
                  <a:srgbClr val="1E293B"/>
                </a:solidFill>
                <a:latin typeface="맑은 고딕" pitchFamily="34" charset="0"/>
                <a:ea typeface="맑은 고딕" pitchFamily="34" charset="-122"/>
                <a:cs typeface="맑은 고딕" pitchFamily="34" charset="-120"/>
              </a:rPr>
              <a:t>•  "위험 감지! 시스템 보호를 위해 릴레이 CH2를 즉시 </a:t>
            </a:r>
            <a:r>
              <a:rPr lang="en-US" sz="898" dirty="0" err="1">
                <a:solidFill>
                  <a:srgbClr val="1E293B"/>
                </a:solidFill>
                <a:latin typeface="맑은 고딕" pitchFamily="34" charset="0"/>
                <a:ea typeface="맑은 고딕" pitchFamily="34" charset="-122"/>
                <a:cs typeface="맑은 고딕" pitchFamily="34" charset="-120"/>
              </a:rPr>
              <a:t>차단합니다</a:t>
            </a:r>
            <a:r>
              <a:rPr lang="en-US" sz="898" dirty="0">
                <a:solidFill>
                  <a:srgbClr val="1E293B"/>
                </a:solidFill>
                <a:latin typeface="맑은 고딕" pitchFamily="34" charset="0"/>
                <a:ea typeface="맑은 고딕" pitchFamily="34" charset="-122"/>
                <a:cs typeface="맑은 고딕" pitchFamily="34" charset="-120"/>
              </a:rPr>
              <a:t>."</a:t>
            </a:r>
            <a:endParaRPr lang="en-US" sz="898" dirty="0"/>
          </a:p>
          <a:p>
            <a:pPr>
              <a:lnSpc>
                <a:spcPct val="125000"/>
              </a:lnSpc>
              <a:spcAft>
                <a:spcPts val="513"/>
              </a:spcAft>
            </a:pPr>
            <a:r>
              <a:rPr lang="en-US" sz="898" dirty="0">
                <a:solidFill>
                  <a:srgbClr val="1E293B"/>
                </a:solidFill>
                <a:latin typeface="맑은 고딕" pitchFamily="34" charset="0"/>
                <a:ea typeface="맑은 고딕" pitchFamily="34" charset="-122"/>
                <a:cs typeface="맑은 고딕" pitchFamily="34" charset="-120"/>
              </a:rPr>
              <a:t>•  모드1과 동일한 방식으로 웹 대시보드에 절대 물리 수치와 방전 곡선이 실시간 표출되며, 백엔드 AI가 과전류 한계선을 상시 감시한다.</a:t>
            </a:r>
            <a:endParaRPr lang="en-US" sz="898" dirty="0"/>
          </a:p>
        </p:txBody>
      </p:sp>
    </p:spTree>
    <p:extLst>
      <p:ext uri="{BB962C8B-B14F-4D97-AF65-F5344CB8AC3E}">
        <p14:creationId xmlns:p14="http://schemas.microsoft.com/office/powerpoint/2010/main" val="36201865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AF282-8988-54CF-84E6-097149B6EA5A}"/>
            </a:ext>
          </a:extLst>
        </p:cNvPr>
        <p:cNvGrpSpPr/>
        <p:nvPr/>
      </p:nvGrpSpPr>
      <p:grpSpPr>
        <a:xfrm>
          <a:off x="0" y="0"/>
          <a:ext cx="0" cy="0"/>
          <a:chOff x="0" y="0"/>
          <a:chExt cx="0" cy="0"/>
        </a:xfrm>
      </p:grpSpPr>
      <p:sp>
        <p:nvSpPr>
          <p:cNvPr id="24" name="직사각형 24"/>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5" name="직선 연결선 25"/>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 name="직선 연결선 26"/>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7" name="제목 27"/>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핵심 5 state</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28" name="막힌 원호 28"/>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A23A356F-273E-11B9-67B0-0DC4F6869E54}"/>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3B9FE6FC-235C-0DB6-B49B-42F4469563D4}"/>
              </a:ext>
            </a:extLst>
          </p:cNvPr>
          <p:cNvPicPr/>
          <p:nvPr/>
        </p:nvPicPr>
        <p:blipFill>
          <a:blip r:embed="rId4" cstate="print"/>
          <a:stretch>
            <a:fillRect/>
          </a:stretch>
        </p:blipFill>
        <p:spPr>
          <a:xfrm>
            <a:off x="7275128" y="314247"/>
            <a:ext cx="1325611" cy="307338"/>
          </a:xfrm>
          <a:prstGeom prst="rect">
            <a:avLst/>
          </a:prstGeom>
        </p:spPr>
      </p:pic>
      <p:sp>
        <p:nvSpPr>
          <p:cNvPr id="9" name="Shape 12">
            <a:extLst>
              <a:ext uri="{FF2B5EF4-FFF2-40B4-BE49-F238E27FC236}">
                <a16:creationId xmlns:a16="http://schemas.microsoft.com/office/drawing/2014/main" id="{556FDD7F-17E0-C3E5-50DE-D2C3B27603D9}"/>
              </a:ext>
            </a:extLst>
          </p:cNvPr>
          <p:cNvSpPr/>
          <p:nvPr/>
        </p:nvSpPr>
        <p:spPr>
          <a:xfrm>
            <a:off x="597294" y="1676256"/>
            <a:ext cx="3263541" cy="312764"/>
          </a:xfrm>
          <a:prstGeom prst="roundRect">
            <a:avLst>
              <a:gd name="adj" fmla="val 50000"/>
            </a:avLst>
          </a:prstGeom>
          <a:solidFill>
            <a:srgbClr val="E8F1FF"/>
          </a:solidFill>
          <a:ln/>
        </p:spPr>
        <p:txBody>
          <a:bodyPr/>
          <a:lstStyle/>
          <a:p>
            <a:endParaRPr lang="ko-KR" altLang="en-US" sz="1634"/>
          </a:p>
        </p:txBody>
      </p:sp>
      <p:sp>
        <p:nvSpPr>
          <p:cNvPr id="11" name="Text 13">
            <a:extLst>
              <a:ext uri="{FF2B5EF4-FFF2-40B4-BE49-F238E27FC236}">
                <a16:creationId xmlns:a16="http://schemas.microsoft.com/office/drawing/2014/main" id="{FC3BDB38-75AF-D8BC-3121-8562BACA8898}"/>
              </a:ext>
            </a:extLst>
          </p:cNvPr>
          <p:cNvSpPr/>
          <p:nvPr/>
        </p:nvSpPr>
        <p:spPr>
          <a:xfrm>
            <a:off x="597294" y="1676256"/>
            <a:ext cx="3263541" cy="312764"/>
          </a:xfrm>
          <a:prstGeom prst="rect">
            <a:avLst/>
          </a:prstGeom>
          <a:noFill/>
          <a:ln/>
        </p:spPr>
        <p:txBody>
          <a:bodyPr wrap="square" rtlCol="0" anchor="ctr"/>
          <a:lstStyle/>
          <a:p>
            <a:pPr algn="ctr"/>
            <a:r>
              <a:rPr lang="en-US" sz="898" b="1" dirty="0">
                <a:solidFill>
                  <a:srgbClr val="3B5BA7"/>
                </a:solidFill>
                <a:latin typeface="맑은 고딕" pitchFamily="34" charset="0"/>
                <a:ea typeface="맑은 고딕" pitchFamily="34" charset="-122"/>
                <a:cs typeface="맑은 고딕" pitchFamily="34" charset="-120"/>
              </a:rPr>
              <a:t>외부 순수 배터리 셀 · 방전 전용</a:t>
            </a:r>
            <a:endParaRPr lang="en-US" sz="898" dirty="0"/>
          </a:p>
        </p:txBody>
      </p:sp>
      <p:sp>
        <p:nvSpPr>
          <p:cNvPr id="13" name="Shape 14">
            <a:extLst>
              <a:ext uri="{FF2B5EF4-FFF2-40B4-BE49-F238E27FC236}">
                <a16:creationId xmlns:a16="http://schemas.microsoft.com/office/drawing/2014/main" id="{2EEB7EF5-D1CC-EB00-5D51-33DFE01D2BAC}"/>
              </a:ext>
            </a:extLst>
          </p:cNvPr>
          <p:cNvSpPr/>
          <p:nvPr/>
        </p:nvSpPr>
        <p:spPr>
          <a:xfrm>
            <a:off x="597292" y="2184499"/>
            <a:ext cx="8003447" cy="1993870"/>
          </a:xfrm>
          <a:prstGeom prst="roundRect">
            <a:avLst>
              <a:gd name="adj" fmla="val 2745"/>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15" name="Text 15">
            <a:extLst>
              <a:ext uri="{FF2B5EF4-FFF2-40B4-BE49-F238E27FC236}">
                <a16:creationId xmlns:a16="http://schemas.microsoft.com/office/drawing/2014/main" id="{49AD612A-2DA9-6764-FEFD-4AAA07FC476C}"/>
              </a:ext>
            </a:extLst>
          </p:cNvPr>
          <p:cNvSpPr/>
          <p:nvPr/>
        </p:nvSpPr>
        <p:spPr>
          <a:xfrm>
            <a:off x="753675" y="2301783"/>
            <a:ext cx="7692633" cy="234573"/>
          </a:xfrm>
          <a:prstGeom prst="rect">
            <a:avLst/>
          </a:prstGeom>
          <a:noFill/>
          <a:ln/>
        </p:spPr>
        <p:txBody>
          <a:bodyPr wrap="square" rtlCol="0" anchor="ctr"/>
          <a:lstStyle/>
          <a:p>
            <a:r>
              <a:rPr lang="en-US" sz="984" b="1" dirty="0">
                <a:solidFill>
                  <a:srgbClr val="3B5BA7"/>
                </a:solidFill>
                <a:latin typeface="맑은 고딕" pitchFamily="34" charset="0"/>
                <a:ea typeface="맑은 고딕" pitchFamily="34" charset="-122"/>
                <a:cs typeface="맑은 고딕" pitchFamily="34" charset="-120"/>
              </a:rPr>
              <a:t>●  플러스(+) 전류 경로</a:t>
            </a:r>
            <a:endParaRPr lang="en-US" sz="984" dirty="0"/>
          </a:p>
        </p:txBody>
      </p:sp>
      <p:sp>
        <p:nvSpPr>
          <p:cNvPr id="17" name="Text 16">
            <a:extLst>
              <a:ext uri="{FF2B5EF4-FFF2-40B4-BE49-F238E27FC236}">
                <a16:creationId xmlns:a16="http://schemas.microsoft.com/office/drawing/2014/main" id="{5C8A9D41-CFC1-B76C-8A3F-40C66A84C75E}"/>
              </a:ext>
            </a:extLst>
          </p:cNvPr>
          <p:cNvSpPr/>
          <p:nvPr/>
        </p:nvSpPr>
        <p:spPr>
          <a:xfrm>
            <a:off x="753675" y="2575452"/>
            <a:ext cx="7692633" cy="1485628"/>
          </a:xfrm>
          <a:prstGeom prst="rect">
            <a:avLst/>
          </a:prstGeom>
          <a:noFill/>
          <a:ln/>
        </p:spPr>
        <p:txBody>
          <a:bodyPr wrap="square" rtlCol="0" anchor="t"/>
          <a:lstStyle/>
          <a:p>
            <a:pPr>
              <a:lnSpc>
                <a:spcPct val="135000"/>
              </a:lnSpc>
            </a:pPr>
            <a:r>
              <a:rPr lang="en-US" sz="898" dirty="0">
                <a:solidFill>
                  <a:srgbClr val="1E293B"/>
                </a:solidFill>
                <a:latin typeface="맑은 고딕" pitchFamily="34" charset="0"/>
                <a:ea typeface="맑은 고딕" pitchFamily="34" charset="-122"/>
                <a:cs typeface="맑은 고딕" pitchFamily="34" charset="-120"/>
              </a:rPr>
              <a:t>외부 순수 배터리 (+) → 적색 악어클립 → 릴레이 CH2 [COM→NO] → ATORCH 전자부하 [V+] 도달 및 소모  (동시에 BQ27441 #2 [VBATT+]가 배터리 전압을 상시 감지)</a:t>
            </a:r>
            <a:endParaRPr lang="en-US" sz="898" dirty="0"/>
          </a:p>
        </p:txBody>
      </p:sp>
      <p:sp>
        <p:nvSpPr>
          <p:cNvPr id="19" name="Shape 17">
            <a:extLst>
              <a:ext uri="{FF2B5EF4-FFF2-40B4-BE49-F238E27FC236}">
                <a16:creationId xmlns:a16="http://schemas.microsoft.com/office/drawing/2014/main" id="{65C69C6B-05A1-2AE0-D02A-B5EAF2C103DA}"/>
              </a:ext>
            </a:extLst>
          </p:cNvPr>
          <p:cNvSpPr/>
          <p:nvPr/>
        </p:nvSpPr>
        <p:spPr>
          <a:xfrm>
            <a:off x="597292" y="4334749"/>
            <a:ext cx="8003447" cy="1681106"/>
          </a:xfrm>
          <a:prstGeom prst="roundRect">
            <a:avLst>
              <a:gd name="adj" fmla="val 3256"/>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21" name="Text 18">
            <a:extLst>
              <a:ext uri="{FF2B5EF4-FFF2-40B4-BE49-F238E27FC236}">
                <a16:creationId xmlns:a16="http://schemas.microsoft.com/office/drawing/2014/main" id="{00B77430-1B6E-6601-D3CC-3A3F58349650}"/>
              </a:ext>
            </a:extLst>
          </p:cNvPr>
          <p:cNvSpPr/>
          <p:nvPr/>
        </p:nvSpPr>
        <p:spPr>
          <a:xfrm>
            <a:off x="753675" y="4452036"/>
            <a:ext cx="7692633" cy="234573"/>
          </a:xfrm>
          <a:prstGeom prst="rect">
            <a:avLst/>
          </a:prstGeom>
          <a:noFill/>
          <a:ln/>
        </p:spPr>
        <p:txBody>
          <a:bodyPr wrap="square" rtlCol="0" anchor="ctr"/>
          <a:lstStyle/>
          <a:p>
            <a:r>
              <a:rPr lang="en-US" sz="984" b="1" dirty="0">
                <a:solidFill>
                  <a:srgbClr val="1E293B"/>
                </a:solidFill>
                <a:latin typeface="맑은 고딕" pitchFamily="34" charset="0"/>
                <a:ea typeface="맑은 고딕" pitchFamily="34" charset="-122"/>
                <a:cs typeface="맑은 고딕" pitchFamily="34" charset="-120"/>
              </a:rPr>
              <a:t>●  마이너스(−) 전류 귀환 경로</a:t>
            </a:r>
            <a:endParaRPr lang="en-US" sz="984" dirty="0"/>
          </a:p>
        </p:txBody>
      </p:sp>
      <p:sp>
        <p:nvSpPr>
          <p:cNvPr id="23" name="Text 19">
            <a:extLst>
              <a:ext uri="{FF2B5EF4-FFF2-40B4-BE49-F238E27FC236}">
                <a16:creationId xmlns:a16="http://schemas.microsoft.com/office/drawing/2014/main" id="{CAA0675F-739F-CD1B-BDA7-2145AB66719E}"/>
              </a:ext>
            </a:extLst>
          </p:cNvPr>
          <p:cNvSpPr/>
          <p:nvPr/>
        </p:nvSpPr>
        <p:spPr>
          <a:xfrm>
            <a:off x="753675" y="4725704"/>
            <a:ext cx="7692633" cy="1172865"/>
          </a:xfrm>
          <a:prstGeom prst="rect">
            <a:avLst/>
          </a:prstGeom>
          <a:noFill/>
          <a:ln/>
        </p:spPr>
        <p:txBody>
          <a:bodyPr wrap="square" rtlCol="0" anchor="t"/>
          <a:lstStyle/>
          <a:p>
            <a:pPr>
              <a:lnSpc>
                <a:spcPct val="135000"/>
              </a:lnSpc>
            </a:pPr>
            <a:r>
              <a:rPr lang="en-US" sz="898" dirty="0">
                <a:solidFill>
                  <a:srgbClr val="1E293B"/>
                </a:solidFill>
                <a:latin typeface="맑은 고딕" pitchFamily="34" charset="0"/>
                <a:ea typeface="맑은 고딕" pitchFamily="34" charset="-122"/>
                <a:cs typeface="맑은 고딕" pitchFamily="34" charset="-120"/>
              </a:rPr>
              <a:t>ATORCH [V−] → 시스템 공통 GND → BQ27441 #2 [GND] → 내부 션트저항 관통(전류 · SOC 측정) → BQ27441 #2 [VBATT−] → 흑색 악어클립 → 외부 순수 배터리 (−) 로 최종 귀환</a:t>
            </a:r>
            <a:endParaRPr lang="en-US" sz="898" dirty="0"/>
          </a:p>
        </p:txBody>
      </p:sp>
    </p:spTree>
    <p:extLst>
      <p:ext uri="{BB962C8B-B14F-4D97-AF65-F5344CB8AC3E}">
        <p14:creationId xmlns:p14="http://schemas.microsoft.com/office/powerpoint/2010/main" val="13893606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0E510-852F-AC58-2150-DD8337EA480A}"/>
            </a:ext>
          </a:extLst>
        </p:cNvPr>
        <p:cNvGrpSpPr/>
        <p:nvPr/>
      </p:nvGrpSpPr>
      <p:grpSpPr>
        <a:xfrm>
          <a:off x="0" y="0"/>
          <a:ext cx="0" cy="0"/>
          <a:chOff x="0" y="0"/>
          <a:chExt cx="0" cy="0"/>
        </a:xfrm>
      </p:grpSpPr>
      <p:sp>
        <p:nvSpPr>
          <p:cNvPr id="28" name="직사각형 28"/>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9" name="직선 연결선 29"/>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 name="직선 연결선 30"/>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31" name="제목 31"/>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핵심 5 state</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32" name="막힌 원호 32"/>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3638AE06-58C9-1973-C8FA-F288E45AA6BE}"/>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4A28DD3D-D7C3-0149-D0D1-8AED830361E7}"/>
              </a:ext>
            </a:extLst>
          </p:cNvPr>
          <p:cNvPicPr/>
          <p:nvPr/>
        </p:nvPicPr>
        <p:blipFill>
          <a:blip r:embed="rId4" cstate="print"/>
          <a:stretch>
            <a:fillRect/>
          </a:stretch>
        </p:blipFill>
        <p:spPr>
          <a:xfrm>
            <a:off x="7275128" y="314247"/>
            <a:ext cx="1325611" cy="307338"/>
          </a:xfrm>
          <a:prstGeom prst="rect">
            <a:avLst/>
          </a:prstGeom>
        </p:spPr>
      </p:pic>
      <p:sp>
        <p:nvSpPr>
          <p:cNvPr id="9" name="Shape 12">
            <a:extLst>
              <a:ext uri="{FF2B5EF4-FFF2-40B4-BE49-F238E27FC236}">
                <a16:creationId xmlns:a16="http://schemas.microsoft.com/office/drawing/2014/main" id="{64E2402C-0D72-A218-8367-CCAF673E7F8F}"/>
              </a:ext>
            </a:extLst>
          </p:cNvPr>
          <p:cNvSpPr/>
          <p:nvPr/>
        </p:nvSpPr>
        <p:spPr>
          <a:xfrm>
            <a:off x="598339" y="1539384"/>
            <a:ext cx="2486184" cy="312764"/>
          </a:xfrm>
          <a:prstGeom prst="roundRect">
            <a:avLst>
              <a:gd name="adj" fmla="val 50000"/>
            </a:avLst>
          </a:prstGeom>
          <a:solidFill>
            <a:srgbClr val="E8F1FF"/>
          </a:solidFill>
          <a:ln/>
        </p:spPr>
        <p:txBody>
          <a:bodyPr/>
          <a:lstStyle/>
          <a:p>
            <a:endParaRPr lang="ko-KR" altLang="en-US" sz="1634"/>
          </a:p>
        </p:txBody>
      </p:sp>
      <p:sp>
        <p:nvSpPr>
          <p:cNvPr id="11" name="Text 13">
            <a:extLst>
              <a:ext uri="{FF2B5EF4-FFF2-40B4-BE49-F238E27FC236}">
                <a16:creationId xmlns:a16="http://schemas.microsoft.com/office/drawing/2014/main" id="{7EFB1FD7-BA67-30D6-BC8C-BACC9DC77B21}"/>
              </a:ext>
            </a:extLst>
          </p:cNvPr>
          <p:cNvSpPr/>
          <p:nvPr/>
        </p:nvSpPr>
        <p:spPr>
          <a:xfrm>
            <a:off x="598339" y="1539384"/>
            <a:ext cx="2486184" cy="312764"/>
          </a:xfrm>
          <a:prstGeom prst="rect">
            <a:avLst/>
          </a:prstGeom>
          <a:noFill/>
          <a:ln/>
        </p:spPr>
        <p:txBody>
          <a:bodyPr wrap="square" rtlCol="0" anchor="ctr"/>
          <a:lstStyle/>
          <a:p>
            <a:pPr algn="ctr"/>
            <a:r>
              <a:rPr lang="en-US" sz="898" b="1" dirty="0">
                <a:solidFill>
                  <a:srgbClr val="3B5BA7"/>
                </a:solidFill>
                <a:latin typeface="맑은 고딕" pitchFamily="34" charset="0"/>
                <a:ea typeface="맑은 고딕" pitchFamily="34" charset="-122"/>
                <a:cs typeface="맑은 고딕" pitchFamily="34" charset="-120"/>
              </a:rPr>
              <a:t>State3 : </a:t>
            </a:r>
            <a:r>
              <a:rPr lang="en-US" sz="898" b="1" dirty="0" err="1">
                <a:solidFill>
                  <a:srgbClr val="3B5BA7"/>
                </a:solidFill>
                <a:latin typeface="맑은 고딕" pitchFamily="34" charset="0"/>
                <a:ea typeface="맑은 고딕" pitchFamily="34" charset="-122"/>
                <a:cs typeface="맑은 고딕" pitchFamily="34" charset="-120"/>
              </a:rPr>
              <a:t>외부</a:t>
            </a:r>
            <a:r>
              <a:rPr lang="en-US" sz="898" b="1" dirty="0">
                <a:solidFill>
                  <a:srgbClr val="3B5BA7"/>
                </a:solidFill>
                <a:latin typeface="맑은 고딕" pitchFamily="34" charset="0"/>
                <a:ea typeface="맑은 고딕" pitchFamily="34" charset="-122"/>
                <a:cs typeface="맑은 고딕" pitchFamily="34" charset="-120"/>
              </a:rPr>
              <a:t> 완제품 </a:t>
            </a:r>
            <a:r>
              <a:rPr lang="en-US" sz="898" b="1" dirty="0" err="1">
                <a:solidFill>
                  <a:srgbClr val="3B5BA7"/>
                </a:solidFill>
                <a:latin typeface="맑은 고딕" pitchFamily="34" charset="0"/>
                <a:ea typeface="맑은 고딕" pitchFamily="34" charset="-122"/>
                <a:cs typeface="맑은 고딕" pitchFamily="34" charset="-120"/>
              </a:rPr>
              <a:t>보조배터리</a:t>
            </a:r>
            <a:r>
              <a:rPr lang="en-US" sz="898" b="1" dirty="0">
                <a:solidFill>
                  <a:srgbClr val="3B5BA7"/>
                </a:solidFill>
                <a:latin typeface="맑은 고딕" pitchFamily="34" charset="0"/>
                <a:ea typeface="맑은 고딕" pitchFamily="34" charset="-122"/>
                <a:cs typeface="맑은 고딕" pitchFamily="34" charset="-120"/>
              </a:rPr>
              <a:t> </a:t>
            </a:r>
            <a:r>
              <a:rPr lang="en-US" sz="898" b="1" dirty="0" err="1">
                <a:solidFill>
                  <a:srgbClr val="3B5BA7"/>
                </a:solidFill>
                <a:latin typeface="맑은 고딕" pitchFamily="34" charset="0"/>
                <a:ea typeface="맑은 고딕" pitchFamily="34" charset="-122"/>
                <a:cs typeface="맑은 고딕" pitchFamily="34" charset="-120"/>
              </a:rPr>
              <a:t>진단</a:t>
            </a:r>
            <a:r>
              <a:rPr lang="en-US" sz="898" b="1" dirty="0">
                <a:solidFill>
                  <a:srgbClr val="3B5BA7"/>
                </a:solidFill>
                <a:latin typeface="맑은 고딕" pitchFamily="34" charset="0"/>
                <a:ea typeface="맑은 고딕" pitchFamily="34" charset="-122"/>
                <a:cs typeface="맑은 고딕" pitchFamily="34" charset="-120"/>
              </a:rPr>
              <a:t>(</a:t>
            </a:r>
            <a:r>
              <a:rPr lang="ko-KR" altLang="en-US" sz="898" b="1" dirty="0">
                <a:solidFill>
                  <a:srgbClr val="3B5BA7"/>
                </a:solidFill>
                <a:latin typeface="맑은 고딕" pitchFamily="34" charset="0"/>
                <a:ea typeface="맑은 고딕" pitchFamily="34" charset="-122"/>
                <a:cs typeface="맑은 고딕" pitchFamily="34" charset="-120"/>
              </a:rPr>
              <a:t>모드</a:t>
            </a:r>
            <a:r>
              <a:rPr lang="en-US" altLang="ko-KR" sz="898" b="1" dirty="0">
                <a:solidFill>
                  <a:srgbClr val="3B5BA7"/>
                </a:solidFill>
                <a:latin typeface="맑은 고딕" pitchFamily="34" charset="0"/>
                <a:ea typeface="맑은 고딕" pitchFamily="34" charset="-122"/>
                <a:cs typeface="맑은 고딕" pitchFamily="34" charset="-120"/>
              </a:rPr>
              <a:t>3)</a:t>
            </a:r>
            <a:endParaRPr lang="en-US" sz="898" dirty="0"/>
          </a:p>
        </p:txBody>
      </p:sp>
      <p:sp>
        <p:nvSpPr>
          <p:cNvPr id="13" name="Shape 14">
            <a:extLst>
              <a:ext uri="{FF2B5EF4-FFF2-40B4-BE49-F238E27FC236}">
                <a16:creationId xmlns:a16="http://schemas.microsoft.com/office/drawing/2014/main" id="{26AB7BB4-6FDE-5A08-7E8D-E42F3D1F0F99}"/>
              </a:ext>
            </a:extLst>
          </p:cNvPr>
          <p:cNvSpPr/>
          <p:nvPr/>
        </p:nvSpPr>
        <p:spPr>
          <a:xfrm>
            <a:off x="598337" y="2047627"/>
            <a:ext cx="69923" cy="172020"/>
          </a:xfrm>
          <a:prstGeom prst="rect">
            <a:avLst/>
          </a:prstGeom>
          <a:solidFill>
            <a:srgbClr val="3B5BA7"/>
          </a:solidFill>
          <a:ln/>
        </p:spPr>
        <p:txBody>
          <a:bodyPr/>
          <a:lstStyle/>
          <a:p>
            <a:endParaRPr lang="ko-KR" altLang="en-US" sz="1634"/>
          </a:p>
        </p:txBody>
      </p:sp>
      <p:sp>
        <p:nvSpPr>
          <p:cNvPr id="15" name="Text 15">
            <a:extLst>
              <a:ext uri="{FF2B5EF4-FFF2-40B4-BE49-F238E27FC236}">
                <a16:creationId xmlns:a16="http://schemas.microsoft.com/office/drawing/2014/main" id="{0B69C84E-9993-06CE-37BE-6FFF5A31622B}"/>
              </a:ext>
            </a:extLst>
          </p:cNvPr>
          <p:cNvSpPr/>
          <p:nvPr/>
        </p:nvSpPr>
        <p:spPr>
          <a:xfrm>
            <a:off x="739081" y="2024169"/>
            <a:ext cx="621545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구동 매커니즘</a:t>
            </a:r>
            <a:endParaRPr lang="en-US" sz="1112" dirty="0"/>
          </a:p>
        </p:txBody>
      </p:sp>
      <p:sp>
        <p:nvSpPr>
          <p:cNvPr id="17" name="Shape 16">
            <a:extLst>
              <a:ext uri="{FF2B5EF4-FFF2-40B4-BE49-F238E27FC236}">
                <a16:creationId xmlns:a16="http://schemas.microsoft.com/office/drawing/2014/main" id="{A1894BF2-FDF4-6C2A-7197-D17AA733AB01}"/>
              </a:ext>
            </a:extLst>
          </p:cNvPr>
          <p:cNvSpPr/>
          <p:nvPr/>
        </p:nvSpPr>
        <p:spPr>
          <a:xfrm>
            <a:off x="598338" y="2321297"/>
            <a:ext cx="8002402" cy="1485628"/>
          </a:xfrm>
          <a:prstGeom prst="roundRect">
            <a:avLst>
              <a:gd name="adj" fmla="val 3684"/>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19" name="Text 17">
            <a:extLst>
              <a:ext uri="{FF2B5EF4-FFF2-40B4-BE49-F238E27FC236}">
                <a16:creationId xmlns:a16="http://schemas.microsoft.com/office/drawing/2014/main" id="{F84ECF0C-0337-2850-0857-C2769F6DF623}"/>
              </a:ext>
            </a:extLst>
          </p:cNvPr>
          <p:cNvSpPr/>
          <p:nvPr/>
        </p:nvSpPr>
        <p:spPr>
          <a:xfrm>
            <a:off x="754720" y="2438581"/>
            <a:ext cx="7691629" cy="1329247"/>
          </a:xfrm>
          <a:prstGeom prst="rect">
            <a:avLst/>
          </a:prstGeom>
          <a:noFill/>
          <a:ln/>
        </p:spPr>
        <p:txBody>
          <a:bodyPr wrap="square" rtlCol="0" anchor="t"/>
          <a:lstStyle/>
          <a:p>
            <a:pPr>
              <a:lnSpc>
                <a:spcPct val="125000"/>
              </a:lnSpc>
              <a:spcAft>
                <a:spcPts val="684"/>
              </a:spcAft>
            </a:pPr>
            <a:r>
              <a:rPr lang="en-US" sz="941" dirty="0">
                <a:solidFill>
                  <a:srgbClr val="1E293B"/>
                </a:solidFill>
                <a:latin typeface="맑은 고딕" pitchFamily="34" charset="0"/>
                <a:ea typeface="맑은 고딕" pitchFamily="34" charset="-122"/>
                <a:cs typeface="맑은 고딕" pitchFamily="34" charset="-120"/>
              </a:rPr>
              <a:t>•  </a:t>
            </a:r>
            <a:r>
              <a:rPr lang="en-US" sz="1026" dirty="0">
                <a:solidFill>
                  <a:srgbClr val="1E293B"/>
                </a:solidFill>
                <a:latin typeface="맑은 고딕" pitchFamily="34" charset="0"/>
                <a:ea typeface="맑은 고딕" pitchFamily="34" charset="-122"/>
                <a:cs typeface="맑은 고딕" pitchFamily="34" charset="-120"/>
              </a:rPr>
              <a:t>릴레이 CH3만 ON시켜 완제품 보조배터리의 출력 전력을 ZY12PDN(USB-C PD 트리거)을 거쳐 부하 테스터기로 인가 (CH1, CH2는 OFF 유지).</a:t>
            </a:r>
            <a:endParaRPr lang="en-US" sz="1026" dirty="0"/>
          </a:p>
          <a:p>
            <a:pPr>
              <a:lnSpc>
                <a:spcPct val="125000"/>
              </a:lnSpc>
              <a:spcAft>
                <a:spcPts val="684"/>
              </a:spcAft>
            </a:pPr>
            <a:r>
              <a:rPr lang="en-US" sz="1026" dirty="0">
                <a:solidFill>
                  <a:srgbClr val="1E293B"/>
                </a:solidFill>
                <a:latin typeface="맑은 고딕" pitchFamily="34" charset="0"/>
                <a:ea typeface="맑은 고딕" pitchFamily="34" charset="-122"/>
                <a:cs typeface="맑은 고딕" pitchFamily="34" charset="-120"/>
              </a:rPr>
              <a:t>•  완제품은 내부 셀에 물리적으로 접근할 수 없어, 유일하게 INA226(외부 단자 측정) + MLX90614(비접촉 IR)를 사용하는 모드.</a:t>
            </a:r>
            <a:endParaRPr lang="en-US" sz="1026" dirty="0"/>
          </a:p>
        </p:txBody>
      </p:sp>
      <p:sp>
        <p:nvSpPr>
          <p:cNvPr id="21" name="Shape 18">
            <a:extLst>
              <a:ext uri="{FF2B5EF4-FFF2-40B4-BE49-F238E27FC236}">
                <a16:creationId xmlns:a16="http://schemas.microsoft.com/office/drawing/2014/main" id="{05C00BE1-08CD-675D-EB93-9D7FED4BCBAF}"/>
              </a:ext>
            </a:extLst>
          </p:cNvPr>
          <p:cNvSpPr/>
          <p:nvPr/>
        </p:nvSpPr>
        <p:spPr>
          <a:xfrm>
            <a:off x="598337" y="4002401"/>
            <a:ext cx="69923" cy="172020"/>
          </a:xfrm>
          <a:prstGeom prst="rect">
            <a:avLst/>
          </a:prstGeom>
          <a:solidFill>
            <a:srgbClr val="3B5BA7"/>
          </a:solidFill>
          <a:ln/>
        </p:spPr>
        <p:txBody>
          <a:bodyPr/>
          <a:lstStyle/>
          <a:p>
            <a:endParaRPr lang="ko-KR" altLang="en-US" sz="1634"/>
          </a:p>
        </p:txBody>
      </p:sp>
      <p:sp>
        <p:nvSpPr>
          <p:cNvPr id="23" name="Text 19">
            <a:extLst>
              <a:ext uri="{FF2B5EF4-FFF2-40B4-BE49-F238E27FC236}">
                <a16:creationId xmlns:a16="http://schemas.microsoft.com/office/drawing/2014/main" id="{05A397C0-D944-BFF3-3FD1-78F899AB5F35}"/>
              </a:ext>
            </a:extLst>
          </p:cNvPr>
          <p:cNvSpPr/>
          <p:nvPr/>
        </p:nvSpPr>
        <p:spPr>
          <a:xfrm>
            <a:off x="739081" y="3978944"/>
            <a:ext cx="621545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핵심 특징</a:t>
            </a:r>
            <a:endParaRPr lang="en-US" sz="1112" dirty="0"/>
          </a:p>
        </p:txBody>
      </p:sp>
      <p:sp>
        <p:nvSpPr>
          <p:cNvPr id="25" name="Shape 20">
            <a:extLst>
              <a:ext uri="{FF2B5EF4-FFF2-40B4-BE49-F238E27FC236}">
                <a16:creationId xmlns:a16="http://schemas.microsoft.com/office/drawing/2014/main" id="{30F23138-A6D7-5D80-CBC0-E939ECED890C}"/>
              </a:ext>
            </a:extLst>
          </p:cNvPr>
          <p:cNvSpPr/>
          <p:nvPr/>
        </p:nvSpPr>
        <p:spPr>
          <a:xfrm>
            <a:off x="598338" y="4276069"/>
            <a:ext cx="8002402" cy="2267538"/>
          </a:xfrm>
          <a:prstGeom prst="roundRect">
            <a:avLst>
              <a:gd name="adj" fmla="val 2414"/>
            </a:avLst>
          </a:prstGeom>
          <a:solidFill>
            <a:srgbClr val="E8F1FF"/>
          </a:solidFill>
          <a:ln/>
          <a:effectLst>
            <a:outerShdw blurRad="63500" dist="25400" dir="2700000" algn="bl" rotWithShape="0">
              <a:srgbClr val="000000">
                <a:alpha val="10000"/>
              </a:srgbClr>
            </a:outerShdw>
          </a:effectLst>
        </p:spPr>
        <p:txBody>
          <a:bodyPr/>
          <a:lstStyle/>
          <a:p>
            <a:endParaRPr lang="ko-KR" altLang="en-US" sz="1634"/>
          </a:p>
        </p:txBody>
      </p:sp>
      <p:sp>
        <p:nvSpPr>
          <p:cNvPr id="27" name="Text 21">
            <a:extLst>
              <a:ext uri="{FF2B5EF4-FFF2-40B4-BE49-F238E27FC236}">
                <a16:creationId xmlns:a16="http://schemas.microsoft.com/office/drawing/2014/main" id="{3ADA2F8B-CD3E-3218-87F1-3873921F93E5}"/>
              </a:ext>
            </a:extLst>
          </p:cNvPr>
          <p:cNvSpPr/>
          <p:nvPr/>
        </p:nvSpPr>
        <p:spPr>
          <a:xfrm>
            <a:off x="754720" y="4393355"/>
            <a:ext cx="7691629" cy="2111157"/>
          </a:xfrm>
          <a:prstGeom prst="rect">
            <a:avLst/>
          </a:prstGeom>
          <a:noFill/>
          <a:ln/>
        </p:spPr>
        <p:txBody>
          <a:bodyPr wrap="square" rtlCol="0" anchor="t"/>
          <a:lstStyle/>
          <a:p>
            <a:pPr>
              <a:lnSpc>
                <a:spcPct val="125000"/>
              </a:lnSpc>
              <a:spcAft>
                <a:spcPts val="855"/>
              </a:spcAft>
            </a:pPr>
            <a:r>
              <a:rPr lang="en-US" sz="1026" dirty="0">
                <a:solidFill>
                  <a:srgbClr val="1E293B"/>
                </a:solidFill>
                <a:latin typeface="맑은 고딕" pitchFamily="34" charset="0"/>
                <a:ea typeface="맑은 고딕" pitchFamily="34" charset="-122"/>
                <a:cs typeface="맑은 고딕" pitchFamily="34" charset="-120"/>
              </a:rPr>
              <a:t>•  전력 측정 센서(INA226)로 외부 전력의 변동 추이를 정밀 계측하는 동시에, 비접촉 IR 센서(MLX90614)로 패키징 표면의 미세한 온도 상승 기울기를 추적.</a:t>
            </a:r>
            <a:endParaRPr lang="en-US" sz="1026" dirty="0"/>
          </a:p>
          <a:p>
            <a:pPr>
              <a:lnSpc>
                <a:spcPct val="125000"/>
              </a:lnSpc>
              <a:spcAft>
                <a:spcPts val="855"/>
              </a:spcAft>
            </a:pPr>
            <a:r>
              <a:rPr lang="en-US" sz="1026" dirty="0">
                <a:solidFill>
                  <a:srgbClr val="1E293B"/>
                </a:solidFill>
                <a:latin typeface="맑은 고딕" pitchFamily="34" charset="0"/>
                <a:ea typeface="맑은 고딕" pitchFamily="34" charset="-122"/>
                <a:cs typeface="맑은 고딕" pitchFamily="34" charset="-120"/>
              </a:rPr>
              <a:t>•  단발성 측정이 아닌 시간 기반 3단계 점진적 진단(초단기 → </a:t>
            </a:r>
            <a:r>
              <a:rPr lang="en-US" sz="1026" dirty="0" err="1">
                <a:solidFill>
                  <a:srgbClr val="1E293B"/>
                </a:solidFill>
                <a:latin typeface="맑은 고딕" pitchFamily="34" charset="0"/>
                <a:ea typeface="맑은 고딕" pitchFamily="34" charset="-122"/>
                <a:cs typeface="맑은 고딕" pitchFamily="34" charset="-120"/>
              </a:rPr>
              <a:t>중기</a:t>
            </a:r>
            <a:r>
              <a:rPr lang="en-US" sz="1026" dirty="0">
                <a:solidFill>
                  <a:srgbClr val="1E293B"/>
                </a:solidFill>
                <a:latin typeface="맑은 고딕" pitchFamily="34" charset="0"/>
                <a:ea typeface="맑은 고딕" pitchFamily="34" charset="-122"/>
                <a:cs typeface="맑은 고딕" pitchFamily="34" charset="-120"/>
              </a:rPr>
              <a:t> → 장기)으로 신뢰도를 </a:t>
            </a:r>
            <a:r>
              <a:rPr lang="en-US" sz="1026" dirty="0" err="1">
                <a:solidFill>
                  <a:srgbClr val="1E293B"/>
                </a:solidFill>
                <a:latin typeface="맑은 고딕" pitchFamily="34" charset="0"/>
                <a:ea typeface="맑은 고딕" pitchFamily="34" charset="-122"/>
                <a:cs typeface="맑은 고딕" pitchFamily="34" charset="-120"/>
              </a:rPr>
              <a:t>단계적으로</a:t>
            </a:r>
            <a:r>
              <a:rPr lang="en-US" sz="1026" dirty="0">
                <a:solidFill>
                  <a:srgbClr val="1E293B"/>
                </a:solidFill>
                <a:latin typeface="맑은 고딕" pitchFamily="34" charset="0"/>
                <a:ea typeface="맑은 고딕" pitchFamily="34" charset="-122"/>
                <a:cs typeface="맑은 고딕" pitchFamily="34" charset="-120"/>
              </a:rPr>
              <a:t> </a:t>
            </a:r>
            <a:r>
              <a:rPr lang="en-US" sz="1026" dirty="0" err="1">
                <a:solidFill>
                  <a:srgbClr val="1E293B"/>
                </a:solidFill>
                <a:latin typeface="맑은 고딕" pitchFamily="34" charset="0"/>
                <a:ea typeface="맑은 고딕" pitchFamily="34" charset="-122"/>
                <a:cs typeface="맑은 고딕" pitchFamily="34" charset="-120"/>
              </a:rPr>
              <a:t>높여감</a:t>
            </a:r>
            <a:r>
              <a:rPr lang="en-US" sz="1026" dirty="0">
                <a:solidFill>
                  <a:srgbClr val="1E293B"/>
                </a:solidFill>
                <a:latin typeface="맑은 고딕" pitchFamily="34" charset="0"/>
                <a:ea typeface="맑은 고딕" pitchFamily="34" charset="-122"/>
                <a:cs typeface="맑은 고딕" pitchFamily="34" charset="-120"/>
              </a:rPr>
              <a:t>.</a:t>
            </a:r>
            <a:endParaRPr lang="en-US" sz="1026" dirty="0"/>
          </a:p>
          <a:p>
            <a:pPr>
              <a:lnSpc>
                <a:spcPct val="125000"/>
              </a:lnSpc>
              <a:spcAft>
                <a:spcPts val="855"/>
              </a:spcAft>
            </a:pPr>
            <a:r>
              <a:rPr lang="en-US" sz="1026" dirty="0">
                <a:solidFill>
                  <a:srgbClr val="1E293B"/>
                </a:solidFill>
                <a:latin typeface="맑은 고딕" pitchFamily="34" charset="0"/>
                <a:ea typeface="맑은 고딕" pitchFamily="34" charset="-122"/>
                <a:cs typeface="맑은 고딕" pitchFamily="34" charset="-120"/>
              </a:rPr>
              <a:t>•  </a:t>
            </a:r>
            <a:r>
              <a:rPr lang="en-US" altLang="ko-KR" sz="1026" dirty="0" err="1">
                <a:solidFill>
                  <a:srgbClr val="1E293B"/>
                </a:solidFill>
                <a:latin typeface="맑은 고딕" pitchFamily="34" charset="0"/>
                <a:ea typeface="맑은 고딕" pitchFamily="34" charset="-122"/>
                <a:cs typeface="맑은 고딕" pitchFamily="34" charset="-120"/>
              </a:rPr>
              <a:t>커넥터</a:t>
            </a:r>
            <a:r>
              <a:rPr lang="en-US" altLang="ko-KR" sz="1026" dirty="0">
                <a:solidFill>
                  <a:srgbClr val="1E293B"/>
                </a:solidFill>
                <a:latin typeface="맑은 고딕" pitchFamily="34" charset="0"/>
                <a:ea typeface="맑은 고딕" pitchFamily="34" charset="-122"/>
                <a:cs typeface="맑은 고딕" pitchFamily="34" charset="-120"/>
              </a:rPr>
              <a:t> </a:t>
            </a:r>
            <a:r>
              <a:rPr lang="en-US" altLang="ko-KR" sz="1026" dirty="0" err="1">
                <a:solidFill>
                  <a:srgbClr val="1E293B"/>
                </a:solidFill>
                <a:latin typeface="맑은 고딕" pitchFamily="34" charset="0"/>
                <a:ea typeface="맑은 고딕" pitchFamily="34" charset="-122"/>
                <a:cs typeface="맑은 고딕" pitchFamily="34" charset="-120"/>
              </a:rPr>
              <a:t>연결</a:t>
            </a:r>
            <a:r>
              <a:rPr lang="ko-KR" altLang="en-US" sz="1026" dirty="0">
                <a:solidFill>
                  <a:srgbClr val="1E293B"/>
                </a:solidFill>
                <a:latin typeface="맑은 고딕" pitchFamily="34" charset="0"/>
                <a:ea typeface="맑은 고딕" pitchFamily="34" charset="-122"/>
                <a:cs typeface="맑은 고딕" pitchFamily="34" charset="-120"/>
              </a:rPr>
              <a:t>을 통한 방전 모드로 데이터 수집</a:t>
            </a:r>
            <a:endParaRPr lang="en-US" sz="1026" dirty="0"/>
          </a:p>
        </p:txBody>
      </p:sp>
    </p:spTree>
    <p:extLst>
      <p:ext uri="{BB962C8B-B14F-4D97-AF65-F5344CB8AC3E}">
        <p14:creationId xmlns:p14="http://schemas.microsoft.com/office/powerpoint/2010/main" val="10914658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EAF13-9F33-AFC4-5779-3C57D0533C98}"/>
            </a:ext>
          </a:extLst>
        </p:cNvPr>
        <p:cNvGrpSpPr/>
        <p:nvPr/>
      </p:nvGrpSpPr>
      <p:grpSpPr>
        <a:xfrm>
          <a:off x="0" y="0"/>
          <a:ext cx="0" cy="0"/>
          <a:chOff x="0" y="0"/>
          <a:chExt cx="0" cy="0"/>
        </a:xfrm>
      </p:grpSpPr>
      <p:sp>
        <p:nvSpPr>
          <p:cNvPr id="52" name="직사각형 52"/>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53" name="직선 연결선 53"/>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4" name="직선 연결선 54"/>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55" name="제목 55"/>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핵심 5 state</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56" name="막힌 원호 56"/>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91E13595-335C-859F-EADD-BBD98C388ED1}"/>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46A23F94-7405-2575-7D1F-234DAE89CF46}"/>
              </a:ext>
            </a:extLst>
          </p:cNvPr>
          <p:cNvPicPr/>
          <p:nvPr/>
        </p:nvPicPr>
        <p:blipFill>
          <a:blip r:embed="rId4" cstate="print"/>
          <a:stretch>
            <a:fillRect/>
          </a:stretch>
        </p:blipFill>
        <p:spPr>
          <a:xfrm>
            <a:off x="7275128" y="314247"/>
            <a:ext cx="1325611" cy="307338"/>
          </a:xfrm>
          <a:prstGeom prst="rect">
            <a:avLst/>
          </a:prstGeom>
        </p:spPr>
      </p:pic>
      <p:sp>
        <p:nvSpPr>
          <p:cNvPr id="9" name="Shape 12">
            <a:extLst>
              <a:ext uri="{FF2B5EF4-FFF2-40B4-BE49-F238E27FC236}">
                <a16:creationId xmlns:a16="http://schemas.microsoft.com/office/drawing/2014/main" id="{67075068-3FAE-DF72-C7E6-6AFFF6F850AB}"/>
              </a:ext>
            </a:extLst>
          </p:cNvPr>
          <p:cNvSpPr/>
          <p:nvPr/>
        </p:nvSpPr>
        <p:spPr>
          <a:xfrm>
            <a:off x="586868" y="1628004"/>
            <a:ext cx="70024" cy="172020"/>
          </a:xfrm>
          <a:prstGeom prst="rect">
            <a:avLst/>
          </a:prstGeom>
          <a:solidFill>
            <a:srgbClr val="3B5BA7"/>
          </a:solidFill>
          <a:ln/>
        </p:spPr>
        <p:txBody>
          <a:bodyPr/>
          <a:lstStyle/>
          <a:p>
            <a:endParaRPr lang="ko-KR" altLang="en-US" sz="1634"/>
          </a:p>
        </p:txBody>
      </p:sp>
      <p:sp>
        <p:nvSpPr>
          <p:cNvPr id="11" name="Text 13">
            <a:extLst>
              <a:ext uri="{FF2B5EF4-FFF2-40B4-BE49-F238E27FC236}">
                <a16:creationId xmlns:a16="http://schemas.microsoft.com/office/drawing/2014/main" id="{BEC8E3F3-FBCB-7CA7-457C-33AB5CE75926}"/>
              </a:ext>
            </a:extLst>
          </p:cNvPr>
          <p:cNvSpPr/>
          <p:nvPr/>
        </p:nvSpPr>
        <p:spPr>
          <a:xfrm>
            <a:off x="727611" y="1604544"/>
            <a:ext cx="6224367"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시간 기반 3단계 점진적 진단 시스템</a:t>
            </a:r>
            <a:endParaRPr lang="en-US" sz="1112" dirty="0"/>
          </a:p>
        </p:txBody>
      </p:sp>
      <p:sp>
        <p:nvSpPr>
          <p:cNvPr id="13" name="Shape 14">
            <a:extLst>
              <a:ext uri="{FF2B5EF4-FFF2-40B4-BE49-F238E27FC236}">
                <a16:creationId xmlns:a16="http://schemas.microsoft.com/office/drawing/2014/main" id="{43A51250-F271-E2A0-8A66-A07FC9FE4A9F}"/>
              </a:ext>
            </a:extLst>
          </p:cNvPr>
          <p:cNvSpPr/>
          <p:nvPr/>
        </p:nvSpPr>
        <p:spPr>
          <a:xfrm>
            <a:off x="586867" y="1901670"/>
            <a:ext cx="8013872" cy="1329247"/>
          </a:xfrm>
          <a:prstGeom prst="roundRect">
            <a:avLst>
              <a:gd name="adj" fmla="val 4118"/>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15" name="Text 15">
            <a:extLst>
              <a:ext uri="{FF2B5EF4-FFF2-40B4-BE49-F238E27FC236}">
                <a16:creationId xmlns:a16="http://schemas.microsoft.com/office/drawing/2014/main" id="{102A6A8E-CCE0-BF86-191D-8BC130033821}"/>
              </a:ext>
            </a:extLst>
          </p:cNvPr>
          <p:cNvSpPr/>
          <p:nvPr/>
        </p:nvSpPr>
        <p:spPr>
          <a:xfrm>
            <a:off x="743249" y="2018958"/>
            <a:ext cx="7702654" cy="1094674"/>
          </a:xfrm>
          <a:prstGeom prst="rect">
            <a:avLst/>
          </a:prstGeom>
          <a:noFill/>
          <a:ln/>
        </p:spPr>
        <p:txBody>
          <a:bodyPr wrap="square" rtlCol="0" anchor="t"/>
          <a:lstStyle/>
          <a:p>
            <a:pPr>
              <a:lnSpc>
                <a:spcPct val="130000"/>
              </a:lnSpc>
            </a:pPr>
            <a:r>
              <a:rPr lang="en-US" sz="941" dirty="0">
                <a:solidFill>
                  <a:srgbClr val="1E293B"/>
                </a:solidFill>
                <a:latin typeface="맑은 고딕" pitchFamily="34" charset="0"/>
                <a:ea typeface="맑은 고딕" pitchFamily="34" charset="-122"/>
                <a:cs typeface="맑은 고딕" pitchFamily="34" charset="-120"/>
              </a:rPr>
              <a:t>완제품 보조배터리는 내부 셀에 직접 접근할 수 없어, 외부 단자 측정만으로 신뢹도 있는 진단을 내려야 한다. 단기적으로는 즉각적이면서도 신뢰도 있는 판단 결과를 제공하며, 장기적으로는 추가 파라미터 분석을 통해 매우 정확하고 구체적인 수치를 제공하는 것을 목표로 한다. 이를 시간에 따라 진단 신뢰도 게이지가 차오르는 점진적 UX로 웹 대시보드에 표현한다.</a:t>
            </a:r>
            <a:endParaRPr lang="en-US" sz="941" dirty="0"/>
          </a:p>
        </p:txBody>
      </p:sp>
      <p:sp>
        <p:nvSpPr>
          <p:cNvPr id="17" name="Shape 16">
            <a:extLst>
              <a:ext uri="{FF2B5EF4-FFF2-40B4-BE49-F238E27FC236}">
                <a16:creationId xmlns:a16="http://schemas.microsoft.com/office/drawing/2014/main" id="{D0C02A4F-A40F-FB3E-FB2B-2248B168C328}"/>
              </a:ext>
            </a:extLst>
          </p:cNvPr>
          <p:cNvSpPr/>
          <p:nvPr/>
        </p:nvSpPr>
        <p:spPr>
          <a:xfrm>
            <a:off x="586867" y="3426396"/>
            <a:ext cx="2567552" cy="2502112"/>
          </a:xfrm>
          <a:prstGeom prst="roundRect">
            <a:avLst>
              <a:gd name="adj" fmla="val 2500"/>
            </a:avLst>
          </a:prstGeom>
          <a:solidFill>
            <a:srgbClr val="5B7FC7"/>
          </a:solidFill>
          <a:ln/>
        </p:spPr>
        <p:txBody>
          <a:bodyPr/>
          <a:lstStyle/>
          <a:p>
            <a:endParaRPr lang="ko-KR" altLang="en-US" sz="1634"/>
          </a:p>
        </p:txBody>
      </p:sp>
      <p:sp>
        <p:nvSpPr>
          <p:cNvPr id="19" name="Text 17">
            <a:extLst>
              <a:ext uri="{FF2B5EF4-FFF2-40B4-BE49-F238E27FC236}">
                <a16:creationId xmlns:a16="http://schemas.microsoft.com/office/drawing/2014/main" id="{B166E648-13FB-A004-AB42-48E1FE64E13F}"/>
              </a:ext>
            </a:extLst>
          </p:cNvPr>
          <p:cNvSpPr/>
          <p:nvPr/>
        </p:nvSpPr>
        <p:spPr>
          <a:xfrm>
            <a:off x="743249" y="3582776"/>
            <a:ext cx="2256333" cy="234573"/>
          </a:xfrm>
          <a:prstGeom prst="rect">
            <a:avLst/>
          </a:prstGeom>
          <a:noFill/>
          <a:ln/>
        </p:spPr>
        <p:txBody>
          <a:bodyPr wrap="square" rtlCol="0" anchor="ctr"/>
          <a:lstStyle/>
          <a:p>
            <a:r>
              <a:rPr lang="en-US" sz="941" dirty="0">
                <a:solidFill>
                  <a:srgbClr val="CADCFC"/>
                </a:solidFill>
                <a:latin typeface="맑은 고딕" pitchFamily="34" charset="0"/>
                <a:ea typeface="맑은 고딕" pitchFamily="34" charset="-122"/>
                <a:cs typeface="맑은 고딕" pitchFamily="34" charset="-120"/>
              </a:rPr>
              <a:t>1단계</a:t>
            </a:r>
            <a:endParaRPr lang="en-US" sz="941" dirty="0"/>
          </a:p>
        </p:txBody>
      </p:sp>
      <p:sp>
        <p:nvSpPr>
          <p:cNvPr id="21" name="Text 18">
            <a:extLst>
              <a:ext uri="{FF2B5EF4-FFF2-40B4-BE49-F238E27FC236}">
                <a16:creationId xmlns:a16="http://schemas.microsoft.com/office/drawing/2014/main" id="{356144D4-C104-3B88-56C5-F001655C717B}"/>
              </a:ext>
            </a:extLst>
          </p:cNvPr>
          <p:cNvSpPr/>
          <p:nvPr/>
        </p:nvSpPr>
        <p:spPr>
          <a:xfrm>
            <a:off x="743249" y="3817349"/>
            <a:ext cx="2256333" cy="312764"/>
          </a:xfrm>
          <a:prstGeom prst="rect">
            <a:avLst/>
          </a:prstGeom>
          <a:noFill/>
          <a:ln/>
        </p:spPr>
        <p:txBody>
          <a:bodyPr wrap="square" rtlCol="0" anchor="ctr"/>
          <a:lstStyle/>
          <a:p>
            <a:r>
              <a:rPr lang="en-US" sz="1282" b="1" dirty="0" err="1">
                <a:solidFill>
                  <a:srgbClr val="FFFFFF"/>
                </a:solidFill>
                <a:latin typeface="맑은 고딕" pitchFamily="34" charset="0"/>
                <a:ea typeface="맑은 고딕" pitchFamily="34" charset="-122"/>
                <a:cs typeface="맑은 고딕" pitchFamily="34" charset="-120"/>
              </a:rPr>
              <a:t>초단기</a:t>
            </a:r>
            <a:r>
              <a:rPr lang="en-US" sz="1282" b="1" dirty="0">
                <a:solidFill>
                  <a:srgbClr val="FFFFFF"/>
                </a:solidFill>
                <a:latin typeface="맑은 고딕" pitchFamily="34" charset="0"/>
                <a:ea typeface="맑은 고딕" pitchFamily="34" charset="-122"/>
                <a:cs typeface="맑은 고딕" pitchFamily="34" charset="-120"/>
              </a:rPr>
              <a:t> </a:t>
            </a:r>
            <a:r>
              <a:rPr lang="ko-KR" altLang="en-US" sz="1282" b="1" dirty="0">
                <a:solidFill>
                  <a:srgbClr val="FFFFFF"/>
                </a:solidFill>
                <a:latin typeface="맑은 고딕" pitchFamily="34" charset="0"/>
                <a:ea typeface="맑은 고딕" pitchFamily="34" charset="-122"/>
                <a:cs typeface="맑은 고딕" pitchFamily="34" charset="-120"/>
              </a:rPr>
              <a:t>신속 </a:t>
            </a:r>
            <a:r>
              <a:rPr lang="en-US" sz="1282" b="1" dirty="0" err="1">
                <a:solidFill>
                  <a:srgbClr val="FFFFFF"/>
                </a:solidFill>
                <a:latin typeface="맑은 고딕" pitchFamily="34" charset="0"/>
                <a:ea typeface="맑은 고딕" pitchFamily="34" charset="-122"/>
                <a:cs typeface="맑은 고딕" pitchFamily="34" charset="-120"/>
              </a:rPr>
              <a:t>진단</a:t>
            </a:r>
            <a:endParaRPr lang="en-US" sz="1282" dirty="0"/>
          </a:p>
        </p:txBody>
      </p:sp>
      <p:sp>
        <p:nvSpPr>
          <p:cNvPr id="23" name="Text 19">
            <a:extLst>
              <a:ext uri="{FF2B5EF4-FFF2-40B4-BE49-F238E27FC236}">
                <a16:creationId xmlns:a16="http://schemas.microsoft.com/office/drawing/2014/main" id="{B20D6683-A0DF-57C0-3E5F-CD530EF2AA22}"/>
              </a:ext>
            </a:extLst>
          </p:cNvPr>
          <p:cNvSpPr/>
          <p:nvPr/>
        </p:nvSpPr>
        <p:spPr>
          <a:xfrm>
            <a:off x="743249" y="4169208"/>
            <a:ext cx="2256333" cy="390955"/>
          </a:xfrm>
          <a:prstGeom prst="rect">
            <a:avLst/>
          </a:prstGeom>
          <a:noFill/>
          <a:ln/>
        </p:spPr>
        <p:txBody>
          <a:bodyPr wrap="square" rtlCol="0" anchor="ctr"/>
          <a:lstStyle/>
          <a:p>
            <a:r>
              <a:rPr lang="en-US" sz="855" dirty="0">
                <a:solidFill>
                  <a:srgbClr val="E8F1FF"/>
                </a:solidFill>
                <a:latin typeface="맑은 고딕" pitchFamily="34" charset="0"/>
                <a:ea typeface="맑은 고딕" pitchFamily="34" charset="-122"/>
                <a:cs typeface="맑은 고딕" pitchFamily="34" charset="-120"/>
              </a:rPr>
              <a:t>연결 직후 1~10초</a:t>
            </a:r>
            <a:endParaRPr lang="en-US" sz="855" dirty="0"/>
          </a:p>
        </p:txBody>
      </p:sp>
      <p:sp>
        <p:nvSpPr>
          <p:cNvPr id="25" name="Shape 20">
            <a:extLst>
              <a:ext uri="{FF2B5EF4-FFF2-40B4-BE49-F238E27FC236}">
                <a16:creationId xmlns:a16="http://schemas.microsoft.com/office/drawing/2014/main" id="{0876F2E8-F535-75E2-544D-F07CF6932B87}"/>
              </a:ext>
            </a:extLst>
          </p:cNvPr>
          <p:cNvSpPr/>
          <p:nvPr/>
        </p:nvSpPr>
        <p:spPr>
          <a:xfrm>
            <a:off x="743249" y="4638354"/>
            <a:ext cx="2256333" cy="0"/>
          </a:xfrm>
          <a:prstGeom prst="line">
            <a:avLst/>
          </a:prstGeom>
          <a:noFill/>
          <a:ln w="9525">
            <a:solidFill>
              <a:srgbClr val="8FA6D9"/>
            </a:solidFill>
            <a:prstDash val="solid"/>
          </a:ln>
        </p:spPr>
        <p:txBody>
          <a:bodyPr/>
          <a:lstStyle/>
          <a:p>
            <a:endParaRPr lang="ko-KR" altLang="en-US" sz="1634"/>
          </a:p>
        </p:txBody>
      </p:sp>
      <p:sp>
        <p:nvSpPr>
          <p:cNvPr id="27" name="Text 21">
            <a:extLst>
              <a:ext uri="{FF2B5EF4-FFF2-40B4-BE49-F238E27FC236}">
                <a16:creationId xmlns:a16="http://schemas.microsoft.com/office/drawing/2014/main" id="{9B243EB2-4D3C-3C0A-050D-D4ED2B3FAD6E}"/>
              </a:ext>
            </a:extLst>
          </p:cNvPr>
          <p:cNvSpPr/>
          <p:nvPr/>
        </p:nvSpPr>
        <p:spPr>
          <a:xfrm>
            <a:off x="743249" y="4755640"/>
            <a:ext cx="2256333" cy="1016483"/>
          </a:xfrm>
          <a:prstGeom prst="rect">
            <a:avLst/>
          </a:prstGeom>
          <a:noFill/>
          <a:ln/>
        </p:spPr>
        <p:txBody>
          <a:bodyPr wrap="square" rtlCol="0" anchor="t"/>
          <a:lstStyle/>
          <a:p>
            <a:r>
              <a:rPr lang="en-US" sz="855" dirty="0">
                <a:solidFill>
                  <a:srgbClr val="FFFFFF"/>
                </a:solidFill>
                <a:latin typeface="맑은 고딕" pitchFamily="34" charset="0"/>
                <a:ea typeface="맑은 고딕" pitchFamily="34" charset="-122"/>
                <a:cs typeface="맑은 고딕" pitchFamily="34" charset="-120"/>
              </a:rPr>
              <a:t>순간 전압 강하 (신뢰도 30%)</a:t>
            </a:r>
            <a:endParaRPr lang="en-US" sz="855" dirty="0"/>
          </a:p>
        </p:txBody>
      </p:sp>
      <p:sp>
        <p:nvSpPr>
          <p:cNvPr id="29" name="Shape 22">
            <a:extLst>
              <a:ext uri="{FF2B5EF4-FFF2-40B4-BE49-F238E27FC236}">
                <a16:creationId xmlns:a16="http://schemas.microsoft.com/office/drawing/2014/main" id="{8405A000-B955-BF9A-DD59-9BB50939B887}"/>
              </a:ext>
            </a:extLst>
          </p:cNvPr>
          <p:cNvSpPr/>
          <p:nvPr/>
        </p:nvSpPr>
        <p:spPr>
          <a:xfrm>
            <a:off x="3323551" y="3426396"/>
            <a:ext cx="2567552" cy="2502112"/>
          </a:xfrm>
          <a:prstGeom prst="roundRect">
            <a:avLst>
              <a:gd name="adj" fmla="val 2500"/>
            </a:avLst>
          </a:prstGeom>
          <a:solidFill>
            <a:srgbClr val="1D4ED8"/>
          </a:solidFill>
          <a:ln/>
        </p:spPr>
        <p:txBody>
          <a:bodyPr/>
          <a:lstStyle/>
          <a:p>
            <a:endParaRPr lang="ko-KR" altLang="en-US" sz="1634"/>
          </a:p>
        </p:txBody>
      </p:sp>
      <p:sp>
        <p:nvSpPr>
          <p:cNvPr id="31" name="Text 23">
            <a:extLst>
              <a:ext uri="{FF2B5EF4-FFF2-40B4-BE49-F238E27FC236}">
                <a16:creationId xmlns:a16="http://schemas.microsoft.com/office/drawing/2014/main" id="{3C2F7D7E-0999-0CBF-A31F-6F86D642019E}"/>
              </a:ext>
            </a:extLst>
          </p:cNvPr>
          <p:cNvSpPr/>
          <p:nvPr/>
        </p:nvSpPr>
        <p:spPr>
          <a:xfrm>
            <a:off x="3479934" y="3582776"/>
            <a:ext cx="2256333" cy="234573"/>
          </a:xfrm>
          <a:prstGeom prst="rect">
            <a:avLst/>
          </a:prstGeom>
          <a:noFill/>
          <a:ln/>
        </p:spPr>
        <p:txBody>
          <a:bodyPr wrap="square" rtlCol="0" anchor="ctr"/>
          <a:lstStyle/>
          <a:p>
            <a:r>
              <a:rPr lang="en-US" sz="941" dirty="0">
                <a:solidFill>
                  <a:srgbClr val="CADCFC"/>
                </a:solidFill>
                <a:latin typeface="맑은 고딕" pitchFamily="34" charset="0"/>
                <a:ea typeface="맑은 고딕" pitchFamily="34" charset="-122"/>
                <a:cs typeface="맑은 고딕" pitchFamily="34" charset="-120"/>
              </a:rPr>
              <a:t>2단계</a:t>
            </a:r>
            <a:endParaRPr lang="en-US" sz="941" dirty="0"/>
          </a:p>
        </p:txBody>
      </p:sp>
      <p:sp>
        <p:nvSpPr>
          <p:cNvPr id="33" name="Text 24">
            <a:extLst>
              <a:ext uri="{FF2B5EF4-FFF2-40B4-BE49-F238E27FC236}">
                <a16:creationId xmlns:a16="http://schemas.microsoft.com/office/drawing/2014/main" id="{DF4B43FC-3F98-B49A-3EDE-FA9DB549FB95}"/>
              </a:ext>
            </a:extLst>
          </p:cNvPr>
          <p:cNvSpPr/>
          <p:nvPr/>
        </p:nvSpPr>
        <p:spPr>
          <a:xfrm>
            <a:off x="3479934" y="3817349"/>
            <a:ext cx="2256333" cy="312764"/>
          </a:xfrm>
          <a:prstGeom prst="rect">
            <a:avLst/>
          </a:prstGeom>
          <a:noFill/>
          <a:ln/>
        </p:spPr>
        <p:txBody>
          <a:bodyPr wrap="square" rtlCol="0" anchor="ctr"/>
          <a:lstStyle/>
          <a:p>
            <a:r>
              <a:rPr lang="en-US" sz="1282" b="1" dirty="0" err="1">
                <a:solidFill>
                  <a:srgbClr val="FFFFFF"/>
                </a:solidFill>
                <a:latin typeface="맑은 고딕" pitchFamily="34" charset="0"/>
                <a:ea typeface="맑은 고딕" pitchFamily="34" charset="-122"/>
                <a:cs typeface="맑은 고딕" pitchFamily="34" charset="-120"/>
              </a:rPr>
              <a:t>중기</a:t>
            </a:r>
            <a:r>
              <a:rPr lang="en-US" sz="1282" b="1" dirty="0">
                <a:solidFill>
                  <a:srgbClr val="FFFFFF"/>
                </a:solidFill>
                <a:latin typeface="맑은 고딕" pitchFamily="34" charset="0"/>
                <a:ea typeface="맑은 고딕" pitchFamily="34" charset="-122"/>
                <a:cs typeface="맑은 고딕" pitchFamily="34" charset="-120"/>
              </a:rPr>
              <a:t> 진단</a:t>
            </a:r>
            <a:endParaRPr lang="en-US" sz="1282" dirty="0"/>
          </a:p>
        </p:txBody>
      </p:sp>
      <p:sp>
        <p:nvSpPr>
          <p:cNvPr id="35" name="Text 25">
            <a:extLst>
              <a:ext uri="{FF2B5EF4-FFF2-40B4-BE49-F238E27FC236}">
                <a16:creationId xmlns:a16="http://schemas.microsoft.com/office/drawing/2014/main" id="{3F39620D-AEA7-CED1-31DA-160AE859543A}"/>
              </a:ext>
            </a:extLst>
          </p:cNvPr>
          <p:cNvSpPr/>
          <p:nvPr/>
        </p:nvSpPr>
        <p:spPr>
          <a:xfrm>
            <a:off x="3479934" y="4169208"/>
            <a:ext cx="2256333" cy="390955"/>
          </a:xfrm>
          <a:prstGeom prst="rect">
            <a:avLst/>
          </a:prstGeom>
          <a:noFill/>
          <a:ln/>
        </p:spPr>
        <p:txBody>
          <a:bodyPr wrap="square" rtlCol="0" anchor="ctr"/>
          <a:lstStyle/>
          <a:p>
            <a:r>
              <a:rPr lang="en-US" sz="855" dirty="0">
                <a:solidFill>
                  <a:srgbClr val="E8F1FF"/>
                </a:solidFill>
                <a:latin typeface="맑은 고딕" pitchFamily="34" charset="0"/>
                <a:ea typeface="맑은 고딕" pitchFamily="34" charset="-122"/>
                <a:cs typeface="맑은 고딕" pitchFamily="34" charset="-120"/>
              </a:rPr>
              <a:t>1분 ~ 10분</a:t>
            </a:r>
            <a:endParaRPr lang="en-US" sz="855" dirty="0"/>
          </a:p>
        </p:txBody>
      </p:sp>
      <p:sp>
        <p:nvSpPr>
          <p:cNvPr id="37" name="Shape 26">
            <a:extLst>
              <a:ext uri="{FF2B5EF4-FFF2-40B4-BE49-F238E27FC236}">
                <a16:creationId xmlns:a16="http://schemas.microsoft.com/office/drawing/2014/main" id="{B23728E3-3B7B-99E1-A3F6-993CF61B87A7}"/>
              </a:ext>
            </a:extLst>
          </p:cNvPr>
          <p:cNvSpPr/>
          <p:nvPr/>
        </p:nvSpPr>
        <p:spPr>
          <a:xfrm>
            <a:off x="3479934" y="4638354"/>
            <a:ext cx="2256333" cy="0"/>
          </a:xfrm>
          <a:prstGeom prst="line">
            <a:avLst/>
          </a:prstGeom>
          <a:noFill/>
          <a:ln w="9525">
            <a:solidFill>
              <a:srgbClr val="8FA6D9"/>
            </a:solidFill>
            <a:prstDash val="solid"/>
          </a:ln>
        </p:spPr>
        <p:txBody>
          <a:bodyPr/>
          <a:lstStyle/>
          <a:p>
            <a:endParaRPr lang="ko-KR" altLang="en-US" sz="1634"/>
          </a:p>
        </p:txBody>
      </p:sp>
      <p:sp>
        <p:nvSpPr>
          <p:cNvPr id="39" name="Text 27">
            <a:extLst>
              <a:ext uri="{FF2B5EF4-FFF2-40B4-BE49-F238E27FC236}">
                <a16:creationId xmlns:a16="http://schemas.microsoft.com/office/drawing/2014/main" id="{2B1E281D-535F-6026-827B-195E0130CF3C}"/>
              </a:ext>
            </a:extLst>
          </p:cNvPr>
          <p:cNvSpPr/>
          <p:nvPr/>
        </p:nvSpPr>
        <p:spPr>
          <a:xfrm>
            <a:off x="3479934" y="4755640"/>
            <a:ext cx="2256333" cy="1016483"/>
          </a:xfrm>
          <a:prstGeom prst="rect">
            <a:avLst/>
          </a:prstGeom>
          <a:noFill/>
          <a:ln/>
        </p:spPr>
        <p:txBody>
          <a:bodyPr wrap="square" rtlCol="0" anchor="t"/>
          <a:lstStyle/>
          <a:p>
            <a:r>
              <a:rPr lang="en-US" sz="855" dirty="0">
                <a:solidFill>
                  <a:srgbClr val="FFFFFF"/>
                </a:solidFill>
                <a:latin typeface="맑은 고딕" pitchFamily="34" charset="0"/>
                <a:ea typeface="맑은 고딕" pitchFamily="34" charset="-122"/>
                <a:cs typeface="맑은 고딕" pitchFamily="34" charset="-120"/>
              </a:rPr>
              <a:t>표면 온도 상승 기울기 (신뢰도 70%)</a:t>
            </a:r>
            <a:endParaRPr lang="en-US" sz="855" dirty="0"/>
          </a:p>
        </p:txBody>
      </p:sp>
      <p:sp>
        <p:nvSpPr>
          <p:cNvPr id="41" name="Shape 28">
            <a:extLst>
              <a:ext uri="{FF2B5EF4-FFF2-40B4-BE49-F238E27FC236}">
                <a16:creationId xmlns:a16="http://schemas.microsoft.com/office/drawing/2014/main" id="{0F7BF8F2-D0CF-E7C1-C86B-BB43CDB48A0A}"/>
              </a:ext>
            </a:extLst>
          </p:cNvPr>
          <p:cNvSpPr/>
          <p:nvPr/>
        </p:nvSpPr>
        <p:spPr>
          <a:xfrm>
            <a:off x="6060234" y="3426396"/>
            <a:ext cx="2567552" cy="2502112"/>
          </a:xfrm>
          <a:prstGeom prst="roundRect">
            <a:avLst>
              <a:gd name="adj" fmla="val 2500"/>
            </a:avLst>
          </a:prstGeom>
          <a:solidFill>
            <a:srgbClr val="3B5BA7"/>
          </a:solidFill>
          <a:ln/>
        </p:spPr>
        <p:txBody>
          <a:bodyPr/>
          <a:lstStyle/>
          <a:p>
            <a:endParaRPr lang="ko-KR" altLang="en-US" sz="1634"/>
          </a:p>
        </p:txBody>
      </p:sp>
      <p:sp>
        <p:nvSpPr>
          <p:cNvPr id="43" name="Text 29">
            <a:extLst>
              <a:ext uri="{FF2B5EF4-FFF2-40B4-BE49-F238E27FC236}">
                <a16:creationId xmlns:a16="http://schemas.microsoft.com/office/drawing/2014/main" id="{BE03BB73-234B-05BD-6D1D-2890EE791CB5}"/>
              </a:ext>
            </a:extLst>
          </p:cNvPr>
          <p:cNvSpPr/>
          <p:nvPr/>
        </p:nvSpPr>
        <p:spPr>
          <a:xfrm>
            <a:off x="6216617" y="3582776"/>
            <a:ext cx="2256333" cy="234573"/>
          </a:xfrm>
          <a:prstGeom prst="rect">
            <a:avLst/>
          </a:prstGeom>
          <a:noFill/>
          <a:ln/>
        </p:spPr>
        <p:txBody>
          <a:bodyPr wrap="square" rtlCol="0" anchor="ctr"/>
          <a:lstStyle/>
          <a:p>
            <a:r>
              <a:rPr lang="en-US" sz="941" dirty="0">
                <a:solidFill>
                  <a:srgbClr val="CADCFC"/>
                </a:solidFill>
                <a:latin typeface="맑은 고딕" pitchFamily="34" charset="0"/>
                <a:ea typeface="맑은 고딕" pitchFamily="34" charset="-122"/>
                <a:cs typeface="맑은 고딕" pitchFamily="34" charset="-120"/>
              </a:rPr>
              <a:t>3단계</a:t>
            </a:r>
            <a:endParaRPr lang="en-US" sz="941" dirty="0"/>
          </a:p>
        </p:txBody>
      </p:sp>
      <p:sp>
        <p:nvSpPr>
          <p:cNvPr id="45" name="Text 30">
            <a:extLst>
              <a:ext uri="{FF2B5EF4-FFF2-40B4-BE49-F238E27FC236}">
                <a16:creationId xmlns:a16="http://schemas.microsoft.com/office/drawing/2014/main" id="{49C08D2C-6ACF-63B0-2BB1-CC658122403A}"/>
              </a:ext>
            </a:extLst>
          </p:cNvPr>
          <p:cNvSpPr/>
          <p:nvPr/>
        </p:nvSpPr>
        <p:spPr>
          <a:xfrm>
            <a:off x="6216617" y="3817349"/>
            <a:ext cx="2256333" cy="312764"/>
          </a:xfrm>
          <a:prstGeom prst="rect">
            <a:avLst/>
          </a:prstGeom>
          <a:noFill/>
          <a:ln/>
        </p:spPr>
        <p:txBody>
          <a:bodyPr wrap="square" rtlCol="0" anchor="ctr"/>
          <a:lstStyle/>
          <a:p>
            <a:r>
              <a:rPr lang="en-US" sz="1282" b="1" dirty="0">
                <a:solidFill>
                  <a:srgbClr val="FFFFFF"/>
                </a:solidFill>
                <a:latin typeface="맑은 고딕" pitchFamily="34" charset="0"/>
                <a:ea typeface="맑은 고딕" pitchFamily="34" charset="-122"/>
                <a:cs typeface="맑은 고딕" pitchFamily="34" charset="-120"/>
              </a:rPr>
              <a:t>장기 심층 진단</a:t>
            </a:r>
            <a:endParaRPr lang="en-US" sz="1282" dirty="0"/>
          </a:p>
        </p:txBody>
      </p:sp>
      <p:sp>
        <p:nvSpPr>
          <p:cNvPr id="47" name="Text 31">
            <a:extLst>
              <a:ext uri="{FF2B5EF4-FFF2-40B4-BE49-F238E27FC236}">
                <a16:creationId xmlns:a16="http://schemas.microsoft.com/office/drawing/2014/main" id="{D953D908-064C-8FA8-B1EA-A6B122E30A66}"/>
              </a:ext>
            </a:extLst>
          </p:cNvPr>
          <p:cNvSpPr/>
          <p:nvPr/>
        </p:nvSpPr>
        <p:spPr>
          <a:xfrm>
            <a:off x="6216617" y="4169208"/>
            <a:ext cx="2256333" cy="390955"/>
          </a:xfrm>
          <a:prstGeom prst="rect">
            <a:avLst/>
          </a:prstGeom>
          <a:noFill/>
          <a:ln/>
        </p:spPr>
        <p:txBody>
          <a:bodyPr wrap="square" rtlCol="0" anchor="ctr"/>
          <a:lstStyle/>
          <a:p>
            <a:r>
              <a:rPr lang="en-US" sz="855" dirty="0">
                <a:solidFill>
                  <a:srgbClr val="E8F1FF"/>
                </a:solidFill>
                <a:latin typeface="맑은 고딕" pitchFamily="34" charset="0"/>
                <a:ea typeface="맑은 고딕" pitchFamily="34" charset="-122"/>
                <a:cs typeface="맑은 고딕" pitchFamily="34" charset="-120"/>
              </a:rPr>
              <a:t>30분 ~ 안전 종료 전압까지</a:t>
            </a:r>
            <a:endParaRPr lang="en-US" sz="855" dirty="0"/>
          </a:p>
        </p:txBody>
      </p:sp>
      <p:sp>
        <p:nvSpPr>
          <p:cNvPr id="49" name="Shape 32">
            <a:extLst>
              <a:ext uri="{FF2B5EF4-FFF2-40B4-BE49-F238E27FC236}">
                <a16:creationId xmlns:a16="http://schemas.microsoft.com/office/drawing/2014/main" id="{76EF7B2D-51A0-C84E-BB09-6B121A0B4111}"/>
              </a:ext>
            </a:extLst>
          </p:cNvPr>
          <p:cNvSpPr/>
          <p:nvPr/>
        </p:nvSpPr>
        <p:spPr>
          <a:xfrm>
            <a:off x="6216617" y="4638354"/>
            <a:ext cx="2256333" cy="0"/>
          </a:xfrm>
          <a:prstGeom prst="line">
            <a:avLst/>
          </a:prstGeom>
          <a:noFill/>
          <a:ln w="9525">
            <a:solidFill>
              <a:srgbClr val="8FA6D9"/>
            </a:solidFill>
            <a:prstDash val="solid"/>
          </a:ln>
        </p:spPr>
        <p:txBody>
          <a:bodyPr/>
          <a:lstStyle/>
          <a:p>
            <a:endParaRPr lang="ko-KR" altLang="en-US" sz="1634"/>
          </a:p>
        </p:txBody>
      </p:sp>
      <p:sp>
        <p:nvSpPr>
          <p:cNvPr id="51" name="Text 33">
            <a:extLst>
              <a:ext uri="{FF2B5EF4-FFF2-40B4-BE49-F238E27FC236}">
                <a16:creationId xmlns:a16="http://schemas.microsoft.com/office/drawing/2014/main" id="{38D368E1-0152-9F30-ECCC-A10EDDC065E5}"/>
              </a:ext>
            </a:extLst>
          </p:cNvPr>
          <p:cNvSpPr/>
          <p:nvPr/>
        </p:nvSpPr>
        <p:spPr>
          <a:xfrm>
            <a:off x="6216617" y="4755640"/>
            <a:ext cx="2256333" cy="1016483"/>
          </a:xfrm>
          <a:prstGeom prst="rect">
            <a:avLst/>
          </a:prstGeom>
          <a:noFill/>
          <a:ln/>
        </p:spPr>
        <p:txBody>
          <a:bodyPr wrap="square" rtlCol="0" anchor="t"/>
          <a:lstStyle/>
          <a:p>
            <a:r>
              <a:rPr lang="en-US" sz="855" dirty="0">
                <a:solidFill>
                  <a:srgbClr val="FFFFFF"/>
                </a:solidFill>
                <a:latin typeface="맑은 고딕" pitchFamily="34" charset="0"/>
                <a:ea typeface="맑은 고딕" pitchFamily="34" charset="-122"/>
                <a:cs typeface="맑은 고딕" pitchFamily="34" charset="-120"/>
              </a:rPr>
              <a:t>누적 방전 용량 · SOH (신뢰도 100%)</a:t>
            </a:r>
            <a:endParaRPr lang="en-US" sz="855" dirty="0"/>
          </a:p>
        </p:txBody>
      </p:sp>
    </p:spTree>
    <p:extLst>
      <p:ext uri="{BB962C8B-B14F-4D97-AF65-F5344CB8AC3E}">
        <p14:creationId xmlns:p14="http://schemas.microsoft.com/office/powerpoint/2010/main" val="32643593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BD3CB-CDEF-56BA-9FFB-01B46107C880}"/>
            </a:ext>
          </a:extLst>
        </p:cNvPr>
        <p:cNvGrpSpPr/>
        <p:nvPr/>
      </p:nvGrpSpPr>
      <p:grpSpPr>
        <a:xfrm>
          <a:off x="0" y="0"/>
          <a:ext cx="0" cy="0"/>
          <a:chOff x="0" y="0"/>
          <a:chExt cx="0" cy="0"/>
        </a:xfrm>
      </p:grpSpPr>
      <p:sp>
        <p:nvSpPr>
          <p:cNvPr id="30" name="직사각형 30"/>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1" name="직선 연결선 31"/>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 name="직선 연결선 32"/>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33" name="제목 33"/>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핵심 5 state</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34" name="막힌 원호 34"/>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1140EA93-3C12-C1A0-D55C-52644E2E6556}"/>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A259F2D9-58D2-A0A7-E694-B1A1AA615C93}"/>
              </a:ext>
            </a:extLst>
          </p:cNvPr>
          <p:cNvPicPr/>
          <p:nvPr/>
        </p:nvPicPr>
        <p:blipFill>
          <a:blip r:embed="rId4" cstate="print"/>
          <a:stretch>
            <a:fillRect/>
          </a:stretch>
        </p:blipFill>
        <p:spPr>
          <a:xfrm>
            <a:off x="7275128" y="314247"/>
            <a:ext cx="1325611" cy="307338"/>
          </a:xfrm>
          <a:prstGeom prst="rect">
            <a:avLst/>
          </a:prstGeom>
        </p:spPr>
      </p:pic>
      <p:graphicFrame>
        <p:nvGraphicFramePr>
          <p:cNvPr id="9" name="Table 0">
            <a:extLst>
              <a:ext uri="{FF2B5EF4-FFF2-40B4-BE49-F238E27FC236}">
                <a16:creationId xmlns:a16="http://schemas.microsoft.com/office/drawing/2014/main" id="{346C2F6D-5861-C87A-57D3-BF78F2571B46}"/>
              </a:ext>
            </a:extLst>
          </p:cNvPr>
          <p:cNvGraphicFramePr>
            <a:graphicFrameLocks noGrp="1"/>
          </p:cNvGraphicFramePr>
          <p:nvPr/>
        </p:nvGraphicFramePr>
        <p:xfrm>
          <a:off x="597292" y="1990142"/>
          <a:ext cx="8003447" cy="781910"/>
        </p:xfrm>
        <a:graphic>
          <a:graphicData uri="http://schemas.openxmlformats.org/drawingml/2006/table">
            <a:tbl>
              <a:tblPr/>
              <a:tblGrid>
                <a:gridCol w="1243253">
                  <a:extLst>
                    <a:ext uri="{9D8B030D-6E8A-4147-A177-3AD203B41FA5}">
                      <a16:colId xmlns:a16="http://schemas.microsoft.com/office/drawing/2014/main" val="20000"/>
                    </a:ext>
                  </a:extLst>
                </a:gridCol>
                <a:gridCol w="6760194">
                  <a:extLst>
                    <a:ext uri="{9D8B030D-6E8A-4147-A177-3AD203B41FA5}">
                      <a16:colId xmlns:a16="http://schemas.microsoft.com/office/drawing/2014/main" val="20001"/>
                    </a:ext>
                  </a:extLst>
                </a:gridCol>
              </a:tblGrid>
              <a:tr h="390955">
                <a:tc>
                  <a:txBody>
                    <a:bodyPr/>
                    <a:lstStyle/>
                    <a:p>
                      <a:pPr marL="0" indent="0">
                        <a:buNone/>
                      </a:pPr>
                      <a:r>
                        <a:rPr lang="en-US" sz="800" b="1" dirty="0">
                          <a:solidFill>
                            <a:srgbClr val="000000"/>
                          </a:solidFill>
                          <a:latin typeface="맑은 고딕" pitchFamily="34" charset="0"/>
                          <a:ea typeface="맑은 고딕" pitchFamily="34" charset="-122"/>
                          <a:cs typeface="맑은 고딕" pitchFamily="34" charset="-120"/>
                        </a:rPr>
                        <a:t>목적</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전기적 즉각 응답 및 셀 노후도 1차 판정 (연결 직후 1~10초)</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0"/>
                  </a:ext>
                </a:extLst>
              </a:tr>
              <a:tr h="390955">
                <a:tc>
                  <a:txBody>
                    <a:bodyPr/>
                    <a:lstStyle/>
                    <a:p>
                      <a:pPr marL="0" indent="0">
                        <a:buNone/>
                      </a:pPr>
                      <a:r>
                        <a:rPr lang="en-US" sz="800" b="1" dirty="0">
                          <a:solidFill>
                            <a:srgbClr val="000000"/>
                          </a:solidFill>
                          <a:latin typeface="맑은 고딕" pitchFamily="34" charset="0"/>
                          <a:ea typeface="맑은 고딕" pitchFamily="34" charset="-122"/>
                          <a:cs typeface="맑은 고딕" pitchFamily="34" charset="-120"/>
                        </a:rPr>
                        <a:t>측정 요소</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순간 전압 강하 (Voltage Drop)</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1" name="Shape 12">
            <a:extLst>
              <a:ext uri="{FF2B5EF4-FFF2-40B4-BE49-F238E27FC236}">
                <a16:creationId xmlns:a16="http://schemas.microsoft.com/office/drawing/2014/main" id="{EB32D0FE-6EF7-6522-169E-98EE39C2D6C6}"/>
              </a:ext>
            </a:extLst>
          </p:cNvPr>
          <p:cNvSpPr/>
          <p:nvPr/>
        </p:nvSpPr>
        <p:spPr>
          <a:xfrm>
            <a:off x="612933" y="3074659"/>
            <a:ext cx="69932" cy="172020"/>
          </a:xfrm>
          <a:prstGeom prst="rect">
            <a:avLst/>
          </a:prstGeom>
          <a:solidFill>
            <a:srgbClr val="3B5BA7"/>
          </a:solidFill>
          <a:ln/>
        </p:spPr>
        <p:txBody>
          <a:bodyPr/>
          <a:lstStyle/>
          <a:p>
            <a:endParaRPr lang="ko-KR" altLang="en-US" sz="1634"/>
          </a:p>
        </p:txBody>
      </p:sp>
      <p:sp>
        <p:nvSpPr>
          <p:cNvPr id="13" name="Text 13">
            <a:extLst>
              <a:ext uri="{FF2B5EF4-FFF2-40B4-BE49-F238E27FC236}">
                <a16:creationId xmlns:a16="http://schemas.microsoft.com/office/drawing/2014/main" id="{2E02625E-CB7B-AEE6-4F64-DB303B860F8F}"/>
              </a:ext>
            </a:extLst>
          </p:cNvPr>
          <p:cNvSpPr/>
          <p:nvPr/>
        </p:nvSpPr>
        <p:spPr>
          <a:xfrm>
            <a:off x="753673" y="3051202"/>
            <a:ext cx="6216271"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측정 방법</a:t>
            </a:r>
            <a:endParaRPr lang="en-US" sz="1112" dirty="0"/>
          </a:p>
        </p:txBody>
      </p:sp>
      <p:sp>
        <p:nvSpPr>
          <p:cNvPr id="15" name="Shape 14">
            <a:extLst>
              <a:ext uri="{FF2B5EF4-FFF2-40B4-BE49-F238E27FC236}">
                <a16:creationId xmlns:a16="http://schemas.microsoft.com/office/drawing/2014/main" id="{4697113E-F7B4-8A19-488F-6FC6F3BEC2BC}"/>
              </a:ext>
            </a:extLst>
          </p:cNvPr>
          <p:cNvSpPr/>
          <p:nvPr/>
        </p:nvSpPr>
        <p:spPr>
          <a:xfrm>
            <a:off x="612929" y="3348333"/>
            <a:ext cx="8003448" cy="800942"/>
          </a:xfrm>
          <a:prstGeom prst="roundRect">
            <a:avLst>
              <a:gd name="adj" fmla="val 3684"/>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17" name="Text 15">
            <a:extLst>
              <a:ext uri="{FF2B5EF4-FFF2-40B4-BE49-F238E27FC236}">
                <a16:creationId xmlns:a16="http://schemas.microsoft.com/office/drawing/2014/main" id="{0376D520-9F74-3944-9013-794768ED8C2B}"/>
              </a:ext>
            </a:extLst>
          </p:cNvPr>
          <p:cNvSpPr/>
          <p:nvPr/>
        </p:nvSpPr>
        <p:spPr>
          <a:xfrm>
            <a:off x="769312" y="3449975"/>
            <a:ext cx="7692634" cy="1290151"/>
          </a:xfrm>
          <a:prstGeom prst="rect">
            <a:avLst/>
          </a:prstGeom>
          <a:noFill/>
          <a:ln/>
        </p:spPr>
        <p:txBody>
          <a:bodyPr wrap="square" rtlCol="0" anchor="t"/>
          <a:lstStyle/>
          <a:p>
            <a:pPr>
              <a:lnSpc>
                <a:spcPct val="130000"/>
              </a:lnSpc>
            </a:pPr>
            <a:r>
              <a:rPr lang="en-US" sz="898" dirty="0">
                <a:solidFill>
                  <a:srgbClr val="1E293B"/>
                </a:solidFill>
                <a:latin typeface="맑은 고딕" pitchFamily="34" charset="0"/>
                <a:ea typeface="맑은 고딕" pitchFamily="34" charset="-122"/>
                <a:cs typeface="맑은 고딕" pitchFamily="34" charset="-120"/>
              </a:rPr>
              <a:t>외부 완제품 배터리를 ZY12PDN에 연결하고 소프트웨어 인터페이스에서 모드3를 켜면, 릴레이 CH3가 켜지면서 즉각적으로 강한 스텝 부하(Step Load)를 걸고 INA226을 통해 전압이 얼마나 뚝 떨어지는지 정밀하게 측정한다.</a:t>
            </a:r>
            <a:endParaRPr lang="en-US" sz="898" dirty="0"/>
          </a:p>
        </p:txBody>
      </p:sp>
      <p:sp>
        <p:nvSpPr>
          <p:cNvPr id="19" name="Shape 16">
            <a:extLst>
              <a:ext uri="{FF2B5EF4-FFF2-40B4-BE49-F238E27FC236}">
                <a16:creationId xmlns:a16="http://schemas.microsoft.com/office/drawing/2014/main" id="{0564ACDE-2327-6FFD-216E-1A9E671322CD}"/>
              </a:ext>
            </a:extLst>
          </p:cNvPr>
          <p:cNvSpPr/>
          <p:nvPr/>
        </p:nvSpPr>
        <p:spPr>
          <a:xfrm>
            <a:off x="597295" y="4458517"/>
            <a:ext cx="69932" cy="172020"/>
          </a:xfrm>
          <a:prstGeom prst="rect">
            <a:avLst/>
          </a:prstGeom>
          <a:solidFill>
            <a:srgbClr val="3B5BA7"/>
          </a:solidFill>
          <a:ln/>
        </p:spPr>
        <p:txBody>
          <a:bodyPr/>
          <a:lstStyle/>
          <a:p>
            <a:endParaRPr lang="ko-KR" altLang="en-US" sz="1634"/>
          </a:p>
        </p:txBody>
      </p:sp>
      <p:sp>
        <p:nvSpPr>
          <p:cNvPr id="21" name="Text 17">
            <a:extLst>
              <a:ext uri="{FF2B5EF4-FFF2-40B4-BE49-F238E27FC236}">
                <a16:creationId xmlns:a16="http://schemas.microsoft.com/office/drawing/2014/main" id="{E354A03F-D3E2-7EF5-F4C4-D4EA7626B5E8}"/>
              </a:ext>
            </a:extLst>
          </p:cNvPr>
          <p:cNvSpPr/>
          <p:nvPr/>
        </p:nvSpPr>
        <p:spPr>
          <a:xfrm>
            <a:off x="738035" y="4435057"/>
            <a:ext cx="6216271"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대시보드 피드백</a:t>
            </a:r>
            <a:endParaRPr lang="en-US" sz="1112" dirty="0"/>
          </a:p>
        </p:txBody>
      </p:sp>
      <p:sp>
        <p:nvSpPr>
          <p:cNvPr id="23" name="Shape 18">
            <a:extLst>
              <a:ext uri="{FF2B5EF4-FFF2-40B4-BE49-F238E27FC236}">
                <a16:creationId xmlns:a16="http://schemas.microsoft.com/office/drawing/2014/main" id="{F28C9B1B-A50E-AC82-4147-B95FB79B2831}"/>
              </a:ext>
            </a:extLst>
          </p:cNvPr>
          <p:cNvSpPr/>
          <p:nvPr/>
        </p:nvSpPr>
        <p:spPr>
          <a:xfrm>
            <a:off x="597292" y="4732183"/>
            <a:ext cx="8003448" cy="1485628"/>
          </a:xfrm>
          <a:prstGeom prst="roundRect">
            <a:avLst>
              <a:gd name="adj" fmla="val 3684"/>
            </a:avLst>
          </a:prstGeom>
          <a:solidFill>
            <a:srgbClr val="E8F1FF"/>
          </a:solidFill>
          <a:ln/>
          <a:effectLst>
            <a:outerShdw blurRad="63500" dist="25400" dir="2700000" algn="bl" rotWithShape="0">
              <a:srgbClr val="000000">
                <a:alpha val="10000"/>
              </a:srgbClr>
            </a:outerShdw>
          </a:effectLst>
        </p:spPr>
        <p:txBody>
          <a:bodyPr/>
          <a:lstStyle/>
          <a:p>
            <a:endParaRPr lang="ko-KR" altLang="en-US" sz="1634"/>
          </a:p>
        </p:txBody>
      </p:sp>
      <p:sp>
        <p:nvSpPr>
          <p:cNvPr id="25" name="Text 19">
            <a:extLst>
              <a:ext uri="{FF2B5EF4-FFF2-40B4-BE49-F238E27FC236}">
                <a16:creationId xmlns:a16="http://schemas.microsoft.com/office/drawing/2014/main" id="{1F59AB8A-5154-904A-FBA9-983D5582BA84}"/>
              </a:ext>
            </a:extLst>
          </p:cNvPr>
          <p:cNvSpPr/>
          <p:nvPr/>
        </p:nvSpPr>
        <p:spPr>
          <a:xfrm>
            <a:off x="753674" y="4849469"/>
            <a:ext cx="7692634" cy="1329247"/>
          </a:xfrm>
          <a:prstGeom prst="rect">
            <a:avLst/>
          </a:prstGeom>
          <a:noFill/>
          <a:ln/>
        </p:spPr>
        <p:txBody>
          <a:bodyPr wrap="square" rtlCol="0" anchor="t"/>
          <a:lstStyle/>
          <a:p>
            <a:pPr>
              <a:lnSpc>
                <a:spcPct val="125000"/>
              </a:lnSpc>
              <a:spcAft>
                <a:spcPts val="513"/>
              </a:spcAft>
            </a:pPr>
            <a:r>
              <a:rPr lang="en-US" sz="898" b="1" dirty="0">
                <a:solidFill>
                  <a:srgbClr val="3B5BA7"/>
                </a:solidFill>
                <a:latin typeface="맑은 고딕" pitchFamily="34" charset="0"/>
                <a:ea typeface="맑은 고딕" pitchFamily="34" charset="-122"/>
                <a:cs typeface="맑은 고딕" pitchFamily="34" charset="-120"/>
              </a:rPr>
              <a:t>•  양호 (초록불):  </a:t>
            </a:r>
            <a:endParaRPr lang="en-US" sz="898" dirty="0"/>
          </a:p>
          <a:p>
            <a:pPr>
              <a:lnSpc>
                <a:spcPct val="125000"/>
              </a:lnSpc>
              <a:spcAft>
                <a:spcPts val="513"/>
              </a:spcAft>
            </a:pPr>
            <a:r>
              <a:rPr lang="en-US" sz="898" dirty="0">
                <a:solidFill>
                  <a:srgbClr val="1E293B"/>
                </a:solidFill>
                <a:latin typeface="맑은 고딕" pitchFamily="34" charset="0"/>
                <a:ea typeface="맑은 고딕" pitchFamily="34" charset="-122"/>
                <a:cs typeface="맑은 고딕" pitchFamily="34" charset="-120"/>
              </a:rPr>
              <a:t>•  "배터리 셀 직결 양호, 초기 전압 강하가 정상 범주에 있습니다."</a:t>
            </a:r>
            <a:endParaRPr lang="en-US" sz="898" dirty="0"/>
          </a:p>
          <a:p>
            <a:pPr>
              <a:lnSpc>
                <a:spcPct val="125000"/>
              </a:lnSpc>
              <a:spcAft>
                <a:spcPts val="513"/>
              </a:spcAft>
            </a:pPr>
            <a:r>
              <a:rPr lang="en-US" sz="898" b="1" dirty="0">
                <a:solidFill>
                  <a:srgbClr val="C0392B"/>
                </a:solidFill>
                <a:latin typeface="맑은 고딕" pitchFamily="34" charset="0"/>
                <a:ea typeface="맑은 고딕" pitchFamily="34" charset="-122"/>
                <a:cs typeface="맑은 고딕" pitchFamily="34" charset="-120"/>
              </a:rPr>
              <a:t>•  경고 (빨간불):  </a:t>
            </a:r>
            <a:endParaRPr lang="en-US" sz="898" dirty="0"/>
          </a:p>
          <a:p>
            <a:pPr>
              <a:lnSpc>
                <a:spcPct val="125000"/>
              </a:lnSpc>
              <a:spcAft>
                <a:spcPts val="513"/>
              </a:spcAft>
            </a:pPr>
            <a:r>
              <a:rPr lang="en-US" sz="898" dirty="0">
                <a:solidFill>
                  <a:srgbClr val="1E293B"/>
                </a:solidFill>
                <a:latin typeface="맑은 고딕" pitchFamily="34" charset="0"/>
                <a:ea typeface="맑은 고딕" pitchFamily="34" charset="-122"/>
                <a:cs typeface="맑은 고딕" pitchFamily="34" charset="-120"/>
              </a:rPr>
              <a:t>•  "셀 노후화 심각! (부하 인가 시 내부 저항으로 인한 전압 강하가 너무 큼, 방전 효율 저하 예상)"</a:t>
            </a:r>
            <a:endParaRPr lang="en-US" sz="898" dirty="0"/>
          </a:p>
        </p:txBody>
      </p:sp>
      <p:sp>
        <p:nvSpPr>
          <p:cNvPr id="27" name="Shape 12">
            <a:extLst>
              <a:ext uri="{FF2B5EF4-FFF2-40B4-BE49-F238E27FC236}">
                <a16:creationId xmlns:a16="http://schemas.microsoft.com/office/drawing/2014/main" id="{6B1C22DD-94D8-4EA2-C383-71593DB5CF0A}"/>
              </a:ext>
            </a:extLst>
          </p:cNvPr>
          <p:cNvSpPr/>
          <p:nvPr/>
        </p:nvSpPr>
        <p:spPr>
          <a:xfrm>
            <a:off x="597295" y="1626554"/>
            <a:ext cx="69932" cy="172020"/>
          </a:xfrm>
          <a:prstGeom prst="rect">
            <a:avLst/>
          </a:prstGeom>
          <a:solidFill>
            <a:srgbClr val="3B5BA7"/>
          </a:solidFill>
          <a:ln/>
        </p:spPr>
        <p:txBody>
          <a:bodyPr/>
          <a:lstStyle/>
          <a:p>
            <a:endParaRPr lang="ko-KR" altLang="en-US" sz="1634"/>
          </a:p>
        </p:txBody>
      </p:sp>
      <p:sp>
        <p:nvSpPr>
          <p:cNvPr id="29" name="Text 13">
            <a:extLst>
              <a:ext uri="{FF2B5EF4-FFF2-40B4-BE49-F238E27FC236}">
                <a16:creationId xmlns:a16="http://schemas.microsoft.com/office/drawing/2014/main" id="{559C0360-B740-1AEF-2113-6CD8E16C87BF}"/>
              </a:ext>
            </a:extLst>
          </p:cNvPr>
          <p:cNvSpPr/>
          <p:nvPr/>
        </p:nvSpPr>
        <p:spPr>
          <a:xfrm>
            <a:off x="738035" y="1603097"/>
            <a:ext cx="6216271"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rPr>
              <a:t>1</a:t>
            </a:r>
            <a:r>
              <a:rPr lang="ko-KR" altLang="en-US" sz="1112" b="1" dirty="0">
                <a:solidFill>
                  <a:srgbClr val="1E293B"/>
                </a:solidFill>
                <a:latin typeface="맑은 고딕" pitchFamily="34" charset="0"/>
                <a:ea typeface="맑은 고딕" pitchFamily="34" charset="-122"/>
              </a:rPr>
              <a:t>단계</a:t>
            </a:r>
            <a:r>
              <a:rPr lang="en-US" altLang="ko-KR" sz="1112" b="1" dirty="0">
                <a:solidFill>
                  <a:srgbClr val="1E293B"/>
                </a:solidFill>
                <a:latin typeface="맑은 고딕" pitchFamily="34" charset="0"/>
                <a:ea typeface="맑은 고딕" pitchFamily="34" charset="-122"/>
              </a:rPr>
              <a:t>: </a:t>
            </a:r>
            <a:r>
              <a:rPr lang="ko-KR" altLang="en-US" sz="1112" b="1" dirty="0" err="1">
                <a:solidFill>
                  <a:srgbClr val="1E293B"/>
                </a:solidFill>
                <a:latin typeface="맑은 고딕" pitchFamily="34" charset="0"/>
                <a:ea typeface="맑은 고딕" pitchFamily="34" charset="-122"/>
              </a:rPr>
              <a:t>초단기</a:t>
            </a:r>
            <a:r>
              <a:rPr lang="ko-KR" altLang="en-US" sz="1112" b="1" dirty="0">
                <a:solidFill>
                  <a:srgbClr val="1E293B"/>
                </a:solidFill>
                <a:latin typeface="맑은 고딕" pitchFamily="34" charset="0"/>
                <a:ea typeface="맑은 고딕" pitchFamily="34" charset="-122"/>
              </a:rPr>
              <a:t> 신속 진단</a:t>
            </a:r>
            <a:endParaRPr lang="en-US" sz="1112" dirty="0"/>
          </a:p>
        </p:txBody>
      </p:sp>
    </p:spTree>
    <p:extLst>
      <p:ext uri="{BB962C8B-B14F-4D97-AF65-F5344CB8AC3E}">
        <p14:creationId xmlns:p14="http://schemas.microsoft.com/office/powerpoint/2010/main" val="6291296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92566-F666-F150-43D3-0B9F4BFE9FF7}"/>
            </a:ext>
          </a:extLst>
        </p:cNvPr>
        <p:cNvGrpSpPr/>
        <p:nvPr/>
      </p:nvGrpSpPr>
      <p:grpSpPr>
        <a:xfrm>
          <a:off x="0" y="0"/>
          <a:ext cx="0" cy="0"/>
          <a:chOff x="0" y="0"/>
          <a:chExt cx="0" cy="0"/>
        </a:xfrm>
      </p:grpSpPr>
      <p:sp>
        <p:nvSpPr>
          <p:cNvPr id="30" name="직사각형 30"/>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1" name="직선 연결선 31"/>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 name="직선 연결선 32"/>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33" name="제목 33"/>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핵심 5 state</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34" name="막힌 원호 34"/>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1785E251-9099-C90B-9C32-AFC035D58536}"/>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A9E3F816-D48B-B6F4-7FF4-6C9847F9AE08}"/>
              </a:ext>
            </a:extLst>
          </p:cNvPr>
          <p:cNvPicPr/>
          <p:nvPr/>
        </p:nvPicPr>
        <p:blipFill>
          <a:blip r:embed="rId4" cstate="print"/>
          <a:stretch>
            <a:fillRect/>
          </a:stretch>
        </p:blipFill>
        <p:spPr>
          <a:xfrm>
            <a:off x="7275128" y="314247"/>
            <a:ext cx="1325611" cy="307338"/>
          </a:xfrm>
          <a:prstGeom prst="rect">
            <a:avLst/>
          </a:prstGeom>
        </p:spPr>
      </p:pic>
      <p:graphicFrame>
        <p:nvGraphicFramePr>
          <p:cNvPr id="9" name="Table 0">
            <a:extLst>
              <a:ext uri="{FF2B5EF4-FFF2-40B4-BE49-F238E27FC236}">
                <a16:creationId xmlns:a16="http://schemas.microsoft.com/office/drawing/2014/main" id="{2F9F9C65-24EB-3212-190D-C23589A86397}"/>
              </a:ext>
            </a:extLst>
          </p:cNvPr>
          <p:cNvGraphicFramePr>
            <a:graphicFrameLocks noGrp="1"/>
          </p:cNvGraphicFramePr>
          <p:nvPr/>
        </p:nvGraphicFramePr>
        <p:xfrm>
          <a:off x="587440" y="1999773"/>
          <a:ext cx="8013299" cy="781910"/>
        </p:xfrm>
        <a:graphic>
          <a:graphicData uri="http://schemas.openxmlformats.org/drawingml/2006/table">
            <a:tbl>
              <a:tblPr/>
              <a:tblGrid>
                <a:gridCol w="1244784">
                  <a:extLst>
                    <a:ext uri="{9D8B030D-6E8A-4147-A177-3AD203B41FA5}">
                      <a16:colId xmlns:a16="http://schemas.microsoft.com/office/drawing/2014/main" val="20000"/>
                    </a:ext>
                  </a:extLst>
                </a:gridCol>
                <a:gridCol w="6768515">
                  <a:extLst>
                    <a:ext uri="{9D8B030D-6E8A-4147-A177-3AD203B41FA5}">
                      <a16:colId xmlns:a16="http://schemas.microsoft.com/office/drawing/2014/main" val="20001"/>
                    </a:ext>
                  </a:extLst>
                </a:gridCol>
              </a:tblGrid>
              <a:tr h="390955">
                <a:tc>
                  <a:txBody>
                    <a:bodyPr/>
                    <a:lstStyle/>
                    <a:p>
                      <a:pPr marL="0" indent="0">
                        <a:buNone/>
                      </a:pPr>
                      <a:r>
                        <a:rPr lang="en-US" sz="800" b="1" dirty="0">
                          <a:solidFill>
                            <a:srgbClr val="000000"/>
                          </a:solidFill>
                          <a:latin typeface="맑은 고딕" pitchFamily="34" charset="0"/>
                          <a:ea typeface="맑은 고딕" pitchFamily="34" charset="-122"/>
                          <a:cs typeface="맑은 고딕" pitchFamily="34" charset="-120"/>
                        </a:rPr>
                        <a:t>목적</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발열 속도 및 출력 유지력 검사 (열폭주 전조 즉각 탐지, 1분~10분)</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0"/>
                  </a:ext>
                </a:extLst>
              </a:tr>
              <a:tr h="390955">
                <a:tc>
                  <a:txBody>
                    <a:bodyPr/>
                    <a:lstStyle/>
                    <a:p>
                      <a:pPr marL="0" indent="0">
                        <a:buNone/>
                      </a:pPr>
                      <a:r>
                        <a:rPr lang="en-US" sz="800" b="1" dirty="0">
                          <a:solidFill>
                            <a:srgbClr val="000000"/>
                          </a:solidFill>
                          <a:latin typeface="맑은 고딕" pitchFamily="34" charset="0"/>
                          <a:ea typeface="맑은 고딕" pitchFamily="34" charset="-122"/>
                          <a:cs typeface="맑은 고딕" pitchFamily="34" charset="-120"/>
                        </a:rPr>
                        <a:t>측정 요소</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표면 온도 상승 기울기 및 전압 유지 평탄도</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1" name="Shape 12">
            <a:extLst>
              <a:ext uri="{FF2B5EF4-FFF2-40B4-BE49-F238E27FC236}">
                <a16:creationId xmlns:a16="http://schemas.microsoft.com/office/drawing/2014/main" id="{356FDC8B-6AC7-8C87-E2E7-A9670F7D435E}"/>
              </a:ext>
            </a:extLst>
          </p:cNvPr>
          <p:cNvSpPr/>
          <p:nvPr/>
        </p:nvSpPr>
        <p:spPr>
          <a:xfrm>
            <a:off x="588002" y="2938946"/>
            <a:ext cx="70018" cy="172020"/>
          </a:xfrm>
          <a:prstGeom prst="rect">
            <a:avLst/>
          </a:prstGeom>
          <a:solidFill>
            <a:srgbClr val="3B5BA7"/>
          </a:solidFill>
          <a:ln/>
        </p:spPr>
        <p:txBody>
          <a:bodyPr/>
          <a:lstStyle/>
          <a:p>
            <a:endParaRPr lang="ko-KR" altLang="en-US" sz="1634"/>
          </a:p>
        </p:txBody>
      </p:sp>
      <p:sp>
        <p:nvSpPr>
          <p:cNvPr id="13" name="Text 13">
            <a:extLst>
              <a:ext uri="{FF2B5EF4-FFF2-40B4-BE49-F238E27FC236}">
                <a16:creationId xmlns:a16="http://schemas.microsoft.com/office/drawing/2014/main" id="{0F0979EF-2AB3-9447-B1A6-5C148E3248C5}"/>
              </a:ext>
            </a:extLst>
          </p:cNvPr>
          <p:cNvSpPr/>
          <p:nvPr/>
        </p:nvSpPr>
        <p:spPr>
          <a:xfrm>
            <a:off x="728744" y="2915486"/>
            <a:ext cx="6223923"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측정 방법</a:t>
            </a:r>
            <a:endParaRPr lang="en-US" sz="1112" dirty="0"/>
          </a:p>
        </p:txBody>
      </p:sp>
      <p:sp>
        <p:nvSpPr>
          <p:cNvPr id="15" name="Shape 14">
            <a:extLst>
              <a:ext uri="{FF2B5EF4-FFF2-40B4-BE49-F238E27FC236}">
                <a16:creationId xmlns:a16="http://schemas.microsoft.com/office/drawing/2014/main" id="{F6ED48F0-E5AF-DAC7-4194-CCF3DA86AFBF}"/>
              </a:ext>
            </a:extLst>
          </p:cNvPr>
          <p:cNvSpPr/>
          <p:nvPr/>
        </p:nvSpPr>
        <p:spPr>
          <a:xfrm>
            <a:off x="587999" y="3212618"/>
            <a:ext cx="8013301" cy="969288"/>
          </a:xfrm>
          <a:prstGeom prst="roundRect">
            <a:avLst>
              <a:gd name="adj" fmla="val 3684"/>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17" name="Text 15">
            <a:extLst>
              <a:ext uri="{FF2B5EF4-FFF2-40B4-BE49-F238E27FC236}">
                <a16:creationId xmlns:a16="http://schemas.microsoft.com/office/drawing/2014/main" id="{209BBF85-ABBF-E5E9-B22C-08CA01DE9F4D}"/>
              </a:ext>
            </a:extLst>
          </p:cNvPr>
          <p:cNvSpPr/>
          <p:nvPr/>
        </p:nvSpPr>
        <p:spPr>
          <a:xfrm>
            <a:off x="744381" y="3314260"/>
            <a:ext cx="7702105" cy="1290151"/>
          </a:xfrm>
          <a:prstGeom prst="rect">
            <a:avLst/>
          </a:prstGeom>
          <a:noFill/>
          <a:ln/>
        </p:spPr>
        <p:txBody>
          <a:bodyPr wrap="square" rtlCol="0" anchor="t"/>
          <a:lstStyle/>
          <a:p>
            <a:pPr>
              <a:lnSpc>
                <a:spcPct val="130000"/>
              </a:lnSpc>
            </a:pPr>
            <a:r>
              <a:rPr lang="en-US" sz="898" dirty="0">
                <a:solidFill>
                  <a:srgbClr val="1E293B"/>
                </a:solidFill>
                <a:latin typeface="맑은 고딕" pitchFamily="34" charset="0"/>
                <a:ea typeface="맑은 고딕" pitchFamily="34" charset="-122"/>
                <a:cs typeface="맑은 고딕" pitchFamily="34" charset="-120"/>
              </a:rPr>
              <a:t>지속적인 방전을 유지하며 MLX90614(비접촉 IR)로 배터리 표면 온도의 상승 곡선을 그린다. 패키징 간섭 없이 표면을 직접 지향해 측정하므로 AI가 미세한 발열 패턴을 즉각적으로 포착해 "정상 셀이라면 5분 만에 온도가 10도씩 가파르게 오르지 않는다"는 패턴을 판단한다. 동시에 INA226으로 전압 유지 평탄도를 교차 검증한다.</a:t>
            </a:r>
            <a:endParaRPr lang="en-US" sz="898" dirty="0"/>
          </a:p>
        </p:txBody>
      </p:sp>
      <p:sp>
        <p:nvSpPr>
          <p:cNvPr id="19" name="Shape 16">
            <a:extLst>
              <a:ext uri="{FF2B5EF4-FFF2-40B4-BE49-F238E27FC236}">
                <a16:creationId xmlns:a16="http://schemas.microsoft.com/office/drawing/2014/main" id="{43864D61-4A62-0B1D-3526-8891674F47CD}"/>
              </a:ext>
            </a:extLst>
          </p:cNvPr>
          <p:cNvSpPr/>
          <p:nvPr/>
        </p:nvSpPr>
        <p:spPr>
          <a:xfrm>
            <a:off x="597295" y="4523674"/>
            <a:ext cx="70018" cy="172020"/>
          </a:xfrm>
          <a:prstGeom prst="rect">
            <a:avLst/>
          </a:prstGeom>
          <a:solidFill>
            <a:srgbClr val="3B5BA7"/>
          </a:solidFill>
          <a:ln/>
        </p:spPr>
        <p:txBody>
          <a:bodyPr/>
          <a:lstStyle/>
          <a:p>
            <a:endParaRPr lang="ko-KR" altLang="en-US" sz="1634"/>
          </a:p>
        </p:txBody>
      </p:sp>
      <p:sp>
        <p:nvSpPr>
          <p:cNvPr id="21" name="Text 17">
            <a:extLst>
              <a:ext uri="{FF2B5EF4-FFF2-40B4-BE49-F238E27FC236}">
                <a16:creationId xmlns:a16="http://schemas.microsoft.com/office/drawing/2014/main" id="{B82805B7-624C-61A0-F59B-E1778C20BAE8}"/>
              </a:ext>
            </a:extLst>
          </p:cNvPr>
          <p:cNvSpPr/>
          <p:nvPr/>
        </p:nvSpPr>
        <p:spPr>
          <a:xfrm>
            <a:off x="738036" y="4500217"/>
            <a:ext cx="6223923"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대시보드 피드백</a:t>
            </a:r>
            <a:endParaRPr lang="en-US" sz="1112" dirty="0"/>
          </a:p>
        </p:txBody>
      </p:sp>
      <p:sp>
        <p:nvSpPr>
          <p:cNvPr id="23" name="Shape 18">
            <a:extLst>
              <a:ext uri="{FF2B5EF4-FFF2-40B4-BE49-F238E27FC236}">
                <a16:creationId xmlns:a16="http://schemas.microsoft.com/office/drawing/2014/main" id="{214E2114-729A-C20D-4684-11B6714E29C2}"/>
              </a:ext>
            </a:extLst>
          </p:cNvPr>
          <p:cNvSpPr/>
          <p:nvPr/>
        </p:nvSpPr>
        <p:spPr>
          <a:xfrm>
            <a:off x="597292" y="4797344"/>
            <a:ext cx="8013301" cy="1485628"/>
          </a:xfrm>
          <a:prstGeom prst="roundRect">
            <a:avLst>
              <a:gd name="adj" fmla="val 3684"/>
            </a:avLst>
          </a:prstGeom>
          <a:solidFill>
            <a:srgbClr val="E8F1FF"/>
          </a:solidFill>
          <a:ln/>
          <a:effectLst>
            <a:outerShdw blurRad="63500" dist="25400" dir="2700000" algn="bl" rotWithShape="0">
              <a:srgbClr val="000000">
                <a:alpha val="10000"/>
              </a:srgbClr>
            </a:outerShdw>
          </a:effectLst>
        </p:spPr>
        <p:txBody>
          <a:bodyPr/>
          <a:lstStyle/>
          <a:p>
            <a:endParaRPr lang="ko-KR" altLang="en-US" sz="1634"/>
          </a:p>
        </p:txBody>
      </p:sp>
      <p:sp>
        <p:nvSpPr>
          <p:cNvPr id="25" name="Text 19">
            <a:extLst>
              <a:ext uri="{FF2B5EF4-FFF2-40B4-BE49-F238E27FC236}">
                <a16:creationId xmlns:a16="http://schemas.microsoft.com/office/drawing/2014/main" id="{19829C84-BF32-8411-3898-2DB9CDA47B93}"/>
              </a:ext>
            </a:extLst>
          </p:cNvPr>
          <p:cNvSpPr/>
          <p:nvPr/>
        </p:nvSpPr>
        <p:spPr>
          <a:xfrm>
            <a:off x="753674" y="4914628"/>
            <a:ext cx="7702105" cy="1329247"/>
          </a:xfrm>
          <a:prstGeom prst="rect">
            <a:avLst/>
          </a:prstGeom>
          <a:noFill/>
          <a:ln/>
        </p:spPr>
        <p:txBody>
          <a:bodyPr wrap="square" rtlCol="0" anchor="t"/>
          <a:lstStyle/>
          <a:p>
            <a:pPr>
              <a:lnSpc>
                <a:spcPct val="125000"/>
              </a:lnSpc>
              <a:spcAft>
                <a:spcPts val="513"/>
              </a:spcAft>
            </a:pPr>
            <a:r>
              <a:rPr lang="en-US" sz="898" b="1" dirty="0">
                <a:solidFill>
                  <a:srgbClr val="3B5BA7"/>
                </a:solidFill>
                <a:latin typeface="맑은 고딕" pitchFamily="34" charset="0"/>
                <a:ea typeface="맑은 고딕" pitchFamily="34" charset="-122"/>
                <a:cs typeface="맑은 고딕" pitchFamily="34" charset="-120"/>
              </a:rPr>
              <a:t>•  양호 (초록불):  </a:t>
            </a:r>
            <a:endParaRPr lang="en-US" sz="898" dirty="0"/>
          </a:p>
          <a:p>
            <a:pPr>
              <a:lnSpc>
                <a:spcPct val="125000"/>
              </a:lnSpc>
              <a:spcAft>
                <a:spcPts val="513"/>
              </a:spcAft>
            </a:pPr>
            <a:r>
              <a:rPr lang="en-US" sz="898" dirty="0">
                <a:solidFill>
                  <a:srgbClr val="1E293B"/>
                </a:solidFill>
                <a:latin typeface="맑은 고딕" pitchFamily="34" charset="0"/>
                <a:ea typeface="맑은 고딕" pitchFamily="34" charset="-122"/>
                <a:cs typeface="맑은 고딕" pitchFamily="34" charset="-120"/>
              </a:rPr>
              <a:t>•  "온도 상승 속도 정상! (현재 32°C, 완만함)"</a:t>
            </a:r>
            <a:endParaRPr lang="en-US" sz="898" dirty="0"/>
          </a:p>
          <a:p>
            <a:pPr>
              <a:lnSpc>
                <a:spcPct val="125000"/>
              </a:lnSpc>
              <a:spcAft>
                <a:spcPts val="513"/>
              </a:spcAft>
            </a:pPr>
            <a:r>
              <a:rPr lang="en-US" sz="898" b="1" dirty="0">
                <a:solidFill>
                  <a:srgbClr val="C0392B"/>
                </a:solidFill>
                <a:latin typeface="맑은 고딕" pitchFamily="34" charset="0"/>
                <a:ea typeface="맑은 고딕" pitchFamily="34" charset="-122"/>
                <a:cs typeface="맑은 고딕" pitchFamily="34" charset="-120"/>
              </a:rPr>
              <a:t>•  경고 (빨간불):  </a:t>
            </a:r>
            <a:endParaRPr lang="en-US" sz="898" dirty="0"/>
          </a:p>
          <a:p>
            <a:pPr>
              <a:lnSpc>
                <a:spcPct val="125000"/>
              </a:lnSpc>
              <a:spcAft>
                <a:spcPts val="513"/>
              </a:spcAft>
            </a:pPr>
            <a:r>
              <a:rPr lang="en-US" sz="898" dirty="0">
                <a:solidFill>
                  <a:srgbClr val="1E293B"/>
                </a:solidFill>
                <a:latin typeface="맑은 고딕" pitchFamily="34" charset="0"/>
                <a:ea typeface="맑은 고딕" pitchFamily="34" charset="-122"/>
                <a:cs typeface="맑은 고딕" pitchFamily="34" charset="-120"/>
              </a:rPr>
              <a:t>•  "비정상적 발열 감지! 내부 단락이나 화학적 불안정이 의심되니 방전을 중지합니다." → 릴레이 CH3 자동 차단</a:t>
            </a:r>
            <a:endParaRPr lang="en-US" sz="898" dirty="0"/>
          </a:p>
        </p:txBody>
      </p:sp>
      <p:sp>
        <p:nvSpPr>
          <p:cNvPr id="27" name="Shape 12">
            <a:extLst>
              <a:ext uri="{FF2B5EF4-FFF2-40B4-BE49-F238E27FC236}">
                <a16:creationId xmlns:a16="http://schemas.microsoft.com/office/drawing/2014/main" id="{FCB5ADBB-80F8-719E-8ADF-EBDA5B2DDC8C}"/>
              </a:ext>
            </a:extLst>
          </p:cNvPr>
          <p:cNvSpPr/>
          <p:nvPr/>
        </p:nvSpPr>
        <p:spPr>
          <a:xfrm>
            <a:off x="597295" y="1603497"/>
            <a:ext cx="70018" cy="172020"/>
          </a:xfrm>
          <a:prstGeom prst="rect">
            <a:avLst/>
          </a:prstGeom>
          <a:solidFill>
            <a:srgbClr val="3B5BA7"/>
          </a:solidFill>
          <a:ln/>
        </p:spPr>
        <p:txBody>
          <a:bodyPr/>
          <a:lstStyle/>
          <a:p>
            <a:endParaRPr lang="ko-KR" altLang="en-US" sz="1634"/>
          </a:p>
        </p:txBody>
      </p:sp>
      <p:sp>
        <p:nvSpPr>
          <p:cNvPr id="29" name="Text 13">
            <a:extLst>
              <a:ext uri="{FF2B5EF4-FFF2-40B4-BE49-F238E27FC236}">
                <a16:creationId xmlns:a16="http://schemas.microsoft.com/office/drawing/2014/main" id="{DF6557DB-DAB1-72D5-CCFF-1E85857DECBE}"/>
              </a:ext>
            </a:extLst>
          </p:cNvPr>
          <p:cNvSpPr/>
          <p:nvPr/>
        </p:nvSpPr>
        <p:spPr>
          <a:xfrm>
            <a:off x="738036" y="1580038"/>
            <a:ext cx="6223923"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rPr>
              <a:t>2</a:t>
            </a:r>
            <a:r>
              <a:rPr lang="ko-KR" altLang="en-US" sz="1112" b="1" dirty="0">
                <a:solidFill>
                  <a:srgbClr val="1E293B"/>
                </a:solidFill>
                <a:latin typeface="맑은 고딕" pitchFamily="34" charset="0"/>
                <a:ea typeface="맑은 고딕" pitchFamily="34" charset="-122"/>
              </a:rPr>
              <a:t>단계</a:t>
            </a:r>
            <a:r>
              <a:rPr lang="en-US" altLang="ko-KR" sz="1112" b="1" dirty="0">
                <a:solidFill>
                  <a:srgbClr val="1E293B"/>
                </a:solidFill>
                <a:latin typeface="맑은 고딕" pitchFamily="34" charset="0"/>
                <a:ea typeface="맑은 고딕" pitchFamily="34" charset="-122"/>
              </a:rPr>
              <a:t>: </a:t>
            </a:r>
            <a:r>
              <a:rPr lang="ko-KR" altLang="en-US" sz="1112" b="1" dirty="0">
                <a:solidFill>
                  <a:srgbClr val="1E293B"/>
                </a:solidFill>
                <a:latin typeface="맑은 고딕" pitchFamily="34" charset="0"/>
                <a:ea typeface="맑은 고딕" pitchFamily="34" charset="-122"/>
              </a:rPr>
              <a:t>중기 진단</a:t>
            </a:r>
            <a:endParaRPr lang="en-US" sz="1112" dirty="0"/>
          </a:p>
        </p:txBody>
      </p:sp>
    </p:spTree>
    <p:extLst>
      <p:ext uri="{BB962C8B-B14F-4D97-AF65-F5344CB8AC3E}">
        <p14:creationId xmlns:p14="http://schemas.microsoft.com/office/powerpoint/2010/main" val="37582361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38F9A-7E89-5D50-C6DF-523D07124727}"/>
            </a:ext>
          </a:extLst>
        </p:cNvPr>
        <p:cNvGrpSpPr/>
        <p:nvPr/>
      </p:nvGrpSpPr>
      <p:grpSpPr>
        <a:xfrm>
          <a:off x="0" y="0"/>
          <a:ext cx="0" cy="0"/>
          <a:chOff x="0" y="0"/>
          <a:chExt cx="0" cy="0"/>
        </a:xfrm>
      </p:grpSpPr>
      <p:sp>
        <p:nvSpPr>
          <p:cNvPr id="30" name="직사각형 30"/>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1" name="직선 연결선 31"/>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 name="직선 연결선 32"/>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33" name="제목 33"/>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핵심 5 state</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34" name="막힌 원호 34"/>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C8FAC739-AB5C-896D-CEDB-848F4267B402}"/>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0985AC4C-9BFA-BDB0-E0D4-5F86A04D69E2}"/>
              </a:ext>
            </a:extLst>
          </p:cNvPr>
          <p:cNvPicPr/>
          <p:nvPr/>
        </p:nvPicPr>
        <p:blipFill>
          <a:blip r:embed="rId4" cstate="print"/>
          <a:stretch>
            <a:fillRect/>
          </a:stretch>
        </p:blipFill>
        <p:spPr>
          <a:xfrm>
            <a:off x="7275128" y="314247"/>
            <a:ext cx="1325611" cy="307338"/>
          </a:xfrm>
          <a:prstGeom prst="rect">
            <a:avLst/>
          </a:prstGeom>
        </p:spPr>
      </p:pic>
      <p:graphicFrame>
        <p:nvGraphicFramePr>
          <p:cNvPr id="9" name="Table 0">
            <a:extLst>
              <a:ext uri="{FF2B5EF4-FFF2-40B4-BE49-F238E27FC236}">
                <a16:creationId xmlns:a16="http://schemas.microsoft.com/office/drawing/2014/main" id="{76FB416B-B0CB-697C-CBBF-692BDACCDEB9}"/>
              </a:ext>
            </a:extLst>
          </p:cNvPr>
          <p:cNvGraphicFramePr>
            <a:graphicFrameLocks noGrp="1"/>
          </p:cNvGraphicFramePr>
          <p:nvPr/>
        </p:nvGraphicFramePr>
        <p:xfrm>
          <a:off x="597293" y="1986299"/>
          <a:ext cx="8053669" cy="781910"/>
        </p:xfrm>
        <a:graphic>
          <a:graphicData uri="http://schemas.openxmlformats.org/drawingml/2006/table">
            <a:tbl>
              <a:tblPr/>
              <a:tblGrid>
                <a:gridCol w="1251055">
                  <a:extLst>
                    <a:ext uri="{9D8B030D-6E8A-4147-A177-3AD203B41FA5}">
                      <a16:colId xmlns:a16="http://schemas.microsoft.com/office/drawing/2014/main" val="20000"/>
                    </a:ext>
                  </a:extLst>
                </a:gridCol>
                <a:gridCol w="6802614">
                  <a:extLst>
                    <a:ext uri="{9D8B030D-6E8A-4147-A177-3AD203B41FA5}">
                      <a16:colId xmlns:a16="http://schemas.microsoft.com/office/drawing/2014/main" val="20001"/>
                    </a:ext>
                  </a:extLst>
                </a:gridCol>
              </a:tblGrid>
              <a:tr h="390955">
                <a:tc>
                  <a:txBody>
                    <a:bodyPr/>
                    <a:lstStyle/>
                    <a:p>
                      <a:pPr marL="0" indent="0">
                        <a:buNone/>
                      </a:pPr>
                      <a:r>
                        <a:rPr lang="en-US" sz="800" b="1" dirty="0">
                          <a:solidFill>
                            <a:srgbClr val="000000"/>
                          </a:solidFill>
                          <a:latin typeface="맑은 고딕" pitchFamily="34" charset="0"/>
                          <a:ea typeface="맑은 고딕" pitchFamily="34" charset="-122"/>
                          <a:cs typeface="맑은 고딕" pitchFamily="34" charset="-120"/>
                        </a:rPr>
                        <a:t>목적</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실제 가용 용량(mAh/Wh) 및 종합 건강 상태(SOH) 확정 (30분 ~ 안전 종료 전압까지)</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6F6F5"/>
                    </a:solidFill>
                  </a:tcPr>
                </a:tc>
                <a:extLst>
                  <a:ext uri="{0D108BD9-81ED-4DB2-BD59-A6C34878D82A}">
                    <a16:rowId xmlns:a16="http://schemas.microsoft.com/office/drawing/2014/main" val="10000"/>
                  </a:ext>
                </a:extLst>
              </a:tr>
              <a:tr h="390955">
                <a:tc>
                  <a:txBody>
                    <a:bodyPr/>
                    <a:lstStyle/>
                    <a:p>
                      <a:pPr marL="0" indent="0">
                        <a:buNone/>
                      </a:pPr>
                      <a:r>
                        <a:rPr lang="en-US" sz="800" b="1" dirty="0">
                          <a:solidFill>
                            <a:srgbClr val="000000"/>
                          </a:solidFill>
                          <a:latin typeface="맑은 고딕" pitchFamily="34" charset="0"/>
                          <a:ea typeface="맑은 고딕" pitchFamily="34" charset="-122"/>
                          <a:cs typeface="맑은 고딕" pitchFamily="34" charset="-120"/>
                        </a:rPr>
                        <a:t>측정 요소</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누적 방전 용량 및 방전 곡선 분석</a:t>
                      </a:r>
                      <a:endParaRPr lang="en-US" sz="800" dirty="0">
                        <a:latin typeface="맑은 고딕" charset="0"/>
                        <a:ea typeface="맑은 고딕" charset="0"/>
                        <a:cs typeface="맑은 고딕" charset="0"/>
                      </a:endParaRPr>
                    </a:p>
                  </a:txBody>
                  <a:tcPr marL="78191" marR="78191" marT="39096" marB="39096"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1" name="Shape 12">
            <a:extLst>
              <a:ext uri="{FF2B5EF4-FFF2-40B4-BE49-F238E27FC236}">
                <a16:creationId xmlns:a16="http://schemas.microsoft.com/office/drawing/2014/main" id="{8C1744C6-67FC-2FC4-9EB0-6B2B744B2865}"/>
              </a:ext>
            </a:extLst>
          </p:cNvPr>
          <p:cNvSpPr/>
          <p:nvPr/>
        </p:nvSpPr>
        <p:spPr>
          <a:xfrm>
            <a:off x="597295" y="3047781"/>
            <a:ext cx="70371" cy="172020"/>
          </a:xfrm>
          <a:prstGeom prst="rect">
            <a:avLst/>
          </a:prstGeom>
          <a:solidFill>
            <a:srgbClr val="3B5BA7"/>
          </a:solidFill>
          <a:ln/>
        </p:spPr>
        <p:txBody>
          <a:bodyPr/>
          <a:lstStyle/>
          <a:p>
            <a:endParaRPr lang="ko-KR" altLang="en-US" sz="1634"/>
          </a:p>
        </p:txBody>
      </p:sp>
      <p:sp>
        <p:nvSpPr>
          <p:cNvPr id="13" name="Text 13">
            <a:extLst>
              <a:ext uri="{FF2B5EF4-FFF2-40B4-BE49-F238E27FC236}">
                <a16:creationId xmlns:a16="http://schemas.microsoft.com/office/drawing/2014/main" id="{7D17E816-1621-68A3-1BB3-A06DD9553010}"/>
              </a:ext>
            </a:extLst>
          </p:cNvPr>
          <p:cNvSpPr/>
          <p:nvPr/>
        </p:nvSpPr>
        <p:spPr>
          <a:xfrm>
            <a:off x="738035" y="3024324"/>
            <a:ext cx="625527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측정 방법</a:t>
            </a:r>
            <a:endParaRPr lang="en-US" sz="1112" dirty="0"/>
          </a:p>
        </p:txBody>
      </p:sp>
      <p:sp>
        <p:nvSpPr>
          <p:cNvPr id="15" name="Shape 14">
            <a:extLst>
              <a:ext uri="{FF2B5EF4-FFF2-40B4-BE49-F238E27FC236}">
                <a16:creationId xmlns:a16="http://schemas.microsoft.com/office/drawing/2014/main" id="{6AD0E910-354C-C3AC-8522-2F50EC2463B1}"/>
              </a:ext>
            </a:extLst>
          </p:cNvPr>
          <p:cNvSpPr/>
          <p:nvPr/>
        </p:nvSpPr>
        <p:spPr>
          <a:xfrm>
            <a:off x="597292" y="3321449"/>
            <a:ext cx="8053671" cy="922654"/>
          </a:xfrm>
          <a:prstGeom prst="roundRect">
            <a:avLst>
              <a:gd name="adj" fmla="val 3684"/>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17" name="Text 15">
            <a:extLst>
              <a:ext uri="{FF2B5EF4-FFF2-40B4-BE49-F238E27FC236}">
                <a16:creationId xmlns:a16="http://schemas.microsoft.com/office/drawing/2014/main" id="{79D33B88-47B9-D31D-3EF9-90E90A8AC4E6}"/>
              </a:ext>
            </a:extLst>
          </p:cNvPr>
          <p:cNvSpPr/>
          <p:nvPr/>
        </p:nvSpPr>
        <p:spPr>
          <a:xfrm>
            <a:off x="753675" y="3423098"/>
            <a:ext cx="7740906" cy="1290151"/>
          </a:xfrm>
          <a:prstGeom prst="rect">
            <a:avLst/>
          </a:prstGeom>
          <a:noFill/>
          <a:ln/>
        </p:spPr>
        <p:txBody>
          <a:bodyPr wrap="square" rtlCol="0" anchor="t"/>
          <a:lstStyle/>
          <a:p>
            <a:pPr>
              <a:lnSpc>
                <a:spcPct val="130000"/>
              </a:lnSpc>
            </a:pPr>
            <a:r>
              <a:rPr lang="en-US" sz="898" dirty="0">
                <a:solidFill>
                  <a:srgbClr val="1E293B"/>
                </a:solidFill>
                <a:latin typeface="맑은 고딕" pitchFamily="34" charset="0"/>
                <a:ea typeface="맑은 고딕" pitchFamily="34" charset="-122"/>
                <a:cs typeface="맑은 고딕" pitchFamily="34" charset="-120"/>
              </a:rPr>
              <a:t>외부 완제품 배터리가 안전 종료 전압(Cut-off)에 도달할 때까지 방전하며, INA226을 통해 실시간 수집되는 전압 · 전류 데이터를 바탕으로 전력식(P = V × I)을 시간 단위로 누적 적분해 실제 방전 용량을 산출하고 방전 곡선 패턴을 분석한다.</a:t>
            </a:r>
            <a:endParaRPr lang="en-US" sz="898" dirty="0"/>
          </a:p>
        </p:txBody>
      </p:sp>
      <p:sp>
        <p:nvSpPr>
          <p:cNvPr id="19" name="Shape 16">
            <a:extLst>
              <a:ext uri="{FF2B5EF4-FFF2-40B4-BE49-F238E27FC236}">
                <a16:creationId xmlns:a16="http://schemas.microsoft.com/office/drawing/2014/main" id="{7537A629-59FE-66DF-244D-3A0B184D1E15}"/>
              </a:ext>
            </a:extLst>
          </p:cNvPr>
          <p:cNvSpPr/>
          <p:nvPr/>
        </p:nvSpPr>
        <p:spPr>
          <a:xfrm>
            <a:off x="597295" y="4523674"/>
            <a:ext cx="70371" cy="172020"/>
          </a:xfrm>
          <a:prstGeom prst="rect">
            <a:avLst/>
          </a:prstGeom>
          <a:solidFill>
            <a:srgbClr val="3B5BA7"/>
          </a:solidFill>
          <a:ln/>
        </p:spPr>
        <p:txBody>
          <a:bodyPr/>
          <a:lstStyle/>
          <a:p>
            <a:endParaRPr lang="ko-KR" altLang="en-US" sz="1634"/>
          </a:p>
        </p:txBody>
      </p:sp>
      <p:sp>
        <p:nvSpPr>
          <p:cNvPr id="21" name="Text 17">
            <a:extLst>
              <a:ext uri="{FF2B5EF4-FFF2-40B4-BE49-F238E27FC236}">
                <a16:creationId xmlns:a16="http://schemas.microsoft.com/office/drawing/2014/main" id="{40891457-FD86-8D4C-EB5B-525A460A5B91}"/>
              </a:ext>
            </a:extLst>
          </p:cNvPr>
          <p:cNvSpPr/>
          <p:nvPr/>
        </p:nvSpPr>
        <p:spPr>
          <a:xfrm>
            <a:off x="738035" y="4500217"/>
            <a:ext cx="625527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cs typeface="맑은 고딕" pitchFamily="34" charset="-120"/>
              </a:rPr>
              <a:t>대시보드 피드백</a:t>
            </a:r>
            <a:endParaRPr lang="en-US" sz="1112" dirty="0"/>
          </a:p>
        </p:txBody>
      </p:sp>
      <p:sp>
        <p:nvSpPr>
          <p:cNvPr id="23" name="Shape 18">
            <a:extLst>
              <a:ext uri="{FF2B5EF4-FFF2-40B4-BE49-F238E27FC236}">
                <a16:creationId xmlns:a16="http://schemas.microsoft.com/office/drawing/2014/main" id="{D9A7A081-E64C-4662-2061-E675B2B66BE5}"/>
              </a:ext>
            </a:extLst>
          </p:cNvPr>
          <p:cNvSpPr/>
          <p:nvPr/>
        </p:nvSpPr>
        <p:spPr>
          <a:xfrm>
            <a:off x="597292" y="4797344"/>
            <a:ext cx="8053671" cy="1485628"/>
          </a:xfrm>
          <a:prstGeom prst="roundRect">
            <a:avLst>
              <a:gd name="adj" fmla="val 3684"/>
            </a:avLst>
          </a:prstGeom>
          <a:solidFill>
            <a:srgbClr val="E8F1FF"/>
          </a:solidFill>
          <a:ln/>
          <a:effectLst>
            <a:outerShdw blurRad="63500" dist="25400" dir="2700000" algn="bl" rotWithShape="0">
              <a:srgbClr val="000000">
                <a:alpha val="10000"/>
              </a:srgbClr>
            </a:outerShdw>
          </a:effectLst>
        </p:spPr>
        <p:txBody>
          <a:bodyPr/>
          <a:lstStyle/>
          <a:p>
            <a:endParaRPr lang="ko-KR" altLang="en-US" sz="1634"/>
          </a:p>
        </p:txBody>
      </p:sp>
      <p:sp>
        <p:nvSpPr>
          <p:cNvPr id="25" name="Text 19">
            <a:extLst>
              <a:ext uri="{FF2B5EF4-FFF2-40B4-BE49-F238E27FC236}">
                <a16:creationId xmlns:a16="http://schemas.microsoft.com/office/drawing/2014/main" id="{C199FF11-AA44-0827-68E5-8E83785666D1}"/>
              </a:ext>
            </a:extLst>
          </p:cNvPr>
          <p:cNvSpPr/>
          <p:nvPr/>
        </p:nvSpPr>
        <p:spPr>
          <a:xfrm>
            <a:off x="753675" y="4914628"/>
            <a:ext cx="7740906" cy="1329247"/>
          </a:xfrm>
          <a:prstGeom prst="rect">
            <a:avLst/>
          </a:prstGeom>
          <a:noFill/>
          <a:ln/>
        </p:spPr>
        <p:txBody>
          <a:bodyPr wrap="square" rtlCol="0" anchor="t"/>
          <a:lstStyle/>
          <a:p>
            <a:pPr>
              <a:lnSpc>
                <a:spcPct val="125000"/>
              </a:lnSpc>
              <a:spcAft>
                <a:spcPts val="513"/>
              </a:spcAft>
            </a:pPr>
            <a:r>
              <a:rPr lang="en-US" sz="898" b="1" dirty="0">
                <a:solidFill>
                  <a:srgbClr val="3B5BA7"/>
                </a:solidFill>
                <a:latin typeface="맑은 고딕" pitchFamily="34" charset="0"/>
                <a:ea typeface="맑은 고딕" pitchFamily="34" charset="-122"/>
                <a:cs typeface="맑은 고딕" pitchFamily="34" charset="-120"/>
              </a:rPr>
              <a:t>•  양호 (초록불):  </a:t>
            </a:r>
            <a:endParaRPr lang="en-US" sz="898" dirty="0"/>
          </a:p>
          <a:p>
            <a:pPr>
              <a:lnSpc>
                <a:spcPct val="125000"/>
              </a:lnSpc>
              <a:spcAft>
                <a:spcPts val="513"/>
              </a:spcAft>
            </a:pPr>
            <a:r>
              <a:rPr lang="en-US" sz="898" dirty="0">
                <a:solidFill>
                  <a:srgbClr val="1E293B"/>
                </a:solidFill>
                <a:latin typeface="맑은 고딕" pitchFamily="34" charset="0"/>
                <a:ea typeface="맑은 고딕" pitchFamily="34" charset="-122"/>
                <a:cs typeface="맑은 고딕" pitchFamily="34" charset="-120"/>
              </a:rPr>
              <a:t>•  "심층 진단 완료: 실제 가용 용량은 입력하신 스펙 대비 XX% 수준입니다."</a:t>
            </a:r>
            <a:endParaRPr lang="en-US" sz="898" dirty="0"/>
          </a:p>
          <a:p>
            <a:pPr>
              <a:lnSpc>
                <a:spcPct val="125000"/>
              </a:lnSpc>
              <a:spcAft>
                <a:spcPts val="513"/>
              </a:spcAft>
            </a:pPr>
            <a:r>
              <a:rPr lang="en-US" sz="898" b="1" dirty="0">
                <a:solidFill>
                  <a:srgbClr val="C0392B"/>
                </a:solidFill>
                <a:latin typeface="맑은 고딕" pitchFamily="34" charset="0"/>
                <a:ea typeface="맑은 고딕" pitchFamily="34" charset="-122"/>
                <a:cs typeface="맑은 고딕" pitchFamily="34" charset="-120"/>
              </a:rPr>
              <a:t>•  경고 (빨간불):  </a:t>
            </a:r>
            <a:endParaRPr lang="en-US" sz="898" dirty="0"/>
          </a:p>
          <a:p>
            <a:pPr>
              <a:lnSpc>
                <a:spcPct val="125000"/>
              </a:lnSpc>
              <a:spcAft>
                <a:spcPts val="513"/>
              </a:spcAft>
            </a:pPr>
            <a:r>
              <a:rPr lang="en-US" sz="898" dirty="0">
                <a:solidFill>
                  <a:srgbClr val="1E293B"/>
                </a:solidFill>
                <a:latin typeface="맑은 고딕" pitchFamily="34" charset="0"/>
                <a:ea typeface="맑은 고딕" pitchFamily="34" charset="-122"/>
                <a:cs typeface="맑은 고딕" pitchFamily="34" charset="-120"/>
              </a:rPr>
              <a:t>•  "종합 SOH 주의 단계 — 내부 밸런스가 무너지고 있으므로 고부하 기기 사용을 권장하지 않습니다."</a:t>
            </a:r>
            <a:endParaRPr lang="en-US" sz="898" dirty="0"/>
          </a:p>
        </p:txBody>
      </p:sp>
      <p:sp>
        <p:nvSpPr>
          <p:cNvPr id="27" name="Shape 12">
            <a:extLst>
              <a:ext uri="{FF2B5EF4-FFF2-40B4-BE49-F238E27FC236}">
                <a16:creationId xmlns:a16="http://schemas.microsoft.com/office/drawing/2014/main" id="{0EDDCD7B-81BE-3C1F-26D2-480C7957CE0B}"/>
              </a:ext>
            </a:extLst>
          </p:cNvPr>
          <p:cNvSpPr/>
          <p:nvPr/>
        </p:nvSpPr>
        <p:spPr>
          <a:xfrm>
            <a:off x="597295" y="1591513"/>
            <a:ext cx="70371" cy="172020"/>
          </a:xfrm>
          <a:prstGeom prst="rect">
            <a:avLst/>
          </a:prstGeom>
          <a:solidFill>
            <a:srgbClr val="3B5BA7"/>
          </a:solidFill>
          <a:ln/>
        </p:spPr>
        <p:txBody>
          <a:bodyPr/>
          <a:lstStyle/>
          <a:p>
            <a:endParaRPr lang="ko-KR" altLang="en-US" sz="1634"/>
          </a:p>
        </p:txBody>
      </p:sp>
      <p:sp>
        <p:nvSpPr>
          <p:cNvPr id="29" name="Text 13">
            <a:extLst>
              <a:ext uri="{FF2B5EF4-FFF2-40B4-BE49-F238E27FC236}">
                <a16:creationId xmlns:a16="http://schemas.microsoft.com/office/drawing/2014/main" id="{6567699A-5F19-9C07-E353-18087D56D084}"/>
              </a:ext>
            </a:extLst>
          </p:cNvPr>
          <p:cNvSpPr/>
          <p:nvPr/>
        </p:nvSpPr>
        <p:spPr>
          <a:xfrm>
            <a:off x="738035" y="1568056"/>
            <a:ext cx="6255278" cy="218934"/>
          </a:xfrm>
          <a:prstGeom prst="rect">
            <a:avLst/>
          </a:prstGeom>
          <a:noFill/>
          <a:ln/>
        </p:spPr>
        <p:txBody>
          <a:bodyPr wrap="square" rtlCol="0" anchor="ctr"/>
          <a:lstStyle/>
          <a:p>
            <a:r>
              <a:rPr lang="en-US" sz="1112" b="1" dirty="0">
                <a:solidFill>
                  <a:srgbClr val="1E293B"/>
                </a:solidFill>
                <a:latin typeface="맑은 고딕" pitchFamily="34" charset="0"/>
                <a:ea typeface="맑은 고딕" pitchFamily="34" charset="-122"/>
              </a:rPr>
              <a:t>3</a:t>
            </a:r>
            <a:r>
              <a:rPr lang="ko-KR" altLang="en-US" sz="1112" b="1" dirty="0">
                <a:solidFill>
                  <a:srgbClr val="1E293B"/>
                </a:solidFill>
                <a:latin typeface="맑은 고딕" pitchFamily="34" charset="0"/>
                <a:ea typeface="맑은 고딕" pitchFamily="34" charset="-122"/>
              </a:rPr>
              <a:t>단계</a:t>
            </a:r>
            <a:r>
              <a:rPr lang="en-US" altLang="ko-KR" sz="1112" b="1" dirty="0">
                <a:solidFill>
                  <a:srgbClr val="1E293B"/>
                </a:solidFill>
                <a:latin typeface="맑은 고딕" pitchFamily="34" charset="0"/>
                <a:ea typeface="맑은 고딕" pitchFamily="34" charset="-122"/>
              </a:rPr>
              <a:t>: </a:t>
            </a:r>
            <a:r>
              <a:rPr lang="ko-KR" altLang="en-US" sz="1112" b="1" dirty="0">
                <a:solidFill>
                  <a:srgbClr val="1E293B"/>
                </a:solidFill>
                <a:latin typeface="맑은 고딕" pitchFamily="34" charset="0"/>
                <a:ea typeface="맑은 고딕" pitchFamily="34" charset="-122"/>
              </a:rPr>
              <a:t>장기 심층 진단</a:t>
            </a:r>
            <a:endParaRPr lang="en-US" sz="1112" dirty="0"/>
          </a:p>
        </p:txBody>
      </p:sp>
    </p:spTree>
    <p:extLst>
      <p:ext uri="{BB962C8B-B14F-4D97-AF65-F5344CB8AC3E}">
        <p14:creationId xmlns:p14="http://schemas.microsoft.com/office/powerpoint/2010/main" val="15928431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85ADF-9DFB-CB6C-93BF-CF42869F17F9}"/>
            </a:ext>
          </a:extLst>
        </p:cNvPr>
        <p:cNvGrpSpPr/>
        <p:nvPr/>
      </p:nvGrpSpPr>
      <p:grpSpPr>
        <a:xfrm>
          <a:off x="0" y="0"/>
          <a:ext cx="0" cy="0"/>
          <a:chOff x="0" y="0"/>
          <a:chExt cx="0" cy="0"/>
        </a:xfrm>
      </p:grpSpPr>
      <p:sp>
        <p:nvSpPr>
          <p:cNvPr id="36" name="직사각형 36"/>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7" name="직선 연결선 37"/>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 name="직선 연결선 38"/>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39" name="제목 39"/>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핵심 5 state</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40" name="막힌 원호 40"/>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object 3">
            <a:extLst>
              <a:ext uri="{FF2B5EF4-FFF2-40B4-BE49-F238E27FC236}">
                <a16:creationId xmlns:a16="http://schemas.microsoft.com/office/drawing/2014/main" id="{914BCD77-0D56-A2A0-BD9B-1A3FD1A69230}"/>
              </a:ext>
            </a:extLst>
          </p:cNvPr>
          <p:cNvPicPr/>
          <p:nvPr/>
        </p:nvPicPr>
        <p:blipFill>
          <a:blip r:embed="rId3" cstate="print"/>
          <a:stretch>
            <a:fillRect/>
          </a:stretch>
        </p:blipFill>
        <p:spPr>
          <a:xfrm>
            <a:off x="8205578" y="662893"/>
            <a:ext cx="395161" cy="99981"/>
          </a:xfrm>
          <a:prstGeom prst="rect">
            <a:avLst/>
          </a:prstGeom>
        </p:spPr>
      </p:pic>
      <p:pic>
        <p:nvPicPr>
          <p:cNvPr id="7" name="object 7">
            <a:extLst>
              <a:ext uri="{FF2B5EF4-FFF2-40B4-BE49-F238E27FC236}">
                <a16:creationId xmlns:a16="http://schemas.microsoft.com/office/drawing/2014/main" id="{D1DBAFE0-CEAD-CFF1-1536-36E6E39187A1}"/>
              </a:ext>
            </a:extLst>
          </p:cNvPr>
          <p:cNvPicPr/>
          <p:nvPr/>
        </p:nvPicPr>
        <p:blipFill>
          <a:blip r:embed="rId4" cstate="print"/>
          <a:stretch>
            <a:fillRect/>
          </a:stretch>
        </p:blipFill>
        <p:spPr>
          <a:xfrm>
            <a:off x="7275128" y="314247"/>
            <a:ext cx="1325611" cy="307338"/>
          </a:xfrm>
          <a:prstGeom prst="rect">
            <a:avLst/>
          </a:prstGeom>
        </p:spPr>
      </p:pic>
      <p:sp>
        <p:nvSpPr>
          <p:cNvPr id="9" name="Shape 12">
            <a:extLst>
              <a:ext uri="{FF2B5EF4-FFF2-40B4-BE49-F238E27FC236}">
                <a16:creationId xmlns:a16="http://schemas.microsoft.com/office/drawing/2014/main" id="{A9751160-C137-6817-5319-E88D0A34A826}"/>
              </a:ext>
            </a:extLst>
          </p:cNvPr>
          <p:cNvSpPr/>
          <p:nvPr/>
        </p:nvSpPr>
        <p:spPr>
          <a:xfrm>
            <a:off x="563296" y="1734864"/>
            <a:ext cx="3909549" cy="4456885"/>
          </a:xfrm>
          <a:prstGeom prst="roundRect">
            <a:avLst>
              <a:gd name="adj" fmla="val 1400"/>
            </a:avLst>
          </a:prstGeom>
          <a:solidFill>
            <a:srgbClr val="F6F6F5"/>
          </a:solidFill>
          <a:ln/>
          <a:effectLst>
            <a:outerShdw blurRad="63500" dist="25400" dir="2700000" algn="bl" rotWithShape="0">
              <a:srgbClr val="000000">
                <a:alpha val="10000"/>
              </a:srgbClr>
            </a:outerShdw>
          </a:effectLst>
        </p:spPr>
        <p:txBody>
          <a:bodyPr/>
          <a:lstStyle/>
          <a:p>
            <a:endParaRPr lang="ko-KR" altLang="en-US" sz="1634"/>
          </a:p>
        </p:txBody>
      </p:sp>
      <p:sp>
        <p:nvSpPr>
          <p:cNvPr id="11" name="Shape 13">
            <a:extLst>
              <a:ext uri="{FF2B5EF4-FFF2-40B4-BE49-F238E27FC236}">
                <a16:creationId xmlns:a16="http://schemas.microsoft.com/office/drawing/2014/main" id="{8498D3F5-0FEA-836D-C207-B07521FDC298}"/>
              </a:ext>
            </a:extLst>
          </p:cNvPr>
          <p:cNvSpPr/>
          <p:nvPr/>
        </p:nvSpPr>
        <p:spPr>
          <a:xfrm>
            <a:off x="719677" y="1891244"/>
            <a:ext cx="2111157" cy="312764"/>
          </a:xfrm>
          <a:prstGeom prst="roundRect">
            <a:avLst>
              <a:gd name="adj" fmla="val 50000"/>
            </a:avLst>
          </a:prstGeom>
          <a:solidFill>
            <a:srgbClr val="F6F6F5"/>
          </a:solidFill>
          <a:ln w="12700">
            <a:solidFill>
              <a:srgbClr val="D8E0E6"/>
            </a:solidFill>
            <a:prstDash val="solid"/>
          </a:ln>
        </p:spPr>
        <p:txBody>
          <a:bodyPr/>
          <a:lstStyle/>
          <a:p>
            <a:endParaRPr lang="ko-KR" altLang="en-US" sz="1634"/>
          </a:p>
        </p:txBody>
      </p:sp>
      <p:sp>
        <p:nvSpPr>
          <p:cNvPr id="13" name="Text 14">
            <a:extLst>
              <a:ext uri="{FF2B5EF4-FFF2-40B4-BE49-F238E27FC236}">
                <a16:creationId xmlns:a16="http://schemas.microsoft.com/office/drawing/2014/main" id="{97E86E3A-6A5D-BA0E-918E-CDDA464A0797}"/>
              </a:ext>
            </a:extLst>
          </p:cNvPr>
          <p:cNvSpPr/>
          <p:nvPr/>
        </p:nvSpPr>
        <p:spPr>
          <a:xfrm>
            <a:off x="719677" y="1891244"/>
            <a:ext cx="2111157" cy="312764"/>
          </a:xfrm>
          <a:prstGeom prst="rect">
            <a:avLst/>
          </a:prstGeom>
          <a:noFill/>
          <a:ln/>
        </p:spPr>
        <p:txBody>
          <a:bodyPr wrap="square" rtlCol="0" anchor="ctr"/>
          <a:lstStyle/>
          <a:p>
            <a:pPr algn="ctr"/>
            <a:r>
              <a:rPr lang="en-US" sz="941" b="1" dirty="0">
                <a:solidFill>
                  <a:srgbClr val="1E293B"/>
                </a:solidFill>
                <a:latin typeface="맑은 고딕" pitchFamily="34" charset="0"/>
                <a:ea typeface="맑은 고딕" pitchFamily="34" charset="-122"/>
                <a:cs typeface="맑은 고딕" pitchFamily="34" charset="-120"/>
              </a:rPr>
              <a:t>State4</a:t>
            </a:r>
            <a:r>
              <a:rPr lang="ko-KR" altLang="en-US" sz="941" b="1" dirty="0">
                <a:solidFill>
                  <a:srgbClr val="1E293B"/>
                </a:solidFill>
                <a:latin typeface="맑은 고딕" pitchFamily="34" charset="0"/>
                <a:ea typeface="맑은 고딕" pitchFamily="34" charset="-122"/>
                <a:cs typeface="맑은 고딕" pitchFamily="34" charset="-120"/>
              </a:rPr>
              <a:t> </a:t>
            </a:r>
            <a:r>
              <a:rPr lang="en-US" altLang="ko-KR" sz="941" b="1" dirty="0">
                <a:solidFill>
                  <a:srgbClr val="1E293B"/>
                </a:solidFill>
                <a:latin typeface="맑은 고딕" pitchFamily="34" charset="0"/>
                <a:ea typeface="맑은 고딕" pitchFamily="34" charset="-122"/>
                <a:cs typeface="맑은 고딕" pitchFamily="34" charset="-120"/>
              </a:rPr>
              <a:t>:</a:t>
            </a:r>
            <a:r>
              <a:rPr lang="ko-KR" altLang="en-US" sz="941" b="1" dirty="0">
                <a:solidFill>
                  <a:srgbClr val="1E293B"/>
                </a:solidFill>
                <a:latin typeface="맑은 고딕" pitchFamily="34" charset="0"/>
                <a:ea typeface="맑은 고딕" pitchFamily="34" charset="-122"/>
                <a:cs typeface="맑은 고딕" pitchFamily="34" charset="-120"/>
              </a:rPr>
              <a:t> </a:t>
            </a:r>
            <a:r>
              <a:rPr lang="en-US" sz="941" b="1" dirty="0" err="1">
                <a:solidFill>
                  <a:srgbClr val="1E293B"/>
                </a:solidFill>
                <a:latin typeface="맑은 고딕" pitchFamily="34" charset="0"/>
                <a:ea typeface="맑은 고딕" pitchFamily="34" charset="-122"/>
                <a:cs typeface="맑은 고딕" pitchFamily="34" charset="-120"/>
              </a:rPr>
              <a:t>기본</a:t>
            </a:r>
            <a:r>
              <a:rPr lang="en-US" sz="941" b="1" dirty="0">
                <a:solidFill>
                  <a:srgbClr val="1E293B"/>
                </a:solidFill>
                <a:latin typeface="맑은 고딕" pitchFamily="34" charset="0"/>
                <a:ea typeface="맑은 고딕" pitchFamily="34" charset="-122"/>
                <a:cs typeface="맑은 고딕" pitchFamily="34" charset="-120"/>
              </a:rPr>
              <a:t> 대기 모드</a:t>
            </a:r>
            <a:endParaRPr lang="en-US" sz="941" dirty="0"/>
          </a:p>
        </p:txBody>
      </p:sp>
      <p:sp>
        <p:nvSpPr>
          <p:cNvPr id="15" name="Text 15">
            <a:extLst>
              <a:ext uri="{FF2B5EF4-FFF2-40B4-BE49-F238E27FC236}">
                <a16:creationId xmlns:a16="http://schemas.microsoft.com/office/drawing/2014/main" id="{B6483256-0735-2519-FA2E-DBB82A285070}"/>
              </a:ext>
            </a:extLst>
          </p:cNvPr>
          <p:cNvSpPr/>
          <p:nvPr/>
        </p:nvSpPr>
        <p:spPr>
          <a:xfrm>
            <a:off x="719678" y="2321295"/>
            <a:ext cx="3596785" cy="234573"/>
          </a:xfrm>
          <a:prstGeom prst="rect">
            <a:avLst/>
          </a:prstGeom>
          <a:noFill/>
          <a:ln/>
        </p:spPr>
        <p:txBody>
          <a:bodyPr wrap="square" rtlCol="0" anchor="ctr"/>
          <a:lstStyle/>
          <a:p>
            <a:r>
              <a:rPr lang="en-US" sz="984" b="1" dirty="0">
                <a:solidFill>
                  <a:srgbClr val="3B5BA7"/>
                </a:solidFill>
                <a:latin typeface="맑은 고딕" pitchFamily="34" charset="0"/>
                <a:ea typeface="맑은 고딕" pitchFamily="34" charset="-122"/>
                <a:cs typeface="맑은 고딕" pitchFamily="34" charset="-120"/>
              </a:rPr>
              <a:t>구동 매커니즘</a:t>
            </a:r>
            <a:endParaRPr lang="en-US" sz="984" dirty="0"/>
          </a:p>
        </p:txBody>
      </p:sp>
      <p:sp>
        <p:nvSpPr>
          <p:cNvPr id="17" name="Text 16">
            <a:extLst>
              <a:ext uri="{FF2B5EF4-FFF2-40B4-BE49-F238E27FC236}">
                <a16:creationId xmlns:a16="http://schemas.microsoft.com/office/drawing/2014/main" id="{9235E3E6-1006-727A-69B3-D111D6F36810}"/>
              </a:ext>
            </a:extLst>
          </p:cNvPr>
          <p:cNvSpPr/>
          <p:nvPr/>
        </p:nvSpPr>
        <p:spPr>
          <a:xfrm>
            <a:off x="719678" y="2594966"/>
            <a:ext cx="3596785" cy="860100"/>
          </a:xfrm>
          <a:prstGeom prst="rect">
            <a:avLst/>
          </a:prstGeom>
          <a:noFill/>
          <a:ln/>
        </p:spPr>
        <p:txBody>
          <a:bodyPr wrap="square" rtlCol="0" anchor="t"/>
          <a:lstStyle/>
          <a:p>
            <a:pPr>
              <a:lnSpc>
                <a:spcPct val="125000"/>
              </a:lnSpc>
              <a:spcAft>
                <a:spcPts val="684"/>
              </a:spcAft>
            </a:pPr>
            <a:r>
              <a:rPr lang="en-US" sz="898" dirty="0">
                <a:solidFill>
                  <a:srgbClr val="1E293B"/>
                </a:solidFill>
                <a:latin typeface="맑은 고딕" pitchFamily="34" charset="0"/>
                <a:ea typeface="맑은 고딕" pitchFamily="34" charset="-122"/>
                <a:cs typeface="맑은 고딕" pitchFamily="34" charset="-120"/>
              </a:rPr>
              <a:t>•  시스템에 전원이 인가되더라도 별도의 제어 명령이 없으면 릴레이 CH1~4를 모두 OFF 상태로 유지하는 기본 모드.</a:t>
            </a:r>
            <a:endParaRPr lang="en-US" sz="898" dirty="0"/>
          </a:p>
        </p:txBody>
      </p:sp>
      <p:sp>
        <p:nvSpPr>
          <p:cNvPr id="19" name="Text 17">
            <a:extLst>
              <a:ext uri="{FF2B5EF4-FFF2-40B4-BE49-F238E27FC236}">
                <a16:creationId xmlns:a16="http://schemas.microsoft.com/office/drawing/2014/main" id="{E6A5C7B5-6E91-E3D3-A900-C933B6864C51}"/>
              </a:ext>
            </a:extLst>
          </p:cNvPr>
          <p:cNvSpPr/>
          <p:nvPr/>
        </p:nvSpPr>
        <p:spPr>
          <a:xfrm>
            <a:off x="719678" y="3455064"/>
            <a:ext cx="3596785" cy="234573"/>
          </a:xfrm>
          <a:prstGeom prst="rect">
            <a:avLst/>
          </a:prstGeom>
          <a:noFill/>
          <a:ln/>
        </p:spPr>
        <p:txBody>
          <a:bodyPr wrap="square" rtlCol="0" anchor="ctr"/>
          <a:lstStyle/>
          <a:p>
            <a:r>
              <a:rPr lang="en-US" sz="984" b="1" dirty="0">
                <a:solidFill>
                  <a:srgbClr val="3B5BA7"/>
                </a:solidFill>
                <a:latin typeface="맑은 고딕" pitchFamily="34" charset="0"/>
                <a:ea typeface="맑은 고딕" pitchFamily="34" charset="-122"/>
                <a:cs typeface="맑은 고딕" pitchFamily="34" charset="-120"/>
              </a:rPr>
              <a:t>핵심 특징</a:t>
            </a:r>
            <a:endParaRPr lang="en-US" sz="984" dirty="0"/>
          </a:p>
        </p:txBody>
      </p:sp>
      <p:sp>
        <p:nvSpPr>
          <p:cNvPr id="21" name="Text 18">
            <a:extLst>
              <a:ext uri="{FF2B5EF4-FFF2-40B4-BE49-F238E27FC236}">
                <a16:creationId xmlns:a16="http://schemas.microsoft.com/office/drawing/2014/main" id="{10958506-3000-AFDB-6487-4448FB02D6B9}"/>
              </a:ext>
            </a:extLst>
          </p:cNvPr>
          <p:cNvSpPr/>
          <p:nvPr/>
        </p:nvSpPr>
        <p:spPr>
          <a:xfrm>
            <a:off x="719678" y="3728734"/>
            <a:ext cx="3596785" cy="1954774"/>
          </a:xfrm>
          <a:prstGeom prst="rect">
            <a:avLst/>
          </a:prstGeom>
          <a:noFill/>
          <a:ln/>
        </p:spPr>
        <p:txBody>
          <a:bodyPr wrap="square" rtlCol="0" anchor="t"/>
          <a:lstStyle/>
          <a:p>
            <a:pPr>
              <a:lnSpc>
                <a:spcPct val="125000"/>
              </a:lnSpc>
              <a:spcAft>
                <a:spcPts val="684"/>
              </a:spcAft>
            </a:pPr>
            <a:r>
              <a:rPr lang="en-US" sz="898" dirty="0">
                <a:solidFill>
                  <a:srgbClr val="1E293B"/>
                </a:solidFill>
                <a:latin typeface="맑은 고딕" pitchFamily="34" charset="0"/>
                <a:ea typeface="맑은 고딕" pitchFamily="34" charset="-122"/>
                <a:cs typeface="맑은 고딕" pitchFamily="34" charset="-120"/>
              </a:rPr>
              <a:t>•  진단 대상 배터리를 회로와 완전히 단절시켜 미세한 대기전력 소모(방전)를 원천 차단하고 배터리 수명을 극대화.</a:t>
            </a:r>
            <a:endParaRPr lang="en-US" sz="898" dirty="0"/>
          </a:p>
          <a:p>
            <a:pPr>
              <a:lnSpc>
                <a:spcPct val="125000"/>
              </a:lnSpc>
              <a:spcAft>
                <a:spcPts val="684"/>
              </a:spcAft>
            </a:pPr>
            <a:r>
              <a:rPr lang="en-US" sz="898" dirty="0">
                <a:solidFill>
                  <a:srgbClr val="1E293B"/>
                </a:solidFill>
                <a:latin typeface="맑은 고딕" pitchFamily="34" charset="0"/>
                <a:ea typeface="맑은 고딕" pitchFamily="34" charset="-122"/>
                <a:cs typeface="맑은 고딕" pitchFamily="34" charset="-120"/>
              </a:rPr>
              <a:t>•  모드1의 BQ27441 #1만 배터리 직결 특성상 SOC 모니터링이 지속되나, 소비전류가 극히 낮아 실질적 방전으로 보지 않음.</a:t>
            </a:r>
            <a:endParaRPr lang="en-US" sz="898" dirty="0"/>
          </a:p>
        </p:txBody>
      </p:sp>
      <p:sp>
        <p:nvSpPr>
          <p:cNvPr id="23" name="Shape 19">
            <a:extLst>
              <a:ext uri="{FF2B5EF4-FFF2-40B4-BE49-F238E27FC236}">
                <a16:creationId xmlns:a16="http://schemas.microsoft.com/office/drawing/2014/main" id="{0055D445-F6F1-D1F6-72E9-59ECBDF04761}"/>
              </a:ext>
            </a:extLst>
          </p:cNvPr>
          <p:cNvSpPr/>
          <p:nvPr/>
        </p:nvSpPr>
        <p:spPr>
          <a:xfrm>
            <a:off x="4707417" y="1734864"/>
            <a:ext cx="3909549" cy="4456885"/>
          </a:xfrm>
          <a:prstGeom prst="roundRect">
            <a:avLst>
              <a:gd name="adj" fmla="val 1400"/>
            </a:avLst>
          </a:prstGeom>
          <a:solidFill>
            <a:srgbClr val="FBEDEC"/>
          </a:solidFill>
          <a:ln/>
          <a:effectLst>
            <a:outerShdw blurRad="63500" dist="25400" dir="2700000" algn="bl" rotWithShape="0">
              <a:srgbClr val="000000">
                <a:alpha val="10000"/>
              </a:srgbClr>
            </a:outerShdw>
          </a:effectLst>
        </p:spPr>
        <p:txBody>
          <a:bodyPr/>
          <a:lstStyle/>
          <a:p>
            <a:endParaRPr lang="ko-KR" altLang="en-US" sz="1634"/>
          </a:p>
        </p:txBody>
      </p:sp>
      <p:sp>
        <p:nvSpPr>
          <p:cNvPr id="25" name="Shape 20">
            <a:extLst>
              <a:ext uri="{FF2B5EF4-FFF2-40B4-BE49-F238E27FC236}">
                <a16:creationId xmlns:a16="http://schemas.microsoft.com/office/drawing/2014/main" id="{8BFE7085-9607-81BA-E183-30C54722DD18}"/>
              </a:ext>
            </a:extLst>
          </p:cNvPr>
          <p:cNvSpPr/>
          <p:nvPr/>
        </p:nvSpPr>
        <p:spPr>
          <a:xfrm>
            <a:off x="4863799" y="1891244"/>
            <a:ext cx="2111157" cy="312764"/>
          </a:xfrm>
          <a:prstGeom prst="roundRect">
            <a:avLst>
              <a:gd name="adj" fmla="val 50000"/>
            </a:avLst>
          </a:prstGeom>
          <a:solidFill>
            <a:srgbClr val="C0392B"/>
          </a:solidFill>
          <a:ln/>
        </p:spPr>
        <p:txBody>
          <a:bodyPr/>
          <a:lstStyle/>
          <a:p>
            <a:endParaRPr lang="ko-KR" altLang="en-US" sz="1634"/>
          </a:p>
        </p:txBody>
      </p:sp>
      <p:sp>
        <p:nvSpPr>
          <p:cNvPr id="27" name="Text 21">
            <a:extLst>
              <a:ext uri="{FF2B5EF4-FFF2-40B4-BE49-F238E27FC236}">
                <a16:creationId xmlns:a16="http://schemas.microsoft.com/office/drawing/2014/main" id="{FB0B3C85-C12B-383D-1038-AF593A0A7F0D}"/>
              </a:ext>
            </a:extLst>
          </p:cNvPr>
          <p:cNvSpPr/>
          <p:nvPr/>
        </p:nvSpPr>
        <p:spPr>
          <a:xfrm>
            <a:off x="4863799" y="1891244"/>
            <a:ext cx="2111157" cy="312764"/>
          </a:xfrm>
          <a:prstGeom prst="rect">
            <a:avLst/>
          </a:prstGeom>
          <a:noFill/>
          <a:ln/>
        </p:spPr>
        <p:txBody>
          <a:bodyPr wrap="square" rtlCol="0" anchor="ctr"/>
          <a:lstStyle/>
          <a:p>
            <a:pPr algn="ctr"/>
            <a:r>
              <a:rPr lang="en-US" sz="941" b="1" dirty="0">
                <a:solidFill>
                  <a:srgbClr val="FFFFFF"/>
                </a:solidFill>
                <a:latin typeface="맑은 고딕" pitchFamily="34" charset="0"/>
                <a:ea typeface="맑은 고딕" pitchFamily="34" charset="-122"/>
                <a:cs typeface="맑은 고딕" pitchFamily="34" charset="-120"/>
              </a:rPr>
              <a:t>State5 : </a:t>
            </a:r>
            <a:r>
              <a:rPr lang="en-US" sz="941" b="1" dirty="0" err="1">
                <a:solidFill>
                  <a:srgbClr val="FFFFFF"/>
                </a:solidFill>
                <a:latin typeface="맑은 고딕" pitchFamily="34" charset="0"/>
                <a:ea typeface="맑은 고딕" pitchFamily="34" charset="-122"/>
                <a:cs typeface="맑은 고딕" pitchFamily="34" charset="-120"/>
              </a:rPr>
              <a:t>비상</a:t>
            </a:r>
            <a:r>
              <a:rPr lang="en-US" sz="941" b="1" dirty="0">
                <a:solidFill>
                  <a:srgbClr val="FFFFFF"/>
                </a:solidFill>
                <a:latin typeface="맑은 고딕" pitchFamily="34" charset="0"/>
                <a:ea typeface="맑은 고딕" pitchFamily="34" charset="-122"/>
                <a:cs typeface="맑은 고딕" pitchFamily="34" charset="-120"/>
              </a:rPr>
              <a:t> 차단 · Kill-Switch</a:t>
            </a:r>
            <a:endParaRPr lang="en-US" sz="941" dirty="0"/>
          </a:p>
        </p:txBody>
      </p:sp>
      <p:sp>
        <p:nvSpPr>
          <p:cNvPr id="29" name="Text 22">
            <a:extLst>
              <a:ext uri="{FF2B5EF4-FFF2-40B4-BE49-F238E27FC236}">
                <a16:creationId xmlns:a16="http://schemas.microsoft.com/office/drawing/2014/main" id="{C6B29E12-43ED-789D-381C-582CD8B2EB0E}"/>
              </a:ext>
            </a:extLst>
          </p:cNvPr>
          <p:cNvSpPr/>
          <p:nvPr/>
        </p:nvSpPr>
        <p:spPr>
          <a:xfrm>
            <a:off x="4863799" y="2321295"/>
            <a:ext cx="3596785" cy="234573"/>
          </a:xfrm>
          <a:prstGeom prst="rect">
            <a:avLst/>
          </a:prstGeom>
          <a:noFill/>
          <a:ln/>
        </p:spPr>
        <p:txBody>
          <a:bodyPr wrap="square" rtlCol="0" anchor="ctr"/>
          <a:lstStyle/>
          <a:p>
            <a:r>
              <a:rPr lang="en-US" sz="984" b="1" dirty="0">
                <a:solidFill>
                  <a:srgbClr val="C0392B"/>
                </a:solidFill>
                <a:latin typeface="맑은 고딕" pitchFamily="34" charset="0"/>
                <a:ea typeface="맑은 고딕" pitchFamily="34" charset="-122"/>
                <a:cs typeface="맑은 고딕" pitchFamily="34" charset="-120"/>
              </a:rPr>
              <a:t>구동 매커니즘</a:t>
            </a:r>
            <a:endParaRPr lang="en-US" sz="984" dirty="0"/>
          </a:p>
        </p:txBody>
      </p:sp>
      <p:sp>
        <p:nvSpPr>
          <p:cNvPr id="31" name="Text 23">
            <a:extLst>
              <a:ext uri="{FF2B5EF4-FFF2-40B4-BE49-F238E27FC236}">
                <a16:creationId xmlns:a16="http://schemas.microsoft.com/office/drawing/2014/main" id="{ADAD7465-1261-E873-7180-D168299FA59F}"/>
              </a:ext>
            </a:extLst>
          </p:cNvPr>
          <p:cNvSpPr/>
          <p:nvPr/>
        </p:nvSpPr>
        <p:spPr>
          <a:xfrm>
            <a:off x="4863799" y="2594966"/>
            <a:ext cx="3596785" cy="860100"/>
          </a:xfrm>
          <a:prstGeom prst="rect">
            <a:avLst/>
          </a:prstGeom>
          <a:noFill/>
          <a:ln/>
        </p:spPr>
        <p:txBody>
          <a:bodyPr wrap="square" rtlCol="0" anchor="t"/>
          <a:lstStyle/>
          <a:p>
            <a:pPr>
              <a:lnSpc>
                <a:spcPct val="125000"/>
              </a:lnSpc>
              <a:spcAft>
                <a:spcPts val="684"/>
              </a:spcAft>
            </a:pPr>
            <a:r>
              <a:rPr lang="en-US" sz="898" dirty="0">
                <a:solidFill>
                  <a:srgbClr val="1E293B"/>
                </a:solidFill>
                <a:latin typeface="맑은 고딕" pitchFamily="34" charset="0"/>
                <a:ea typeface="맑은 고딕" pitchFamily="34" charset="-122"/>
                <a:cs typeface="맑은 고딕" pitchFamily="34" charset="-120"/>
              </a:rPr>
              <a:t>•  모드1 · 2 · 3 구동 중 실시간 수집되는 전압 · 전류 · 전력 · 온도 · 가스 · 압력 · 음향 데이터를 AI 및 제어 로직이 상시 감시.</a:t>
            </a:r>
            <a:endParaRPr lang="en-US" sz="898" dirty="0"/>
          </a:p>
        </p:txBody>
      </p:sp>
      <p:sp>
        <p:nvSpPr>
          <p:cNvPr id="33" name="Text 24">
            <a:extLst>
              <a:ext uri="{FF2B5EF4-FFF2-40B4-BE49-F238E27FC236}">
                <a16:creationId xmlns:a16="http://schemas.microsoft.com/office/drawing/2014/main" id="{EC51BC24-6099-3EEC-0246-49FDE2432101}"/>
              </a:ext>
            </a:extLst>
          </p:cNvPr>
          <p:cNvSpPr/>
          <p:nvPr/>
        </p:nvSpPr>
        <p:spPr>
          <a:xfrm>
            <a:off x="4863799" y="3455064"/>
            <a:ext cx="3596785" cy="234573"/>
          </a:xfrm>
          <a:prstGeom prst="rect">
            <a:avLst/>
          </a:prstGeom>
          <a:noFill/>
          <a:ln/>
        </p:spPr>
        <p:txBody>
          <a:bodyPr wrap="square" rtlCol="0" anchor="ctr"/>
          <a:lstStyle/>
          <a:p>
            <a:r>
              <a:rPr lang="en-US" sz="984" b="1" dirty="0">
                <a:solidFill>
                  <a:srgbClr val="C0392B"/>
                </a:solidFill>
                <a:latin typeface="맑은 고딕" pitchFamily="34" charset="0"/>
                <a:ea typeface="맑은 고딕" pitchFamily="34" charset="-122"/>
                <a:cs typeface="맑은 고딕" pitchFamily="34" charset="-120"/>
              </a:rPr>
              <a:t>핵심 특징</a:t>
            </a:r>
            <a:endParaRPr lang="en-US" sz="984" dirty="0"/>
          </a:p>
        </p:txBody>
      </p:sp>
      <p:sp>
        <p:nvSpPr>
          <p:cNvPr id="35" name="Text 25">
            <a:extLst>
              <a:ext uri="{FF2B5EF4-FFF2-40B4-BE49-F238E27FC236}">
                <a16:creationId xmlns:a16="http://schemas.microsoft.com/office/drawing/2014/main" id="{D4A4D7A9-A133-9080-4CFA-8813249B5490}"/>
              </a:ext>
            </a:extLst>
          </p:cNvPr>
          <p:cNvSpPr/>
          <p:nvPr/>
        </p:nvSpPr>
        <p:spPr>
          <a:xfrm>
            <a:off x="4863799" y="3728734"/>
            <a:ext cx="3596785" cy="1954774"/>
          </a:xfrm>
          <a:prstGeom prst="rect">
            <a:avLst/>
          </a:prstGeom>
          <a:noFill/>
          <a:ln/>
        </p:spPr>
        <p:txBody>
          <a:bodyPr wrap="square" rtlCol="0" anchor="t"/>
          <a:lstStyle/>
          <a:p>
            <a:pPr>
              <a:lnSpc>
                <a:spcPct val="125000"/>
              </a:lnSpc>
              <a:spcAft>
                <a:spcPts val="684"/>
              </a:spcAft>
            </a:pPr>
            <a:r>
              <a:rPr lang="en-US" sz="898" dirty="0">
                <a:solidFill>
                  <a:srgbClr val="1E293B"/>
                </a:solidFill>
                <a:latin typeface="맑은 고딕" pitchFamily="34" charset="0"/>
                <a:ea typeface="맑은 고딕" pitchFamily="34" charset="-122"/>
                <a:cs typeface="맑은 고딕" pitchFamily="34" charset="-120"/>
              </a:rPr>
              <a:t>•  데이터에서 특이점(열폭주 전조 징후, 과전압, 과전류 등)이 포착되는 즉시 활성 릴레이 채널을 강제 차단(OFF).</a:t>
            </a:r>
            <a:endParaRPr lang="en-US" sz="898" dirty="0"/>
          </a:p>
          <a:p>
            <a:pPr>
              <a:lnSpc>
                <a:spcPct val="125000"/>
              </a:lnSpc>
              <a:spcAft>
                <a:spcPts val="684"/>
              </a:spcAft>
            </a:pPr>
            <a:r>
              <a:rPr lang="en-US" sz="898" dirty="0">
                <a:solidFill>
                  <a:srgbClr val="1E293B"/>
                </a:solidFill>
                <a:latin typeface="맑은 고딕" pitchFamily="34" charset="0"/>
                <a:ea typeface="맑은 고딕" pitchFamily="34" charset="-122"/>
                <a:cs typeface="맑은 고딕" pitchFamily="34" charset="-120"/>
              </a:rPr>
              <a:t>•  재연결은 자동이 아닌 사용자의 명시적 확인(모달)을 </a:t>
            </a:r>
            <a:r>
              <a:rPr lang="en-US" sz="898" dirty="0" err="1">
                <a:solidFill>
                  <a:srgbClr val="1E293B"/>
                </a:solidFill>
                <a:latin typeface="맑은 고딕" pitchFamily="34" charset="0"/>
                <a:ea typeface="맑은 고딕" pitchFamily="34" charset="-122"/>
                <a:cs typeface="맑은 고딕" pitchFamily="34" charset="-120"/>
              </a:rPr>
              <a:t>거쳐야만</a:t>
            </a:r>
            <a:r>
              <a:rPr lang="en-US" sz="898" dirty="0">
                <a:solidFill>
                  <a:srgbClr val="1E293B"/>
                </a:solidFill>
                <a:latin typeface="맑은 고딕" pitchFamily="34" charset="0"/>
                <a:ea typeface="맑은 고딕" pitchFamily="34" charset="-122"/>
                <a:cs typeface="맑은 고딕" pitchFamily="34" charset="-120"/>
              </a:rPr>
              <a:t> </a:t>
            </a:r>
            <a:r>
              <a:rPr lang="en-US" sz="898" dirty="0" err="1">
                <a:solidFill>
                  <a:srgbClr val="1E293B"/>
                </a:solidFill>
                <a:latin typeface="맑은 고딕" pitchFamily="34" charset="0"/>
                <a:ea typeface="맑은 고딕" pitchFamily="34" charset="-122"/>
                <a:cs typeface="맑은 고딕" pitchFamily="34" charset="-120"/>
              </a:rPr>
              <a:t>가능</a:t>
            </a:r>
            <a:r>
              <a:rPr lang="ko-KR" altLang="en-US" sz="898" dirty="0">
                <a:solidFill>
                  <a:srgbClr val="1E293B"/>
                </a:solidFill>
                <a:latin typeface="맑은 고딕" pitchFamily="34" charset="0"/>
                <a:ea typeface="맑은 고딕" pitchFamily="34" charset="-122"/>
                <a:cs typeface="맑은 고딕" pitchFamily="34" charset="-120"/>
              </a:rPr>
              <a:t>하게 하여 </a:t>
            </a:r>
            <a:r>
              <a:rPr lang="en-US" sz="898" dirty="0" err="1">
                <a:solidFill>
                  <a:srgbClr val="1E293B"/>
                </a:solidFill>
                <a:latin typeface="맑은 고딕" pitchFamily="34" charset="0"/>
                <a:ea typeface="맑은 고딕" pitchFamily="34" charset="-122"/>
                <a:cs typeface="맑은 고딕" pitchFamily="34" charset="-120"/>
              </a:rPr>
              <a:t>오작동</a:t>
            </a:r>
            <a:r>
              <a:rPr lang="en-US" sz="898" dirty="0">
                <a:solidFill>
                  <a:srgbClr val="1E293B"/>
                </a:solidFill>
                <a:latin typeface="맑은 고딕" pitchFamily="34" charset="0"/>
                <a:ea typeface="맑은 고딕" pitchFamily="34" charset="-122"/>
                <a:cs typeface="맑은 고딕" pitchFamily="34" charset="-120"/>
              </a:rPr>
              <a:t> 방지.</a:t>
            </a:r>
            <a:endParaRPr lang="en-US" sz="898" dirty="0"/>
          </a:p>
          <a:p>
            <a:pPr>
              <a:lnSpc>
                <a:spcPct val="125000"/>
              </a:lnSpc>
              <a:spcAft>
                <a:spcPts val="684"/>
              </a:spcAft>
            </a:pPr>
            <a:r>
              <a:rPr lang="en-US" sz="898" dirty="0">
                <a:solidFill>
                  <a:srgbClr val="1E293B"/>
                </a:solidFill>
                <a:latin typeface="맑은 고딕" pitchFamily="34" charset="0"/>
                <a:ea typeface="맑은 고딕" pitchFamily="34" charset="-122"/>
                <a:cs typeface="맑은 고딕" pitchFamily="34" charset="-120"/>
              </a:rPr>
              <a:t>•  v2 구조에서는 모드1의 충전 중(CH4=NC)이라도 CH1/CH4를 동시 차단하면 충전전류까지 즉시 끊김.</a:t>
            </a:r>
            <a:endParaRPr lang="en-US" sz="898" dirty="0"/>
          </a:p>
        </p:txBody>
      </p:sp>
    </p:spTree>
    <p:extLst>
      <p:ext uri="{BB962C8B-B14F-4D97-AF65-F5344CB8AC3E}">
        <p14:creationId xmlns:p14="http://schemas.microsoft.com/office/powerpoint/2010/main" val="28013409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직사각형 20"/>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2" name="직선 연결선 21"/>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직선 연결선 24"/>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8" name="제목 12"/>
          <p:cNvSpPr txBox="1">
            <a:spLocks/>
          </p:cNvSpPr>
          <p:nvPr/>
        </p:nvSpPr>
        <p:spPr>
          <a:xfrm>
            <a:off x="323528" y="692697"/>
            <a:ext cx="2952328" cy="272474"/>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a:t>
            </a:r>
            <a:r>
              <a:rPr lang="ko-KR" altLang="en-US" sz="1700" b="1" noProof="0" dirty="0">
                <a:solidFill>
                  <a:schemeClr val="bg1"/>
                </a:solidFill>
                <a:latin typeface="+mn-ea"/>
                <a:cs typeface="+mj-cs"/>
              </a:rPr>
              <a:t>메뉴 구성도</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30"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2" name="막힌 원호 31"/>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2" name="그림 1">
            <a:extLst>
              <a:ext uri="{FF2B5EF4-FFF2-40B4-BE49-F238E27FC236}">
                <a16:creationId xmlns:a16="http://schemas.microsoft.com/office/drawing/2014/main" id="{05359606-F14A-DDEC-A185-BDD0EFB4D71B}"/>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34" name="Rounded Rectangle 33"/>
          <p:cNvSpPr/>
          <p:nvPr/>
        </p:nvSpPr>
        <p:spPr>
          <a:xfrm>
            <a:off x="3493007" y="1426464"/>
            <a:ext cx="2194560" cy="420624"/>
          </a:xfrm>
          <a:prstGeom prst="roundRect">
            <a:avLst>
              <a:gd name="adj" fmla="val 1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1200" b="1">
                <a:solidFill>
                  <a:srgbClr val="FFFFFF"/>
                </a:solidFill>
                <a:latin typeface="맑은 고딕"/>
              </a:rPr>
              <a:t>로그인 / 회원가입</a:t>
            </a:r>
          </a:p>
        </p:txBody>
      </p:sp>
      <p:sp>
        <p:nvSpPr>
          <p:cNvPr id="35" name="Rounded Rectangle 34"/>
          <p:cNvSpPr/>
          <p:nvPr/>
        </p:nvSpPr>
        <p:spPr>
          <a:xfrm>
            <a:off x="6144768" y="1426464"/>
            <a:ext cx="1828800" cy="420624"/>
          </a:xfrm>
          <a:prstGeom prst="roundRect">
            <a:avLst>
              <a:gd name="adj" fmla="val 10000"/>
            </a:avLst>
          </a:prstGeom>
          <a:solidFill>
            <a:srgbClr val="FFFFFF"/>
          </a:solidFill>
          <a:ln w="12700">
            <a:solidFill>
              <a:srgbClr val="BFD4FB"/>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950" b="0">
                <a:solidFill>
                  <a:srgbClr val="6B665E"/>
                </a:solidFill>
                <a:latin typeface="맑은 고딕"/>
              </a:rPr>
              <a:t>계정 찾기 (ID · 비밀번호)</a:t>
            </a:r>
          </a:p>
        </p:txBody>
      </p:sp>
      <p:cxnSp>
        <p:nvCxnSpPr>
          <p:cNvPr id="36" name="Connector 35"/>
          <p:cNvCxnSpPr/>
          <p:nvPr/>
        </p:nvCxnSpPr>
        <p:spPr>
          <a:xfrm>
            <a:off x="5687568" y="1636776"/>
            <a:ext cx="457200" cy="0"/>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3355847" y="2103120"/>
            <a:ext cx="2468880" cy="512064"/>
          </a:xfrm>
          <a:prstGeom prst="roundRect">
            <a:avLst>
              <a:gd name="adj" fmla="val 1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1300" b="1">
                <a:solidFill>
                  <a:srgbClr val="FFFFFF"/>
                </a:solidFill>
                <a:latin typeface="맑은 고딕"/>
              </a:rPr>
              <a:t>HOME 대시보드</a:t>
            </a:r>
          </a:p>
        </p:txBody>
      </p:sp>
      <p:cxnSp>
        <p:nvCxnSpPr>
          <p:cNvPr id="38" name="Connector 37"/>
          <p:cNvCxnSpPr/>
          <p:nvPr/>
        </p:nvCxnSpPr>
        <p:spPr>
          <a:xfrm>
            <a:off x="4590288" y="1847088"/>
            <a:ext cx="0" cy="256032"/>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590288" y="2615184"/>
            <a:ext cx="0" cy="146304"/>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170432" y="2761488"/>
            <a:ext cx="6839712" cy="0"/>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170432" y="2761488"/>
            <a:ext cx="0" cy="210312"/>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402336" y="2971800"/>
            <a:ext cx="1536192" cy="438912"/>
          </a:xfrm>
          <a:prstGeom prst="roundRect">
            <a:avLst>
              <a:gd name="adj" fmla="val 10000"/>
            </a:avLst>
          </a:prstGeom>
          <a:solidFill>
            <a:srgbClr val="EAF1FE"/>
          </a:solidFill>
          <a:ln w="12700">
            <a:solidFill>
              <a:srgbClr val="BFD4FB"/>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1100" b="1">
                <a:solidFill>
                  <a:srgbClr val="1D4ED8"/>
                </a:solidFill>
                <a:latin typeface="맑은 고딕"/>
              </a:rPr>
              <a:t>디바이스 · 배터리</a:t>
            </a:r>
          </a:p>
        </p:txBody>
      </p:sp>
      <p:cxnSp>
        <p:nvCxnSpPr>
          <p:cNvPr id="43" name="Connector 42"/>
          <p:cNvCxnSpPr/>
          <p:nvPr/>
        </p:nvCxnSpPr>
        <p:spPr>
          <a:xfrm>
            <a:off x="1170432" y="3410712"/>
            <a:ext cx="0" cy="228600"/>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402336" y="3639312"/>
            <a:ext cx="1536192" cy="402336"/>
          </a:xfrm>
          <a:prstGeom prst="roundRect">
            <a:avLst>
              <a:gd name="adj" fmla="val 10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950" b="0">
                <a:solidFill>
                  <a:srgbClr val="2A2A2A"/>
                </a:solidFill>
                <a:latin typeface="맑은 고딕"/>
              </a:rPr>
              <a:t>디바이스 선택</a:t>
            </a:r>
          </a:p>
        </p:txBody>
      </p:sp>
      <p:cxnSp>
        <p:nvCxnSpPr>
          <p:cNvPr id="45" name="Connector 44"/>
          <p:cNvCxnSpPr/>
          <p:nvPr/>
        </p:nvCxnSpPr>
        <p:spPr>
          <a:xfrm>
            <a:off x="1170432" y="4041648"/>
            <a:ext cx="0" cy="118872"/>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402336" y="4160520"/>
            <a:ext cx="1536192" cy="402336"/>
          </a:xfrm>
          <a:prstGeom prst="roundRect">
            <a:avLst>
              <a:gd name="adj" fmla="val 10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950" b="0">
                <a:solidFill>
                  <a:srgbClr val="2A2A2A"/>
                </a:solidFill>
                <a:latin typeface="맑은 고딕"/>
              </a:rPr>
              <a:t>배터리 자산관리</a:t>
            </a:r>
          </a:p>
        </p:txBody>
      </p:sp>
      <p:cxnSp>
        <p:nvCxnSpPr>
          <p:cNvPr id="47" name="Connector 46"/>
          <p:cNvCxnSpPr/>
          <p:nvPr/>
        </p:nvCxnSpPr>
        <p:spPr>
          <a:xfrm>
            <a:off x="2880360" y="2761488"/>
            <a:ext cx="0" cy="210312"/>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2112264" y="2971800"/>
            <a:ext cx="1536192" cy="438912"/>
          </a:xfrm>
          <a:prstGeom prst="roundRect">
            <a:avLst>
              <a:gd name="adj" fmla="val 10000"/>
            </a:avLst>
          </a:prstGeom>
          <a:solidFill>
            <a:srgbClr val="EAF1FE"/>
          </a:solidFill>
          <a:ln w="12700">
            <a:solidFill>
              <a:srgbClr val="BFD4FB"/>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1100" b="1">
                <a:solidFill>
                  <a:srgbClr val="1D4ED8"/>
                </a:solidFill>
                <a:latin typeface="맑은 고딕"/>
              </a:rPr>
              <a:t>실시간 관제</a:t>
            </a:r>
          </a:p>
        </p:txBody>
      </p:sp>
      <p:cxnSp>
        <p:nvCxnSpPr>
          <p:cNvPr id="49" name="Connector 48"/>
          <p:cNvCxnSpPr/>
          <p:nvPr/>
        </p:nvCxnSpPr>
        <p:spPr>
          <a:xfrm>
            <a:off x="2880360" y="3410712"/>
            <a:ext cx="0" cy="228600"/>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2112264" y="3639312"/>
            <a:ext cx="1536192" cy="402336"/>
          </a:xfrm>
          <a:prstGeom prst="roundRect">
            <a:avLst>
              <a:gd name="adj" fmla="val 10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950" b="0">
                <a:solidFill>
                  <a:srgbClr val="2A2A2A"/>
                </a:solidFill>
                <a:latin typeface="맑은 고딕"/>
              </a:rPr>
              <a:t>센서 요약 카드</a:t>
            </a:r>
          </a:p>
        </p:txBody>
      </p:sp>
      <p:cxnSp>
        <p:nvCxnSpPr>
          <p:cNvPr id="51" name="Connector 50"/>
          <p:cNvCxnSpPr/>
          <p:nvPr/>
        </p:nvCxnSpPr>
        <p:spPr>
          <a:xfrm>
            <a:off x="2880360" y="4041648"/>
            <a:ext cx="0" cy="118872"/>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2112264" y="4160520"/>
            <a:ext cx="1536192" cy="402336"/>
          </a:xfrm>
          <a:prstGeom prst="roundRect">
            <a:avLst>
              <a:gd name="adj" fmla="val 10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950" b="0">
                <a:solidFill>
                  <a:srgbClr val="2A2A2A"/>
                </a:solidFill>
                <a:latin typeface="맑은 고딕"/>
              </a:rPr>
              <a:t>이상점수 · 상태등급</a:t>
            </a:r>
          </a:p>
        </p:txBody>
      </p:sp>
      <p:cxnSp>
        <p:nvCxnSpPr>
          <p:cNvPr id="53" name="Connector 52"/>
          <p:cNvCxnSpPr/>
          <p:nvPr/>
        </p:nvCxnSpPr>
        <p:spPr>
          <a:xfrm>
            <a:off x="4590288" y="2761488"/>
            <a:ext cx="0" cy="210312"/>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3822191" y="2971800"/>
            <a:ext cx="1536192" cy="438912"/>
          </a:xfrm>
          <a:prstGeom prst="roundRect">
            <a:avLst>
              <a:gd name="adj" fmla="val 10000"/>
            </a:avLst>
          </a:prstGeom>
          <a:solidFill>
            <a:srgbClr val="EAF1FE"/>
          </a:solidFill>
          <a:ln w="12700">
            <a:solidFill>
              <a:srgbClr val="BFD4FB"/>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1100" b="1">
                <a:solidFill>
                  <a:srgbClr val="1D4ED8"/>
                </a:solidFill>
                <a:latin typeface="맑은 고딕"/>
              </a:rPr>
              <a:t>이상 분석</a:t>
            </a:r>
          </a:p>
        </p:txBody>
      </p:sp>
      <p:cxnSp>
        <p:nvCxnSpPr>
          <p:cNvPr id="55" name="Connector 54"/>
          <p:cNvCxnSpPr/>
          <p:nvPr/>
        </p:nvCxnSpPr>
        <p:spPr>
          <a:xfrm>
            <a:off x="4590288" y="3410712"/>
            <a:ext cx="0" cy="228600"/>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3822191" y="3639312"/>
            <a:ext cx="1536192" cy="402336"/>
          </a:xfrm>
          <a:prstGeom prst="roundRect">
            <a:avLst>
              <a:gd name="adj" fmla="val 10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950" b="0">
                <a:solidFill>
                  <a:srgbClr val="2A2A2A"/>
                </a:solidFill>
                <a:latin typeface="맑은 고딕"/>
              </a:rPr>
              <a:t>이상 이벤트 상세</a:t>
            </a:r>
          </a:p>
        </p:txBody>
      </p:sp>
      <p:cxnSp>
        <p:nvCxnSpPr>
          <p:cNvPr id="57" name="Connector 56"/>
          <p:cNvCxnSpPr/>
          <p:nvPr/>
        </p:nvCxnSpPr>
        <p:spPr>
          <a:xfrm>
            <a:off x="4590288" y="4041648"/>
            <a:ext cx="0" cy="118872"/>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3822191" y="4160520"/>
            <a:ext cx="1536192" cy="402336"/>
          </a:xfrm>
          <a:prstGeom prst="roundRect">
            <a:avLst>
              <a:gd name="adj" fmla="val 10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950" b="0">
                <a:solidFill>
                  <a:srgbClr val="2A2A2A"/>
                </a:solidFill>
                <a:latin typeface="맑은 고딕"/>
              </a:rPr>
              <a:t>XAI · SOH / RUL</a:t>
            </a:r>
          </a:p>
        </p:txBody>
      </p:sp>
      <p:cxnSp>
        <p:nvCxnSpPr>
          <p:cNvPr id="59" name="Connector 58"/>
          <p:cNvCxnSpPr/>
          <p:nvPr/>
        </p:nvCxnSpPr>
        <p:spPr>
          <a:xfrm>
            <a:off x="6300216" y="2761488"/>
            <a:ext cx="0" cy="210312"/>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5532120" y="2971800"/>
            <a:ext cx="1536192" cy="438912"/>
          </a:xfrm>
          <a:prstGeom prst="roundRect">
            <a:avLst>
              <a:gd name="adj" fmla="val 10000"/>
            </a:avLst>
          </a:prstGeom>
          <a:solidFill>
            <a:srgbClr val="EAF1FE"/>
          </a:solidFill>
          <a:ln w="12700">
            <a:solidFill>
              <a:srgbClr val="BFD4FB"/>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1100" b="1">
                <a:solidFill>
                  <a:srgbClr val="1D4ED8"/>
                </a:solidFill>
                <a:latin typeface="맑은 고딕"/>
              </a:rPr>
              <a:t>알림 · 릴레이</a:t>
            </a:r>
          </a:p>
        </p:txBody>
      </p:sp>
      <p:cxnSp>
        <p:nvCxnSpPr>
          <p:cNvPr id="61" name="Connector 60"/>
          <p:cNvCxnSpPr/>
          <p:nvPr/>
        </p:nvCxnSpPr>
        <p:spPr>
          <a:xfrm>
            <a:off x="6300216" y="3410712"/>
            <a:ext cx="0" cy="228600"/>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5532120" y="3639312"/>
            <a:ext cx="1536192" cy="402336"/>
          </a:xfrm>
          <a:prstGeom prst="roundRect">
            <a:avLst>
              <a:gd name="adj" fmla="val 10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950" b="0">
                <a:solidFill>
                  <a:srgbClr val="2A2A2A"/>
                </a:solidFill>
                <a:latin typeface="맑은 고딕"/>
              </a:rPr>
              <a:t>알림 확인 (Ack)</a:t>
            </a:r>
          </a:p>
        </p:txBody>
      </p:sp>
      <p:cxnSp>
        <p:nvCxnSpPr>
          <p:cNvPr id="63" name="Connector 62"/>
          <p:cNvCxnSpPr/>
          <p:nvPr/>
        </p:nvCxnSpPr>
        <p:spPr>
          <a:xfrm>
            <a:off x="6300216" y="4041648"/>
            <a:ext cx="0" cy="118872"/>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64" name="Rounded Rectangle 63"/>
          <p:cNvSpPr/>
          <p:nvPr/>
        </p:nvSpPr>
        <p:spPr>
          <a:xfrm>
            <a:off x="5532120" y="4160520"/>
            <a:ext cx="1536192" cy="402336"/>
          </a:xfrm>
          <a:prstGeom prst="roundRect">
            <a:avLst>
              <a:gd name="adj" fmla="val 10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950" b="0">
                <a:solidFill>
                  <a:srgbClr val="2A2A2A"/>
                </a:solidFill>
                <a:latin typeface="맑은 고딕"/>
              </a:rPr>
              <a:t>SOP · Kill-Switch</a:t>
            </a:r>
          </a:p>
        </p:txBody>
      </p:sp>
      <p:cxnSp>
        <p:nvCxnSpPr>
          <p:cNvPr id="65" name="Connector 64"/>
          <p:cNvCxnSpPr/>
          <p:nvPr/>
        </p:nvCxnSpPr>
        <p:spPr>
          <a:xfrm>
            <a:off x="8010144" y="2761488"/>
            <a:ext cx="0" cy="210312"/>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7242048" y="2971800"/>
            <a:ext cx="1536192" cy="438912"/>
          </a:xfrm>
          <a:prstGeom prst="roundRect">
            <a:avLst>
              <a:gd name="adj" fmla="val 10000"/>
            </a:avLst>
          </a:prstGeom>
          <a:solidFill>
            <a:srgbClr val="EAF1FE"/>
          </a:solidFill>
          <a:ln w="12700">
            <a:solidFill>
              <a:srgbClr val="BFD4FB"/>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1100" b="1">
                <a:solidFill>
                  <a:srgbClr val="1D4ED8"/>
                </a:solidFill>
                <a:latin typeface="맑은 고딕"/>
              </a:rPr>
              <a:t>이력 · 설정</a:t>
            </a:r>
          </a:p>
        </p:txBody>
      </p:sp>
      <p:cxnSp>
        <p:nvCxnSpPr>
          <p:cNvPr id="67" name="Connector 66"/>
          <p:cNvCxnSpPr/>
          <p:nvPr/>
        </p:nvCxnSpPr>
        <p:spPr>
          <a:xfrm>
            <a:off x="8010144" y="3410712"/>
            <a:ext cx="0" cy="228600"/>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68" name="Rounded Rectangle 67"/>
          <p:cNvSpPr/>
          <p:nvPr/>
        </p:nvSpPr>
        <p:spPr>
          <a:xfrm>
            <a:off x="7242048" y="3639312"/>
            <a:ext cx="1536192" cy="402336"/>
          </a:xfrm>
          <a:prstGeom prst="roundRect">
            <a:avLst>
              <a:gd name="adj" fmla="val 10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950" b="0">
                <a:solidFill>
                  <a:srgbClr val="2A2A2A"/>
                </a:solidFill>
                <a:latin typeface="맑은 고딕"/>
              </a:rPr>
              <a:t>추세 · 이벤트 이력</a:t>
            </a:r>
          </a:p>
        </p:txBody>
      </p:sp>
      <p:cxnSp>
        <p:nvCxnSpPr>
          <p:cNvPr id="69" name="Connector 68"/>
          <p:cNvCxnSpPr/>
          <p:nvPr/>
        </p:nvCxnSpPr>
        <p:spPr>
          <a:xfrm>
            <a:off x="8010144" y="4041648"/>
            <a:ext cx="0" cy="118872"/>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70" name="Rounded Rectangle 69"/>
          <p:cNvSpPr/>
          <p:nvPr/>
        </p:nvSpPr>
        <p:spPr>
          <a:xfrm>
            <a:off x="7242048" y="4160520"/>
            <a:ext cx="1536192" cy="402336"/>
          </a:xfrm>
          <a:prstGeom prst="roundRect">
            <a:avLst>
              <a:gd name="adj" fmla="val 10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950" b="0">
                <a:solidFill>
                  <a:srgbClr val="2A2A2A"/>
                </a:solidFill>
                <a:latin typeface="맑은 고딕"/>
              </a:rPr>
              <a:t>알림 설정</a:t>
            </a:r>
          </a:p>
        </p:txBody>
      </p:sp>
      <p:cxnSp>
        <p:nvCxnSpPr>
          <p:cNvPr id="71" name="Connector 70"/>
          <p:cNvCxnSpPr/>
          <p:nvPr/>
        </p:nvCxnSpPr>
        <p:spPr>
          <a:xfrm>
            <a:off x="8010144" y="4562856"/>
            <a:ext cx="0" cy="118872"/>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72" name="Rounded Rectangle 71"/>
          <p:cNvSpPr/>
          <p:nvPr/>
        </p:nvSpPr>
        <p:spPr>
          <a:xfrm>
            <a:off x="7242048" y="4681728"/>
            <a:ext cx="1536192" cy="402336"/>
          </a:xfrm>
          <a:prstGeom prst="roundRect">
            <a:avLst>
              <a:gd name="adj" fmla="val 10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950" b="0">
                <a:solidFill>
                  <a:srgbClr val="2A2A2A"/>
                </a:solidFill>
                <a:latin typeface="맑은 고딕"/>
              </a:rPr>
              <a:t>계정 · 테마 설정</a:t>
            </a:r>
          </a:p>
        </p:txBody>
      </p:sp>
    </p:spTree>
    <p:extLst>
      <p:ext uri="{BB962C8B-B14F-4D97-AF65-F5344CB8AC3E}">
        <p14:creationId xmlns:p14="http://schemas.microsoft.com/office/powerpoint/2010/main" val="7139034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직사각형 13"/>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7" name="직선 연결선 16"/>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 name="직선 연결선 17"/>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19" name="제목 12"/>
          <p:cNvSpPr txBox="1">
            <a:spLocks/>
          </p:cNvSpPr>
          <p:nvPr/>
        </p:nvSpPr>
        <p:spPr>
          <a:xfrm>
            <a:off x="323528" y="692696"/>
            <a:ext cx="2808312"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a:t>
            </a:r>
            <a:r>
              <a:rPr kumimoji="0" lang="ko-KR" altLang="en-US" sz="1700" b="1" i="0" u="none" strike="noStrike" kern="1200" cap="none" spc="0" normalizeH="0" baseline="0" noProof="0" dirty="0">
                <a:ln>
                  <a:noFill/>
                </a:ln>
                <a:solidFill>
                  <a:schemeClr val="bg1"/>
                </a:solidFill>
                <a:effectLst/>
                <a:uLnTx/>
                <a:uFillTx/>
                <a:latin typeface="+mn-ea"/>
                <a:cs typeface="+mj-cs"/>
              </a:rPr>
              <a:t>메뉴 구성도</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1026"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5" name="막힌 원호 34"/>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그림 2">
            <a:extLst>
              <a:ext uri="{FF2B5EF4-FFF2-40B4-BE49-F238E27FC236}">
                <a16:creationId xmlns:a16="http://schemas.microsoft.com/office/drawing/2014/main" id="{D6375A2A-DA98-9997-0E24-F0F1B6CF5662}"/>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1028" name="Rounded Rectangle 1027"/>
          <p:cNvSpPr/>
          <p:nvPr/>
        </p:nvSpPr>
        <p:spPr>
          <a:xfrm>
            <a:off x="3493007" y="1426464"/>
            <a:ext cx="2194560" cy="420624"/>
          </a:xfrm>
          <a:prstGeom prst="roundRect">
            <a:avLst>
              <a:gd name="adj" fmla="val 1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1200" b="1">
                <a:solidFill>
                  <a:srgbClr val="FFFFFF"/>
                </a:solidFill>
                <a:latin typeface="맑은 고딕"/>
              </a:rPr>
              <a:t>관리자 로그인</a:t>
            </a:r>
          </a:p>
        </p:txBody>
      </p:sp>
      <p:sp>
        <p:nvSpPr>
          <p:cNvPr id="1029" name="Rounded Rectangle 1028"/>
          <p:cNvSpPr/>
          <p:nvPr/>
        </p:nvSpPr>
        <p:spPr>
          <a:xfrm>
            <a:off x="3355847" y="2103120"/>
            <a:ext cx="2468880" cy="512064"/>
          </a:xfrm>
          <a:prstGeom prst="roundRect">
            <a:avLst>
              <a:gd name="adj" fmla="val 1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1300" b="1">
                <a:solidFill>
                  <a:srgbClr val="FFFFFF"/>
                </a:solidFill>
                <a:latin typeface="맑은 고딕"/>
              </a:rPr>
              <a:t>관리자 대시보드</a:t>
            </a:r>
          </a:p>
        </p:txBody>
      </p:sp>
      <p:cxnSp>
        <p:nvCxnSpPr>
          <p:cNvPr id="1030" name="Connector 1029"/>
          <p:cNvCxnSpPr/>
          <p:nvPr/>
        </p:nvCxnSpPr>
        <p:spPr>
          <a:xfrm>
            <a:off x="4590288" y="1847088"/>
            <a:ext cx="0" cy="256032"/>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cxnSp>
        <p:nvCxnSpPr>
          <p:cNvPr id="1031" name="Connector 1030"/>
          <p:cNvCxnSpPr/>
          <p:nvPr/>
        </p:nvCxnSpPr>
        <p:spPr>
          <a:xfrm>
            <a:off x="4590288" y="2615184"/>
            <a:ext cx="0" cy="146304"/>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cxnSp>
        <p:nvCxnSpPr>
          <p:cNvPr id="1032" name="Connector 1031"/>
          <p:cNvCxnSpPr/>
          <p:nvPr/>
        </p:nvCxnSpPr>
        <p:spPr>
          <a:xfrm>
            <a:off x="1170432" y="2761488"/>
            <a:ext cx="6839712" cy="0"/>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cxnSp>
        <p:nvCxnSpPr>
          <p:cNvPr id="1033" name="Connector 1032"/>
          <p:cNvCxnSpPr/>
          <p:nvPr/>
        </p:nvCxnSpPr>
        <p:spPr>
          <a:xfrm>
            <a:off x="1170432" y="2761488"/>
            <a:ext cx="0" cy="210312"/>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1034" name="Rounded Rectangle 1033"/>
          <p:cNvSpPr/>
          <p:nvPr/>
        </p:nvSpPr>
        <p:spPr>
          <a:xfrm>
            <a:off x="402336" y="2971800"/>
            <a:ext cx="1536192" cy="438912"/>
          </a:xfrm>
          <a:prstGeom prst="roundRect">
            <a:avLst>
              <a:gd name="adj" fmla="val 10000"/>
            </a:avLst>
          </a:prstGeom>
          <a:solidFill>
            <a:srgbClr val="EAF1FE"/>
          </a:solidFill>
          <a:ln w="12700">
            <a:solidFill>
              <a:srgbClr val="BFD4FB"/>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1100" b="1">
                <a:solidFill>
                  <a:srgbClr val="1D4ED8"/>
                </a:solidFill>
                <a:latin typeface="맑은 고딕"/>
              </a:rPr>
              <a:t>유저 관리</a:t>
            </a:r>
          </a:p>
        </p:txBody>
      </p:sp>
      <p:cxnSp>
        <p:nvCxnSpPr>
          <p:cNvPr id="1035" name="Connector 1034"/>
          <p:cNvCxnSpPr/>
          <p:nvPr/>
        </p:nvCxnSpPr>
        <p:spPr>
          <a:xfrm>
            <a:off x="1170432" y="3410712"/>
            <a:ext cx="0" cy="228600"/>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1036" name="Rounded Rectangle 1035"/>
          <p:cNvSpPr/>
          <p:nvPr/>
        </p:nvSpPr>
        <p:spPr>
          <a:xfrm>
            <a:off x="402336" y="3639312"/>
            <a:ext cx="1536192" cy="402336"/>
          </a:xfrm>
          <a:prstGeom prst="roundRect">
            <a:avLst>
              <a:gd name="adj" fmla="val 10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950" b="0">
                <a:solidFill>
                  <a:srgbClr val="2A2A2A"/>
                </a:solidFill>
                <a:latin typeface="맑은 고딕"/>
              </a:rPr>
              <a:t>목록 · 검색 · 상세</a:t>
            </a:r>
          </a:p>
        </p:txBody>
      </p:sp>
      <p:cxnSp>
        <p:nvCxnSpPr>
          <p:cNvPr id="1037" name="Connector 1036"/>
          <p:cNvCxnSpPr/>
          <p:nvPr/>
        </p:nvCxnSpPr>
        <p:spPr>
          <a:xfrm>
            <a:off x="1170432" y="4041648"/>
            <a:ext cx="0" cy="118872"/>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1038" name="Rounded Rectangle 1037"/>
          <p:cNvSpPr/>
          <p:nvPr/>
        </p:nvSpPr>
        <p:spPr>
          <a:xfrm>
            <a:off x="402336" y="4160520"/>
            <a:ext cx="1536192" cy="402336"/>
          </a:xfrm>
          <a:prstGeom prst="roundRect">
            <a:avLst>
              <a:gd name="adj" fmla="val 10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950" b="0">
                <a:solidFill>
                  <a:srgbClr val="2A2A2A"/>
                </a:solidFill>
                <a:latin typeface="맑은 고딕"/>
              </a:rPr>
              <a:t>정지 · 해제 / 비밀번호</a:t>
            </a:r>
          </a:p>
        </p:txBody>
      </p:sp>
      <p:cxnSp>
        <p:nvCxnSpPr>
          <p:cNvPr id="1039" name="Connector 1038"/>
          <p:cNvCxnSpPr/>
          <p:nvPr/>
        </p:nvCxnSpPr>
        <p:spPr>
          <a:xfrm>
            <a:off x="2880360" y="2761488"/>
            <a:ext cx="0" cy="210312"/>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1040" name="Rounded Rectangle 1039"/>
          <p:cNvSpPr/>
          <p:nvPr/>
        </p:nvSpPr>
        <p:spPr>
          <a:xfrm>
            <a:off x="2112264" y="2971800"/>
            <a:ext cx="1536192" cy="438912"/>
          </a:xfrm>
          <a:prstGeom prst="roundRect">
            <a:avLst>
              <a:gd name="adj" fmla="val 10000"/>
            </a:avLst>
          </a:prstGeom>
          <a:solidFill>
            <a:srgbClr val="EAF1FE"/>
          </a:solidFill>
          <a:ln w="12700">
            <a:solidFill>
              <a:srgbClr val="BFD4FB"/>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1100" b="1">
                <a:solidFill>
                  <a:srgbClr val="1D4ED8"/>
                </a:solidFill>
                <a:latin typeface="맑은 고딕"/>
              </a:rPr>
              <a:t>배터리 운영</a:t>
            </a:r>
          </a:p>
        </p:txBody>
      </p:sp>
      <p:cxnSp>
        <p:nvCxnSpPr>
          <p:cNvPr id="1041" name="Connector 1040"/>
          <p:cNvCxnSpPr/>
          <p:nvPr/>
        </p:nvCxnSpPr>
        <p:spPr>
          <a:xfrm>
            <a:off x="2880360" y="3410712"/>
            <a:ext cx="0" cy="228600"/>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1042" name="Rounded Rectangle 1041"/>
          <p:cNvSpPr/>
          <p:nvPr/>
        </p:nvSpPr>
        <p:spPr>
          <a:xfrm>
            <a:off x="2112264" y="3639312"/>
            <a:ext cx="1536192" cy="402336"/>
          </a:xfrm>
          <a:prstGeom prst="roundRect">
            <a:avLst>
              <a:gd name="adj" fmla="val 10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950" b="0">
                <a:solidFill>
                  <a:srgbClr val="2A2A2A"/>
                </a:solidFill>
                <a:latin typeface="맑은 고딕"/>
              </a:rPr>
              <a:t>전체 배터리 목록</a:t>
            </a:r>
          </a:p>
        </p:txBody>
      </p:sp>
      <p:cxnSp>
        <p:nvCxnSpPr>
          <p:cNvPr id="1043" name="Connector 1042"/>
          <p:cNvCxnSpPr/>
          <p:nvPr/>
        </p:nvCxnSpPr>
        <p:spPr>
          <a:xfrm>
            <a:off x="2880360" y="4041648"/>
            <a:ext cx="0" cy="118872"/>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1044" name="Rounded Rectangle 1043"/>
          <p:cNvSpPr/>
          <p:nvPr/>
        </p:nvSpPr>
        <p:spPr>
          <a:xfrm>
            <a:off x="2112264" y="4160520"/>
            <a:ext cx="1536192" cy="402336"/>
          </a:xfrm>
          <a:prstGeom prst="roundRect">
            <a:avLst>
              <a:gd name="adj" fmla="val 10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950" b="0">
                <a:solidFill>
                  <a:srgbClr val="2A2A2A"/>
                </a:solidFill>
                <a:latin typeface="맑은 고딕"/>
              </a:rPr>
              <a:t>상태 · 메모 변경</a:t>
            </a:r>
          </a:p>
        </p:txBody>
      </p:sp>
      <p:cxnSp>
        <p:nvCxnSpPr>
          <p:cNvPr id="1045" name="Connector 1044"/>
          <p:cNvCxnSpPr/>
          <p:nvPr/>
        </p:nvCxnSpPr>
        <p:spPr>
          <a:xfrm>
            <a:off x="4590288" y="2761488"/>
            <a:ext cx="0" cy="210312"/>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1046" name="Rounded Rectangle 1045"/>
          <p:cNvSpPr/>
          <p:nvPr/>
        </p:nvSpPr>
        <p:spPr>
          <a:xfrm>
            <a:off x="3822191" y="2971800"/>
            <a:ext cx="1536192" cy="438912"/>
          </a:xfrm>
          <a:prstGeom prst="roundRect">
            <a:avLst>
              <a:gd name="adj" fmla="val 10000"/>
            </a:avLst>
          </a:prstGeom>
          <a:solidFill>
            <a:srgbClr val="EAF1FE"/>
          </a:solidFill>
          <a:ln w="12700">
            <a:solidFill>
              <a:srgbClr val="BFD4FB"/>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1100" b="1">
                <a:solidFill>
                  <a:srgbClr val="1D4ED8"/>
                </a:solidFill>
                <a:latin typeface="맑은 고딕"/>
              </a:rPr>
              <a:t>통계 / 헬스</a:t>
            </a:r>
          </a:p>
        </p:txBody>
      </p:sp>
      <p:cxnSp>
        <p:nvCxnSpPr>
          <p:cNvPr id="1047" name="Connector 1046"/>
          <p:cNvCxnSpPr/>
          <p:nvPr/>
        </p:nvCxnSpPr>
        <p:spPr>
          <a:xfrm>
            <a:off x="4590288" y="3410712"/>
            <a:ext cx="0" cy="228600"/>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1048" name="Rounded Rectangle 1047"/>
          <p:cNvSpPr/>
          <p:nvPr/>
        </p:nvSpPr>
        <p:spPr>
          <a:xfrm>
            <a:off x="3822191" y="3639312"/>
            <a:ext cx="1536192" cy="402336"/>
          </a:xfrm>
          <a:prstGeom prst="roundRect">
            <a:avLst>
              <a:gd name="adj" fmla="val 10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950" b="0">
                <a:solidFill>
                  <a:srgbClr val="2A2A2A"/>
                </a:solidFill>
                <a:latin typeface="맑은 고딕"/>
              </a:rPr>
              <a:t>상태 · 모드 분포</a:t>
            </a:r>
          </a:p>
        </p:txBody>
      </p:sp>
      <p:cxnSp>
        <p:nvCxnSpPr>
          <p:cNvPr id="1049" name="Connector 1048"/>
          <p:cNvCxnSpPr/>
          <p:nvPr/>
        </p:nvCxnSpPr>
        <p:spPr>
          <a:xfrm>
            <a:off x="4590288" y="4041648"/>
            <a:ext cx="0" cy="118872"/>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1050" name="Rounded Rectangle 1049"/>
          <p:cNvSpPr/>
          <p:nvPr/>
        </p:nvSpPr>
        <p:spPr>
          <a:xfrm>
            <a:off x="3822191" y="4160520"/>
            <a:ext cx="1536192" cy="402336"/>
          </a:xfrm>
          <a:prstGeom prst="roundRect">
            <a:avLst>
              <a:gd name="adj" fmla="val 10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950" b="0">
                <a:solidFill>
                  <a:srgbClr val="2A2A2A"/>
                </a:solidFill>
                <a:latin typeface="맑은 고딕"/>
              </a:rPr>
              <a:t>디바이스 · 시스템 헬스</a:t>
            </a:r>
          </a:p>
        </p:txBody>
      </p:sp>
      <p:cxnSp>
        <p:nvCxnSpPr>
          <p:cNvPr id="1051" name="Connector 1050"/>
          <p:cNvCxnSpPr/>
          <p:nvPr/>
        </p:nvCxnSpPr>
        <p:spPr>
          <a:xfrm>
            <a:off x="6300216" y="2761488"/>
            <a:ext cx="0" cy="210312"/>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1052" name="Rounded Rectangle 1051"/>
          <p:cNvSpPr/>
          <p:nvPr/>
        </p:nvSpPr>
        <p:spPr>
          <a:xfrm>
            <a:off x="5532120" y="2971800"/>
            <a:ext cx="1536192" cy="438912"/>
          </a:xfrm>
          <a:prstGeom prst="roundRect">
            <a:avLst>
              <a:gd name="adj" fmla="val 10000"/>
            </a:avLst>
          </a:prstGeom>
          <a:solidFill>
            <a:srgbClr val="EAF1FE"/>
          </a:solidFill>
          <a:ln w="12700">
            <a:solidFill>
              <a:srgbClr val="BFD4FB"/>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1100" b="1">
                <a:solidFill>
                  <a:srgbClr val="1D4ED8"/>
                </a:solidFill>
                <a:latin typeface="맑은 고딕"/>
              </a:rPr>
              <a:t>공지 관리</a:t>
            </a:r>
          </a:p>
        </p:txBody>
      </p:sp>
      <p:cxnSp>
        <p:nvCxnSpPr>
          <p:cNvPr id="1053" name="Connector 1052"/>
          <p:cNvCxnSpPr/>
          <p:nvPr/>
        </p:nvCxnSpPr>
        <p:spPr>
          <a:xfrm>
            <a:off x="6300216" y="3410712"/>
            <a:ext cx="0" cy="228600"/>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1054" name="Rounded Rectangle 1053"/>
          <p:cNvSpPr/>
          <p:nvPr/>
        </p:nvSpPr>
        <p:spPr>
          <a:xfrm>
            <a:off x="5532120" y="3639312"/>
            <a:ext cx="1536192" cy="402336"/>
          </a:xfrm>
          <a:prstGeom prst="roundRect">
            <a:avLst>
              <a:gd name="adj" fmla="val 10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950" b="0">
                <a:solidFill>
                  <a:srgbClr val="2A2A2A"/>
                </a:solidFill>
                <a:latin typeface="맑은 고딕"/>
              </a:rPr>
              <a:t>작성 · 수정 · 게시</a:t>
            </a:r>
          </a:p>
        </p:txBody>
      </p:sp>
      <p:cxnSp>
        <p:nvCxnSpPr>
          <p:cNvPr id="1055" name="Connector 1054"/>
          <p:cNvCxnSpPr/>
          <p:nvPr/>
        </p:nvCxnSpPr>
        <p:spPr>
          <a:xfrm>
            <a:off x="6300216" y="4041648"/>
            <a:ext cx="0" cy="118872"/>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1056" name="Rounded Rectangle 1055"/>
          <p:cNvSpPr/>
          <p:nvPr/>
        </p:nvSpPr>
        <p:spPr>
          <a:xfrm>
            <a:off x="5532120" y="4160520"/>
            <a:ext cx="1536192" cy="402336"/>
          </a:xfrm>
          <a:prstGeom prst="roundRect">
            <a:avLst>
              <a:gd name="adj" fmla="val 10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950" b="0">
                <a:solidFill>
                  <a:srgbClr val="2A2A2A"/>
                </a:solidFill>
                <a:latin typeface="맑은 고딕"/>
              </a:rPr>
              <a:t>알림 발송 선택</a:t>
            </a:r>
          </a:p>
        </p:txBody>
      </p:sp>
      <p:cxnSp>
        <p:nvCxnSpPr>
          <p:cNvPr id="1057" name="Connector 1056"/>
          <p:cNvCxnSpPr/>
          <p:nvPr/>
        </p:nvCxnSpPr>
        <p:spPr>
          <a:xfrm>
            <a:off x="8010144" y="2761488"/>
            <a:ext cx="0" cy="210312"/>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1058" name="Rounded Rectangle 1057"/>
          <p:cNvSpPr/>
          <p:nvPr/>
        </p:nvSpPr>
        <p:spPr>
          <a:xfrm>
            <a:off x="7242048" y="2971800"/>
            <a:ext cx="1536192" cy="438912"/>
          </a:xfrm>
          <a:prstGeom prst="roundRect">
            <a:avLst>
              <a:gd name="adj" fmla="val 10000"/>
            </a:avLst>
          </a:prstGeom>
          <a:solidFill>
            <a:srgbClr val="EAF1FE"/>
          </a:solidFill>
          <a:ln w="12700">
            <a:solidFill>
              <a:srgbClr val="BFD4FB"/>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1100" b="1">
                <a:solidFill>
                  <a:srgbClr val="1D4ED8"/>
                </a:solidFill>
                <a:latin typeface="맑은 고딕"/>
              </a:rPr>
              <a:t>감사 로그</a:t>
            </a:r>
          </a:p>
        </p:txBody>
      </p:sp>
      <p:cxnSp>
        <p:nvCxnSpPr>
          <p:cNvPr id="1059" name="Connector 1058"/>
          <p:cNvCxnSpPr/>
          <p:nvPr/>
        </p:nvCxnSpPr>
        <p:spPr>
          <a:xfrm>
            <a:off x="8010144" y="3410712"/>
            <a:ext cx="0" cy="228600"/>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1060" name="Rounded Rectangle 1059"/>
          <p:cNvSpPr/>
          <p:nvPr/>
        </p:nvSpPr>
        <p:spPr>
          <a:xfrm>
            <a:off x="7242048" y="3639312"/>
            <a:ext cx="1536192" cy="402336"/>
          </a:xfrm>
          <a:prstGeom prst="roundRect">
            <a:avLst>
              <a:gd name="adj" fmla="val 10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950" b="0">
                <a:solidFill>
                  <a:srgbClr val="2A2A2A"/>
                </a:solidFill>
                <a:latin typeface="맑은 고딕"/>
              </a:rPr>
              <a:t>행위 · 대상 필터</a:t>
            </a:r>
          </a:p>
        </p:txBody>
      </p:sp>
      <p:cxnSp>
        <p:nvCxnSpPr>
          <p:cNvPr id="1061" name="Connector 1060"/>
          <p:cNvCxnSpPr/>
          <p:nvPr/>
        </p:nvCxnSpPr>
        <p:spPr>
          <a:xfrm>
            <a:off x="8010144" y="4041648"/>
            <a:ext cx="0" cy="118872"/>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1062" name="Rounded Rectangle 1061"/>
          <p:cNvSpPr/>
          <p:nvPr/>
        </p:nvSpPr>
        <p:spPr>
          <a:xfrm>
            <a:off x="7242048" y="4160520"/>
            <a:ext cx="1536192" cy="402336"/>
          </a:xfrm>
          <a:prstGeom prst="roundRect">
            <a:avLst>
              <a:gd name="adj" fmla="val 10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950" b="0">
                <a:solidFill>
                  <a:srgbClr val="2A2A2A"/>
                </a:solidFill>
                <a:latin typeface="맑은 고딕"/>
              </a:rPr>
              <a:t>로그 상세 조회</a:t>
            </a:r>
          </a:p>
        </p:txBody>
      </p:sp>
      <p:cxnSp>
        <p:nvCxnSpPr>
          <p:cNvPr id="1063" name="Connector 1062"/>
          <p:cNvCxnSpPr/>
          <p:nvPr/>
        </p:nvCxnSpPr>
        <p:spPr>
          <a:xfrm>
            <a:off x="8010144" y="4562856"/>
            <a:ext cx="0" cy="118872"/>
          </a:xfrm>
          <a:prstGeom prst="line">
            <a:avLst/>
          </a:prstGeom>
          <a:ln w="15875">
            <a:solidFill>
              <a:srgbClr val="C2BEB6"/>
            </a:solidFill>
          </a:ln>
          <a:effectLst/>
        </p:spPr>
        <p:style>
          <a:lnRef idx="2">
            <a:schemeClr val="accent1"/>
          </a:lnRef>
          <a:fillRef idx="0">
            <a:schemeClr val="accent1"/>
          </a:fillRef>
          <a:effectRef idx="1">
            <a:schemeClr val="accent1"/>
          </a:effectRef>
          <a:fontRef idx="minor">
            <a:schemeClr val="tx1"/>
          </a:fontRef>
        </p:style>
      </p:cxnSp>
      <p:sp>
        <p:nvSpPr>
          <p:cNvPr id="1064" name="Rounded Rectangle 1063"/>
          <p:cNvSpPr/>
          <p:nvPr/>
        </p:nvSpPr>
        <p:spPr>
          <a:xfrm>
            <a:off x="7242048" y="4681728"/>
            <a:ext cx="1536192" cy="402336"/>
          </a:xfrm>
          <a:prstGeom prst="roundRect">
            <a:avLst>
              <a:gd name="adj" fmla="val 10000"/>
            </a:avLst>
          </a:prstGeom>
          <a:solidFill>
            <a:srgbClr val="F7F7F5"/>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r>
              <a:rPr sz="950" b="0">
                <a:solidFill>
                  <a:srgbClr val="2A2A2A"/>
                </a:solidFill>
                <a:latin typeface="맑은 고딕"/>
              </a:rPr>
              <a:t>수정 · 삭제 차단</a:t>
            </a:r>
          </a:p>
        </p:txBody>
      </p:sp>
    </p:spTree>
    <p:extLst>
      <p:ext uri="{BB962C8B-B14F-4D97-AF65-F5344CB8AC3E}">
        <p14:creationId xmlns:p14="http://schemas.microsoft.com/office/powerpoint/2010/main" val="8874877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직사각형 23"/>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5" name="직선 연결선 24"/>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 name="직선 연결선 25"/>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7"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화면 설계서</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29"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2" name="막힌 원호 31"/>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그림 2">
            <a:extLst>
              <a:ext uri="{FF2B5EF4-FFF2-40B4-BE49-F238E27FC236}">
                <a16:creationId xmlns:a16="http://schemas.microsoft.com/office/drawing/2014/main" id="{8288A362-2DD3-2E35-EAA8-EEEDCA3513E5}"/>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33" name="TextBox 32"/>
          <p:cNvSpPr txBox="1"/>
          <p:nvPr/>
        </p:nvSpPr>
        <p:spPr>
          <a:xfrm>
            <a:off x="365760" y="1188720"/>
            <a:ext cx="8412480" cy="310896"/>
          </a:xfrm>
          <a:prstGeom prst="rect">
            <a:avLst/>
          </a:prstGeom>
          <a:noFill/>
        </p:spPr>
        <p:txBody>
          <a:bodyPr wrap="square">
            <a:spAutoFit/>
          </a:bodyPr>
          <a:lstStyle/>
          <a:p>
            <a:r>
              <a:rPr sz="1400" b="1">
                <a:solidFill>
                  <a:srgbClr val="3B5AA8"/>
                </a:solidFill>
                <a:latin typeface="맑은 고딕"/>
              </a:rPr>
              <a:t>SC-USR-01 · 실시간 관제 대시보드</a:t>
            </a:r>
          </a:p>
        </p:txBody>
      </p:sp>
      <p:graphicFrame>
        <p:nvGraphicFramePr>
          <p:cNvPr id="35" name="Table 34"/>
          <p:cNvGraphicFramePr>
            <a:graphicFrameLocks noGrp="1"/>
          </p:cNvGraphicFramePr>
          <p:nvPr/>
        </p:nvGraphicFramePr>
        <p:xfrm>
          <a:off x="5623560" y="1645920"/>
          <a:ext cx="3154680" cy="2852928"/>
        </p:xfrm>
        <a:graphic>
          <a:graphicData uri="http://schemas.openxmlformats.org/drawingml/2006/table">
            <a:tbl>
              <a:tblPr>
                <a:tableStyleId>{5C22544A-7EE6-4342-B048-85BDC9FD1C3A}</a:tableStyleId>
              </a:tblPr>
              <a:tblGrid>
                <a:gridCol w="932688">
                  <a:extLst>
                    <a:ext uri="{9D8B030D-6E8A-4147-A177-3AD203B41FA5}">
                      <a16:colId xmlns:a16="http://schemas.microsoft.com/office/drawing/2014/main" val="20000"/>
                    </a:ext>
                  </a:extLst>
                </a:gridCol>
                <a:gridCol w="2221992">
                  <a:extLst>
                    <a:ext uri="{9D8B030D-6E8A-4147-A177-3AD203B41FA5}">
                      <a16:colId xmlns:a16="http://schemas.microsoft.com/office/drawing/2014/main" val="20001"/>
                    </a:ext>
                  </a:extLst>
                </a:gridCol>
              </a:tblGrid>
              <a:tr h="310896">
                <a:tc>
                  <a:txBody>
                    <a:bodyPr/>
                    <a:lstStyle/>
                    <a:p>
                      <a:pPr algn="ctr"/>
                      <a:r>
                        <a:rPr sz="880" b="1">
                          <a:solidFill>
                            <a:srgbClr val="3B5AA8"/>
                          </a:solidFill>
                          <a:latin typeface="맑은 고딕"/>
                        </a:rPr>
                        <a:t>화면 ID</a:t>
                      </a:r>
                    </a:p>
                  </a:txBody>
                  <a:tcPr marL="54864" marR="54864" marT="18288" marB="18288" anchor="ctr">
                    <a:solidFill>
                      <a:srgbClr val="E2EBFC"/>
                    </a:solidFill>
                  </a:tcPr>
                </a:tc>
                <a:tc>
                  <a:txBody>
                    <a:bodyPr/>
                    <a:lstStyle/>
                    <a:p>
                      <a:pPr algn="l"/>
                      <a:r>
                        <a:rPr sz="860" b="0">
                          <a:solidFill>
                            <a:srgbClr val="222222"/>
                          </a:solidFill>
                          <a:latin typeface="맑은 고딕"/>
                        </a:rPr>
                        <a:t>SC-USR-01</a:t>
                      </a:r>
                    </a:p>
                  </a:txBody>
                  <a:tcPr marL="54864" marR="54864" marT="18288" marB="18288" anchor="ctr">
                    <a:solidFill>
                      <a:srgbClr val="FFFFFF"/>
                    </a:solidFill>
                  </a:tcPr>
                </a:tc>
                <a:extLst>
                  <a:ext uri="{0D108BD9-81ED-4DB2-BD59-A6C34878D82A}">
                    <a16:rowId xmlns:a16="http://schemas.microsoft.com/office/drawing/2014/main" val="10000"/>
                  </a:ext>
                </a:extLst>
              </a:tr>
              <a:tr h="310896">
                <a:tc>
                  <a:txBody>
                    <a:bodyPr/>
                    <a:lstStyle/>
                    <a:p>
                      <a:pPr algn="ctr"/>
                      <a:r>
                        <a:rPr sz="880" b="1">
                          <a:solidFill>
                            <a:srgbClr val="3B5AA8"/>
                          </a:solidFill>
                          <a:latin typeface="맑은 고딕"/>
                        </a:rPr>
                        <a:t>화면명</a:t>
                      </a:r>
                    </a:p>
                  </a:txBody>
                  <a:tcPr marL="54864" marR="54864" marT="18288" marB="18288" anchor="ctr">
                    <a:solidFill>
                      <a:srgbClr val="E2EBFC"/>
                    </a:solidFill>
                  </a:tcPr>
                </a:tc>
                <a:tc>
                  <a:txBody>
                    <a:bodyPr/>
                    <a:lstStyle/>
                    <a:p>
                      <a:pPr algn="l"/>
                      <a:r>
                        <a:rPr sz="860" b="0">
                          <a:solidFill>
                            <a:srgbClr val="222222"/>
                          </a:solidFill>
                          <a:latin typeface="맑은 고딕"/>
                        </a:rPr>
                        <a:t>실시간 관제 대시보드</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ctr"/>
                      <a:r>
                        <a:rPr sz="880" b="1">
                          <a:solidFill>
                            <a:srgbClr val="3B5AA8"/>
                          </a:solidFill>
                          <a:latin typeface="맑은 고딕"/>
                        </a:rPr>
                        <a:t>사용자</a:t>
                      </a:r>
                    </a:p>
                  </a:txBody>
                  <a:tcPr marL="54864" marR="54864" marT="18288" marB="18288" anchor="ctr">
                    <a:solidFill>
                      <a:srgbClr val="E2EBFC"/>
                    </a:solidFill>
                  </a:tcPr>
                </a:tc>
                <a:tc>
                  <a:txBody>
                    <a:bodyPr/>
                    <a:lstStyle/>
                    <a:p>
                      <a:pPr algn="l"/>
                      <a:r>
                        <a:rPr sz="860" b="0">
                          <a:solidFill>
                            <a:srgbClr val="222222"/>
                          </a:solidFill>
                          <a:latin typeface="맑은 고딕"/>
                        </a:rPr>
                        <a:t>일반 사용자</a:t>
                      </a:r>
                    </a:p>
                  </a:txBody>
                  <a:tcPr marL="54864" marR="54864" marT="18288" marB="18288" anchor="ctr">
                    <a:solidFill>
                      <a:srgbClr val="FFFFFF"/>
                    </a:solidFill>
                  </a:tcPr>
                </a:tc>
                <a:extLst>
                  <a:ext uri="{0D108BD9-81ED-4DB2-BD59-A6C34878D82A}">
                    <a16:rowId xmlns:a16="http://schemas.microsoft.com/office/drawing/2014/main" val="10002"/>
                  </a:ext>
                </a:extLst>
              </a:tr>
              <a:tr h="384048">
                <a:tc>
                  <a:txBody>
                    <a:bodyPr/>
                    <a:lstStyle/>
                    <a:p>
                      <a:pPr algn="ctr"/>
                      <a:r>
                        <a:rPr sz="880" b="1">
                          <a:solidFill>
                            <a:srgbClr val="3B5AA8"/>
                          </a:solidFill>
                          <a:latin typeface="맑은 고딕"/>
                        </a:rPr>
                        <a:t>관련 요구사항</a:t>
                      </a:r>
                    </a:p>
                  </a:txBody>
                  <a:tcPr marL="54864" marR="54864" marT="18288" marB="18288" anchor="ctr">
                    <a:solidFill>
                      <a:srgbClr val="E2EBFC"/>
                    </a:solidFill>
                  </a:tcPr>
                </a:tc>
                <a:tc>
                  <a:txBody>
                    <a:bodyPr/>
                    <a:lstStyle/>
                    <a:p>
                      <a:pPr algn="l"/>
                      <a:r>
                        <a:rPr sz="860" b="0">
                          <a:solidFill>
                            <a:srgbClr val="222222"/>
                          </a:solidFill>
                          <a:latin typeface="맑은 고딕"/>
                        </a:rPr>
                        <a:t>REQ-WEB-019 ~ 027</a:t>
                      </a:r>
                    </a:p>
                  </a:txBody>
                  <a:tcPr marL="54864" marR="54864" marT="18288" marB="18288" anchor="ctr">
                    <a:solidFill>
                      <a:srgbClr val="FFFFFF"/>
                    </a:solidFill>
                  </a:tcPr>
                </a:tc>
                <a:extLst>
                  <a:ext uri="{0D108BD9-81ED-4DB2-BD59-A6C34878D82A}">
                    <a16:rowId xmlns:a16="http://schemas.microsoft.com/office/drawing/2014/main" val="10003"/>
                  </a:ext>
                </a:extLst>
              </a:tr>
              <a:tr h="1536192">
                <a:tc>
                  <a:txBody>
                    <a:bodyPr/>
                    <a:lstStyle/>
                    <a:p>
                      <a:pPr algn="ctr"/>
                      <a:r>
                        <a:rPr sz="880" b="1">
                          <a:solidFill>
                            <a:srgbClr val="3B5AA8"/>
                          </a:solidFill>
                          <a:latin typeface="맑은 고딕"/>
                        </a:rPr>
                        <a:t>화면 설명</a:t>
                      </a:r>
                    </a:p>
                  </a:txBody>
                  <a:tcPr marL="54864" marR="54864" marT="18288" marB="18288" anchor="ctr">
                    <a:solidFill>
                      <a:srgbClr val="E2EBFC"/>
                    </a:solidFill>
                  </a:tcPr>
                </a:tc>
                <a:tc>
                  <a:txBody>
                    <a:bodyPr/>
                    <a:lstStyle/>
                    <a:p>
                      <a:pPr algn="l"/>
                      <a:r>
                        <a:rPr sz="860" b="0">
                          <a:solidFill>
                            <a:srgbClr val="222222"/>
                          </a:solidFill>
                          <a:latin typeface="맑은 고딕"/>
                        </a:rPr>
                        <a:t>연결된 배터리의 현재 이상점수·계측값·위험도 분포·최근 이벤트를 실시간(WebSocket)으로 관제하는 메인 화면.</a:t>
                      </a:r>
                    </a:p>
                  </a:txBody>
                  <a:tcPr marL="54864" marR="54864" marT="18288" marB="18288">
                    <a:solidFill>
                      <a:srgbClr val="FFFFFF"/>
                    </a:solidFill>
                  </a:tcPr>
                </a:tc>
                <a:extLst>
                  <a:ext uri="{0D108BD9-81ED-4DB2-BD59-A6C34878D82A}">
                    <a16:rowId xmlns:a16="http://schemas.microsoft.com/office/drawing/2014/main" val="10004"/>
                  </a:ext>
                </a:extLst>
              </a:tr>
            </a:tbl>
          </a:graphicData>
        </a:graphic>
      </p:graphicFrame>
      <p:graphicFrame>
        <p:nvGraphicFramePr>
          <p:cNvPr id="36" name="Table 35"/>
          <p:cNvGraphicFramePr>
            <a:graphicFrameLocks noGrp="1"/>
          </p:cNvGraphicFramePr>
          <p:nvPr/>
        </p:nvGraphicFramePr>
        <p:xfrm>
          <a:off x="365760" y="4736592"/>
          <a:ext cx="8412479" cy="1627632"/>
        </p:xfrm>
        <a:graphic>
          <a:graphicData uri="http://schemas.openxmlformats.org/drawingml/2006/table">
            <a:tbl>
              <a:tblPr>
                <a:tableStyleId>{5C22544A-7EE6-4342-B048-85BDC9FD1C3A}</a:tableStyleId>
              </a:tblPr>
              <a:tblGrid>
                <a:gridCol w="2331720">
                  <a:extLst>
                    <a:ext uri="{9D8B030D-6E8A-4147-A177-3AD203B41FA5}">
                      <a16:colId xmlns:a16="http://schemas.microsoft.com/office/drawing/2014/main" val="20000"/>
                    </a:ext>
                  </a:extLst>
                </a:gridCol>
                <a:gridCol w="6080759">
                  <a:extLst>
                    <a:ext uri="{9D8B030D-6E8A-4147-A177-3AD203B41FA5}">
                      <a16:colId xmlns:a16="http://schemas.microsoft.com/office/drawing/2014/main" val="20001"/>
                    </a:ext>
                  </a:extLst>
                </a:gridCol>
              </a:tblGrid>
              <a:tr h="310896">
                <a:tc>
                  <a:txBody>
                    <a:bodyPr/>
                    <a:lstStyle/>
                    <a:p>
                      <a:pPr algn="ctr"/>
                      <a:r>
                        <a:rPr sz="919" b="1">
                          <a:solidFill>
                            <a:srgbClr val="FFFFFF"/>
                          </a:solidFill>
                          <a:latin typeface="맑은 고딕"/>
                        </a:rPr>
                        <a:t>주요 구성 요소</a:t>
                      </a:r>
                    </a:p>
                  </a:txBody>
                  <a:tcPr marL="54864" marR="54864" marT="18288" marB="18288" anchor="ctr">
                    <a:solidFill>
                      <a:srgbClr val="3B5AA8"/>
                    </a:solidFill>
                  </a:tcPr>
                </a:tc>
                <a:tc>
                  <a:txBody>
                    <a:bodyPr/>
                    <a:lstStyle/>
                    <a:p>
                      <a:pPr algn="ctr"/>
                      <a:r>
                        <a:rPr sz="919" b="1">
                          <a:solidFill>
                            <a:srgbClr val="FFFFFF"/>
                          </a:solidFill>
                          <a:latin typeface="맑은 고딕"/>
                        </a:rPr>
                        <a:t>기능 설명</a:t>
                      </a:r>
                    </a:p>
                  </a:txBody>
                  <a:tcPr marL="54864" marR="54864" marT="18288" marB="18288" anchor="ctr">
                    <a:solidFill>
                      <a:srgbClr val="3B5AA8"/>
                    </a:solidFill>
                  </a:tcPr>
                </a:tc>
                <a:extLst>
                  <a:ext uri="{0D108BD9-81ED-4DB2-BD59-A6C34878D82A}">
                    <a16:rowId xmlns:a16="http://schemas.microsoft.com/office/drawing/2014/main" val="10000"/>
                  </a:ext>
                </a:extLst>
              </a:tr>
              <a:tr h="329184">
                <a:tc>
                  <a:txBody>
                    <a:bodyPr/>
                    <a:lstStyle/>
                    <a:p>
                      <a:pPr algn="l"/>
                      <a:r>
                        <a:rPr sz="880" b="1">
                          <a:solidFill>
                            <a:srgbClr val="222222"/>
                          </a:solidFill>
                          <a:latin typeface="맑은 고딕"/>
                        </a:rPr>
                        <a:t>긴급 경고 배너 · 릴레이 차단</a:t>
                      </a:r>
                    </a:p>
                  </a:txBody>
                  <a:tcPr marL="54864" marR="54864" marT="18288" marB="18288" anchor="ctr">
                    <a:solidFill>
                      <a:srgbClr val="FFFFFF"/>
                    </a:solidFill>
                  </a:tcPr>
                </a:tc>
                <a:tc>
                  <a:txBody>
                    <a:bodyPr/>
                    <a:lstStyle/>
                    <a:p>
                      <a:pPr algn="l"/>
                      <a:r>
                        <a:rPr sz="880" b="0">
                          <a:solidFill>
                            <a:srgbClr val="222222"/>
                          </a:solidFill>
                          <a:latin typeface="맑은 고딕"/>
                        </a:rPr>
                        <a:t>온도 임계 초과 등 위험 발생 시 경고 표시, Kill-Switch 차단 진입</a:t>
                      </a:r>
                    </a:p>
                  </a:txBody>
                  <a:tcPr marL="54864" marR="54864" marT="18288" marB="18288" anchor="ctr">
                    <a:solidFill>
                      <a:srgbClr val="FFFFFF"/>
                    </a:solidFill>
                  </a:tcPr>
                </a:tc>
                <a:extLst>
                  <a:ext uri="{0D108BD9-81ED-4DB2-BD59-A6C34878D82A}">
                    <a16:rowId xmlns:a16="http://schemas.microsoft.com/office/drawing/2014/main" val="10001"/>
                  </a:ext>
                </a:extLst>
              </a:tr>
              <a:tr h="329184">
                <a:tc>
                  <a:txBody>
                    <a:bodyPr/>
                    <a:lstStyle/>
                    <a:p>
                      <a:pPr algn="l"/>
                      <a:r>
                        <a:rPr sz="880" b="1">
                          <a:solidFill>
                            <a:srgbClr val="222222"/>
                          </a:solidFill>
                          <a:latin typeface="맑은 고딕"/>
                        </a:rPr>
                        <a:t>V·I·T·SOC 현재값 카드</a:t>
                      </a:r>
                    </a:p>
                  </a:txBody>
                  <a:tcPr marL="54864" marR="54864" marT="18288" marB="18288" anchor="ctr">
                    <a:solidFill>
                      <a:srgbClr val="F4F7FC"/>
                    </a:solidFill>
                  </a:tcPr>
                </a:tc>
                <a:tc>
                  <a:txBody>
                    <a:bodyPr/>
                    <a:lstStyle/>
                    <a:p>
                      <a:pPr algn="l"/>
                      <a:r>
                        <a:rPr sz="880" b="0">
                          <a:solidFill>
                            <a:srgbClr val="222222"/>
                          </a:solidFill>
                          <a:latin typeface="맑은 고딕"/>
                        </a:rPr>
                        <a:t>전압·전류·온도·SOC 현재값과 정상·주의·위험 상태</a:t>
                      </a:r>
                    </a:p>
                  </a:txBody>
                  <a:tcPr marL="54864" marR="54864" marT="18288" marB="18288" anchor="ctr">
                    <a:solidFill>
                      <a:srgbClr val="F4F7FC"/>
                    </a:solidFill>
                  </a:tcPr>
                </a:tc>
                <a:extLst>
                  <a:ext uri="{0D108BD9-81ED-4DB2-BD59-A6C34878D82A}">
                    <a16:rowId xmlns:a16="http://schemas.microsoft.com/office/drawing/2014/main" val="10002"/>
                  </a:ext>
                </a:extLst>
              </a:tr>
              <a:tr h="329184">
                <a:tc>
                  <a:txBody>
                    <a:bodyPr/>
                    <a:lstStyle/>
                    <a:p>
                      <a:pPr algn="l"/>
                      <a:r>
                        <a:rPr sz="880" b="1">
                          <a:solidFill>
                            <a:srgbClr val="222222"/>
                          </a:solidFill>
                          <a:latin typeface="맑은 고딕"/>
                        </a:rPr>
                        <a:t>전체 이상점수 게이지</a:t>
                      </a:r>
                    </a:p>
                  </a:txBody>
                  <a:tcPr marL="54864" marR="54864" marT="18288" marB="18288" anchor="ctr">
                    <a:solidFill>
                      <a:srgbClr val="FFFFFF"/>
                    </a:solidFill>
                  </a:tcPr>
                </a:tc>
                <a:tc>
                  <a:txBody>
                    <a:bodyPr/>
                    <a:lstStyle/>
                    <a:p>
                      <a:pPr algn="l"/>
                      <a:r>
                        <a:rPr sz="880" b="0">
                          <a:solidFill>
                            <a:srgbClr val="222222"/>
                          </a:solidFill>
                          <a:latin typeface="맑은 고딕"/>
                        </a:rPr>
                        <a:t>현재 이상점수(0~100)와 정상·주의·위험 구간 표시</a:t>
                      </a:r>
                    </a:p>
                  </a:txBody>
                  <a:tcPr marL="54864" marR="54864" marT="18288" marB="18288" anchor="ctr">
                    <a:solidFill>
                      <a:srgbClr val="FFFFFF"/>
                    </a:solidFill>
                  </a:tcPr>
                </a:tc>
                <a:extLst>
                  <a:ext uri="{0D108BD9-81ED-4DB2-BD59-A6C34878D82A}">
                    <a16:rowId xmlns:a16="http://schemas.microsoft.com/office/drawing/2014/main" val="10003"/>
                  </a:ext>
                </a:extLst>
              </a:tr>
              <a:tr h="329184">
                <a:tc>
                  <a:txBody>
                    <a:bodyPr/>
                    <a:lstStyle/>
                    <a:p>
                      <a:pPr algn="l"/>
                      <a:r>
                        <a:rPr sz="880" b="1">
                          <a:solidFill>
                            <a:srgbClr val="222222"/>
                          </a:solidFill>
                          <a:latin typeface="맑은 고딕"/>
                        </a:rPr>
                        <a:t>추세 미니차트 · 공지</a:t>
                      </a:r>
                    </a:p>
                  </a:txBody>
                  <a:tcPr marL="54864" marR="54864" marT="18288" marB="18288" anchor="ctr">
                    <a:solidFill>
                      <a:srgbClr val="F4F7FC"/>
                    </a:solidFill>
                  </a:tcPr>
                </a:tc>
                <a:tc>
                  <a:txBody>
                    <a:bodyPr/>
                    <a:lstStyle/>
                    <a:p>
                      <a:pPr algn="l"/>
                      <a:r>
                        <a:rPr sz="880" b="0">
                          <a:solidFill>
                            <a:srgbClr val="222222"/>
                          </a:solidFill>
                          <a:latin typeface="맑은 고딕"/>
                        </a:rPr>
                        <a:t>V-I-T-SOC 추세, 서비스 공지·점검 안내</a:t>
                      </a:r>
                    </a:p>
                  </a:txBody>
                  <a:tcPr marL="54864" marR="54864" marT="18288" marB="18288" anchor="ctr">
                    <a:solidFill>
                      <a:srgbClr val="F4F7FC"/>
                    </a:solidFill>
                  </a:tcPr>
                </a:tc>
                <a:extLst>
                  <a:ext uri="{0D108BD9-81ED-4DB2-BD59-A6C34878D82A}">
                    <a16:rowId xmlns:a16="http://schemas.microsoft.com/office/drawing/2014/main" val="10004"/>
                  </a:ext>
                </a:extLst>
              </a:tr>
            </a:tbl>
          </a:graphicData>
        </a:graphic>
      </p:graphicFrame>
      <p:pic>
        <p:nvPicPr>
          <p:cNvPr id="37" name="Picture 36" descr="sc_usr_01.png"/>
          <p:cNvPicPr>
            <a:picLocks noChangeAspect="1"/>
          </p:cNvPicPr>
          <p:nvPr/>
        </p:nvPicPr>
        <p:blipFill>
          <a:blip r:embed="rId4"/>
          <a:stretch>
            <a:fillRect/>
          </a:stretch>
        </p:blipFill>
        <p:spPr>
          <a:xfrm>
            <a:off x="365760" y="1645920"/>
            <a:ext cx="5074920" cy="2854642"/>
          </a:xfrm>
          <a:prstGeom prst="rect">
            <a:avLst/>
          </a:prstGeom>
        </p:spPr>
      </p:pic>
    </p:spTree>
    <p:extLst>
      <p:ext uri="{BB962C8B-B14F-4D97-AF65-F5344CB8AC3E}">
        <p14:creationId xmlns:p14="http://schemas.microsoft.com/office/powerpoint/2010/main" val="8342973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직사각형 23"/>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5" name="직선 연결선 24"/>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 name="직선 연결선 25"/>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7"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화면 설계서</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29"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2" name="막힌 원호 31"/>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2" name="그림 1">
            <a:extLst>
              <a:ext uri="{FF2B5EF4-FFF2-40B4-BE49-F238E27FC236}">
                <a16:creationId xmlns:a16="http://schemas.microsoft.com/office/drawing/2014/main" id="{95619872-8C5B-7BF6-3DE5-01466CA90214}"/>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33" name="TextBox 32"/>
          <p:cNvSpPr txBox="1"/>
          <p:nvPr/>
        </p:nvSpPr>
        <p:spPr>
          <a:xfrm>
            <a:off x="365760" y="1188720"/>
            <a:ext cx="8412480" cy="310896"/>
          </a:xfrm>
          <a:prstGeom prst="rect">
            <a:avLst/>
          </a:prstGeom>
          <a:noFill/>
        </p:spPr>
        <p:txBody>
          <a:bodyPr wrap="square">
            <a:spAutoFit/>
          </a:bodyPr>
          <a:lstStyle/>
          <a:p>
            <a:r>
              <a:rPr sz="1400" b="1">
                <a:solidFill>
                  <a:srgbClr val="3B5AA8"/>
                </a:solidFill>
                <a:latin typeface="맑은 고딕"/>
              </a:rPr>
              <a:t>SC-USR-02 · 배터리 자산관리</a:t>
            </a:r>
          </a:p>
        </p:txBody>
      </p:sp>
      <p:graphicFrame>
        <p:nvGraphicFramePr>
          <p:cNvPr id="35" name="Table 34"/>
          <p:cNvGraphicFramePr>
            <a:graphicFrameLocks noGrp="1"/>
          </p:cNvGraphicFramePr>
          <p:nvPr/>
        </p:nvGraphicFramePr>
        <p:xfrm>
          <a:off x="5623560" y="1645920"/>
          <a:ext cx="3154680" cy="2852928"/>
        </p:xfrm>
        <a:graphic>
          <a:graphicData uri="http://schemas.openxmlformats.org/drawingml/2006/table">
            <a:tbl>
              <a:tblPr>
                <a:tableStyleId>{5C22544A-7EE6-4342-B048-85BDC9FD1C3A}</a:tableStyleId>
              </a:tblPr>
              <a:tblGrid>
                <a:gridCol w="932688">
                  <a:extLst>
                    <a:ext uri="{9D8B030D-6E8A-4147-A177-3AD203B41FA5}">
                      <a16:colId xmlns:a16="http://schemas.microsoft.com/office/drawing/2014/main" val="20000"/>
                    </a:ext>
                  </a:extLst>
                </a:gridCol>
                <a:gridCol w="2221992">
                  <a:extLst>
                    <a:ext uri="{9D8B030D-6E8A-4147-A177-3AD203B41FA5}">
                      <a16:colId xmlns:a16="http://schemas.microsoft.com/office/drawing/2014/main" val="20001"/>
                    </a:ext>
                  </a:extLst>
                </a:gridCol>
              </a:tblGrid>
              <a:tr h="310896">
                <a:tc>
                  <a:txBody>
                    <a:bodyPr/>
                    <a:lstStyle/>
                    <a:p>
                      <a:pPr algn="ctr"/>
                      <a:r>
                        <a:rPr sz="880" b="1">
                          <a:solidFill>
                            <a:srgbClr val="3B5AA8"/>
                          </a:solidFill>
                          <a:latin typeface="맑은 고딕"/>
                        </a:rPr>
                        <a:t>화면 ID</a:t>
                      </a:r>
                    </a:p>
                  </a:txBody>
                  <a:tcPr marL="54864" marR="54864" marT="18288" marB="18288" anchor="ctr">
                    <a:solidFill>
                      <a:srgbClr val="E2EBFC"/>
                    </a:solidFill>
                  </a:tcPr>
                </a:tc>
                <a:tc>
                  <a:txBody>
                    <a:bodyPr/>
                    <a:lstStyle/>
                    <a:p>
                      <a:pPr algn="l"/>
                      <a:r>
                        <a:rPr sz="860" b="0">
                          <a:solidFill>
                            <a:srgbClr val="222222"/>
                          </a:solidFill>
                          <a:latin typeface="맑은 고딕"/>
                        </a:rPr>
                        <a:t>SC-USR-02</a:t>
                      </a:r>
                    </a:p>
                  </a:txBody>
                  <a:tcPr marL="54864" marR="54864" marT="18288" marB="18288" anchor="ctr">
                    <a:solidFill>
                      <a:srgbClr val="FFFFFF"/>
                    </a:solidFill>
                  </a:tcPr>
                </a:tc>
                <a:extLst>
                  <a:ext uri="{0D108BD9-81ED-4DB2-BD59-A6C34878D82A}">
                    <a16:rowId xmlns:a16="http://schemas.microsoft.com/office/drawing/2014/main" val="10000"/>
                  </a:ext>
                </a:extLst>
              </a:tr>
              <a:tr h="310896">
                <a:tc>
                  <a:txBody>
                    <a:bodyPr/>
                    <a:lstStyle/>
                    <a:p>
                      <a:pPr algn="ctr"/>
                      <a:r>
                        <a:rPr sz="880" b="1">
                          <a:solidFill>
                            <a:srgbClr val="3B5AA8"/>
                          </a:solidFill>
                          <a:latin typeface="맑은 고딕"/>
                        </a:rPr>
                        <a:t>화면명</a:t>
                      </a:r>
                    </a:p>
                  </a:txBody>
                  <a:tcPr marL="54864" marR="54864" marT="18288" marB="18288" anchor="ctr">
                    <a:solidFill>
                      <a:srgbClr val="E2EBFC"/>
                    </a:solidFill>
                  </a:tcPr>
                </a:tc>
                <a:tc>
                  <a:txBody>
                    <a:bodyPr/>
                    <a:lstStyle/>
                    <a:p>
                      <a:pPr algn="l"/>
                      <a:r>
                        <a:rPr sz="860" b="0">
                          <a:solidFill>
                            <a:srgbClr val="222222"/>
                          </a:solidFill>
                          <a:latin typeface="맑은 고딕"/>
                        </a:rPr>
                        <a:t>배터리 자산관리</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ctr"/>
                      <a:r>
                        <a:rPr sz="880" b="1">
                          <a:solidFill>
                            <a:srgbClr val="3B5AA8"/>
                          </a:solidFill>
                          <a:latin typeface="맑은 고딕"/>
                        </a:rPr>
                        <a:t>사용자</a:t>
                      </a:r>
                    </a:p>
                  </a:txBody>
                  <a:tcPr marL="54864" marR="54864" marT="18288" marB="18288" anchor="ctr">
                    <a:solidFill>
                      <a:srgbClr val="E2EBFC"/>
                    </a:solidFill>
                  </a:tcPr>
                </a:tc>
                <a:tc>
                  <a:txBody>
                    <a:bodyPr/>
                    <a:lstStyle/>
                    <a:p>
                      <a:pPr algn="l"/>
                      <a:r>
                        <a:rPr sz="860" b="0">
                          <a:solidFill>
                            <a:srgbClr val="222222"/>
                          </a:solidFill>
                          <a:latin typeface="맑은 고딕"/>
                        </a:rPr>
                        <a:t>일반 사용자</a:t>
                      </a:r>
                    </a:p>
                  </a:txBody>
                  <a:tcPr marL="54864" marR="54864" marT="18288" marB="18288" anchor="ctr">
                    <a:solidFill>
                      <a:srgbClr val="FFFFFF"/>
                    </a:solidFill>
                  </a:tcPr>
                </a:tc>
                <a:extLst>
                  <a:ext uri="{0D108BD9-81ED-4DB2-BD59-A6C34878D82A}">
                    <a16:rowId xmlns:a16="http://schemas.microsoft.com/office/drawing/2014/main" val="10002"/>
                  </a:ext>
                </a:extLst>
              </a:tr>
              <a:tr h="384048">
                <a:tc>
                  <a:txBody>
                    <a:bodyPr/>
                    <a:lstStyle/>
                    <a:p>
                      <a:pPr algn="ctr"/>
                      <a:r>
                        <a:rPr sz="880" b="1">
                          <a:solidFill>
                            <a:srgbClr val="3B5AA8"/>
                          </a:solidFill>
                          <a:latin typeface="맑은 고딕"/>
                        </a:rPr>
                        <a:t>관련 요구사항</a:t>
                      </a:r>
                    </a:p>
                  </a:txBody>
                  <a:tcPr marL="54864" marR="54864" marT="18288" marB="18288" anchor="ctr">
                    <a:solidFill>
                      <a:srgbClr val="E2EBFC"/>
                    </a:solidFill>
                  </a:tcPr>
                </a:tc>
                <a:tc>
                  <a:txBody>
                    <a:bodyPr/>
                    <a:lstStyle/>
                    <a:p>
                      <a:pPr algn="l"/>
                      <a:r>
                        <a:rPr sz="860" b="0">
                          <a:solidFill>
                            <a:srgbClr val="222222"/>
                          </a:solidFill>
                          <a:latin typeface="맑은 고딕"/>
                        </a:rPr>
                        <a:t>REQ-WEB-032 ~ 038</a:t>
                      </a:r>
                    </a:p>
                  </a:txBody>
                  <a:tcPr marL="54864" marR="54864" marT="18288" marB="18288" anchor="ctr">
                    <a:solidFill>
                      <a:srgbClr val="FFFFFF"/>
                    </a:solidFill>
                  </a:tcPr>
                </a:tc>
                <a:extLst>
                  <a:ext uri="{0D108BD9-81ED-4DB2-BD59-A6C34878D82A}">
                    <a16:rowId xmlns:a16="http://schemas.microsoft.com/office/drawing/2014/main" val="10003"/>
                  </a:ext>
                </a:extLst>
              </a:tr>
              <a:tr h="1536192">
                <a:tc>
                  <a:txBody>
                    <a:bodyPr/>
                    <a:lstStyle/>
                    <a:p>
                      <a:pPr algn="ctr"/>
                      <a:r>
                        <a:rPr sz="880" b="1">
                          <a:solidFill>
                            <a:srgbClr val="3B5AA8"/>
                          </a:solidFill>
                          <a:latin typeface="맑은 고딕"/>
                        </a:rPr>
                        <a:t>화면 설명</a:t>
                      </a:r>
                    </a:p>
                  </a:txBody>
                  <a:tcPr marL="54864" marR="54864" marT="18288" marB="18288" anchor="ctr">
                    <a:solidFill>
                      <a:srgbClr val="E2EBFC"/>
                    </a:solidFill>
                  </a:tcPr>
                </a:tc>
                <a:tc>
                  <a:txBody>
                    <a:bodyPr/>
                    <a:lstStyle/>
                    <a:p>
                      <a:pPr algn="l"/>
                      <a:r>
                        <a:rPr sz="860" b="0">
                          <a:solidFill>
                            <a:srgbClr val="222222"/>
                          </a:solidFill>
                          <a:latin typeface="맑은 고딕"/>
                        </a:rPr>
                        <a:t>저장된 배터리를 조회·필터하고 측정 대상으로 연결하거나 새 배터리를 등록하는 화면.</a:t>
                      </a:r>
                    </a:p>
                  </a:txBody>
                  <a:tcPr marL="54864" marR="54864" marT="18288" marB="18288">
                    <a:solidFill>
                      <a:srgbClr val="FFFFFF"/>
                    </a:solidFill>
                  </a:tcPr>
                </a:tc>
                <a:extLst>
                  <a:ext uri="{0D108BD9-81ED-4DB2-BD59-A6C34878D82A}">
                    <a16:rowId xmlns:a16="http://schemas.microsoft.com/office/drawing/2014/main" val="10004"/>
                  </a:ext>
                </a:extLst>
              </a:tr>
            </a:tbl>
          </a:graphicData>
        </a:graphic>
      </p:graphicFrame>
      <p:graphicFrame>
        <p:nvGraphicFramePr>
          <p:cNvPr id="36" name="Table 35"/>
          <p:cNvGraphicFramePr>
            <a:graphicFrameLocks noGrp="1"/>
          </p:cNvGraphicFramePr>
          <p:nvPr/>
        </p:nvGraphicFramePr>
        <p:xfrm>
          <a:off x="365760" y="4736592"/>
          <a:ext cx="8412479" cy="1627632"/>
        </p:xfrm>
        <a:graphic>
          <a:graphicData uri="http://schemas.openxmlformats.org/drawingml/2006/table">
            <a:tbl>
              <a:tblPr>
                <a:tableStyleId>{5C22544A-7EE6-4342-B048-85BDC9FD1C3A}</a:tableStyleId>
              </a:tblPr>
              <a:tblGrid>
                <a:gridCol w="2331720">
                  <a:extLst>
                    <a:ext uri="{9D8B030D-6E8A-4147-A177-3AD203B41FA5}">
                      <a16:colId xmlns:a16="http://schemas.microsoft.com/office/drawing/2014/main" val="20000"/>
                    </a:ext>
                  </a:extLst>
                </a:gridCol>
                <a:gridCol w="6080759">
                  <a:extLst>
                    <a:ext uri="{9D8B030D-6E8A-4147-A177-3AD203B41FA5}">
                      <a16:colId xmlns:a16="http://schemas.microsoft.com/office/drawing/2014/main" val="20001"/>
                    </a:ext>
                  </a:extLst>
                </a:gridCol>
              </a:tblGrid>
              <a:tr h="310896">
                <a:tc>
                  <a:txBody>
                    <a:bodyPr/>
                    <a:lstStyle/>
                    <a:p>
                      <a:pPr algn="ctr"/>
                      <a:r>
                        <a:rPr sz="919" b="1">
                          <a:solidFill>
                            <a:srgbClr val="FFFFFF"/>
                          </a:solidFill>
                          <a:latin typeface="맑은 고딕"/>
                        </a:rPr>
                        <a:t>주요 구성 요소</a:t>
                      </a:r>
                    </a:p>
                  </a:txBody>
                  <a:tcPr marL="54864" marR="54864" marT="18288" marB="18288" anchor="ctr">
                    <a:solidFill>
                      <a:srgbClr val="3B5AA8"/>
                    </a:solidFill>
                  </a:tcPr>
                </a:tc>
                <a:tc>
                  <a:txBody>
                    <a:bodyPr/>
                    <a:lstStyle/>
                    <a:p>
                      <a:pPr algn="ctr"/>
                      <a:r>
                        <a:rPr sz="919" b="1">
                          <a:solidFill>
                            <a:srgbClr val="FFFFFF"/>
                          </a:solidFill>
                          <a:latin typeface="맑은 고딕"/>
                        </a:rPr>
                        <a:t>기능 설명</a:t>
                      </a:r>
                    </a:p>
                  </a:txBody>
                  <a:tcPr marL="54864" marR="54864" marT="18288" marB="18288" anchor="ctr">
                    <a:solidFill>
                      <a:srgbClr val="3B5AA8"/>
                    </a:solidFill>
                  </a:tcPr>
                </a:tc>
                <a:extLst>
                  <a:ext uri="{0D108BD9-81ED-4DB2-BD59-A6C34878D82A}">
                    <a16:rowId xmlns:a16="http://schemas.microsoft.com/office/drawing/2014/main" val="10000"/>
                  </a:ext>
                </a:extLst>
              </a:tr>
              <a:tr h="329184">
                <a:tc>
                  <a:txBody>
                    <a:bodyPr/>
                    <a:lstStyle/>
                    <a:p>
                      <a:pPr algn="l"/>
                      <a:r>
                        <a:rPr sz="880" b="1">
                          <a:solidFill>
                            <a:srgbClr val="222222"/>
                          </a:solidFill>
                          <a:latin typeface="맑은 고딕"/>
                        </a:rPr>
                        <a:t>새 배터리 등록</a:t>
                      </a:r>
                    </a:p>
                  </a:txBody>
                  <a:tcPr marL="54864" marR="54864" marT="18288" marB="18288" anchor="ctr">
                    <a:solidFill>
                      <a:srgbClr val="FFFFFF"/>
                    </a:solidFill>
                  </a:tcPr>
                </a:tc>
                <a:tc>
                  <a:txBody>
                    <a:bodyPr/>
                    <a:lstStyle/>
                    <a:p>
                      <a:pPr algn="l"/>
                      <a:r>
                        <a:rPr sz="880" b="0">
                          <a:solidFill>
                            <a:srgbClr val="222222"/>
                          </a:solidFill>
                          <a:latin typeface="맑은 고딕"/>
                        </a:rPr>
                        <a:t>이름·종류·측정 모드·직렬 셀 수 입력 후 battery_id 발급</a:t>
                      </a:r>
                    </a:p>
                  </a:txBody>
                  <a:tcPr marL="54864" marR="54864" marT="18288" marB="18288" anchor="ctr">
                    <a:solidFill>
                      <a:srgbClr val="FFFFFF"/>
                    </a:solidFill>
                  </a:tcPr>
                </a:tc>
                <a:extLst>
                  <a:ext uri="{0D108BD9-81ED-4DB2-BD59-A6C34878D82A}">
                    <a16:rowId xmlns:a16="http://schemas.microsoft.com/office/drawing/2014/main" val="10001"/>
                  </a:ext>
                </a:extLst>
              </a:tr>
              <a:tr h="329184">
                <a:tc>
                  <a:txBody>
                    <a:bodyPr/>
                    <a:lstStyle/>
                    <a:p>
                      <a:pPr algn="l"/>
                      <a:r>
                        <a:rPr sz="880" b="1">
                          <a:solidFill>
                            <a:srgbClr val="222222"/>
                          </a:solidFill>
                          <a:latin typeface="맑은 고딕"/>
                        </a:rPr>
                        <a:t>저장된 배터리 카드</a:t>
                      </a:r>
                    </a:p>
                  </a:txBody>
                  <a:tcPr marL="54864" marR="54864" marT="18288" marB="18288" anchor="ctr">
                    <a:solidFill>
                      <a:srgbClr val="F4F7FC"/>
                    </a:solidFill>
                  </a:tcPr>
                </a:tc>
                <a:tc>
                  <a:txBody>
                    <a:bodyPr/>
                    <a:lstStyle/>
                    <a:p>
                      <a:pPr algn="l"/>
                      <a:r>
                        <a:rPr sz="880" b="0">
                          <a:solidFill>
                            <a:srgbClr val="222222"/>
                          </a:solidFill>
                          <a:latin typeface="맑은 고딕"/>
                        </a:rPr>
                        <a:t>모드·SOC·상태·최근 측정 정보 표시</a:t>
                      </a:r>
                    </a:p>
                  </a:txBody>
                  <a:tcPr marL="54864" marR="54864" marT="18288" marB="18288" anchor="ctr">
                    <a:solidFill>
                      <a:srgbClr val="F4F7FC"/>
                    </a:solidFill>
                  </a:tcPr>
                </a:tc>
                <a:extLst>
                  <a:ext uri="{0D108BD9-81ED-4DB2-BD59-A6C34878D82A}">
                    <a16:rowId xmlns:a16="http://schemas.microsoft.com/office/drawing/2014/main" val="10002"/>
                  </a:ext>
                </a:extLst>
              </a:tr>
              <a:tr h="329184">
                <a:tc>
                  <a:txBody>
                    <a:bodyPr/>
                    <a:lstStyle/>
                    <a:p>
                      <a:pPr algn="l"/>
                      <a:r>
                        <a:rPr sz="880" b="1">
                          <a:solidFill>
                            <a:srgbClr val="222222"/>
                          </a:solidFill>
                          <a:latin typeface="맑은 고딕"/>
                        </a:rPr>
                        <a:t>측정 모드 필터</a:t>
                      </a:r>
                    </a:p>
                  </a:txBody>
                  <a:tcPr marL="54864" marR="54864" marT="18288" marB="18288" anchor="ctr">
                    <a:solidFill>
                      <a:srgbClr val="FFFFFF"/>
                    </a:solidFill>
                  </a:tcPr>
                </a:tc>
                <a:tc>
                  <a:txBody>
                    <a:bodyPr/>
                    <a:lstStyle/>
                    <a:p>
                      <a:pPr algn="l"/>
                      <a:r>
                        <a:rPr sz="880" b="0">
                          <a:solidFill>
                            <a:srgbClr val="222222"/>
                          </a:solidFill>
                          <a:latin typeface="맑은 고딕"/>
                        </a:rPr>
                        <a:t>전체·모드1·모드2·모드3 기준 목록 필터링</a:t>
                      </a:r>
                    </a:p>
                  </a:txBody>
                  <a:tcPr marL="54864" marR="54864" marT="18288" marB="18288" anchor="ctr">
                    <a:solidFill>
                      <a:srgbClr val="FFFFFF"/>
                    </a:solidFill>
                  </a:tcPr>
                </a:tc>
                <a:extLst>
                  <a:ext uri="{0D108BD9-81ED-4DB2-BD59-A6C34878D82A}">
                    <a16:rowId xmlns:a16="http://schemas.microsoft.com/office/drawing/2014/main" val="10003"/>
                  </a:ext>
                </a:extLst>
              </a:tr>
              <a:tr h="329184">
                <a:tc>
                  <a:txBody>
                    <a:bodyPr/>
                    <a:lstStyle/>
                    <a:p>
                      <a:pPr algn="l"/>
                      <a:r>
                        <a:rPr sz="880" b="1">
                          <a:solidFill>
                            <a:srgbClr val="222222"/>
                          </a:solidFill>
                          <a:latin typeface="맑은 고딕"/>
                        </a:rPr>
                        <a:t>이 배터리 측정 · 상세 보기</a:t>
                      </a:r>
                    </a:p>
                  </a:txBody>
                  <a:tcPr marL="54864" marR="54864" marT="18288" marB="18288" anchor="ctr">
                    <a:solidFill>
                      <a:srgbClr val="F4F7FC"/>
                    </a:solidFill>
                  </a:tcPr>
                </a:tc>
                <a:tc>
                  <a:txBody>
                    <a:bodyPr/>
                    <a:lstStyle/>
                    <a:p>
                      <a:pPr algn="l"/>
                      <a:r>
                        <a:rPr sz="880" b="0">
                          <a:solidFill>
                            <a:srgbClr val="222222"/>
                          </a:solidFill>
                          <a:latin typeface="맑은 고딕"/>
                        </a:rPr>
                        <a:t>측정 연결 확인 모달, 배터리 상세/이력 이동</a:t>
                      </a:r>
                    </a:p>
                  </a:txBody>
                  <a:tcPr marL="54864" marR="54864" marT="18288" marB="18288" anchor="ctr">
                    <a:solidFill>
                      <a:srgbClr val="F4F7FC"/>
                    </a:solidFill>
                  </a:tcPr>
                </a:tc>
                <a:extLst>
                  <a:ext uri="{0D108BD9-81ED-4DB2-BD59-A6C34878D82A}">
                    <a16:rowId xmlns:a16="http://schemas.microsoft.com/office/drawing/2014/main" val="10004"/>
                  </a:ext>
                </a:extLst>
              </a:tr>
            </a:tbl>
          </a:graphicData>
        </a:graphic>
      </p:graphicFrame>
      <p:pic>
        <p:nvPicPr>
          <p:cNvPr id="37" name="Picture 36" descr="sc_usr_02.png"/>
          <p:cNvPicPr>
            <a:picLocks noChangeAspect="1"/>
          </p:cNvPicPr>
          <p:nvPr/>
        </p:nvPicPr>
        <p:blipFill>
          <a:blip r:embed="rId4"/>
          <a:stretch>
            <a:fillRect/>
          </a:stretch>
        </p:blipFill>
        <p:spPr>
          <a:xfrm>
            <a:off x="365760" y="1645920"/>
            <a:ext cx="5074920" cy="2854642"/>
          </a:xfrm>
          <a:prstGeom prst="rect">
            <a:avLst/>
          </a:prstGeom>
        </p:spPr>
      </p:pic>
    </p:spTree>
    <p:extLst>
      <p:ext uri="{BB962C8B-B14F-4D97-AF65-F5344CB8AC3E}">
        <p14:creationId xmlns:p14="http://schemas.microsoft.com/office/powerpoint/2010/main" val="41632821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직사각형 20"/>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2" name="직선 연결선 21"/>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직선 연결선 24"/>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pic>
        <p:nvPicPr>
          <p:cNvPr id="30"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2" name="막힌 원호 31"/>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4" name="그림 3">
            <a:extLst>
              <a:ext uri="{FF2B5EF4-FFF2-40B4-BE49-F238E27FC236}">
                <a16:creationId xmlns:a16="http://schemas.microsoft.com/office/drawing/2014/main" id="{D27511D3-092B-0E5E-ADB8-4B746E2E6542}"/>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5" name="제목 12">
            <a:extLst>
              <a:ext uri="{FF2B5EF4-FFF2-40B4-BE49-F238E27FC236}">
                <a16:creationId xmlns:a16="http://schemas.microsoft.com/office/drawing/2014/main" id="{F073248A-68DC-126C-08AC-5D561EF158D1}"/>
              </a:ext>
            </a:extLst>
          </p:cNvPr>
          <p:cNvSpPr txBox="1">
            <a:spLocks/>
          </p:cNvSpPr>
          <p:nvPr/>
        </p:nvSpPr>
        <p:spPr>
          <a:xfrm>
            <a:off x="323528" y="692697"/>
            <a:ext cx="2844000" cy="272474"/>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화면 설계서</a:t>
            </a:r>
            <a:endParaRPr kumimoji="0" lang="ko-KR" altLang="en-US" sz="1700" b="0" i="0" u="none" strike="noStrike" kern="1200" cap="none" normalizeH="0" baseline="0" noProof="0" dirty="0">
              <a:ln>
                <a:noFill/>
              </a:ln>
              <a:solidFill>
                <a:schemeClr val="bg1"/>
              </a:solidFill>
              <a:effectLst/>
              <a:uLnTx/>
              <a:uFillTx/>
              <a:latin typeface="+mn-ea"/>
              <a:cs typeface="+mj-cs"/>
            </a:endParaRPr>
          </a:p>
        </p:txBody>
      </p:sp>
      <p:sp>
        <p:nvSpPr>
          <p:cNvPr id="33" name="TextBox 32"/>
          <p:cNvSpPr txBox="1"/>
          <p:nvPr/>
        </p:nvSpPr>
        <p:spPr>
          <a:xfrm>
            <a:off x="365760" y="1188720"/>
            <a:ext cx="8412480" cy="310896"/>
          </a:xfrm>
          <a:prstGeom prst="rect">
            <a:avLst/>
          </a:prstGeom>
          <a:noFill/>
        </p:spPr>
        <p:txBody>
          <a:bodyPr wrap="square">
            <a:spAutoFit/>
          </a:bodyPr>
          <a:lstStyle/>
          <a:p>
            <a:r>
              <a:rPr sz="1400" b="1">
                <a:solidFill>
                  <a:srgbClr val="3B5AA8"/>
                </a:solidFill>
                <a:latin typeface="맑은 고딕"/>
              </a:rPr>
              <a:t>SC-USR-03 · 배터리 상세 / 이력</a:t>
            </a:r>
          </a:p>
        </p:txBody>
      </p:sp>
      <p:graphicFrame>
        <p:nvGraphicFramePr>
          <p:cNvPr id="35" name="Table 34"/>
          <p:cNvGraphicFramePr>
            <a:graphicFrameLocks noGrp="1"/>
          </p:cNvGraphicFramePr>
          <p:nvPr/>
        </p:nvGraphicFramePr>
        <p:xfrm>
          <a:off x="5623560" y="1645920"/>
          <a:ext cx="3154680" cy="2852928"/>
        </p:xfrm>
        <a:graphic>
          <a:graphicData uri="http://schemas.openxmlformats.org/drawingml/2006/table">
            <a:tbl>
              <a:tblPr>
                <a:tableStyleId>{5C22544A-7EE6-4342-B048-85BDC9FD1C3A}</a:tableStyleId>
              </a:tblPr>
              <a:tblGrid>
                <a:gridCol w="932688">
                  <a:extLst>
                    <a:ext uri="{9D8B030D-6E8A-4147-A177-3AD203B41FA5}">
                      <a16:colId xmlns:a16="http://schemas.microsoft.com/office/drawing/2014/main" val="20000"/>
                    </a:ext>
                  </a:extLst>
                </a:gridCol>
                <a:gridCol w="2221992">
                  <a:extLst>
                    <a:ext uri="{9D8B030D-6E8A-4147-A177-3AD203B41FA5}">
                      <a16:colId xmlns:a16="http://schemas.microsoft.com/office/drawing/2014/main" val="20001"/>
                    </a:ext>
                  </a:extLst>
                </a:gridCol>
              </a:tblGrid>
              <a:tr h="310896">
                <a:tc>
                  <a:txBody>
                    <a:bodyPr/>
                    <a:lstStyle/>
                    <a:p>
                      <a:pPr algn="ctr"/>
                      <a:r>
                        <a:rPr sz="880" b="1">
                          <a:solidFill>
                            <a:srgbClr val="3B5AA8"/>
                          </a:solidFill>
                          <a:latin typeface="맑은 고딕"/>
                        </a:rPr>
                        <a:t>화면 ID</a:t>
                      </a:r>
                    </a:p>
                  </a:txBody>
                  <a:tcPr marL="54864" marR="54864" marT="18288" marB="18288" anchor="ctr">
                    <a:solidFill>
                      <a:srgbClr val="E2EBFC"/>
                    </a:solidFill>
                  </a:tcPr>
                </a:tc>
                <a:tc>
                  <a:txBody>
                    <a:bodyPr/>
                    <a:lstStyle/>
                    <a:p>
                      <a:pPr algn="l"/>
                      <a:r>
                        <a:rPr sz="860" b="0">
                          <a:solidFill>
                            <a:srgbClr val="222222"/>
                          </a:solidFill>
                          <a:latin typeface="맑은 고딕"/>
                        </a:rPr>
                        <a:t>SC-USR-03</a:t>
                      </a:r>
                    </a:p>
                  </a:txBody>
                  <a:tcPr marL="54864" marR="54864" marT="18288" marB="18288" anchor="ctr">
                    <a:solidFill>
                      <a:srgbClr val="FFFFFF"/>
                    </a:solidFill>
                  </a:tcPr>
                </a:tc>
                <a:extLst>
                  <a:ext uri="{0D108BD9-81ED-4DB2-BD59-A6C34878D82A}">
                    <a16:rowId xmlns:a16="http://schemas.microsoft.com/office/drawing/2014/main" val="10000"/>
                  </a:ext>
                </a:extLst>
              </a:tr>
              <a:tr h="310896">
                <a:tc>
                  <a:txBody>
                    <a:bodyPr/>
                    <a:lstStyle/>
                    <a:p>
                      <a:pPr algn="ctr"/>
                      <a:r>
                        <a:rPr sz="880" b="1">
                          <a:solidFill>
                            <a:srgbClr val="3B5AA8"/>
                          </a:solidFill>
                          <a:latin typeface="맑은 고딕"/>
                        </a:rPr>
                        <a:t>화면명</a:t>
                      </a:r>
                    </a:p>
                  </a:txBody>
                  <a:tcPr marL="54864" marR="54864" marT="18288" marB="18288" anchor="ctr">
                    <a:solidFill>
                      <a:srgbClr val="E2EBFC"/>
                    </a:solidFill>
                  </a:tcPr>
                </a:tc>
                <a:tc>
                  <a:txBody>
                    <a:bodyPr/>
                    <a:lstStyle/>
                    <a:p>
                      <a:pPr algn="l"/>
                      <a:r>
                        <a:rPr sz="860" b="0">
                          <a:solidFill>
                            <a:srgbClr val="222222"/>
                          </a:solidFill>
                          <a:latin typeface="맑은 고딕"/>
                        </a:rPr>
                        <a:t>배터리 상세 / 이력</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ctr"/>
                      <a:r>
                        <a:rPr sz="880" b="1">
                          <a:solidFill>
                            <a:srgbClr val="3B5AA8"/>
                          </a:solidFill>
                          <a:latin typeface="맑은 고딕"/>
                        </a:rPr>
                        <a:t>사용자</a:t>
                      </a:r>
                    </a:p>
                  </a:txBody>
                  <a:tcPr marL="54864" marR="54864" marT="18288" marB="18288" anchor="ctr">
                    <a:solidFill>
                      <a:srgbClr val="E2EBFC"/>
                    </a:solidFill>
                  </a:tcPr>
                </a:tc>
                <a:tc>
                  <a:txBody>
                    <a:bodyPr/>
                    <a:lstStyle/>
                    <a:p>
                      <a:pPr algn="l"/>
                      <a:r>
                        <a:rPr sz="860" b="0">
                          <a:solidFill>
                            <a:srgbClr val="222222"/>
                          </a:solidFill>
                          <a:latin typeface="맑은 고딕"/>
                        </a:rPr>
                        <a:t>일반 사용자</a:t>
                      </a:r>
                    </a:p>
                  </a:txBody>
                  <a:tcPr marL="54864" marR="54864" marT="18288" marB="18288" anchor="ctr">
                    <a:solidFill>
                      <a:srgbClr val="FFFFFF"/>
                    </a:solidFill>
                  </a:tcPr>
                </a:tc>
                <a:extLst>
                  <a:ext uri="{0D108BD9-81ED-4DB2-BD59-A6C34878D82A}">
                    <a16:rowId xmlns:a16="http://schemas.microsoft.com/office/drawing/2014/main" val="10002"/>
                  </a:ext>
                </a:extLst>
              </a:tr>
              <a:tr h="384048">
                <a:tc>
                  <a:txBody>
                    <a:bodyPr/>
                    <a:lstStyle/>
                    <a:p>
                      <a:pPr algn="ctr"/>
                      <a:r>
                        <a:rPr sz="880" b="1">
                          <a:solidFill>
                            <a:srgbClr val="3B5AA8"/>
                          </a:solidFill>
                          <a:latin typeface="맑은 고딕"/>
                        </a:rPr>
                        <a:t>관련 요구사항</a:t>
                      </a:r>
                    </a:p>
                  </a:txBody>
                  <a:tcPr marL="54864" marR="54864" marT="18288" marB="18288" anchor="ctr">
                    <a:solidFill>
                      <a:srgbClr val="E2EBFC"/>
                    </a:solidFill>
                  </a:tcPr>
                </a:tc>
                <a:tc>
                  <a:txBody>
                    <a:bodyPr/>
                    <a:lstStyle/>
                    <a:p>
                      <a:pPr algn="l"/>
                      <a:r>
                        <a:rPr sz="860" b="0">
                          <a:solidFill>
                            <a:srgbClr val="222222"/>
                          </a:solidFill>
                          <a:latin typeface="맑은 고딕"/>
                        </a:rPr>
                        <a:t>REQ-WEB-040 · 041 · 044</a:t>
                      </a:r>
                    </a:p>
                  </a:txBody>
                  <a:tcPr marL="54864" marR="54864" marT="18288" marB="18288" anchor="ctr">
                    <a:solidFill>
                      <a:srgbClr val="FFFFFF"/>
                    </a:solidFill>
                  </a:tcPr>
                </a:tc>
                <a:extLst>
                  <a:ext uri="{0D108BD9-81ED-4DB2-BD59-A6C34878D82A}">
                    <a16:rowId xmlns:a16="http://schemas.microsoft.com/office/drawing/2014/main" val="10003"/>
                  </a:ext>
                </a:extLst>
              </a:tr>
              <a:tr h="1536192">
                <a:tc>
                  <a:txBody>
                    <a:bodyPr/>
                    <a:lstStyle/>
                    <a:p>
                      <a:pPr algn="ctr"/>
                      <a:r>
                        <a:rPr sz="880" b="1">
                          <a:solidFill>
                            <a:srgbClr val="3B5AA8"/>
                          </a:solidFill>
                          <a:latin typeface="맑은 고딕"/>
                        </a:rPr>
                        <a:t>화면 설명</a:t>
                      </a:r>
                    </a:p>
                  </a:txBody>
                  <a:tcPr marL="54864" marR="54864" marT="18288" marB="18288" anchor="ctr">
                    <a:solidFill>
                      <a:srgbClr val="E2EBFC"/>
                    </a:solidFill>
                  </a:tcPr>
                </a:tc>
                <a:tc>
                  <a:txBody>
                    <a:bodyPr/>
                    <a:lstStyle/>
                    <a:p>
                      <a:pPr algn="l"/>
                      <a:r>
                        <a:rPr sz="860" b="0">
                          <a:solidFill>
                            <a:srgbClr val="222222"/>
                          </a:solidFill>
                          <a:latin typeface="맑은 고딕"/>
                        </a:rPr>
                        <a:t>선택 배터리의 기본 정보·현재 상태·과거 측정 세션·건강도·추세를 조회하는 화면.</a:t>
                      </a:r>
                    </a:p>
                  </a:txBody>
                  <a:tcPr marL="54864" marR="54864" marT="18288" marB="18288">
                    <a:solidFill>
                      <a:srgbClr val="FFFFFF"/>
                    </a:solidFill>
                  </a:tcPr>
                </a:tc>
                <a:extLst>
                  <a:ext uri="{0D108BD9-81ED-4DB2-BD59-A6C34878D82A}">
                    <a16:rowId xmlns:a16="http://schemas.microsoft.com/office/drawing/2014/main" val="10004"/>
                  </a:ext>
                </a:extLst>
              </a:tr>
            </a:tbl>
          </a:graphicData>
        </a:graphic>
      </p:graphicFrame>
      <p:graphicFrame>
        <p:nvGraphicFramePr>
          <p:cNvPr id="36" name="Table 35"/>
          <p:cNvGraphicFramePr>
            <a:graphicFrameLocks noGrp="1"/>
          </p:cNvGraphicFramePr>
          <p:nvPr/>
        </p:nvGraphicFramePr>
        <p:xfrm>
          <a:off x="365760" y="4736592"/>
          <a:ext cx="8412479" cy="1627632"/>
        </p:xfrm>
        <a:graphic>
          <a:graphicData uri="http://schemas.openxmlformats.org/drawingml/2006/table">
            <a:tbl>
              <a:tblPr>
                <a:tableStyleId>{5C22544A-7EE6-4342-B048-85BDC9FD1C3A}</a:tableStyleId>
              </a:tblPr>
              <a:tblGrid>
                <a:gridCol w="2331720">
                  <a:extLst>
                    <a:ext uri="{9D8B030D-6E8A-4147-A177-3AD203B41FA5}">
                      <a16:colId xmlns:a16="http://schemas.microsoft.com/office/drawing/2014/main" val="20000"/>
                    </a:ext>
                  </a:extLst>
                </a:gridCol>
                <a:gridCol w="6080759">
                  <a:extLst>
                    <a:ext uri="{9D8B030D-6E8A-4147-A177-3AD203B41FA5}">
                      <a16:colId xmlns:a16="http://schemas.microsoft.com/office/drawing/2014/main" val="20001"/>
                    </a:ext>
                  </a:extLst>
                </a:gridCol>
              </a:tblGrid>
              <a:tr h="310896">
                <a:tc>
                  <a:txBody>
                    <a:bodyPr/>
                    <a:lstStyle/>
                    <a:p>
                      <a:pPr algn="ctr"/>
                      <a:r>
                        <a:rPr sz="919" b="1">
                          <a:solidFill>
                            <a:srgbClr val="FFFFFF"/>
                          </a:solidFill>
                          <a:latin typeface="맑은 고딕"/>
                        </a:rPr>
                        <a:t>주요 구성 요소</a:t>
                      </a:r>
                    </a:p>
                  </a:txBody>
                  <a:tcPr marL="54864" marR="54864" marT="18288" marB="18288" anchor="ctr">
                    <a:solidFill>
                      <a:srgbClr val="3B5AA8"/>
                    </a:solidFill>
                  </a:tcPr>
                </a:tc>
                <a:tc>
                  <a:txBody>
                    <a:bodyPr/>
                    <a:lstStyle/>
                    <a:p>
                      <a:pPr algn="ctr"/>
                      <a:r>
                        <a:rPr sz="919" b="1">
                          <a:solidFill>
                            <a:srgbClr val="FFFFFF"/>
                          </a:solidFill>
                          <a:latin typeface="맑은 고딕"/>
                        </a:rPr>
                        <a:t>기능 설명</a:t>
                      </a:r>
                    </a:p>
                  </a:txBody>
                  <a:tcPr marL="54864" marR="54864" marT="18288" marB="18288" anchor="ctr">
                    <a:solidFill>
                      <a:srgbClr val="3B5AA8"/>
                    </a:solidFill>
                  </a:tcPr>
                </a:tc>
                <a:extLst>
                  <a:ext uri="{0D108BD9-81ED-4DB2-BD59-A6C34878D82A}">
                    <a16:rowId xmlns:a16="http://schemas.microsoft.com/office/drawing/2014/main" val="10000"/>
                  </a:ext>
                </a:extLst>
              </a:tr>
              <a:tr h="329184">
                <a:tc>
                  <a:txBody>
                    <a:bodyPr/>
                    <a:lstStyle/>
                    <a:p>
                      <a:pPr algn="l"/>
                      <a:r>
                        <a:rPr sz="880" b="1">
                          <a:solidFill>
                            <a:srgbClr val="222222"/>
                          </a:solidFill>
                          <a:latin typeface="맑은 고딕"/>
                        </a:rPr>
                        <a:t>과거 측정 세션 선택</a:t>
                      </a:r>
                    </a:p>
                  </a:txBody>
                  <a:tcPr marL="54864" marR="54864" marT="18288" marB="18288" anchor="ctr">
                    <a:solidFill>
                      <a:srgbClr val="FFFFFF"/>
                    </a:solidFill>
                  </a:tcPr>
                </a:tc>
                <a:tc>
                  <a:txBody>
                    <a:bodyPr/>
                    <a:lstStyle/>
                    <a:p>
                      <a:pPr algn="l"/>
                      <a:r>
                        <a:rPr sz="880" b="0">
                          <a:solidFill>
                            <a:srgbClr val="222222"/>
                          </a:solidFill>
                          <a:latin typeface="맑은 고딕"/>
                        </a:rPr>
                        <a:t>세션 ID·시간·상태·이상점수 이력 조회</a:t>
                      </a:r>
                    </a:p>
                  </a:txBody>
                  <a:tcPr marL="54864" marR="54864" marT="18288" marB="18288" anchor="ctr">
                    <a:solidFill>
                      <a:srgbClr val="FFFFFF"/>
                    </a:solidFill>
                  </a:tcPr>
                </a:tc>
                <a:extLst>
                  <a:ext uri="{0D108BD9-81ED-4DB2-BD59-A6C34878D82A}">
                    <a16:rowId xmlns:a16="http://schemas.microsoft.com/office/drawing/2014/main" val="10001"/>
                  </a:ext>
                </a:extLst>
              </a:tr>
              <a:tr h="329184">
                <a:tc>
                  <a:txBody>
                    <a:bodyPr/>
                    <a:lstStyle/>
                    <a:p>
                      <a:pPr algn="l"/>
                      <a:r>
                        <a:rPr sz="880" b="1">
                          <a:solidFill>
                            <a:srgbClr val="222222"/>
                          </a:solidFill>
                          <a:latin typeface="맑은 고딕"/>
                        </a:rPr>
                        <a:t>이상점수 추세(최근 30일)</a:t>
                      </a:r>
                    </a:p>
                  </a:txBody>
                  <a:tcPr marL="54864" marR="54864" marT="18288" marB="18288" anchor="ctr">
                    <a:solidFill>
                      <a:srgbClr val="F4F7FC"/>
                    </a:solidFill>
                  </a:tcPr>
                </a:tc>
                <a:tc>
                  <a:txBody>
                    <a:bodyPr/>
                    <a:lstStyle/>
                    <a:p>
                      <a:pPr algn="l"/>
                      <a:r>
                        <a:rPr sz="880" b="0">
                          <a:solidFill>
                            <a:srgbClr val="222222"/>
                          </a:solidFill>
                          <a:latin typeface="맑은 고딕"/>
                        </a:rPr>
                        <a:t>기간별 이상점수 변화 그래프</a:t>
                      </a:r>
                    </a:p>
                  </a:txBody>
                  <a:tcPr marL="54864" marR="54864" marT="18288" marB="18288" anchor="ctr">
                    <a:solidFill>
                      <a:srgbClr val="F4F7FC"/>
                    </a:solidFill>
                  </a:tcPr>
                </a:tc>
                <a:extLst>
                  <a:ext uri="{0D108BD9-81ED-4DB2-BD59-A6C34878D82A}">
                    <a16:rowId xmlns:a16="http://schemas.microsoft.com/office/drawing/2014/main" val="10002"/>
                  </a:ext>
                </a:extLst>
              </a:tr>
              <a:tr h="329184">
                <a:tc>
                  <a:txBody>
                    <a:bodyPr/>
                    <a:lstStyle/>
                    <a:p>
                      <a:pPr algn="l"/>
                      <a:r>
                        <a:rPr sz="880" b="1">
                          <a:solidFill>
                            <a:srgbClr val="222222"/>
                          </a:solidFill>
                          <a:latin typeface="맑은 고딕"/>
                        </a:rPr>
                        <a:t>SOH / RUL 건강도</a:t>
                      </a:r>
                    </a:p>
                  </a:txBody>
                  <a:tcPr marL="54864" marR="54864" marT="18288" marB="18288" anchor="ctr">
                    <a:solidFill>
                      <a:srgbClr val="FFFFFF"/>
                    </a:solidFill>
                  </a:tcPr>
                </a:tc>
                <a:tc>
                  <a:txBody>
                    <a:bodyPr/>
                    <a:lstStyle/>
                    <a:p>
                      <a:pPr algn="l"/>
                      <a:r>
                        <a:rPr sz="880" b="0">
                          <a:solidFill>
                            <a:srgbClr val="222222"/>
                          </a:solidFill>
                          <a:latin typeface="맑은 고딕"/>
                        </a:rPr>
                        <a:t>건강도·잔존수명·누적 사이클·내부 저항</a:t>
                      </a:r>
                    </a:p>
                  </a:txBody>
                  <a:tcPr marL="54864" marR="54864" marT="18288" marB="18288" anchor="ctr">
                    <a:solidFill>
                      <a:srgbClr val="FFFFFF"/>
                    </a:solidFill>
                  </a:tcPr>
                </a:tc>
                <a:extLst>
                  <a:ext uri="{0D108BD9-81ED-4DB2-BD59-A6C34878D82A}">
                    <a16:rowId xmlns:a16="http://schemas.microsoft.com/office/drawing/2014/main" val="10003"/>
                  </a:ext>
                </a:extLst>
              </a:tr>
              <a:tr h="329184">
                <a:tc>
                  <a:txBody>
                    <a:bodyPr/>
                    <a:lstStyle/>
                    <a:p>
                      <a:pPr algn="l"/>
                      <a:r>
                        <a:rPr sz="880" b="1">
                          <a:solidFill>
                            <a:srgbClr val="222222"/>
                          </a:solidFill>
                          <a:latin typeface="맑은 고딕"/>
                        </a:rPr>
                        <a:t>V·I·T·SOC 상세 차트</a:t>
                      </a:r>
                    </a:p>
                  </a:txBody>
                  <a:tcPr marL="54864" marR="54864" marT="18288" marB="18288" anchor="ctr">
                    <a:solidFill>
                      <a:srgbClr val="F4F7FC"/>
                    </a:solidFill>
                  </a:tcPr>
                </a:tc>
                <a:tc>
                  <a:txBody>
                    <a:bodyPr/>
                    <a:lstStyle/>
                    <a:p>
                      <a:pPr algn="l"/>
                      <a:r>
                        <a:rPr sz="880" b="0">
                          <a:solidFill>
                            <a:srgbClr val="222222"/>
                          </a:solidFill>
                          <a:latin typeface="맑은 고딕"/>
                        </a:rPr>
                        <a:t>전압·전류·온도·SOC 시계열 그래프</a:t>
                      </a:r>
                    </a:p>
                  </a:txBody>
                  <a:tcPr marL="54864" marR="54864" marT="18288" marB="18288" anchor="ctr">
                    <a:solidFill>
                      <a:srgbClr val="F4F7FC"/>
                    </a:solidFill>
                  </a:tcPr>
                </a:tc>
                <a:extLst>
                  <a:ext uri="{0D108BD9-81ED-4DB2-BD59-A6C34878D82A}">
                    <a16:rowId xmlns:a16="http://schemas.microsoft.com/office/drawing/2014/main" val="10004"/>
                  </a:ext>
                </a:extLst>
              </a:tr>
            </a:tbl>
          </a:graphicData>
        </a:graphic>
      </p:graphicFrame>
      <p:pic>
        <p:nvPicPr>
          <p:cNvPr id="37" name="Picture 36" descr="sc_usr_03.png"/>
          <p:cNvPicPr>
            <a:picLocks noChangeAspect="1"/>
          </p:cNvPicPr>
          <p:nvPr/>
        </p:nvPicPr>
        <p:blipFill>
          <a:blip r:embed="rId4"/>
          <a:stretch>
            <a:fillRect/>
          </a:stretch>
        </p:blipFill>
        <p:spPr>
          <a:xfrm>
            <a:off x="365760" y="1645920"/>
            <a:ext cx="5074920" cy="2854642"/>
          </a:xfrm>
          <a:prstGeom prst="rect">
            <a:avLst/>
          </a:prstGeom>
        </p:spPr>
      </p:pic>
    </p:spTree>
    <p:extLst>
      <p:ext uri="{BB962C8B-B14F-4D97-AF65-F5344CB8AC3E}">
        <p14:creationId xmlns:p14="http://schemas.microsoft.com/office/powerpoint/2010/main" val="277924387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직사각형 20"/>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2" name="직선 연결선 21"/>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직선 연결선 24"/>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pic>
        <p:nvPicPr>
          <p:cNvPr id="30"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2" name="막힌 원호 31"/>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2" name="그림 1">
            <a:extLst>
              <a:ext uri="{FF2B5EF4-FFF2-40B4-BE49-F238E27FC236}">
                <a16:creationId xmlns:a16="http://schemas.microsoft.com/office/drawing/2014/main" id="{2B8AE8E0-AD17-92BC-538B-30035A166BE1}"/>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3" name="제목 12">
            <a:extLst>
              <a:ext uri="{FF2B5EF4-FFF2-40B4-BE49-F238E27FC236}">
                <a16:creationId xmlns:a16="http://schemas.microsoft.com/office/drawing/2014/main" id="{672C8274-EFDB-6E3A-A8A8-52D837517324}"/>
              </a:ext>
            </a:extLst>
          </p:cNvPr>
          <p:cNvSpPr txBox="1">
            <a:spLocks/>
          </p:cNvSpPr>
          <p:nvPr/>
        </p:nvSpPr>
        <p:spPr>
          <a:xfrm>
            <a:off x="323528" y="692697"/>
            <a:ext cx="2844000" cy="272474"/>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화면 설계서</a:t>
            </a:r>
            <a:endParaRPr kumimoji="0" lang="ko-KR" altLang="en-US" sz="1700" b="0" i="0" u="none" strike="noStrike" kern="1200" cap="none" normalizeH="0" baseline="0" noProof="0" dirty="0">
              <a:ln>
                <a:noFill/>
              </a:ln>
              <a:solidFill>
                <a:schemeClr val="bg1"/>
              </a:solidFill>
              <a:effectLst/>
              <a:uLnTx/>
              <a:uFillTx/>
              <a:latin typeface="+mn-ea"/>
              <a:cs typeface="+mj-cs"/>
            </a:endParaRPr>
          </a:p>
        </p:txBody>
      </p:sp>
      <p:sp>
        <p:nvSpPr>
          <p:cNvPr id="33" name="TextBox 32"/>
          <p:cNvSpPr txBox="1"/>
          <p:nvPr/>
        </p:nvSpPr>
        <p:spPr>
          <a:xfrm>
            <a:off x="365760" y="1188720"/>
            <a:ext cx="8412480" cy="310896"/>
          </a:xfrm>
          <a:prstGeom prst="rect">
            <a:avLst/>
          </a:prstGeom>
          <a:noFill/>
        </p:spPr>
        <p:txBody>
          <a:bodyPr wrap="square">
            <a:spAutoFit/>
          </a:bodyPr>
          <a:lstStyle/>
          <a:p>
            <a:r>
              <a:rPr sz="1400" b="1">
                <a:solidFill>
                  <a:srgbClr val="3B5AA8"/>
                </a:solidFill>
                <a:latin typeface="맑은 고딕"/>
              </a:rPr>
              <a:t>SC-USR-04 · AI 이상 탐지 관리</a:t>
            </a:r>
          </a:p>
        </p:txBody>
      </p:sp>
      <p:graphicFrame>
        <p:nvGraphicFramePr>
          <p:cNvPr id="35" name="Table 34"/>
          <p:cNvGraphicFramePr>
            <a:graphicFrameLocks noGrp="1"/>
          </p:cNvGraphicFramePr>
          <p:nvPr/>
        </p:nvGraphicFramePr>
        <p:xfrm>
          <a:off x="5623560" y="1645920"/>
          <a:ext cx="3154680" cy="2852928"/>
        </p:xfrm>
        <a:graphic>
          <a:graphicData uri="http://schemas.openxmlformats.org/drawingml/2006/table">
            <a:tbl>
              <a:tblPr>
                <a:tableStyleId>{5C22544A-7EE6-4342-B048-85BDC9FD1C3A}</a:tableStyleId>
              </a:tblPr>
              <a:tblGrid>
                <a:gridCol w="932688">
                  <a:extLst>
                    <a:ext uri="{9D8B030D-6E8A-4147-A177-3AD203B41FA5}">
                      <a16:colId xmlns:a16="http://schemas.microsoft.com/office/drawing/2014/main" val="20000"/>
                    </a:ext>
                  </a:extLst>
                </a:gridCol>
                <a:gridCol w="2221992">
                  <a:extLst>
                    <a:ext uri="{9D8B030D-6E8A-4147-A177-3AD203B41FA5}">
                      <a16:colId xmlns:a16="http://schemas.microsoft.com/office/drawing/2014/main" val="20001"/>
                    </a:ext>
                  </a:extLst>
                </a:gridCol>
              </a:tblGrid>
              <a:tr h="310896">
                <a:tc>
                  <a:txBody>
                    <a:bodyPr/>
                    <a:lstStyle/>
                    <a:p>
                      <a:pPr algn="ctr"/>
                      <a:r>
                        <a:rPr sz="880" b="1">
                          <a:solidFill>
                            <a:srgbClr val="3B5AA8"/>
                          </a:solidFill>
                          <a:latin typeface="맑은 고딕"/>
                        </a:rPr>
                        <a:t>화면 ID</a:t>
                      </a:r>
                    </a:p>
                  </a:txBody>
                  <a:tcPr marL="54864" marR="54864" marT="18288" marB="18288" anchor="ctr">
                    <a:solidFill>
                      <a:srgbClr val="E2EBFC"/>
                    </a:solidFill>
                  </a:tcPr>
                </a:tc>
                <a:tc>
                  <a:txBody>
                    <a:bodyPr/>
                    <a:lstStyle/>
                    <a:p>
                      <a:pPr algn="l"/>
                      <a:r>
                        <a:rPr sz="860" b="0">
                          <a:solidFill>
                            <a:srgbClr val="222222"/>
                          </a:solidFill>
                          <a:latin typeface="맑은 고딕"/>
                        </a:rPr>
                        <a:t>SC-USR-04</a:t>
                      </a:r>
                    </a:p>
                  </a:txBody>
                  <a:tcPr marL="54864" marR="54864" marT="18288" marB="18288" anchor="ctr">
                    <a:solidFill>
                      <a:srgbClr val="FFFFFF"/>
                    </a:solidFill>
                  </a:tcPr>
                </a:tc>
                <a:extLst>
                  <a:ext uri="{0D108BD9-81ED-4DB2-BD59-A6C34878D82A}">
                    <a16:rowId xmlns:a16="http://schemas.microsoft.com/office/drawing/2014/main" val="10000"/>
                  </a:ext>
                </a:extLst>
              </a:tr>
              <a:tr h="310896">
                <a:tc>
                  <a:txBody>
                    <a:bodyPr/>
                    <a:lstStyle/>
                    <a:p>
                      <a:pPr algn="ctr"/>
                      <a:r>
                        <a:rPr sz="880" b="1">
                          <a:solidFill>
                            <a:srgbClr val="3B5AA8"/>
                          </a:solidFill>
                          <a:latin typeface="맑은 고딕"/>
                        </a:rPr>
                        <a:t>화면명</a:t>
                      </a:r>
                    </a:p>
                  </a:txBody>
                  <a:tcPr marL="54864" marR="54864" marT="18288" marB="18288" anchor="ctr">
                    <a:solidFill>
                      <a:srgbClr val="E2EBFC"/>
                    </a:solidFill>
                  </a:tcPr>
                </a:tc>
                <a:tc>
                  <a:txBody>
                    <a:bodyPr/>
                    <a:lstStyle/>
                    <a:p>
                      <a:pPr algn="l"/>
                      <a:r>
                        <a:rPr sz="860" b="0">
                          <a:solidFill>
                            <a:srgbClr val="222222"/>
                          </a:solidFill>
                          <a:latin typeface="맑은 고딕"/>
                        </a:rPr>
                        <a:t>AI 이상 탐지 관리</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ctr"/>
                      <a:r>
                        <a:rPr sz="880" b="1">
                          <a:solidFill>
                            <a:srgbClr val="3B5AA8"/>
                          </a:solidFill>
                          <a:latin typeface="맑은 고딕"/>
                        </a:rPr>
                        <a:t>사용자</a:t>
                      </a:r>
                    </a:p>
                  </a:txBody>
                  <a:tcPr marL="54864" marR="54864" marT="18288" marB="18288" anchor="ctr">
                    <a:solidFill>
                      <a:srgbClr val="E2EBFC"/>
                    </a:solidFill>
                  </a:tcPr>
                </a:tc>
                <a:tc>
                  <a:txBody>
                    <a:bodyPr/>
                    <a:lstStyle/>
                    <a:p>
                      <a:pPr algn="l"/>
                      <a:r>
                        <a:rPr sz="860" b="0">
                          <a:solidFill>
                            <a:srgbClr val="222222"/>
                          </a:solidFill>
                          <a:latin typeface="맑은 고딕"/>
                        </a:rPr>
                        <a:t>일반 사용자</a:t>
                      </a:r>
                    </a:p>
                  </a:txBody>
                  <a:tcPr marL="54864" marR="54864" marT="18288" marB="18288" anchor="ctr">
                    <a:solidFill>
                      <a:srgbClr val="FFFFFF"/>
                    </a:solidFill>
                  </a:tcPr>
                </a:tc>
                <a:extLst>
                  <a:ext uri="{0D108BD9-81ED-4DB2-BD59-A6C34878D82A}">
                    <a16:rowId xmlns:a16="http://schemas.microsoft.com/office/drawing/2014/main" val="10002"/>
                  </a:ext>
                </a:extLst>
              </a:tr>
              <a:tr h="384048">
                <a:tc>
                  <a:txBody>
                    <a:bodyPr/>
                    <a:lstStyle/>
                    <a:p>
                      <a:pPr algn="ctr"/>
                      <a:r>
                        <a:rPr sz="880" b="1">
                          <a:solidFill>
                            <a:srgbClr val="3B5AA8"/>
                          </a:solidFill>
                          <a:latin typeface="맑은 고딕"/>
                        </a:rPr>
                        <a:t>관련 요구사항</a:t>
                      </a:r>
                    </a:p>
                  </a:txBody>
                  <a:tcPr marL="54864" marR="54864" marT="18288" marB="18288" anchor="ctr">
                    <a:solidFill>
                      <a:srgbClr val="E2EBFC"/>
                    </a:solidFill>
                  </a:tcPr>
                </a:tc>
                <a:tc>
                  <a:txBody>
                    <a:bodyPr/>
                    <a:lstStyle/>
                    <a:p>
                      <a:pPr algn="l"/>
                      <a:r>
                        <a:rPr sz="860" b="0">
                          <a:solidFill>
                            <a:srgbClr val="222222"/>
                          </a:solidFill>
                          <a:latin typeface="맑은 고딕"/>
                        </a:rPr>
                        <a:t>REQ-WEB-042 · 043 · 045</a:t>
                      </a:r>
                    </a:p>
                  </a:txBody>
                  <a:tcPr marL="54864" marR="54864" marT="18288" marB="18288" anchor="ctr">
                    <a:solidFill>
                      <a:srgbClr val="FFFFFF"/>
                    </a:solidFill>
                  </a:tcPr>
                </a:tc>
                <a:extLst>
                  <a:ext uri="{0D108BD9-81ED-4DB2-BD59-A6C34878D82A}">
                    <a16:rowId xmlns:a16="http://schemas.microsoft.com/office/drawing/2014/main" val="10003"/>
                  </a:ext>
                </a:extLst>
              </a:tr>
              <a:tr h="1536192">
                <a:tc>
                  <a:txBody>
                    <a:bodyPr/>
                    <a:lstStyle/>
                    <a:p>
                      <a:pPr algn="ctr"/>
                      <a:r>
                        <a:rPr sz="880" b="1">
                          <a:solidFill>
                            <a:srgbClr val="3B5AA8"/>
                          </a:solidFill>
                          <a:latin typeface="맑은 고딕"/>
                        </a:rPr>
                        <a:t>화면 설명</a:t>
                      </a:r>
                    </a:p>
                  </a:txBody>
                  <a:tcPr marL="54864" marR="54864" marT="18288" marB="18288" anchor="ctr">
                    <a:solidFill>
                      <a:srgbClr val="E2EBFC"/>
                    </a:solidFill>
                  </a:tcPr>
                </a:tc>
                <a:tc>
                  <a:txBody>
                    <a:bodyPr/>
                    <a:lstStyle/>
                    <a:p>
                      <a:pPr algn="l"/>
                      <a:r>
                        <a:rPr sz="860" b="0">
                          <a:solidFill>
                            <a:srgbClr val="222222"/>
                          </a:solidFill>
                          <a:latin typeface="맑은 고딕"/>
                        </a:rPr>
                        <a:t>LSTM-AutoEncoder 기반 활성 이상 이벤트와 이상 근거(XAI)를 확인하는 핵심 화면.</a:t>
                      </a:r>
                    </a:p>
                  </a:txBody>
                  <a:tcPr marL="54864" marR="54864" marT="18288" marB="18288">
                    <a:solidFill>
                      <a:srgbClr val="FFFFFF"/>
                    </a:solidFill>
                  </a:tcPr>
                </a:tc>
                <a:extLst>
                  <a:ext uri="{0D108BD9-81ED-4DB2-BD59-A6C34878D82A}">
                    <a16:rowId xmlns:a16="http://schemas.microsoft.com/office/drawing/2014/main" val="10004"/>
                  </a:ext>
                </a:extLst>
              </a:tr>
            </a:tbl>
          </a:graphicData>
        </a:graphic>
      </p:graphicFrame>
      <p:graphicFrame>
        <p:nvGraphicFramePr>
          <p:cNvPr id="36" name="Table 35"/>
          <p:cNvGraphicFramePr>
            <a:graphicFrameLocks noGrp="1"/>
          </p:cNvGraphicFramePr>
          <p:nvPr/>
        </p:nvGraphicFramePr>
        <p:xfrm>
          <a:off x="365760" y="4736592"/>
          <a:ext cx="8412479" cy="1627632"/>
        </p:xfrm>
        <a:graphic>
          <a:graphicData uri="http://schemas.openxmlformats.org/drawingml/2006/table">
            <a:tbl>
              <a:tblPr>
                <a:tableStyleId>{5C22544A-7EE6-4342-B048-85BDC9FD1C3A}</a:tableStyleId>
              </a:tblPr>
              <a:tblGrid>
                <a:gridCol w="2331720">
                  <a:extLst>
                    <a:ext uri="{9D8B030D-6E8A-4147-A177-3AD203B41FA5}">
                      <a16:colId xmlns:a16="http://schemas.microsoft.com/office/drawing/2014/main" val="20000"/>
                    </a:ext>
                  </a:extLst>
                </a:gridCol>
                <a:gridCol w="6080759">
                  <a:extLst>
                    <a:ext uri="{9D8B030D-6E8A-4147-A177-3AD203B41FA5}">
                      <a16:colId xmlns:a16="http://schemas.microsoft.com/office/drawing/2014/main" val="20001"/>
                    </a:ext>
                  </a:extLst>
                </a:gridCol>
              </a:tblGrid>
              <a:tr h="310896">
                <a:tc>
                  <a:txBody>
                    <a:bodyPr/>
                    <a:lstStyle/>
                    <a:p>
                      <a:pPr algn="ctr"/>
                      <a:r>
                        <a:rPr sz="919" b="1">
                          <a:solidFill>
                            <a:srgbClr val="FFFFFF"/>
                          </a:solidFill>
                          <a:latin typeface="맑은 고딕"/>
                        </a:rPr>
                        <a:t>주요 구성 요소</a:t>
                      </a:r>
                    </a:p>
                  </a:txBody>
                  <a:tcPr marL="54864" marR="54864" marT="18288" marB="18288" anchor="ctr">
                    <a:solidFill>
                      <a:srgbClr val="3B5AA8"/>
                    </a:solidFill>
                  </a:tcPr>
                </a:tc>
                <a:tc>
                  <a:txBody>
                    <a:bodyPr/>
                    <a:lstStyle/>
                    <a:p>
                      <a:pPr algn="ctr"/>
                      <a:r>
                        <a:rPr sz="919" b="1">
                          <a:solidFill>
                            <a:srgbClr val="FFFFFF"/>
                          </a:solidFill>
                          <a:latin typeface="맑은 고딕"/>
                        </a:rPr>
                        <a:t>기능 설명</a:t>
                      </a:r>
                    </a:p>
                  </a:txBody>
                  <a:tcPr marL="54864" marR="54864" marT="18288" marB="18288" anchor="ctr">
                    <a:solidFill>
                      <a:srgbClr val="3B5AA8"/>
                    </a:solidFill>
                  </a:tcPr>
                </a:tc>
                <a:extLst>
                  <a:ext uri="{0D108BD9-81ED-4DB2-BD59-A6C34878D82A}">
                    <a16:rowId xmlns:a16="http://schemas.microsoft.com/office/drawing/2014/main" val="10000"/>
                  </a:ext>
                </a:extLst>
              </a:tr>
              <a:tr h="329184">
                <a:tc>
                  <a:txBody>
                    <a:bodyPr/>
                    <a:lstStyle/>
                    <a:p>
                      <a:pPr algn="l"/>
                      <a:r>
                        <a:rPr sz="880" b="1">
                          <a:solidFill>
                            <a:srgbClr val="222222"/>
                          </a:solidFill>
                          <a:latin typeface="맑은 고딕"/>
                        </a:rPr>
                        <a:t>이상 요약 카드</a:t>
                      </a:r>
                    </a:p>
                  </a:txBody>
                  <a:tcPr marL="54864" marR="54864" marT="18288" marB="18288" anchor="ctr">
                    <a:solidFill>
                      <a:srgbClr val="FFFFFF"/>
                    </a:solidFill>
                  </a:tcPr>
                </a:tc>
                <a:tc>
                  <a:txBody>
                    <a:bodyPr/>
                    <a:lstStyle/>
                    <a:p>
                      <a:pPr algn="l"/>
                      <a:r>
                        <a:rPr sz="880" b="0">
                          <a:solidFill>
                            <a:srgbClr val="222222"/>
                          </a:solidFill>
                          <a:latin typeface="맑은 고딕"/>
                        </a:rPr>
                        <a:t>활성 이상·오늘 발생·최고 이상점수·모델 상태</a:t>
                      </a:r>
                    </a:p>
                  </a:txBody>
                  <a:tcPr marL="54864" marR="54864" marT="18288" marB="18288" anchor="ctr">
                    <a:solidFill>
                      <a:srgbClr val="FFFFFF"/>
                    </a:solidFill>
                  </a:tcPr>
                </a:tc>
                <a:extLst>
                  <a:ext uri="{0D108BD9-81ED-4DB2-BD59-A6C34878D82A}">
                    <a16:rowId xmlns:a16="http://schemas.microsoft.com/office/drawing/2014/main" val="10001"/>
                  </a:ext>
                </a:extLst>
              </a:tr>
              <a:tr h="329184">
                <a:tc>
                  <a:txBody>
                    <a:bodyPr/>
                    <a:lstStyle/>
                    <a:p>
                      <a:pPr algn="l"/>
                      <a:r>
                        <a:rPr sz="880" b="1">
                          <a:solidFill>
                            <a:srgbClr val="222222"/>
                          </a:solidFill>
                          <a:latin typeface="맑은 고딕"/>
                        </a:rPr>
                        <a:t>위험도 분포</a:t>
                      </a:r>
                    </a:p>
                  </a:txBody>
                  <a:tcPr marL="54864" marR="54864" marT="18288" marB="18288" anchor="ctr">
                    <a:solidFill>
                      <a:srgbClr val="F4F7FC"/>
                    </a:solidFill>
                  </a:tcPr>
                </a:tc>
                <a:tc>
                  <a:txBody>
                    <a:bodyPr/>
                    <a:lstStyle/>
                    <a:p>
                      <a:pPr algn="l"/>
                      <a:r>
                        <a:rPr sz="880" b="0">
                          <a:solidFill>
                            <a:srgbClr val="222222"/>
                          </a:solidFill>
                          <a:latin typeface="맑은 고딕"/>
                        </a:rPr>
                        <a:t>정상·주의·경고·위험 구간 배터리 분포</a:t>
                      </a:r>
                    </a:p>
                  </a:txBody>
                  <a:tcPr marL="54864" marR="54864" marT="18288" marB="18288" anchor="ctr">
                    <a:solidFill>
                      <a:srgbClr val="F4F7FC"/>
                    </a:solidFill>
                  </a:tcPr>
                </a:tc>
                <a:extLst>
                  <a:ext uri="{0D108BD9-81ED-4DB2-BD59-A6C34878D82A}">
                    <a16:rowId xmlns:a16="http://schemas.microsoft.com/office/drawing/2014/main" val="10002"/>
                  </a:ext>
                </a:extLst>
              </a:tr>
              <a:tr h="329184">
                <a:tc>
                  <a:txBody>
                    <a:bodyPr/>
                    <a:lstStyle/>
                    <a:p>
                      <a:pPr algn="l"/>
                      <a:r>
                        <a:rPr sz="880" b="1">
                          <a:solidFill>
                            <a:srgbClr val="222222"/>
                          </a:solidFill>
                          <a:latin typeface="맑은 고딕"/>
                        </a:rPr>
                        <a:t>이상 근거(XAI)</a:t>
                      </a:r>
                    </a:p>
                  </a:txBody>
                  <a:tcPr marL="54864" marR="54864" marT="18288" marB="18288" anchor="ctr">
                    <a:solidFill>
                      <a:srgbClr val="FFFFFF"/>
                    </a:solidFill>
                  </a:tcPr>
                </a:tc>
                <a:tc>
                  <a:txBody>
                    <a:bodyPr/>
                    <a:lstStyle/>
                    <a:p>
                      <a:pPr algn="l"/>
                      <a:r>
                        <a:rPr sz="880" b="0">
                          <a:solidFill>
                            <a:srgbClr val="222222"/>
                          </a:solidFill>
                          <a:latin typeface="맑은 고딕"/>
                        </a:rPr>
                        <a:t>dT/dt · gas_raw · V_drop 등 기여 요인 표시</a:t>
                      </a:r>
                    </a:p>
                  </a:txBody>
                  <a:tcPr marL="54864" marR="54864" marT="18288" marB="18288" anchor="ctr">
                    <a:solidFill>
                      <a:srgbClr val="FFFFFF"/>
                    </a:solidFill>
                  </a:tcPr>
                </a:tc>
                <a:extLst>
                  <a:ext uri="{0D108BD9-81ED-4DB2-BD59-A6C34878D82A}">
                    <a16:rowId xmlns:a16="http://schemas.microsoft.com/office/drawing/2014/main" val="10003"/>
                  </a:ext>
                </a:extLst>
              </a:tr>
              <a:tr h="329184">
                <a:tc>
                  <a:txBody>
                    <a:bodyPr/>
                    <a:lstStyle/>
                    <a:p>
                      <a:pPr algn="l"/>
                      <a:r>
                        <a:rPr sz="880" b="1">
                          <a:solidFill>
                            <a:srgbClr val="222222"/>
                          </a:solidFill>
                          <a:latin typeface="맑은 고딕"/>
                        </a:rPr>
                        <a:t>활성 이상 이벤트 목록</a:t>
                      </a:r>
                    </a:p>
                  </a:txBody>
                  <a:tcPr marL="54864" marR="54864" marT="18288" marB="18288" anchor="ctr">
                    <a:solidFill>
                      <a:srgbClr val="F4F7FC"/>
                    </a:solidFill>
                  </a:tcPr>
                </a:tc>
                <a:tc>
                  <a:txBody>
                    <a:bodyPr/>
                    <a:lstStyle/>
                    <a:p>
                      <a:pPr algn="l"/>
                      <a:r>
                        <a:rPr sz="880" b="0">
                          <a:solidFill>
                            <a:srgbClr val="222222"/>
                          </a:solidFill>
                          <a:latin typeface="맑은 고딕"/>
                        </a:rPr>
                        <a:t>이벤트별 배터리·이상점수·상세 진입</a:t>
                      </a:r>
                    </a:p>
                  </a:txBody>
                  <a:tcPr marL="54864" marR="54864" marT="18288" marB="18288" anchor="ctr">
                    <a:solidFill>
                      <a:srgbClr val="F4F7FC"/>
                    </a:solidFill>
                  </a:tcPr>
                </a:tc>
                <a:extLst>
                  <a:ext uri="{0D108BD9-81ED-4DB2-BD59-A6C34878D82A}">
                    <a16:rowId xmlns:a16="http://schemas.microsoft.com/office/drawing/2014/main" val="10004"/>
                  </a:ext>
                </a:extLst>
              </a:tr>
            </a:tbl>
          </a:graphicData>
        </a:graphic>
      </p:graphicFrame>
      <p:pic>
        <p:nvPicPr>
          <p:cNvPr id="37" name="Picture 36" descr="sc_usr_04.png"/>
          <p:cNvPicPr>
            <a:picLocks noChangeAspect="1"/>
          </p:cNvPicPr>
          <p:nvPr/>
        </p:nvPicPr>
        <p:blipFill>
          <a:blip r:embed="rId4"/>
          <a:stretch>
            <a:fillRect/>
          </a:stretch>
        </p:blipFill>
        <p:spPr>
          <a:xfrm>
            <a:off x="365760" y="1645920"/>
            <a:ext cx="5074920" cy="2854642"/>
          </a:xfrm>
          <a:prstGeom prst="rect">
            <a:avLst/>
          </a:prstGeom>
        </p:spPr>
      </p:pic>
    </p:spTree>
    <p:extLst>
      <p:ext uri="{BB962C8B-B14F-4D97-AF65-F5344CB8AC3E}">
        <p14:creationId xmlns:p14="http://schemas.microsoft.com/office/powerpoint/2010/main" val="26913126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직사각형 23"/>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5" name="직선 연결선 24"/>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 name="직선 연결선 25"/>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7"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화면 설계서</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29"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2" name="막힌 원호 31"/>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그림 2">
            <a:extLst>
              <a:ext uri="{FF2B5EF4-FFF2-40B4-BE49-F238E27FC236}">
                <a16:creationId xmlns:a16="http://schemas.microsoft.com/office/drawing/2014/main" id="{8288A362-2DD3-2E35-EAA8-EEEDCA3513E5}"/>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33" name="TextBox 32"/>
          <p:cNvSpPr txBox="1"/>
          <p:nvPr/>
        </p:nvSpPr>
        <p:spPr>
          <a:xfrm>
            <a:off x="365760" y="1188720"/>
            <a:ext cx="8412480" cy="310896"/>
          </a:xfrm>
          <a:prstGeom prst="rect">
            <a:avLst/>
          </a:prstGeom>
          <a:noFill/>
        </p:spPr>
        <p:txBody>
          <a:bodyPr wrap="square">
            <a:spAutoFit/>
          </a:bodyPr>
          <a:lstStyle/>
          <a:p>
            <a:r>
              <a:rPr sz="1400" b="1">
                <a:solidFill>
                  <a:srgbClr val="3B5AA8"/>
                </a:solidFill>
                <a:latin typeface="맑은 고딕"/>
              </a:rPr>
              <a:t>SC-USR-05 · 추세 차트</a:t>
            </a:r>
          </a:p>
        </p:txBody>
      </p:sp>
      <p:graphicFrame>
        <p:nvGraphicFramePr>
          <p:cNvPr id="35" name="Table 34"/>
          <p:cNvGraphicFramePr>
            <a:graphicFrameLocks noGrp="1"/>
          </p:cNvGraphicFramePr>
          <p:nvPr/>
        </p:nvGraphicFramePr>
        <p:xfrm>
          <a:off x="5623560" y="1645920"/>
          <a:ext cx="3154680" cy="2852928"/>
        </p:xfrm>
        <a:graphic>
          <a:graphicData uri="http://schemas.openxmlformats.org/drawingml/2006/table">
            <a:tbl>
              <a:tblPr>
                <a:tableStyleId>{5C22544A-7EE6-4342-B048-85BDC9FD1C3A}</a:tableStyleId>
              </a:tblPr>
              <a:tblGrid>
                <a:gridCol w="932688">
                  <a:extLst>
                    <a:ext uri="{9D8B030D-6E8A-4147-A177-3AD203B41FA5}">
                      <a16:colId xmlns:a16="http://schemas.microsoft.com/office/drawing/2014/main" val="20000"/>
                    </a:ext>
                  </a:extLst>
                </a:gridCol>
                <a:gridCol w="2221992">
                  <a:extLst>
                    <a:ext uri="{9D8B030D-6E8A-4147-A177-3AD203B41FA5}">
                      <a16:colId xmlns:a16="http://schemas.microsoft.com/office/drawing/2014/main" val="20001"/>
                    </a:ext>
                  </a:extLst>
                </a:gridCol>
              </a:tblGrid>
              <a:tr h="310896">
                <a:tc>
                  <a:txBody>
                    <a:bodyPr/>
                    <a:lstStyle/>
                    <a:p>
                      <a:pPr algn="ctr"/>
                      <a:r>
                        <a:rPr sz="880" b="1">
                          <a:solidFill>
                            <a:srgbClr val="3B5AA8"/>
                          </a:solidFill>
                          <a:latin typeface="맑은 고딕"/>
                        </a:rPr>
                        <a:t>화면 ID</a:t>
                      </a:r>
                    </a:p>
                  </a:txBody>
                  <a:tcPr marL="54864" marR="54864" marT="18288" marB="18288" anchor="ctr">
                    <a:solidFill>
                      <a:srgbClr val="E2EBFC"/>
                    </a:solidFill>
                  </a:tcPr>
                </a:tc>
                <a:tc>
                  <a:txBody>
                    <a:bodyPr/>
                    <a:lstStyle/>
                    <a:p>
                      <a:pPr algn="l"/>
                      <a:r>
                        <a:rPr sz="860" b="0">
                          <a:solidFill>
                            <a:srgbClr val="222222"/>
                          </a:solidFill>
                          <a:latin typeface="맑은 고딕"/>
                        </a:rPr>
                        <a:t>SC-USR-05</a:t>
                      </a:r>
                    </a:p>
                  </a:txBody>
                  <a:tcPr marL="54864" marR="54864" marT="18288" marB="18288" anchor="ctr">
                    <a:solidFill>
                      <a:srgbClr val="FFFFFF"/>
                    </a:solidFill>
                  </a:tcPr>
                </a:tc>
                <a:extLst>
                  <a:ext uri="{0D108BD9-81ED-4DB2-BD59-A6C34878D82A}">
                    <a16:rowId xmlns:a16="http://schemas.microsoft.com/office/drawing/2014/main" val="10000"/>
                  </a:ext>
                </a:extLst>
              </a:tr>
              <a:tr h="310896">
                <a:tc>
                  <a:txBody>
                    <a:bodyPr/>
                    <a:lstStyle/>
                    <a:p>
                      <a:pPr algn="ctr"/>
                      <a:r>
                        <a:rPr sz="880" b="1">
                          <a:solidFill>
                            <a:srgbClr val="3B5AA8"/>
                          </a:solidFill>
                          <a:latin typeface="맑은 고딕"/>
                        </a:rPr>
                        <a:t>화면명</a:t>
                      </a:r>
                    </a:p>
                  </a:txBody>
                  <a:tcPr marL="54864" marR="54864" marT="18288" marB="18288" anchor="ctr">
                    <a:solidFill>
                      <a:srgbClr val="E2EBFC"/>
                    </a:solidFill>
                  </a:tcPr>
                </a:tc>
                <a:tc>
                  <a:txBody>
                    <a:bodyPr/>
                    <a:lstStyle/>
                    <a:p>
                      <a:pPr algn="l"/>
                      <a:r>
                        <a:rPr sz="860" b="0">
                          <a:solidFill>
                            <a:srgbClr val="222222"/>
                          </a:solidFill>
                          <a:latin typeface="맑은 고딕"/>
                        </a:rPr>
                        <a:t>추세 차트</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ctr"/>
                      <a:r>
                        <a:rPr sz="880" b="1">
                          <a:solidFill>
                            <a:srgbClr val="3B5AA8"/>
                          </a:solidFill>
                          <a:latin typeface="맑은 고딕"/>
                        </a:rPr>
                        <a:t>사용자</a:t>
                      </a:r>
                    </a:p>
                  </a:txBody>
                  <a:tcPr marL="54864" marR="54864" marT="18288" marB="18288" anchor="ctr">
                    <a:solidFill>
                      <a:srgbClr val="E2EBFC"/>
                    </a:solidFill>
                  </a:tcPr>
                </a:tc>
                <a:tc>
                  <a:txBody>
                    <a:bodyPr/>
                    <a:lstStyle/>
                    <a:p>
                      <a:pPr algn="l"/>
                      <a:r>
                        <a:rPr sz="860" b="0">
                          <a:solidFill>
                            <a:srgbClr val="222222"/>
                          </a:solidFill>
                          <a:latin typeface="맑은 고딕"/>
                        </a:rPr>
                        <a:t>일반 사용자</a:t>
                      </a:r>
                    </a:p>
                  </a:txBody>
                  <a:tcPr marL="54864" marR="54864" marT="18288" marB="18288" anchor="ctr">
                    <a:solidFill>
                      <a:srgbClr val="FFFFFF"/>
                    </a:solidFill>
                  </a:tcPr>
                </a:tc>
                <a:extLst>
                  <a:ext uri="{0D108BD9-81ED-4DB2-BD59-A6C34878D82A}">
                    <a16:rowId xmlns:a16="http://schemas.microsoft.com/office/drawing/2014/main" val="10002"/>
                  </a:ext>
                </a:extLst>
              </a:tr>
              <a:tr h="384048">
                <a:tc>
                  <a:txBody>
                    <a:bodyPr/>
                    <a:lstStyle/>
                    <a:p>
                      <a:pPr algn="ctr"/>
                      <a:r>
                        <a:rPr sz="880" b="1">
                          <a:solidFill>
                            <a:srgbClr val="3B5AA8"/>
                          </a:solidFill>
                          <a:latin typeface="맑은 고딕"/>
                        </a:rPr>
                        <a:t>관련 요구사항</a:t>
                      </a:r>
                    </a:p>
                  </a:txBody>
                  <a:tcPr marL="54864" marR="54864" marT="18288" marB="18288" anchor="ctr">
                    <a:solidFill>
                      <a:srgbClr val="E2EBFC"/>
                    </a:solidFill>
                  </a:tcPr>
                </a:tc>
                <a:tc>
                  <a:txBody>
                    <a:bodyPr/>
                    <a:lstStyle/>
                    <a:p>
                      <a:pPr algn="l"/>
                      <a:r>
                        <a:rPr sz="860" b="0">
                          <a:solidFill>
                            <a:srgbClr val="222222"/>
                          </a:solidFill>
                          <a:latin typeface="맑은 고딕"/>
                        </a:rPr>
                        <a:t>REQ-WEB-046 · 047 · 048</a:t>
                      </a:r>
                    </a:p>
                  </a:txBody>
                  <a:tcPr marL="54864" marR="54864" marT="18288" marB="18288" anchor="ctr">
                    <a:solidFill>
                      <a:srgbClr val="FFFFFF"/>
                    </a:solidFill>
                  </a:tcPr>
                </a:tc>
                <a:extLst>
                  <a:ext uri="{0D108BD9-81ED-4DB2-BD59-A6C34878D82A}">
                    <a16:rowId xmlns:a16="http://schemas.microsoft.com/office/drawing/2014/main" val="10003"/>
                  </a:ext>
                </a:extLst>
              </a:tr>
              <a:tr h="1536192">
                <a:tc>
                  <a:txBody>
                    <a:bodyPr/>
                    <a:lstStyle/>
                    <a:p>
                      <a:pPr algn="ctr"/>
                      <a:r>
                        <a:rPr sz="880" b="1">
                          <a:solidFill>
                            <a:srgbClr val="3B5AA8"/>
                          </a:solidFill>
                          <a:latin typeface="맑은 고딕"/>
                        </a:rPr>
                        <a:t>화면 설명</a:t>
                      </a:r>
                    </a:p>
                  </a:txBody>
                  <a:tcPr marL="54864" marR="54864" marT="18288" marB="18288" anchor="ctr">
                    <a:solidFill>
                      <a:srgbClr val="E2EBFC"/>
                    </a:solidFill>
                  </a:tcPr>
                </a:tc>
                <a:tc>
                  <a:txBody>
                    <a:bodyPr/>
                    <a:lstStyle/>
                    <a:p>
                      <a:pPr algn="l"/>
                      <a:r>
                        <a:rPr sz="860" b="0">
                          <a:solidFill>
                            <a:srgbClr val="222222"/>
                          </a:solidFill>
                          <a:latin typeface="맑은 고딕"/>
                        </a:rPr>
                        <a:t>전압·전류·온도·SOC 추세를 기간·지표별로 비교 분석하는 화면.</a:t>
                      </a:r>
                    </a:p>
                  </a:txBody>
                  <a:tcPr marL="54864" marR="54864" marT="18288" marB="18288">
                    <a:solidFill>
                      <a:srgbClr val="FFFFFF"/>
                    </a:solidFill>
                  </a:tcPr>
                </a:tc>
                <a:extLst>
                  <a:ext uri="{0D108BD9-81ED-4DB2-BD59-A6C34878D82A}">
                    <a16:rowId xmlns:a16="http://schemas.microsoft.com/office/drawing/2014/main" val="10004"/>
                  </a:ext>
                </a:extLst>
              </a:tr>
            </a:tbl>
          </a:graphicData>
        </a:graphic>
      </p:graphicFrame>
      <p:graphicFrame>
        <p:nvGraphicFramePr>
          <p:cNvPr id="36" name="Table 35"/>
          <p:cNvGraphicFramePr>
            <a:graphicFrameLocks noGrp="1"/>
          </p:cNvGraphicFramePr>
          <p:nvPr/>
        </p:nvGraphicFramePr>
        <p:xfrm>
          <a:off x="365760" y="4736592"/>
          <a:ext cx="8412479" cy="1627632"/>
        </p:xfrm>
        <a:graphic>
          <a:graphicData uri="http://schemas.openxmlformats.org/drawingml/2006/table">
            <a:tbl>
              <a:tblPr>
                <a:tableStyleId>{5C22544A-7EE6-4342-B048-85BDC9FD1C3A}</a:tableStyleId>
              </a:tblPr>
              <a:tblGrid>
                <a:gridCol w="2331720">
                  <a:extLst>
                    <a:ext uri="{9D8B030D-6E8A-4147-A177-3AD203B41FA5}">
                      <a16:colId xmlns:a16="http://schemas.microsoft.com/office/drawing/2014/main" val="20000"/>
                    </a:ext>
                  </a:extLst>
                </a:gridCol>
                <a:gridCol w="6080759">
                  <a:extLst>
                    <a:ext uri="{9D8B030D-6E8A-4147-A177-3AD203B41FA5}">
                      <a16:colId xmlns:a16="http://schemas.microsoft.com/office/drawing/2014/main" val="20001"/>
                    </a:ext>
                  </a:extLst>
                </a:gridCol>
              </a:tblGrid>
              <a:tr h="310896">
                <a:tc>
                  <a:txBody>
                    <a:bodyPr/>
                    <a:lstStyle/>
                    <a:p>
                      <a:pPr algn="ctr"/>
                      <a:r>
                        <a:rPr sz="919" b="1">
                          <a:solidFill>
                            <a:srgbClr val="FFFFFF"/>
                          </a:solidFill>
                          <a:latin typeface="맑은 고딕"/>
                        </a:rPr>
                        <a:t>주요 구성 요소</a:t>
                      </a:r>
                    </a:p>
                  </a:txBody>
                  <a:tcPr marL="54864" marR="54864" marT="18288" marB="18288" anchor="ctr">
                    <a:solidFill>
                      <a:srgbClr val="3B5AA8"/>
                    </a:solidFill>
                  </a:tcPr>
                </a:tc>
                <a:tc>
                  <a:txBody>
                    <a:bodyPr/>
                    <a:lstStyle/>
                    <a:p>
                      <a:pPr algn="ctr"/>
                      <a:r>
                        <a:rPr sz="919" b="1">
                          <a:solidFill>
                            <a:srgbClr val="FFFFFF"/>
                          </a:solidFill>
                          <a:latin typeface="맑은 고딕"/>
                        </a:rPr>
                        <a:t>기능 설명</a:t>
                      </a:r>
                    </a:p>
                  </a:txBody>
                  <a:tcPr marL="54864" marR="54864" marT="18288" marB="18288" anchor="ctr">
                    <a:solidFill>
                      <a:srgbClr val="3B5AA8"/>
                    </a:solidFill>
                  </a:tcPr>
                </a:tc>
                <a:extLst>
                  <a:ext uri="{0D108BD9-81ED-4DB2-BD59-A6C34878D82A}">
                    <a16:rowId xmlns:a16="http://schemas.microsoft.com/office/drawing/2014/main" val="10000"/>
                  </a:ext>
                </a:extLst>
              </a:tr>
              <a:tr h="329184">
                <a:tc>
                  <a:txBody>
                    <a:bodyPr/>
                    <a:lstStyle/>
                    <a:p>
                      <a:pPr algn="l"/>
                      <a:r>
                        <a:rPr sz="880" b="1">
                          <a:solidFill>
                            <a:srgbClr val="222222"/>
                          </a:solidFill>
                          <a:latin typeface="맑은 고딕"/>
                        </a:rPr>
                        <a:t>기간 탭</a:t>
                      </a:r>
                    </a:p>
                  </a:txBody>
                  <a:tcPr marL="54864" marR="54864" marT="18288" marB="18288" anchor="ctr">
                    <a:solidFill>
                      <a:srgbClr val="FFFFFF"/>
                    </a:solidFill>
                  </a:tcPr>
                </a:tc>
                <a:tc>
                  <a:txBody>
                    <a:bodyPr/>
                    <a:lstStyle/>
                    <a:p>
                      <a:pPr algn="l"/>
                      <a:r>
                        <a:rPr sz="880" b="0">
                          <a:solidFill>
                            <a:srgbClr val="222222"/>
                          </a:solidFill>
                          <a:latin typeface="맑은 고딕"/>
                        </a:rPr>
                        <a:t>24시간 · 7일 · 30일 기간 전환</a:t>
                      </a:r>
                    </a:p>
                  </a:txBody>
                  <a:tcPr marL="54864" marR="54864" marT="18288" marB="18288" anchor="ctr">
                    <a:solidFill>
                      <a:srgbClr val="FFFFFF"/>
                    </a:solidFill>
                  </a:tcPr>
                </a:tc>
                <a:extLst>
                  <a:ext uri="{0D108BD9-81ED-4DB2-BD59-A6C34878D82A}">
                    <a16:rowId xmlns:a16="http://schemas.microsoft.com/office/drawing/2014/main" val="10001"/>
                  </a:ext>
                </a:extLst>
              </a:tr>
              <a:tr h="329184">
                <a:tc>
                  <a:txBody>
                    <a:bodyPr/>
                    <a:lstStyle/>
                    <a:p>
                      <a:pPr algn="l"/>
                      <a:r>
                        <a:rPr sz="880" b="1">
                          <a:solidFill>
                            <a:srgbClr val="222222"/>
                          </a:solidFill>
                          <a:latin typeface="맑은 고딕"/>
                        </a:rPr>
                        <a:t>지표별 추세 차트</a:t>
                      </a:r>
                    </a:p>
                  </a:txBody>
                  <a:tcPr marL="54864" marR="54864" marT="18288" marB="18288" anchor="ctr">
                    <a:solidFill>
                      <a:srgbClr val="F4F7FC"/>
                    </a:solidFill>
                  </a:tcPr>
                </a:tc>
                <a:tc>
                  <a:txBody>
                    <a:bodyPr/>
                    <a:lstStyle/>
                    <a:p>
                      <a:pPr algn="l"/>
                      <a:r>
                        <a:rPr sz="880" b="0">
                          <a:solidFill>
                            <a:srgbClr val="222222"/>
                          </a:solidFill>
                          <a:latin typeface="맑은 고딕"/>
                        </a:rPr>
                        <a:t>전압·전류·온도·SOC 4종 그래프</a:t>
                      </a:r>
                    </a:p>
                  </a:txBody>
                  <a:tcPr marL="54864" marR="54864" marT="18288" marB="18288" anchor="ctr">
                    <a:solidFill>
                      <a:srgbClr val="F4F7FC"/>
                    </a:solidFill>
                  </a:tcPr>
                </a:tc>
                <a:extLst>
                  <a:ext uri="{0D108BD9-81ED-4DB2-BD59-A6C34878D82A}">
                    <a16:rowId xmlns:a16="http://schemas.microsoft.com/office/drawing/2014/main" val="10002"/>
                  </a:ext>
                </a:extLst>
              </a:tr>
              <a:tr h="329184">
                <a:tc>
                  <a:txBody>
                    <a:bodyPr/>
                    <a:lstStyle/>
                    <a:p>
                      <a:pPr algn="l"/>
                      <a:r>
                        <a:rPr sz="880" b="1">
                          <a:solidFill>
                            <a:srgbClr val="222222"/>
                          </a:solidFill>
                          <a:latin typeface="맑은 고딕"/>
                        </a:rPr>
                        <a:t>CSV · PDF 내보내기</a:t>
                      </a:r>
                    </a:p>
                  </a:txBody>
                  <a:tcPr marL="54864" marR="54864" marT="18288" marB="18288" anchor="ctr">
                    <a:solidFill>
                      <a:srgbClr val="FFFFFF"/>
                    </a:solidFill>
                  </a:tcPr>
                </a:tc>
                <a:tc>
                  <a:txBody>
                    <a:bodyPr/>
                    <a:lstStyle/>
                    <a:p>
                      <a:pPr algn="l"/>
                      <a:r>
                        <a:rPr sz="880" b="0">
                          <a:solidFill>
                            <a:srgbClr val="222222"/>
                          </a:solidFill>
                          <a:latin typeface="맑은 고딕"/>
                        </a:rPr>
                        <a:t>조회 결과 파일 내보내기</a:t>
                      </a:r>
                    </a:p>
                  </a:txBody>
                  <a:tcPr marL="54864" marR="54864" marT="18288" marB="18288" anchor="ctr">
                    <a:solidFill>
                      <a:srgbClr val="FFFFFF"/>
                    </a:solidFill>
                  </a:tcPr>
                </a:tc>
                <a:extLst>
                  <a:ext uri="{0D108BD9-81ED-4DB2-BD59-A6C34878D82A}">
                    <a16:rowId xmlns:a16="http://schemas.microsoft.com/office/drawing/2014/main" val="10003"/>
                  </a:ext>
                </a:extLst>
              </a:tr>
              <a:tr h="329184">
                <a:tc>
                  <a:txBody>
                    <a:bodyPr/>
                    <a:lstStyle/>
                    <a:p>
                      <a:pPr algn="l"/>
                      <a:r>
                        <a:rPr sz="880" b="1">
                          <a:solidFill>
                            <a:srgbClr val="222222"/>
                          </a:solidFill>
                          <a:latin typeface="맑은 고딕"/>
                        </a:rPr>
                        <a:t>다중 배터리·세션 비교</a:t>
                      </a:r>
                    </a:p>
                  </a:txBody>
                  <a:tcPr marL="54864" marR="54864" marT="18288" marB="18288" anchor="ctr">
                    <a:solidFill>
                      <a:srgbClr val="F4F7FC"/>
                    </a:solidFill>
                  </a:tcPr>
                </a:tc>
                <a:tc>
                  <a:txBody>
                    <a:bodyPr/>
                    <a:lstStyle/>
                    <a:p>
                      <a:pPr algn="l"/>
                      <a:r>
                        <a:rPr sz="880" b="0">
                          <a:solidFill>
                            <a:srgbClr val="222222"/>
                          </a:solidFill>
                          <a:latin typeface="맑은 고딕"/>
                        </a:rPr>
                        <a:t>여러 배터리/세션 추세 겹쳐 보기</a:t>
                      </a:r>
                    </a:p>
                  </a:txBody>
                  <a:tcPr marL="54864" marR="54864" marT="18288" marB="18288" anchor="ctr">
                    <a:solidFill>
                      <a:srgbClr val="F4F7FC"/>
                    </a:solidFill>
                  </a:tcPr>
                </a:tc>
                <a:extLst>
                  <a:ext uri="{0D108BD9-81ED-4DB2-BD59-A6C34878D82A}">
                    <a16:rowId xmlns:a16="http://schemas.microsoft.com/office/drawing/2014/main" val="10004"/>
                  </a:ext>
                </a:extLst>
              </a:tr>
            </a:tbl>
          </a:graphicData>
        </a:graphic>
      </p:graphicFrame>
      <p:pic>
        <p:nvPicPr>
          <p:cNvPr id="37" name="Picture 36" descr="sc_usr_05.png"/>
          <p:cNvPicPr>
            <a:picLocks noChangeAspect="1"/>
          </p:cNvPicPr>
          <p:nvPr/>
        </p:nvPicPr>
        <p:blipFill>
          <a:blip r:embed="rId4"/>
          <a:stretch>
            <a:fillRect/>
          </a:stretch>
        </p:blipFill>
        <p:spPr>
          <a:xfrm>
            <a:off x="365760" y="1645920"/>
            <a:ext cx="5074920" cy="2854642"/>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직사각형 23"/>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5" name="직선 연결선 24"/>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 name="직선 연결선 25"/>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7"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화면 설계서</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29"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2" name="막힌 원호 31"/>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그림 2">
            <a:extLst>
              <a:ext uri="{FF2B5EF4-FFF2-40B4-BE49-F238E27FC236}">
                <a16:creationId xmlns:a16="http://schemas.microsoft.com/office/drawing/2014/main" id="{8288A362-2DD3-2E35-EAA8-EEEDCA3513E5}"/>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33" name="TextBox 32"/>
          <p:cNvSpPr txBox="1"/>
          <p:nvPr/>
        </p:nvSpPr>
        <p:spPr>
          <a:xfrm>
            <a:off x="365760" y="1188720"/>
            <a:ext cx="8412480" cy="310896"/>
          </a:xfrm>
          <a:prstGeom prst="rect">
            <a:avLst/>
          </a:prstGeom>
          <a:noFill/>
        </p:spPr>
        <p:txBody>
          <a:bodyPr wrap="square">
            <a:spAutoFit/>
          </a:bodyPr>
          <a:lstStyle/>
          <a:p>
            <a:r>
              <a:rPr sz="1400" b="1">
                <a:solidFill>
                  <a:srgbClr val="3B5AA8"/>
                </a:solidFill>
                <a:latin typeface="맑은 고딕"/>
              </a:rPr>
              <a:t>SC-USR-06 · 이벤트 이력</a:t>
            </a:r>
          </a:p>
        </p:txBody>
      </p:sp>
      <p:graphicFrame>
        <p:nvGraphicFramePr>
          <p:cNvPr id="35" name="Table 34"/>
          <p:cNvGraphicFramePr>
            <a:graphicFrameLocks noGrp="1"/>
          </p:cNvGraphicFramePr>
          <p:nvPr/>
        </p:nvGraphicFramePr>
        <p:xfrm>
          <a:off x="5623560" y="1645920"/>
          <a:ext cx="3154680" cy="2852928"/>
        </p:xfrm>
        <a:graphic>
          <a:graphicData uri="http://schemas.openxmlformats.org/drawingml/2006/table">
            <a:tbl>
              <a:tblPr>
                <a:tableStyleId>{5C22544A-7EE6-4342-B048-85BDC9FD1C3A}</a:tableStyleId>
              </a:tblPr>
              <a:tblGrid>
                <a:gridCol w="932688">
                  <a:extLst>
                    <a:ext uri="{9D8B030D-6E8A-4147-A177-3AD203B41FA5}">
                      <a16:colId xmlns:a16="http://schemas.microsoft.com/office/drawing/2014/main" val="20000"/>
                    </a:ext>
                  </a:extLst>
                </a:gridCol>
                <a:gridCol w="2221992">
                  <a:extLst>
                    <a:ext uri="{9D8B030D-6E8A-4147-A177-3AD203B41FA5}">
                      <a16:colId xmlns:a16="http://schemas.microsoft.com/office/drawing/2014/main" val="20001"/>
                    </a:ext>
                  </a:extLst>
                </a:gridCol>
              </a:tblGrid>
              <a:tr h="310896">
                <a:tc>
                  <a:txBody>
                    <a:bodyPr/>
                    <a:lstStyle/>
                    <a:p>
                      <a:pPr algn="ctr"/>
                      <a:r>
                        <a:rPr sz="880" b="1">
                          <a:solidFill>
                            <a:srgbClr val="3B5AA8"/>
                          </a:solidFill>
                          <a:latin typeface="맑은 고딕"/>
                        </a:rPr>
                        <a:t>화면 ID</a:t>
                      </a:r>
                    </a:p>
                  </a:txBody>
                  <a:tcPr marL="54864" marR="54864" marT="18288" marB="18288" anchor="ctr">
                    <a:solidFill>
                      <a:srgbClr val="E2EBFC"/>
                    </a:solidFill>
                  </a:tcPr>
                </a:tc>
                <a:tc>
                  <a:txBody>
                    <a:bodyPr/>
                    <a:lstStyle/>
                    <a:p>
                      <a:pPr algn="l"/>
                      <a:r>
                        <a:rPr sz="860" b="0">
                          <a:solidFill>
                            <a:srgbClr val="222222"/>
                          </a:solidFill>
                          <a:latin typeface="맑은 고딕"/>
                        </a:rPr>
                        <a:t>SC-USR-06</a:t>
                      </a:r>
                    </a:p>
                  </a:txBody>
                  <a:tcPr marL="54864" marR="54864" marT="18288" marB="18288" anchor="ctr">
                    <a:solidFill>
                      <a:srgbClr val="FFFFFF"/>
                    </a:solidFill>
                  </a:tcPr>
                </a:tc>
                <a:extLst>
                  <a:ext uri="{0D108BD9-81ED-4DB2-BD59-A6C34878D82A}">
                    <a16:rowId xmlns:a16="http://schemas.microsoft.com/office/drawing/2014/main" val="10000"/>
                  </a:ext>
                </a:extLst>
              </a:tr>
              <a:tr h="310896">
                <a:tc>
                  <a:txBody>
                    <a:bodyPr/>
                    <a:lstStyle/>
                    <a:p>
                      <a:pPr algn="ctr"/>
                      <a:r>
                        <a:rPr sz="880" b="1">
                          <a:solidFill>
                            <a:srgbClr val="3B5AA8"/>
                          </a:solidFill>
                          <a:latin typeface="맑은 고딕"/>
                        </a:rPr>
                        <a:t>화면명</a:t>
                      </a:r>
                    </a:p>
                  </a:txBody>
                  <a:tcPr marL="54864" marR="54864" marT="18288" marB="18288" anchor="ctr">
                    <a:solidFill>
                      <a:srgbClr val="E2EBFC"/>
                    </a:solidFill>
                  </a:tcPr>
                </a:tc>
                <a:tc>
                  <a:txBody>
                    <a:bodyPr/>
                    <a:lstStyle/>
                    <a:p>
                      <a:pPr algn="l"/>
                      <a:r>
                        <a:rPr sz="860" b="0">
                          <a:solidFill>
                            <a:srgbClr val="222222"/>
                          </a:solidFill>
                          <a:latin typeface="맑은 고딕"/>
                        </a:rPr>
                        <a:t>이벤트 이력</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ctr"/>
                      <a:r>
                        <a:rPr sz="880" b="1">
                          <a:solidFill>
                            <a:srgbClr val="3B5AA8"/>
                          </a:solidFill>
                          <a:latin typeface="맑은 고딕"/>
                        </a:rPr>
                        <a:t>사용자</a:t>
                      </a:r>
                    </a:p>
                  </a:txBody>
                  <a:tcPr marL="54864" marR="54864" marT="18288" marB="18288" anchor="ctr">
                    <a:solidFill>
                      <a:srgbClr val="E2EBFC"/>
                    </a:solidFill>
                  </a:tcPr>
                </a:tc>
                <a:tc>
                  <a:txBody>
                    <a:bodyPr/>
                    <a:lstStyle/>
                    <a:p>
                      <a:pPr algn="l"/>
                      <a:r>
                        <a:rPr sz="860" b="0">
                          <a:solidFill>
                            <a:srgbClr val="222222"/>
                          </a:solidFill>
                          <a:latin typeface="맑은 고딕"/>
                        </a:rPr>
                        <a:t>일반 사용자</a:t>
                      </a:r>
                    </a:p>
                  </a:txBody>
                  <a:tcPr marL="54864" marR="54864" marT="18288" marB="18288" anchor="ctr">
                    <a:solidFill>
                      <a:srgbClr val="FFFFFF"/>
                    </a:solidFill>
                  </a:tcPr>
                </a:tc>
                <a:extLst>
                  <a:ext uri="{0D108BD9-81ED-4DB2-BD59-A6C34878D82A}">
                    <a16:rowId xmlns:a16="http://schemas.microsoft.com/office/drawing/2014/main" val="10002"/>
                  </a:ext>
                </a:extLst>
              </a:tr>
              <a:tr h="384048">
                <a:tc>
                  <a:txBody>
                    <a:bodyPr/>
                    <a:lstStyle/>
                    <a:p>
                      <a:pPr algn="ctr"/>
                      <a:r>
                        <a:rPr sz="880" b="1">
                          <a:solidFill>
                            <a:srgbClr val="3B5AA8"/>
                          </a:solidFill>
                          <a:latin typeface="맑은 고딕"/>
                        </a:rPr>
                        <a:t>관련 요구사항</a:t>
                      </a:r>
                    </a:p>
                  </a:txBody>
                  <a:tcPr marL="54864" marR="54864" marT="18288" marB="18288" anchor="ctr">
                    <a:solidFill>
                      <a:srgbClr val="E2EBFC"/>
                    </a:solidFill>
                  </a:tcPr>
                </a:tc>
                <a:tc>
                  <a:txBody>
                    <a:bodyPr/>
                    <a:lstStyle/>
                    <a:p>
                      <a:pPr algn="l"/>
                      <a:r>
                        <a:rPr sz="860" b="0">
                          <a:solidFill>
                            <a:srgbClr val="222222"/>
                          </a:solidFill>
                          <a:latin typeface="맑은 고딕"/>
                        </a:rPr>
                        <a:t>REQ-WEB-049 ~ 055</a:t>
                      </a:r>
                    </a:p>
                  </a:txBody>
                  <a:tcPr marL="54864" marR="54864" marT="18288" marB="18288" anchor="ctr">
                    <a:solidFill>
                      <a:srgbClr val="FFFFFF"/>
                    </a:solidFill>
                  </a:tcPr>
                </a:tc>
                <a:extLst>
                  <a:ext uri="{0D108BD9-81ED-4DB2-BD59-A6C34878D82A}">
                    <a16:rowId xmlns:a16="http://schemas.microsoft.com/office/drawing/2014/main" val="10003"/>
                  </a:ext>
                </a:extLst>
              </a:tr>
              <a:tr h="1536192">
                <a:tc>
                  <a:txBody>
                    <a:bodyPr/>
                    <a:lstStyle/>
                    <a:p>
                      <a:pPr algn="ctr"/>
                      <a:r>
                        <a:rPr sz="880" b="1">
                          <a:solidFill>
                            <a:srgbClr val="3B5AA8"/>
                          </a:solidFill>
                          <a:latin typeface="맑은 고딕"/>
                        </a:rPr>
                        <a:t>화면 설명</a:t>
                      </a:r>
                    </a:p>
                  </a:txBody>
                  <a:tcPr marL="54864" marR="54864" marT="18288" marB="18288" anchor="ctr">
                    <a:solidFill>
                      <a:srgbClr val="E2EBFC"/>
                    </a:solidFill>
                  </a:tcPr>
                </a:tc>
                <a:tc>
                  <a:txBody>
                    <a:bodyPr/>
                    <a:lstStyle/>
                    <a:p>
                      <a:pPr algn="l"/>
                      <a:r>
                        <a:rPr sz="860" b="0">
                          <a:solidFill>
                            <a:srgbClr val="222222"/>
                          </a:solidFill>
                          <a:latin typeface="맑은 고딕"/>
                        </a:rPr>
                        <a:t>센서 오류·이상·제어 이벤트 이력을 검색·필터·정렬하고 상세를 조회하는 화면.</a:t>
                      </a:r>
                    </a:p>
                  </a:txBody>
                  <a:tcPr marL="54864" marR="54864" marT="18288" marB="18288">
                    <a:solidFill>
                      <a:srgbClr val="FFFFFF"/>
                    </a:solidFill>
                  </a:tcPr>
                </a:tc>
                <a:extLst>
                  <a:ext uri="{0D108BD9-81ED-4DB2-BD59-A6C34878D82A}">
                    <a16:rowId xmlns:a16="http://schemas.microsoft.com/office/drawing/2014/main" val="10004"/>
                  </a:ext>
                </a:extLst>
              </a:tr>
            </a:tbl>
          </a:graphicData>
        </a:graphic>
      </p:graphicFrame>
      <p:graphicFrame>
        <p:nvGraphicFramePr>
          <p:cNvPr id="36" name="Table 35"/>
          <p:cNvGraphicFramePr>
            <a:graphicFrameLocks noGrp="1"/>
          </p:cNvGraphicFramePr>
          <p:nvPr/>
        </p:nvGraphicFramePr>
        <p:xfrm>
          <a:off x="365760" y="4736592"/>
          <a:ext cx="8412479" cy="1627632"/>
        </p:xfrm>
        <a:graphic>
          <a:graphicData uri="http://schemas.openxmlformats.org/drawingml/2006/table">
            <a:tbl>
              <a:tblPr>
                <a:tableStyleId>{5C22544A-7EE6-4342-B048-85BDC9FD1C3A}</a:tableStyleId>
              </a:tblPr>
              <a:tblGrid>
                <a:gridCol w="2331720">
                  <a:extLst>
                    <a:ext uri="{9D8B030D-6E8A-4147-A177-3AD203B41FA5}">
                      <a16:colId xmlns:a16="http://schemas.microsoft.com/office/drawing/2014/main" val="20000"/>
                    </a:ext>
                  </a:extLst>
                </a:gridCol>
                <a:gridCol w="6080759">
                  <a:extLst>
                    <a:ext uri="{9D8B030D-6E8A-4147-A177-3AD203B41FA5}">
                      <a16:colId xmlns:a16="http://schemas.microsoft.com/office/drawing/2014/main" val="20001"/>
                    </a:ext>
                  </a:extLst>
                </a:gridCol>
              </a:tblGrid>
              <a:tr h="310896">
                <a:tc>
                  <a:txBody>
                    <a:bodyPr/>
                    <a:lstStyle/>
                    <a:p>
                      <a:pPr algn="ctr"/>
                      <a:r>
                        <a:rPr sz="919" b="1">
                          <a:solidFill>
                            <a:srgbClr val="FFFFFF"/>
                          </a:solidFill>
                          <a:latin typeface="맑은 고딕"/>
                        </a:rPr>
                        <a:t>주요 구성 요소</a:t>
                      </a:r>
                    </a:p>
                  </a:txBody>
                  <a:tcPr marL="54864" marR="54864" marT="18288" marB="18288" anchor="ctr">
                    <a:solidFill>
                      <a:srgbClr val="3B5AA8"/>
                    </a:solidFill>
                  </a:tcPr>
                </a:tc>
                <a:tc>
                  <a:txBody>
                    <a:bodyPr/>
                    <a:lstStyle/>
                    <a:p>
                      <a:pPr algn="ctr"/>
                      <a:r>
                        <a:rPr sz="919" b="1">
                          <a:solidFill>
                            <a:srgbClr val="FFFFFF"/>
                          </a:solidFill>
                          <a:latin typeface="맑은 고딕"/>
                        </a:rPr>
                        <a:t>기능 설명</a:t>
                      </a:r>
                    </a:p>
                  </a:txBody>
                  <a:tcPr marL="54864" marR="54864" marT="18288" marB="18288" anchor="ctr">
                    <a:solidFill>
                      <a:srgbClr val="3B5AA8"/>
                    </a:solidFill>
                  </a:tcPr>
                </a:tc>
                <a:extLst>
                  <a:ext uri="{0D108BD9-81ED-4DB2-BD59-A6C34878D82A}">
                    <a16:rowId xmlns:a16="http://schemas.microsoft.com/office/drawing/2014/main" val="10000"/>
                  </a:ext>
                </a:extLst>
              </a:tr>
              <a:tr h="329184">
                <a:tc>
                  <a:txBody>
                    <a:bodyPr/>
                    <a:lstStyle/>
                    <a:p>
                      <a:pPr algn="l"/>
                      <a:r>
                        <a:rPr sz="880" b="1">
                          <a:solidFill>
                            <a:srgbClr val="222222"/>
                          </a:solidFill>
                          <a:latin typeface="맑은 고딕"/>
                        </a:rPr>
                        <a:t>이벤트 검색</a:t>
                      </a:r>
                    </a:p>
                  </a:txBody>
                  <a:tcPr marL="54864" marR="54864" marT="18288" marB="18288" anchor="ctr">
                    <a:solidFill>
                      <a:srgbClr val="FFFFFF"/>
                    </a:solidFill>
                  </a:tcPr>
                </a:tc>
                <a:tc>
                  <a:txBody>
                    <a:bodyPr/>
                    <a:lstStyle/>
                    <a:p>
                      <a:pPr algn="l"/>
                      <a:r>
                        <a:rPr sz="880" b="0">
                          <a:solidFill>
                            <a:srgbClr val="222222"/>
                          </a:solidFill>
                          <a:latin typeface="맑은 고딕"/>
                        </a:rPr>
                        <a:t>검색어로 이벤트 목록 필터링</a:t>
                      </a:r>
                    </a:p>
                  </a:txBody>
                  <a:tcPr marL="54864" marR="54864" marT="18288" marB="18288" anchor="ctr">
                    <a:solidFill>
                      <a:srgbClr val="FFFFFF"/>
                    </a:solidFill>
                  </a:tcPr>
                </a:tc>
                <a:extLst>
                  <a:ext uri="{0D108BD9-81ED-4DB2-BD59-A6C34878D82A}">
                    <a16:rowId xmlns:a16="http://schemas.microsoft.com/office/drawing/2014/main" val="10001"/>
                  </a:ext>
                </a:extLst>
              </a:tr>
              <a:tr h="329184">
                <a:tc>
                  <a:txBody>
                    <a:bodyPr/>
                    <a:lstStyle/>
                    <a:p>
                      <a:pPr algn="l"/>
                      <a:r>
                        <a:rPr sz="880" b="1">
                          <a:solidFill>
                            <a:srgbClr val="222222"/>
                          </a:solidFill>
                          <a:latin typeface="맑은 고딕"/>
                        </a:rPr>
                        <a:t>상태 필터 칩</a:t>
                      </a:r>
                    </a:p>
                  </a:txBody>
                  <a:tcPr marL="54864" marR="54864" marT="18288" marB="18288" anchor="ctr">
                    <a:solidFill>
                      <a:srgbClr val="F4F7FC"/>
                    </a:solidFill>
                  </a:tcPr>
                </a:tc>
                <a:tc>
                  <a:txBody>
                    <a:bodyPr/>
                    <a:lstStyle/>
                    <a:p>
                      <a:pPr algn="l"/>
                      <a:r>
                        <a:rPr sz="880" b="0">
                          <a:solidFill>
                            <a:srgbClr val="222222"/>
                          </a:solidFill>
                          <a:latin typeface="맑은 고딕"/>
                        </a:rPr>
                        <a:t>정상·주의·경고·위험 등 상태 필터</a:t>
                      </a:r>
                    </a:p>
                  </a:txBody>
                  <a:tcPr marL="54864" marR="54864" marT="18288" marB="18288" anchor="ctr">
                    <a:solidFill>
                      <a:srgbClr val="F4F7FC"/>
                    </a:solidFill>
                  </a:tcPr>
                </a:tc>
                <a:extLst>
                  <a:ext uri="{0D108BD9-81ED-4DB2-BD59-A6C34878D82A}">
                    <a16:rowId xmlns:a16="http://schemas.microsoft.com/office/drawing/2014/main" val="10002"/>
                  </a:ext>
                </a:extLst>
              </a:tr>
              <a:tr h="329184">
                <a:tc>
                  <a:txBody>
                    <a:bodyPr/>
                    <a:lstStyle/>
                    <a:p>
                      <a:pPr algn="l"/>
                      <a:r>
                        <a:rPr sz="880" b="1">
                          <a:solidFill>
                            <a:srgbClr val="222222"/>
                          </a:solidFill>
                          <a:latin typeface="맑은 고딕"/>
                        </a:rPr>
                        <a:t>이벤트 목록</a:t>
                      </a:r>
                    </a:p>
                  </a:txBody>
                  <a:tcPr marL="54864" marR="54864" marT="18288" marB="18288" anchor="ctr">
                    <a:solidFill>
                      <a:srgbClr val="FFFFFF"/>
                    </a:solidFill>
                  </a:tcPr>
                </a:tc>
                <a:tc>
                  <a:txBody>
                    <a:bodyPr/>
                    <a:lstStyle/>
                    <a:p>
                      <a:pPr algn="l"/>
                      <a:r>
                        <a:rPr sz="880" b="0">
                          <a:solidFill>
                            <a:srgbClr val="222222"/>
                          </a:solidFill>
                          <a:latin typeface="맑은 고딕"/>
                        </a:rPr>
                        <a:t>시간·이벤트·배터리·이상점수·상태 표시</a:t>
                      </a:r>
                    </a:p>
                  </a:txBody>
                  <a:tcPr marL="54864" marR="54864" marT="18288" marB="18288" anchor="ctr">
                    <a:solidFill>
                      <a:srgbClr val="FFFFFF"/>
                    </a:solidFill>
                  </a:tcPr>
                </a:tc>
                <a:extLst>
                  <a:ext uri="{0D108BD9-81ED-4DB2-BD59-A6C34878D82A}">
                    <a16:rowId xmlns:a16="http://schemas.microsoft.com/office/drawing/2014/main" val="10003"/>
                  </a:ext>
                </a:extLst>
              </a:tr>
              <a:tr h="329184">
                <a:tc>
                  <a:txBody>
                    <a:bodyPr/>
                    <a:lstStyle/>
                    <a:p>
                      <a:pPr algn="l"/>
                      <a:r>
                        <a:rPr sz="880" b="1">
                          <a:solidFill>
                            <a:srgbClr val="222222"/>
                          </a:solidFill>
                          <a:latin typeface="맑은 고딕"/>
                        </a:rPr>
                        <a:t>정렬 · 페이지네이션</a:t>
                      </a:r>
                    </a:p>
                  </a:txBody>
                  <a:tcPr marL="54864" marR="54864" marT="18288" marB="18288" anchor="ctr">
                    <a:solidFill>
                      <a:srgbClr val="F4F7FC"/>
                    </a:solidFill>
                  </a:tcPr>
                </a:tc>
                <a:tc>
                  <a:txBody>
                    <a:bodyPr/>
                    <a:lstStyle/>
                    <a:p>
                      <a:pPr algn="l"/>
                      <a:r>
                        <a:rPr sz="880" b="0">
                          <a:solidFill>
                            <a:srgbClr val="222222"/>
                          </a:solidFill>
                          <a:latin typeface="맑은 고딕"/>
                        </a:rPr>
                        <a:t>정렬 기준 선택, 목록 페이지 이동</a:t>
                      </a:r>
                    </a:p>
                  </a:txBody>
                  <a:tcPr marL="54864" marR="54864" marT="18288" marB="18288" anchor="ctr">
                    <a:solidFill>
                      <a:srgbClr val="F4F7FC"/>
                    </a:solidFill>
                  </a:tcPr>
                </a:tc>
                <a:extLst>
                  <a:ext uri="{0D108BD9-81ED-4DB2-BD59-A6C34878D82A}">
                    <a16:rowId xmlns:a16="http://schemas.microsoft.com/office/drawing/2014/main" val="10004"/>
                  </a:ext>
                </a:extLst>
              </a:tr>
            </a:tbl>
          </a:graphicData>
        </a:graphic>
      </p:graphicFrame>
      <p:pic>
        <p:nvPicPr>
          <p:cNvPr id="37" name="Picture 36" descr="sc_usr_06.png"/>
          <p:cNvPicPr>
            <a:picLocks noChangeAspect="1"/>
          </p:cNvPicPr>
          <p:nvPr/>
        </p:nvPicPr>
        <p:blipFill>
          <a:blip r:embed="rId4"/>
          <a:stretch>
            <a:fillRect/>
          </a:stretch>
        </p:blipFill>
        <p:spPr>
          <a:xfrm>
            <a:off x="365760" y="1645920"/>
            <a:ext cx="5074920" cy="2854642"/>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직사각형 23"/>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5" name="직선 연결선 24"/>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 name="직선 연결선 25"/>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7"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화면 설계서</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29"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2" name="막힌 원호 31"/>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그림 2">
            <a:extLst>
              <a:ext uri="{FF2B5EF4-FFF2-40B4-BE49-F238E27FC236}">
                <a16:creationId xmlns:a16="http://schemas.microsoft.com/office/drawing/2014/main" id="{8288A362-2DD3-2E35-EAA8-EEEDCA3513E5}"/>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33" name="TextBox 32"/>
          <p:cNvSpPr txBox="1"/>
          <p:nvPr/>
        </p:nvSpPr>
        <p:spPr>
          <a:xfrm>
            <a:off x="365760" y="1188720"/>
            <a:ext cx="8412480" cy="310896"/>
          </a:xfrm>
          <a:prstGeom prst="rect">
            <a:avLst/>
          </a:prstGeom>
          <a:noFill/>
        </p:spPr>
        <p:txBody>
          <a:bodyPr wrap="square">
            <a:spAutoFit/>
          </a:bodyPr>
          <a:lstStyle/>
          <a:p>
            <a:r>
              <a:rPr sz="1400" b="1">
                <a:solidFill>
                  <a:srgbClr val="3B5AA8"/>
                </a:solidFill>
                <a:latin typeface="맑은 고딕"/>
              </a:rPr>
              <a:t>SC-USR-07 · 알림 센터</a:t>
            </a:r>
          </a:p>
        </p:txBody>
      </p:sp>
      <p:graphicFrame>
        <p:nvGraphicFramePr>
          <p:cNvPr id="35" name="Table 34"/>
          <p:cNvGraphicFramePr>
            <a:graphicFrameLocks noGrp="1"/>
          </p:cNvGraphicFramePr>
          <p:nvPr/>
        </p:nvGraphicFramePr>
        <p:xfrm>
          <a:off x="5623560" y="1645920"/>
          <a:ext cx="3154680" cy="2852928"/>
        </p:xfrm>
        <a:graphic>
          <a:graphicData uri="http://schemas.openxmlformats.org/drawingml/2006/table">
            <a:tbl>
              <a:tblPr>
                <a:tableStyleId>{5C22544A-7EE6-4342-B048-85BDC9FD1C3A}</a:tableStyleId>
              </a:tblPr>
              <a:tblGrid>
                <a:gridCol w="932688">
                  <a:extLst>
                    <a:ext uri="{9D8B030D-6E8A-4147-A177-3AD203B41FA5}">
                      <a16:colId xmlns:a16="http://schemas.microsoft.com/office/drawing/2014/main" val="20000"/>
                    </a:ext>
                  </a:extLst>
                </a:gridCol>
                <a:gridCol w="2221992">
                  <a:extLst>
                    <a:ext uri="{9D8B030D-6E8A-4147-A177-3AD203B41FA5}">
                      <a16:colId xmlns:a16="http://schemas.microsoft.com/office/drawing/2014/main" val="20001"/>
                    </a:ext>
                  </a:extLst>
                </a:gridCol>
              </a:tblGrid>
              <a:tr h="310896">
                <a:tc>
                  <a:txBody>
                    <a:bodyPr/>
                    <a:lstStyle/>
                    <a:p>
                      <a:pPr algn="ctr"/>
                      <a:r>
                        <a:rPr sz="880" b="1">
                          <a:solidFill>
                            <a:srgbClr val="3B5AA8"/>
                          </a:solidFill>
                          <a:latin typeface="맑은 고딕"/>
                        </a:rPr>
                        <a:t>화면 ID</a:t>
                      </a:r>
                    </a:p>
                  </a:txBody>
                  <a:tcPr marL="54864" marR="54864" marT="18288" marB="18288" anchor="ctr">
                    <a:solidFill>
                      <a:srgbClr val="E2EBFC"/>
                    </a:solidFill>
                  </a:tcPr>
                </a:tc>
                <a:tc>
                  <a:txBody>
                    <a:bodyPr/>
                    <a:lstStyle/>
                    <a:p>
                      <a:pPr algn="l"/>
                      <a:r>
                        <a:rPr sz="860" b="0">
                          <a:solidFill>
                            <a:srgbClr val="222222"/>
                          </a:solidFill>
                          <a:latin typeface="맑은 고딕"/>
                        </a:rPr>
                        <a:t>SC-USR-07</a:t>
                      </a:r>
                    </a:p>
                  </a:txBody>
                  <a:tcPr marL="54864" marR="54864" marT="18288" marB="18288" anchor="ctr">
                    <a:solidFill>
                      <a:srgbClr val="FFFFFF"/>
                    </a:solidFill>
                  </a:tcPr>
                </a:tc>
                <a:extLst>
                  <a:ext uri="{0D108BD9-81ED-4DB2-BD59-A6C34878D82A}">
                    <a16:rowId xmlns:a16="http://schemas.microsoft.com/office/drawing/2014/main" val="10000"/>
                  </a:ext>
                </a:extLst>
              </a:tr>
              <a:tr h="310896">
                <a:tc>
                  <a:txBody>
                    <a:bodyPr/>
                    <a:lstStyle/>
                    <a:p>
                      <a:pPr algn="ctr"/>
                      <a:r>
                        <a:rPr sz="880" b="1">
                          <a:solidFill>
                            <a:srgbClr val="3B5AA8"/>
                          </a:solidFill>
                          <a:latin typeface="맑은 고딕"/>
                        </a:rPr>
                        <a:t>화면명</a:t>
                      </a:r>
                    </a:p>
                  </a:txBody>
                  <a:tcPr marL="54864" marR="54864" marT="18288" marB="18288" anchor="ctr">
                    <a:solidFill>
                      <a:srgbClr val="E2EBFC"/>
                    </a:solidFill>
                  </a:tcPr>
                </a:tc>
                <a:tc>
                  <a:txBody>
                    <a:bodyPr/>
                    <a:lstStyle/>
                    <a:p>
                      <a:pPr algn="l"/>
                      <a:r>
                        <a:rPr sz="860" b="0">
                          <a:solidFill>
                            <a:srgbClr val="222222"/>
                          </a:solidFill>
                          <a:latin typeface="맑은 고딕"/>
                        </a:rPr>
                        <a:t>알림 센터</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ctr"/>
                      <a:r>
                        <a:rPr sz="880" b="1">
                          <a:solidFill>
                            <a:srgbClr val="3B5AA8"/>
                          </a:solidFill>
                          <a:latin typeface="맑은 고딕"/>
                        </a:rPr>
                        <a:t>사용자</a:t>
                      </a:r>
                    </a:p>
                  </a:txBody>
                  <a:tcPr marL="54864" marR="54864" marT="18288" marB="18288" anchor="ctr">
                    <a:solidFill>
                      <a:srgbClr val="E2EBFC"/>
                    </a:solidFill>
                  </a:tcPr>
                </a:tc>
                <a:tc>
                  <a:txBody>
                    <a:bodyPr/>
                    <a:lstStyle/>
                    <a:p>
                      <a:pPr algn="l"/>
                      <a:r>
                        <a:rPr sz="860" b="0">
                          <a:solidFill>
                            <a:srgbClr val="222222"/>
                          </a:solidFill>
                          <a:latin typeface="맑은 고딕"/>
                        </a:rPr>
                        <a:t>일반 사용자</a:t>
                      </a:r>
                    </a:p>
                  </a:txBody>
                  <a:tcPr marL="54864" marR="54864" marT="18288" marB="18288" anchor="ctr">
                    <a:solidFill>
                      <a:srgbClr val="FFFFFF"/>
                    </a:solidFill>
                  </a:tcPr>
                </a:tc>
                <a:extLst>
                  <a:ext uri="{0D108BD9-81ED-4DB2-BD59-A6C34878D82A}">
                    <a16:rowId xmlns:a16="http://schemas.microsoft.com/office/drawing/2014/main" val="10002"/>
                  </a:ext>
                </a:extLst>
              </a:tr>
              <a:tr h="384048">
                <a:tc>
                  <a:txBody>
                    <a:bodyPr/>
                    <a:lstStyle/>
                    <a:p>
                      <a:pPr algn="ctr"/>
                      <a:r>
                        <a:rPr sz="880" b="1">
                          <a:solidFill>
                            <a:srgbClr val="3B5AA8"/>
                          </a:solidFill>
                          <a:latin typeface="맑은 고딕"/>
                        </a:rPr>
                        <a:t>관련 요구사항</a:t>
                      </a:r>
                    </a:p>
                  </a:txBody>
                  <a:tcPr marL="54864" marR="54864" marT="18288" marB="18288" anchor="ctr">
                    <a:solidFill>
                      <a:srgbClr val="E2EBFC"/>
                    </a:solidFill>
                  </a:tcPr>
                </a:tc>
                <a:tc>
                  <a:txBody>
                    <a:bodyPr/>
                    <a:lstStyle/>
                    <a:p>
                      <a:pPr algn="l"/>
                      <a:r>
                        <a:rPr sz="860" b="0">
                          <a:solidFill>
                            <a:srgbClr val="222222"/>
                          </a:solidFill>
                          <a:latin typeface="맑은 고딕"/>
                        </a:rPr>
                        <a:t>REQ-WEB-056 · 057 · 058</a:t>
                      </a:r>
                    </a:p>
                  </a:txBody>
                  <a:tcPr marL="54864" marR="54864" marT="18288" marB="18288" anchor="ctr">
                    <a:solidFill>
                      <a:srgbClr val="FFFFFF"/>
                    </a:solidFill>
                  </a:tcPr>
                </a:tc>
                <a:extLst>
                  <a:ext uri="{0D108BD9-81ED-4DB2-BD59-A6C34878D82A}">
                    <a16:rowId xmlns:a16="http://schemas.microsoft.com/office/drawing/2014/main" val="10003"/>
                  </a:ext>
                </a:extLst>
              </a:tr>
              <a:tr h="1536192">
                <a:tc>
                  <a:txBody>
                    <a:bodyPr/>
                    <a:lstStyle/>
                    <a:p>
                      <a:pPr algn="ctr"/>
                      <a:r>
                        <a:rPr sz="880" b="1">
                          <a:solidFill>
                            <a:srgbClr val="3B5AA8"/>
                          </a:solidFill>
                          <a:latin typeface="맑은 고딕"/>
                        </a:rPr>
                        <a:t>화면 설명</a:t>
                      </a:r>
                    </a:p>
                  </a:txBody>
                  <a:tcPr marL="54864" marR="54864" marT="18288" marB="18288" anchor="ctr">
                    <a:solidFill>
                      <a:srgbClr val="E2EBFC"/>
                    </a:solidFill>
                  </a:tcPr>
                </a:tc>
                <a:tc>
                  <a:txBody>
                    <a:bodyPr/>
                    <a:lstStyle/>
                    <a:p>
                      <a:pPr algn="l"/>
                      <a:r>
                        <a:rPr sz="860" b="0">
                          <a:solidFill>
                            <a:srgbClr val="222222"/>
                          </a:solidFill>
                          <a:latin typeface="맑은 고딕"/>
                        </a:rPr>
                        <a:t>인앱·카카오 알림 이력을 확인하고 대응(Ack) 처리하는 화면.</a:t>
                      </a:r>
                    </a:p>
                  </a:txBody>
                  <a:tcPr marL="54864" marR="54864" marT="18288" marB="18288">
                    <a:solidFill>
                      <a:srgbClr val="FFFFFF"/>
                    </a:solidFill>
                  </a:tcPr>
                </a:tc>
                <a:extLst>
                  <a:ext uri="{0D108BD9-81ED-4DB2-BD59-A6C34878D82A}">
                    <a16:rowId xmlns:a16="http://schemas.microsoft.com/office/drawing/2014/main" val="10004"/>
                  </a:ext>
                </a:extLst>
              </a:tr>
            </a:tbl>
          </a:graphicData>
        </a:graphic>
      </p:graphicFrame>
      <p:graphicFrame>
        <p:nvGraphicFramePr>
          <p:cNvPr id="36" name="Table 35"/>
          <p:cNvGraphicFramePr>
            <a:graphicFrameLocks noGrp="1"/>
          </p:cNvGraphicFramePr>
          <p:nvPr/>
        </p:nvGraphicFramePr>
        <p:xfrm>
          <a:off x="365760" y="4736592"/>
          <a:ext cx="8412479" cy="1627632"/>
        </p:xfrm>
        <a:graphic>
          <a:graphicData uri="http://schemas.openxmlformats.org/drawingml/2006/table">
            <a:tbl>
              <a:tblPr>
                <a:tableStyleId>{5C22544A-7EE6-4342-B048-85BDC9FD1C3A}</a:tableStyleId>
              </a:tblPr>
              <a:tblGrid>
                <a:gridCol w="2331720">
                  <a:extLst>
                    <a:ext uri="{9D8B030D-6E8A-4147-A177-3AD203B41FA5}">
                      <a16:colId xmlns:a16="http://schemas.microsoft.com/office/drawing/2014/main" val="20000"/>
                    </a:ext>
                  </a:extLst>
                </a:gridCol>
                <a:gridCol w="6080759">
                  <a:extLst>
                    <a:ext uri="{9D8B030D-6E8A-4147-A177-3AD203B41FA5}">
                      <a16:colId xmlns:a16="http://schemas.microsoft.com/office/drawing/2014/main" val="20001"/>
                    </a:ext>
                  </a:extLst>
                </a:gridCol>
              </a:tblGrid>
              <a:tr h="310896">
                <a:tc>
                  <a:txBody>
                    <a:bodyPr/>
                    <a:lstStyle/>
                    <a:p>
                      <a:pPr algn="ctr"/>
                      <a:r>
                        <a:rPr sz="919" b="1">
                          <a:solidFill>
                            <a:srgbClr val="FFFFFF"/>
                          </a:solidFill>
                          <a:latin typeface="맑은 고딕"/>
                        </a:rPr>
                        <a:t>주요 구성 요소</a:t>
                      </a:r>
                    </a:p>
                  </a:txBody>
                  <a:tcPr marL="54864" marR="54864" marT="18288" marB="18288" anchor="ctr">
                    <a:solidFill>
                      <a:srgbClr val="3B5AA8"/>
                    </a:solidFill>
                  </a:tcPr>
                </a:tc>
                <a:tc>
                  <a:txBody>
                    <a:bodyPr/>
                    <a:lstStyle/>
                    <a:p>
                      <a:pPr algn="ctr"/>
                      <a:r>
                        <a:rPr sz="919" b="1">
                          <a:solidFill>
                            <a:srgbClr val="FFFFFF"/>
                          </a:solidFill>
                          <a:latin typeface="맑은 고딕"/>
                        </a:rPr>
                        <a:t>기능 설명</a:t>
                      </a:r>
                    </a:p>
                  </a:txBody>
                  <a:tcPr marL="54864" marR="54864" marT="18288" marB="18288" anchor="ctr">
                    <a:solidFill>
                      <a:srgbClr val="3B5AA8"/>
                    </a:solidFill>
                  </a:tcPr>
                </a:tc>
                <a:extLst>
                  <a:ext uri="{0D108BD9-81ED-4DB2-BD59-A6C34878D82A}">
                    <a16:rowId xmlns:a16="http://schemas.microsoft.com/office/drawing/2014/main" val="10000"/>
                  </a:ext>
                </a:extLst>
              </a:tr>
              <a:tr h="329184">
                <a:tc>
                  <a:txBody>
                    <a:bodyPr/>
                    <a:lstStyle/>
                    <a:p>
                      <a:pPr algn="l"/>
                      <a:r>
                        <a:rPr sz="880" b="1">
                          <a:solidFill>
                            <a:srgbClr val="222222"/>
                          </a:solidFill>
                          <a:latin typeface="맑은 고딕"/>
                        </a:rPr>
                        <a:t>위험 알림 카드</a:t>
                      </a:r>
                    </a:p>
                  </a:txBody>
                  <a:tcPr marL="54864" marR="54864" marT="18288" marB="18288" anchor="ctr">
                    <a:solidFill>
                      <a:srgbClr val="FFFFFF"/>
                    </a:solidFill>
                  </a:tcPr>
                </a:tc>
                <a:tc>
                  <a:txBody>
                    <a:bodyPr/>
                    <a:lstStyle/>
                    <a:p>
                      <a:pPr algn="l"/>
                      <a:r>
                        <a:rPr sz="880" b="0">
                          <a:solidFill>
                            <a:srgbClr val="222222"/>
                          </a:solidFill>
                          <a:latin typeface="맑은 고딕"/>
                        </a:rPr>
                        <a:t>온도 임계 초과 등 위험 알림과 확인 버튼</a:t>
                      </a:r>
                    </a:p>
                  </a:txBody>
                  <a:tcPr marL="54864" marR="54864" marT="18288" marB="18288" anchor="ctr">
                    <a:solidFill>
                      <a:srgbClr val="FFFFFF"/>
                    </a:solidFill>
                  </a:tcPr>
                </a:tc>
                <a:extLst>
                  <a:ext uri="{0D108BD9-81ED-4DB2-BD59-A6C34878D82A}">
                    <a16:rowId xmlns:a16="http://schemas.microsoft.com/office/drawing/2014/main" val="10001"/>
                  </a:ext>
                </a:extLst>
              </a:tr>
              <a:tr h="329184">
                <a:tc>
                  <a:txBody>
                    <a:bodyPr/>
                    <a:lstStyle/>
                    <a:p>
                      <a:pPr algn="l"/>
                      <a:r>
                        <a:rPr sz="880" b="1">
                          <a:solidFill>
                            <a:srgbClr val="222222"/>
                          </a:solidFill>
                          <a:latin typeface="맑은 고딕"/>
                        </a:rPr>
                        <a:t>알림 이력 목록</a:t>
                      </a:r>
                    </a:p>
                  </a:txBody>
                  <a:tcPr marL="54864" marR="54864" marT="18288" marB="18288" anchor="ctr">
                    <a:solidFill>
                      <a:srgbClr val="F4F7FC"/>
                    </a:solidFill>
                  </a:tcPr>
                </a:tc>
                <a:tc>
                  <a:txBody>
                    <a:bodyPr/>
                    <a:lstStyle/>
                    <a:p>
                      <a:pPr algn="l"/>
                      <a:r>
                        <a:rPr sz="880" b="0">
                          <a:solidFill>
                            <a:srgbClr val="222222"/>
                          </a:solidFill>
                          <a:latin typeface="맑은 고딕"/>
                        </a:rPr>
                        <a:t>발생 시간·채널·확인 상태 표시</a:t>
                      </a:r>
                    </a:p>
                  </a:txBody>
                  <a:tcPr marL="54864" marR="54864" marT="18288" marB="18288" anchor="ctr">
                    <a:solidFill>
                      <a:srgbClr val="F4F7FC"/>
                    </a:solidFill>
                  </a:tcPr>
                </a:tc>
                <a:extLst>
                  <a:ext uri="{0D108BD9-81ED-4DB2-BD59-A6C34878D82A}">
                    <a16:rowId xmlns:a16="http://schemas.microsoft.com/office/drawing/2014/main" val="10002"/>
                  </a:ext>
                </a:extLst>
              </a:tr>
              <a:tr h="329184">
                <a:tc>
                  <a:txBody>
                    <a:bodyPr/>
                    <a:lstStyle/>
                    <a:p>
                      <a:pPr algn="l"/>
                      <a:r>
                        <a:rPr sz="880" b="1">
                          <a:solidFill>
                            <a:srgbClr val="222222"/>
                          </a:solidFill>
                          <a:latin typeface="맑은 고딕"/>
                        </a:rPr>
                        <a:t>모두 확인</a:t>
                      </a:r>
                    </a:p>
                  </a:txBody>
                  <a:tcPr marL="54864" marR="54864" marT="18288" marB="18288" anchor="ctr">
                    <a:solidFill>
                      <a:srgbClr val="FFFFFF"/>
                    </a:solidFill>
                  </a:tcPr>
                </a:tc>
                <a:tc>
                  <a:txBody>
                    <a:bodyPr/>
                    <a:lstStyle/>
                    <a:p>
                      <a:pPr algn="l"/>
                      <a:r>
                        <a:rPr sz="880" b="0">
                          <a:solidFill>
                            <a:srgbClr val="222222"/>
                          </a:solidFill>
                          <a:latin typeface="맑은 고딕"/>
                        </a:rPr>
                        <a:t>미확인 알림 일괄 처리</a:t>
                      </a:r>
                    </a:p>
                  </a:txBody>
                  <a:tcPr marL="54864" marR="54864" marT="18288" marB="18288" anchor="ctr">
                    <a:solidFill>
                      <a:srgbClr val="FFFFFF"/>
                    </a:solidFill>
                  </a:tcPr>
                </a:tc>
                <a:extLst>
                  <a:ext uri="{0D108BD9-81ED-4DB2-BD59-A6C34878D82A}">
                    <a16:rowId xmlns:a16="http://schemas.microsoft.com/office/drawing/2014/main" val="10003"/>
                  </a:ext>
                </a:extLst>
              </a:tr>
              <a:tr h="329184">
                <a:tc>
                  <a:txBody>
                    <a:bodyPr/>
                    <a:lstStyle/>
                    <a:p>
                      <a:pPr algn="l"/>
                      <a:r>
                        <a:rPr sz="880" b="1">
                          <a:solidFill>
                            <a:srgbClr val="222222"/>
                          </a:solidFill>
                          <a:latin typeface="맑은 고딕"/>
                        </a:rPr>
                        <a:t>알림 채널 표시</a:t>
                      </a:r>
                    </a:p>
                  </a:txBody>
                  <a:tcPr marL="54864" marR="54864" marT="18288" marB="18288" anchor="ctr">
                    <a:solidFill>
                      <a:srgbClr val="F4F7FC"/>
                    </a:solidFill>
                  </a:tcPr>
                </a:tc>
                <a:tc>
                  <a:txBody>
                    <a:bodyPr/>
                    <a:lstStyle/>
                    <a:p>
                      <a:pPr algn="l"/>
                      <a:r>
                        <a:rPr sz="880" b="0">
                          <a:solidFill>
                            <a:srgbClr val="222222"/>
                          </a:solidFill>
                          <a:latin typeface="맑은 고딕"/>
                        </a:rPr>
                        <a:t>인앱·카카오 등 발송 채널 구분</a:t>
                      </a:r>
                    </a:p>
                  </a:txBody>
                  <a:tcPr marL="54864" marR="54864" marT="18288" marB="18288" anchor="ctr">
                    <a:solidFill>
                      <a:srgbClr val="F4F7FC"/>
                    </a:solidFill>
                  </a:tcPr>
                </a:tc>
                <a:extLst>
                  <a:ext uri="{0D108BD9-81ED-4DB2-BD59-A6C34878D82A}">
                    <a16:rowId xmlns:a16="http://schemas.microsoft.com/office/drawing/2014/main" val="10004"/>
                  </a:ext>
                </a:extLst>
              </a:tr>
            </a:tbl>
          </a:graphicData>
        </a:graphic>
      </p:graphicFrame>
      <p:pic>
        <p:nvPicPr>
          <p:cNvPr id="37" name="Picture 36" descr="sc_usr_07.png"/>
          <p:cNvPicPr>
            <a:picLocks noChangeAspect="1"/>
          </p:cNvPicPr>
          <p:nvPr/>
        </p:nvPicPr>
        <p:blipFill>
          <a:blip r:embed="rId4"/>
          <a:stretch>
            <a:fillRect/>
          </a:stretch>
        </p:blipFill>
        <p:spPr>
          <a:xfrm>
            <a:off x="365760" y="1645920"/>
            <a:ext cx="5074920" cy="2854642"/>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직사각형 23"/>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5" name="직선 연결선 24"/>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 name="직선 연결선 25"/>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7"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화면 설계서</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29"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2" name="막힌 원호 31"/>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그림 2">
            <a:extLst>
              <a:ext uri="{FF2B5EF4-FFF2-40B4-BE49-F238E27FC236}">
                <a16:creationId xmlns:a16="http://schemas.microsoft.com/office/drawing/2014/main" id="{8288A362-2DD3-2E35-EAA8-EEEDCA3513E5}"/>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33" name="TextBox 32"/>
          <p:cNvSpPr txBox="1"/>
          <p:nvPr/>
        </p:nvSpPr>
        <p:spPr>
          <a:xfrm>
            <a:off x="365760" y="1188720"/>
            <a:ext cx="8412480" cy="310896"/>
          </a:xfrm>
          <a:prstGeom prst="rect">
            <a:avLst/>
          </a:prstGeom>
          <a:noFill/>
        </p:spPr>
        <p:txBody>
          <a:bodyPr wrap="square">
            <a:spAutoFit/>
          </a:bodyPr>
          <a:lstStyle/>
          <a:p>
            <a:r>
              <a:rPr sz="1400" b="1">
                <a:solidFill>
                  <a:srgbClr val="3B5AA8"/>
                </a:solidFill>
                <a:latin typeface="맑은 고딕"/>
              </a:rPr>
              <a:t>SC-USR-08 · 설정 · 알림</a:t>
            </a:r>
          </a:p>
        </p:txBody>
      </p:sp>
      <p:graphicFrame>
        <p:nvGraphicFramePr>
          <p:cNvPr id="35" name="Table 34"/>
          <p:cNvGraphicFramePr>
            <a:graphicFrameLocks noGrp="1"/>
          </p:cNvGraphicFramePr>
          <p:nvPr/>
        </p:nvGraphicFramePr>
        <p:xfrm>
          <a:off x="5623560" y="1645920"/>
          <a:ext cx="3154680" cy="2852928"/>
        </p:xfrm>
        <a:graphic>
          <a:graphicData uri="http://schemas.openxmlformats.org/drawingml/2006/table">
            <a:tbl>
              <a:tblPr>
                <a:tableStyleId>{5C22544A-7EE6-4342-B048-85BDC9FD1C3A}</a:tableStyleId>
              </a:tblPr>
              <a:tblGrid>
                <a:gridCol w="932688">
                  <a:extLst>
                    <a:ext uri="{9D8B030D-6E8A-4147-A177-3AD203B41FA5}">
                      <a16:colId xmlns:a16="http://schemas.microsoft.com/office/drawing/2014/main" val="20000"/>
                    </a:ext>
                  </a:extLst>
                </a:gridCol>
                <a:gridCol w="2221992">
                  <a:extLst>
                    <a:ext uri="{9D8B030D-6E8A-4147-A177-3AD203B41FA5}">
                      <a16:colId xmlns:a16="http://schemas.microsoft.com/office/drawing/2014/main" val="20001"/>
                    </a:ext>
                  </a:extLst>
                </a:gridCol>
              </a:tblGrid>
              <a:tr h="310896">
                <a:tc>
                  <a:txBody>
                    <a:bodyPr/>
                    <a:lstStyle/>
                    <a:p>
                      <a:pPr algn="ctr"/>
                      <a:r>
                        <a:rPr sz="880" b="1">
                          <a:solidFill>
                            <a:srgbClr val="3B5AA8"/>
                          </a:solidFill>
                          <a:latin typeface="맑은 고딕"/>
                        </a:rPr>
                        <a:t>화면 ID</a:t>
                      </a:r>
                    </a:p>
                  </a:txBody>
                  <a:tcPr marL="54864" marR="54864" marT="18288" marB="18288" anchor="ctr">
                    <a:solidFill>
                      <a:srgbClr val="E2EBFC"/>
                    </a:solidFill>
                  </a:tcPr>
                </a:tc>
                <a:tc>
                  <a:txBody>
                    <a:bodyPr/>
                    <a:lstStyle/>
                    <a:p>
                      <a:pPr algn="l"/>
                      <a:r>
                        <a:rPr sz="860" b="0">
                          <a:solidFill>
                            <a:srgbClr val="222222"/>
                          </a:solidFill>
                          <a:latin typeface="맑은 고딕"/>
                        </a:rPr>
                        <a:t>SC-USR-08</a:t>
                      </a:r>
                    </a:p>
                  </a:txBody>
                  <a:tcPr marL="54864" marR="54864" marT="18288" marB="18288" anchor="ctr">
                    <a:solidFill>
                      <a:srgbClr val="FFFFFF"/>
                    </a:solidFill>
                  </a:tcPr>
                </a:tc>
                <a:extLst>
                  <a:ext uri="{0D108BD9-81ED-4DB2-BD59-A6C34878D82A}">
                    <a16:rowId xmlns:a16="http://schemas.microsoft.com/office/drawing/2014/main" val="10000"/>
                  </a:ext>
                </a:extLst>
              </a:tr>
              <a:tr h="310896">
                <a:tc>
                  <a:txBody>
                    <a:bodyPr/>
                    <a:lstStyle/>
                    <a:p>
                      <a:pPr algn="ctr"/>
                      <a:r>
                        <a:rPr sz="880" b="1">
                          <a:solidFill>
                            <a:srgbClr val="3B5AA8"/>
                          </a:solidFill>
                          <a:latin typeface="맑은 고딕"/>
                        </a:rPr>
                        <a:t>화면명</a:t>
                      </a:r>
                    </a:p>
                  </a:txBody>
                  <a:tcPr marL="54864" marR="54864" marT="18288" marB="18288" anchor="ctr">
                    <a:solidFill>
                      <a:srgbClr val="E2EBFC"/>
                    </a:solidFill>
                  </a:tcPr>
                </a:tc>
                <a:tc>
                  <a:txBody>
                    <a:bodyPr/>
                    <a:lstStyle/>
                    <a:p>
                      <a:pPr algn="l"/>
                      <a:r>
                        <a:rPr sz="860" b="0">
                          <a:solidFill>
                            <a:srgbClr val="222222"/>
                          </a:solidFill>
                          <a:latin typeface="맑은 고딕"/>
                        </a:rPr>
                        <a:t>설정 · 알림</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ctr"/>
                      <a:r>
                        <a:rPr sz="880" b="1">
                          <a:solidFill>
                            <a:srgbClr val="3B5AA8"/>
                          </a:solidFill>
                          <a:latin typeface="맑은 고딕"/>
                        </a:rPr>
                        <a:t>사용자</a:t>
                      </a:r>
                    </a:p>
                  </a:txBody>
                  <a:tcPr marL="54864" marR="54864" marT="18288" marB="18288" anchor="ctr">
                    <a:solidFill>
                      <a:srgbClr val="E2EBFC"/>
                    </a:solidFill>
                  </a:tcPr>
                </a:tc>
                <a:tc>
                  <a:txBody>
                    <a:bodyPr/>
                    <a:lstStyle/>
                    <a:p>
                      <a:pPr algn="l"/>
                      <a:r>
                        <a:rPr sz="860" b="0">
                          <a:solidFill>
                            <a:srgbClr val="222222"/>
                          </a:solidFill>
                          <a:latin typeface="맑은 고딕"/>
                        </a:rPr>
                        <a:t>일반 사용자</a:t>
                      </a:r>
                    </a:p>
                  </a:txBody>
                  <a:tcPr marL="54864" marR="54864" marT="18288" marB="18288" anchor="ctr">
                    <a:solidFill>
                      <a:srgbClr val="FFFFFF"/>
                    </a:solidFill>
                  </a:tcPr>
                </a:tc>
                <a:extLst>
                  <a:ext uri="{0D108BD9-81ED-4DB2-BD59-A6C34878D82A}">
                    <a16:rowId xmlns:a16="http://schemas.microsoft.com/office/drawing/2014/main" val="10002"/>
                  </a:ext>
                </a:extLst>
              </a:tr>
              <a:tr h="384048">
                <a:tc>
                  <a:txBody>
                    <a:bodyPr/>
                    <a:lstStyle/>
                    <a:p>
                      <a:pPr algn="ctr"/>
                      <a:r>
                        <a:rPr sz="880" b="1">
                          <a:solidFill>
                            <a:srgbClr val="3B5AA8"/>
                          </a:solidFill>
                          <a:latin typeface="맑은 고딕"/>
                        </a:rPr>
                        <a:t>관련 요구사항</a:t>
                      </a:r>
                    </a:p>
                  </a:txBody>
                  <a:tcPr marL="54864" marR="54864" marT="18288" marB="18288" anchor="ctr">
                    <a:solidFill>
                      <a:srgbClr val="E2EBFC"/>
                    </a:solidFill>
                  </a:tcPr>
                </a:tc>
                <a:tc>
                  <a:txBody>
                    <a:bodyPr/>
                    <a:lstStyle/>
                    <a:p>
                      <a:pPr algn="l"/>
                      <a:r>
                        <a:rPr sz="860" b="0">
                          <a:solidFill>
                            <a:srgbClr val="222222"/>
                          </a:solidFill>
                          <a:latin typeface="맑은 고딕"/>
                        </a:rPr>
                        <a:t>REQ-WEB-065 · 066 · 070</a:t>
                      </a:r>
                    </a:p>
                  </a:txBody>
                  <a:tcPr marL="54864" marR="54864" marT="18288" marB="18288" anchor="ctr">
                    <a:solidFill>
                      <a:srgbClr val="FFFFFF"/>
                    </a:solidFill>
                  </a:tcPr>
                </a:tc>
                <a:extLst>
                  <a:ext uri="{0D108BD9-81ED-4DB2-BD59-A6C34878D82A}">
                    <a16:rowId xmlns:a16="http://schemas.microsoft.com/office/drawing/2014/main" val="10003"/>
                  </a:ext>
                </a:extLst>
              </a:tr>
              <a:tr h="1536192">
                <a:tc>
                  <a:txBody>
                    <a:bodyPr/>
                    <a:lstStyle/>
                    <a:p>
                      <a:pPr algn="ctr"/>
                      <a:r>
                        <a:rPr sz="880" b="1">
                          <a:solidFill>
                            <a:srgbClr val="3B5AA8"/>
                          </a:solidFill>
                          <a:latin typeface="맑은 고딕"/>
                        </a:rPr>
                        <a:t>화면 설명</a:t>
                      </a:r>
                    </a:p>
                  </a:txBody>
                  <a:tcPr marL="54864" marR="54864" marT="18288" marB="18288" anchor="ctr">
                    <a:solidFill>
                      <a:srgbClr val="E2EBFC"/>
                    </a:solidFill>
                  </a:tcPr>
                </a:tc>
                <a:tc>
                  <a:txBody>
                    <a:bodyPr/>
                    <a:lstStyle/>
                    <a:p>
                      <a:pPr algn="l"/>
                      <a:r>
                        <a:rPr sz="860" b="0">
                          <a:solidFill>
                            <a:srgbClr val="222222"/>
                          </a:solidFill>
                          <a:latin typeface="맑은 고딕"/>
                        </a:rPr>
                        <a:t>알림 수신·테마를 설정하는 화면.</a:t>
                      </a:r>
                    </a:p>
                  </a:txBody>
                  <a:tcPr marL="54864" marR="54864" marT="18288" marB="18288">
                    <a:solidFill>
                      <a:srgbClr val="FFFFFF"/>
                    </a:solidFill>
                  </a:tcPr>
                </a:tc>
                <a:extLst>
                  <a:ext uri="{0D108BD9-81ED-4DB2-BD59-A6C34878D82A}">
                    <a16:rowId xmlns:a16="http://schemas.microsoft.com/office/drawing/2014/main" val="10004"/>
                  </a:ext>
                </a:extLst>
              </a:tr>
            </a:tbl>
          </a:graphicData>
        </a:graphic>
      </p:graphicFrame>
      <p:graphicFrame>
        <p:nvGraphicFramePr>
          <p:cNvPr id="36" name="Table 35"/>
          <p:cNvGraphicFramePr>
            <a:graphicFrameLocks noGrp="1"/>
          </p:cNvGraphicFramePr>
          <p:nvPr/>
        </p:nvGraphicFramePr>
        <p:xfrm>
          <a:off x="365760" y="4736592"/>
          <a:ext cx="8412479" cy="969264"/>
        </p:xfrm>
        <a:graphic>
          <a:graphicData uri="http://schemas.openxmlformats.org/drawingml/2006/table">
            <a:tbl>
              <a:tblPr>
                <a:tableStyleId>{5C22544A-7EE6-4342-B048-85BDC9FD1C3A}</a:tableStyleId>
              </a:tblPr>
              <a:tblGrid>
                <a:gridCol w="2331720">
                  <a:extLst>
                    <a:ext uri="{9D8B030D-6E8A-4147-A177-3AD203B41FA5}">
                      <a16:colId xmlns:a16="http://schemas.microsoft.com/office/drawing/2014/main" val="20000"/>
                    </a:ext>
                  </a:extLst>
                </a:gridCol>
                <a:gridCol w="6080759">
                  <a:extLst>
                    <a:ext uri="{9D8B030D-6E8A-4147-A177-3AD203B41FA5}">
                      <a16:colId xmlns:a16="http://schemas.microsoft.com/office/drawing/2014/main" val="20001"/>
                    </a:ext>
                  </a:extLst>
                </a:gridCol>
              </a:tblGrid>
              <a:tr h="310896">
                <a:tc>
                  <a:txBody>
                    <a:bodyPr/>
                    <a:lstStyle/>
                    <a:p>
                      <a:pPr algn="ctr"/>
                      <a:r>
                        <a:rPr sz="919" b="1">
                          <a:solidFill>
                            <a:srgbClr val="FFFFFF"/>
                          </a:solidFill>
                          <a:latin typeface="맑은 고딕"/>
                        </a:rPr>
                        <a:t>주요 구성 요소</a:t>
                      </a:r>
                    </a:p>
                  </a:txBody>
                  <a:tcPr marL="54864" marR="54864" marT="18288" marB="18288" anchor="ctr">
                    <a:solidFill>
                      <a:srgbClr val="3B5AA8"/>
                    </a:solidFill>
                  </a:tcPr>
                </a:tc>
                <a:tc>
                  <a:txBody>
                    <a:bodyPr/>
                    <a:lstStyle/>
                    <a:p>
                      <a:pPr algn="ctr"/>
                      <a:r>
                        <a:rPr sz="919" b="1">
                          <a:solidFill>
                            <a:srgbClr val="FFFFFF"/>
                          </a:solidFill>
                          <a:latin typeface="맑은 고딕"/>
                        </a:rPr>
                        <a:t>기능 설명</a:t>
                      </a:r>
                    </a:p>
                  </a:txBody>
                  <a:tcPr marL="54864" marR="54864" marT="18288" marB="18288" anchor="ctr">
                    <a:solidFill>
                      <a:srgbClr val="3B5AA8"/>
                    </a:solidFill>
                  </a:tcPr>
                </a:tc>
                <a:extLst>
                  <a:ext uri="{0D108BD9-81ED-4DB2-BD59-A6C34878D82A}">
                    <a16:rowId xmlns:a16="http://schemas.microsoft.com/office/drawing/2014/main" val="10000"/>
                  </a:ext>
                </a:extLst>
              </a:tr>
              <a:tr h="329184">
                <a:tc>
                  <a:txBody>
                    <a:bodyPr/>
                    <a:lstStyle/>
                    <a:p>
                      <a:pPr algn="l"/>
                      <a:r>
                        <a:rPr sz="880" b="1">
                          <a:solidFill>
                            <a:srgbClr val="222222"/>
                          </a:solidFill>
                          <a:latin typeface="맑은 고딕"/>
                        </a:rPr>
                        <a:t>설정 탭</a:t>
                      </a:r>
                    </a:p>
                  </a:txBody>
                  <a:tcPr marL="54864" marR="54864" marT="18288" marB="18288" anchor="ctr">
                    <a:solidFill>
                      <a:srgbClr val="FFFFFF"/>
                    </a:solidFill>
                  </a:tcPr>
                </a:tc>
                <a:tc>
                  <a:txBody>
                    <a:bodyPr/>
                    <a:lstStyle/>
                    <a:p>
                      <a:pPr algn="l"/>
                      <a:r>
                        <a:rPr sz="880" b="0">
                          <a:solidFill>
                            <a:srgbClr val="222222"/>
                          </a:solidFill>
                          <a:latin typeface="맑은 고딕"/>
                        </a:rPr>
                        <a:t>알림 수신 · 계정 · 테마</a:t>
                      </a:r>
                    </a:p>
                  </a:txBody>
                  <a:tcPr marL="54864" marR="54864" marT="18288" marB="18288" anchor="ctr">
                    <a:solidFill>
                      <a:srgbClr val="FFFFFF"/>
                    </a:solidFill>
                  </a:tcPr>
                </a:tc>
                <a:extLst>
                  <a:ext uri="{0D108BD9-81ED-4DB2-BD59-A6C34878D82A}">
                    <a16:rowId xmlns:a16="http://schemas.microsoft.com/office/drawing/2014/main" val="10001"/>
                  </a:ext>
                </a:extLst>
              </a:tr>
              <a:tr h="329184">
                <a:tc>
                  <a:txBody>
                    <a:bodyPr/>
                    <a:lstStyle/>
                    <a:p>
                      <a:pPr algn="l"/>
                      <a:r>
                        <a:rPr sz="880" b="1">
                          <a:solidFill>
                            <a:srgbClr val="222222"/>
                          </a:solidFill>
                          <a:latin typeface="맑은 고딕"/>
                        </a:rPr>
                        <a:t>알림 수신 · 저장</a:t>
                      </a:r>
                    </a:p>
                  </a:txBody>
                  <a:tcPr marL="54864" marR="54864" marT="18288" marB="18288" anchor="ctr">
                    <a:solidFill>
                      <a:srgbClr val="F4F7FC"/>
                    </a:solidFill>
                  </a:tcPr>
                </a:tc>
                <a:tc>
                  <a:txBody>
                    <a:bodyPr/>
                    <a:lstStyle/>
                    <a:p>
                      <a:pPr algn="l"/>
                      <a:r>
                        <a:rPr sz="880" b="0">
                          <a:solidFill>
                            <a:srgbClr val="222222"/>
                          </a:solidFill>
                          <a:latin typeface="맑은 고딕"/>
                        </a:rPr>
                        <a:t>카카오·이메일·웹푸시 토글, 설정 저장</a:t>
                      </a:r>
                    </a:p>
                  </a:txBody>
                  <a:tcPr marL="54864" marR="54864" marT="18288" marB="18288" anchor="ctr">
                    <a:solidFill>
                      <a:srgbClr val="F4F7FC"/>
                    </a:solidFill>
                  </a:tcPr>
                </a:tc>
                <a:extLst>
                  <a:ext uri="{0D108BD9-81ED-4DB2-BD59-A6C34878D82A}">
                    <a16:rowId xmlns:a16="http://schemas.microsoft.com/office/drawing/2014/main" val="10004"/>
                  </a:ext>
                </a:extLst>
              </a:tr>
            </a:tbl>
          </a:graphicData>
        </a:graphic>
      </p:graphicFrame>
      <p:pic>
        <p:nvPicPr>
          <p:cNvPr id="38" name="Picture 37" descr="new_settings_16x9.png"/>
          <p:cNvPicPr>
            <a:picLocks noChangeAspect="1"/>
          </p:cNvPicPr>
          <p:nvPr/>
        </p:nvPicPr>
        <p:blipFill>
          <a:blip r:embed="rId4"/>
          <a:stretch>
            <a:fillRect/>
          </a:stretch>
        </p:blipFill>
        <p:spPr>
          <a:xfrm>
            <a:off x="365760" y="1645920"/>
            <a:ext cx="5074920" cy="2854642"/>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직사각형 23"/>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5" name="직선 연결선 24"/>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 name="직선 연결선 25"/>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7"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화면 설계서</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29"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2" name="막힌 원호 31"/>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그림 2">
            <a:extLst>
              <a:ext uri="{FF2B5EF4-FFF2-40B4-BE49-F238E27FC236}">
                <a16:creationId xmlns:a16="http://schemas.microsoft.com/office/drawing/2014/main" id="{8288A362-2DD3-2E35-EAA8-EEEDCA3513E5}"/>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33" name="TextBox 32"/>
          <p:cNvSpPr txBox="1"/>
          <p:nvPr/>
        </p:nvSpPr>
        <p:spPr>
          <a:xfrm>
            <a:off x="365760" y="1188720"/>
            <a:ext cx="8412480" cy="310896"/>
          </a:xfrm>
          <a:prstGeom prst="rect">
            <a:avLst/>
          </a:prstGeom>
          <a:noFill/>
        </p:spPr>
        <p:txBody>
          <a:bodyPr wrap="square">
            <a:spAutoFit/>
          </a:bodyPr>
          <a:lstStyle/>
          <a:p>
            <a:r>
              <a:rPr sz="1400" b="1">
                <a:solidFill>
                  <a:srgbClr val="3B5AA8"/>
                </a:solidFill>
                <a:latin typeface="맑은 고딕"/>
              </a:rPr>
              <a:t>SC-ADM-01 · 관리자 대시보드</a:t>
            </a:r>
          </a:p>
        </p:txBody>
      </p:sp>
      <p:graphicFrame>
        <p:nvGraphicFramePr>
          <p:cNvPr id="35" name="Table 34"/>
          <p:cNvGraphicFramePr>
            <a:graphicFrameLocks noGrp="1"/>
          </p:cNvGraphicFramePr>
          <p:nvPr/>
        </p:nvGraphicFramePr>
        <p:xfrm>
          <a:off x="5623560" y="1645920"/>
          <a:ext cx="3154680" cy="2852928"/>
        </p:xfrm>
        <a:graphic>
          <a:graphicData uri="http://schemas.openxmlformats.org/drawingml/2006/table">
            <a:tbl>
              <a:tblPr>
                <a:tableStyleId>{5C22544A-7EE6-4342-B048-85BDC9FD1C3A}</a:tableStyleId>
              </a:tblPr>
              <a:tblGrid>
                <a:gridCol w="932688">
                  <a:extLst>
                    <a:ext uri="{9D8B030D-6E8A-4147-A177-3AD203B41FA5}">
                      <a16:colId xmlns:a16="http://schemas.microsoft.com/office/drawing/2014/main" val="20000"/>
                    </a:ext>
                  </a:extLst>
                </a:gridCol>
                <a:gridCol w="2221992">
                  <a:extLst>
                    <a:ext uri="{9D8B030D-6E8A-4147-A177-3AD203B41FA5}">
                      <a16:colId xmlns:a16="http://schemas.microsoft.com/office/drawing/2014/main" val="20001"/>
                    </a:ext>
                  </a:extLst>
                </a:gridCol>
              </a:tblGrid>
              <a:tr h="310896">
                <a:tc>
                  <a:txBody>
                    <a:bodyPr/>
                    <a:lstStyle/>
                    <a:p>
                      <a:pPr algn="ctr"/>
                      <a:r>
                        <a:rPr sz="880" b="1">
                          <a:solidFill>
                            <a:srgbClr val="3B5AA8"/>
                          </a:solidFill>
                          <a:latin typeface="맑은 고딕"/>
                        </a:rPr>
                        <a:t>화면 ID</a:t>
                      </a:r>
                    </a:p>
                  </a:txBody>
                  <a:tcPr marL="54864" marR="54864" marT="18288" marB="18288" anchor="ctr">
                    <a:solidFill>
                      <a:srgbClr val="E2EBFC"/>
                    </a:solidFill>
                  </a:tcPr>
                </a:tc>
                <a:tc>
                  <a:txBody>
                    <a:bodyPr/>
                    <a:lstStyle/>
                    <a:p>
                      <a:pPr algn="l"/>
                      <a:r>
                        <a:rPr sz="860" b="0">
                          <a:solidFill>
                            <a:srgbClr val="222222"/>
                          </a:solidFill>
                          <a:latin typeface="맑은 고딕"/>
                        </a:rPr>
                        <a:t>SC-ADM-01</a:t>
                      </a:r>
                    </a:p>
                  </a:txBody>
                  <a:tcPr marL="54864" marR="54864" marT="18288" marB="18288" anchor="ctr">
                    <a:solidFill>
                      <a:srgbClr val="FFFFFF"/>
                    </a:solidFill>
                  </a:tcPr>
                </a:tc>
                <a:extLst>
                  <a:ext uri="{0D108BD9-81ED-4DB2-BD59-A6C34878D82A}">
                    <a16:rowId xmlns:a16="http://schemas.microsoft.com/office/drawing/2014/main" val="10000"/>
                  </a:ext>
                </a:extLst>
              </a:tr>
              <a:tr h="310896">
                <a:tc>
                  <a:txBody>
                    <a:bodyPr/>
                    <a:lstStyle/>
                    <a:p>
                      <a:pPr algn="ctr"/>
                      <a:r>
                        <a:rPr sz="880" b="1">
                          <a:solidFill>
                            <a:srgbClr val="3B5AA8"/>
                          </a:solidFill>
                          <a:latin typeface="맑은 고딕"/>
                        </a:rPr>
                        <a:t>화면명</a:t>
                      </a:r>
                    </a:p>
                  </a:txBody>
                  <a:tcPr marL="54864" marR="54864" marT="18288" marB="18288" anchor="ctr">
                    <a:solidFill>
                      <a:srgbClr val="E2EBFC"/>
                    </a:solidFill>
                  </a:tcPr>
                </a:tc>
                <a:tc>
                  <a:txBody>
                    <a:bodyPr/>
                    <a:lstStyle/>
                    <a:p>
                      <a:pPr algn="l"/>
                      <a:r>
                        <a:rPr sz="860" b="0">
                          <a:solidFill>
                            <a:srgbClr val="222222"/>
                          </a:solidFill>
                          <a:latin typeface="맑은 고딕"/>
                        </a:rPr>
                        <a:t>관리자 대시보드</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ctr"/>
                      <a:r>
                        <a:rPr sz="880" b="1">
                          <a:solidFill>
                            <a:srgbClr val="3B5AA8"/>
                          </a:solidFill>
                          <a:latin typeface="맑은 고딕"/>
                        </a:rPr>
                        <a:t>사용자</a:t>
                      </a:r>
                    </a:p>
                  </a:txBody>
                  <a:tcPr marL="54864" marR="54864" marT="18288" marB="18288" anchor="ctr">
                    <a:solidFill>
                      <a:srgbClr val="E2EBFC"/>
                    </a:solidFill>
                  </a:tcPr>
                </a:tc>
                <a:tc>
                  <a:txBody>
                    <a:bodyPr/>
                    <a:lstStyle/>
                    <a:p>
                      <a:pPr algn="l"/>
                      <a:r>
                        <a:rPr sz="860" b="0">
                          <a:solidFill>
                            <a:srgbClr val="222222"/>
                          </a:solidFill>
                          <a:latin typeface="맑은 고딕"/>
                        </a:rPr>
                        <a:t>관리자</a:t>
                      </a:r>
                    </a:p>
                  </a:txBody>
                  <a:tcPr marL="54864" marR="54864" marT="18288" marB="18288" anchor="ctr">
                    <a:solidFill>
                      <a:srgbClr val="FFFFFF"/>
                    </a:solidFill>
                  </a:tcPr>
                </a:tc>
                <a:extLst>
                  <a:ext uri="{0D108BD9-81ED-4DB2-BD59-A6C34878D82A}">
                    <a16:rowId xmlns:a16="http://schemas.microsoft.com/office/drawing/2014/main" val="10002"/>
                  </a:ext>
                </a:extLst>
              </a:tr>
              <a:tr h="384048">
                <a:tc>
                  <a:txBody>
                    <a:bodyPr/>
                    <a:lstStyle/>
                    <a:p>
                      <a:pPr algn="ctr"/>
                      <a:r>
                        <a:rPr sz="880" b="1">
                          <a:solidFill>
                            <a:srgbClr val="3B5AA8"/>
                          </a:solidFill>
                          <a:latin typeface="맑은 고딕"/>
                        </a:rPr>
                        <a:t>관련 요구사항</a:t>
                      </a:r>
                    </a:p>
                  </a:txBody>
                  <a:tcPr marL="54864" marR="54864" marT="18288" marB="18288" anchor="ctr">
                    <a:solidFill>
                      <a:srgbClr val="E2EBFC"/>
                    </a:solidFill>
                  </a:tcPr>
                </a:tc>
                <a:tc>
                  <a:txBody>
                    <a:bodyPr/>
                    <a:lstStyle/>
                    <a:p>
                      <a:pPr algn="l"/>
                      <a:r>
                        <a:rPr sz="860" b="0">
                          <a:solidFill>
                            <a:srgbClr val="222222"/>
                          </a:solidFill>
                          <a:latin typeface="맑은 고딕"/>
                        </a:rPr>
                        <a:t>REQ-WEB-101 · 104 ~ 109</a:t>
                      </a:r>
                    </a:p>
                  </a:txBody>
                  <a:tcPr marL="54864" marR="54864" marT="18288" marB="18288" anchor="ctr">
                    <a:solidFill>
                      <a:srgbClr val="FFFFFF"/>
                    </a:solidFill>
                  </a:tcPr>
                </a:tc>
                <a:extLst>
                  <a:ext uri="{0D108BD9-81ED-4DB2-BD59-A6C34878D82A}">
                    <a16:rowId xmlns:a16="http://schemas.microsoft.com/office/drawing/2014/main" val="10003"/>
                  </a:ext>
                </a:extLst>
              </a:tr>
              <a:tr h="1536192">
                <a:tc>
                  <a:txBody>
                    <a:bodyPr/>
                    <a:lstStyle/>
                    <a:p>
                      <a:pPr algn="ctr"/>
                      <a:r>
                        <a:rPr sz="880" b="1">
                          <a:solidFill>
                            <a:srgbClr val="3B5AA8"/>
                          </a:solidFill>
                          <a:latin typeface="맑은 고딕"/>
                        </a:rPr>
                        <a:t>화면 설명</a:t>
                      </a:r>
                    </a:p>
                  </a:txBody>
                  <a:tcPr marL="54864" marR="54864" marT="18288" marB="18288" anchor="ctr">
                    <a:solidFill>
                      <a:srgbClr val="E2EBFC"/>
                    </a:solidFill>
                  </a:tcPr>
                </a:tc>
                <a:tc>
                  <a:txBody>
                    <a:bodyPr/>
                    <a:lstStyle/>
                    <a:p>
                      <a:pPr algn="l"/>
                      <a:r>
                        <a:rPr sz="860" b="0">
                          <a:solidFill>
                            <a:srgbClr val="222222"/>
                          </a:solidFill>
                          <a:latin typeface="맑은 고딕"/>
                        </a:rPr>
                        <a:t>전체 유저·배터리·세션·위험 현황과 이벤트 추이를 통합 관제하는 관리자 화면.</a:t>
                      </a:r>
                    </a:p>
                  </a:txBody>
                  <a:tcPr marL="54864" marR="54864" marT="18288" marB="18288">
                    <a:solidFill>
                      <a:srgbClr val="FFFFFF"/>
                    </a:solidFill>
                  </a:tcPr>
                </a:tc>
                <a:extLst>
                  <a:ext uri="{0D108BD9-81ED-4DB2-BD59-A6C34878D82A}">
                    <a16:rowId xmlns:a16="http://schemas.microsoft.com/office/drawing/2014/main" val="10004"/>
                  </a:ext>
                </a:extLst>
              </a:tr>
            </a:tbl>
          </a:graphicData>
        </a:graphic>
      </p:graphicFrame>
      <p:graphicFrame>
        <p:nvGraphicFramePr>
          <p:cNvPr id="36" name="Table 35"/>
          <p:cNvGraphicFramePr>
            <a:graphicFrameLocks noGrp="1"/>
          </p:cNvGraphicFramePr>
          <p:nvPr/>
        </p:nvGraphicFramePr>
        <p:xfrm>
          <a:off x="365760" y="4736592"/>
          <a:ext cx="8412479" cy="1627632"/>
        </p:xfrm>
        <a:graphic>
          <a:graphicData uri="http://schemas.openxmlformats.org/drawingml/2006/table">
            <a:tbl>
              <a:tblPr>
                <a:tableStyleId>{5C22544A-7EE6-4342-B048-85BDC9FD1C3A}</a:tableStyleId>
              </a:tblPr>
              <a:tblGrid>
                <a:gridCol w="2331720">
                  <a:extLst>
                    <a:ext uri="{9D8B030D-6E8A-4147-A177-3AD203B41FA5}">
                      <a16:colId xmlns:a16="http://schemas.microsoft.com/office/drawing/2014/main" val="20000"/>
                    </a:ext>
                  </a:extLst>
                </a:gridCol>
                <a:gridCol w="6080759">
                  <a:extLst>
                    <a:ext uri="{9D8B030D-6E8A-4147-A177-3AD203B41FA5}">
                      <a16:colId xmlns:a16="http://schemas.microsoft.com/office/drawing/2014/main" val="20001"/>
                    </a:ext>
                  </a:extLst>
                </a:gridCol>
              </a:tblGrid>
              <a:tr h="310896">
                <a:tc>
                  <a:txBody>
                    <a:bodyPr/>
                    <a:lstStyle/>
                    <a:p>
                      <a:pPr algn="ctr"/>
                      <a:r>
                        <a:rPr sz="919" b="1">
                          <a:solidFill>
                            <a:srgbClr val="FFFFFF"/>
                          </a:solidFill>
                          <a:latin typeface="맑은 고딕"/>
                        </a:rPr>
                        <a:t>주요 구성 요소</a:t>
                      </a:r>
                    </a:p>
                  </a:txBody>
                  <a:tcPr marL="54864" marR="54864" marT="18288" marB="18288" anchor="ctr">
                    <a:solidFill>
                      <a:srgbClr val="3B5AA8"/>
                    </a:solidFill>
                  </a:tcPr>
                </a:tc>
                <a:tc>
                  <a:txBody>
                    <a:bodyPr/>
                    <a:lstStyle/>
                    <a:p>
                      <a:pPr algn="ctr"/>
                      <a:r>
                        <a:rPr sz="919" b="1">
                          <a:solidFill>
                            <a:srgbClr val="FFFFFF"/>
                          </a:solidFill>
                          <a:latin typeface="맑은 고딕"/>
                        </a:rPr>
                        <a:t>기능 설명</a:t>
                      </a:r>
                    </a:p>
                  </a:txBody>
                  <a:tcPr marL="54864" marR="54864" marT="18288" marB="18288" anchor="ctr">
                    <a:solidFill>
                      <a:srgbClr val="3B5AA8"/>
                    </a:solidFill>
                  </a:tcPr>
                </a:tc>
                <a:extLst>
                  <a:ext uri="{0D108BD9-81ED-4DB2-BD59-A6C34878D82A}">
                    <a16:rowId xmlns:a16="http://schemas.microsoft.com/office/drawing/2014/main" val="10000"/>
                  </a:ext>
                </a:extLst>
              </a:tr>
              <a:tr h="329184">
                <a:tc>
                  <a:txBody>
                    <a:bodyPr/>
                    <a:lstStyle/>
                    <a:p>
                      <a:pPr algn="l"/>
                      <a:r>
                        <a:rPr sz="880" b="1">
                          <a:solidFill>
                            <a:srgbClr val="222222"/>
                          </a:solidFill>
                          <a:latin typeface="맑은 고딕"/>
                        </a:rPr>
                        <a:t>전체 운영 요약</a:t>
                      </a:r>
                    </a:p>
                  </a:txBody>
                  <a:tcPr marL="54864" marR="54864" marT="18288" marB="18288" anchor="ctr">
                    <a:solidFill>
                      <a:srgbClr val="FFFFFF"/>
                    </a:solidFill>
                  </a:tcPr>
                </a:tc>
                <a:tc>
                  <a:txBody>
                    <a:bodyPr/>
                    <a:lstStyle/>
                    <a:p>
                      <a:pPr algn="l"/>
                      <a:r>
                        <a:rPr sz="880" b="0">
                          <a:solidFill>
                            <a:srgbClr val="222222"/>
                          </a:solidFill>
                          <a:latin typeface="맑은 고딕"/>
                        </a:rPr>
                        <a:t>전체 유저·배터리·활성 세션·위험/경고·오프라인</a:t>
                      </a:r>
                    </a:p>
                  </a:txBody>
                  <a:tcPr marL="54864" marR="54864" marT="18288" marB="18288" anchor="ctr">
                    <a:solidFill>
                      <a:srgbClr val="FFFFFF"/>
                    </a:solidFill>
                  </a:tcPr>
                </a:tc>
                <a:extLst>
                  <a:ext uri="{0D108BD9-81ED-4DB2-BD59-A6C34878D82A}">
                    <a16:rowId xmlns:a16="http://schemas.microsoft.com/office/drawing/2014/main" val="10001"/>
                  </a:ext>
                </a:extLst>
              </a:tr>
              <a:tr h="329184">
                <a:tc>
                  <a:txBody>
                    <a:bodyPr/>
                    <a:lstStyle/>
                    <a:p>
                      <a:pPr algn="l"/>
                      <a:r>
                        <a:rPr sz="880" b="1">
                          <a:solidFill>
                            <a:srgbClr val="222222"/>
                          </a:solidFill>
                          <a:latin typeface="맑은 고딕"/>
                        </a:rPr>
                        <a:t>이벤트 추이 차트</a:t>
                      </a:r>
                    </a:p>
                  </a:txBody>
                  <a:tcPr marL="54864" marR="54864" marT="18288" marB="18288" anchor="ctr">
                    <a:solidFill>
                      <a:srgbClr val="F4F7FC"/>
                    </a:solidFill>
                  </a:tcPr>
                </a:tc>
                <a:tc>
                  <a:txBody>
                    <a:bodyPr/>
                    <a:lstStyle/>
                    <a:p>
                      <a:pPr algn="l"/>
                      <a:r>
                        <a:rPr sz="880" b="0">
                          <a:solidFill>
                            <a:srgbClr val="222222"/>
                          </a:solidFill>
                          <a:latin typeface="맑은 고딕"/>
                        </a:rPr>
                        <a:t>최근 7일 등 기간별 이상 이벤트 발생 추이</a:t>
                      </a:r>
                    </a:p>
                  </a:txBody>
                  <a:tcPr marL="54864" marR="54864" marT="18288" marB="18288" anchor="ctr">
                    <a:solidFill>
                      <a:srgbClr val="F4F7FC"/>
                    </a:solidFill>
                  </a:tcPr>
                </a:tc>
                <a:extLst>
                  <a:ext uri="{0D108BD9-81ED-4DB2-BD59-A6C34878D82A}">
                    <a16:rowId xmlns:a16="http://schemas.microsoft.com/office/drawing/2014/main" val="10002"/>
                  </a:ext>
                </a:extLst>
              </a:tr>
              <a:tr h="329184">
                <a:tc>
                  <a:txBody>
                    <a:bodyPr/>
                    <a:lstStyle/>
                    <a:p>
                      <a:pPr algn="l"/>
                      <a:r>
                        <a:rPr sz="880" b="1">
                          <a:solidFill>
                            <a:srgbClr val="222222"/>
                          </a:solidFill>
                          <a:latin typeface="맑은 고딕"/>
                        </a:rPr>
                        <a:t>최근 위험 배터리</a:t>
                      </a:r>
                    </a:p>
                  </a:txBody>
                  <a:tcPr marL="54864" marR="54864" marT="18288" marB="18288" anchor="ctr">
                    <a:solidFill>
                      <a:srgbClr val="FFFFFF"/>
                    </a:solidFill>
                  </a:tcPr>
                </a:tc>
                <a:tc>
                  <a:txBody>
                    <a:bodyPr/>
                    <a:lstStyle/>
                    <a:p>
                      <a:pPr algn="l"/>
                      <a:r>
                        <a:rPr sz="880" b="0">
                          <a:solidFill>
                            <a:srgbClr val="222222"/>
                          </a:solidFill>
                          <a:latin typeface="맑은 고딕"/>
                        </a:rPr>
                        <a:t>위험 배터리 목록 및 상세 이동</a:t>
                      </a:r>
                    </a:p>
                  </a:txBody>
                  <a:tcPr marL="54864" marR="54864" marT="18288" marB="18288" anchor="ctr">
                    <a:solidFill>
                      <a:srgbClr val="FFFFFF"/>
                    </a:solidFill>
                  </a:tcPr>
                </a:tc>
                <a:extLst>
                  <a:ext uri="{0D108BD9-81ED-4DB2-BD59-A6C34878D82A}">
                    <a16:rowId xmlns:a16="http://schemas.microsoft.com/office/drawing/2014/main" val="10003"/>
                  </a:ext>
                </a:extLst>
              </a:tr>
              <a:tr h="329184">
                <a:tc>
                  <a:txBody>
                    <a:bodyPr/>
                    <a:lstStyle/>
                    <a:p>
                      <a:pPr algn="l"/>
                      <a:r>
                        <a:rPr sz="880" b="1">
                          <a:solidFill>
                            <a:srgbClr val="222222"/>
                          </a:solidFill>
                          <a:latin typeface="맑은 고딕"/>
                        </a:rPr>
                        <a:t>최근 관리자 조작 · 공지</a:t>
                      </a:r>
                    </a:p>
                  </a:txBody>
                  <a:tcPr marL="54864" marR="54864" marT="18288" marB="18288" anchor="ctr">
                    <a:solidFill>
                      <a:srgbClr val="F4F7FC"/>
                    </a:solidFill>
                  </a:tcPr>
                </a:tc>
                <a:tc>
                  <a:txBody>
                    <a:bodyPr/>
                    <a:lstStyle/>
                    <a:p>
                      <a:pPr algn="l"/>
                      <a:r>
                        <a:rPr sz="880" b="0">
                          <a:solidFill>
                            <a:srgbClr val="222222"/>
                          </a:solidFill>
                          <a:latin typeface="맑은 고딕"/>
                        </a:rPr>
                        <a:t>관리자 조작 로그, 공지사항</a:t>
                      </a:r>
                    </a:p>
                  </a:txBody>
                  <a:tcPr marL="54864" marR="54864" marT="18288" marB="18288" anchor="ctr">
                    <a:solidFill>
                      <a:srgbClr val="F4F7FC"/>
                    </a:solidFill>
                  </a:tcPr>
                </a:tc>
                <a:extLst>
                  <a:ext uri="{0D108BD9-81ED-4DB2-BD59-A6C34878D82A}">
                    <a16:rowId xmlns:a16="http://schemas.microsoft.com/office/drawing/2014/main" val="10004"/>
                  </a:ext>
                </a:extLst>
              </a:tr>
            </a:tbl>
          </a:graphicData>
        </a:graphic>
      </p:graphicFrame>
      <p:pic>
        <p:nvPicPr>
          <p:cNvPr id="37" name="Picture 36" descr="sc_adm_01.png"/>
          <p:cNvPicPr>
            <a:picLocks noChangeAspect="1"/>
          </p:cNvPicPr>
          <p:nvPr/>
        </p:nvPicPr>
        <p:blipFill>
          <a:blip r:embed="rId4"/>
          <a:stretch>
            <a:fillRect/>
          </a:stretch>
        </p:blipFill>
        <p:spPr>
          <a:xfrm>
            <a:off x="365760" y="1645920"/>
            <a:ext cx="5074920" cy="2854642"/>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직사각형 23"/>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5" name="직선 연결선 24"/>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 name="직선 연결선 25"/>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7"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화면 설계서</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29"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2" name="막힌 원호 31"/>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그림 2">
            <a:extLst>
              <a:ext uri="{FF2B5EF4-FFF2-40B4-BE49-F238E27FC236}">
                <a16:creationId xmlns:a16="http://schemas.microsoft.com/office/drawing/2014/main" id="{8288A362-2DD3-2E35-EAA8-EEEDCA3513E5}"/>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33" name="TextBox 32"/>
          <p:cNvSpPr txBox="1"/>
          <p:nvPr/>
        </p:nvSpPr>
        <p:spPr>
          <a:xfrm>
            <a:off x="365760" y="1188720"/>
            <a:ext cx="8412480" cy="310896"/>
          </a:xfrm>
          <a:prstGeom prst="rect">
            <a:avLst/>
          </a:prstGeom>
          <a:noFill/>
        </p:spPr>
        <p:txBody>
          <a:bodyPr wrap="square">
            <a:spAutoFit/>
          </a:bodyPr>
          <a:lstStyle/>
          <a:p>
            <a:r>
              <a:rPr sz="1400" b="1">
                <a:solidFill>
                  <a:srgbClr val="3B5AA8"/>
                </a:solidFill>
                <a:latin typeface="맑은 고딕"/>
              </a:rPr>
              <a:t>SC-ADM-02 · 유저 계정 관리</a:t>
            </a:r>
          </a:p>
        </p:txBody>
      </p:sp>
      <p:graphicFrame>
        <p:nvGraphicFramePr>
          <p:cNvPr id="35" name="Table 34"/>
          <p:cNvGraphicFramePr>
            <a:graphicFrameLocks noGrp="1"/>
          </p:cNvGraphicFramePr>
          <p:nvPr/>
        </p:nvGraphicFramePr>
        <p:xfrm>
          <a:off x="5623560" y="1645920"/>
          <a:ext cx="3154680" cy="2852928"/>
        </p:xfrm>
        <a:graphic>
          <a:graphicData uri="http://schemas.openxmlformats.org/drawingml/2006/table">
            <a:tbl>
              <a:tblPr>
                <a:tableStyleId>{5C22544A-7EE6-4342-B048-85BDC9FD1C3A}</a:tableStyleId>
              </a:tblPr>
              <a:tblGrid>
                <a:gridCol w="932688">
                  <a:extLst>
                    <a:ext uri="{9D8B030D-6E8A-4147-A177-3AD203B41FA5}">
                      <a16:colId xmlns:a16="http://schemas.microsoft.com/office/drawing/2014/main" val="20000"/>
                    </a:ext>
                  </a:extLst>
                </a:gridCol>
                <a:gridCol w="2221992">
                  <a:extLst>
                    <a:ext uri="{9D8B030D-6E8A-4147-A177-3AD203B41FA5}">
                      <a16:colId xmlns:a16="http://schemas.microsoft.com/office/drawing/2014/main" val="20001"/>
                    </a:ext>
                  </a:extLst>
                </a:gridCol>
              </a:tblGrid>
              <a:tr h="310896">
                <a:tc>
                  <a:txBody>
                    <a:bodyPr/>
                    <a:lstStyle/>
                    <a:p>
                      <a:pPr algn="ctr"/>
                      <a:r>
                        <a:rPr sz="880" b="1">
                          <a:solidFill>
                            <a:srgbClr val="3B5AA8"/>
                          </a:solidFill>
                          <a:latin typeface="맑은 고딕"/>
                        </a:rPr>
                        <a:t>화면 ID</a:t>
                      </a:r>
                    </a:p>
                  </a:txBody>
                  <a:tcPr marL="54864" marR="54864" marT="18288" marB="18288" anchor="ctr">
                    <a:solidFill>
                      <a:srgbClr val="E2EBFC"/>
                    </a:solidFill>
                  </a:tcPr>
                </a:tc>
                <a:tc>
                  <a:txBody>
                    <a:bodyPr/>
                    <a:lstStyle/>
                    <a:p>
                      <a:pPr algn="l"/>
                      <a:r>
                        <a:rPr sz="860" b="0">
                          <a:solidFill>
                            <a:srgbClr val="222222"/>
                          </a:solidFill>
                          <a:latin typeface="맑은 고딕"/>
                        </a:rPr>
                        <a:t>SC-ADM-02</a:t>
                      </a:r>
                    </a:p>
                  </a:txBody>
                  <a:tcPr marL="54864" marR="54864" marT="18288" marB="18288" anchor="ctr">
                    <a:solidFill>
                      <a:srgbClr val="FFFFFF"/>
                    </a:solidFill>
                  </a:tcPr>
                </a:tc>
                <a:extLst>
                  <a:ext uri="{0D108BD9-81ED-4DB2-BD59-A6C34878D82A}">
                    <a16:rowId xmlns:a16="http://schemas.microsoft.com/office/drawing/2014/main" val="10000"/>
                  </a:ext>
                </a:extLst>
              </a:tr>
              <a:tr h="310896">
                <a:tc>
                  <a:txBody>
                    <a:bodyPr/>
                    <a:lstStyle/>
                    <a:p>
                      <a:pPr algn="ctr"/>
                      <a:r>
                        <a:rPr sz="880" b="1">
                          <a:solidFill>
                            <a:srgbClr val="3B5AA8"/>
                          </a:solidFill>
                          <a:latin typeface="맑은 고딕"/>
                        </a:rPr>
                        <a:t>화면명</a:t>
                      </a:r>
                    </a:p>
                  </a:txBody>
                  <a:tcPr marL="54864" marR="54864" marT="18288" marB="18288" anchor="ctr">
                    <a:solidFill>
                      <a:srgbClr val="E2EBFC"/>
                    </a:solidFill>
                  </a:tcPr>
                </a:tc>
                <a:tc>
                  <a:txBody>
                    <a:bodyPr/>
                    <a:lstStyle/>
                    <a:p>
                      <a:pPr algn="l"/>
                      <a:r>
                        <a:rPr sz="860" b="0">
                          <a:solidFill>
                            <a:srgbClr val="222222"/>
                          </a:solidFill>
                          <a:latin typeface="맑은 고딕"/>
                        </a:rPr>
                        <a:t>유저 계정 관리</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ctr"/>
                      <a:r>
                        <a:rPr sz="880" b="1">
                          <a:solidFill>
                            <a:srgbClr val="3B5AA8"/>
                          </a:solidFill>
                          <a:latin typeface="맑은 고딕"/>
                        </a:rPr>
                        <a:t>사용자</a:t>
                      </a:r>
                    </a:p>
                  </a:txBody>
                  <a:tcPr marL="54864" marR="54864" marT="18288" marB="18288" anchor="ctr">
                    <a:solidFill>
                      <a:srgbClr val="E2EBFC"/>
                    </a:solidFill>
                  </a:tcPr>
                </a:tc>
                <a:tc>
                  <a:txBody>
                    <a:bodyPr/>
                    <a:lstStyle/>
                    <a:p>
                      <a:pPr algn="l"/>
                      <a:r>
                        <a:rPr sz="860" b="0">
                          <a:solidFill>
                            <a:srgbClr val="222222"/>
                          </a:solidFill>
                          <a:latin typeface="맑은 고딕"/>
                        </a:rPr>
                        <a:t>관리자</a:t>
                      </a:r>
                    </a:p>
                  </a:txBody>
                  <a:tcPr marL="54864" marR="54864" marT="18288" marB="18288" anchor="ctr">
                    <a:solidFill>
                      <a:srgbClr val="FFFFFF"/>
                    </a:solidFill>
                  </a:tcPr>
                </a:tc>
                <a:extLst>
                  <a:ext uri="{0D108BD9-81ED-4DB2-BD59-A6C34878D82A}">
                    <a16:rowId xmlns:a16="http://schemas.microsoft.com/office/drawing/2014/main" val="10002"/>
                  </a:ext>
                </a:extLst>
              </a:tr>
              <a:tr h="384048">
                <a:tc>
                  <a:txBody>
                    <a:bodyPr/>
                    <a:lstStyle/>
                    <a:p>
                      <a:pPr algn="ctr"/>
                      <a:r>
                        <a:rPr sz="880" b="1">
                          <a:solidFill>
                            <a:srgbClr val="3B5AA8"/>
                          </a:solidFill>
                          <a:latin typeface="맑은 고딕"/>
                        </a:rPr>
                        <a:t>관련 요구사항</a:t>
                      </a:r>
                    </a:p>
                  </a:txBody>
                  <a:tcPr marL="54864" marR="54864" marT="18288" marB="18288" anchor="ctr">
                    <a:solidFill>
                      <a:srgbClr val="E2EBFC"/>
                    </a:solidFill>
                  </a:tcPr>
                </a:tc>
                <a:tc>
                  <a:txBody>
                    <a:bodyPr/>
                    <a:lstStyle/>
                    <a:p>
                      <a:pPr algn="l"/>
                      <a:r>
                        <a:rPr sz="860" b="0">
                          <a:solidFill>
                            <a:srgbClr val="222222"/>
                          </a:solidFill>
                          <a:latin typeface="맑은 고딕"/>
                        </a:rPr>
                        <a:t>REQ-WEB-110 ~ 118</a:t>
                      </a:r>
                    </a:p>
                  </a:txBody>
                  <a:tcPr marL="54864" marR="54864" marT="18288" marB="18288" anchor="ctr">
                    <a:solidFill>
                      <a:srgbClr val="FFFFFF"/>
                    </a:solidFill>
                  </a:tcPr>
                </a:tc>
                <a:extLst>
                  <a:ext uri="{0D108BD9-81ED-4DB2-BD59-A6C34878D82A}">
                    <a16:rowId xmlns:a16="http://schemas.microsoft.com/office/drawing/2014/main" val="10003"/>
                  </a:ext>
                </a:extLst>
              </a:tr>
              <a:tr h="1536192">
                <a:tc>
                  <a:txBody>
                    <a:bodyPr/>
                    <a:lstStyle/>
                    <a:p>
                      <a:pPr algn="ctr"/>
                      <a:r>
                        <a:rPr sz="880" b="1">
                          <a:solidFill>
                            <a:srgbClr val="3B5AA8"/>
                          </a:solidFill>
                          <a:latin typeface="맑은 고딕"/>
                        </a:rPr>
                        <a:t>화면 설명</a:t>
                      </a:r>
                    </a:p>
                  </a:txBody>
                  <a:tcPr marL="54864" marR="54864" marT="18288" marB="18288" anchor="ctr">
                    <a:solidFill>
                      <a:srgbClr val="E2EBFC"/>
                    </a:solidFill>
                  </a:tcPr>
                </a:tc>
                <a:tc>
                  <a:txBody>
                    <a:bodyPr/>
                    <a:lstStyle/>
                    <a:p>
                      <a:pPr algn="l"/>
                      <a:r>
                        <a:rPr sz="860" b="0">
                          <a:solidFill>
                            <a:srgbClr val="222222"/>
                          </a:solidFill>
                          <a:latin typeface="맑은 고딕"/>
                        </a:rPr>
                        <a:t>유저 계정을 조회·검색하고 권한/상태 관리 및 비밀번호 재설정을 수행하는 관리자 화면.</a:t>
                      </a:r>
                    </a:p>
                  </a:txBody>
                  <a:tcPr marL="54864" marR="54864" marT="18288" marB="18288">
                    <a:solidFill>
                      <a:srgbClr val="FFFFFF"/>
                    </a:solidFill>
                  </a:tcPr>
                </a:tc>
                <a:extLst>
                  <a:ext uri="{0D108BD9-81ED-4DB2-BD59-A6C34878D82A}">
                    <a16:rowId xmlns:a16="http://schemas.microsoft.com/office/drawing/2014/main" val="10004"/>
                  </a:ext>
                </a:extLst>
              </a:tr>
            </a:tbl>
          </a:graphicData>
        </a:graphic>
      </p:graphicFrame>
      <p:graphicFrame>
        <p:nvGraphicFramePr>
          <p:cNvPr id="36" name="Table 35"/>
          <p:cNvGraphicFramePr>
            <a:graphicFrameLocks noGrp="1"/>
          </p:cNvGraphicFramePr>
          <p:nvPr/>
        </p:nvGraphicFramePr>
        <p:xfrm>
          <a:off x="365760" y="4736592"/>
          <a:ext cx="8412479" cy="1627632"/>
        </p:xfrm>
        <a:graphic>
          <a:graphicData uri="http://schemas.openxmlformats.org/drawingml/2006/table">
            <a:tbl>
              <a:tblPr>
                <a:tableStyleId>{5C22544A-7EE6-4342-B048-85BDC9FD1C3A}</a:tableStyleId>
              </a:tblPr>
              <a:tblGrid>
                <a:gridCol w="2331720">
                  <a:extLst>
                    <a:ext uri="{9D8B030D-6E8A-4147-A177-3AD203B41FA5}">
                      <a16:colId xmlns:a16="http://schemas.microsoft.com/office/drawing/2014/main" val="20000"/>
                    </a:ext>
                  </a:extLst>
                </a:gridCol>
                <a:gridCol w="6080759">
                  <a:extLst>
                    <a:ext uri="{9D8B030D-6E8A-4147-A177-3AD203B41FA5}">
                      <a16:colId xmlns:a16="http://schemas.microsoft.com/office/drawing/2014/main" val="20001"/>
                    </a:ext>
                  </a:extLst>
                </a:gridCol>
              </a:tblGrid>
              <a:tr h="310896">
                <a:tc>
                  <a:txBody>
                    <a:bodyPr/>
                    <a:lstStyle/>
                    <a:p>
                      <a:pPr algn="ctr"/>
                      <a:r>
                        <a:rPr sz="919" b="1">
                          <a:solidFill>
                            <a:srgbClr val="FFFFFF"/>
                          </a:solidFill>
                          <a:latin typeface="맑은 고딕"/>
                        </a:rPr>
                        <a:t>주요 구성 요소</a:t>
                      </a:r>
                    </a:p>
                  </a:txBody>
                  <a:tcPr marL="54864" marR="54864" marT="18288" marB="18288" anchor="ctr">
                    <a:solidFill>
                      <a:srgbClr val="3B5AA8"/>
                    </a:solidFill>
                  </a:tcPr>
                </a:tc>
                <a:tc>
                  <a:txBody>
                    <a:bodyPr/>
                    <a:lstStyle/>
                    <a:p>
                      <a:pPr algn="ctr"/>
                      <a:r>
                        <a:rPr sz="919" b="1">
                          <a:solidFill>
                            <a:srgbClr val="FFFFFF"/>
                          </a:solidFill>
                          <a:latin typeface="맑은 고딕"/>
                        </a:rPr>
                        <a:t>기능 설명</a:t>
                      </a:r>
                    </a:p>
                  </a:txBody>
                  <a:tcPr marL="54864" marR="54864" marT="18288" marB="18288" anchor="ctr">
                    <a:solidFill>
                      <a:srgbClr val="3B5AA8"/>
                    </a:solidFill>
                  </a:tcPr>
                </a:tc>
                <a:extLst>
                  <a:ext uri="{0D108BD9-81ED-4DB2-BD59-A6C34878D82A}">
                    <a16:rowId xmlns:a16="http://schemas.microsoft.com/office/drawing/2014/main" val="10000"/>
                  </a:ext>
                </a:extLst>
              </a:tr>
              <a:tr h="329184">
                <a:tc>
                  <a:txBody>
                    <a:bodyPr/>
                    <a:lstStyle/>
                    <a:p>
                      <a:pPr algn="l"/>
                      <a:r>
                        <a:rPr sz="880" b="1">
                          <a:solidFill>
                            <a:srgbClr val="222222"/>
                          </a:solidFill>
                          <a:latin typeface="맑은 고딕"/>
                        </a:rPr>
                        <a:t>유저 검색</a:t>
                      </a:r>
                    </a:p>
                  </a:txBody>
                  <a:tcPr marL="54864" marR="54864" marT="18288" marB="18288" anchor="ctr">
                    <a:solidFill>
                      <a:srgbClr val="FFFFFF"/>
                    </a:solidFill>
                  </a:tcPr>
                </a:tc>
                <a:tc>
                  <a:txBody>
                    <a:bodyPr/>
                    <a:lstStyle/>
                    <a:p>
                      <a:pPr algn="l"/>
                      <a:r>
                        <a:rPr sz="880" b="0">
                          <a:solidFill>
                            <a:srgbClr val="222222"/>
                          </a:solidFill>
                          <a:latin typeface="맑은 고딕"/>
                        </a:rPr>
                        <a:t>이름·이메일로 유저 목록 검색</a:t>
                      </a:r>
                    </a:p>
                  </a:txBody>
                  <a:tcPr marL="54864" marR="54864" marT="18288" marB="18288" anchor="ctr">
                    <a:solidFill>
                      <a:srgbClr val="FFFFFF"/>
                    </a:solidFill>
                  </a:tcPr>
                </a:tc>
                <a:extLst>
                  <a:ext uri="{0D108BD9-81ED-4DB2-BD59-A6C34878D82A}">
                    <a16:rowId xmlns:a16="http://schemas.microsoft.com/office/drawing/2014/main" val="10001"/>
                  </a:ext>
                </a:extLst>
              </a:tr>
              <a:tr h="329184">
                <a:tc>
                  <a:txBody>
                    <a:bodyPr/>
                    <a:lstStyle/>
                    <a:p>
                      <a:pPr algn="l"/>
                      <a:r>
                        <a:rPr sz="880" b="1">
                          <a:solidFill>
                            <a:srgbClr val="222222"/>
                          </a:solidFill>
                          <a:latin typeface="맑은 고딕"/>
                        </a:rPr>
                        <a:t>상태 · 권한 필터</a:t>
                      </a:r>
                    </a:p>
                  </a:txBody>
                  <a:tcPr marL="54864" marR="54864" marT="18288" marB="18288" anchor="ctr">
                    <a:solidFill>
                      <a:srgbClr val="F4F7FC"/>
                    </a:solidFill>
                  </a:tcPr>
                </a:tc>
                <a:tc>
                  <a:txBody>
                    <a:bodyPr/>
                    <a:lstStyle/>
                    <a:p>
                      <a:pPr algn="l"/>
                      <a:r>
                        <a:rPr sz="880" b="0">
                          <a:solidFill>
                            <a:srgbClr val="222222"/>
                          </a:solidFill>
                          <a:latin typeface="맑은 고딕"/>
                        </a:rPr>
                        <a:t>활성/정지, 일반/관리자 기준 필터</a:t>
                      </a:r>
                    </a:p>
                  </a:txBody>
                  <a:tcPr marL="54864" marR="54864" marT="18288" marB="18288" anchor="ctr">
                    <a:solidFill>
                      <a:srgbClr val="F4F7FC"/>
                    </a:solidFill>
                  </a:tcPr>
                </a:tc>
                <a:extLst>
                  <a:ext uri="{0D108BD9-81ED-4DB2-BD59-A6C34878D82A}">
                    <a16:rowId xmlns:a16="http://schemas.microsoft.com/office/drawing/2014/main" val="10002"/>
                  </a:ext>
                </a:extLst>
              </a:tr>
              <a:tr h="329184">
                <a:tc>
                  <a:txBody>
                    <a:bodyPr/>
                    <a:lstStyle/>
                    <a:p>
                      <a:pPr algn="l"/>
                      <a:r>
                        <a:rPr sz="880" b="1">
                          <a:solidFill>
                            <a:srgbClr val="222222"/>
                          </a:solidFill>
                          <a:latin typeface="맑은 고딕"/>
                        </a:rPr>
                        <a:t>유저 목록</a:t>
                      </a:r>
                    </a:p>
                  </a:txBody>
                  <a:tcPr marL="54864" marR="54864" marT="18288" marB="18288" anchor="ctr">
                    <a:solidFill>
                      <a:srgbClr val="FFFFFF"/>
                    </a:solidFill>
                  </a:tcPr>
                </a:tc>
                <a:tc>
                  <a:txBody>
                    <a:bodyPr/>
                    <a:lstStyle/>
                    <a:p>
                      <a:pPr algn="l"/>
                      <a:r>
                        <a:rPr sz="880" b="0">
                          <a:solidFill>
                            <a:srgbClr val="222222"/>
                          </a:solidFill>
                          <a:latin typeface="맑은 고딕"/>
                        </a:rPr>
                        <a:t>권한·등록 배터리 수·상태 표시</a:t>
                      </a:r>
                    </a:p>
                  </a:txBody>
                  <a:tcPr marL="54864" marR="54864" marT="18288" marB="18288" anchor="ctr">
                    <a:solidFill>
                      <a:srgbClr val="FFFFFF"/>
                    </a:solidFill>
                  </a:tcPr>
                </a:tc>
                <a:extLst>
                  <a:ext uri="{0D108BD9-81ED-4DB2-BD59-A6C34878D82A}">
                    <a16:rowId xmlns:a16="http://schemas.microsoft.com/office/drawing/2014/main" val="10003"/>
                  </a:ext>
                </a:extLst>
              </a:tr>
              <a:tr h="329184">
                <a:tc>
                  <a:txBody>
                    <a:bodyPr/>
                    <a:lstStyle/>
                    <a:p>
                      <a:pPr algn="l"/>
                      <a:r>
                        <a:rPr sz="880" b="1">
                          <a:solidFill>
                            <a:srgbClr val="222222"/>
                          </a:solidFill>
                          <a:latin typeface="맑은 고딕"/>
                        </a:rPr>
                        <a:t>계정 관리 동작</a:t>
                      </a:r>
                    </a:p>
                  </a:txBody>
                  <a:tcPr marL="54864" marR="54864" marT="18288" marB="18288" anchor="ctr">
                    <a:solidFill>
                      <a:srgbClr val="F4F7FC"/>
                    </a:solidFill>
                  </a:tcPr>
                </a:tc>
                <a:tc>
                  <a:txBody>
                    <a:bodyPr/>
                    <a:lstStyle/>
                    <a:p>
                      <a:pPr algn="l"/>
                      <a:r>
                        <a:rPr sz="880" b="0">
                          <a:solidFill>
                            <a:srgbClr val="222222"/>
                          </a:solidFill>
                          <a:latin typeface="맑은 고딕"/>
                        </a:rPr>
                        <a:t>정보 수정·정지/해제·비밀번호 재설정</a:t>
                      </a:r>
                    </a:p>
                  </a:txBody>
                  <a:tcPr marL="54864" marR="54864" marT="18288" marB="18288" anchor="ctr">
                    <a:solidFill>
                      <a:srgbClr val="F4F7FC"/>
                    </a:solidFill>
                  </a:tcPr>
                </a:tc>
                <a:extLst>
                  <a:ext uri="{0D108BD9-81ED-4DB2-BD59-A6C34878D82A}">
                    <a16:rowId xmlns:a16="http://schemas.microsoft.com/office/drawing/2014/main" val="10004"/>
                  </a:ext>
                </a:extLst>
              </a:tr>
            </a:tbl>
          </a:graphicData>
        </a:graphic>
      </p:graphicFrame>
      <p:pic>
        <p:nvPicPr>
          <p:cNvPr id="37" name="Picture 36" descr="sc_adm_02.png"/>
          <p:cNvPicPr>
            <a:picLocks noChangeAspect="1"/>
          </p:cNvPicPr>
          <p:nvPr/>
        </p:nvPicPr>
        <p:blipFill>
          <a:blip r:embed="rId4"/>
          <a:stretch>
            <a:fillRect/>
          </a:stretch>
        </p:blipFill>
        <p:spPr>
          <a:xfrm>
            <a:off x="365760" y="1645920"/>
            <a:ext cx="5074920" cy="2854642"/>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직사각형 23"/>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5" name="직선 연결선 24"/>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 name="직선 연결선 25"/>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7"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화면 설계서</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32" name="막힌 원호 31"/>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3" name="TextBox 32"/>
          <p:cNvSpPr txBox="1"/>
          <p:nvPr/>
        </p:nvSpPr>
        <p:spPr>
          <a:xfrm>
            <a:off x="365760" y="1170432"/>
            <a:ext cx="8412480" cy="329184"/>
          </a:xfrm>
          <a:prstGeom prst="rect">
            <a:avLst/>
          </a:prstGeom>
          <a:noFill/>
        </p:spPr>
        <p:txBody>
          <a:bodyPr wrap="none" tIns="0" bIns="0">
            <a:spAutoFit/>
          </a:bodyPr>
          <a:lstStyle/>
          <a:p>
            <a:r>
              <a:rPr sz="1300" b="1">
                <a:solidFill>
                  <a:srgbClr val="1D4ED8"/>
                </a:solidFill>
                <a:latin typeface="맑은 고딕"/>
              </a:rPr>
              <a:t>주요 팝업 · 모달  —  로그인 / 배터리 자산 (1 / 2)</a:t>
            </a:r>
          </a:p>
        </p:txBody>
      </p:sp>
      <p:sp>
        <p:nvSpPr>
          <p:cNvPr id="34" name="Rounded Rectangle 33"/>
          <p:cNvSpPr/>
          <p:nvPr/>
        </p:nvSpPr>
        <p:spPr>
          <a:xfrm>
            <a:off x="402336" y="1627632"/>
            <a:ext cx="4114800" cy="2304288"/>
          </a:xfrm>
          <a:prstGeom prst="roundRect">
            <a:avLst>
              <a:gd name="adj" fmla="val 4000"/>
            </a:avLst>
          </a:prstGeom>
          <a:solidFill>
            <a:srgbClr val="FCFCFB"/>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m_login.png"/>
          <p:cNvPicPr>
            <a:picLocks noChangeAspect="1"/>
          </p:cNvPicPr>
          <p:nvPr/>
        </p:nvPicPr>
        <p:blipFill>
          <a:blip r:embed="rId2"/>
          <a:stretch>
            <a:fillRect/>
          </a:stretch>
        </p:blipFill>
        <p:spPr>
          <a:xfrm>
            <a:off x="1168818" y="1755648"/>
            <a:ext cx="2581835" cy="1700784"/>
          </a:xfrm>
          <a:prstGeom prst="rect">
            <a:avLst/>
          </a:prstGeom>
        </p:spPr>
      </p:pic>
      <p:sp>
        <p:nvSpPr>
          <p:cNvPr id="36" name="TextBox 35"/>
          <p:cNvSpPr txBox="1"/>
          <p:nvPr/>
        </p:nvSpPr>
        <p:spPr>
          <a:xfrm>
            <a:off x="530352" y="3456432"/>
            <a:ext cx="3858768" cy="420624"/>
          </a:xfrm>
          <a:prstGeom prst="rect">
            <a:avLst/>
          </a:prstGeom>
          <a:noFill/>
        </p:spPr>
        <p:txBody>
          <a:bodyPr wrap="square" lIns="25400" tIns="0" bIns="0">
            <a:spAutoFit/>
          </a:bodyPr>
          <a:lstStyle/>
          <a:p>
            <a:pPr algn="ctr"/>
            <a:r>
              <a:rPr sz="1050" b="1">
                <a:solidFill>
                  <a:srgbClr val="2563EB"/>
                </a:solidFill>
                <a:latin typeface="맑은 고딕"/>
              </a:rPr>
              <a:t>PU-01  </a:t>
            </a:r>
            <a:r>
              <a:rPr sz="1100" b="1">
                <a:solidFill>
                  <a:srgbClr val="2A2A2A"/>
                </a:solidFill>
                <a:latin typeface="맑은 고딕"/>
              </a:rPr>
              <a:t>로그인 모달</a:t>
            </a:r>
          </a:p>
          <a:p>
            <a:pPr algn="ctr"/>
            <a:r>
              <a:rPr sz="880" b="0">
                <a:solidFill>
                  <a:srgbClr val="6B665E"/>
                </a:solidFill>
                <a:latin typeface="맑은 고딕"/>
              </a:rPr>
              <a:t>이메일·비밀번호 · 관리자/소셜 로그인 진입</a:t>
            </a:r>
          </a:p>
        </p:txBody>
      </p:sp>
      <p:sp>
        <p:nvSpPr>
          <p:cNvPr id="37" name="Rounded Rectangle 36"/>
          <p:cNvSpPr/>
          <p:nvPr/>
        </p:nvSpPr>
        <p:spPr>
          <a:xfrm>
            <a:off x="4626864" y="1627632"/>
            <a:ext cx="4114800" cy="2304288"/>
          </a:xfrm>
          <a:prstGeom prst="roundRect">
            <a:avLst>
              <a:gd name="adj" fmla="val 4000"/>
            </a:avLst>
          </a:prstGeom>
          <a:solidFill>
            <a:srgbClr val="FCFCFB"/>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m_register.png"/>
          <p:cNvPicPr>
            <a:picLocks noChangeAspect="1"/>
          </p:cNvPicPr>
          <p:nvPr/>
        </p:nvPicPr>
        <p:blipFill>
          <a:blip r:embed="rId3"/>
          <a:stretch>
            <a:fillRect/>
          </a:stretch>
        </p:blipFill>
        <p:spPr>
          <a:xfrm>
            <a:off x="6008775" y="1755648"/>
            <a:ext cx="1350977" cy="1700784"/>
          </a:xfrm>
          <a:prstGeom prst="rect">
            <a:avLst/>
          </a:prstGeom>
        </p:spPr>
      </p:pic>
      <p:sp>
        <p:nvSpPr>
          <p:cNvPr id="39" name="TextBox 38"/>
          <p:cNvSpPr txBox="1"/>
          <p:nvPr/>
        </p:nvSpPr>
        <p:spPr>
          <a:xfrm>
            <a:off x="4754879" y="3456432"/>
            <a:ext cx="3858768" cy="420624"/>
          </a:xfrm>
          <a:prstGeom prst="rect">
            <a:avLst/>
          </a:prstGeom>
          <a:noFill/>
        </p:spPr>
        <p:txBody>
          <a:bodyPr wrap="square" lIns="25400" tIns="0" bIns="0">
            <a:spAutoFit/>
          </a:bodyPr>
          <a:lstStyle/>
          <a:p>
            <a:pPr algn="ctr"/>
            <a:r>
              <a:rPr sz="1050" b="1">
                <a:solidFill>
                  <a:srgbClr val="2563EB"/>
                </a:solidFill>
                <a:latin typeface="맑은 고딕"/>
              </a:rPr>
              <a:t>PU-02  </a:t>
            </a:r>
            <a:r>
              <a:rPr sz="1100" b="1">
                <a:solidFill>
                  <a:srgbClr val="2A2A2A"/>
                </a:solidFill>
                <a:latin typeface="맑은 고딕"/>
              </a:rPr>
              <a:t>새 배터리 등록</a:t>
            </a:r>
          </a:p>
          <a:p>
            <a:pPr algn="ctr"/>
            <a:r>
              <a:rPr sz="880" b="0">
                <a:solidFill>
                  <a:srgbClr val="6B665E"/>
                </a:solidFill>
                <a:latin typeface="맑은 고딕"/>
              </a:rPr>
              <a:t>종류(chemistry)·측정 모드·직렬 셀 수 → battery_id 발급</a:t>
            </a:r>
          </a:p>
        </p:txBody>
      </p:sp>
      <p:sp>
        <p:nvSpPr>
          <p:cNvPr id="40" name="Rounded Rectangle 39"/>
          <p:cNvSpPr/>
          <p:nvPr/>
        </p:nvSpPr>
        <p:spPr>
          <a:xfrm>
            <a:off x="402336" y="4023360"/>
            <a:ext cx="4114800" cy="2304288"/>
          </a:xfrm>
          <a:prstGeom prst="roundRect">
            <a:avLst>
              <a:gd name="adj" fmla="val 4000"/>
            </a:avLst>
          </a:prstGeom>
          <a:solidFill>
            <a:srgbClr val="FCFCFB"/>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1" name="Picture 40" descr="m_edit.png"/>
          <p:cNvPicPr>
            <a:picLocks noChangeAspect="1"/>
          </p:cNvPicPr>
          <p:nvPr/>
        </p:nvPicPr>
        <p:blipFill>
          <a:blip r:embed="rId4"/>
          <a:stretch>
            <a:fillRect/>
          </a:stretch>
        </p:blipFill>
        <p:spPr>
          <a:xfrm>
            <a:off x="1817064" y="4151376"/>
            <a:ext cx="1285342" cy="1700784"/>
          </a:xfrm>
          <a:prstGeom prst="rect">
            <a:avLst/>
          </a:prstGeom>
        </p:spPr>
      </p:pic>
      <p:sp>
        <p:nvSpPr>
          <p:cNvPr id="42" name="TextBox 41"/>
          <p:cNvSpPr txBox="1"/>
          <p:nvPr/>
        </p:nvSpPr>
        <p:spPr>
          <a:xfrm>
            <a:off x="530352" y="5852160"/>
            <a:ext cx="3858768" cy="420624"/>
          </a:xfrm>
          <a:prstGeom prst="rect">
            <a:avLst/>
          </a:prstGeom>
          <a:noFill/>
        </p:spPr>
        <p:txBody>
          <a:bodyPr wrap="square" lIns="25400" tIns="0" bIns="0">
            <a:spAutoFit/>
          </a:bodyPr>
          <a:lstStyle/>
          <a:p>
            <a:pPr algn="ctr"/>
            <a:r>
              <a:rPr sz="1050" b="1">
                <a:solidFill>
                  <a:srgbClr val="2563EB"/>
                </a:solidFill>
                <a:latin typeface="맑은 고딕"/>
              </a:rPr>
              <a:t>PU-03  </a:t>
            </a:r>
            <a:r>
              <a:rPr sz="1100" b="1">
                <a:solidFill>
                  <a:srgbClr val="2A2A2A"/>
                </a:solidFill>
                <a:latin typeface="맑은 고딕"/>
              </a:rPr>
              <a:t>배터리 정보 수정</a:t>
            </a:r>
          </a:p>
          <a:p>
            <a:pPr algn="ctr"/>
            <a:r>
              <a:rPr sz="880" b="0">
                <a:solidFill>
                  <a:srgbClr val="6B665E"/>
                </a:solidFill>
                <a:latin typeface="맑은 고딕"/>
              </a:rPr>
              <a:t>이름·메모 수정 (측정 모드·battery_id 고정)</a:t>
            </a:r>
          </a:p>
        </p:txBody>
      </p:sp>
      <p:sp>
        <p:nvSpPr>
          <p:cNvPr id="43" name="Rounded Rectangle 42"/>
          <p:cNvSpPr/>
          <p:nvPr/>
        </p:nvSpPr>
        <p:spPr>
          <a:xfrm>
            <a:off x="4626864" y="4023360"/>
            <a:ext cx="4114800" cy="2304288"/>
          </a:xfrm>
          <a:prstGeom prst="roundRect">
            <a:avLst>
              <a:gd name="adj" fmla="val 4000"/>
            </a:avLst>
          </a:prstGeom>
          <a:solidFill>
            <a:srgbClr val="FCFCFB"/>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Picture 43" descr="m_connect.png"/>
          <p:cNvPicPr>
            <a:picLocks noChangeAspect="1"/>
          </p:cNvPicPr>
          <p:nvPr/>
        </p:nvPicPr>
        <p:blipFill>
          <a:blip r:embed="rId5"/>
          <a:stretch>
            <a:fillRect/>
          </a:stretch>
        </p:blipFill>
        <p:spPr>
          <a:xfrm>
            <a:off x="5681237" y="4151376"/>
            <a:ext cx="2006052" cy="1700784"/>
          </a:xfrm>
          <a:prstGeom prst="rect">
            <a:avLst/>
          </a:prstGeom>
        </p:spPr>
      </p:pic>
      <p:sp>
        <p:nvSpPr>
          <p:cNvPr id="45" name="TextBox 44"/>
          <p:cNvSpPr txBox="1"/>
          <p:nvPr/>
        </p:nvSpPr>
        <p:spPr>
          <a:xfrm>
            <a:off x="4754879" y="5852160"/>
            <a:ext cx="3858768" cy="420624"/>
          </a:xfrm>
          <a:prstGeom prst="rect">
            <a:avLst/>
          </a:prstGeom>
          <a:noFill/>
        </p:spPr>
        <p:txBody>
          <a:bodyPr wrap="square" lIns="25400" tIns="0" bIns="0">
            <a:spAutoFit/>
          </a:bodyPr>
          <a:lstStyle/>
          <a:p>
            <a:pPr algn="ctr"/>
            <a:r>
              <a:rPr sz="1050" b="1">
                <a:solidFill>
                  <a:srgbClr val="2563EB"/>
                </a:solidFill>
                <a:latin typeface="맑은 고딕"/>
              </a:rPr>
              <a:t>PU-04  </a:t>
            </a:r>
            <a:r>
              <a:rPr sz="1100" b="1">
                <a:solidFill>
                  <a:srgbClr val="2A2A2A"/>
                </a:solidFill>
                <a:latin typeface="맑은 고딕"/>
              </a:rPr>
              <a:t>배터리 연결 확인</a:t>
            </a:r>
          </a:p>
          <a:p>
            <a:pPr algn="ctr"/>
            <a:r>
              <a:rPr sz="880" b="0">
                <a:solidFill>
                  <a:srgbClr val="6B665E"/>
                </a:solidFill>
                <a:latin typeface="맑은 고딕"/>
              </a:rPr>
              <a:t>측정 세션 시작 · 한 번에 하나(상호배제) · 상세보기 분기</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직사각형 23"/>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5" name="직선 연결선 24"/>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 name="직선 연결선 25"/>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7"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화면 설계서</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sp>
        <p:nvSpPr>
          <p:cNvPr id="32" name="막힌 원호 31"/>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3" name="TextBox 32"/>
          <p:cNvSpPr txBox="1"/>
          <p:nvPr/>
        </p:nvSpPr>
        <p:spPr>
          <a:xfrm>
            <a:off x="365760" y="1170432"/>
            <a:ext cx="8412480" cy="329184"/>
          </a:xfrm>
          <a:prstGeom prst="rect">
            <a:avLst/>
          </a:prstGeom>
          <a:noFill/>
        </p:spPr>
        <p:txBody>
          <a:bodyPr wrap="none" tIns="0" bIns="0">
            <a:spAutoFit/>
          </a:bodyPr>
          <a:lstStyle/>
          <a:p>
            <a:r>
              <a:rPr sz="1300" b="1">
                <a:solidFill>
                  <a:srgbClr val="1D4ED8"/>
                </a:solidFill>
                <a:latin typeface="맑은 고딕"/>
              </a:rPr>
              <a:t>주요 팝업 · 모달  —  경고 / 제어 / 관리자 (2 / 2)</a:t>
            </a:r>
          </a:p>
        </p:txBody>
      </p:sp>
      <p:sp>
        <p:nvSpPr>
          <p:cNvPr id="34" name="Rounded Rectangle 33"/>
          <p:cNvSpPr/>
          <p:nvPr/>
        </p:nvSpPr>
        <p:spPr>
          <a:xfrm>
            <a:off x="402336" y="1627632"/>
            <a:ext cx="4114800" cy="2304288"/>
          </a:xfrm>
          <a:prstGeom prst="roundRect">
            <a:avLst>
              <a:gd name="adj" fmla="val 4000"/>
            </a:avLst>
          </a:prstGeom>
          <a:solidFill>
            <a:srgbClr val="FCFCFB"/>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m_killswitch.png"/>
          <p:cNvPicPr>
            <a:picLocks noChangeAspect="1"/>
          </p:cNvPicPr>
          <p:nvPr/>
        </p:nvPicPr>
        <p:blipFill>
          <a:blip r:embed="rId2"/>
          <a:stretch>
            <a:fillRect/>
          </a:stretch>
        </p:blipFill>
        <p:spPr>
          <a:xfrm>
            <a:off x="1486691" y="1755648"/>
            <a:ext cx="1946089" cy="1700784"/>
          </a:xfrm>
          <a:prstGeom prst="rect">
            <a:avLst/>
          </a:prstGeom>
        </p:spPr>
      </p:pic>
      <p:sp>
        <p:nvSpPr>
          <p:cNvPr id="36" name="TextBox 35"/>
          <p:cNvSpPr txBox="1"/>
          <p:nvPr/>
        </p:nvSpPr>
        <p:spPr>
          <a:xfrm>
            <a:off x="530352" y="3456432"/>
            <a:ext cx="3858768" cy="420624"/>
          </a:xfrm>
          <a:prstGeom prst="rect">
            <a:avLst/>
          </a:prstGeom>
          <a:noFill/>
        </p:spPr>
        <p:txBody>
          <a:bodyPr wrap="square" lIns="25400" tIns="0" bIns="0">
            <a:spAutoFit/>
          </a:bodyPr>
          <a:lstStyle/>
          <a:p>
            <a:pPr algn="ctr"/>
            <a:r>
              <a:rPr sz="1050" b="1">
                <a:solidFill>
                  <a:srgbClr val="2563EB"/>
                </a:solidFill>
                <a:latin typeface="맑은 고딕"/>
              </a:rPr>
              <a:t>PU-05  </a:t>
            </a:r>
            <a:r>
              <a:rPr sz="1100" b="1">
                <a:solidFill>
                  <a:srgbClr val="2A2A2A"/>
                </a:solidFill>
                <a:latin typeface="맑은 고딕"/>
              </a:rPr>
              <a:t>Kill-Switch 자동 차단</a:t>
            </a:r>
          </a:p>
          <a:p>
            <a:pPr algn="ctr"/>
            <a:r>
              <a:rPr sz="880" b="0">
                <a:solidFill>
                  <a:srgbClr val="6B665E"/>
                </a:solidFill>
                <a:latin typeface="맑은 고딕"/>
              </a:rPr>
              <a:t>임계값 초과 시 Fail-Safe 인터락이 릴레이 자동 차단 알림</a:t>
            </a:r>
          </a:p>
        </p:txBody>
      </p:sp>
      <p:sp>
        <p:nvSpPr>
          <p:cNvPr id="37" name="Rounded Rectangle 36"/>
          <p:cNvSpPr/>
          <p:nvPr/>
        </p:nvSpPr>
        <p:spPr>
          <a:xfrm>
            <a:off x="4626864" y="1627632"/>
            <a:ext cx="4114800" cy="2304288"/>
          </a:xfrm>
          <a:prstGeom prst="roundRect">
            <a:avLst>
              <a:gd name="adj" fmla="val 4000"/>
            </a:avLst>
          </a:prstGeom>
          <a:solidFill>
            <a:srgbClr val="FCFCFB"/>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m_notif.png"/>
          <p:cNvPicPr>
            <a:picLocks noChangeAspect="1"/>
          </p:cNvPicPr>
          <p:nvPr/>
        </p:nvPicPr>
        <p:blipFill>
          <a:blip r:embed="rId3"/>
          <a:stretch>
            <a:fillRect/>
          </a:stretch>
        </p:blipFill>
        <p:spPr>
          <a:xfrm>
            <a:off x="5611286" y="1755648"/>
            <a:ext cx="2145955" cy="1700784"/>
          </a:xfrm>
          <a:prstGeom prst="rect">
            <a:avLst/>
          </a:prstGeom>
        </p:spPr>
      </p:pic>
      <p:sp>
        <p:nvSpPr>
          <p:cNvPr id="39" name="TextBox 38"/>
          <p:cNvSpPr txBox="1"/>
          <p:nvPr/>
        </p:nvSpPr>
        <p:spPr>
          <a:xfrm>
            <a:off x="4754879" y="3456432"/>
            <a:ext cx="3858768" cy="420624"/>
          </a:xfrm>
          <a:prstGeom prst="rect">
            <a:avLst/>
          </a:prstGeom>
          <a:noFill/>
        </p:spPr>
        <p:txBody>
          <a:bodyPr wrap="square" lIns="25400" tIns="0" bIns="0">
            <a:spAutoFit/>
          </a:bodyPr>
          <a:lstStyle/>
          <a:p>
            <a:pPr algn="ctr"/>
            <a:r>
              <a:rPr sz="1050" b="1">
                <a:solidFill>
                  <a:srgbClr val="2563EB"/>
                </a:solidFill>
                <a:latin typeface="맑은 고딕"/>
              </a:rPr>
              <a:t>PU-06  </a:t>
            </a:r>
            <a:r>
              <a:rPr sz="1100" b="1">
                <a:solidFill>
                  <a:srgbClr val="2A2A2A"/>
                </a:solidFill>
                <a:latin typeface="맑은 고딕"/>
              </a:rPr>
              <a:t>알림 센터 드롭다운</a:t>
            </a:r>
          </a:p>
          <a:p>
            <a:pPr algn="ctr"/>
            <a:r>
              <a:rPr sz="880" b="0">
                <a:solidFill>
                  <a:srgbClr val="6B665E"/>
                </a:solidFill>
                <a:latin typeface="맑은 고딕"/>
              </a:rPr>
              <a:t>미확인 알림 요약 · 알림 센터 전체 보기 진입</a:t>
            </a:r>
          </a:p>
        </p:txBody>
      </p:sp>
      <p:sp>
        <p:nvSpPr>
          <p:cNvPr id="40" name="Rounded Rectangle 39"/>
          <p:cNvSpPr/>
          <p:nvPr/>
        </p:nvSpPr>
        <p:spPr>
          <a:xfrm>
            <a:off x="402336" y="4023360"/>
            <a:ext cx="4114800" cy="2304288"/>
          </a:xfrm>
          <a:prstGeom prst="roundRect">
            <a:avLst>
              <a:gd name="adj" fmla="val 4000"/>
            </a:avLst>
          </a:prstGeom>
          <a:solidFill>
            <a:srgbClr val="FCFCFB"/>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1" name="Picture 40" descr="m_relay.png"/>
          <p:cNvPicPr>
            <a:picLocks noChangeAspect="1"/>
          </p:cNvPicPr>
          <p:nvPr/>
        </p:nvPicPr>
        <p:blipFill>
          <a:blip r:embed="rId4"/>
          <a:stretch>
            <a:fillRect/>
          </a:stretch>
        </p:blipFill>
        <p:spPr>
          <a:xfrm>
            <a:off x="1566167" y="4151376"/>
            <a:ext cx="1787137" cy="1700784"/>
          </a:xfrm>
          <a:prstGeom prst="rect">
            <a:avLst/>
          </a:prstGeom>
        </p:spPr>
      </p:pic>
      <p:sp>
        <p:nvSpPr>
          <p:cNvPr id="42" name="TextBox 41"/>
          <p:cNvSpPr txBox="1"/>
          <p:nvPr/>
        </p:nvSpPr>
        <p:spPr>
          <a:xfrm>
            <a:off x="530352" y="5852160"/>
            <a:ext cx="3858768" cy="420624"/>
          </a:xfrm>
          <a:prstGeom prst="rect">
            <a:avLst/>
          </a:prstGeom>
          <a:noFill/>
        </p:spPr>
        <p:txBody>
          <a:bodyPr wrap="square" lIns="25400" tIns="0" bIns="0">
            <a:spAutoFit/>
          </a:bodyPr>
          <a:lstStyle/>
          <a:p>
            <a:pPr algn="ctr"/>
            <a:r>
              <a:rPr sz="1050" b="1">
                <a:solidFill>
                  <a:srgbClr val="2563EB"/>
                </a:solidFill>
                <a:latin typeface="맑은 고딕"/>
              </a:rPr>
              <a:t>PU-07  </a:t>
            </a:r>
            <a:r>
              <a:rPr sz="1100" b="1">
                <a:solidFill>
                  <a:srgbClr val="2A2A2A"/>
                </a:solidFill>
                <a:latin typeface="맑은 고딕"/>
              </a:rPr>
              <a:t>위험 제어 승인</a:t>
            </a:r>
          </a:p>
          <a:p>
            <a:pPr algn="ctr"/>
            <a:r>
              <a:rPr sz="880" b="0">
                <a:solidFill>
                  <a:srgbClr val="6B665E"/>
                </a:solidFill>
                <a:latin typeface="맑은 고딕"/>
              </a:rPr>
              <a:t>수동 릴레이 차단: 사유 입력 + 비밀번호 재인증(감사 기록)</a:t>
            </a:r>
          </a:p>
        </p:txBody>
      </p:sp>
      <p:sp>
        <p:nvSpPr>
          <p:cNvPr id="43" name="Rounded Rectangle 42"/>
          <p:cNvSpPr/>
          <p:nvPr/>
        </p:nvSpPr>
        <p:spPr>
          <a:xfrm>
            <a:off x="4626864" y="4023360"/>
            <a:ext cx="4114800" cy="2304288"/>
          </a:xfrm>
          <a:prstGeom prst="roundRect">
            <a:avLst>
              <a:gd name="adj" fmla="val 4000"/>
            </a:avLst>
          </a:prstGeom>
          <a:solidFill>
            <a:srgbClr val="FCFCFB"/>
          </a:solidFill>
          <a:ln w="12700">
            <a:solidFill>
              <a:srgbClr val="E3DF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Picture 43" descr="m_admin.png"/>
          <p:cNvPicPr>
            <a:picLocks noChangeAspect="1"/>
          </p:cNvPicPr>
          <p:nvPr/>
        </p:nvPicPr>
        <p:blipFill>
          <a:blip r:embed="rId5"/>
          <a:stretch>
            <a:fillRect/>
          </a:stretch>
        </p:blipFill>
        <p:spPr>
          <a:xfrm>
            <a:off x="5736733" y="4151376"/>
            <a:ext cx="1895061" cy="1700784"/>
          </a:xfrm>
          <a:prstGeom prst="rect">
            <a:avLst/>
          </a:prstGeom>
        </p:spPr>
      </p:pic>
      <p:sp>
        <p:nvSpPr>
          <p:cNvPr id="45" name="TextBox 44"/>
          <p:cNvSpPr txBox="1"/>
          <p:nvPr/>
        </p:nvSpPr>
        <p:spPr>
          <a:xfrm>
            <a:off x="4754879" y="5852160"/>
            <a:ext cx="3858768" cy="420624"/>
          </a:xfrm>
          <a:prstGeom prst="rect">
            <a:avLst/>
          </a:prstGeom>
          <a:noFill/>
        </p:spPr>
        <p:txBody>
          <a:bodyPr wrap="square" lIns="25400" tIns="0" bIns="0">
            <a:spAutoFit/>
          </a:bodyPr>
          <a:lstStyle/>
          <a:p>
            <a:pPr algn="ctr"/>
            <a:r>
              <a:rPr sz="1050" b="1">
                <a:solidFill>
                  <a:srgbClr val="2563EB"/>
                </a:solidFill>
                <a:latin typeface="맑은 고딕"/>
              </a:rPr>
              <a:t>PU-08  </a:t>
            </a:r>
            <a:r>
              <a:rPr sz="1100" b="1">
                <a:solidFill>
                  <a:srgbClr val="2A2A2A"/>
                </a:solidFill>
                <a:latin typeface="맑은 고딕"/>
              </a:rPr>
              <a:t>관리자 · 유저 정보 수정</a:t>
            </a:r>
          </a:p>
          <a:p>
            <a:pPr algn="ctr"/>
            <a:r>
              <a:rPr sz="880" b="0">
                <a:solidFill>
                  <a:srgbClr val="6B665E"/>
                </a:solidFill>
                <a:latin typeface="맑은 고딕"/>
              </a:rPr>
              <a:t>권한·상태 변경 · 비밀번호 재설정 (감사 로그 기록)</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직사각형 16"/>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직선 연결선 17"/>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 name="직선 연결선 22"/>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4"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None/>
            </a:pPr>
            <a:r>
              <a:rPr lang="en-US" altLang="ko-KR" sz="1700" b="1" dirty="0">
                <a:solidFill>
                  <a:schemeClr val="bg1"/>
                </a:solidFill>
                <a:latin typeface="+mn-ea"/>
                <a:cs typeface="+mj-cs"/>
              </a:rPr>
              <a:t>| </a:t>
            </a:r>
            <a:r>
              <a:rPr lang="ko-KR" altLang="en-US" sz="1700" b="1" dirty="0">
                <a:solidFill>
                  <a:schemeClr val="bg1"/>
                </a:solidFill>
                <a:latin typeface="+mn-ea"/>
                <a:cs typeface="+mj-cs"/>
              </a:rPr>
              <a:t>엔티티 관계도 - ERD</a:t>
            </a:r>
          </a:p>
        </p:txBody>
      </p:sp>
      <p:pic>
        <p:nvPicPr>
          <p:cNvPr id="29"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0" name="막힌 원호 29"/>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2" name="그림 1">
            <a:extLst>
              <a:ext uri="{FF2B5EF4-FFF2-40B4-BE49-F238E27FC236}">
                <a16:creationId xmlns:a16="http://schemas.microsoft.com/office/drawing/2014/main" id="{AE311E42-8094-1ED2-BF9F-D52B09934D67}"/>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501" name="TB501"/>
          <p:cNvSpPr txBox="1"/>
          <p:nvPr/>
        </p:nvSpPr>
        <p:spPr>
          <a:xfrm>
            <a:off x="402336" y="1463040"/>
            <a:ext cx="8229600" cy="292608"/>
          </a:xfrm>
          <a:prstGeom prst="rect">
            <a:avLst/>
          </a:prstGeom>
          <a:noFill/>
          <a:ln>
            <a:noFill/>
          </a:ln>
        </p:spPr>
        <p:txBody>
          <a:bodyPr wrap="square" lIns="0" tIns="0" rIns="0" bIns="0" anchor="ctr">
            <a:noAutofit/>
          </a:bodyPr>
          <a:lstStyle/>
          <a:p>
            <a:pPr algn="l"/>
            <a:r>
              <a:rPr lang="ko-KR" altLang="en-US" sz="1300" dirty="0">
                <a:solidFill>
                  <a:srgbClr val="2563EB"/>
                </a:solidFill>
                <a:latin typeface="맑은 고딕"/>
                <a:ea typeface="맑은 고딕"/>
              </a:rPr>
              <a:t>▍ </a:t>
            </a:r>
            <a:r>
              <a:rPr lang="ko-KR" altLang="en-US" sz="1300" b="1" dirty="0">
                <a:solidFill>
                  <a:srgbClr val="2A2A2A"/>
                </a:solidFill>
                <a:latin typeface="맑은 고딕"/>
                <a:ea typeface="맑은 고딕"/>
              </a:rPr>
              <a:t>① 인증·자산 도메인</a:t>
            </a:r>
          </a:p>
        </p:txBody>
      </p:sp>
      <p:sp>
        <p:nvSpPr>
          <p:cNvPr id="502" name="TB502"/>
          <p:cNvSpPr txBox="1"/>
          <p:nvPr/>
        </p:nvSpPr>
        <p:spPr>
          <a:xfrm>
            <a:off x="402336" y="1847088"/>
            <a:ext cx="3886200" cy="219456"/>
          </a:xfrm>
          <a:prstGeom prst="rect">
            <a:avLst/>
          </a:prstGeom>
          <a:noFill/>
          <a:ln>
            <a:noFill/>
          </a:ln>
        </p:spPr>
        <p:txBody>
          <a:bodyPr wrap="square" lIns="0" tIns="0" rIns="0" bIns="0" anchor="b">
            <a:noAutofit/>
          </a:bodyPr>
          <a:lstStyle/>
          <a:p>
            <a:pPr algn="l"/>
            <a:r>
              <a:rPr lang="ko-KR" altLang="en-US" sz="1250" b="1" dirty="0">
                <a:solidFill>
                  <a:srgbClr val="3B5AA8"/>
                </a:solidFill>
                <a:latin typeface="맑은 고딕"/>
                <a:ea typeface="맑은 고딕"/>
              </a:rPr>
              <a:t>user_info</a:t>
            </a:r>
          </a:p>
        </p:txBody>
      </p:sp>
      <p:sp>
        <p:nvSpPr>
          <p:cNvPr id="503" name="Rect503"/>
          <p:cNvSpPr/>
          <p:nvPr/>
        </p:nvSpPr>
        <p:spPr>
          <a:xfrm>
            <a:off x="402336" y="2084832"/>
            <a:ext cx="3886200" cy="1719072"/>
          </a:xfrm>
          <a:prstGeom prst="rect">
            <a:avLst/>
          </a:prstGeom>
          <a:solidFill>
            <a:srgbClr val="FFFFFF"/>
          </a:solidFill>
          <a:ln w="9525">
            <a:solidFill>
              <a:srgbClr val="D9DCE3"/>
            </a:solidFill>
          </a:ln>
        </p:spPr>
        <p:txBody>
          <a:bodyPr/>
          <a:lstStyle/>
          <a:p>
            <a:endParaRPr lang="ko-KR"/>
          </a:p>
        </p:txBody>
      </p:sp>
      <p:sp>
        <p:nvSpPr>
          <p:cNvPr id="504" name="TB504"/>
          <p:cNvSpPr txBox="1"/>
          <p:nvPr/>
        </p:nvSpPr>
        <p:spPr>
          <a:xfrm>
            <a:off x="475488" y="2084832"/>
            <a:ext cx="3739896" cy="169164"/>
          </a:xfrm>
          <a:prstGeom prst="rect">
            <a:avLst/>
          </a:prstGeom>
          <a:noFill/>
          <a:ln>
            <a:noFill/>
          </a:ln>
        </p:spPr>
        <p:txBody>
          <a:bodyPr wrap="square" lIns="0" tIns="0" rIns="0" bIns="0" anchor="ctr">
            <a:noAutofit/>
          </a:bodyPr>
          <a:lstStyle/>
          <a:p>
            <a:pPr algn="l"/>
            <a:r>
              <a:rPr lang="ko-KR" altLang="en-US" sz="900" b="1" u="sng" dirty="0">
                <a:solidFill>
                  <a:srgbClr val="222222"/>
                </a:solidFill>
                <a:latin typeface="맑은 고딕"/>
                <a:ea typeface="맑은 고딕"/>
              </a:rPr>
              <a:t>user_id           INT(11)</a:t>
            </a:r>
          </a:p>
        </p:txBody>
      </p:sp>
      <p:cxnSp>
        <p:nvCxnSpPr>
          <p:cNvPr id="505" name="Line505"/>
          <p:cNvCxnSpPr/>
          <p:nvPr/>
        </p:nvCxnSpPr>
        <p:spPr>
          <a:xfrm>
            <a:off x="402336" y="2253996"/>
            <a:ext cx="3886200" cy="914"/>
          </a:xfrm>
          <a:prstGeom prst="line">
            <a:avLst/>
          </a:prstGeom>
          <a:ln w="12700">
            <a:solidFill>
              <a:srgbClr val="222222"/>
            </a:solidFill>
          </a:ln>
        </p:spPr>
      </p:cxnSp>
      <p:sp>
        <p:nvSpPr>
          <p:cNvPr id="506" name="TB506"/>
          <p:cNvSpPr txBox="1"/>
          <p:nvPr/>
        </p:nvSpPr>
        <p:spPr>
          <a:xfrm>
            <a:off x="475488" y="2281428"/>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user_email        VARCHAR(100)</a:t>
            </a:r>
          </a:p>
        </p:txBody>
      </p:sp>
      <p:sp>
        <p:nvSpPr>
          <p:cNvPr id="507" name="TB507"/>
          <p:cNvSpPr txBox="1"/>
          <p:nvPr/>
        </p:nvSpPr>
        <p:spPr>
          <a:xfrm>
            <a:off x="475488" y="2450592"/>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user_pwd          VARCHAR(200)</a:t>
            </a:r>
          </a:p>
        </p:txBody>
      </p:sp>
      <p:sp>
        <p:nvSpPr>
          <p:cNvPr id="508" name="TB508"/>
          <p:cNvSpPr txBox="1"/>
          <p:nvPr/>
        </p:nvSpPr>
        <p:spPr>
          <a:xfrm>
            <a:off x="475488" y="2619756"/>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user_name         VARCHAR(30)</a:t>
            </a:r>
          </a:p>
        </p:txBody>
      </p:sp>
      <p:sp>
        <p:nvSpPr>
          <p:cNvPr id="509" name="TB509"/>
          <p:cNvSpPr txBox="1"/>
          <p:nvPr/>
        </p:nvSpPr>
        <p:spPr>
          <a:xfrm>
            <a:off x="475488" y="2788920"/>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user_phone        VARCHAR(20)</a:t>
            </a:r>
          </a:p>
        </p:txBody>
      </p:sp>
      <p:sp>
        <p:nvSpPr>
          <p:cNvPr id="510" name="TB510"/>
          <p:cNvSpPr txBox="1"/>
          <p:nvPr/>
        </p:nvSpPr>
        <p:spPr>
          <a:xfrm>
            <a:off x="475488" y="2958084"/>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user_role         VARCHAR(10)</a:t>
            </a:r>
          </a:p>
        </p:txBody>
      </p:sp>
      <p:sp>
        <p:nvSpPr>
          <p:cNvPr id="511" name="TB511"/>
          <p:cNvSpPr txBox="1"/>
          <p:nvPr/>
        </p:nvSpPr>
        <p:spPr>
          <a:xfrm>
            <a:off x="475488" y="3127248"/>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login_api_type    VARCHAR(10)</a:t>
            </a:r>
          </a:p>
        </p:txBody>
      </p:sp>
      <p:sp>
        <p:nvSpPr>
          <p:cNvPr id="512" name="TB512"/>
          <p:cNvSpPr txBox="1"/>
          <p:nvPr/>
        </p:nvSpPr>
        <p:spPr>
          <a:xfrm>
            <a:off x="475488" y="3296412"/>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status            VARCHAR(10)</a:t>
            </a:r>
          </a:p>
        </p:txBody>
      </p:sp>
      <p:sp>
        <p:nvSpPr>
          <p:cNvPr id="513" name="TB513"/>
          <p:cNvSpPr txBox="1"/>
          <p:nvPr/>
        </p:nvSpPr>
        <p:spPr>
          <a:xfrm>
            <a:off x="475488" y="3465576"/>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created_at        DATETIME</a:t>
            </a:r>
          </a:p>
        </p:txBody>
      </p:sp>
      <p:sp>
        <p:nvSpPr>
          <p:cNvPr id="514" name="TB514"/>
          <p:cNvSpPr txBox="1"/>
          <p:nvPr/>
        </p:nvSpPr>
        <p:spPr>
          <a:xfrm>
            <a:off x="475488" y="3634740"/>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last_login_at     DATETIME</a:t>
            </a:r>
          </a:p>
        </p:txBody>
      </p:sp>
      <p:sp>
        <p:nvSpPr>
          <p:cNvPr id="515" name="TB515"/>
          <p:cNvSpPr txBox="1"/>
          <p:nvPr/>
        </p:nvSpPr>
        <p:spPr>
          <a:xfrm>
            <a:off x="4745736" y="1847088"/>
            <a:ext cx="3886200" cy="219456"/>
          </a:xfrm>
          <a:prstGeom prst="rect">
            <a:avLst/>
          </a:prstGeom>
          <a:noFill/>
          <a:ln>
            <a:noFill/>
          </a:ln>
        </p:spPr>
        <p:txBody>
          <a:bodyPr wrap="square" lIns="0" tIns="0" rIns="0" bIns="0" anchor="b">
            <a:noAutofit/>
          </a:bodyPr>
          <a:lstStyle/>
          <a:p>
            <a:pPr algn="l"/>
            <a:r>
              <a:rPr lang="ko-KR" altLang="en-US" sz="1250" b="1" dirty="0">
                <a:solidFill>
                  <a:srgbClr val="3B5AA8"/>
                </a:solidFill>
                <a:latin typeface="맑은 고딕"/>
                <a:ea typeface="맑은 고딕"/>
              </a:rPr>
              <a:t>device_info</a:t>
            </a:r>
          </a:p>
        </p:txBody>
      </p:sp>
      <p:sp>
        <p:nvSpPr>
          <p:cNvPr id="516" name="Rect516"/>
          <p:cNvSpPr/>
          <p:nvPr/>
        </p:nvSpPr>
        <p:spPr>
          <a:xfrm>
            <a:off x="4745736" y="2084832"/>
            <a:ext cx="3886200" cy="1380744"/>
          </a:xfrm>
          <a:prstGeom prst="rect">
            <a:avLst/>
          </a:prstGeom>
          <a:solidFill>
            <a:srgbClr val="FFFFFF"/>
          </a:solidFill>
          <a:ln w="9525">
            <a:solidFill>
              <a:srgbClr val="D9DCE3"/>
            </a:solidFill>
          </a:ln>
        </p:spPr>
        <p:txBody>
          <a:bodyPr/>
          <a:lstStyle/>
          <a:p>
            <a:endParaRPr lang="ko-KR"/>
          </a:p>
        </p:txBody>
      </p:sp>
      <p:sp>
        <p:nvSpPr>
          <p:cNvPr id="517" name="TB517"/>
          <p:cNvSpPr txBox="1"/>
          <p:nvPr/>
        </p:nvSpPr>
        <p:spPr>
          <a:xfrm>
            <a:off x="4818888" y="2084832"/>
            <a:ext cx="3739896" cy="169164"/>
          </a:xfrm>
          <a:prstGeom prst="rect">
            <a:avLst/>
          </a:prstGeom>
          <a:noFill/>
          <a:ln>
            <a:noFill/>
          </a:ln>
        </p:spPr>
        <p:txBody>
          <a:bodyPr wrap="square" lIns="0" tIns="0" rIns="0" bIns="0" anchor="ctr">
            <a:noAutofit/>
          </a:bodyPr>
          <a:lstStyle/>
          <a:p>
            <a:pPr algn="l"/>
            <a:r>
              <a:rPr lang="ko-KR" altLang="en-US" sz="900" b="1" u="sng" dirty="0">
                <a:solidFill>
                  <a:srgbClr val="222222"/>
                </a:solidFill>
                <a:latin typeface="맑은 고딕"/>
                <a:ea typeface="맑은 고딕"/>
              </a:rPr>
              <a:t>device_id         VARCHAR(40)</a:t>
            </a:r>
          </a:p>
        </p:txBody>
      </p:sp>
      <p:cxnSp>
        <p:nvCxnSpPr>
          <p:cNvPr id="518" name="Line518"/>
          <p:cNvCxnSpPr/>
          <p:nvPr/>
        </p:nvCxnSpPr>
        <p:spPr>
          <a:xfrm>
            <a:off x="4745736" y="2253996"/>
            <a:ext cx="3886200" cy="914"/>
          </a:xfrm>
          <a:prstGeom prst="line">
            <a:avLst/>
          </a:prstGeom>
          <a:ln w="12700">
            <a:solidFill>
              <a:srgbClr val="222222"/>
            </a:solidFill>
          </a:ln>
        </p:spPr>
      </p:cxnSp>
      <p:sp>
        <p:nvSpPr>
          <p:cNvPr id="519" name="TB519"/>
          <p:cNvSpPr txBox="1"/>
          <p:nvPr/>
        </p:nvSpPr>
        <p:spPr>
          <a:xfrm>
            <a:off x="4818888" y="2281428"/>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owner_id (FK)     INT(11)</a:t>
            </a:r>
          </a:p>
        </p:txBody>
      </p:sp>
      <p:sp>
        <p:nvSpPr>
          <p:cNvPr id="520" name="TB520"/>
          <p:cNvSpPr txBox="1"/>
          <p:nvPr/>
        </p:nvSpPr>
        <p:spPr>
          <a:xfrm>
            <a:off x="4818888" y="2450592"/>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device_name       VARCHAR(50)</a:t>
            </a:r>
          </a:p>
        </p:txBody>
      </p:sp>
      <p:sp>
        <p:nvSpPr>
          <p:cNvPr id="521" name="TB521"/>
          <p:cNvSpPr txBox="1"/>
          <p:nvPr/>
        </p:nvSpPr>
        <p:spPr>
          <a:xfrm>
            <a:off x="4818888" y="2619756"/>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install_location  VARCHAR(100)</a:t>
            </a:r>
          </a:p>
        </p:txBody>
      </p:sp>
      <p:sp>
        <p:nvSpPr>
          <p:cNvPr id="522" name="TB522"/>
          <p:cNvSpPr txBox="1"/>
          <p:nvPr/>
        </p:nvSpPr>
        <p:spPr>
          <a:xfrm>
            <a:off x="4818888" y="2788920"/>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status            VARCHAR(10)</a:t>
            </a:r>
          </a:p>
        </p:txBody>
      </p:sp>
      <p:sp>
        <p:nvSpPr>
          <p:cNvPr id="523" name="TB523"/>
          <p:cNvSpPr txBox="1"/>
          <p:nvPr/>
        </p:nvSpPr>
        <p:spPr>
          <a:xfrm>
            <a:off x="4818888" y="2958084"/>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last_received_at  DATETIME</a:t>
            </a:r>
          </a:p>
        </p:txBody>
      </p:sp>
      <p:sp>
        <p:nvSpPr>
          <p:cNvPr id="524" name="TB524"/>
          <p:cNvSpPr txBox="1"/>
          <p:nvPr/>
        </p:nvSpPr>
        <p:spPr>
          <a:xfrm>
            <a:off x="4818888" y="3127248"/>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sensor_config     VARCHAR(200)</a:t>
            </a:r>
          </a:p>
        </p:txBody>
      </p:sp>
      <p:sp>
        <p:nvSpPr>
          <p:cNvPr id="525" name="TB525"/>
          <p:cNvSpPr txBox="1"/>
          <p:nvPr/>
        </p:nvSpPr>
        <p:spPr>
          <a:xfrm>
            <a:off x="4818888" y="3296412"/>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created_at        DATETIME</a:t>
            </a:r>
          </a:p>
        </p:txBody>
      </p:sp>
      <p:sp>
        <p:nvSpPr>
          <p:cNvPr id="526" name="TB526"/>
          <p:cNvSpPr txBox="1"/>
          <p:nvPr/>
        </p:nvSpPr>
        <p:spPr>
          <a:xfrm>
            <a:off x="402336" y="4078224"/>
            <a:ext cx="3886200" cy="219456"/>
          </a:xfrm>
          <a:prstGeom prst="rect">
            <a:avLst/>
          </a:prstGeom>
          <a:noFill/>
          <a:ln>
            <a:noFill/>
          </a:ln>
        </p:spPr>
        <p:txBody>
          <a:bodyPr wrap="square" lIns="0" tIns="0" rIns="0" bIns="0" anchor="b">
            <a:noAutofit/>
          </a:bodyPr>
          <a:lstStyle/>
          <a:p>
            <a:pPr algn="l"/>
            <a:r>
              <a:rPr lang="ko-KR" altLang="en-US" sz="1250" b="1" dirty="0">
                <a:solidFill>
                  <a:srgbClr val="3B5AA8"/>
                </a:solidFill>
                <a:latin typeface="맑은 고딕"/>
                <a:ea typeface="맑은 고딕"/>
              </a:rPr>
              <a:t>battery_asset</a:t>
            </a:r>
          </a:p>
        </p:txBody>
      </p:sp>
      <p:sp>
        <p:nvSpPr>
          <p:cNvPr id="527" name="Rect527"/>
          <p:cNvSpPr/>
          <p:nvPr/>
        </p:nvSpPr>
        <p:spPr>
          <a:xfrm>
            <a:off x="402336" y="4315968"/>
            <a:ext cx="3886200" cy="2226564"/>
          </a:xfrm>
          <a:prstGeom prst="rect">
            <a:avLst/>
          </a:prstGeom>
          <a:solidFill>
            <a:srgbClr val="FFFFFF"/>
          </a:solidFill>
          <a:ln w="9525">
            <a:solidFill>
              <a:srgbClr val="D9DCE3"/>
            </a:solidFill>
          </a:ln>
        </p:spPr>
        <p:txBody>
          <a:bodyPr/>
          <a:lstStyle/>
          <a:p>
            <a:endParaRPr lang="ko-KR"/>
          </a:p>
        </p:txBody>
      </p:sp>
      <p:sp>
        <p:nvSpPr>
          <p:cNvPr id="528" name="TB528"/>
          <p:cNvSpPr txBox="1"/>
          <p:nvPr/>
        </p:nvSpPr>
        <p:spPr>
          <a:xfrm>
            <a:off x="475488" y="4315968"/>
            <a:ext cx="3739896" cy="169164"/>
          </a:xfrm>
          <a:prstGeom prst="rect">
            <a:avLst/>
          </a:prstGeom>
          <a:noFill/>
          <a:ln>
            <a:noFill/>
          </a:ln>
        </p:spPr>
        <p:txBody>
          <a:bodyPr wrap="square" lIns="0" tIns="0" rIns="0" bIns="0" anchor="ctr">
            <a:noAutofit/>
          </a:bodyPr>
          <a:lstStyle/>
          <a:p>
            <a:pPr algn="l"/>
            <a:r>
              <a:rPr lang="ko-KR" altLang="en-US" sz="900" b="1" u="sng" dirty="0">
                <a:solidFill>
                  <a:srgbClr val="222222"/>
                </a:solidFill>
                <a:latin typeface="맑은 고딕"/>
                <a:ea typeface="맑은 고딕"/>
              </a:rPr>
              <a:t>battery_id        CHAR(36)</a:t>
            </a:r>
          </a:p>
        </p:txBody>
      </p:sp>
      <p:cxnSp>
        <p:nvCxnSpPr>
          <p:cNvPr id="529" name="Line529"/>
          <p:cNvCxnSpPr/>
          <p:nvPr/>
        </p:nvCxnSpPr>
        <p:spPr>
          <a:xfrm>
            <a:off x="402336" y="4485132"/>
            <a:ext cx="3886200" cy="914"/>
          </a:xfrm>
          <a:prstGeom prst="line">
            <a:avLst/>
          </a:prstGeom>
          <a:ln w="12700">
            <a:solidFill>
              <a:srgbClr val="222222"/>
            </a:solidFill>
          </a:ln>
        </p:spPr>
      </p:cxnSp>
      <p:sp>
        <p:nvSpPr>
          <p:cNvPr id="530" name="TB530"/>
          <p:cNvSpPr txBox="1"/>
          <p:nvPr/>
        </p:nvSpPr>
        <p:spPr>
          <a:xfrm>
            <a:off x="475488" y="4512564"/>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owner_id (FK)     INT(11)</a:t>
            </a:r>
          </a:p>
        </p:txBody>
      </p:sp>
      <p:sp>
        <p:nvSpPr>
          <p:cNvPr id="531" name="TB531"/>
          <p:cNvSpPr txBox="1"/>
          <p:nvPr/>
        </p:nvSpPr>
        <p:spPr>
          <a:xfrm>
            <a:off x="475488" y="4681728"/>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name              VARCHAR(50)</a:t>
            </a:r>
          </a:p>
        </p:txBody>
      </p:sp>
      <p:sp>
        <p:nvSpPr>
          <p:cNvPr id="532" name="TB532"/>
          <p:cNvSpPr txBox="1"/>
          <p:nvPr/>
        </p:nvSpPr>
        <p:spPr>
          <a:xfrm>
            <a:off x="475488" y="4850892"/>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target_mode       INT(1)</a:t>
            </a:r>
          </a:p>
        </p:txBody>
      </p:sp>
      <p:sp>
        <p:nvSpPr>
          <p:cNvPr id="533" name="TB533"/>
          <p:cNvSpPr txBox="1"/>
          <p:nvPr/>
        </p:nvSpPr>
        <p:spPr>
          <a:xfrm>
            <a:off x="475488" y="5020056"/>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chemistry         VARCHAR(10)</a:t>
            </a:r>
          </a:p>
        </p:txBody>
      </p:sp>
      <p:sp>
        <p:nvSpPr>
          <p:cNvPr id="534" name="TB534"/>
          <p:cNvSpPr txBox="1"/>
          <p:nvPr/>
        </p:nvSpPr>
        <p:spPr>
          <a:xfrm>
            <a:off x="475488" y="5189220"/>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series_count      INT(3)</a:t>
            </a:r>
          </a:p>
        </p:txBody>
      </p:sp>
      <p:sp>
        <p:nvSpPr>
          <p:cNvPr id="535" name="TB535"/>
          <p:cNvSpPr txBox="1"/>
          <p:nvPr/>
        </p:nvSpPr>
        <p:spPr>
          <a:xfrm>
            <a:off x="475488" y="5358384"/>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capacity_mah      INT(8)</a:t>
            </a:r>
          </a:p>
        </p:txBody>
      </p:sp>
      <p:sp>
        <p:nvSpPr>
          <p:cNvPr id="536" name="TB536"/>
          <p:cNvSpPr txBox="1"/>
          <p:nvPr/>
        </p:nvSpPr>
        <p:spPr>
          <a:xfrm>
            <a:off x="475488" y="5527548"/>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capacity_wh       DECIMAL(6,2)</a:t>
            </a:r>
          </a:p>
        </p:txBody>
      </p:sp>
      <p:sp>
        <p:nvSpPr>
          <p:cNvPr id="537" name="TB537"/>
          <p:cNvSpPr txBox="1"/>
          <p:nvPr/>
        </p:nvSpPr>
        <p:spPr>
          <a:xfrm>
            <a:off x="475488" y="5696712"/>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manufacturer      VARCHAR(50)</a:t>
            </a:r>
          </a:p>
        </p:txBody>
      </p:sp>
      <p:sp>
        <p:nvSpPr>
          <p:cNvPr id="538" name="TB538"/>
          <p:cNvSpPr txBox="1"/>
          <p:nvPr/>
        </p:nvSpPr>
        <p:spPr>
          <a:xfrm>
            <a:off x="475488" y="5865876"/>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model             VARCHAR(50)</a:t>
            </a:r>
          </a:p>
        </p:txBody>
      </p:sp>
      <p:sp>
        <p:nvSpPr>
          <p:cNvPr id="539" name="TB539"/>
          <p:cNvSpPr txBox="1"/>
          <p:nvPr/>
        </p:nvSpPr>
        <p:spPr>
          <a:xfrm>
            <a:off x="475488" y="6035040"/>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memo              VARCHAR(200)</a:t>
            </a:r>
          </a:p>
        </p:txBody>
      </p:sp>
      <p:sp>
        <p:nvSpPr>
          <p:cNvPr id="540" name="TB540"/>
          <p:cNvSpPr txBox="1"/>
          <p:nvPr/>
        </p:nvSpPr>
        <p:spPr>
          <a:xfrm>
            <a:off x="475488" y="6204204"/>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created_at        DATETIME</a:t>
            </a:r>
          </a:p>
        </p:txBody>
      </p:sp>
      <p:sp>
        <p:nvSpPr>
          <p:cNvPr id="541" name="TB541"/>
          <p:cNvSpPr txBox="1"/>
          <p:nvPr/>
        </p:nvSpPr>
        <p:spPr>
          <a:xfrm>
            <a:off x="475488" y="6373368"/>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last_measured_at  DATETIME</a:t>
            </a:r>
          </a:p>
        </p:txBody>
      </p:sp>
      <p:sp>
        <p:nvSpPr>
          <p:cNvPr id="542" name="TB542"/>
          <p:cNvSpPr txBox="1"/>
          <p:nvPr/>
        </p:nvSpPr>
        <p:spPr>
          <a:xfrm>
            <a:off x="4745736" y="4078224"/>
            <a:ext cx="3886200" cy="219456"/>
          </a:xfrm>
          <a:prstGeom prst="rect">
            <a:avLst/>
          </a:prstGeom>
          <a:noFill/>
          <a:ln>
            <a:noFill/>
          </a:ln>
        </p:spPr>
        <p:txBody>
          <a:bodyPr wrap="square" lIns="0" tIns="0" rIns="0" bIns="0" anchor="b">
            <a:noAutofit/>
          </a:bodyPr>
          <a:lstStyle/>
          <a:p>
            <a:pPr algn="l"/>
            <a:r>
              <a:rPr lang="ko-KR" altLang="en-US" sz="1250" b="1" dirty="0">
                <a:solidFill>
                  <a:srgbClr val="3B5AA8"/>
                </a:solidFill>
                <a:latin typeface="맑은 고딕"/>
                <a:ea typeface="맑은 고딕"/>
              </a:rPr>
              <a:t>measurement_session</a:t>
            </a:r>
          </a:p>
        </p:txBody>
      </p:sp>
      <p:sp>
        <p:nvSpPr>
          <p:cNvPr id="543" name="Rect543"/>
          <p:cNvSpPr/>
          <p:nvPr/>
        </p:nvSpPr>
        <p:spPr>
          <a:xfrm>
            <a:off x="4745736" y="4315968"/>
            <a:ext cx="3886200" cy="1042416"/>
          </a:xfrm>
          <a:prstGeom prst="rect">
            <a:avLst/>
          </a:prstGeom>
          <a:solidFill>
            <a:srgbClr val="FFFFFF"/>
          </a:solidFill>
          <a:ln w="9525">
            <a:solidFill>
              <a:srgbClr val="D9DCE3"/>
            </a:solidFill>
          </a:ln>
        </p:spPr>
        <p:txBody>
          <a:bodyPr/>
          <a:lstStyle/>
          <a:p>
            <a:endParaRPr lang="ko-KR"/>
          </a:p>
        </p:txBody>
      </p:sp>
      <p:sp>
        <p:nvSpPr>
          <p:cNvPr id="544" name="TB544"/>
          <p:cNvSpPr txBox="1"/>
          <p:nvPr/>
        </p:nvSpPr>
        <p:spPr>
          <a:xfrm>
            <a:off x="4818888" y="4315968"/>
            <a:ext cx="3739896" cy="169164"/>
          </a:xfrm>
          <a:prstGeom prst="rect">
            <a:avLst/>
          </a:prstGeom>
          <a:noFill/>
          <a:ln>
            <a:noFill/>
          </a:ln>
        </p:spPr>
        <p:txBody>
          <a:bodyPr wrap="square" lIns="0" tIns="0" rIns="0" bIns="0" anchor="ctr">
            <a:noAutofit/>
          </a:bodyPr>
          <a:lstStyle/>
          <a:p>
            <a:pPr algn="l"/>
            <a:r>
              <a:rPr lang="ko-KR" altLang="en-US" sz="900" b="1" u="sng" dirty="0">
                <a:solidFill>
                  <a:srgbClr val="222222"/>
                </a:solidFill>
                <a:latin typeface="맑은 고딕"/>
                <a:ea typeface="맑은 고딕"/>
              </a:rPr>
              <a:t>session_id        BIGINT</a:t>
            </a:r>
          </a:p>
        </p:txBody>
      </p:sp>
      <p:cxnSp>
        <p:nvCxnSpPr>
          <p:cNvPr id="545" name="Line545"/>
          <p:cNvCxnSpPr/>
          <p:nvPr/>
        </p:nvCxnSpPr>
        <p:spPr>
          <a:xfrm>
            <a:off x="4745736" y="4485132"/>
            <a:ext cx="3886200" cy="914"/>
          </a:xfrm>
          <a:prstGeom prst="line">
            <a:avLst/>
          </a:prstGeom>
          <a:ln w="12700">
            <a:solidFill>
              <a:srgbClr val="222222"/>
            </a:solidFill>
          </a:ln>
        </p:spPr>
      </p:cxnSp>
      <p:sp>
        <p:nvSpPr>
          <p:cNvPr id="546" name="TB546"/>
          <p:cNvSpPr txBox="1"/>
          <p:nvPr/>
        </p:nvSpPr>
        <p:spPr>
          <a:xfrm>
            <a:off x="4818888" y="4512564"/>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device_id (FK)    VARCHAR(40)</a:t>
            </a:r>
          </a:p>
        </p:txBody>
      </p:sp>
      <p:sp>
        <p:nvSpPr>
          <p:cNvPr id="547" name="TB547"/>
          <p:cNvSpPr txBox="1"/>
          <p:nvPr/>
        </p:nvSpPr>
        <p:spPr>
          <a:xfrm>
            <a:off x="4818888" y="4681728"/>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battery_id (FK)   CHAR(36)</a:t>
            </a:r>
          </a:p>
        </p:txBody>
      </p:sp>
      <p:sp>
        <p:nvSpPr>
          <p:cNvPr id="548" name="TB548"/>
          <p:cNvSpPr txBox="1"/>
          <p:nvPr/>
        </p:nvSpPr>
        <p:spPr>
          <a:xfrm>
            <a:off x="4818888" y="4850892"/>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mode              INT(1)</a:t>
            </a:r>
          </a:p>
        </p:txBody>
      </p:sp>
      <p:sp>
        <p:nvSpPr>
          <p:cNvPr id="549" name="TB549"/>
          <p:cNvSpPr txBox="1"/>
          <p:nvPr/>
        </p:nvSpPr>
        <p:spPr>
          <a:xfrm>
            <a:off x="4818888" y="5020056"/>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started_at        DATETIME</a:t>
            </a:r>
          </a:p>
        </p:txBody>
      </p:sp>
      <p:sp>
        <p:nvSpPr>
          <p:cNvPr id="550" name="TB550"/>
          <p:cNvSpPr txBox="1"/>
          <p:nvPr/>
        </p:nvSpPr>
        <p:spPr>
          <a:xfrm>
            <a:off x="4818888" y="5189220"/>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ended_at          DATETIME</a:t>
            </a:r>
          </a:p>
        </p:txBody>
      </p:sp>
      <p:cxnSp>
        <p:nvCxnSpPr>
          <p:cNvPr id="551" name="Line551"/>
          <p:cNvCxnSpPr/>
          <p:nvPr/>
        </p:nvCxnSpPr>
        <p:spPr>
          <a:xfrm>
            <a:off x="4288536" y="2359152"/>
            <a:ext cx="457200" cy="914"/>
          </a:xfrm>
          <a:prstGeom prst="line">
            <a:avLst/>
          </a:prstGeom>
          <a:ln w="12700">
            <a:solidFill>
              <a:srgbClr val="5B6472"/>
            </a:solidFill>
          </a:ln>
        </p:spPr>
      </p:cxnSp>
      <p:sp>
        <p:nvSpPr>
          <p:cNvPr id="552" name="TB552"/>
          <p:cNvSpPr txBox="1"/>
          <p:nvPr/>
        </p:nvSpPr>
        <p:spPr>
          <a:xfrm>
            <a:off x="4334256" y="2066544"/>
            <a:ext cx="274320" cy="219456"/>
          </a:xfrm>
          <a:prstGeom prst="rect">
            <a:avLst/>
          </a:prstGeom>
          <a:noFill/>
          <a:ln>
            <a:noFill/>
          </a:ln>
        </p:spPr>
        <p:txBody>
          <a:bodyPr wrap="square" lIns="0" tIns="0" rIns="0" bIns="0" anchor="ctr">
            <a:noAutofit/>
          </a:bodyPr>
          <a:lstStyle/>
          <a:p>
            <a:pPr algn="ctr"/>
            <a:r>
              <a:rPr lang="ko-KR" altLang="en-US" sz="1000" b="1" dirty="0">
                <a:solidFill>
                  <a:srgbClr val="2E4585"/>
                </a:solidFill>
                <a:latin typeface="맑은 고딕"/>
                <a:ea typeface="맑은 고딕"/>
              </a:rPr>
              <a:t>1</a:t>
            </a:r>
          </a:p>
        </p:txBody>
      </p:sp>
      <p:sp>
        <p:nvSpPr>
          <p:cNvPr id="553" name="TB553"/>
          <p:cNvSpPr txBox="1"/>
          <p:nvPr/>
        </p:nvSpPr>
        <p:spPr>
          <a:xfrm>
            <a:off x="4425696" y="2066544"/>
            <a:ext cx="274320" cy="219456"/>
          </a:xfrm>
          <a:prstGeom prst="rect">
            <a:avLst/>
          </a:prstGeom>
          <a:noFill/>
          <a:ln>
            <a:noFill/>
          </a:ln>
        </p:spPr>
        <p:txBody>
          <a:bodyPr wrap="square" lIns="0" tIns="0" rIns="0" bIns="0" anchor="ctr">
            <a:noAutofit/>
          </a:bodyPr>
          <a:lstStyle/>
          <a:p>
            <a:pPr algn="ctr"/>
            <a:r>
              <a:rPr lang="ko-KR" altLang="en-US" sz="1000" b="1" dirty="0">
                <a:solidFill>
                  <a:srgbClr val="2E4585"/>
                </a:solidFill>
                <a:latin typeface="맑은 고딕"/>
                <a:ea typeface="맑은 고딕"/>
              </a:rPr>
              <a:t>N</a:t>
            </a:r>
          </a:p>
        </p:txBody>
      </p:sp>
      <p:cxnSp>
        <p:nvCxnSpPr>
          <p:cNvPr id="554" name="Line554"/>
          <p:cNvCxnSpPr/>
          <p:nvPr/>
        </p:nvCxnSpPr>
        <p:spPr>
          <a:xfrm>
            <a:off x="2345436" y="3803904"/>
            <a:ext cx="914" cy="512064"/>
          </a:xfrm>
          <a:prstGeom prst="line">
            <a:avLst/>
          </a:prstGeom>
          <a:ln w="12700">
            <a:solidFill>
              <a:srgbClr val="5B6472"/>
            </a:solidFill>
          </a:ln>
        </p:spPr>
      </p:cxnSp>
      <p:sp>
        <p:nvSpPr>
          <p:cNvPr id="555" name="TB555"/>
          <p:cNvSpPr txBox="1"/>
          <p:nvPr/>
        </p:nvSpPr>
        <p:spPr>
          <a:xfrm>
            <a:off x="2180844" y="3822192"/>
            <a:ext cx="237744" cy="201168"/>
          </a:xfrm>
          <a:prstGeom prst="rect">
            <a:avLst/>
          </a:prstGeom>
          <a:noFill/>
          <a:ln>
            <a:noFill/>
          </a:ln>
        </p:spPr>
        <p:txBody>
          <a:bodyPr wrap="square" lIns="0" tIns="0" rIns="0" bIns="0" anchor="ctr">
            <a:noAutofit/>
          </a:bodyPr>
          <a:lstStyle/>
          <a:p>
            <a:pPr algn="ctr"/>
            <a:r>
              <a:rPr lang="ko-KR" altLang="en-US" sz="1000" b="1" dirty="0">
                <a:solidFill>
                  <a:srgbClr val="2E4585"/>
                </a:solidFill>
                <a:latin typeface="맑은 고딕"/>
                <a:ea typeface="맑은 고딕"/>
              </a:rPr>
              <a:t>1</a:t>
            </a:r>
          </a:p>
        </p:txBody>
      </p:sp>
      <p:sp>
        <p:nvSpPr>
          <p:cNvPr id="556" name="TB556"/>
          <p:cNvSpPr txBox="1"/>
          <p:nvPr/>
        </p:nvSpPr>
        <p:spPr>
          <a:xfrm>
            <a:off x="2564892" y="3822192"/>
            <a:ext cx="237744" cy="201168"/>
          </a:xfrm>
          <a:prstGeom prst="rect">
            <a:avLst/>
          </a:prstGeom>
          <a:noFill/>
          <a:ln>
            <a:noFill/>
          </a:ln>
        </p:spPr>
        <p:txBody>
          <a:bodyPr wrap="square" lIns="0" tIns="0" rIns="0" bIns="0" anchor="ctr">
            <a:noAutofit/>
          </a:bodyPr>
          <a:lstStyle/>
          <a:p>
            <a:pPr algn="ctr"/>
            <a:r>
              <a:rPr lang="ko-KR" altLang="en-US" sz="1000" b="1" dirty="0">
                <a:solidFill>
                  <a:srgbClr val="2E4585"/>
                </a:solidFill>
                <a:latin typeface="맑은 고딕"/>
                <a:ea typeface="맑은 고딕"/>
              </a:rPr>
              <a:t>N</a:t>
            </a:r>
          </a:p>
        </p:txBody>
      </p:sp>
      <p:cxnSp>
        <p:nvCxnSpPr>
          <p:cNvPr id="557" name="Line557"/>
          <p:cNvCxnSpPr/>
          <p:nvPr/>
        </p:nvCxnSpPr>
        <p:spPr>
          <a:xfrm>
            <a:off x="6688836" y="3465576"/>
            <a:ext cx="914" cy="850392"/>
          </a:xfrm>
          <a:prstGeom prst="line">
            <a:avLst/>
          </a:prstGeom>
          <a:ln w="12700">
            <a:solidFill>
              <a:srgbClr val="5B6472"/>
            </a:solidFill>
          </a:ln>
        </p:spPr>
      </p:cxnSp>
      <p:sp>
        <p:nvSpPr>
          <p:cNvPr id="558" name="TB558"/>
          <p:cNvSpPr txBox="1"/>
          <p:nvPr/>
        </p:nvSpPr>
        <p:spPr>
          <a:xfrm>
            <a:off x="6524244" y="3653028"/>
            <a:ext cx="237744" cy="201168"/>
          </a:xfrm>
          <a:prstGeom prst="rect">
            <a:avLst/>
          </a:prstGeom>
          <a:noFill/>
          <a:ln>
            <a:noFill/>
          </a:ln>
        </p:spPr>
        <p:txBody>
          <a:bodyPr wrap="square" lIns="0" tIns="0" rIns="0" bIns="0" anchor="ctr">
            <a:noAutofit/>
          </a:bodyPr>
          <a:lstStyle/>
          <a:p>
            <a:pPr algn="ctr"/>
            <a:r>
              <a:rPr lang="ko-KR" altLang="en-US" sz="1000" b="1" dirty="0">
                <a:solidFill>
                  <a:srgbClr val="2E4585"/>
                </a:solidFill>
                <a:latin typeface="맑은 고딕"/>
                <a:ea typeface="맑은 고딕"/>
              </a:rPr>
              <a:t>1</a:t>
            </a:r>
          </a:p>
        </p:txBody>
      </p:sp>
      <p:sp>
        <p:nvSpPr>
          <p:cNvPr id="559" name="TB559"/>
          <p:cNvSpPr txBox="1"/>
          <p:nvPr/>
        </p:nvSpPr>
        <p:spPr>
          <a:xfrm>
            <a:off x="6908292" y="3653028"/>
            <a:ext cx="237744" cy="201168"/>
          </a:xfrm>
          <a:prstGeom prst="rect">
            <a:avLst/>
          </a:prstGeom>
          <a:noFill/>
          <a:ln>
            <a:noFill/>
          </a:ln>
        </p:spPr>
        <p:txBody>
          <a:bodyPr wrap="square" lIns="0" tIns="0" rIns="0" bIns="0" anchor="ctr">
            <a:noAutofit/>
          </a:bodyPr>
          <a:lstStyle/>
          <a:p>
            <a:pPr algn="ctr"/>
            <a:r>
              <a:rPr lang="ko-KR" altLang="en-US" sz="1000" b="1" dirty="0">
                <a:solidFill>
                  <a:srgbClr val="2E4585"/>
                </a:solidFill>
                <a:latin typeface="맑은 고딕"/>
                <a:ea typeface="맑은 고딕"/>
              </a:rPr>
              <a:t>N</a:t>
            </a:r>
          </a:p>
        </p:txBody>
      </p:sp>
      <p:cxnSp>
        <p:nvCxnSpPr>
          <p:cNvPr id="560" name="Line560"/>
          <p:cNvCxnSpPr/>
          <p:nvPr/>
        </p:nvCxnSpPr>
        <p:spPr>
          <a:xfrm>
            <a:off x="4288536" y="4590288"/>
            <a:ext cx="457200" cy="914"/>
          </a:xfrm>
          <a:prstGeom prst="line">
            <a:avLst/>
          </a:prstGeom>
          <a:ln w="12700">
            <a:solidFill>
              <a:srgbClr val="5B6472"/>
            </a:solidFill>
          </a:ln>
        </p:spPr>
      </p:cxnSp>
      <p:sp>
        <p:nvSpPr>
          <p:cNvPr id="561" name="TB561"/>
          <p:cNvSpPr txBox="1"/>
          <p:nvPr/>
        </p:nvSpPr>
        <p:spPr>
          <a:xfrm>
            <a:off x="4334256" y="4297680"/>
            <a:ext cx="274320" cy="219456"/>
          </a:xfrm>
          <a:prstGeom prst="rect">
            <a:avLst/>
          </a:prstGeom>
          <a:noFill/>
          <a:ln>
            <a:noFill/>
          </a:ln>
        </p:spPr>
        <p:txBody>
          <a:bodyPr wrap="square" lIns="0" tIns="0" rIns="0" bIns="0" anchor="ctr">
            <a:noAutofit/>
          </a:bodyPr>
          <a:lstStyle/>
          <a:p>
            <a:pPr algn="ctr"/>
            <a:r>
              <a:rPr lang="ko-KR" altLang="en-US" sz="1000" b="1" dirty="0">
                <a:solidFill>
                  <a:srgbClr val="2E4585"/>
                </a:solidFill>
                <a:latin typeface="맑은 고딕"/>
                <a:ea typeface="맑은 고딕"/>
              </a:rPr>
              <a:t>1</a:t>
            </a:r>
          </a:p>
        </p:txBody>
      </p:sp>
      <p:sp>
        <p:nvSpPr>
          <p:cNvPr id="562" name="TB562"/>
          <p:cNvSpPr txBox="1"/>
          <p:nvPr/>
        </p:nvSpPr>
        <p:spPr>
          <a:xfrm>
            <a:off x="4425696" y="4297680"/>
            <a:ext cx="274320" cy="219456"/>
          </a:xfrm>
          <a:prstGeom prst="rect">
            <a:avLst/>
          </a:prstGeom>
          <a:noFill/>
          <a:ln>
            <a:noFill/>
          </a:ln>
        </p:spPr>
        <p:txBody>
          <a:bodyPr wrap="square" lIns="0" tIns="0" rIns="0" bIns="0" anchor="ctr">
            <a:noAutofit/>
          </a:bodyPr>
          <a:lstStyle/>
          <a:p>
            <a:pPr algn="ctr"/>
            <a:r>
              <a:rPr lang="ko-KR" altLang="en-US" sz="1000" b="1" dirty="0">
                <a:solidFill>
                  <a:srgbClr val="2E4585"/>
                </a:solidFill>
                <a:latin typeface="맑은 고딕"/>
                <a:ea typeface="맑은 고딕"/>
              </a:rPr>
              <a:t>N</a:t>
            </a:r>
          </a:p>
        </p:txBody>
      </p:sp>
    </p:spTree>
    <p:extLst>
      <p:ext uri="{BB962C8B-B14F-4D97-AF65-F5344CB8AC3E}">
        <p14:creationId xmlns:p14="http://schemas.microsoft.com/office/powerpoint/2010/main" val="39153639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직사각형 16"/>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직선 연결선 17"/>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 name="직선 연결선 22"/>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4"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None/>
            </a:pPr>
            <a:r>
              <a:rPr lang="en-US" altLang="ko-KR" sz="1700" b="1" dirty="0">
                <a:solidFill>
                  <a:schemeClr val="bg1"/>
                </a:solidFill>
                <a:latin typeface="+mn-ea"/>
                <a:cs typeface="+mj-cs"/>
              </a:rPr>
              <a:t>| </a:t>
            </a:r>
            <a:r>
              <a:rPr lang="ko-KR" altLang="en-US" sz="1700" b="1" dirty="0">
                <a:solidFill>
                  <a:schemeClr val="bg1"/>
                </a:solidFill>
                <a:latin typeface="+mn-ea"/>
                <a:cs typeface="+mj-cs"/>
              </a:rPr>
              <a:t>엔티티 관계도 - ERD</a:t>
            </a:r>
          </a:p>
        </p:txBody>
      </p:sp>
      <p:pic>
        <p:nvPicPr>
          <p:cNvPr id="29"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0" name="막힌 원호 29"/>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2" name="그림 1">
            <a:extLst>
              <a:ext uri="{FF2B5EF4-FFF2-40B4-BE49-F238E27FC236}">
                <a16:creationId xmlns:a16="http://schemas.microsoft.com/office/drawing/2014/main" id="{AE311E42-8094-1ED2-BF9F-D52B09934D67}"/>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501" name="TB501"/>
          <p:cNvSpPr txBox="1"/>
          <p:nvPr/>
        </p:nvSpPr>
        <p:spPr>
          <a:xfrm>
            <a:off x="402336" y="1463040"/>
            <a:ext cx="8229600" cy="292608"/>
          </a:xfrm>
          <a:prstGeom prst="rect">
            <a:avLst/>
          </a:prstGeom>
          <a:noFill/>
          <a:ln>
            <a:noFill/>
          </a:ln>
        </p:spPr>
        <p:txBody>
          <a:bodyPr wrap="square" lIns="0" tIns="0" rIns="0" bIns="0" anchor="ctr">
            <a:noAutofit/>
          </a:bodyPr>
          <a:lstStyle/>
          <a:p>
            <a:pPr algn="l"/>
            <a:r>
              <a:rPr lang="ko-KR" altLang="en-US" sz="1300" dirty="0">
                <a:solidFill>
                  <a:srgbClr val="2563EB"/>
                </a:solidFill>
                <a:latin typeface="맑은 고딕"/>
                <a:ea typeface="맑은 고딕"/>
              </a:rPr>
              <a:t>▍ </a:t>
            </a:r>
            <a:r>
              <a:rPr lang="ko-KR" altLang="en-US" sz="1300" b="1" dirty="0">
                <a:solidFill>
                  <a:srgbClr val="2A2A2A"/>
                </a:solidFill>
                <a:latin typeface="맑은 고딕"/>
                <a:ea typeface="맑은 고딕"/>
              </a:rPr>
              <a:t>② 관제·이상탐지 도메인</a:t>
            </a:r>
          </a:p>
        </p:txBody>
      </p:sp>
      <p:sp>
        <p:nvSpPr>
          <p:cNvPr id="502" name="TB502"/>
          <p:cNvSpPr txBox="1"/>
          <p:nvPr/>
        </p:nvSpPr>
        <p:spPr>
          <a:xfrm>
            <a:off x="402336" y="1783080"/>
            <a:ext cx="3886200" cy="219456"/>
          </a:xfrm>
          <a:prstGeom prst="rect">
            <a:avLst/>
          </a:prstGeom>
          <a:noFill/>
          <a:ln>
            <a:noFill/>
          </a:ln>
        </p:spPr>
        <p:txBody>
          <a:bodyPr wrap="square" lIns="0" tIns="0" rIns="0" bIns="0" anchor="b">
            <a:noAutofit/>
          </a:bodyPr>
          <a:lstStyle/>
          <a:p>
            <a:pPr algn="l"/>
            <a:r>
              <a:rPr lang="ko-KR" altLang="en-US" sz="1250" b="1" dirty="0">
                <a:solidFill>
                  <a:srgbClr val="3B5AA8"/>
                </a:solidFill>
                <a:latin typeface="맑은 고딕"/>
                <a:ea typeface="맑은 고딕"/>
              </a:rPr>
              <a:t>measurement_session</a:t>
            </a:r>
          </a:p>
        </p:txBody>
      </p:sp>
      <p:sp>
        <p:nvSpPr>
          <p:cNvPr id="503" name="Rect503"/>
          <p:cNvSpPr/>
          <p:nvPr/>
        </p:nvSpPr>
        <p:spPr>
          <a:xfrm>
            <a:off x="402336" y="2020824"/>
            <a:ext cx="3886200" cy="1042416"/>
          </a:xfrm>
          <a:prstGeom prst="rect">
            <a:avLst/>
          </a:prstGeom>
          <a:solidFill>
            <a:srgbClr val="FFFFFF"/>
          </a:solidFill>
          <a:ln w="9525">
            <a:solidFill>
              <a:srgbClr val="D9DCE3"/>
            </a:solidFill>
          </a:ln>
        </p:spPr>
        <p:txBody>
          <a:bodyPr/>
          <a:lstStyle/>
          <a:p>
            <a:endParaRPr lang="ko-KR"/>
          </a:p>
        </p:txBody>
      </p:sp>
      <p:sp>
        <p:nvSpPr>
          <p:cNvPr id="504" name="TB504"/>
          <p:cNvSpPr txBox="1"/>
          <p:nvPr/>
        </p:nvSpPr>
        <p:spPr>
          <a:xfrm>
            <a:off x="475488" y="2020824"/>
            <a:ext cx="3739896" cy="169164"/>
          </a:xfrm>
          <a:prstGeom prst="rect">
            <a:avLst/>
          </a:prstGeom>
          <a:noFill/>
          <a:ln>
            <a:noFill/>
          </a:ln>
        </p:spPr>
        <p:txBody>
          <a:bodyPr wrap="square" lIns="0" tIns="0" rIns="0" bIns="0" anchor="ctr">
            <a:noAutofit/>
          </a:bodyPr>
          <a:lstStyle/>
          <a:p>
            <a:pPr algn="l"/>
            <a:r>
              <a:rPr lang="ko-KR" altLang="en-US" sz="900" b="1" u="sng" dirty="0">
                <a:solidFill>
                  <a:srgbClr val="222222"/>
                </a:solidFill>
                <a:latin typeface="맑은 고딕"/>
                <a:ea typeface="맑은 고딕"/>
              </a:rPr>
              <a:t>session_id        BIGINT</a:t>
            </a:r>
          </a:p>
        </p:txBody>
      </p:sp>
      <p:cxnSp>
        <p:nvCxnSpPr>
          <p:cNvPr id="505" name="Line505"/>
          <p:cNvCxnSpPr/>
          <p:nvPr/>
        </p:nvCxnSpPr>
        <p:spPr>
          <a:xfrm>
            <a:off x="402336" y="2189988"/>
            <a:ext cx="3886200" cy="914"/>
          </a:xfrm>
          <a:prstGeom prst="line">
            <a:avLst/>
          </a:prstGeom>
          <a:ln w="12700">
            <a:solidFill>
              <a:srgbClr val="222222"/>
            </a:solidFill>
          </a:ln>
        </p:spPr>
      </p:cxnSp>
      <p:sp>
        <p:nvSpPr>
          <p:cNvPr id="506" name="TB506"/>
          <p:cNvSpPr txBox="1"/>
          <p:nvPr/>
        </p:nvSpPr>
        <p:spPr>
          <a:xfrm>
            <a:off x="475488" y="2217420"/>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device_id (FK)    VARCHAR(40)</a:t>
            </a:r>
          </a:p>
        </p:txBody>
      </p:sp>
      <p:sp>
        <p:nvSpPr>
          <p:cNvPr id="507" name="TB507"/>
          <p:cNvSpPr txBox="1"/>
          <p:nvPr/>
        </p:nvSpPr>
        <p:spPr>
          <a:xfrm>
            <a:off x="475488" y="2386584"/>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battery_id (FK)   CHAR(36)</a:t>
            </a:r>
          </a:p>
        </p:txBody>
      </p:sp>
      <p:sp>
        <p:nvSpPr>
          <p:cNvPr id="508" name="TB508"/>
          <p:cNvSpPr txBox="1"/>
          <p:nvPr/>
        </p:nvSpPr>
        <p:spPr>
          <a:xfrm>
            <a:off x="475488" y="2555748"/>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mode              INT(1)</a:t>
            </a:r>
          </a:p>
        </p:txBody>
      </p:sp>
      <p:sp>
        <p:nvSpPr>
          <p:cNvPr id="509" name="TB509"/>
          <p:cNvSpPr txBox="1"/>
          <p:nvPr/>
        </p:nvSpPr>
        <p:spPr>
          <a:xfrm>
            <a:off x="475488" y="2724912"/>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started_at        DATETIME</a:t>
            </a:r>
          </a:p>
        </p:txBody>
      </p:sp>
      <p:sp>
        <p:nvSpPr>
          <p:cNvPr id="510" name="TB510"/>
          <p:cNvSpPr txBox="1"/>
          <p:nvPr/>
        </p:nvSpPr>
        <p:spPr>
          <a:xfrm>
            <a:off x="475488" y="2894076"/>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ended_at          DATETIME</a:t>
            </a:r>
          </a:p>
        </p:txBody>
      </p:sp>
      <p:sp>
        <p:nvSpPr>
          <p:cNvPr id="511" name="TB511"/>
          <p:cNvSpPr txBox="1"/>
          <p:nvPr/>
        </p:nvSpPr>
        <p:spPr>
          <a:xfrm>
            <a:off x="4745736" y="1783080"/>
            <a:ext cx="3886200" cy="219456"/>
          </a:xfrm>
          <a:prstGeom prst="rect">
            <a:avLst/>
          </a:prstGeom>
          <a:noFill/>
          <a:ln>
            <a:noFill/>
          </a:ln>
        </p:spPr>
        <p:txBody>
          <a:bodyPr wrap="square" lIns="0" tIns="0" rIns="0" bIns="0" anchor="b">
            <a:noAutofit/>
          </a:bodyPr>
          <a:lstStyle/>
          <a:p>
            <a:pPr algn="l"/>
            <a:r>
              <a:rPr lang="ko-KR" altLang="en-US" sz="1250" b="1" dirty="0">
                <a:solidFill>
                  <a:srgbClr val="3B5AA8"/>
                </a:solidFill>
                <a:latin typeface="맑은 고딕"/>
                <a:ea typeface="맑은 고딕"/>
              </a:rPr>
              <a:t>sensor_metric (하이퍼테이블)</a:t>
            </a:r>
          </a:p>
        </p:txBody>
      </p:sp>
      <p:sp>
        <p:nvSpPr>
          <p:cNvPr id="512" name="Rect512"/>
          <p:cNvSpPr/>
          <p:nvPr/>
        </p:nvSpPr>
        <p:spPr>
          <a:xfrm>
            <a:off x="4745736" y="2020824"/>
            <a:ext cx="3886200" cy="2226564"/>
          </a:xfrm>
          <a:prstGeom prst="rect">
            <a:avLst/>
          </a:prstGeom>
          <a:solidFill>
            <a:srgbClr val="FFFFFF"/>
          </a:solidFill>
          <a:ln w="9525">
            <a:solidFill>
              <a:srgbClr val="D9DCE3"/>
            </a:solidFill>
          </a:ln>
        </p:spPr>
        <p:txBody>
          <a:bodyPr/>
          <a:lstStyle/>
          <a:p>
            <a:endParaRPr lang="ko-KR"/>
          </a:p>
        </p:txBody>
      </p:sp>
      <p:sp>
        <p:nvSpPr>
          <p:cNvPr id="513" name="TB513"/>
          <p:cNvSpPr txBox="1"/>
          <p:nvPr/>
        </p:nvSpPr>
        <p:spPr>
          <a:xfrm>
            <a:off x="4818888" y="2020824"/>
            <a:ext cx="3739896" cy="169164"/>
          </a:xfrm>
          <a:prstGeom prst="rect">
            <a:avLst/>
          </a:prstGeom>
          <a:noFill/>
          <a:ln>
            <a:noFill/>
          </a:ln>
        </p:spPr>
        <p:txBody>
          <a:bodyPr wrap="square" lIns="0" tIns="0" rIns="0" bIns="0" anchor="ctr">
            <a:noAutofit/>
          </a:bodyPr>
          <a:lstStyle/>
          <a:p>
            <a:pPr algn="l"/>
            <a:r>
              <a:rPr lang="ko-KR" altLang="en-US" sz="900" b="1" u="sng" dirty="0">
                <a:solidFill>
                  <a:srgbClr val="222222"/>
                </a:solidFill>
                <a:latin typeface="맑은 고딕"/>
                <a:ea typeface="맑은 고딕"/>
              </a:rPr>
              <a:t>time              TIMESTAMPTZ</a:t>
            </a:r>
          </a:p>
        </p:txBody>
      </p:sp>
      <p:cxnSp>
        <p:nvCxnSpPr>
          <p:cNvPr id="514" name="Line514"/>
          <p:cNvCxnSpPr/>
          <p:nvPr/>
        </p:nvCxnSpPr>
        <p:spPr>
          <a:xfrm>
            <a:off x="4745736" y="2189988"/>
            <a:ext cx="3886200" cy="914"/>
          </a:xfrm>
          <a:prstGeom prst="line">
            <a:avLst/>
          </a:prstGeom>
          <a:ln w="12700">
            <a:solidFill>
              <a:srgbClr val="222222"/>
            </a:solidFill>
          </a:ln>
        </p:spPr>
      </p:cxnSp>
      <p:sp>
        <p:nvSpPr>
          <p:cNvPr id="515" name="TB515"/>
          <p:cNvSpPr txBox="1"/>
          <p:nvPr/>
        </p:nvSpPr>
        <p:spPr>
          <a:xfrm>
            <a:off x="4818888" y="2217420"/>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device_id (FK)    VARCHAR(40)</a:t>
            </a:r>
          </a:p>
        </p:txBody>
      </p:sp>
      <p:sp>
        <p:nvSpPr>
          <p:cNvPr id="516" name="TB516"/>
          <p:cNvSpPr txBox="1"/>
          <p:nvPr/>
        </p:nvSpPr>
        <p:spPr>
          <a:xfrm>
            <a:off x="4818888" y="2386584"/>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battery_id (FK)   CHAR(36)</a:t>
            </a:r>
          </a:p>
        </p:txBody>
      </p:sp>
      <p:sp>
        <p:nvSpPr>
          <p:cNvPr id="517" name="TB517"/>
          <p:cNvSpPr txBox="1"/>
          <p:nvPr/>
        </p:nvSpPr>
        <p:spPr>
          <a:xfrm>
            <a:off x="4818888" y="2555748"/>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voltage_v         FLOAT</a:t>
            </a:r>
          </a:p>
        </p:txBody>
      </p:sp>
      <p:sp>
        <p:nvSpPr>
          <p:cNvPr id="518" name="TB518"/>
          <p:cNvSpPr txBox="1"/>
          <p:nvPr/>
        </p:nvSpPr>
        <p:spPr>
          <a:xfrm>
            <a:off x="4818888" y="2724912"/>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current_a         FLOAT</a:t>
            </a:r>
          </a:p>
        </p:txBody>
      </p:sp>
      <p:sp>
        <p:nvSpPr>
          <p:cNvPr id="519" name="TB519"/>
          <p:cNvSpPr txBox="1"/>
          <p:nvPr/>
        </p:nvSpPr>
        <p:spPr>
          <a:xfrm>
            <a:off x="4818888" y="2894076"/>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power_w           FLOAT</a:t>
            </a:r>
          </a:p>
        </p:txBody>
      </p:sp>
      <p:sp>
        <p:nvSpPr>
          <p:cNvPr id="520" name="TB520"/>
          <p:cNvSpPr txBox="1"/>
          <p:nvPr/>
        </p:nvSpPr>
        <p:spPr>
          <a:xfrm>
            <a:off x="4818888" y="3063240"/>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soc_pct           FLOAT</a:t>
            </a:r>
          </a:p>
        </p:txBody>
      </p:sp>
      <p:sp>
        <p:nvSpPr>
          <p:cNvPr id="521" name="TB521"/>
          <p:cNvSpPr txBox="1"/>
          <p:nvPr/>
        </p:nvSpPr>
        <p:spPr>
          <a:xfrm>
            <a:off x="4818888" y="3232404"/>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temp_contact      FLOAT</a:t>
            </a:r>
          </a:p>
        </p:txBody>
      </p:sp>
      <p:sp>
        <p:nvSpPr>
          <p:cNvPr id="522" name="TB522"/>
          <p:cNvSpPr txBox="1"/>
          <p:nvPr/>
        </p:nvSpPr>
        <p:spPr>
          <a:xfrm>
            <a:off x="4818888" y="3401568"/>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temp_ir_surface   FLOAT</a:t>
            </a:r>
          </a:p>
        </p:txBody>
      </p:sp>
      <p:sp>
        <p:nvSpPr>
          <p:cNvPr id="523" name="TB523"/>
          <p:cNvSpPr txBox="1"/>
          <p:nvPr/>
        </p:nvSpPr>
        <p:spPr>
          <a:xfrm>
            <a:off x="4818888" y="3570732"/>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temp_ambient      FLOAT</a:t>
            </a:r>
          </a:p>
        </p:txBody>
      </p:sp>
      <p:sp>
        <p:nvSpPr>
          <p:cNvPr id="524" name="TB524"/>
          <p:cNvSpPr txBox="1"/>
          <p:nvPr/>
        </p:nvSpPr>
        <p:spPr>
          <a:xfrm>
            <a:off x="4818888" y="3739896"/>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gas_raw           INT</a:t>
            </a:r>
          </a:p>
        </p:txBody>
      </p:sp>
      <p:sp>
        <p:nvSpPr>
          <p:cNvPr id="525" name="TB525"/>
          <p:cNvSpPr txBox="1"/>
          <p:nvPr/>
        </p:nvSpPr>
        <p:spPr>
          <a:xfrm>
            <a:off x="4818888" y="3909060"/>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pressure_raw      INT</a:t>
            </a:r>
          </a:p>
        </p:txBody>
      </p:sp>
      <p:sp>
        <p:nvSpPr>
          <p:cNvPr id="526" name="TB526"/>
          <p:cNvSpPr txBox="1"/>
          <p:nvPr/>
        </p:nvSpPr>
        <p:spPr>
          <a:xfrm>
            <a:off x="4818888" y="4078224"/>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acoustic_raw      INT</a:t>
            </a:r>
          </a:p>
        </p:txBody>
      </p:sp>
      <p:sp>
        <p:nvSpPr>
          <p:cNvPr id="527" name="TB527"/>
          <p:cNvSpPr txBox="1"/>
          <p:nvPr/>
        </p:nvSpPr>
        <p:spPr>
          <a:xfrm>
            <a:off x="402336" y="4261104"/>
            <a:ext cx="3886200" cy="219456"/>
          </a:xfrm>
          <a:prstGeom prst="rect">
            <a:avLst/>
          </a:prstGeom>
          <a:noFill/>
          <a:ln>
            <a:noFill/>
          </a:ln>
        </p:spPr>
        <p:txBody>
          <a:bodyPr wrap="square" lIns="0" tIns="0" rIns="0" bIns="0" anchor="b">
            <a:noAutofit/>
          </a:bodyPr>
          <a:lstStyle/>
          <a:p>
            <a:pPr algn="l"/>
            <a:r>
              <a:rPr lang="ko-KR" altLang="en-US" sz="1250" b="1" dirty="0">
                <a:solidFill>
                  <a:srgbClr val="3B5AA8"/>
                </a:solidFill>
                <a:latin typeface="맑은 고딕"/>
                <a:ea typeface="맑은 고딕"/>
              </a:rPr>
              <a:t>anomaly_event</a:t>
            </a:r>
          </a:p>
        </p:txBody>
      </p:sp>
      <p:sp>
        <p:nvSpPr>
          <p:cNvPr id="528" name="Rect528"/>
          <p:cNvSpPr/>
          <p:nvPr/>
        </p:nvSpPr>
        <p:spPr>
          <a:xfrm>
            <a:off x="402336" y="4498848"/>
            <a:ext cx="3886200" cy="1888236"/>
          </a:xfrm>
          <a:prstGeom prst="rect">
            <a:avLst/>
          </a:prstGeom>
          <a:solidFill>
            <a:srgbClr val="FFFFFF"/>
          </a:solidFill>
          <a:ln w="9525">
            <a:solidFill>
              <a:srgbClr val="D9DCE3"/>
            </a:solidFill>
          </a:ln>
        </p:spPr>
        <p:txBody>
          <a:bodyPr/>
          <a:lstStyle/>
          <a:p>
            <a:endParaRPr lang="ko-KR"/>
          </a:p>
        </p:txBody>
      </p:sp>
      <p:sp>
        <p:nvSpPr>
          <p:cNvPr id="529" name="TB529"/>
          <p:cNvSpPr txBox="1"/>
          <p:nvPr/>
        </p:nvSpPr>
        <p:spPr>
          <a:xfrm>
            <a:off x="475488" y="4498848"/>
            <a:ext cx="3739896" cy="169164"/>
          </a:xfrm>
          <a:prstGeom prst="rect">
            <a:avLst/>
          </a:prstGeom>
          <a:noFill/>
          <a:ln>
            <a:noFill/>
          </a:ln>
        </p:spPr>
        <p:txBody>
          <a:bodyPr wrap="square" lIns="0" tIns="0" rIns="0" bIns="0" anchor="ctr">
            <a:noAutofit/>
          </a:bodyPr>
          <a:lstStyle/>
          <a:p>
            <a:pPr algn="l"/>
            <a:r>
              <a:rPr lang="ko-KR" altLang="en-US" sz="900" b="1" u="sng" dirty="0">
                <a:solidFill>
                  <a:srgbClr val="222222"/>
                </a:solidFill>
                <a:latin typeface="맑은 고딕"/>
                <a:ea typeface="맑은 고딕"/>
              </a:rPr>
              <a:t>event_id          BIGINT</a:t>
            </a:r>
          </a:p>
        </p:txBody>
      </p:sp>
      <p:cxnSp>
        <p:nvCxnSpPr>
          <p:cNvPr id="530" name="Line530"/>
          <p:cNvCxnSpPr/>
          <p:nvPr/>
        </p:nvCxnSpPr>
        <p:spPr>
          <a:xfrm>
            <a:off x="402336" y="4668012"/>
            <a:ext cx="3886200" cy="914"/>
          </a:xfrm>
          <a:prstGeom prst="line">
            <a:avLst/>
          </a:prstGeom>
          <a:ln w="12700">
            <a:solidFill>
              <a:srgbClr val="222222"/>
            </a:solidFill>
          </a:ln>
        </p:spPr>
      </p:cxnSp>
      <p:sp>
        <p:nvSpPr>
          <p:cNvPr id="531" name="TB531"/>
          <p:cNvSpPr txBox="1"/>
          <p:nvPr/>
        </p:nvSpPr>
        <p:spPr>
          <a:xfrm>
            <a:off x="475488" y="4695444"/>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session_id (FK)   BIGINT</a:t>
            </a:r>
          </a:p>
        </p:txBody>
      </p:sp>
      <p:sp>
        <p:nvSpPr>
          <p:cNvPr id="532" name="TB532"/>
          <p:cNvSpPr txBox="1"/>
          <p:nvPr/>
        </p:nvSpPr>
        <p:spPr>
          <a:xfrm>
            <a:off x="475488" y="4864608"/>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battery_id (FK)   CHAR(36)</a:t>
            </a:r>
          </a:p>
        </p:txBody>
      </p:sp>
      <p:sp>
        <p:nvSpPr>
          <p:cNvPr id="533" name="TB533"/>
          <p:cNvSpPr txBox="1"/>
          <p:nvPr/>
        </p:nvSpPr>
        <p:spPr>
          <a:xfrm>
            <a:off x="475488" y="5033772"/>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device_id (FK)    VARCHAR(40)</a:t>
            </a:r>
          </a:p>
        </p:txBody>
      </p:sp>
      <p:sp>
        <p:nvSpPr>
          <p:cNvPr id="534" name="TB534"/>
          <p:cNvSpPr txBox="1"/>
          <p:nvPr/>
        </p:nvSpPr>
        <p:spPr>
          <a:xfrm>
            <a:off x="475488" y="5202936"/>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anomaly_score     FLOAT</a:t>
            </a:r>
          </a:p>
        </p:txBody>
      </p:sp>
      <p:sp>
        <p:nvSpPr>
          <p:cNvPr id="535" name="TB535"/>
          <p:cNvSpPr txBox="1"/>
          <p:nvPr/>
        </p:nvSpPr>
        <p:spPr>
          <a:xfrm>
            <a:off x="475488" y="5372100"/>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status_grade      VARCHAR(10)</a:t>
            </a:r>
          </a:p>
        </p:txBody>
      </p:sp>
      <p:sp>
        <p:nvSpPr>
          <p:cNvPr id="536" name="TB536"/>
          <p:cNvSpPr txBox="1"/>
          <p:nvPr/>
        </p:nvSpPr>
        <p:spPr>
          <a:xfrm>
            <a:off x="475488" y="5541264"/>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contributing_fac. JSON</a:t>
            </a:r>
          </a:p>
        </p:txBody>
      </p:sp>
      <p:sp>
        <p:nvSpPr>
          <p:cNvPr id="537" name="TB537"/>
          <p:cNvSpPr txBox="1"/>
          <p:nvPr/>
        </p:nvSpPr>
        <p:spPr>
          <a:xfrm>
            <a:off x="475488" y="5710428"/>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occurred_at       DATETIME</a:t>
            </a:r>
          </a:p>
        </p:txBody>
      </p:sp>
      <p:sp>
        <p:nvSpPr>
          <p:cNvPr id="538" name="TB538"/>
          <p:cNvSpPr txBox="1"/>
          <p:nvPr/>
        </p:nvSpPr>
        <p:spPr>
          <a:xfrm>
            <a:off x="475488" y="5879592"/>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ack_status        VARCHAR(10)</a:t>
            </a:r>
          </a:p>
        </p:txBody>
      </p:sp>
      <p:sp>
        <p:nvSpPr>
          <p:cNvPr id="539" name="TB539"/>
          <p:cNvSpPr txBox="1"/>
          <p:nvPr/>
        </p:nvSpPr>
        <p:spPr>
          <a:xfrm>
            <a:off x="475488" y="6048756"/>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ack_by (FK)       INT(11)</a:t>
            </a:r>
          </a:p>
        </p:txBody>
      </p:sp>
      <p:sp>
        <p:nvSpPr>
          <p:cNvPr id="540" name="TB540"/>
          <p:cNvSpPr txBox="1"/>
          <p:nvPr/>
        </p:nvSpPr>
        <p:spPr>
          <a:xfrm>
            <a:off x="475488" y="6217920"/>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ack_at            DATETIME</a:t>
            </a:r>
          </a:p>
        </p:txBody>
      </p:sp>
      <p:sp>
        <p:nvSpPr>
          <p:cNvPr id="541" name="TB541"/>
          <p:cNvSpPr txBox="1"/>
          <p:nvPr/>
        </p:nvSpPr>
        <p:spPr>
          <a:xfrm>
            <a:off x="4745736" y="4261104"/>
            <a:ext cx="3886200" cy="219456"/>
          </a:xfrm>
          <a:prstGeom prst="rect">
            <a:avLst/>
          </a:prstGeom>
          <a:noFill/>
          <a:ln>
            <a:noFill/>
          </a:ln>
        </p:spPr>
        <p:txBody>
          <a:bodyPr wrap="square" lIns="0" tIns="0" rIns="0" bIns="0" anchor="b">
            <a:noAutofit/>
          </a:bodyPr>
          <a:lstStyle/>
          <a:p>
            <a:pPr algn="l"/>
            <a:r>
              <a:rPr lang="ko-KR" altLang="en-US" sz="1250" b="1" dirty="0">
                <a:solidFill>
                  <a:srgbClr val="3B5AA8"/>
                </a:solidFill>
                <a:latin typeface="맑은 고딕"/>
                <a:ea typeface="맑은 고딕"/>
              </a:rPr>
              <a:t>threshold_setting</a:t>
            </a:r>
          </a:p>
        </p:txBody>
      </p:sp>
      <p:sp>
        <p:nvSpPr>
          <p:cNvPr id="542" name="Rect542"/>
          <p:cNvSpPr/>
          <p:nvPr/>
        </p:nvSpPr>
        <p:spPr>
          <a:xfrm>
            <a:off x="4745736" y="4498848"/>
            <a:ext cx="3886200" cy="1211580"/>
          </a:xfrm>
          <a:prstGeom prst="rect">
            <a:avLst/>
          </a:prstGeom>
          <a:solidFill>
            <a:srgbClr val="FFFFFF"/>
          </a:solidFill>
          <a:ln w="9525">
            <a:solidFill>
              <a:srgbClr val="D9DCE3"/>
            </a:solidFill>
          </a:ln>
        </p:spPr>
        <p:txBody>
          <a:bodyPr/>
          <a:lstStyle/>
          <a:p>
            <a:endParaRPr lang="ko-KR"/>
          </a:p>
        </p:txBody>
      </p:sp>
      <p:sp>
        <p:nvSpPr>
          <p:cNvPr id="543" name="TB543"/>
          <p:cNvSpPr txBox="1"/>
          <p:nvPr/>
        </p:nvSpPr>
        <p:spPr>
          <a:xfrm>
            <a:off x="4818888" y="4498848"/>
            <a:ext cx="3739896" cy="169164"/>
          </a:xfrm>
          <a:prstGeom prst="rect">
            <a:avLst/>
          </a:prstGeom>
          <a:noFill/>
          <a:ln>
            <a:noFill/>
          </a:ln>
        </p:spPr>
        <p:txBody>
          <a:bodyPr wrap="square" lIns="0" tIns="0" rIns="0" bIns="0" anchor="ctr">
            <a:noAutofit/>
          </a:bodyPr>
          <a:lstStyle/>
          <a:p>
            <a:pPr algn="l"/>
            <a:r>
              <a:rPr lang="ko-KR" altLang="en-US" sz="900" b="1" u="sng" dirty="0">
                <a:solidFill>
                  <a:srgbClr val="222222"/>
                </a:solidFill>
                <a:latin typeface="맑은 고딕"/>
                <a:ea typeface="맑은 고딕"/>
              </a:rPr>
              <a:t>setting_id        INT(11)</a:t>
            </a:r>
          </a:p>
        </p:txBody>
      </p:sp>
      <p:cxnSp>
        <p:nvCxnSpPr>
          <p:cNvPr id="544" name="Line544"/>
          <p:cNvCxnSpPr/>
          <p:nvPr/>
        </p:nvCxnSpPr>
        <p:spPr>
          <a:xfrm>
            <a:off x="4745736" y="4668012"/>
            <a:ext cx="3886200" cy="914"/>
          </a:xfrm>
          <a:prstGeom prst="line">
            <a:avLst/>
          </a:prstGeom>
          <a:ln w="12700">
            <a:solidFill>
              <a:srgbClr val="222222"/>
            </a:solidFill>
          </a:ln>
        </p:spPr>
      </p:cxnSp>
      <p:sp>
        <p:nvSpPr>
          <p:cNvPr id="545" name="TB545"/>
          <p:cNvSpPr txBox="1"/>
          <p:nvPr/>
        </p:nvSpPr>
        <p:spPr>
          <a:xfrm>
            <a:off x="4818888" y="4695444"/>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user_id (FK)      INT(11)</a:t>
            </a:r>
          </a:p>
        </p:txBody>
      </p:sp>
      <p:sp>
        <p:nvSpPr>
          <p:cNvPr id="546" name="TB546"/>
          <p:cNvSpPr txBox="1"/>
          <p:nvPr/>
        </p:nvSpPr>
        <p:spPr>
          <a:xfrm>
            <a:off x="4818888" y="4864608"/>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temp_threshold_c  DECIMAL(5,2)</a:t>
            </a:r>
          </a:p>
        </p:txBody>
      </p:sp>
      <p:sp>
        <p:nvSpPr>
          <p:cNvPr id="547" name="TB547"/>
          <p:cNvSpPr txBox="1"/>
          <p:nvPr/>
        </p:nvSpPr>
        <p:spPr>
          <a:xfrm>
            <a:off x="4818888" y="5033772"/>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anomaly_grade_th. JSON</a:t>
            </a:r>
          </a:p>
        </p:txBody>
      </p:sp>
      <p:sp>
        <p:nvSpPr>
          <p:cNvPr id="548" name="TB548"/>
          <p:cNvSpPr txBox="1"/>
          <p:nvPr/>
        </p:nvSpPr>
        <p:spPr>
          <a:xfrm>
            <a:off x="4818888" y="5202936"/>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interlock_cond.   VARCHAR(200)</a:t>
            </a:r>
          </a:p>
        </p:txBody>
      </p:sp>
      <p:sp>
        <p:nvSpPr>
          <p:cNvPr id="549" name="TB549"/>
          <p:cNvSpPr txBox="1"/>
          <p:nvPr/>
        </p:nvSpPr>
        <p:spPr>
          <a:xfrm>
            <a:off x="4818888" y="5372100"/>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dedup_suppress_s. INT(6)</a:t>
            </a:r>
          </a:p>
        </p:txBody>
      </p:sp>
      <p:sp>
        <p:nvSpPr>
          <p:cNvPr id="550" name="TB550"/>
          <p:cNvSpPr txBox="1"/>
          <p:nvPr/>
        </p:nvSpPr>
        <p:spPr>
          <a:xfrm>
            <a:off x="4818888" y="5541264"/>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updated_at        DATETIME</a:t>
            </a:r>
          </a:p>
        </p:txBody>
      </p:sp>
      <p:cxnSp>
        <p:nvCxnSpPr>
          <p:cNvPr id="551" name="Line551"/>
          <p:cNvCxnSpPr/>
          <p:nvPr/>
        </p:nvCxnSpPr>
        <p:spPr>
          <a:xfrm>
            <a:off x="4288536" y="2295144"/>
            <a:ext cx="457200" cy="914"/>
          </a:xfrm>
          <a:prstGeom prst="line">
            <a:avLst/>
          </a:prstGeom>
          <a:ln w="12700">
            <a:solidFill>
              <a:srgbClr val="5B6472"/>
            </a:solidFill>
          </a:ln>
        </p:spPr>
      </p:cxnSp>
      <p:sp>
        <p:nvSpPr>
          <p:cNvPr id="552" name="TB552"/>
          <p:cNvSpPr txBox="1"/>
          <p:nvPr/>
        </p:nvSpPr>
        <p:spPr>
          <a:xfrm>
            <a:off x="4334256" y="2002536"/>
            <a:ext cx="274320" cy="219456"/>
          </a:xfrm>
          <a:prstGeom prst="rect">
            <a:avLst/>
          </a:prstGeom>
          <a:noFill/>
          <a:ln>
            <a:noFill/>
          </a:ln>
        </p:spPr>
        <p:txBody>
          <a:bodyPr wrap="square" lIns="0" tIns="0" rIns="0" bIns="0" anchor="ctr">
            <a:noAutofit/>
          </a:bodyPr>
          <a:lstStyle/>
          <a:p>
            <a:pPr algn="ctr"/>
            <a:r>
              <a:rPr lang="ko-KR" altLang="en-US" sz="1000" b="1" dirty="0">
                <a:solidFill>
                  <a:srgbClr val="2E4585"/>
                </a:solidFill>
                <a:latin typeface="맑은 고딕"/>
                <a:ea typeface="맑은 고딕"/>
              </a:rPr>
              <a:t>1</a:t>
            </a:r>
          </a:p>
        </p:txBody>
      </p:sp>
      <p:sp>
        <p:nvSpPr>
          <p:cNvPr id="553" name="TB553"/>
          <p:cNvSpPr txBox="1"/>
          <p:nvPr/>
        </p:nvSpPr>
        <p:spPr>
          <a:xfrm>
            <a:off x="4425696" y="2002536"/>
            <a:ext cx="274320" cy="219456"/>
          </a:xfrm>
          <a:prstGeom prst="rect">
            <a:avLst/>
          </a:prstGeom>
          <a:noFill/>
          <a:ln>
            <a:noFill/>
          </a:ln>
        </p:spPr>
        <p:txBody>
          <a:bodyPr wrap="square" lIns="0" tIns="0" rIns="0" bIns="0" anchor="ctr">
            <a:noAutofit/>
          </a:bodyPr>
          <a:lstStyle/>
          <a:p>
            <a:pPr algn="ctr"/>
            <a:r>
              <a:rPr lang="ko-KR" altLang="en-US" sz="1000" b="1" dirty="0">
                <a:solidFill>
                  <a:srgbClr val="2E4585"/>
                </a:solidFill>
                <a:latin typeface="맑은 고딕"/>
                <a:ea typeface="맑은 고딕"/>
              </a:rPr>
              <a:t>N</a:t>
            </a:r>
          </a:p>
        </p:txBody>
      </p:sp>
      <p:cxnSp>
        <p:nvCxnSpPr>
          <p:cNvPr id="554" name="Line554"/>
          <p:cNvCxnSpPr/>
          <p:nvPr/>
        </p:nvCxnSpPr>
        <p:spPr>
          <a:xfrm>
            <a:off x="2345436" y="3063240"/>
            <a:ext cx="914" cy="1435608"/>
          </a:xfrm>
          <a:prstGeom prst="line">
            <a:avLst/>
          </a:prstGeom>
          <a:ln w="12700">
            <a:solidFill>
              <a:srgbClr val="5B6472"/>
            </a:solidFill>
          </a:ln>
        </p:spPr>
      </p:cxnSp>
      <p:sp>
        <p:nvSpPr>
          <p:cNvPr id="555" name="TB555"/>
          <p:cNvSpPr txBox="1"/>
          <p:nvPr/>
        </p:nvSpPr>
        <p:spPr>
          <a:xfrm>
            <a:off x="2180844" y="3543300"/>
            <a:ext cx="237744" cy="201168"/>
          </a:xfrm>
          <a:prstGeom prst="rect">
            <a:avLst/>
          </a:prstGeom>
          <a:noFill/>
          <a:ln>
            <a:noFill/>
          </a:ln>
        </p:spPr>
        <p:txBody>
          <a:bodyPr wrap="square" lIns="0" tIns="0" rIns="0" bIns="0" anchor="ctr">
            <a:noAutofit/>
          </a:bodyPr>
          <a:lstStyle/>
          <a:p>
            <a:pPr algn="ctr"/>
            <a:r>
              <a:rPr lang="ko-KR" altLang="en-US" sz="1000" b="1" dirty="0">
                <a:solidFill>
                  <a:srgbClr val="2E4585"/>
                </a:solidFill>
                <a:latin typeface="맑은 고딕"/>
                <a:ea typeface="맑은 고딕"/>
              </a:rPr>
              <a:t>1</a:t>
            </a:r>
          </a:p>
        </p:txBody>
      </p:sp>
      <p:sp>
        <p:nvSpPr>
          <p:cNvPr id="556" name="TB556"/>
          <p:cNvSpPr txBox="1"/>
          <p:nvPr/>
        </p:nvSpPr>
        <p:spPr>
          <a:xfrm>
            <a:off x="2564892" y="3543300"/>
            <a:ext cx="237744" cy="201168"/>
          </a:xfrm>
          <a:prstGeom prst="rect">
            <a:avLst/>
          </a:prstGeom>
          <a:noFill/>
          <a:ln>
            <a:noFill/>
          </a:ln>
        </p:spPr>
        <p:txBody>
          <a:bodyPr wrap="square" lIns="0" tIns="0" rIns="0" bIns="0" anchor="ctr">
            <a:noAutofit/>
          </a:bodyPr>
          <a:lstStyle/>
          <a:p>
            <a:pPr algn="ctr"/>
            <a:r>
              <a:rPr lang="ko-KR" altLang="en-US" sz="1000" b="1" dirty="0">
                <a:solidFill>
                  <a:srgbClr val="2E4585"/>
                </a:solidFill>
                <a:latin typeface="맑은 고딕"/>
                <a:ea typeface="맑은 고딕"/>
              </a:rPr>
              <a:t>N</a:t>
            </a:r>
          </a:p>
        </p:txBody>
      </p:sp>
      <p:sp>
        <p:nvSpPr>
          <p:cNvPr id="557" name="TB557"/>
          <p:cNvSpPr txBox="1"/>
          <p:nvPr/>
        </p:nvSpPr>
        <p:spPr>
          <a:xfrm>
            <a:off x="4745736" y="5783580"/>
            <a:ext cx="3886200" cy="274320"/>
          </a:xfrm>
          <a:prstGeom prst="rect">
            <a:avLst/>
          </a:prstGeom>
          <a:noFill/>
          <a:ln>
            <a:noFill/>
          </a:ln>
        </p:spPr>
        <p:txBody>
          <a:bodyPr wrap="square" lIns="0" tIns="0" rIns="0" bIns="0" anchor="t">
            <a:noAutofit/>
          </a:bodyPr>
          <a:lstStyle/>
          <a:p>
            <a:pPr algn="l"/>
            <a:r>
              <a:rPr lang="ko-KR" altLang="en-US" sz="850" i="1" dirty="0">
                <a:solidFill>
                  <a:srgbClr val="5B6472"/>
                </a:solidFill>
                <a:latin typeface="맑은 고딕"/>
                <a:ea typeface="맑은 고딕"/>
              </a:rPr>
              <a:t>※ user_id는 도메인① user_info.user_id를 외부 참조(FK)합니다.</a:t>
            </a:r>
          </a:p>
        </p:txBody>
      </p:sp>
    </p:spTree>
    <p:extLst>
      <p:ext uri="{BB962C8B-B14F-4D97-AF65-F5344CB8AC3E}">
        <p14:creationId xmlns:p14="http://schemas.microsoft.com/office/powerpoint/2010/main" val="160508125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직사각형 16"/>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직선 연결선 17"/>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 name="직선 연결선 22"/>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4"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None/>
            </a:pPr>
            <a:r>
              <a:rPr lang="en-US" altLang="ko-KR" sz="1700" b="1" dirty="0">
                <a:solidFill>
                  <a:schemeClr val="bg1"/>
                </a:solidFill>
                <a:latin typeface="+mn-ea"/>
                <a:cs typeface="+mj-cs"/>
              </a:rPr>
              <a:t>| </a:t>
            </a:r>
            <a:r>
              <a:rPr lang="ko-KR" altLang="en-US" sz="1700" b="1" dirty="0">
                <a:solidFill>
                  <a:schemeClr val="bg1"/>
                </a:solidFill>
                <a:latin typeface="+mn-ea"/>
                <a:cs typeface="+mj-cs"/>
              </a:rPr>
              <a:t>엔티티 관계도 - ERD</a:t>
            </a:r>
          </a:p>
        </p:txBody>
      </p:sp>
      <p:pic>
        <p:nvPicPr>
          <p:cNvPr id="29"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0" name="막힌 원호 29"/>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2" name="그림 1">
            <a:extLst>
              <a:ext uri="{FF2B5EF4-FFF2-40B4-BE49-F238E27FC236}">
                <a16:creationId xmlns:a16="http://schemas.microsoft.com/office/drawing/2014/main" id="{AE311E42-8094-1ED2-BF9F-D52B09934D67}"/>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501" name="TB501"/>
          <p:cNvSpPr txBox="1"/>
          <p:nvPr/>
        </p:nvSpPr>
        <p:spPr>
          <a:xfrm>
            <a:off x="402336" y="1463040"/>
            <a:ext cx="8229600" cy="292608"/>
          </a:xfrm>
          <a:prstGeom prst="rect">
            <a:avLst/>
          </a:prstGeom>
          <a:noFill/>
          <a:ln>
            <a:noFill/>
          </a:ln>
        </p:spPr>
        <p:txBody>
          <a:bodyPr wrap="square" lIns="0" tIns="0" rIns="0" bIns="0" anchor="ctr">
            <a:noAutofit/>
          </a:bodyPr>
          <a:lstStyle/>
          <a:p>
            <a:pPr algn="l"/>
            <a:r>
              <a:rPr lang="ko-KR" altLang="en-US" sz="1300" dirty="0">
                <a:solidFill>
                  <a:srgbClr val="2563EB"/>
                </a:solidFill>
                <a:latin typeface="맑은 고딕"/>
                <a:ea typeface="맑은 고딕"/>
              </a:rPr>
              <a:t>▍ </a:t>
            </a:r>
            <a:r>
              <a:rPr lang="ko-KR" altLang="en-US" sz="1300" b="1" dirty="0">
                <a:solidFill>
                  <a:srgbClr val="2A2A2A"/>
                </a:solidFill>
                <a:latin typeface="맑은 고딕"/>
                <a:ea typeface="맑은 고딕"/>
              </a:rPr>
              <a:t>③ 알림·운영관리 도메인</a:t>
            </a:r>
          </a:p>
        </p:txBody>
      </p:sp>
      <p:sp>
        <p:nvSpPr>
          <p:cNvPr id="502" name="TB502"/>
          <p:cNvSpPr txBox="1"/>
          <p:nvPr/>
        </p:nvSpPr>
        <p:spPr>
          <a:xfrm>
            <a:off x="402336" y="1783080"/>
            <a:ext cx="2596896" cy="219456"/>
          </a:xfrm>
          <a:prstGeom prst="rect">
            <a:avLst/>
          </a:prstGeom>
          <a:noFill/>
          <a:ln>
            <a:noFill/>
          </a:ln>
        </p:spPr>
        <p:txBody>
          <a:bodyPr wrap="square" lIns="0" tIns="0" rIns="0" bIns="0" anchor="b">
            <a:noAutofit/>
          </a:bodyPr>
          <a:lstStyle/>
          <a:p>
            <a:pPr algn="l"/>
            <a:r>
              <a:rPr lang="ko-KR" altLang="en-US" sz="1250" b="1" dirty="0">
                <a:solidFill>
                  <a:srgbClr val="3B5AA8"/>
                </a:solidFill>
                <a:latin typeface="맑은 고딕"/>
                <a:ea typeface="맑은 고딕"/>
              </a:rPr>
              <a:t>notification</a:t>
            </a:r>
          </a:p>
        </p:txBody>
      </p:sp>
      <p:sp>
        <p:nvSpPr>
          <p:cNvPr id="503" name="Rect503"/>
          <p:cNvSpPr/>
          <p:nvPr/>
        </p:nvSpPr>
        <p:spPr>
          <a:xfrm>
            <a:off x="402336" y="2020824"/>
            <a:ext cx="2596896" cy="1211580"/>
          </a:xfrm>
          <a:prstGeom prst="rect">
            <a:avLst/>
          </a:prstGeom>
          <a:solidFill>
            <a:srgbClr val="FFFFFF"/>
          </a:solidFill>
          <a:ln w="9525">
            <a:solidFill>
              <a:srgbClr val="D9DCE3"/>
            </a:solidFill>
          </a:ln>
        </p:spPr>
        <p:txBody>
          <a:bodyPr/>
          <a:lstStyle/>
          <a:p>
            <a:endParaRPr lang="ko-KR"/>
          </a:p>
        </p:txBody>
      </p:sp>
      <p:sp>
        <p:nvSpPr>
          <p:cNvPr id="504" name="TB504"/>
          <p:cNvSpPr txBox="1"/>
          <p:nvPr/>
        </p:nvSpPr>
        <p:spPr>
          <a:xfrm>
            <a:off x="475488" y="2020824"/>
            <a:ext cx="2450592" cy="169164"/>
          </a:xfrm>
          <a:prstGeom prst="rect">
            <a:avLst/>
          </a:prstGeom>
          <a:noFill/>
          <a:ln>
            <a:noFill/>
          </a:ln>
        </p:spPr>
        <p:txBody>
          <a:bodyPr wrap="square" lIns="0" tIns="0" rIns="0" bIns="0" anchor="ctr">
            <a:noAutofit/>
          </a:bodyPr>
          <a:lstStyle/>
          <a:p>
            <a:pPr algn="l"/>
            <a:r>
              <a:rPr lang="ko-KR" altLang="en-US" sz="900" b="1" u="sng" dirty="0">
                <a:solidFill>
                  <a:srgbClr val="222222"/>
                </a:solidFill>
                <a:latin typeface="맑은 고딕"/>
                <a:ea typeface="맑은 고딕"/>
              </a:rPr>
              <a:t>notification_id   BIGINT</a:t>
            </a:r>
          </a:p>
        </p:txBody>
      </p:sp>
      <p:cxnSp>
        <p:nvCxnSpPr>
          <p:cNvPr id="505" name="Line505"/>
          <p:cNvCxnSpPr/>
          <p:nvPr/>
        </p:nvCxnSpPr>
        <p:spPr>
          <a:xfrm>
            <a:off x="402336" y="2189988"/>
            <a:ext cx="2596896" cy="914"/>
          </a:xfrm>
          <a:prstGeom prst="line">
            <a:avLst/>
          </a:prstGeom>
          <a:ln w="12700">
            <a:solidFill>
              <a:srgbClr val="222222"/>
            </a:solidFill>
          </a:ln>
        </p:spPr>
      </p:cxnSp>
      <p:sp>
        <p:nvSpPr>
          <p:cNvPr id="506" name="TB506"/>
          <p:cNvSpPr txBox="1"/>
          <p:nvPr/>
        </p:nvSpPr>
        <p:spPr>
          <a:xfrm>
            <a:off x="475488" y="2217420"/>
            <a:ext cx="2450592"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user_id (FK)      INT(11)</a:t>
            </a:r>
          </a:p>
        </p:txBody>
      </p:sp>
      <p:sp>
        <p:nvSpPr>
          <p:cNvPr id="507" name="TB507"/>
          <p:cNvSpPr txBox="1"/>
          <p:nvPr/>
        </p:nvSpPr>
        <p:spPr>
          <a:xfrm>
            <a:off x="475488" y="2386584"/>
            <a:ext cx="2450592"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event_id (FK)     BIGINT</a:t>
            </a:r>
          </a:p>
        </p:txBody>
      </p:sp>
      <p:sp>
        <p:nvSpPr>
          <p:cNvPr id="508" name="TB508"/>
          <p:cNvSpPr txBox="1"/>
          <p:nvPr/>
        </p:nvSpPr>
        <p:spPr>
          <a:xfrm>
            <a:off x="475488" y="2555748"/>
            <a:ext cx="2450592"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channel           VARCHAR(10)</a:t>
            </a:r>
          </a:p>
        </p:txBody>
      </p:sp>
      <p:sp>
        <p:nvSpPr>
          <p:cNvPr id="509" name="TB509"/>
          <p:cNvSpPr txBox="1"/>
          <p:nvPr/>
        </p:nvSpPr>
        <p:spPr>
          <a:xfrm>
            <a:off x="475488" y="2724912"/>
            <a:ext cx="2450592"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status            VARCHAR(10)</a:t>
            </a:r>
          </a:p>
        </p:txBody>
      </p:sp>
      <p:sp>
        <p:nvSpPr>
          <p:cNvPr id="510" name="TB510"/>
          <p:cNvSpPr txBox="1"/>
          <p:nvPr/>
        </p:nvSpPr>
        <p:spPr>
          <a:xfrm>
            <a:off x="475488" y="2894076"/>
            <a:ext cx="2450592"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sent_at           DATETIME</a:t>
            </a:r>
          </a:p>
        </p:txBody>
      </p:sp>
      <p:sp>
        <p:nvSpPr>
          <p:cNvPr id="511" name="TB511"/>
          <p:cNvSpPr txBox="1"/>
          <p:nvPr/>
        </p:nvSpPr>
        <p:spPr>
          <a:xfrm>
            <a:off x="475488" y="3063240"/>
            <a:ext cx="2450592"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ack_at            DATETIME</a:t>
            </a:r>
          </a:p>
        </p:txBody>
      </p:sp>
      <p:sp>
        <p:nvSpPr>
          <p:cNvPr id="512" name="TB512"/>
          <p:cNvSpPr txBox="1"/>
          <p:nvPr/>
        </p:nvSpPr>
        <p:spPr>
          <a:xfrm>
            <a:off x="3273552" y="1783080"/>
            <a:ext cx="2596896" cy="219456"/>
          </a:xfrm>
          <a:prstGeom prst="rect">
            <a:avLst/>
          </a:prstGeom>
          <a:noFill/>
          <a:ln>
            <a:noFill/>
          </a:ln>
        </p:spPr>
        <p:txBody>
          <a:bodyPr wrap="square" lIns="0" tIns="0" rIns="0" bIns="0" anchor="b">
            <a:noAutofit/>
          </a:bodyPr>
          <a:lstStyle/>
          <a:p>
            <a:pPr algn="l"/>
            <a:r>
              <a:rPr lang="ko-KR" altLang="en-US" sz="1250" b="1" dirty="0">
                <a:solidFill>
                  <a:srgbClr val="3B5AA8"/>
                </a:solidFill>
                <a:latin typeface="맑은 고딕"/>
                <a:ea typeface="맑은 고딕"/>
              </a:rPr>
              <a:t>relay_control_log</a:t>
            </a:r>
          </a:p>
        </p:txBody>
      </p:sp>
      <p:sp>
        <p:nvSpPr>
          <p:cNvPr id="513" name="Rect513"/>
          <p:cNvSpPr/>
          <p:nvPr/>
        </p:nvSpPr>
        <p:spPr>
          <a:xfrm>
            <a:off x="3273552" y="2020824"/>
            <a:ext cx="2596896" cy="1211580"/>
          </a:xfrm>
          <a:prstGeom prst="rect">
            <a:avLst/>
          </a:prstGeom>
          <a:solidFill>
            <a:srgbClr val="FFFFFF"/>
          </a:solidFill>
          <a:ln w="9525">
            <a:solidFill>
              <a:srgbClr val="D9DCE3"/>
            </a:solidFill>
          </a:ln>
        </p:spPr>
        <p:txBody>
          <a:bodyPr/>
          <a:lstStyle/>
          <a:p>
            <a:endParaRPr lang="ko-KR"/>
          </a:p>
        </p:txBody>
      </p:sp>
      <p:sp>
        <p:nvSpPr>
          <p:cNvPr id="514" name="TB514"/>
          <p:cNvSpPr txBox="1"/>
          <p:nvPr/>
        </p:nvSpPr>
        <p:spPr>
          <a:xfrm>
            <a:off x="3346704" y="2020824"/>
            <a:ext cx="2450592" cy="169164"/>
          </a:xfrm>
          <a:prstGeom prst="rect">
            <a:avLst/>
          </a:prstGeom>
          <a:noFill/>
          <a:ln>
            <a:noFill/>
          </a:ln>
        </p:spPr>
        <p:txBody>
          <a:bodyPr wrap="square" lIns="0" tIns="0" rIns="0" bIns="0" anchor="ctr">
            <a:noAutofit/>
          </a:bodyPr>
          <a:lstStyle/>
          <a:p>
            <a:pPr algn="l"/>
            <a:r>
              <a:rPr lang="ko-KR" altLang="en-US" sz="900" b="1" u="sng" dirty="0">
                <a:solidFill>
                  <a:srgbClr val="222222"/>
                </a:solidFill>
                <a:latin typeface="맑은 고딕"/>
                <a:ea typeface="맑은 고딕"/>
              </a:rPr>
              <a:t>log_id            BIGINT</a:t>
            </a:r>
          </a:p>
        </p:txBody>
      </p:sp>
      <p:cxnSp>
        <p:nvCxnSpPr>
          <p:cNvPr id="515" name="Line515"/>
          <p:cNvCxnSpPr/>
          <p:nvPr/>
        </p:nvCxnSpPr>
        <p:spPr>
          <a:xfrm>
            <a:off x="3273552" y="2189988"/>
            <a:ext cx="2596896" cy="914"/>
          </a:xfrm>
          <a:prstGeom prst="line">
            <a:avLst/>
          </a:prstGeom>
          <a:ln w="12700">
            <a:solidFill>
              <a:srgbClr val="222222"/>
            </a:solidFill>
          </a:ln>
        </p:spPr>
      </p:cxnSp>
      <p:sp>
        <p:nvSpPr>
          <p:cNvPr id="516" name="TB516"/>
          <p:cNvSpPr txBox="1"/>
          <p:nvPr/>
        </p:nvSpPr>
        <p:spPr>
          <a:xfrm>
            <a:off x="3346704" y="2217420"/>
            <a:ext cx="2450592"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device_id (FK)    VARCHAR(40)</a:t>
            </a:r>
          </a:p>
        </p:txBody>
      </p:sp>
      <p:sp>
        <p:nvSpPr>
          <p:cNvPr id="517" name="TB517"/>
          <p:cNvSpPr txBox="1"/>
          <p:nvPr/>
        </p:nvSpPr>
        <p:spPr>
          <a:xfrm>
            <a:off x="3346704" y="2386584"/>
            <a:ext cx="2450592"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action            VARCHAR(10)</a:t>
            </a:r>
          </a:p>
        </p:txBody>
      </p:sp>
      <p:sp>
        <p:nvSpPr>
          <p:cNvPr id="518" name="TB518"/>
          <p:cNvSpPr txBox="1"/>
          <p:nvPr/>
        </p:nvSpPr>
        <p:spPr>
          <a:xfrm>
            <a:off x="3346704" y="2555748"/>
            <a:ext cx="2450592"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reason            VARCHAR(200)</a:t>
            </a:r>
          </a:p>
        </p:txBody>
      </p:sp>
      <p:sp>
        <p:nvSpPr>
          <p:cNvPr id="519" name="TB519"/>
          <p:cNvSpPr txBox="1"/>
          <p:nvPr/>
        </p:nvSpPr>
        <p:spPr>
          <a:xfrm>
            <a:off x="3346704" y="2724912"/>
            <a:ext cx="2450592"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approved_by (FK)  INT(11)</a:t>
            </a:r>
          </a:p>
        </p:txBody>
      </p:sp>
      <p:sp>
        <p:nvSpPr>
          <p:cNvPr id="520" name="TB520"/>
          <p:cNvSpPr txBox="1"/>
          <p:nvPr/>
        </p:nvSpPr>
        <p:spPr>
          <a:xfrm>
            <a:off x="3346704" y="2894076"/>
            <a:ext cx="2450592"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reauth_verified   VARCHAR(1)</a:t>
            </a:r>
          </a:p>
        </p:txBody>
      </p:sp>
      <p:sp>
        <p:nvSpPr>
          <p:cNvPr id="521" name="TB521"/>
          <p:cNvSpPr txBox="1"/>
          <p:nvPr/>
        </p:nvSpPr>
        <p:spPr>
          <a:xfrm>
            <a:off x="3346704" y="3063240"/>
            <a:ext cx="2450592"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created_at        DATETIME</a:t>
            </a:r>
          </a:p>
        </p:txBody>
      </p:sp>
      <p:sp>
        <p:nvSpPr>
          <p:cNvPr id="522" name="TB522"/>
          <p:cNvSpPr txBox="1"/>
          <p:nvPr/>
        </p:nvSpPr>
        <p:spPr>
          <a:xfrm>
            <a:off x="6144768" y="1783080"/>
            <a:ext cx="2596896" cy="219456"/>
          </a:xfrm>
          <a:prstGeom prst="rect">
            <a:avLst/>
          </a:prstGeom>
          <a:noFill/>
          <a:ln>
            <a:noFill/>
          </a:ln>
        </p:spPr>
        <p:txBody>
          <a:bodyPr wrap="square" lIns="0" tIns="0" rIns="0" bIns="0" anchor="b">
            <a:noAutofit/>
          </a:bodyPr>
          <a:lstStyle/>
          <a:p>
            <a:pPr algn="l"/>
            <a:r>
              <a:rPr lang="ko-KR" altLang="en-US" sz="1250" b="1" dirty="0">
                <a:solidFill>
                  <a:srgbClr val="3B5AA8"/>
                </a:solidFill>
                <a:latin typeface="맑은 고딕"/>
                <a:ea typeface="맑은 고딕"/>
              </a:rPr>
              <a:t>calibration_history</a:t>
            </a:r>
          </a:p>
        </p:txBody>
      </p:sp>
      <p:sp>
        <p:nvSpPr>
          <p:cNvPr id="523" name="Rect523"/>
          <p:cNvSpPr/>
          <p:nvPr/>
        </p:nvSpPr>
        <p:spPr>
          <a:xfrm>
            <a:off x="6144768" y="2020824"/>
            <a:ext cx="2596896" cy="1211580"/>
          </a:xfrm>
          <a:prstGeom prst="rect">
            <a:avLst/>
          </a:prstGeom>
          <a:solidFill>
            <a:srgbClr val="FFFFFF"/>
          </a:solidFill>
          <a:ln w="9525">
            <a:solidFill>
              <a:srgbClr val="D9DCE3"/>
            </a:solidFill>
          </a:ln>
        </p:spPr>
        <p:txBody>
          <a:bodyPr/>
          <a:lstStyle/>
          <a:p>
            <a:endParaRPr lang="ko-KR"/>
          </a:p>
        </p:txBody>
      </p:sp>
      <p:sp>
        <p:nvSpPr>
          <p:cNvPr id="524" name="TB524"/>
          <p:cNvSpPr txBox="1"/>
          <p:nvPr/>
        </p:nvSpPr>
        <p:spPr>
          <a:xfrm>
            <a:off x="6217920" y="2020824"/>
            <a:ext cx="2450592" cy="169164"/>
          </a:xfrm>
          <a:prstGeom prst="rect">
            <a:avLst/>
          </a:prstGeom>
          <a:noFill/>
          <a:ln>
            <a:noFill/>
          </a:ln>
        </p:spPr>
        <p:txBody>
          <a:bodyPr wrap="square" lIns="0" tIns="0" rIns="0" bIns="0" anchor="ctr">
            <a:noAutofit/>
          </a:bodyPr>
          <a:lstStyle/>
          <a:p>
            <a:pPr algn="l"/>
            <a:r>
              <a:rPr lang="ko-KR" altLang="en-US" sz="900" b="1" u="sng" dirty="0">
                <a:solidFill>
                  <a:srgbClr val="222222"/>
                </a:solidFill>
                <a:latin typeface="맑은 고딕"/>
                <a:ea typeface="맑은 고딕"/>
              </a:rPr>
              <a:t>calibration_id    INT(11)</a:t>
            </a:r>
          </a:p>
        </p:txBody>
      </p:sp>
      <p:cxnSp>
        <p:nvCxnSpPr>
          <p:cNvPr id="525" name="Line525"/>
          <p:cNvCxnSpPr/>
          <p:nvPr/>
        </p:nvCxnSpPr>
        <p:spPr>
          <a:xfrm>
            <a:off x="6144768" y="2189988"/>
            <a:ext cx="2596896" cy="914"/>
          </a:xfrm>
          <a:prstGeom prst="line">
            <a:avLst/>
          </a:prstGeom>
          <a:ln w="12700">
            <a:solidFill>
              <a:srgbClr val="222222"/>
            </a:solidFill>
          </a:ln>
        </p:spPr>
      </p:cxnSp>
      <p:sp>
        <p:nvSpPr>
          <p:cNvPr id="526" name="TB526"/>
          <p:cNvSpPr txBox="1"/>
          <p:nvPr/>
        </p:nvSpPr>
        <p:spPr>
          <a:xfrm>
            <a:off x="6217920" y="2217420"/>
            <a:ext cx="2450592"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device_id (FK)    VARCHAR(40)</a:t>
            </a:r>
          </a:p>
        </p:txBody>
      </p:sp>
      <p:sp>
        <p:nvSpPr>
          <p:cNvPr id="527" name="TB527"/>
          <p:cNvSpPr txBox="1"/>
          <p:nvPr/>
        </p:nvSpPr>
        <p:spPr>
          <a:xfrm>
            <a:off x="6217920" y="2386584"/>
            <a:ext cx="2450592"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sensor_type       VARCHAR(30)</a:t>
            </a:r>
          </a:p>
        </p:txBody>
      </p:sp>
      <p:sp>
        <p:nvSpPr>
          <p:cNvPr id="528" name="TB528"/>
          <p:cNvSpPr txBox="1"/>
          <p:nvPr/>
        </p:nvSpPr>
        <p:spPr>
          <a:xfrm>
            <a:off x="6217920" y="2555748"/>
            <a:ext cx="2450592"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calibrated_at     DATE</a:t>
            </a:r>
          </a:p>
        </p:txBody>
      </p:sp>
      <p:sp>
        <p:nvSpPr>
          <p:cNvPr id="529" name="TB529"/>
          <p:cNvSpPr txBox="1"/>
          <p:nvPr/>
        </p:nvSpPr>
        <p:spPr>
          <a:xfrm>
            <a:off x="6217920" y="2724912"/>
            <a:ext cx="2450592"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calibrated_by     VARCHAR(50)</a:t>
            </a:r>
          </a:p>
        </p:txBody>
      </p:sp>
      <p:sp>
        <p:nvSpPr>
          <p:cNvPr id="530" name="TB530"/>
          <p:cNvSpPr txBox="1"/>
          <p:nvPr/>
        </p:nvSpPr>
        <p:spPr>
          <a:xfrm>
            <a:off x="6217920" y="2894076"/>
            <a:ext cx="2450592"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valid_until       DATE</a:t>
            </a:r>
          </a:p>
        </p:txBody>
      </p:sp>
      <p:sp>
        <p:nvSpPr>
          <p:cNvPr id="531" name="TB531"/>
          <p:cNvSpPr txBox="1"/>
          <p:nvPr/>
        </p:nvSpPr>
        <p:spPr>
          <a:xfrm>
            <a:off x="6217920" y="3063240"/>
            <a:ext cx="2450592"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status            VARCHAR(10)</a:t>
            </a:r>
          </a:p>
        </p:txBody>
      </p:sp>
      <p:sp>
        <p:nvSpPr>
          <p:cNvPr id="532" name="TB532"/>
          <p:cNvSpPr txBox="1"/>
          <p:nvPr/>
        </p:nvSpPr>
        <p:spPr>
          <a:xfrm>
            <a:off x="402336" y="3506724"/>
            <a:ext cx="3886200" cy="219456"/>
          </a:xfrm>
          <a:prstGeom prst="rect">
            <a:avLst/>
          </a:prstGeom>
          <a:noFill/>
          <a:ln>
            <a:noFill/>
          </a:ln>
        </p:spPr>
        <p:txBody>
          <a:bodyPr wrap="square" lIns="0" tIns="0" rIns="0" bIns="0" anchor="b">
            <a:noAutofit/>
          </a:bodyPr>
          <a:lstStyle/>
          <a:p>
            <a:pPr algn="l"/>
            <a:r>
              <a:rPr lang="ko-KR" altLang="en-US" sz="1250" b="1" dirty="0">
                <a:solidFill>
                  <a:srgbClr val="3B5AA8"/>
                </a:solidFill>
                <a:latin typeface="맑은 고딕"/>
                <a:ea typeface="맑은 고딕"/>
              </a:rPr>
              <a:t>notice</a:t>
            </a:r>
          </a:p>
        </p:txBody>
      </p:sp>
      <p:sp>
        <p:nvSpPr>
          <p:cNvPr id="533" name="Rect533"/>
          <p:cNvSpPr/>
          <p:nvPr/>
        </p:nvSpPr>
        <p:spPr>
          <a:xfrm>
            <a:off x="402336" y="3744468"/>
            <a:ext cx="3886200" cy="1888236"/>
          </a:xfrm>
          <a:prstGeom prst="rect">
            <a:avLst/>
          </a:prstGeom>
          <a:solidFill>
            <a:srgbClr val="FFFFFF"/>
          </a:solidFill>
          <a:ln w="9525">
            <a:solidFill>
              <a:srgbClr val="D9DCE3"/>
            </a:solidFill>
          </a:ln>
        </p:spPr>
        <p:txBody>
          <a:bodyPr/>
          <a:lstStyle/>
          <a:p>
            <a:endParaRPr lang="ko-KR"/>
          </a:p>
        </p:txBody>
      </p:sp>
      <p:sp>
        <p:nvSpPr>
          <p:cNvPr id="534" name="TB534"/>
          <p:cNvSpPr txBox="1"/>
          <p:nvPr/>
        </p:nvSpPr>
        <p:spPr>
          <a:xfrm>
            <a:off x="475488" y="3744468"/>
            <a:ext cx="3739896" cy="169164"/>
          </a:xfrm>
          <a:prstGeom prst="rect">
            <a:avLst/>
          </a:prstGeom>
          <a:noFill/>
          <a:ln>
            <a:noFill/>
          </a:ln>
        </p:spPr>
        <p:txBody>
          <a:bodyPr wrap="square" lIns="0" tIns="0" rIns="0" bIns="0" anchor="ctr">
            <a:noAutofit/>
          </a:bodyPr>
          <a:lstStyle/>
          <a:p>
            <a:pPr algn="l"/>
            <a:r>
              <a:rPr lang="ko-KR" altLang="en-US" sz="900" b="1" u="sng" dirty="0">
                <a:solidFill>
                  <a:srgbClr val="222222"/>
                </a:solidFill>
                <a:latin typeface="맑은 고딕"/>
                <a:ea typeface="맑은 고딕"/>
              </a:rPr>
              <a:t>notice_id         INT(11)</a:t>
            </a:r>
          </a:p>
        </p:txBody>
      </p:sp>
      <p:cxnSp>
        <p:nvCxnSpPr>
          <p:cNvPr id="535" name="Line535"/>
          <p:cNvCxnSpPr/>
          <p:nvPr/>
        </p:nvCxnSpPr>
        <p:spPr>
          <a:xfrm>
            <a:off x="402336" y="3913632"/>
            <a:ext cx="3886200" cy="914"/>
          </a:xfrm>
          <a:prstGeom prst="line">
            <a:avLst/>
          </a:prstGeom>
          <a:ln w="12700">
            <a:solidFill>
              <a:srgbClr val="222222"/>
            </a:solidFill>
          </a:ln>
        </p:spPr>
      </p:cxnSp>
      <p:sp>
        <p:nvSpPr>
          <p:cNvPr id="536" name="TB536"/>
          <p:cNvSpPr txBox="1"/>
          <p:nvPr/>
        </p:nvSpPr>
        <p:spPr>
          <a:xfrm>
            <a:off x="475488" y="3941064"/>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admin_id (FK)     INT(11)</a:t>
            </a:r>
          </a:p>
        </p:txBody>
      </p:sp>
      <p:sp>
        <p:nvSpPr>
          <p:cNvPr id="537" name="TB537"/>
          <p:cNvSpPr txBox="1"/>
          <p:nvPr/>
        </p:nvSpPr>
        <p:spPr>
          <a:xfrm>
            <a:off x="475488" y="4110228"/>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category          VARCHAR(20)</a:t>
            </a:r>
          </a:p>
        </p:txBody>
      </p:sp>
      <p:sp>
        <p:nvSpPr>
          <p:cNvPr id="538" name="TB538"/>
          <p:cNvSpPr txBox="1"/>
          <p:nvPr/>
        </p:nvSpPr>
        <p:spPr>
          <a:xfrm>
            <a:off x="475488" y="4279392"/>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title             VARCHAR(100)</a:t>
            </a:r>
          </a:p>
        </p:txBody>
      </p:sp>
      <p:sp>
        <p:nvSpPr>
          <p:cNvPr id="539" name="TB539"/>
          <p:cNvSpPr txBox="1"/>
          <p:nvPr/>
        </p:nvSpPr>
        <p:spPr>
          <a:xfrm>
            <a:off x="475488" y="4448556"/>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content           TEXT</a:t>
            </a:r>
          </a:p>
        </p:txBody>
      </p:sp>
      <p:sp>
        <p:nvSpPr>
          <p:cNvPr id="540" name="TB540"/>
          <p:cNvSpPr txBox="1"/>
          <p:nvPr/>
        </p:nvSpPr>
        <p:spPr>
          <a:xfrm>
            <a:off x="475488" y="4617720"/>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scope             VARCHAR(20)</a:t>
            </a:r>
          </a:p>
        </p:txBody>
      </p:sp>
      <p:sp>
        <p:nvSpPr>
          <p:cNvPr id="541" name="TB541"/>
          <p:cNvSpPr txBox="1"/>
          <p:nvPr/>
        </p:nvSpPr>
        <p:spPr>
          <a:xfrm>
            <a:off x="475488" y="4786884"/>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push_notify       VARCHAR(1)</a:t>
            </a:r>
          </a:p>
        </p:txBody>
      </p:sp>
      <p:sp>
        <p:nvSpPr>
          <p:cNvPr id="542" name="TB542"/>
          <p:cNvSpPr txBox="1"/>
          <p:nvPr/>
        </p:nvSpPr>
        <p:spPr>
          <a:xfrm>
            <a:off x="475488" y="4956048"/>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kakao_notify      VARCHAR(1)</a:t>
            </a:r>
          </a:p>
        </p:txBody>
      </p:sp>
      <p:sp>
        <p:nvSpPr>
          <p:cNvPr id="543" name="TB543"/>
          <p:cNvSpPr txBox="1"/>
          <p:nvPr/>
        </p:nvSpPr>
        <p:spPr>
          <a:xfrm>
            <a:off x="475488" y="5125212"/>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status            VARCHAR(10)</a:t>
            </a:r>
          </a:p>
        </p:txBody>
      </p:sp>
      <p:sp>
        <p:nvSpPr>
          <p:cNvPr id="544" name="TB544"/>
          <p:cNvSpPr txBox="1"/>
          <p:nvPr/>
        </p:nvSpPr>
        <p:spPr>
          <a:xfrm>
            <a:off x="475488" y="5294376"/>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created_at        DATETIME</a:t>
            </a:r>
          </a:p>
        </p:txBody>
      </p:sp>
      <p:sp>
        <p:nvSpPr>
          <p:cNvPr id="545" name="TB545"/>
          <p:cNvSpPr txBox="1"/>
          <p:nvPr/>
        </p:nvSpPr>
        <p:spPr>
          <a:xfrm>
            <a:off x="475488" y="5463540"/>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published_at      DATETIME</a:t>
            </a:r>
          </a:p>
        </p:txBody>
      </p:sp>
      <p:sp>
        <p:nvSpPr>
          <p:cNvPr id="546" name="TB546"/>
          <p:cNvSpPr txBox="1"/>
          <p:nvPr/>
        </p:nvSpPr>
        <p:spPr>
          <a:xfrm>
            <a:off x="4745736" y="3506724"/>
            <a:ext cx="3886200" cy="219456"/>
          </a:xfrm>
          <a:prstGeom prst="rect">
            <a:avLst/>
          </a:prstGeom>
          <a:noFill/>
          <a:ln>
            <a:noFill/>
          </a:ln>
        </p:spPr>
        <p:txBody>
          <a:bodyPr wrap="square" lIns="0" tIns="0" rIns="0" bIns="0" anchor="b">
            <a:noAutofit/>
          </a:bodyPr>
          <a:lstStyle/>
          <a:p>
            <a:pPr algn="l"/>
            <a:r>
              <a:rPr lang="ko-KR" altLang="en-US" sz="1250" b="1" dirty="0">
                <a:solidFill>
                  <a:srgbClr val="3B5AA8"/>
                </a:solidFill>
                <a:latin typeface="맑은 고딕"/>
                <a:ea typeface="맑은 고딕"/>
              </a:rPr>
              <a:t>audit_log</a:t>
            </a:r>
          </a:p>
        </p:txBody>
      </p:sp>
      <p:sp>
        <p:nvSpPr>
          <p:cNvPr id="547" name="Rect547"/>
          <p:cNvSpPr/>
          <p:nvPr/>
        </p:nvSpPr>
        <p:spPr>
          <a:xfrm>
            <a:off x="4745736" y="3744468"/>
            <a:ext cx="3886200" cy="1549908"/>
          </a:xfrm>
          <a:prstGeom prst="rect">
            <a:avLst/>
          </a:prstGeom>
          <a:solidFill>
            <a:srgbClr val="FFFFFF"/>
          </a:solidFill>
          <a:ln w="9525">
            <a:solidFill>
              <a:srgbClr val="D9DCE3"/>
            </a:solidFill>
          </a:ln>
        </p:spPr>
        <p:txBody>
          <a:bodyPr/>
          <a:lstStyle/>
          <a:p>
            <a:endParaRPr lang="ko-KR"/>
          </a:p>
        </p:txBody>
      </p:sp>
      <p:sp>
        <p:nvSpPr>
          <p:cNvPr id="548" name="TB548"/>
          <p:cNvSpPr txBox="1"/>
          <p:nvPr/>
        </p:nvSpPr>
        <p:spPr>
          <a:xfrm>
            <a:off x="4818888" y="3744468"/>
            <a:ext cx="3739896" cy="169164"/>
          </a:xfrm>
          <a:prstGeom prst="rect">
            <a:avLst/>
          </a:prstGeom>
          <a:noFill/>
          <a:ln>
            <a:noFill/>
          </a:ln>
        </p:spPr>
        <p:txBody>
          <a:bodyPr wrap="square" lIns="0" tIns="0" rIns="0" bIns="0" anchor="ctr">
            <a:noAutofit/>
          </a:bodyPr>
          <a:lstStyle/>
          <a:p>
            <a:pPr algn="l"/>
            <a:r>
              <a:rPr lang="ko-KR" altLang="en-US" sz="900" b="1" u="sng" dirty="0">
                <a:solidFill>
                  <a:srgbClr val="222222"/>
                </a:solidFill>
                <a:latin typeface="맑은 고딕"/>
                <a:ea typeface="맑은 고딕"/>
              </a:rPr>
              <a:t>log_id            BIGINT</a:t>
            </a:r>
          </a:p>
        </p:txBody>
      </p:sp>
      <p:cxnSp>
        <p:nvCxnSpPr>
          <p:cNvPr id="549" name="Line549"/>
          <p:cNvCxnSpPr/>
          <p:nvPr/>
        </p:nvCxnSpPr>
        <p:spPr>
          <a:xfrm>
            <a:off x="4745736" y="3913632"/>
            <a:ext cx="3886200" cy="914"/>
          </a:xfrm>
          <a:prstGeom prst="line">
            <a:avLst/>
          </a:prstGeom>
          <a:ln w="12700">
            <a:solidFill>
              <a:srgbClr val="222222"/>
            </a:solidFill>
          </a:ln>
        </p:spPr>
      </p:cxnSp>
      <p:sp>
        <p:nvSpPr>
          <p:cNvPr id="550" name="TB550"/>
          <p:cNvSpPr txBox="1"/>
          <p:nvPr/>
        </p:nvSpPr>
        <p:spPr>
          <a:xfrm>
            <a:off x="4818888" y="3941064"/>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admin_id (FK)     INT(11)</a:t>
            </a:r>
          </a:p>
        </p:txBody>
      </p:sp>
      <p:sp>
        <p:nvSpPr>
          <p:cNvPr id="551" name="TB551"/>
          <p:cNvSpPr txBox="1"/>
          <p:nvPr/>
        </p:nvSpPr>
        <p:spPr>
          <a:xfrm>
            <a:off x="4818888" y="4110228"/>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action            VARCHAR(30)</a:t>
            </a:r>
          </a:p>
        </p:txBody>
      </p:sp>
      <p:sp>
        <p:nvSpPr>
          <p:cNvPr id="552" name="TB552"/>
          <p:cNvSpPr txBox="1"/>
          <p:nvPr/>
        </p:nvSpPr>
        <p:spPr>
          <a:xfrm>
            <a:off x="4818888" y="4279392"/>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target_type       VARCHAR(20)</a:t>
            </a:r>
          </a:p>
        </p:txBody>
      </p:sp>
      <p:sp>
        <p:nvSpPr>
          <p:cNvPr id="553" name="TB553"/>
          <p:cNvSpPr txBox="1"/>
          <p:nvPr/>
        </p:nvSpPr>
        <p:spPr>
          <a:xfrm>
            <a:off x="4818888" y="4448556"/>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target_id         VARCHAR(40)</a:t>
            </a:r>
          </a:p>
        </p:txBody>
      </p:sp>
      <p:sp>
        <p:nvSpPr>
          <p:cNvPr id="554" name="TB554"/>
          <p:cNvSpPr txBox="1"/>
          <p:nvPr/>
        </p:nvSpPr>
        <p:spPr>
          <a:xfrm>
            <a:off x="4818888" y="4617720"/>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before_value      TEXT</a:t>
            </a:r>
          </a:p>
        </p:txBody>
      </p:sp>
      <p:sp>
        <p:nvSpPr>
          <p:cNvPr id="555" name="TB555"/>
          <p:cNvSpPr txBox="1"/>
          <p:nvPr/>
        </p:nvSpPr>
        <p:spPr>
          <a:xfrm>
            <a:off x="4818888" y="4786884"/>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after_value       TEXT</a:t>
            </a:r>
          </a:p>
        </p:txBody>
      </p:sp>
      <p:sp>
        <p:nvSpPr>
          <p:cNvPr id="556" name="TB556"/>
          <p:cNvSpPr txBox="1"/>
          <p:nvPr/>
        </p:nvSpPr>
        <p:spPr>
          <a:xfrm>
            <a:off x="4818888" y="4956048"/>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reason            VARCHAR(200)</a:t>
            </a:r>
          </a:p>
        </p:txBody>
      </p:sp>
      <p:sp>
        <p:nvSpPr>
          <p:cNvPr id="557" name="TB557"/>
          <p:cNvSpPr txBox="1"/>
          <p:nvPr/>
        </p:nvSpPr>
        <p:spPr>
          <a:xfrm>
            <a:off x="4818888" y="5125212"/>
            <a:ext cx="3739896" cy="169164"/>
          </a:xfrm>
          <a:prstGeom prst="rect">
            <a:avLst/>
          </a:prstGeom>
          <a:noFill/>
          <a:ln>
            <a:noFill/>
          </a:ln>
        </p:spPr>
        <p:txBody>
          <a:bodyPr wrap="square" lIns="0" tIns="0" rIns="0" bIns="0" anchor="ctr">
            <a:noAutofit/>
          </a:bodyPr>
          <a:lstStyle/>
          <a:p>
            <a:pPr algn="l"/>
            <a:r>
              <a:rPr lang="ko-KR" altLang="en-US" sz="900" dirty="0">
                <a:solidFill>
                  <a:srgbClr val="222222"/>
                </a:solidFill>
                <a:latin typeface="맑은 고딕"/>
                <a:ea typeface="맑은 고딕"/>
              </a:rPr>
              <a:t>created_at        DATETIME</a:t>
            </a:r>
          </a:p>
        </p:txBody>
      </p:sp>
      <p:sp>
        <p:nvSpPr>
          <p:cNvPr id="558" name="TB558"/>
          <p:cNvSpPr txBox="1"/>
          <p:nvPr/>
        </p:nvSpPr>
        <p:spPr>
          <a:xfrm>
            <a:off x="402336" y="3305556"/>
            <a:ext cx="8339328" cy="274320"/>
          </a:xfrm>
          <a:prstGeom prst="rect">
            <a:avLst/>
          </a:prstGeom>
          <a:noFill/>
          <a:ln>
            <a:noFill/>
          </a:ln>
        </p:spPr>
        <p:txBody>
          <a:bodyPr wrap="square" lIns="0" tIns="0" rIns="0" bIns="0" anchor="t">
            <a:noAutofit/>
          </a:bodyPr>
          <a:lstStyle/>
          <a:p>
            <a:pPr algn="l"/>
            <a:r>
              <a:rPr lang="ko-KR" altLang="en-US" sz="850" i="1" dirty="0">
                <a:solidFill>
                  <a:srgbClr val="5B6472"/>
                </a:solidFill>
                <a:latin typeface="맑은 고딕"/>
                <a:ea typeface="맑은 고딕"/>
              </a:rPr>
              <a:t>※ 위 5개 엔티티의 FK(user_id/device_id/event_id/admin_id)는 도메인①의 user_info·device_info, 도메인②의 anomaly_event를 참조하는 외부 참조입니다.</a:t>
            </a:r>
          </a:p>
        </p:txBody>
      </p:sp>
    </p:spTree>
    <p:extLst>
      <p:ext uri="{BB962C8B-B14F-4D97-AF65-F5344CB8AC3E}">
        <p14:creationId xmlns:p14="http://schemas.microsoft.com/office/powerpoint/2010/main" val="8774427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61916" y="463307"/>
            <a:ext cx="6960621" cy="6332378"/>
          </a:xfrm>
          <a:prstGeom prst="rect">
            <a:avLst/>
          </a:prstGeom>
        </p:spPr>
      </p:pic>
      <p:sp>
        <p:nvSpPr>
          <p:cNvPr id="3" name="Shape 0"/>
          <p:cNvSpPr/>
          <p:nvPr/>
        </p:nvSpPr>
        <p:spPr>
          <a:xfrm>
            <a:off x="7385128" y="1665903"/>
            <a:ext cx="155097" cy="86586"/>
          </a:xfrm>
          <a:prstGeom prst="roundRect">
            <a:avLst>
              <a:gd name="adj" fmla="val 22222"/>
            </a:avLst>
          </a:prstGeom>
          <a:solidFill>
            <a:srgbClr val="FFFFFF">
              <a:alpha val="92000"/>
            </a:srgbClr>
          </a:solidFill>
          <a:ln/>
        </p:spPr>
        <p:txBody>
          <a:bodyPr/>
          <a:lstStyle/>
          <a:p>
            <a:endParaRPr lang="ko-KR" altLang="en-US" sz="454"/>
          </a:p>
        </p:txBody>
      </p:sp>
      <p:sp>
        <p:nvSpPr>
          <p:cNvPr id="4" name="Text 1"/>
          <p:cNvSpPr/>
          <p:nvPr/>
        </p:nvSpPr>
        <p:spPr>
          <a:xfrm>
            <a:off x="7413990" y="1670713"/>
            <a:ext cx="135856" cy="96208"/>
          </a:xfrm>
          <a:prstGeom prst="rect">
            <a:avLst/>
          </a:prstGeom>
          <a:noFill/>
          <a:ln/>
        </p:spPr>
        <p:txBody>
          <a:bodyPr wrap="none" lIns="12828" tIns="12828" rIns="12828" bIns="12828" rtlCol="0" anchor="t">
            <a:normAutofit/>
          </a:bodyPr>
          <a:lstStyle/>
          <a:p>
            <a:r>
              <a:rPr lang="en-US" sz="454" b="1" dirty="0">
                <a:solidFill>
                  <a:srgbClr val="4B5563"/>
                </a:solidFill>
                <a:latin typeface="Noto Sans KR" pitchFamily="34" charset="0"/>
                <a:ea typeface="Noto Sans KR" pitchFamily="34" charset="-122"/>
                <a:cs typeface="Noto Sans KR" pitchFamily="34" charset="-120"/>
              </a:rPr>
              <a:t>완료</a:t>
            </a:r>
            <a:endParaRPr lang="en-US" sz="454" dirty="0"/>
          </a:p>
        </p:txBody>
      </p:sp>
      <p:sp>
        <p:nvSpPr>
          <p:cNvPr id="5" name="Shape 2"/>
          <p:cNvSpPr/>
          <p:nvPr/>
        </p:nvSpPr>
        <p:spPr>
          <a:xfrm>
            <a:off x="8626206" y="1665903"/>
            <a:ext cx="155097" cy="86586"/>
          </a:xfrm>
          <a:prstGeom prst="roundRect">
            <a:avLst>
              <a:gd name="adj" fmla="val 22222"/>
            </a:avLst>
          </a:prstGeom>
          <a:solidFill>
            <a:srgbClr val="FFFFFF">
              <a:alpha val="92000"/>
            </a:srgbClr>
          </a:solidFill>
          <a:ln/>
        </p:spPr>
        <p:txBody>
          <a:bodyPr/>
          <a:lstStyle/>
          <a:p>
            <a:endParaRPr lang="ko-KR" altLang="en-US" sz="454"/>
          </a:p>
        </p:txBody>
      </p:sp>
      <p:sp>
        <p:nvSpPr>
          <p:cNvPr id="6" name="Text 3"/>
          <p:cNvSpPr/>
          <p:nvPr/>
        </p:nvSpPr>
        <p:spPr>
          <a:xfrm>
            <a:off x="8655069" y="1670713"/>
            <a:ext cx="135856" cy="96208"/>
          </a:xfrm>
          <a:prstGeom prst="rect">
            <a:avLst/>
          </a:prstGeom>
          <a:noFill/>
          <a:ln/>
        </p:spPr>
        <p:txBody>
          <a:bodyPr wrap="none" lIns="12828" tIns="12828" rIns="12828" bIns="12828" rtlCol="0" anchor="t">
            <a:normAutofit/>
          </a:bodyPr>
          <a:lstStyle/>
          <a:p>
            <a:r>
              <a:rPr lang="en-US" sz="454" b="1" dirty="0">
                <a:solidFill>
                  <a:srgbClr val="4B5563"/>
                </a:solidFill>
                <a:latin typeface="Noto Sans KR" pitchFamily="34" charset="0"/>
                <a:ea typeface="Noto Sans KR" pitchFamily="34" charset="-122"/>
                <a:cs typeface="Noto Sans KR" pitchFamily="34" charset="-120"/>
              </a:rPr>
              <a:t>완료</a:t>
            </a:r>
            <a:endParaRPr lang="en-US" sz="454" dirty="0"/>
          </a:p>
        </p:txBody>
      </p:sp>
      <p:sp>
        <p:nvSpPr>
          <p:cNvPr id="7" name="Shape 4"/>
          <p:cNvSpPr/>
          <p:nvPr/>
        </p:nvSpPr>
        <p:spPr>
          <a:xfrm>
            <a:off x="8702590" y="1959336"/>
            <a:ext cx="252470" cy="86586"/>
          </a:xfrm>
          <a:prstGeom prst="roundRect">
            <a:avLst>
              <a:gd name="adj" fmla="val 22222"/>
            </a:avLst>
          </a:prstGeom>
          <a:solidFill>
            <a:srgbClr val="FFFFFF">
              <a:alpha val="92000"/>
            </a:srgbClr>
          </a:solidFill>
          <a:ln/>
        </p:spPr>
        <p:txBody>
          <a:bodyPr/>
          <a:lstStyle/>
          <a:p>
            <a:endParaRPr lang="ko-KR" altLang="en-US" sz="454"/>
          </a:p>
        </p:txBody>
      </p:sp>
      <p:sp>
        <p:nvSpPr>
          <p:cNvPr id="8" name="Text 5"/>
          <p:cNvSpPr/>
          <p:nvPr/>
        </p:nvSpPr>
        <p:spPr>
          <a:xfrm>
            <a:off x="8731451" y="1964146"/>
            <a:ext cx="233228" cy="96208"/>
          </a:xfrm>
          <a:prstGeom prst="rect">
            <a:avLst/>
          </a:prstGeom>
          <a:noFill/>
          <a:ln/>
        </p:spPr>
        <p:txBody>
          <a:bodyPr wrap="none" lIns="12828" tIns="12828" rIns="12828" bIns="12828" rtlCol="0" anchor="t">
            <a:normAutofit/>
          </a:bodyPr>
          <a:lstStyle/>
          <a:p>
            <a:r>
              <a:rPr lang="en-US" sz="454" b="1" dirty="0">
                <a:solidFill>
                  <a:srgbClr val="4B5563"/>
                </a:solidFill>
                <a:latin typeface="Noto Sans KR" pitchFamily="34" charset="0"/>
                <a:ea typeface="Noto Sans KR" pitchFamily="34" charset="-122"/>
                <a:cs typeface="Noto Sans KR" pitchFamily="34" charset="-120"/>
              </a:rPr>
              <a:t>재로그인</a:t>
            </a:r>
            <a:endParaRPr lang="en-US" sz="454" dirty="0"/>
          </a:p>
        </p:txBody>
      </p:sp>
      <p:sp>
        <p:nvSpPr>
          <p:cNvPr id="9" name="Shape 6"/>
          <p:cNvSpPr/>
          <p:nvPr/>
        </p:nvSpPr>
        <p:spPr>
          <a:xfrm>
            <a:off x="3262199" y="4600235"/>
            <a:ext cx="434963" cy="86586"/>
          </a:xfrm>
          <a:prstGeom prst="roundRect">
            <a:avLst>
              <a:gd name="adj" fmla="val 22222"/>
            </a:avLst>
          </a:prstGeom>
          <a:solidFill>
            <a:srgbClr val="FFFFFF">
              <a:alpha val="92000"/>
            </a:srgbClr>
          </a:solidFill>
          <a:ln/>
        </p:spPr>
        <p:txBody>
          <a:bodyPr/>
          <a:lstStyle/>
          <a:p>
            <a:endParaRPr lang="ko-KR" altLang="en-US" sz="454"/>
          </a:p>
        </p:txBody>
      </p:sp>
      <p:sp>
        <p:nvSpPr>
          <p:cNvPr id="10" name="Text 7"/>
          <p:cNvSpPr/>
          <p:nvPr/>
        </p:nvSpPr>
        <p:spPr>
          <a:xfrm>
            <a:off x="3291061" y="4605046"/>
            <a:ext cx="415722" cy="96208"/>
          </a:xfrm>
          <a:prstGeom prst="rect">
            <a:avLst/>
          </a:prstGeom>
          <a:noFill/>
          <a:ln/>
        </p:spPr>
        <p:txBody>
          <a:bodyPr wrap="none" lIns="12828" tIns="12828" rIns="12828" bIns="12828" rtlCol="0" anchor="t">
            <a:normAutofit/>
          </a:bodyPr>
          <a:lstStyle/>
          <a:p>
            <a:r>
              <a:rPr lang="en-US" sz="454" b="1" dirty="0">
                <a:solidFill>
                  <a:srgbClr val="4B5563"/>
                </a:solidFill>
                <a:latin typeface="Noto Sans KR" pitchFamily="34" charset="0"/>
                <a:ea typeface="Noto Sans KR" pitchFamily="34" charset="-122"/>
                <a:cs typeface="Noto Sans KR" pitchFamily="34" charset="-120"/>
              </a:rPr>
              <a:t>battery_id 발급</a:t>
            </a:r>
            <a:endParaRPr lang="en-US" sz="454" dirty="0"/>
          </a:p>
        </p:txBody>
      </p:sp>
      <p:sp>
        <p:nvSpPr>
          <p:cNvPr id="11" name="Shape 8"/>
          <p:cNvSpPr/>
          <p:nvPr/>
        </p:nvSpPr>
        <p:spPr>
          <a:xfrm>
            <a:off x="5664345" y="5871116"/>
            <a:ext cx="142808" cy="86586"/>
          </a:xfrm>
          <a:prstGeom prst="roundRect">
            <a:avLst>
              <a:gd name="adj" fmla="val 22222"/>
            </a:avLst>
          </a:prstGeom>
          <a:solidFill>
            <a:srgbClr val="FFFFFF">
              <a:alpha val="92000"/>
            </a:srgbClr>
          </a:solidFill>
          <a:ln/>
        </p:spPr>
        <p:txBody>
          <a:bodyPr/>
          <a:lstStyle/>
          <a:p>
            <a:endParaRPr lang="ko-KR" altLang="en-US" sz="454"/>
          </a:p>
        </p:txBody>
      </p:sp>
      <p:sp>
        <p:nvSpPr>
          <p:cNvPr id="12" name="Text 9"/>
          <p:cNvSpPr/>
          <p:nvPr/>
        </p:nvSpPr>
        <p:spPr>
          <a:xfrm>
            <a:off x="5693207" y="5875926"/>
            <a:ext cx="123567" cy="96208"/>
          </a:xfrm>
          <a:prstGeom prst="rect">
            <a:avLst/>
          </a:prstGeom>
          <a:noFill/>
          <a:ln/>
        </p:spPr>
        <p:txBody>
          <a:bodyPr wrap="none" lIns="12828" tIns="12828" rIns="12828" bIns="12828" rtlCol="0" anchor="t">
            <a:normAutofit/>
          </a:bodyPr>
          <a:lstStyle/>
          <a:p>
            <a:r>
              <a:rPr lang="en-US" sz="454" b="1" dirty="0">
                <a:solidFill>
                  <a:srgbClr val="4B5563"/>
                </a:solidFill>
                <a:latin typeface="Noto Sans KR" pitchFamily="34" charset="0"/>
                <a:ea typeface="Noto Sans KR" pitchFamily="34" charset="-122"/>
                <a:cs typeface="Noto Sans KR" pitchFamily="34" charset="-120"/>
              </a:rPr>
              <a:t>yes</a:t>
            </a:r>
            <a:endParaRPr lang="en-US" sz="454" dirty="0"/>
          </a:p>
        </p:txBody>
      </p:sp>
      <p:sp>
        <p:nvSpPr>
          <p:cNvPr id="13" name="Shape 10"/>
          <p:cNvSpPr/>
          <p:nvPr/>
        </p:nvSpPr>
        <p:spPr>
          <a:xfrm>
            <a:off x="6496316" y="5480535"/>
            <a:ext cx="124017" cy="86586"/>
          </a:xfrm>
          <a:prstGeom prst="roundRect">
            <a:avLst>
              <a:gd name="adj" fmla="val 22222"/>
            </a:avLst>
          </a:prstGeom>
          <a:solidFill>
            <a:srgbClr val="FFFFFF">
              <a:alpha val="92000"/>
            </a:srgbClr>
          </a:solidFill>
          <a:ln/>
        </p:spPr>
        <p:txBody>
          <a:bodyPr/>
          <a:lstStyle/>
          <a:p>
            <a:endParaRPr lang="ko-KR" altLang="en-US" sz="454"/>
          </a:p>
        </p:txBody>
      </p:sp>
      <p:sp>
        <p:nvSpPr>
          <p:cNvPr id="14" name="Text 11"/>
          <p:cNvSpPr/>
          <p:nvPr/>
        </p:nvSpPr>
        <p:spPr>
          <a:xfrm>
            <a:off x="6525178" y="5485345"/>
            <a:ext cx="104776" cy="96208"/>
          </a:xfrm>
          <a:prstGeom prst="rect">
            <a:avLst/>
          </a:prstGeom>
          <a:noFill/>
          <a:ln/>
        </p:spPr>
        <p:txBody>
          <a:bodyPr wrap="none" lIns="12828" tIns="12828" rIns="12828" bIns="12828" rtlCol="0" anchor="t">
            <a:normAutofit/>
          </a:bodyPr>
          <a:lstStyle/>
          <a:p>
            <a:r>
              <a:rPr lang="en-US" sz="454" b="1" dirty="0">
                <a:solidFill>
                  <a:srgbClr val="4B5563"/>
                </a:solidFill>
                <a:latin typeface="Noto Sans KR" pitchFamily="34" charset="0"/>
                <a:ea typeface="Noto Sans KR" pitchFamily="34" charset="-122"/>
                <a:cs typeface="Noto Sans KR" pitchFamily="34" charset="-120"/>
              </a:rPr>
              <a:t>no</a:t>
            </a:r>
            <a:endParaRPr lang="en-US" sz="454" dirty="0"/>
          </a:p>
        </p:txBody>
      </p:sp>
      <p:sp>
        <p:nvSpPr>
          <p:cNvPr id="17" name="Shape 14"/>
          <p:cNvSpPr/>
          <p:nvPr/>
        </p:nvSpPr>
        <p:spPr>
          <a:xfrm>
            <a:off x="5346108" y="1281072"/>
            <a:ext cx="779282" cy="269382"/>
          </a:xfrm>
          <a:prstGeom prst="roundRect">
            <a:avLst>
              <a:gd name="adj" fmla="val 7143"/>
            </a:avLst>
          </a:prstGeom>
          <a:solidFill>
            <a:srgbClr val="5B4EE8"/>
          </a:solidFill>
          <a:ln/>
          <a:effectLst>
            <a:outerShdw blurRad="19050" dist="9525" dir="5400000" algn="bl" rotWithShape="0">
              <a:srgbClr val="101828">
                <a:alpha val="6000"/>
              </a:srgbClr>
            </a:outerShdw>
          </a:effectLst>
        </p:spPr>
        <p:txBody>
          <a:bodyPr/>
          <a:lstStyle/>
          <a:p>
            <a:endParaRPr lang="ko-KR" altLang="en-US" sz="454"/>
          </a:p>
        </p:txBody>
      </p:sp>
      <p:sp>
        <p:nvSpPr>
          <p:cNvPr id="18" name="Text 15"/>
          <p:cNvSpPr/>
          <p:nvPr/>
        </p:nvSpPr>
        <p:spPr>
          <a:xfrm>
            <a:off x="5565018" y="1375739"/>
            <a:ext cx="341424" cy="99252"/>
          </a:xfrm>
          <a:prstGeom prst="rect">
            <a:avLst/>
          </a:prstGeom>
          <a:noFill/>
          <a:ln/>
        </p:spPr>
        <p:txBody>
          <a:bodyPr wrap="square" lIns="12828" tIns="12828" rIns="12828" bIns="12828" rtlCol="0" anchor="t">
            <a:noAutofit/>
          </a:bodyPr>
          <a:lstStyle/>
          <a:p>
            <a:pPr algn="ctr">
              <a:lnSpc>
                <a:spcPct val="128000"/>
              </a:lnSpc>
            </a:pPr>
            <a:r>
              <a:rPr lang="en-US" sz="454" b="1" kern="0" spc="-3" dirty="0">
                <a:solidFill>
                  <a:srgbClr val="FFFFFF"/>
                </a:solidFill>
                <a:latin typeface="Noto Sans KR" pitchFamily="34" charset="0"/>
                <a:ea typeface="Noto Sans KR" pitchFamily="34" charset="-122"/>
                <a:cs typeface="Noto Sans KR" pitchFamily="34" charset="-120"/>
              </a:rPr>
              <a:t>로그인 화면</a:t>
            </a:r>
            <a:endParaRPr lang="en-US" sz="454" dirty="0"/>
          </a:p>
        </p:txBody>
      </p:sp>
      <p:sp>
        <p:nvSpPr>
          <p:cNvPr id="19" name="Shape 16"/>
          <p:cNvSpPr/>
          <p:nvPr/>
        </p:nvSpPr>
        <p:spPr>
          <a:xfrm>
            <a:off x="3114091" y="1867938"/>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454"/>
          </a:p>
        </p:txBody>
      </p:sp>
      <p:sp>
        <p:nvSpPr>
          <p:cNvPr id="20" name="Text 17"/>
          <p:cNvSpPr/>
          <p:nvPr/>
        </p:nvSpPr>
        <p:spPr>
          <a:xfrm>
            <a:off x="3333001" y="1962606"/>
            <a:ext cx="341424" cy="99252"/>
          </a:xfrm>
          <a:prstGeom prst="rect">
            <a:avLst/>
          </a:prstGeom>
          <a:noFill/>
          <a:ln/>
        </p:spPr>
        <p:txBody>
          <a:bodyPr wrap="square" lIns="12828" tIns="12828" rIns="12828" bIns="12828" rtlCol="0" anchor="t">
            <a:noAutofit/>
          </a:bodyPr>
          <a:lstStyle/>
          <a:p>
            <a:pPr algn="ctr">
              <a:lnSpc>
                <a:spcPct val="128000"/>
              </a:lnSpc>
            </a:pPr>
            <a:r>
              <a:rPr lang="en-US" sz="454" b="1" kern="0" spc="-3" dirty="0">
                <a:solidFill>
                  <a:srgbClr val="14603A"/>
                </a:solidFill>
                <a:latin typeface="Noto Sans KR" pitchFamily="34" charset="0"/>
                <a:ea typeface="Noto Sans KR" pitchFamily="34" charset="-122"/>
                <a:cs typeface="Noto Sans KR" pitchFamily="34" charset="-120"/>
              </a:rPr>
              <a:t>일반 로그인</a:t>
            </a:r>
            <a:endParaRPr lang="en-US" sz="454" dirty="0"/>
          </a:p>
        </p:txBody>
      </p:sp>
      <p:sp>
        <p:nvSpPr>
          <p:cNvPr id="21" name="Shape 18"/>
          <p:cNvSpPr/>
          <p:nvPr/>
        </p:nvSpPr>
        <p:spPr>
          <a:xfrm>
            <a:off x="4230100" y="1867938"/>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454"/>
          </a:p>
        </p:txBody>
      </p:sp>
      <p:sp>
        <p:nvSpPr>
          <p:cNvPr id="22" name="Text 19"/>
          <p:cNvSpPr/>
          <p:nvPr/>
        </p:nvSpPr>
        <p:spPr>
          <a:xfrm>
            <a:off x="4323865" y="1962606"/>
            <a:ext cx="591752" cy="99252"/>
          </a:xfrm>
          <a:prstGeom prst="rect">
            <a:avLst/>
          </a:prstGeom>
          <a:noFill/>
          <a:ln/>
        </p:spPr>
        <p:txBody>
          <a:bodyPr wrap="square" lIns="12828" tIns="12828" rIns="12828" bIns="12828" rtlCol="0" anchor="t">
            <a:noAutofit/>
          </a:bodyPr>
          <a:lstStyle/>
          <a:p>
            <a:pPr algn="ctr">
              <a:lnSpc>
                <a:spcPct val="128000"/>
              </a:lnSpc>
            </a:pPr>
            <a:r>
              <a:rPr lang="en-US" sz="454" b="1" kern="0" spc="-3" dirty="0">
                <a:solidFill>
                  <a:srgbClr val="14603A"/>
                </a:solidFill>
                <a:latin typeface="Noto Sans KR" pitchFamily="34" charset="0"/>
                <a:ea typeface="Noto Sans KR" pitchFamily="34" charset="-122"/>
                <a:cs typeface="Noto Sans KR" pitchFamily="34" charset="-120"/>
              </a:rPr>
              <a:t>소셜 로그인 (OAuth)</a:t>
            </a:r>
            <a:endParaRPr lang="en-US" sz="454" dirty="0"/>
          </a:p>
        </p:txBody>
      </p:sp>
      <p:sp>
        <p:nvSpPr>
          <p:cNvPr id="23" name="Shape 20"/>
          <p:cNvSpPr/>
          <p:nvPr/>
        </p:nvSpPr>
        <p:spPr>
          <a:xfrm>
            <a:off x="6462116" y="1867938"/>
            <a:ext cx="779282" cy="269382"/>
          </a:xfrm>
          <a:prstGeom prst="roundRect">
            <a:avLst>
              <a:gd name="adj" fmla="val 7143"/>
            </a:avLst>
          </a:prstGeom>
          <a:solidFill>
            <a:srgbClr val="DAD7F7"/>
          </a:solidFill>
          <a:ln/>
          <a:effectLst>
            <a:outerShdw blurRad="19050" dist="9525" dir="5400000" algn="bl" rotWithShape="0">
              <a:srgbClr val="101828">
                <a:alpha val="6000"/>
              </a:srgbClr>
            </a:outerShdw>
          </a:effectLst>
        </p:spPr>
        <p:txBody>
          <a:bodyPr/>
          <a:lstStyle/>
          <a:p>
            <a:endParaRPr lang="ko-KR" altLang="en-US" sz="454"/>
          </a:p>
        </p:txBody>
      </p:sp>
      <p:sp>
        <p:nvSpPr>
          <p:cNvPr id="24" name="Text 21"/>
          <p:cNvSpPr/>
          <p:nvPr/>
        </p:nvSpPr>
        <p:spPr>
          <a:xfrm>
            <a:off x="6718195" y="1962606"/>
            <a:ext cx="267126" cy="99252"/>
          </a:xfrm>
          <a:prstGeom prst="rect">
            <a:avLst/>
          </a:prstGeom>
          <a:noFill/>
          <a:ln/>
        </p:spPr>
        <p:txBody>
          <a:bodyPr wrap="square" lIns="12828" tIns="12828" rIns="12828" bIns="12828" rtlCol="0" anchor="t">
            <a:noAutofit/>
          </a:bodyPr>
          <a:lstStyle/>
          <a:p>
            <a:pPr algn="ctr">
              <a:lnSpc>
                <a:spcPct val="128000"/>
              </a:lnSpc>
            </a:pPr>
            <a:r>
              <a:rPr lang="en-US" sz="454" b="1" kern="0" spc="-3" dirty="0">
                <a:solidFill>
                  <a:srgbClr val="443C86"/>
                </a:solidFill>
                <a:latin typeface="Noto Sans KR" pitchFamily="34" charset="0"/>
                <a:ea typeface="Noto Sans KR" pitchFamily="34" charset="-122"/>
                <a:cs typeface="Noto Sans KR" pitchFamily="34" charset="-120"/>
              </a:rPr>
              <a:t>회원가입</a:t>
            </a:r>
            <a:endParaRPr lang="en-US" sz="454" dirty="0"/>
          </a:p>
        </p:txBody>
      </p:sp>
      <p:sp>
        <p:nvSpPr>
          <p:cNvPr id="25" name="Shape 22"/>
          <p:cNvSpPr/>
          <p:nvPr/>
        </p:nvSpPr>
        <p:spPr>
          <a:xfrm>
            <a:off x="7578125" y="1867938"/>
            <a:ext cx="779282" cy="269382"/>
          </a:xfrm>
          <a:prstGeom prst="roundRect">
            <a:avLst>
              <a:gd name="adj" fmla="val 7143"/>
            </a:avLst>
          </a:prstGeom>
          <a:solidFill>
            <a:srgbClr val="DAD7F7"/>
          </a:solidFill>
          <a:ln/>
          <a:effectLst>
            <a:outerShdw blurRad="19050" dist="9525" dir="5400000" algn="bl" rotWithShape="0">
              <a:srgbClr val="101828">
                <a:alpha val="6000"/>
              </a:srgbClr>
            </a:outerShdw>
          </a:effectLst>
        </p:spPr>
        <p:txBody>
          <a:bodyPr/>
          <a:lstStyle/>
          <a:p>
            <a:endParaRPr lang="ko-KR" altLang="en-US" sz="454"/>
          </a:p>
        </p:txBody>
      </p:sp>
      <p:sp>
        <p:nvSpPr>
          <p:cNvPr id="26" name="Text 23"/>
          <p:cNvSpPr/>
          <p:nvPr/>
        </p:nvSpPr>
        <p:spPr>
          <a:xfrm>
            <a:off x="7693274" y="1962606"/>
            <a:ext cx="548985" cy="99252"/>
          </a:xfrm>
          <a:prstGeom prst="rect">
            <a:avLst/>
          </a:prstGeom>
          <a:noFill/>
          <a:ln/>
        </p:spPr>
        <p:txBody>
          <a:bodyPr wrap="square" lIns="12828" tIns="12828" rIns="12828" bIns="12828" rtlCol="0" anchor="t">
            <a:noAutofit/>
          </a:bodyPr>
          <a:lstStyle/>
          <a:p>
            <a:pPr algn="ctr">
              <a:lnSpc>
                <a:spcPct val="128000"/>
              </a:lnSpc>
            </a:pPr>
            <a:r>
              <a:rPr lang="en-US" sz="454" b="1" kern="0" spc="-3" dirty="0">
                <a:solidFill>
                  <a:srgbClr val="443C86"/>
                </a:solidFill>
                <a:latin typeface="Noto Sans KR" pitchFamily="34" charset="0"/>
                <a:ea typeface="Noto Sans KR" pitchFamily="34" charset="-122"/>
                <a:cs typeface="Noto Sans KR" pitchFamily="34" charset="-120"/>
              </a:rPr>
              <a:t>계정·비밀번호 찾기</a:t>
            </a:r>
            <a:endParaRPr lang="en-US" sz="454" dirty="0"/>
          </a:p>
        </p:txBody>
      </p:sp>
      <p:sp>
        <p:nvSpPr>
          <p:cNvPr id="27" name="Shape 24"/>
          <p:cNvSpPr/>
          <p:nvPr/>
        </p:nvSpPr>
        <p:spPr>
          <a:xfrm>
            <a:off x="3672095" y="2454805"/>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454"/>
          </a:p>
        </p:txBody>
      </p:sp>
      <p:sp>
        <p:nvSpPr>
          <p:cNvPr id="28" name="Text 25"/>
          <p:cNvSpPr/>
          <p:nvPr/>
        </p:nvSpPr>
        <p:spPr>
          <a:xfrm>
            <a:off x="3833281" y="2549472"/>
            <a:ext cx="456911" cy="99252"/>
          </a:xfrm>
          <a:prstGeom prst="rect">
            <a:avLst/>
          </a:prstGeom>
          <a:noFill/>
          <a:ln/>
        </p:spPr>
        <p:txBody>
          <a:bodyPr wrap="square" lIns="12828" tIns="12828" rIns="12828" bIns="12828" rtlCol="0" anchor="t">
            <a:noAutofit/>
          </a:bodyPr>
          <a:lstStyle/>
          <a:p>
            <a:pPr algn="ctr">
              <a:lnSpc>
                <a:spcPct val="128000"/>
              </a:lnSpc>
            </a:pPr>
            <a:r>
              <a:rPr lang="en-US" sz="454" b="1" kern="0" spc="-3" dirty="0">
                <a:solidFill>
                  <a:srgbClr val="14603A"/>
                </a:solidFill>
                <a:latin typeface="Noto Sans KR" pitchFamily="34" charset="0"/>
                <a:ea typeface="Noto Sans KR" pitchFamily="34" charset="-122"/>
                <a:cs typeface="Noto Sans KR" pitchFamily="34" charset="-120"/>
              </a:rPr>
              <a:t>토큰 발급 / 갱신</a:t>
            </a:r>
            <a:endParaRPr lang="en-US" sz="454" dirty="0"/>
          </a:p>
        </p:txBody>
      </p:sp>
      <p:sp>
        <p:nvSpPr>
          <p:cNvPr id="29" name="Shape 26"/>
          <p:cNvSpPr/>
          <p:nvPr/>
        </p:nvSpPr>
        <p:spPr>
          <a:xfrm>
            <a:off x="7578125" y="2454805"/>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454"/>
          </a:p>
        </p:txBody>
      </p:sp>
      <p:sp>
        <p:nvSpPr>
          <p:cNvPr id="30" name="Text 27"/>
          <p:cNvSpPr/>
          <p:nvPr/>
        </p:nvSpPr>
        <p:spPr>
          <a:xfrm>
            <a:off x="7677828" y="2549472"/>
            <a:ext cx="579876" cy="99252"/>
          </a:xfrm>
          <a:prstGeom prst="rect">
            <a:avLst/>
          </a:prstGeom>
          <a:noFill/>
          <a:ln/>
        </p:spPr>
        <p:txBody>
          <a:bodyPr wrap="square" lIns="12828" tIns="12828" rIns="12828" bIns="12828" rtlCol="0" anchor="t">
            <a:noAutofit/>
          </a:bodyPr>
          <a:lstStyle/>
          <a:p>
            <a:pPr algn="ctr">
              <a:lnSpc>
                <a:spcPct val="128000"/>
              </a:lnSpc>
            </a:pPr>
            <a:r>
              <a:rPr lang="en-US" sz="454" b="1" kern="0" spc="-3" dirty="0">
                <a:solidFill>
                  <a:srgbClr val="14603A"/>
                </a:solidFill>
                <a:latin typeface="Noto Sans KR" pitchFamily="34" charset="0"/>
                <a:ea typeface="Noto Sans KR" pitchFamily="34" charset="-122"/>
                <a:cs typeface="Noto Sans KR" pitchFamily="34" charset="-120"/>
              </a:rPr>
              <a:t>로그아웃 · 세션 만료</a:t>
            </a:r>
            <a:endParaRPr lang="en-US" sz="454" dirty="0"/>
          </a:p>
        </p:txBody>
      </p:sp>
      <p:sp>
        <p:nvSpPr>
          <p:cNvPr id="31" name="Shape 28"/>
          <p:cNvSpPr/>
          <p:nvPr/>
        </p:nvSpPr>
        <p:spPr>
          <a:xfrm>
            <a:off x="3672095" y="3041671"/>
            <a:ext cx="779282" cy="269382"/>
          </a:xfrm>
          <a:prstGeom prst="roundRect">
            <a:avLst>
              <a:gd name="adj" fmla="val 7143"/>
            </a:avLst>
          </a:prstGeom>
          <a:solidFill>
            <a:srgbClr val="5B4EE8"/>
          </a:solidFill>
          <a:ln/>
          <a:effectLst>
            <a:outerShdw blurRad="19050" dist="9525" dir="5400000" algn="bl" rotWithShape="0">
              <a:srgbClr val="101828">
                <a:alpha val="6000"/>
              </a:srgbClr>
            </a:outerShdw>
          </a:effectLst>
        </p:spPr>
        <p:txBody>
          <a:bodyPr/>
          <a:lstStyle/>
          <a:p>
            <a:endParaRPr lang="ko-KR" altLang="en-US" sz="454"/>
          </a:p>
        </p:txBody>
      </p:sp>
      <p:sp>
        <p:nvSpPr>
          <p:cNvPr id="32" name="Text 29"/>
          <p:cNvSpPr/>
          <p:nvPr/>
        </p:nvSpPr>
        <p:spPr>
          <a:xfrm>
            <a:off x="3862444" y="3136339"/>
            <a:ext cx="398586" cy="99252"/>
          </a:xfrm>
          <a:prstGeom prst="rect">
            <a:avLst/>
          </a:prstGeom>
          <a:noFill/>
          <a:ln/>
        </p:spPr>
        <p:txBody>
          <a:bodyPr wrap="square" lIns="12828" tIns="12828" rIns="12828" bIns="12828" rtlCol="0" anchor="t">
            <a:noAutofit/>
          </a:bodyPr>
          <a:lstStyle/>
          <a:p>
            <a:pPr algn="ctr">
              <a:lnSpc>
                <a:spcPct val="128000"/>
              </a:lnSpc>
            </a:pPr>
            <a:r>
              <a:rPr lang="en-US" sz="454" b="1" kern="0" spc="-3" dirty="0">
                <a:solidFill>
                  <a:srgbClr val="FFFFFF"/>
                </a:solidFill>
                <a:latin typeface="Noto Sans KR" pitchFamily="34" charset="0"/>
                <a:ea typeface="Noto Sans KR" pitchFamily="34" charset="-122"/>
                <a:cs typeface="Noto Sans KR" pitchFamily="34" charset="-120"/>
              </a:rPr>
              <a:t>디바이스 관리</a:t>
            </a:r>
            <a:endParaRPr lang="en-US" sz="454" dirty="0"/>
          </a:p>
        </p:txBody>
      </p:sp>
      <p:sp>
        <p:nvSpPr>
          <p:cNvPr id="33" name="Shape 30"/>
          <p:cNvSpPr/>
          <p:nvPr/>
        </p:nvSpPr>
        <p:spPr>
          <a:xfrm>
            <a:off x="3672095" y="3628538"/>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454"/>
          </a:p>
        </p:txBody>
      </p:sp>
      <p:sp>
        <p:nvSpPr>
          <p:cNvPr id="34" name="Text 31"/>
          <p:cNvSpPr/>
          <p:nvPr/>
        </p:nvSpPr>
        <p:spPr>
          <a:xfrm>
            <a:off x="3776120" y="3723205"/>
            <a:ext cx="571233" cy="99252"/>
          </a:xfrm>
          <a:prstGeom prst="rect">
            <a:avLst/>
          </a:prstGeom>
          <a:noFill/>
          <a:ln/>
        </p:spPr>
        <p:txBody>
          <a:bodyPr wrap="square" lIns="12828" tIns="12828" rIns="12828" bIns="12828" rtlCol="0" anchor="t">
            <a:noAutofit/>
          </a:bodyPr>
          <a:lstStyle/>
          <a:p>
            <a:pPr algn="ctr">
              <a:lnSpc>
                <a:spcPct val="128000"/>
              </a:lnSpc>
            </a:pPr>
            <a:r>
              <a:rPr lang="en-US" sz="454" b="1" kern="0" spc="-3" dirty="0">
                <a:solidFill>
                  <a:srgbClr val="14603A"/>
                </a:solidFill>
                <a:latin typeface="Noto Sans KR" pitchFamily="34" charset="0"/>
                <a:ea typeface="Noto Sans KR" pitchFamily="34" charset="-122"/>
                <a:cs typeface="Noto Sans KR" pitchFamily="34" charset="-120"/>
              </a:rPr>
              <a:t>디바이스 등록 / 선택</a:t>
            </a:r>
            <a:endParaRPr lang="en-US" sz="454" dirty="0"/>
          </a:p>
        </p:txBody>
      </p:sp>
      <p:sp>
        <p:nvSpPr>
          <p:cNvPr id="35" name="Shape 32"/>
          <p:cNvSpPr/>
          <p:nvPr/>
        </p:nvSpPr>
        <p:spPr>
          <a:xfrm>
            <a:off x="5346108" y="4215404"/>
            <a:ext cx="779282" cy="269382"/>
          </a:xfrm>
          <a:prstGeom prst="roundRect">
            <a:avLst>
              <a:gd name="adj" fmla="val 7143"/>
            </a:avLst>
          </a:prstGeom>
          <a:solidFill>
            <a:srgbClr val="5B4EE8"/>
          </a:solidFill>
          <a:ln/>
          <a:effectLst>
            <a:outerShdw blurRad="19050" dist="9525" dir="5400000" algn="bl" rotWithShape="0">
              <a:srgbClr val="101828">
                <a:alpha val="6000"/>
              </a:srgbClr>
            </a:outerShdw>
          </a:effectLst>
        </p:spPr>
        <p:txBody>
          <a:bodyPr/>
          <a:lstStyle/>
          <a:p>
            <a:endParaRPr lang="ko-KR" altLang="en-US" sz="454"/>
          </a:p>
        </p:txBody>
      </p:sp>
      <p:sp>
        <p:nvSpPr>
          <p:cNvPr id="36" name="Text 33"/>
          <p:cNvSpPr/>
          <p:nvPr/>
        </p:nvSpPr>
        <p:spPr>
          <a:xfrm>
            <a:off x="5507857" y="4310072"/>
            <a:ext cx="455746" cy="99252"/>
          </a:xfrm>
          <a:prstGeom prst="rect">
            <a:avLst/>
          </a:prstGeom>
          <a:noFill/>
          <a:ln/>
        </p:spPr>
        <p:txBody>
          <a:bodyPr wrap="square" lIns="12828" tIns="12828" rIns="12828" bIns="12828" rtlCol="0" anchor="t">
            <a:noAutofit/>
          </a:bodyPr>
          <a:lstStyle/>
          <a:p>
            <a:pPr algn="ctr">
              <a:lnSpc>
                <a:spcPct val="128000"/>
              </a:lnSpc>
            </a:pPr>
            <a:r>
              <a:rPr lang="en-US" sz="454" b="1" kern="0" spc="-3" dirty="0">
                <a:solidFill>
                  <a:srgbClr val="FFFFFF"/>
                </a:solidFill>
                <a:latin typeface="Noto Sans KR" pitchFamily="34" charset="0"/>
                <a:ea typeface="Noto Sans KR" pitchFamily="34" charset="-122"/>
                <a:cs typeface="Noto Sans KR" pitchFamily="34" charset="-120"/>
              </a:rPr>
              <a:t>배터리 자산관리</a:t>
            </a:r>
            <a:endParaRPr lang="en-US" sz="454" dirty="0"/>
          </a:p>
        </p:txBody>
      </p:sp>
      <p:sp>
        <p:nvSpPr>
          <p:cNvPr id="37" name="Shape 34"/>
          <p:cNvSpPr/>
          <p:nvPr/>
        </p:nvSpPr>
        <p:spPr>
          <a:xfrm>
            <a:off x="3672095" y="4802271"/>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454"/>
          </a:p>
        </p:txBody>
      </p:sp>
      <p:sp>
        <p:nvSpPr>
          <p:cNvPr id="38" name="Text 35"/>
          <p:cNvSpPr/>
          <p:nvPr/>
        </p:nvSpPr>
        <p:spPr>
          <a:xfrm>
            <a:off x="3853876" y="4896938"/>
            <a:ext cx="415722" cy="99252"/>
          </a:xfrm>
          <a:prstGeom prst="rect">
            <a:avLst/>
          </a:prstGeom>
          <a:noFill/>
          <a:ln/>
        </p:spPr>
        <p:txBody>
          <a:bodyPr wrap="square" lIns="12828" tIns="12828" rIns="12828" bIns="12828" rtlCol="0" anchor="t">
            <a:noAutofit/>
          </a:bodyPr>
          <a:lstStyle/>
          <a:p>
            <a:pPr algn="ctr">
              <a:lnSpc>
                <a:spcPct val="128000"/>
              </a:lnSpc>
            </a:pPr>
            <a:r>
              <a:rPr lang="en-US" sz="454" b="1" kern="0" spc="-3" dirty="0">
                <a:solidFill>
                  <a:srgbClr val="14603A"/>
                </a:solidFill>
                <a:latin typeface="Noto Sans KR" pitchFamily="34" charset="0"/>
                <a:ea typeface="Noto Sans KR" pitchFamily="34" charset="-122"/>
                <a:cs typeface="Noto Sans KR" pitchFamily="34" charset="-120"/>
              </a:rPr>
              <a:t>새 배터리 등록</a:t>
            </a:r>
            <a:endParaRPr lang="en-US" sz="454" dirty="0"/>
          </a:p>
        </p:txBody>
      </p:sp>
      <p:sp>
        <p:nvSpPr>
          <p:cNvPr id="39" name="Shape 36"/>
          <p:cNvSpPr/>
          <p:nvPr/>
        </p:nvSpPr>
        <p:spPr>
          <a:xfrm>
            <a:off x="5346108" y="4802271"/>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454"/>
          </a:p>
        </p:txBody>
      </p:sp>
      <p:sp>
        <p:nvSpPr>
          <p:cNvPr id="40" name="Text 37"/>
          <p:cNvSpPr/>
          <p:nvPr/>
        </p:nvSpPr>
        <p:spPr>
          <a:xfrm>
            <a:off x="5470727" y="4896938"/>
            <a:ext cx="530044" cy="99252"/>
          </a:xfrm>
          <a:prstGeom prst="rect">
            <a:avLst/>
          </a:prstGeom>
          <a:noFill/>
          <a:ln/>
        </p:spPr>
        <p:txBody>
          <a:bodyPr wrap="square" lIns="12828" tIns="12828" rIns="12828" bIns="12828" rtlCol="0" anchor="t">
            <a:noAutofit/>
          </a:bodyPr>
          <a:lstStyle/>
          <a:p>
            <a:pPr algn="ctr">
              <a:lnSpc>
                <a:spcPct val="128000"/>
              </a:lnSpc>
            </a:pPr>
            <a:r>
              <a:rPr lang="en-US" sz="454" b="1" kern="0" spc="-3" dirty="0">
                <a:solidFill>
                  <a:srgbClr val="14603A"/>
                </a:solidFill>
                <a:latin typeface="Noto Sans KR" pitchFamily="34" charset="0"/>
                <a:ea typeface="Noto Sans KR" pitchFamily="34" charset="-122"/>
                <a:cs typeface="Noto Sans KR" pitchFamily="34" charset="-120"/>
              </a:rPr>
              <a:t>저장된 배터리 선택</a:t>
            </a:r>
            <a:endParaRPr lang="en-US" sz="454" dirty="0"/>
          </a:p>
        </p:txBody>
      </p:sp>
      <p:sp>
        <p:nvSpPr>
          <p:cNvPr id="41" name="Shape 38"/>
          <p:cNvSpPr/>
          <p:nvPr/>
        </p:nvSpPr>
        <p:spPr>
          <a:xfrm>
            <a:off x="7020121" y="5389137"/>
            <a:ext cx="779282" cy="269382"/>
          </a:xfrm>
          <a:prstGeom prst="roundRect">
            <a:avLst>
              <a:gd name="adj" fmla="val 7143"/>
            </a:avLst>
          </a:prstGeom>
          <a:solidFill>
            <a:srgbClr val="DAD7F7"/>
          </a:solidFill>
          <a:ln/>
          <a:effectLst>
            <a:outerShdw blurRad="19050" dist="9525" dir="5400000" algn="bl" rotWithShape="0">
              <a:srgbClr val="101828">
                <a:alpha val="6000"/>
              </a:srgbClr>
            </a:outerShdw>
          </a:effectLst>
        </p:spPr>
        <p:txBody>
          <a:bodyPr/>
          <a:lstStyle/>
          <a:p>
            <a:endParaRPr lang="ko-KR" altLang="en-US" sz="454"/>
          </a:p>
        </p:txBody>
      </p:sp>
      <p:sp>
        <p:nvSpPr>
          <p:cNvPr id="42" name="Text 39"/>
          <p:cNvSpPr/>
          <p:nvPr/>
        </p:nvSpPr>
        <p:spPr>
          <a:xfrm>
            <a:off x="7152707" y="5483805"/>
            <a:ext cx="514072" cy="99252"/>
          </a:xfrm>
          <a:prstGeom prst="rect">
            <a:avLst/>
          </a:prstGeom>
          <a:noFill/>
          <a:ln/>
        </p:spPr>
        <p:txBody>
          <a:bodyPr wrap="square" lIns="12828" tIns="12828" rIns="12828" bIns="12828" rtlCol="0" anchor="t">
            <a:noAutofit/>
          </a:bodyPr>
          <a:lstStyle/>
          <a:p>
            <a:pPr algn="ctr">
              <a:lnSpc>
                <a:spcPct val="128000"/>
              </a:lnSpc>
            </a:pPr>
            <a:r>
              <a:rPr lang="en-US" sz="454" b="1" kern="0" spc="-3" dirty="0">
                <a:solidFill>
                  <a:srgbClr val="443C86"/>
                </a:solidFill>
                <a:latin typeface="Noto Sans KR" pitchFamily="34" charset="0"/>
                <a:ea typeface="Noto Sans KR" pitchFamily="34" charset="-122"/>
                <a:cs typeface="Noto Sans KR" pitchFamily="34" charset="-120"/>
              </a:rPr>
              <a:t>배터리 상세 / 이력</a:t>
            </a:r>
            <a:endParaRPr lang="en-US" sz="454" dirty="0"/>
          </a:p>
        </p:txBody>
      </p:sp>
      <p:sp>
        <p:nvSpPr>
          <p:cNvPr id="43" name="Shape 40"/>
          <p:cNvSpPr/>
          <p:nvPr/>
        </p:nvSpPr>
        <p:spPr>
          <a:xfrm>
            <a:off x="5374970" y="5312171"/>
            <a:ext cx="721557" cy="423314"/>
          </a:xfrm>
          <a:prstGeom prst="rect">
            <a:avLst/>
          </a:prstGeom>
          <a:solidFill>
            <a:srgbClr val="F5B96B"/>
          </a:solidFill>
          <a:ln/>
        </p:spPr>
        <p:txBody>
          <a:bodyPr/>
          <a:lstStyle/>
          <a:p>
            <a:endParaRPr lang="ko-KR" altLang="en-US" sz="454"/>
          </a:p>
        </p:txBody>
      </p:sp>
      <p:sp>
        <p:nvSpPr>
          <p:cNvPr id="44" name="Text 41"/>
          <p:cNvSpPr/>
          <p:nvPr/>
        </p:nvSpPr>
        <p:spPr>
          <a:xfrm>
            <a:off x="5603050" y="5486885"/>
            <a:ext cx="265361" cy="93126"/>
          </a:xfrm>
          <a:prstGeom prst="rect">
            <a:avLst/>
          </a:prstGeom>
          <a:noFill/>
          <a:ln/>
        </p:spPr>
        <p:txBody>
          <a:bodyPr wrap="square" lIns="12828" tIns="12828" rIns="12828" bIns="12828" rtlCol="0" anchor="t">
            <a:noAutofit/>
          </a:bodyPr>
          <a:lstStyle/>
          <a:p>
            <a:pPr algn="ctr">
              <a:lnSpc>
                <a:spcPct val="128000"/>
              </a:lnSpc>
            </a:pPr>
            <a:r>
              <a:rPr lang="en-US" sz="454" b="1" kern="0" spc="-3" dirty="0">
                <a:solidFill>
                  <a:srgbClr val="6B3D0E"/>
                </a:solidFill>
                <a:latin typeface="Noto Sans KR" pitchFamily="34" charset="0"/>
                <a:ea typeface="Noto Sans KR" pitchFamily="34" charset="-122"/>
                <a:cs typeface="Noto Sans KR" pitchFamily="34" charset="-120"/>
              </a:rPr>
              <a:t>측정 시작</a:t>
            </a:r>
            <a:endParaRPr lang="en-US" sz="454" dirty="0"/>
          </a:p>
        </p:txBody>
      </p:sp>
      <p:sp>
        <p:nvSpPr>
          <p:cNvPr id="45" name="Shape 42"/>
          <p:cNvSpPr/>
          <p:nvPr/>
        </p:nvSpPr>
        <p:spPr>
          <a:xfrm>
            <a:off x="5134451" y="6093369"/>
            <a:ext cx="1202596" cy="269382"/>
          </a:xfrm>
          <a:prstGeom prst="roundRect">
            <a:avLst>
              <a:gd name="adj" fmla="val 7143"/>
            </a:avLst>
          </a:prstGeom>
          <a:solidFill>
            <a:srgbClr val="0F172A"/>
          </a:solidFill>
          <a:ln/>
          <a:effectLst>
            <a:outerShdw blurRad="19050" dist="9525" dir="5400000" algn="bl" rotWithShape="0">
              <a:srgbClr val="101828">
                <a:alpha val="6000"/>
              </a:srgbClr>
            </a:outerShdw>
          </a:effectLst>
        </p:spPr>
        <p:txBody>
          <a:bodyPr/>
          <a:lstStyle/>
          <a:p>
            <a:endParaRPr lang="ko-KR" altLang="en-US" sz="454"/>
          </a:p>
        </p:txBody>
      </p:sp>
      <p:sp>
        <p:nvSpPr>
          <p:cNvPr id="46" name="Text 43"/>
          <p:cNvSpPr/>
          <p:nvPr/>
        </p:nvSpPr>
        <p:spPr>
          <a:xfrm>
            <a:off x="5245755" y="6188037"/>
            <a:ext cx="979987" cy="99252"/>
          </a:xfrm>
          <a:prstGeom prst="rect">
            <a:avLst/>
          </a:prstGeom>
          <a:noFill/>
          <a:ln/>
        </p:spPr>
        <p:txBody>
          <a:bodyPr wrap="square" lIns="12828" tIns="12828" rIns="12828" bIns="12828" rtlCol="0" anchor="t">
            <a:noAutofit/>
          </a:bodyPr>
          <a:lstStyle/>
          <a:p>
            <a:pPr algn="ctr">
              <a:lnSpc>
                <a:spcPct val="128000"/>
              </a:lnSpc>
            </a:pPr>
            <a:r>
              <a:rPr lang="en-US" sz="454" b="1" kern="0" spc="-3" dirty="0">
                <a:solidFill>
                  <a:srgbClr val="FFFFFF"/>
                </a:solidFill>
                <a:latin typeface="Noto Sans KR" pitchFamily="34" charset="0"/>
                <a:ea typeface="Noto Sans KR" pitchFamily="34" charset="-122"/>
                <a:cs typeface="Noto Sans KR" pitchFamily="34" charset="-120"/>
              </a:rPr>
              <a:t>측정 세션 준비 → 실시간 대시보드</a:t>
            </a:r>
            <a:endParaRPr lang="en-US" sz="454" dirty="0"/>
          </a:p>
        </p:txBody>
      </p:sp>
      <p:sp>
        <p:nvSpPr>
          <p:cNvPr id="49" name="직사각형 48">
            <a:extLst>
              <a:ext uri="{FF2B5EF4-FFF2-40B4-BE49-F238E27FC236}">
                <a16:creationId xmlns:a16="http://schemas.microsoft.com/office/drawing/2014/main" id="{2E3314AA-947D-89BB-09B8-BFB002EBC5F8}"/>
              </a:ext>
            </a:extLst>
          </p:cNvPr>
          <p:cNvSpPr/>
          <p:nvPr/>
        </p:nvSpPr>
        <p:spPr>
          <a:xfrm>
            <a:off x="5507857" y="905805"/>
            <a:ext cx="492876" cy="360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sz="1662"/>
          </a:p>
        </p:txBody>
      </p:sp>
      <p:sp>
        <p:nvSpPr>
          <p:cNvPr id="51" name="Text 1">
            <a:extLst>
              <a:ext uri="{FF2B5EF4-FFF2-40B4-BE49-F238E27FC236}">
                <a16:creationId xmlns:a16="http://schemas.microsoft.com/office/drawing/2014/main" id="{BE4FAA45-8319-ACEA-5364-41D0BAE79B82}"/>
              </a:ext>
            </a:extLst>
          </p:cNvPr>
          <p:cNvSpPr/>
          <p:nvPr/>
        </p:nvSpPr>
        <p:spPr>
          <a:xfrm>
            <a:off x="356592" y="1502432"/>
            <a:ext cx="2867949" cy="153932"/>
          </a:xfrm>
          <a:prstGeom prst="rect">
            <a:avLst/>
          </a:prstGeom>
          <a:noFill/>
          <a:ln/>
        </p:spPr>
        <p:txBody>
          <a:bodyPr wrap="square" lIns="12828" tIns="12828" rIns="12828" bIns="12828" rtlCol="0" anchor="t">
            <a:normAutofit/>
          </a:bodyPr>
          <a:lstStyle/>
          <a:p>
            <a:r>
              <a:rPr lang="en-US" sz="834" b="1" kern="0" spc="66" dirty="0">
                <a:solidFill>
                  <a:srgbClr val="1F2430"/>
                </a:solidFill>
                <a:latin typeface="Space Grotesk" pitchFamily="34" charset="0"/>
                <a:ea typeface="Space Grotesk" pitchFamily="34" charset="-122"/>
                <a:cs typeface="Space Grotesk" pitchFamily="34" charset="-120"/>
              </a:rPr>
              <a:t>LEGEND</a:t>
            </a:r>
            <a:endParaRPr lang="en-US" sz="834" dirty="0"/>
          </a:p>
        </p:txBody>
      </p:sp>
      <p:sp>
        <p:nvSpPr>
          <p:cNvPr id="52" name="Shape 2">
            <a:extLst>
              <a:ext uri="{FF2B5EF4-FFF2-40B4-BE49-F238E27FC236}">
                <a16:creationId xmlns:a16="http://schemas.microsoft.com/office/drawing/2014/main" id="{C7BA31F9-C60A-9A50-79FD-2F85279B6413}"/>
              </a:ext>
            </a:extLst>
          </p:cNvPr>
          <p:cNvSpPr/>
          <p:nvPr/>
        </p:nvSpPr>
        <p:spPr>
          <a:xfrm>
            <a:off x="356592" y="1800676"/>
            <a:ext cx="1154491" cy="384831"/>
          </a:xfrm>
          <a:prstGeom prst="roundRect">
            <a:avLst>
              <a:gd name="adj" fmla="val 50000"/>
            </a:avLst>
          </a:prstGeom>
          <a:solidFill>
            <a:srgbClr val="1E1B4B"/>
          </a:solidFill>
          <a:ln/>
          <a:effectLst>
            <a:outerShdw blurRad="19050" dist="9525" dir="5400000" algn="bl" rotWithShape="0">
              <a:srgbClr val="101828">
                <a:alpha val="6000"/>
              </a:srgbClr>
            </a:outerShdw>
          </a:effectLst>
        </p:spPr>
        <p:txBody>
          <a:bodyPr/>
          <a:lstStyle/>
          <a:p>
            <a:endParaRPr lang="ko-KR" altLang="en-US" sz="909"/>
          </a:p>
        </p:txBody>
      </p:sp>
      <p:sp>
        <p:nvSpPr>
          <p:cNvPr id="53" name="Text 3">
            <a:extLst>
              <a:ext uri="{FF2B5EF4-FFF2-40B4-BE49-F238E27FC236}">
                <a16:creationId xmlns:a16="http://schemas.microsoft.com/office/drawing/2014/main" id="{A0F7BB90-6A68-9A0A-9052-5EB7A587C7A5}"/>
              </a:ext>
            </a:extLst>
          </p:cNvPr>
          <p:cNvSpPr/>
          <p:nvPr/>
        </p:nvSpPr>
        <p:spPr>
          <a:xfrm>
            <a:off x="824627" y="1940177"/>
            <a:ext cx="256904" cy="125070"/>
          </a:xfrm>
          <a:prstGeom prst="rect">
            <a:avLst/>
          </a:prstGeom>
          <a:noFill/>
          <a:ln/>
        </p:spPr>
        <p:txBody>
          <a:bodyPr wrap="square" lIns="12828" tIns="12828" rIns="12828" bIns="12828" rtlCol="0" anchor="t">
            <a:normAutofit/>
          </a:bodyPr>
          <a:lstStyle/>
          <a:p>
            <a:r>
              <a:rPr lang="en-US" sz="568" b="1" kern="0" spc="-3" dirty="0">
                <a:solidFill>
                  <a:srgbClr val="FFFFFF"/>
                </a:solidFill>
                <a:latin typeface="Noto Sans KR" pitchFamily="34" charset="0"/>
                <a:ea typeface="Noto Sans KR" pitchFamily="34" charset="-122"/>
                <a:cs typeface="Noto Sans KR" pitchFamily="34" charset="-120"/>
              </a:rPr>
              <a:t>START</a:t>
            </a:r>
            <a:endParaRPr lang="en-US" sz="568" dirty="0"/>
          </a:p>
        </p:txBody>
      </p:sp>
      <p:sp>
        <p:nvSpPr>
          <p:cNvPr id="54" name="Text 4">
            <a:extLst>
              <a:ext uri="{FF2B5EF4-FFF2-40B4-BE49-F238E27FC236}">
                <a16:creationId xmlns:a16="http://schemas.microsoft.com/office/drawing/2014/main" id="{72F53C32-C638-5A01-329D-4859B5C39539}"/>
              </a:ext>
            </a:extLst>
          </p:cNvPr>
          <p:cNvSpPr/>
          <p:nvPr/>
        </p:nvSpPr>
        <p:spPr>
          <a:xfrm>
            <a:off x="1722739" y="1916125"/>
            <a:ext cx="231124" cy="173174"/>
          </a:xfrm>
          <a:prstGeom prst="rect">
            <a:avLst/>
          </a:prstGeom>
          <a:noFill/>
          <a:ln/>
        </p:spPr>
        <p:txBody>
          <a:bodyPr wrap="square" lIns="12828" tIns="12828" rIns="12828" bIns="12828" rtlCol="0" anchor="t">
            <a:normAutofit/>
          </a:bodyPr>
          <a:lstStyle/>
          <a:p>
            <a:r>
              <a:rPr lang="en-US" sz="758" b="1" kern="0" spc="-8" dirty="0">
                <a:solidFill>
                  <a:srgbClr val="1F2430"/>
                </a:solidFill>
                <a:latin typeface="Noto Sans KR" pitchFamily="34" charset="0"/>
                <a:ea typeface="Noto Sans KR" pitchFamily="34" charset="-122"/>
                <a:cs typeface="Noto Sans KR" pitchFamily="34" charset="-120"/>
              </a:rPr>
              <a:t>시작</a:t>
            </a:r>
            <a:endParaRPr lang="en-US" sz="758" dirty="0"/>
          </a:p>
        </p:txBody>
      </p:sp>
      <p:sp>
        <p:nvSpPr>
          <p:cNvPr id="55" name="Shape 5">
            <a:extLst>
              <a:ext uri="{FF2B5EF4-FFF2-40B4-BE49-F238E27FC236}">
                <a16:creationId xmlns:a16="http://schemas.microsoft.com/office/drawing/2014/main" id="{FE7B7348-B0CE-636A-19CC-C47440DB86FB}"/>
              </a:ext>
            </a:extLst>
          </p:cNvPr>
          <p:cNvSpPr/>
          <p:nvPr/>
        </p:nvSpPr>
        <p:spPr>
          <a:xfrm>
            <a:off x="356592" y="2329817"/>
            <a:ext cx="1154491" cy="384831"/>
          </a:xfrm>
          <a:prstGeom prst="roundRect">
            <a:avLst>
              <a:gd name="adj" fmla="val 5000"/>
            </a:avLst>
          </a:prstGeom>
          <a:solidFill>
            <a:srgbClr val="5B4EE8"/>
          </a:solidFill>
          <a:ln/>
          <a:effectLst>
            <a:outerShdw blurRad="19050" dist="9525" dir="5400000" algn="bl" rotWithShape="0">
              <a:srgbClr val="101828">
                <a:alpha val="6000"/>
              </a:srgbClr>
            </a:outerShdw>
          </a:effectLst>
        </p:spPr>
        <p:txBody>
          <a:bodyPr/>
          <a:lstStyle/>
          <a:p>
            <a:endParaRPr lang="ko-KR" altLang="en-US" sz="909"/>
          </a:p>
        </p:txBody>
      </p:sp>
      <p:sp>
        <p:nvSpPr>
          <p:cNvPr id="56" name="Text 6">
            <a:extLst>
              <a:ext uri="{FF2B5EF4-FFF2-40B4-BE49-F238E27FC236}">
                <a16:creationId xmlns:a16="http://schemas.microsoft.com/office/drawing/2014/main" id="{5E13F3C1-0FF3-78DC-CCF1-A01D1D085F01}"/>
              </a:ext>
            </a:extLst>
          </p:cNvPr>
          <p:cNvSpPr/>
          <p:nvPr/>
        </p:nvSpPr>
        <p:spPr>
          <a:xfrm>
            <a:off x="697903" y="2469319"/>
            <a:ext cx="510352" cy="125070"/>
          </a:xfrm>
          <a:prstGeom prst="rect">
            <a:avLst/>
          </a:prstGeom>
          <a:noFill/>
          <a:ln/>
        </p:spPr>
        <p:txBody>
          <a:bodyPr wrap="square" lIns="12828" tIns="12828" rIns="12828" bIns="12828" rtlCol="0" anchor="t">
            <a:normAutofit/>
          </a:bodyPr>
          <a:lstStyle/>
          <a:p>
            <a:r>
              <a:rPr lang="en-US" sz="568" b="1" kern="0" spc="-3" dirty="0">
                <a:solidFill>
                  <a:srgbClr val="FFFFFF"/>
                </a:solidFill>
                <a:latin typeface="Noto Sans KR" pitchFamily="34" charset="0"/>
                <a:ea typeface="Noto Sans KR" pitchFamily="34" charset="-122"/>
                <a:cs typeface="Noto Sans KR" pitchFamily="34" charset="-120"/>
              </a:rPr>
              <a:t>Page / Screen</a:t>
            </a:r>
            <a:endParaRPr lang="en-US" sz="568" dirty="0"/>
          </a:p>
        </p:txBody>
      </p:sp>
      <p:sp>
        <p:nvSpPr>
          <p:cNvPr id="57" name="Text 7">
            <a:extLst>
              <a:ext uri="{FF2B5EF4-FFF2-40B4-BE49-F238E27FC236}">
                <a16:creationId xmlns:a16="http://schemas.microsoft.com/office/drawing/2014/main" id="{CA65A28C-797D-BA65-A450-8B9ACF48F2B5}"/>
              </a:ext>
            </a:extLst>
          </p:cNvPr>
          <p:cNvSpPr/>
          <p:nvPr/>
        </p:nvSpPr>
        <p:spPr>
          <a:xfrm>
            <a:off x="1722740" y="2445267"/>
            <a:ext cx="452288" cy="173174"/>
          </a:xfrm>
          <a:prstGeom prst="rect">
            <a:avLst/>
          </a:prstGeom>
          <a:noFill/>
          <a:ln/>
        </p:spPr>
        <p:txBody>
          <a:bodyPr wrap="square" lIns="12828" tIns="12828" rIns="12828" bIns="12828" rtlCol="0" anchor="t">
            <a:normAutofit/>
          </a:bodyPr>
          <a:lstStyle/>
          <a:p>
            <a:r>
              <a:rPr lang="en-US" sz="758" b="1" kern="0" spc="-8" dirty="0">
                <a:solidFill>
                  <a:srgbClr val="1F2430"/>
                </a:solidFill>
                <a:latin typeface="Noto Sans KR" pitchFamily="34" charset="0"/>
                <a:ea typeface="Noto Sans KR" pitchFamily="34" charset="-122"/>
                <a:cs typeface="Noto Sans KR" pitchFamily="34" charset="-120"/>
              </a:rPr>
              <a:t>주요 화면</a:t>
            </a:r>
            <a:endParaRPr lang="en-US" sz="758" dirty="0"/>
          </a:p>
        </p:txBody>
      </p:sp>
      <p:sp>
        <p:nvSpPr>
          <p:cNvPr id="58" name="Shape 8">
            <a:extLst>
              <a:ext uri="{FF2B5EF4-FFF2-40B4-BE49-F238E27FC236}">
                <a16:creationId xmlns:a16="http://schemas.microsoft.com/office/drawing/2014/main" id="{0B239D88-3708-9A4F-03FD-BFABAF002198}"/>
              </a:ext>
            </a:extLst>
          </p:cNvPr>
          <p:cNvSpPr/>
          <p:nvPr/>
        </p:nvSpPr>
        <p:spPr>
          <a:xfrm>
            <a:off x="356592" y="2858959"/>
            <a:ext cx="1154491" cy="384831"/>
          </a:xfrm>
          <a:prstGeom prst="roundRect">
            <a:avLst>
              <a:gd name="adj" fmla="val 5000"/>
            </a:avLst>
          </a:prstGeom>
          <a:solidFill>
            <a:srgbClr val="DAD7F7"/>
          </a:solidFill>
          <a:ln/>
          <a:effectLst>
            <a:outerShdw blurRad="19050" dist="9525" dir="5400000" algn="bl" rotWithShape="0">
              <a:srgbClr val="101828">
                <a:alpha val="6000"/>
              </a:srgbClr>
            </a:outerShdw>
          </a:effectLst>
        </p:spPr>
        <p:txBody>
          <a:bodyPr/>
          <a:lstStyle/>
          <a:p>
            <a:endParaRPr lang="ko-KR" altLang="en-US" sz="909"/>
          </a:p>
        </p:txBody>
      </p:sp>
      <p:sp>
        <p:nvSpPr>
          <p:cNvPr id="59" name="Text 9">
            <a:extLst>
              <a:ext uri="{FF2B5EF4-FFF2-40B4-BE49-F238E27FC236}">
                <a16:creationId xmlns:a16="http://schemas.microsoft.com/office/drawing/2014/main" id="{1EA4880A-329B-9BC7-61F1-209F9E9E6B61}"/>
              </a:ext>
            </a:extLst>
          </p:cNvPr>
          <p:cNvSpPr/>
          <p:nvPr/>
        </p:nvSpPr>
        <p:spPr>
          <a:xfrm>
            <a:off x="794260" y="2998461"/>
            <a:ext cx="317598" cy="125070"/>
          </a:xfrm>
          <a:prstGeom prst="rect">
            <a:avLst/>
          </a:prstGeom>
          <a:noFill/>
          <a:ln/>
        </p:spPr>
        <p:txBody>
          <a:bodyPr wrap="square" lIns="12828" tIns="12828" rIns="12828" bIns="12828" rtlCol="0" anchor="t">
            <a:normAutofit/>
          </a:bodyPr>
          <a:lstStyle/>
          <a:p>
            <a:r>
              <a:rPr lang="en-US" sz="568" b="1" kern="0" spc="-3" dirty="0">
                <a:solidFill>
                  <a:srgbClr val="443C86"/>
                </a:solidFill>
                <a:latin typeface="Noto Sans KR" pitchFamily="34" charset="0"/>
                <a:ea typeface="Noto Sans KR" pitchFamily="34" charset="-122"/>
                <a:cs typeface="Noto Sans KR" pitchFamily="34" charset="-120"/>
              </a:rPr>
              <a:t>Content</a:t>
            </a:r>
            <a:endParaRPr lang="en-US" sz="568" dirty="0"/>
          </a:p>
        </p:txBody>
      </p:sp>
      <p:sp>
        <p:nvSpPr>
          <p:cNvPr id="60" name="Text 10">
            <a:extLst>
              <a:ext uri="{FF2B5EF4-FFF2-40B4-BE49-F238E27FC236}">
                <a16:creationId xmlns:a16="http://schemas.microsoft.com/office/drawing/2014/main" id="{EB8CF916-9D81-8B7B-CEFD-93F8D72A2A31}"/>
              </a:ext>
            </a:extLst>
          </p:cNvPr>
          <p:cNvSpPr/>
          <p:nvPr/>
        </p:nvSpPr>
        <p:spPr>
          <a:xfrm>
            <a:off x="1722740" y="2974409"/>
            <a:ext cx="452288" cy="173174"/>
          </a:xfrm>
          <a:prstGeom prst="rect">
            <a:avLst/>
          </a:prstGeom>
          <a:noFill/>
          <a:ln/>
        </p:spPr>
        <p:txBody>
          <a:bodyPr wrap="square" lIns="12828" tIns="12828" rIns="12828" bIns="12828" rtlCol="0" anchor="t">
            <a:normAutofit/>
          </a:bodyPr>
          <a:lstStyle/>
          <a:p>
            <a:r>
              <a:rPr lang="en-US" sz="758" b="1" kern="0" spc="-8" dirty="0">
                <a:solidFill>
                  <a:srgbClr val="1F2430"/>
                </a:solidFill>
                <a:latin typeface="Noto Sans KR" pitchFamily="34" charset="0"/>
                <a:ea typeface="Noto Sans KR" pitchFamily="34" charset="-122"/>
                <a:cs typeface="Noto Sans KR" pitchFamily="34" charset="-120"/>
              </a:rPr>
              <a:t>세부 화면</a:t>
            </a:r>
            <a:endParaRPr lang="en-US" sz="758" dirty="0"/>
          </a:p>
        </p:txBody>
      </p:sp>
      <p:sp>
        <p:nvSpPr>
          <p:cNvPr id="61" name="Shape 11">
            <a:extLst>
              <a:ext uri="{FF2B5EF4-FFF2-40B4-BE49-F238E27FC236}">
                <a16:creationId xmlns:a16="http://schemas.microsoft.com/office/drawing/2014/main" id="{F959D9C0-4CB2-DD85-E0FB-ED9A01ADCCB8}"/>
              </a:ext>
            </a:extLst>
          </p:cNvPr>
          <p:cNvSpPr/>
          <p:nvPr/>
        </p:nvSpPr>
        <p:spPr>
          <a:xfrm>
            <a:off x="356592" y="3388101"/>
            <a:ext cx="1154491" cy="384831"/>
          </a:xfrm>
          <a:prstGeom prst="roundRect">
            <a:avLst>
              <a:gd name="adj" fmla="val 5000"/>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62" name="Text 12">
            <a:extLst>
              <a:ext uri="{FF2B5EF4-FFF2-40B4-BE49-F238E27FC236}">
                <a16:creationId xmlns:a16="http://schemas.microsoft.com/office/drawing/2014/main" id="{ED84763E-B3BB-7594-5E5F-0786A611ACFE}"/>
              </a:ext>
            </a:extLst>
          </p:cNvPr>
          <p:cNvSpPr/>
          <p:nvPr/>
        </p:nvSpPr>
        <p:spPr>
          <a:xfrm>
            <a:off x="823273" y="3527603"/>
            <a:ext cx="259610" cy="125070"/>
          </a:xfrm>
          <a:prstGeom prst="rect">
            <a:avLst/>
          </a:prstGeom>
          <a:noFill/>
          <a:ln/>
        </p:spPr>
        <p:txBody>
          <a:bodyPr wrap="square" lIns="12828" tIns="12828" rIns="12828" bIns="12828" rtlCol="0" anchor="t">
            <a:normAutofit/>
          </a:bodyPr>
          <a:lstStyle/>
          <a:p>
            <a:r>
              <a:rPr lang="en-US" sz="568" b="1" kern="0" spc="-3" dirty="0">
                <a:solidFill>
                  <a:srgbClr val="14603A"/>
                </a:solidFill>
                <a:latin typeface="Noto Sans KR" pitchFamily="34" charset="0"/>
                <a:ea typeface="Noto Sans KR" pitchFamily="34" charset="-122"/>
                <a:cs typeface="Noto Sans KR" pitchFamily="34" charset="-120"/>
              </a:rPr>
              <a:t>Action</a:t>
            </a:r>
            <a:endParaRPr lang="en-US" sz="568" dirty="0"/>
          </a:p>
        </p:txBody>
      </p:sp>
      <p:sp>
        <p:nvSpPr>
          <p:cNvPr id="63" name="Text 13">
            <a:extLst>
              <a:ext uri="{FF2B5EF4-FFF2-40B4-BE49-F238E27FC236}">
                <a16:creationId xmlns:a16="http://schemas.microsoft.com/office/drawing/2014/main" id="{873D7CFB-541D-DDF7-EA21-C2368D5C6A90}"/>
              </a:ext>
            </a:extLst>
          </p:cNvPr>
          <p:cNvSpPr/>
          <p:nvPr/>
        </p:nvSpPr>
        <p:spPr>
          <a:xfrm>
            <a:off x="1722740" y="3503551"/>
            <a:ext cx="535831" cy="173174"/>
          </a:xfrm>
          <a:prstGeom prst="rect">
            <a:avLst/>
          </a:prstGeom>
          <a:noFill/>
          <a:ln/>
        </p:spPr>
        <p:txBody>
          <a:bodyPr wrap="square" lIns="12828" tIns="12828" rIns="12828" bIns="12828" rtlCol="0" anchor="t">
            <a:normAutofit/>
          </a:bodyPr>
          <a:lstStyle/>
          <a:p>
            <a:r>
              <a:rPr lang="en-US" sz="758" b="1" kern="0" spc="-8" dirty="0">
                <a:solidFill>
                  <a:srgbClr val="1F2430"/>
                </a:solidFill>
                <a:latin typeface="Noto Sans KR" pitchFamily="34" charset="0"/>
                <a:ea typeface="Noto Sans KR" pitchFamily="34" charset="-122"/>
                <a:cs typeface="Noto Sans KR" pitchFamily="34" charset="-120"/>
              </a:rPr>
              <a:t>액션 · 처리</a:t>
            </a:r>
            <a:endParaRPr lang="en-US" sz="758" dirty="0"/>
          </a:p>
        </p:txBody>
      </p:sp>
      <p:sp>
        <p:nvSpPr>
          <p:cNvPr id="64" name="Shape 14">
            <a:extLst>
              <a:ext uri="{FF2B5EF4-FFF2-40B4-BE49-F238E27FC236}">
                <a16:creationId xmlns:a16="http://schemas.microsoft.com/office/drawing/2014/main" id="{01E9A19D-FAED-049B-9C94-274119C8F746}"/>
              </a:ext>
            </a:extLst>
          </p:cNvPr>
          <p:cNvSpPr/>
          <p:nvPr/>
        </p:nvSpPr>
        <p:spPr>
          <a:xfrm>
            <a:off x="356592" y="3917243"/>
            <a:ext cx="1154491" cy="500280"/>
          </a:xfrm>
          <a:prstGeom prst="rect">
            <a:avLst/>
          </a:prstGeom>
          <a:solidFill>
            <a:srgbClr val="F5B96B"/>
          </a:solidFill>
          <a:ln/>
        </p:spPr>
        <p:txBody>
          <a:bodyPr/>
          <a:lstStyle/>
          <a:p>
            <a:endParaRPr lang="ko-KR" altLang="en-US" sz="909"/>
          </a:p>
        </p:txBody>
      </p:sp>
      <p:sp>
        <p:nvSpPr>
          <p:cNvPr id="65" name="Text 15">
            <a:extLst>
              <a:ext uri="{FF2B5EF4-FFF2-40B4-BE49-F238E27FC236}">
                <a16:creationId xmlns:a16="http://schemas.microsoft.com/office/drawing/2014/main" id="{2E08E397-BC14-8500-5CE3-6DD57E5582B1}"/>
              </a:ext>
            </a:extLst>
          </p:cNvPr>
          <p:cNvSpPr/>
          <p:nvPr/>
        </p:nvSpPr>
        <p:spPr>
          <a:xfrm>
            <a:off x="786144" y="4114469"/>
            <a:ext cx="333870" cy="125070"/>
          </a:xfrm>
          <a:prstGeom prst="rect">
            <a:avLst/>
          </a:prstGeom>
          <a:noFill/>
          <a:ln/>
        </p:spPr>
        <p:txBody>
          <a:bodyPr wrap="square" lIns="12828" tIns="12828" rIns="12828" bIns="12828" rtlCol="0" anchor="t">
            <a:normAutofit/>
          </a:bodyPr>
          <a:lstStyle/>
          <a:p>
            <a:r>
              <a:rPr lang="en-US" sz="568" b="1" kern="0" spc="-3" dirty="0">
                <a:solidFill>
                  <a:srgbClr val="6B3D0E"/>
                </a:solidFill>
                <a:latin typeface="Noto Sans KR" pitchFamily="34" charset="0"/>
                <a:ea typeface="Noto Sans KR" pitchFamily="34" charset="-122"/>
                <a:cs typeface="Noto Sans KR" pitchFamily="34" charset="-120"/>
              </a:rPr>
              <a:t>Decision</a:t>
            </a:r>
            <a:endParaRPr lang="en-US" sz="568" dirty="0"/>
          </a:p>
        </p:txBody>
      </p:sp>
      <p:sp>
        <p:nvSpPr>
          <p:cNvPr id="66" name="Text 16">
            <a:extLst>
              <a:ext uri="{FF2B5EF4-FFF2-40B4-BE49-F238E27FC236}">
                <a16:creationId xmlns:a16="http://schemas.microsoft.com/office/drawing/2014/main" id="{9FC5A516-EDE7-F96F-D583-A8E42FC6E1F3}"/>
              </a:ext>
            </a:extLst>
          </p:cNvPr>
          <p:cNvSpPr/>
          <p:nvPr/>
        </p:nvSpPr>
        <p:spPr>
          <a:xfrm>
            <a:off x="1722740" y="4090417"/>
            <a:ext cx="535831" cy="173174"/>
          </a:xfrm>
          <a:prstGeom prst="rect">
            <a:avLst/>
          </a:prstGeom>
          <a:noFill/>
          <a:ln/>
        </p:spPr>
        <p:txBody>
          <a:bodyPr wrap="square" lIns="12828" tIns="12828" rIns="12828" bIns="12828" rtlCol="0" anchor="t">
            <a:normAutofit/>
          </a:bodyPr>
          <a:lstStyle/>
          <a:p>
            <a:r>
              <a:rPr lang="en-US" sz="758" b="1" kern="0" spc="-8" dirty="0">
                <a:solidFill>
                  <a:srgbClr val="1F2430"/>
                </a:solidFill>
                <a:latin typeface="Noto Sans KR" pitchFamily="34" charset="0"/>
                <a:ea typeface="Noto Sans KR" pitchFamily="34" charset="-122"/>
                <a:cs typeface="Noto Sans KR" pitchFamily="34" charset="-120"/>
              </a:rPr>
              <a:t>분기 · 확인</a:t>
            </a:r>
            <a:endParaRPr lang="en-US" sz="758" dirty="0"/>
          </a:p>
        </p:txBody>
      </p:sp>
      <p:sp>
        <p:nvSpPr>
          <p:cNvPr id="67" name="Shape 17">
            <a:extLst>
              <a:ext uri="{FF2B5EF4-FFF2-40B4-BE49-F238E27FC236}">
                <a16:creationId xmlns:a16="http://schemas.microsoft.com/office/drawing/2014/main" id="{2A886B87-27B4-7247-ECA7-BC5142F706A1}"/>
              </a:ext>
            </a:extLst>
          </p:cNvPr>
          <p:cNvSpPr/>
          <p:nvPr/>
        </p:nvSpPr>
        <p:spPr>
          <a:xfrm>
            <a:off x="356592" y="4561835"/>
            <a:ext cx="1154491" cy="384831"/>
          </a:xfrm>
          <a:prstGeom prst="roundRect">
            <a:avLst>
              <a:gd name="adj" fmla="val 5000"/>
            </a:avLst>
          </a:prstGeom>
          <a:solidFill>
            <a:srgbClr val="F4B6B6"/>
          </a:solidFill>
          <a:ln/>
          <a:effectLst>
            <a:outerShdw blurRad="19050" dist="9525" dir="5400000" algn="bl" rotWithShape="0">
              <a:srgbClr val="101828">
                <a:alpha val="6000"/>
              </a:srgbClr>
            </a:outerShdw>
          </a:effectLst>
        </p:spPr>
        <p:txBody>
          <a:bodyPr/>
          <a:lstStyle/>
          <a:p>
            <a:endParaRPr lang="ko-KR" altLang="en-US" sz="909"/>
          </a:p>
        </p:txBody>
      </p:sp>
      <p:sp>
        <p:nvSpPr>
          <p:cNvPr id="68" name="Text 18">
            <a:extLst>
              <a:ext uri="{FF2B5EF4-FFF2-40B4-BE49-F238E27FC236}">
                <a16:creationId xmlns:a16="http://schemas.microsoft.com/office/drawing/2014/main" id="{24954F66-DB2E-34DA-F8FE-ACFBC222CF34}"/>
              </a:ext>
            </a:extLst>
          </p:cNvPr>
          <p:cNvSpPr/>
          <p:nvPr/>
        </p:nvSpPr>
        <p:spPr>
          <a:xfrm>
            <a:off x="782009" y="4701336"/>
            <a:ext cx="342101" cy="125070"/>
          </a:xfrm>
          <a:prstGeom prst="rect">
            <a:avLst/>
          </a:prstGeom>
          <a:noFill/>
          <a:ln/>
        </p:spPr>
        <p:txBody>
          <a:bodyPr wrap="square" lIns="12828" tIns="12828" rIns="12828" bIns="12828" rtlCol="0" anchor="t">
            <a:normAutofit/>
          </a:bodyPr>
          <a:lstStyle/>
          <a:p>
            <a:r>
              <a:rPr lang="en-US" sz="568" b="1" kern="0" spc="-3" dirty="0">
                <a:solidFill>
                  <a:srgbClr val="8F2020"/>
                </a:solidFill>
                <a:latin typeface="Noto Sans KR" pitchFamily="34" charset="0"/>
                <a:ea typeface="Noto Sans KR" pitchFamily="34" charset="-122"/>
                <a:cs typeface="Noto Sans KR" pitchFamily="34" charset="-120"/>
              </a:rPr>
              <a:t>Negative</a:t>
            </a:r>
            <a:endParaRPr lang="en-US" sz="568" dirty="0"/>
          </a:p>
        </p:txBody>
      </p:sp>
      <p:sp>
        <p:nvSpPr>
          <p:cNvPr id="69" name="Text 19">
            <a:extLst>
              <a:ext uri="{FF2B5EF4-FFF2-40B4-BE49-F238E27FC236}">
                <a16:creationId xmlns:a16="http://schemas.microsoft.com/office/drawing/2014/main" id="{684C0ED2-C27A-BE3A-CEB3-D7A21757D289}"/>
              </a:ext>
            </a:extLst>
          </p:cNvPr>
          <p:cNvSpPr/>
          <p:nvPr/>
        </p:nvSpPr>
        <p:spPr>
          <a:xfrm>
            <a:off x="1722740" y="4677285"/>
            <a:ext cx="452288" cy="173174"/>
          </a:xfrm>
          <a:prstGeom prst="rect">
            <a:avLst/>
          </a:prstGeom>
          <a:noFill/>
          <a:ln/>
        </p:spPr>
        <p:txBody>
          <a:bodyPr wrap="square" lIns="12828" tIns="12828" rIns="12828" bIns="12828" rtlCol="0" anchor="t">
            <a:normAutofit/>
          </a:bodyPr>
          <a:lstStyle/>
          <a:p>
            <a:r>
              <a:rPr lang="en-US" sz="758" b="1" kern="0" spc="-8" dirty="0">
                <a:solidFill>
                  <a:srgbClr val="1F2430"/>
                </a:solidFill>
                <a:latin typeface="Noto Sans KR" pitchFamily="34" charset="0"/>
                <a:ea typeface="Noto Sans KR" pitchFamily="34" charset="-122"/>
                <a:cs typeface="Noto Sans KR" pitchFamily="34" charset="-120"/>
              </a:rPr>
              <a:t>위험 제어</a:t>
            </a:r>
            <a:endParaRPr lang="en-US" sz="758" dirty="0"/>
          </a:p>
        </p:txBody>
      </p:sp>
      <p:sp>
        <p:nvSpPr>
          <p:cNvPr id="70" name="Shape 20">
            <a:extLst>
              <a:ext uri="{FF2B5EF4-FFF2-40B4-BE49-F238E27FC236}">
                <a16:creationId xmlns:a16="http://schemas.microsoft.com/office/drawing/2014/main" id="{CCCFCCB1-16CB-2955-191A-4974D20B9414}"/>
              </a:ext>
            </a:extLst>
          </p:cNvPr>
          <p:cNvSpPr/>
          <p:nvPr/>
        </p:nvSpPr>
        <p:spPr>
          <a:xfrm>
            <a:off x="356592" y="5090977"/>
            <a:ext cx="1154491" cy="384831"/>
          </a:xfrm>
          <a:prstGeom prst="roundRect">
            <a:avLst>
              <a:gd name="adj" fmla="val 5000"/>
            </a:avLst>
          </a:prstGeom>
          <a:solidFill>
            <a:srgbClr val="0F172A"/>
          </a:solidFill>
          <a:ln/>
          <a:effectLst>
            <a:outerShdw blurRad="19050" dist="9525" dir="5400000" algn="bl" rotWithShape="0">
              <a:srgbClr val="101828">
                <a:alpha val="6000"/>
              </a:srgbClr>
            </a:outerShdw>
          </a:effectLst>
        </p:spPr>
        <p:txBody>
          <a:bodyPr/>
          <a:lstStyle/>
          <a:p>
            <a:endParaRPr lang="ko-KR" altLang="en-US" sz="909"/>
          </a:p>
        </p:txBody>
      </p:sp>
      <p:sp>
        <p:nvSpPr>
          <p:cNvPr id="71" name="Text 21">
            <a:extLst>
              <a:ext uri="{FF2B5EF4-FFF2-40B4-BE49-F238E27FC236}">
                <a16:creationId xmlns:a16="http://schemas.microsoft.com/office/drawing/2014/main" id="{EFCAD4EC-4BA5-5D0A-9B15-7B734AF55258}"/>
              </a:ext>
            </a:extLst>
          </p:cNvPr>
          <p:cNvSpPr/>
          <p:nvPr/>
        </p:nvSpPr>
        <p:spPr>
          <a:xfrm>
            <a:off x="860177" y="5230478"/>
            <a:ext cx="185764" cy="125070"/>
          </a:xfrm>
          <a:prstGeom prst="rect">
            <a:avLst/>
          </a:prstGeom>
          <a:noFill/>
          <a:ln/>
        </p:spPr>
        <p:txBody>
          <a:bodyPr wrap="square" lIns="12828" tIns="12828" rIns="12828" bIns="12828" rtlCol="0" anchor="t">
            <a:normAutofit/>
          </a:bodyPr>
          <a:lstStyle/>
          <a:p>
            <a:r>
              <a:rPr lang="en-US" sz="568" b="1" kern="0" spc="-3" dirty="0">
                <a:solidFill>
                  <a:srgbClr val="FFFFFF"/>
                </a:solidFill>
                <a:latin typeface="Noto Sans KR" pitchFamily="34" charset="0"/>
                <a:ea typeface="Noto Sans KR" pitchFamily="34" charset="-122"/>
                <a:cs typeface="Noto Sans KR" pitchFamily="34" charset="-120"/>
              </a:rPr>
              <a:t>END</a:t>
            </a:r>
            <a:endParaRPr lang="en-US" sz="568" dirty="0"/>
          </a:p>
        </p:txBody>
      </p:sp>
      <p:sp>
        <p:nvSpPr>
          <p:cNvPr id="72" name="Text 22">
            <a:extLst>
              <a:ext uri="{FF2B5EF4-FFF2-40B4-BE49-F238E27FC236}">
                <a16:creationId xmlns:a16="http://schemas.microsoft.com/office/drawing/2014/main" id="{903655BF-FBEF-F229-23D9-1F430BC4B403}"/>
              </a:ext>
            </a:extLst>
          </p:cNvPr>
          <p:cNvSpPr/>
          <p:nvPr/>
        </p:nvSpPr>
        <p:spPr>
          <a:xfrm>
            <a:off x="1722740" y="5206427"/>
            <a:ext cx="535831" cy="173174"/>
          </a:xfrm>
          <a:prstGeom prst="rect">
            <a:avLst/>
          </a:prstGeom>
          <a:noFill/>
          <a:ln/>
        </p:spPr>
        <p:txBody>
          <a:bodyPr wrap="square" lIns="12828" tIns="12828" rIns="12828" bIns="12828" rtlCol="0" anchor="t">
            <a:normAutofit/>
          </a:bodyPr>
          <a:lstStyle/>
          <a:p>
            <a:r>
              <a:rPr lang="en-US" sz="758" b="1" kern="0" spc="-8" dirty="0">
                <a:solidFill>
                  <a:srgbClr val="1F2430"/>
                </a:solidFill>
                <a:latin typeface="Noto Sans KR" pitchFamily="34" charset="0"/>
                <a:ea typeface="Noto Sans KR" pitchFamily="34" charset="-122"/>
                <a:cs typeface="Noto Sans KR" pitchFamily="34" charset="-120"/>
              </a:rPr>
              <a:t>종료 · 전환</a:t>
            </a:r>
            <a:endParaRPr lang="en-US" sz="758" dirty="0"/>
          </a:p>
        </p:txBody>
      </p:sp>
      <p:sp>
        <p:nvSpPr>
          <p:cNvPr id="15" name="직사각형 14">
            <a:extLst>
              <a:ext uri="{FF2B5EF4-FFF2-40B4-BE49-F238E27FC236}">
                <a16:creationId xmlns:a16="http://schemas.microsoft.com/office/drawing/2014/main" id="{69065A73-A9FF-3850-B5E1-ED1DDEFEACCA}"/>
              </a:ext>
            </a:extLst>
          </p:cNvPr>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50" name="직선 연결선 16">
            <a:extLst>
              <a:ext uri="{FF2B5EF4-FFF2-40B4-BE49-F238E27FC236}">
                <a16:creationId xmlns:a16="http://schemas.microsoft.com/office/drawing/2014/main" id="{D902F0C7-61B9-7EB8-AB50-AA2CCE230BAB}"/>
              </a:ext>
            </a:extLst>
          </p:cNvPr>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73" name="직선 연결선 17">
            <a:extLst>
              <a:ext uri="{FF2B5EF4-FFF2-40B4-BE49-F238E27FC236}">
                <a16:creationId xmlns:a16="http://schemas.microsoft.com/office/drawing/2014/main" id="{EFE3363E-B0DA-6357-5C63-EDC4FC56928F}"/>
              </a:ext>
            </a:extLst>
          </p:cNvPr>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74" name="제목 12">
            <a:extLst>
              <a:ext uri="{FF2B5EF4-FFF2-40B4-BE49-F238E27FC236}">
                <a16:creationId xmlns:a16="http://schemas.microsoft.com/office/drawing/2014/main" id="{A60BC876-0323-4203-4C69-1951180D0607}"/>
              </a:ext>
            </a:extLst>
          </p:cNvPr>
          <p:cNvSpPr txBox="1">
            <a:spLocks/>
          </p:cNvSpPr>
          <p:nvPr/>
        </p:nvSpPr>
        <p:spPr>
          <a:xfrm>
            <a:off x="323528" y="692696"/>
            <a:ext cx="2808312"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Flow chart - user</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75" name="Picture 2">
            <a:extLst>
              <a:ext uri="{FF2B5EF4-FFF2-40B4-BE49-F238E27FC236}">
                <a16:creationId xmlns:a16="http://schemas.microsoft.com/office/drawing/2014/main" id="{72461860-1848-A398-B420-3C2EB7712D73}"/>
              </a:ext>
            </a:extLst>
          </p:cNvPr>
          <p:cNvPicPr>
            <a:picLocks noChangeAspect="1" noChangeArrowheads="1"/>
          </p:cNvPicPr>
          <p:nvPr/>
        </p:nvPicPr>
        <p:blipFill>
          <a:blip r:embed="rId4" cstate="print"/>
          <a:srcRect/>
          <a:stretch>
            <a:fillRect/>
          </a:stretch>
        </p:blipFill>
        <p:spPr bwMode="auto">
          <a:xfrm>
            <a:off x="8676456" y="476671"/>
            <a:ext cx="454960" cy="158965"/>
          </a:xfrm>
          <a:prstGeom prst="rect">
            <a:avLst/>
          </a:prstGeom>
          <a:noFill/>
          <a:ln w="9525">
            <a:noFill/>
            <a:miter lim="800000"/>
            <a:headEnd/>
            <a:tailEnd/>
          </a:ln>
        </p:spPr>
      </p:pic>
      <p:sp>
        <p:nvSpPr>
          <p:cNvPr id="76" name="막힌 원호 34">
            <a:extLst>
              <a:ext uri="{FF2B5EF4-FFF2-40B4-BE49-F238E27FC236}">
                <a16:creationId xmlns:a16="http://schemas.microsoft.com/office/drawing/2014/main" id="{E06BBD33-76C6-C1EE-3673-FF7101F20A0E}"/>
              </a:ext>
            </a:extLst>
          </p:cNvPr>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77" name="그림 76">
            <a:extLst>
              <a:ext uri="{FF2B5EF4-FFF2-40B4-BE49-F238E27FC236}">
                <a16:creationId xmlns:a16="http://schemas.microsoft.com/office/drawing/2014/main" id="{99FC6C88-EF92-F8A0-4B1D-29745DCFF57A}"/>
              </a:ext>
            </a:extLst>
          </p:cNvPr>
          <p:cNvPicPr>
            <a:picLocks noChangeAspect="1"/>
          </p:cNvPicPr>
          <p:nvPr/>
        </p:nvPicPr>
        <p:blipFill>
          <a:blip r:embed="rId5"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Tree>
    <p:extLst>
      <p:ext uri="{BB962C8B-B14F-4D97-AF65-F5344CB8AC3E}">
        <p14:creationId xmlns:p14="http://schemas.microsoft.com/office/powerpoint/2010/main" val="27306333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2255" y="1663531"/>
            <a:ext cx="4141738" cy="3280680"/>
          </a:xfrm>
          <a:prstGeom prst="rect">
            <a:avLst/>
          </a:prstGeom>
        </p:spPr>
      </p:pic>
      <p:sp>
        <p:nvSpPr>
          <p:cNvPr id="5" name="Shape 2"/>
          <p:cNvSpPr/>
          <p:nvPr/>
        </p:nvSpPr>
        <p:spPr>
          <a:xfrm>
            <a:off x="1621437" y="1894429"/>
            <a:ext cx="779282" cy="269382"/>
          </a:xfrm>
          <a:prstGeom prst="roundRect">
            <a:avLst>
              <a:gd name="adj" fmla="val 7143"/>
            </a:avLst>
          </a:prstGeom>
          <a:solidFill>
            <a:srgbClr val="5B4EE8"/>
          </a:solidFill>
          <a:ln/>
          <a:effectLst>
            <a:outerShdw blurRad="19050" dist="9525" dir="5400000" algn="bl" rotWithShape="0">
              <a:srgbClr val="101828">
                <a:alpha val="6000"/>
              </a:srgbClr>
            </a:outerShdw>
          </a:effectLst>
        </p:spPr>
        <p:txBody>
          <a:bodyPr/>
          <a:lstStyle/>
          <a:p>
            <a:endParaRPr lang="ko-KR" altLang="en-US" sz="909"/>
          </a:p>
        </p:txBody>
      </p:sp>
      <p:sp>
        <p:nvSpPr>
          <p:cNvPr id="6" name="Text 3"/>
          <p:cNvSpPr/>
          <p:nvPr/>
        </p:nvSpPr>
        <p:spPr>
          <a:xfrm>
            <a:off x="1783186" y="1989096"/>
            <a:ext cx="455746"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FFFFFF"/>
                </a:solidFill>
                <a:latin typeface="Noto Sans KR" pitchFamily="34" charset="0"/>
                <a:ea typeface="Noto Sans KR" pitchFamily="34" charset="-122"/>
                <a:cs typeface="Noto Sans KR" pitchFamily="34" charset="-120"/>
              </a:rPr>
              <a:t>실시간 대시보드</a:t>
            </a:r>
            <a:endParaRPr lang="en-US" sz="492" dirty="0"/>
          </a:p>
        </p:txBody>
      </p:sp>
      <p:sp>
        <p:nvSpPr>
          <p:cNvPr id="7" name="Shape 4"/>
          <p:cNvSpPr/>
          <p:nvPr/>
        </p:nvSpPr>
        <p:spPr>
          <a:xfrm>
            <a:off x="784430" y="2481295"/>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8" name="Text 5"/>
          <p:cNvSpPr/>
          <p:nvPr/>
        </p:nvSpPr>
        <p:spPr>
          <a:xfrm>
            <a:off x="917017" y="2575962"/>
            <a:ext cx="514072"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요약 카드 / 게이지</a:t>
            </a:r>
            <a:endParaRPr lang="en-US" sz="492" dirty="0"/>
          </a:p>
        </p:txBody>
      </p:sp>
      <p:sp>
        <p:nvSpPr>
          <p:cNvPr id="9" name="Shape 6"/>
          <p:cNvSpPr/>
          <p:nvPr/>
        </p:nvSpPr>
        <p:spPr>
          <a:xfrm>
            <a:off x="784430" y="3068162"/>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10" name="Text 7"/>
          <p:cNvSpPr/>
          <p:nvPr/>
        </p:nvSpPr>
        <p:spPr>
          <a:xfrm>
            <a:off x="909049" y="3162829"/>
            <a:ext cx="530044"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현재 이상점수 확인</a:t>
            </a:r>
            <a:endParaRPr lang="en-US" sz="492" dirty="0"/>
          </a:p>
        </p:txBody>
      </p:sp>
      <p:sp>
        <p:nvSpPr>
          <p:cNvPr id="11" name="Shape 8"/>
          <p:cNvSpPr/>
          <p:nvPr/>
        </p:nvSpPr>
        <p:spPr>
          <a:xfrm>
            <a:off x="784430" y="3655028"/>
            <a:ext cx="779282" cy="269382"/>
          </a:xfrm>
          <a:prstGeom prst="roundRect">
            <a:avLst>
              <a:gd name="adj" fmla="val 7143"/>
            </a:avLst>
          </a:prstGeom>
          <a:solidFill>
            <a:srgbClr val="DAD7F7"/>
          </a:solidFill>
          <a:ln/>
          <a:effectLst>
            <a:outerShdw blurRad="19050" dist="9525" dir="5400000" algn="bl" rotWithShape="0">
              <a:srgbClr val="101828">
                <a:alpha val="6000"/>
              </a:srgbClr>
            </a:outerShdw>
          </a:effectLst>
        </p:spPr>
        <p:txBody>
          <a:bodyPr/>
          <a:lstStyle/>
          <a:p>
            <a:endParaRPr lang="ko-KR" altLang="en-US" sz="909"/>
          </a:p>
        </p:txBody>
      </p:sp>
      <p:sp>
        <p:nvSpPr>
          <p:cNvPr id="12" name="Text 9"/>
          <p:cNvSpPr/>
          <p:nvPr/>
        </p:nvSpPr>
        <p:spPr>
          <a:xfrm>
            <a:off x="937610" y="3749696"/>
            <a:ext cx="472883"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443C86"/>
                </a:solidFill>
                <a:latin typeface="Noto Sans KR" pitchFamily="34" charset="0"/>
                <a:ea typeface="Noto Sans KR" pitchFamily="34" charset="-122"/>
                <a:cs typeface="Noto Sans KR" pitchFamily="34" charset="-120"/>
              </a:rPr>
              <a:t>최근 이벤트 확인</a:t>
            </a:r>
            <a:endParaRPr lang="en-US" sz="492" dirty="0"/>
          </a:p>
        </p:txBody>
      </p:sp>
      <p:sp>
        <p:nvSpPr>
          <p:cNvPr id="13" name="Shape 10"/>
          <p:cNvSpPr/>
          <p:nvPr/>
        </p:nvSpPr>
        <p:spPr>
          <a:xfrm>
            <a:off x="2458442" y="2481295"/>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14" name="Text 11"/>
          <p:cNvSpPr/>
          <p:nvPr/>
        </p:nvSpPr>
        <p:spPr>
          <a:xfrm>
            <a:off x="2574493" y="2575962"/>
            <a:ext cx="547143"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이상 탐지 화면 이동</a:t>
            </a:r>
            <a:endParaRPr lang="en-US" sz="492" dirty="0"/>
          </a:p>
        </p:txBody>
      </p:sp>
      <p:sp>
        <p:nvSpPr>
          <p:cNvPr id="15" name="Shape 12"/>
          <p:cNvSpPr/>
          <p:nvPr/>
        </p:nvSpPr>
        <p:spPr>
          <a:xfrm>
            <a:off x="2458442" y="3068162"/>
            <a:ext cx="779282" cy="269382"/>
          </a:xfrm>
          <a:prstGeom prst="roundRect">
            <a:avLst>
              <a:gd name="adj" fmla="val 7143"/>
            </a:avLst>
          </a:prstGeom>
          <a:solidFill>
            <a:srgbClr val="5B4EE8"/>
          </a:solidFill>
          <a:ln/>
          <a:effectLst>
            <a:outerShdw blurRad="19050" dist="9525" dir="5400000" algn="bl" rotWithShape="0">
              <a:srgbClr val="101828">
                <a:alpha val="6000"/>
              </a:srgbClr>
            </a:outerShdw>
          </a:effectLst>
        </p:spPr>
        <p:txBody>
          <a:bodyPr/>
          <a:lstStyle/>
          <a:p>
            <a:endParaRPr lang="ko-KR" altLang="en-US" sz="909"/>
          </a:p>
        </p:txBody>
      </p:sp>
      <p:sp>
        <p:nvSpPr>
          <p:cNvPr id="16" name="Text 13"/>
          <p:cNvSpPr/>
          <p:nvPr/>
        </p:nvSpPr>
        <p:spPr>
          <a:xfrm>
            <a:off x="2611623" y="3162829"/>
            <a:ext cx="472883"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FFFFFF"/>
                </a:solidFill>
                <a:latin typeface="Noto Sans KR" pitchFamily="34" charset="0"/>
                <a:ea typeface="Noto Sans KR" pitchFamily="34" charset="-122"/>
                <a:cs typeface="Noto Sans KR" pitchFamily="34" charset="-120"/>
              </a:rPr>
              <a:t>이상 이벤트 표시</a:t>
            </a:r>
            <a:endParaRPr lang="en-US" sz="492" dirty="0"/>
          </a:p>
        </p:txBody>
      </p:sp>
      <p:sp>
        <p:nvSpPr>
          <p:cNvPr id="17" name="Shape 14"/>
          <p:cNvSpPr/>
          <p:nvPr/>
        </p:nvSpPr>
        <p:spPr>
          <a:xfrm>
            <a:off x="1900439" y="3655028"/>
            <a:ext cx="779282" cy="269382"/>
          </a:xfrm>
          <a:prstGeom prst="roundRect">
            <a:avLst>
              <a:gd name="adj" fmla="val 7143"/>
            </a:avLst>
          </a:prstGeom>
          <a:solidFill>
            <a:srgbClr val="DAD7F7"/>
          </a:solidFill>
          <a:ln/>
          <a:effectLst>
            <a:outerShdw blurRad="19050" dist="9525" dir="5400000" algn="bl" rotWithShape="0">
              <a:srgbClr val="101828">
                <a:alpha val="6000"/>
              </a:srgbClr>
            </a:outerShdw>
          </a:effectLst>
        </p:spPr>
        <p:txBody>
          <a:bodyPr/>
          <a:lstStyle/>
          <a:p>
            <a:endParaRPr lang="ko-KR" altLang="en-US" sz="909"/>
          </a:p>
        </p:txBody>
      </p:sp>
      <p:sp>
        <p:nvSpPr>
          <p:cNvPr id="18" name="Text 15"/>
          <p:cNvSpPr/>
          <p:nvPr/>
        </p:nvSpPr>
        <p:spPr>
          <a:xfrm>
            <a:off x="2082219" y="3749696"/>
            <a:ext cx="415722"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443C86"/>
                </a:solidFill>
                <a:latin typeface="Noto Sans KR" pitchFamily="34" charset="0"/>
                <a:ea typeface="Noto Sans KR" pitchFamily="34" charset="-122"/>
                <a:cs typeface="Noto Sans KR" pitchFamily="34" charset="-120"/>
              </a:rPr>
              <a:t>이상 탐지 상세</a:t>
            </a:r>
            <a:endParaRPr lang="en-US" sz="492" dirty="0"/>
          </a:p>
        </p:txBody>
      </p:sp>
      <p:sp>
        <p:nvSpPr>
          <p:cNvPr id="19" name="Shape 16"/>
          <p:cNvSpPr/>
          <p:nvPr/>
        </p:nvSpPr>
        <p:spPr>
          <a:xfrm>
            <a:off x="1900439" y="4241895"/>
            <a:ext cx="779282" cy="269382"/>
          </a:xfrm>
          <a:prstGeom prst="roundRect">
            <a:avLst>
              <a:gd name="adj" fmla="val 7143"/>
            </a:avLst>
          </a:prstGeom>
          <a:solidFill>
            <a:srgbClr val="DAD7F7"/>
          </a:solidFill>
          <a:ln/>
          <a:effectLst>
            <a:outerShdw blurRad="19050" dist="9525" dir="5400000" algn="bl" rotWithShape="0">
              <a:srgbClr val="101828">
                <a:alpha val="6000"/>
              </a:srgbClr>
            </a:outerShdw>
          </a:effectLst>
        </p:spPr>
        <p:txBody>
          <a:bodyPr/>
          <a:lstStyle/>
          <a:p>
            <a:endParaRPr lang="ko-KR" altLang="en-US" sz="909"/>
          </a:p>
        </p:txBody>
      </p:sp>
      <p:sp>
        <p:nvSpPr>
          <p:cNvPr id="20" name="Text 17"/>
          <p:cNvSpPr/>
          <p:nvPr/>
        </p:nvSpPr>
        <p:spPr>
          <a:xfrm>
            <a:off x="2002998" y="4336562"/>
            <a:ext cx="574127"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443C86"/>
                </a:solidFill>
                <a:latin typeface="Noto Sans KR" pitchFamily="34" charset="0"/>
                <a:ea typeface="Noto Sans KR" pitchFamily="34" charset="-122"/>
                <a:cs typeface="Noto Sans KR" pitchFamily="34" charset="-120"/>
              </a:rPr>
              <a:t>이상 근거 설명 (XAI)</a:t>
            </a:r>
            <a:endParaRPr lang="en-US" sz="492" dirty="0"/>
          </a:p>
        </p:txBody>
      </p:sp>
      <p:sp>
        <p:nvSpPr>
          <p:cNvPr id="21" name="Shape 18"/>
          <p:cNvSpPr/>
          <p:nvPr/>
        </p:nvSpPr>
        <p:spPr>
          <a:xfrm>
            <a:off x="3016447" y="3655028"/>
            <a:ext cx="779282" cy="269382"/>
          </a:xfrm>
          <a:prstGeom prst="roundRect">
            <a:avLst>
              <a:gd name="adj" fmla="val 7143"/>
            </a:avLst>
          </a:prstGeom>
          <a:solidFill>
            <a:srgbClr val="DAD7F7"/>
          </a:solidFill>
          <a:ln/>
          <a:effectLst>
            <a:outerShdw blurRad="19050" dist="9525" dir="5400000" algn="bl" rotWithShape="0">
              <a:srgbClr val="101828">
                <a:alpha val="6000"/>
              </a:srgbClr>
            </a:outerShdw>
          </a:effectLst>
        </p:spPr>
        <p:txBody>
          <a:bodyPr/>
          <a:lstStyle/>
          <a:p>
            <a:endParaRPr lang="ko-KR" altLang="en-US" sz="909"/>
          </a:p>
        </p:txBody>
      </p:sp>
      <p:sp>
        <p:nvSpPr>
          <p:cNvPr id="22" name="Text 19"/>
          <p:cNvSpPr/>
          <p:nvPr/>
        </p:nvSpPr>
        <p:spPr>
          <a:xfrm>
            <a:off x="3169628" y="3749696"/>
            <a:ext cx="472883"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443C86"/>
                </a:solidFill>
                <a:latin typeface="Noto Sans KR" pitchFamily="34" charset="0"/>
                <a:ea typeface="Noto Sans KR" pitchFamily="34" charset="-122"/>
                <a:cs typeface="Noto Sans KR" pitchFamily="34" charset="-120"/>
              </a:rPr>
              <a:t>위험도 분포 집계</a:t>
            </a:r>
            <a:endParaRPr lang="en-US" sz="492" dirty="0"/>
          </a:p>
        </p:txBody>
      </p:sp>
      <p:sp>
        <p:nvSpPr>
          <p:cNvPr id="23" name="Shape 20"/>
          <p:cNvSpPr/>
          <p:nvPr/>
        </p:nvSpPr>
        <p:spPr>
          <a:xfrm>
            <a:off x="3016447" y="4241895"/>
            <a:ext cx="779282" cy="269382"/>
          </a:xfrm>
          <a:prstGeom prst="roundRect">
            <a:avLst>
              <a:gd name="adj" fmla="val 7143"/>
            </a:avLst>
          </a:prstGeom>
          <a:solidFill>
            <a:srgbClr val="DAD7F7"/>
          </a:solidFill>
          <a:ln/>
          <a:effectLst>
            <a:outerShdw blurRad="19050" dist="9525" dir="5400000" algn="bl" rotWithShape="0">
              <a:srgbClr val="101828">
                <a:alpha val="6000"/>
              </a:srgbClr>
            </a:outerShdw>
          </a:effectLst>
        </p:spPr>
        <p:txBody>
          <a:bodyPr/>
          <a:lstStyle/>
          <a:p>
            <a:endParaRPr lang="ko-KR" altLang="en-US" sz="909"/>
          </a:p>
        </p:txBody>
      </p:sp>
      <p:sp>
        <p:nvSpPr>
          <p:cNvPr id="24" name="Text 21"/>
          <p:cNvSpPr/>
          <p:nvPr/>
        </p:nvSpPr>
        <p:spPr>
          <a:xfrm>
            <a:off x="3136143" y="4336562"/>
            <a:ext cx="539852"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443C86"/>
                </a:solidFill>
                <a:latin typeface="Noto Sans KR" pitchFamily="34" charset="0"/>
                <a:ea typeface="Noto Sans KR" pitchFamily="34" charset="-122"/>
                <a:cs typeface="Noto Sans KR" pitchFamily="34" charset="-120"/>
              </a:rPr>
              <a:t>SOH / RUL 건강도</a:t>
            </a:r>
            <a:endParaRPr lang="en-US" sz="492" dirty="0"/>
          </a:p>
        </p:txBody>
      </p:sp>
      <p:pic>
        <p:nvPicPr>
          <p:cNvPr id="49" name="Image 0" descr="preencoded.png">
            <a:extLst>
              <a:ext uri="{FF2B5EF4-FFF2-40B4-BE49-F238E27FC236}">
                <a16:creationId xmlns:a16="http://schemas.microsoft.com/office/drawing/2014/main" id="{9EE80009-8441-DEC6-AA94-A684D44E07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42511" y="1663531"/>
            <a:ext cx="5369324" cy="2811179"/>
          </a:xfrm>
          <a:prstGeom prst="rect">
            <a:avLst/>
          </a:prstGeom>
        </p:spPr>
      </p:pic>
      <p:sp>
        <p:nvSpPr>
          <p:cNvPr id="50" name="Shape 2">
            <a:extLst>
              <a:ext uri="{FF2B5EF4-FFF2-40B4-BE49-F238E27FC236}">
                <a16:creationId xmlns:a16="http://schemas.microsoft.com/office/drawing/2014/main" id="{AD685CA9-F544-16D5-CC5F-666548CBE6A1}"/>
              </a:ext>
            </a:extLst>
          </p:cNvPr>
          <p:cNvSpPr/>
          <p:nvPr/>
        </p:nvSpPr>
        <p:spPr>
          <a:xfrm>
            <a:off x="5466697" y="2945498"/>
            <a:ext cx="267277" cy="86586"/>
          </a:xfrm>
          <a:prstGeom prst="roundRect">
            <a:avLst>
              <a:gd name="adj" fmla="val 22222"/>
            </a:avLst>
          </a:prstGeom>
          <a:solidFill>
            <a:srgbClr val="FFFFFF">
              <a:alpha val="92000"/>
            </a:srgbClr>
          </a:solidFill>
          <a:ln/>
        </p:spPr>
        <p:txBody>
          <a:bodyPr/>
          <a:lstStyle/>
          <a:p>
            <a:endParaRPr lang="ko-KR" altLang="en-US" sz="909"/>
          </a:p>
        </p:txBody>
      </p:sp>
      <p:sp>
        <p:nvSpPr>
          <p:cNvPr id="51" name="Text 3">
            <a:extLst>
              <a:ext uri="{FF2B5EF4-FFF2-40B4-BE49-F238E27FC236}">
                <a16:creationId xmlns:a16="http://schemas.microsoft.com/office/drawing/2014/main" id="{28107FBD-422D-AA18-B613-110C37D833EC}"/>
              </a:ext>
            </a:extLst>
          </p:cNvPr>
          <p:cNvSpPr/>
          <p:nvPr/>
        </p:nvSpPr>
        <p:spPr>
          <a:xfrm>
            <a:off x="5495561" y="2950307"/>
            <a:ext cx="248035" cy="96208"/>
          </a:xfrm>
          <a:prstGeom prst="rect">
            <a:avLst/>
          </a:prstGeom>
          <a:noFill/>
          <a:ln/>
        </p:spPr>
        <p:txBody>
          <a:bodyPr wrap="none" lIns="12828" tIns="12828" rIns="12828" bIns="12828" rtlCol="0" anchor="t">
            <a:normAutofit/>
          </a:bodyPr>
          <a:lstStyle/>
          <a:p>
            <a:r>
              <a:rPr lang="en-US" sz="416" b="1" dirty="0">
                <a:solidFill>
                  <a:srgbClr val="4B5563"/>
                </a:solidFill>
                <a:latin typeface="Noto Sans KR" pitchFamily="34" charset="0"/>
                <a:ea typeface="Noto Sans KR" pitchFamily="34" charset="-122"/>
                <a:cs typeface="Noto Sans KR" pitchFamily="34" charset="-120"/>
              </a:rPr>
              <a:t>상세 보기</a:t>
            </a:r>
            <a:endParaRPr lang="en-US" sz="416" dirty="0"/>
          </a:p>
        </p:txBody>
      </p:sp>
      <p:sp>
        <p:nvSpPr>
          <p:cNvPr id="52" name="Shape 4">
            <a:extLst>
              <a:ext uri="{FF2B5EF4-FFF2-40B4-BE49-F238E27FC236}">
                <a16:creationId xmlns:a16="http://schemas.microsoft.com/office/drawing/2014/main" id="{CC021F63-E26E-E691-F5DC-0F6C9CC4F1BE}"/>
              </a:ext>
            </a:extLst>
          </p:cNvPr>
          <p:cNvSpPr/>
          <p:nvPr/>
        </p:nvSpPr>
        <p:spPr>
          <a:xfrm>
            <a:off x="6694284" y="3647325"/>
            <a:ext cx="267277" cy="86586"/>
          </a:xfrm>
          <a:prstGeom prst="roundRect">
            <a:avLst>
              <a:gd name="adj" fmla="val 22222"/>
            </a:avLst>
          </a:prstGeom>
          <a:solidFill>
            <a:srgbClr val="FFFFFF">
              <a:alpha val="92000"/>
            </a:srgbClr>
          </a:solidFill>
          <a:ln/>
        </p:spPr>
        <p:txBody>
          <a:bodyPr/>
          <a:lstStyle/>
          <a:p>
            <a:endParaRPr lang="ko-KR" altLang="en-US" sz="909"/>
          </a:p>
        </p:txBody>
      </p:sp>
      <p:sp>
        <p:nvSpPr>
          <p:cNvPr id="53" name="Text 5">
            <a:extLst>
              <a:ext uri="{FF2B5EF4-FFF2-40B4-BE49-F238E27FC236}">
                <a16:creationId xmlns:a16="http://schemas.microsoft.com/office/drawing/2014/main" id="{6DFADB6E-F491-92E7-C7F5-89F7BBAD4204}"/>
              </a:ext>
            </a:extLst>
          </p:cNvPr>
          <p:cNvSpPr/>
          <p:nvPr/>
        </p:nvSpPr>
        <p:spPr>
          <a:xfrm>
            <a:off x="6723147" y="3652135"/>
            <a:ext cx="248035" cy="96208"/>
          </a:xfrm>
          <a:prstGeom prst="rect">
            <a:avLst/>
          </a:prstGeom>
          <a:noFill/>
          <a:ln/>
        </p:spPr>
        <p:txBody>
          <a:bodyPr wrap="none" lIns="12828" tIns="12828" rIns="12828" bIns="12828" rtlCol="0" anchor="t">
            <a:normAutofit/>
          </a:bodyPr>
          <a:lstStyle/>
          <a:p>
            <a:r>
              <a:rPr lang="en-US" sz="416" b="1" dirty="0">
                <a:solidFill>
                  <a:srgbClr val="4B5563"/>
                </a:solidFill>
                <a:latin typeface="Noto Sans KR" pitchFamily="34" charset="0"/>
                <a:ea typeface="Noto Sans KR" pitchFamily="34" charset="-122"/>
                <a:cs typeface="Noto Sans KR" pitchFamily="34" charset="-120"/>
              </a:rPr>
              <a:t>차단 승인</a:t>
            </a:r>
            <a:endParaRPr lang="en-US" sz="416" dirty="0"/>
          </a:p>
        </p:txBody>
      </p:sp>
      <p:sp>
        <p:nvSpPr>
          <p:cNvPr id="54" name="Shape 6">
            <a:extLst>
              <a:ext uri="{FF2B5EF4-FFF2-40B4-BE49-F238E27FC236}">
                <a16:creationId xmlns:a16="http://schemas.microsoft.com/office/drawing/2014/main" id="{C2629CC3-3917-F8CF-BD97-582CA58EF799}"/>
              </a:ext>
            </a:extLst>
          </p:cNvPr>
          <p:cNvSpPr/>
          <p:nvPr/>
        </p:nvSpPr>
        <p:spPr>
          <a:xfrm>
            <a:off x="7810293" y="3647325"/>
            <a:ext cx="267277" cy="86586"/>
          </a:xfrm>
          <a:prstGeom prst="roundRect">
            <a:avLst>
              <a:gd name="adj" fmla="val 22222"/>
            </a:avLst>
          </a:prstGeom>
          <a:solidFill>
            <a:srgbClr val="FFFFFF">
              <a:alpha val="92000"/>
            </a:srgbClr>
          </a:solidFill>
          <a:ln/>
        </p:spPr>
        <p:txBody>
          <a:bodyPr/>
          <a:lstStyle/>
          <a:p>
            <a:endParaRPr lang="ko-KR" altLang="en-US" sz="909"/>
          </a:p>
        </p:txBody>
      </p:sp>
      <p:sp>
        <p:nvSpPr>
          <p:cNvPr id="55" name="Text 7">
            <a:extLst>
              <a:ext uri="{FF2B5EF4-FFF2-40B4-BE49-F238E27FC236}">
                <a16:creationId xmlns:a16="http://schemas.microsoft.com/office/drawing/2014/main" id="{DC652651-570F-8789-EC69-82FA1AC71748}"/>
              </a:ext>
            </a:extLst>
          </p:cNvPr>
          <p:cNvSpPr/>
          <p:nvPr/>
        </p:nvSpPr>
        <p:spPr>
          <a:xfrm>
            <a:off x="7839155" y="3652135"/>
            <a:ext cx="248035" cy="96208"/>
          </a:xfrm>
          <a:prstGeom prst="rect">
            <a:avLst/>
          </a:prstGeom>
          <a:noFill/>
          <a:ln/>
        </p:spPr>
        <p:txBody>
          <a:bodyPr wrap="none" lIns="12828" tIns="12828" rIns="12828" bIns="12828" rtlCol="0" anchor="t">
            <a:normAutofit/>
          </a:bodyPr>
          <a:lstStyle/>
          <a:p>
            <a:r>
              <a:rPr lang="en-US" sz="416" b="1" dirty="0">
                <a:solidFill>
                  <a:srgbClr val="4B5563"/>
                </a:solidFill>
                <a:latin typeface="Noto Sans KR" pitchFamily="34" charset="0"/>
                <a:ea typeface="Noto Sans KR" pitchFamily="34" charset="-122"/>
                <a:cs typeface="Noto Sans KR" pitchFamily="34" charset="-120"/>
              </a:rPr>
              <a:t>복구 승인</a:t>
            </a:r>
            <a:endParaRPr lang="en-US" sz="416" dirty="0"/>
          </a:p>
        </p:txBody>
      </p:sp>
      <p:sp>
        <p:nvSpPr>
          <p:cNvPr id="56" name="Shape 8">
            <a:extLst>
              <a:ext uri="{FF2B5EF4-FFF2-40B4-BE49-F238E27FC236}">
                <a16:creationId xmlns:a16="http://schemas.microsoft.com/office/drawing/2014/main" id="{C9A14AC9-F20E-05BD-B1E4-69DD8DC537BF}"/>
              </a:ext>
            </a:extLst>
          </p:cNvPr>
          <p:cNvSpPr/>
          <p:nvPr/>
        </p:nvSpPr>
        <p:spPr>
          <a:xfrm>
            <a:off x="4652690" y="1894429"/>
            <a:ext cx="779282" cy="269382"/>
          </a:xfrm>
          <a:prstGeom prst="roundRect">
            <a:avLst>
              <a:gd name="adj" fmla="val 7143"/>
            </a:avLst>
          </a:prstGeom>
          <a:solidFill>
            <a:srgbClr val="5B4EE8"/>
          </a:solidFill>
          <a:ln/>
          <a:effectLst>
            <a:outerShdw blurRad="19050" dist="9525" dir="5400000" algn="bl" rotWithShape="0">
              <a:srgbClr val="101828">
                <a:alpha val="6000"/>
              </a:srgbClr>
            </a:outerShdw>
          </a:effectLst>
        </p:spPr>
        <p:txBody>
          <a:bodyPr/>
          <a:lstStyle/>
          <a:p>
            <a:endParaRPr lang="ko-KR" altLang="en-US" sz="909"/>
          </a:p>
        </p:txBody>
      </p:sp>
      <p:sp>
        <p:nvSpPr>
          <p:cNvPr id="57" name="Text 9">
            <a:extLst>
              <a:ext uri="{FF2B5EF4-FFF2-40B4-BE49-F238E27FC236}">
                <a16:creationId xmlns:a16="http://schemas.microsoft.com/office/drawing/2014/main" id="{066618E4-9585-948B-6AD7-FA2415F47CE4}"/>
              </a:ext>
            </a:extLst>
          </p:cNvPr>
          <p:cNvSpPr/>
          <p:nvPr/>
        </p:nvSpPr>
        <p:spPr>
          <a:xfrm>
            <a:off x="4900200" y="1989096"/>
            <a:ext cx="284263"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FFFFFF"/>
                </a:solidFill>
                <a:latin typeface="Noto Sans KR" pitchFamily="34" charset="0"/>
                <a:ea typeface="Noto Sans KR" pitchFamily="34" charset="-122"/>
                <a:cs typeface="Noto Sans KR" pitchFamily="34" charset="-120"/>
              </a:rPr>
              <a:t>알림 센터</a:t>
            </a:r>
            <a:endParaRPr lang="en-US" sz="492" dirty="0"/>
          </a:p>
        </p:txBody>
      </p:sp>
      <p:sp>
        <p:nvSpPr>
          <p:cNvPr id="58" name="Shape 10">
            <a:extLst>
              <a:ext uri="{FF2B5EF4-FFF2-40B4-BE49-F238E27FC236}">
                <a16:creationId xmlns:a16="http://schemas.microsoft.com/office/drawing/2014/main" id="{D2C90AC8-F48B-635E-39ED-59FA91917AEE}"/>
              </a:ext>
            </a:extLst>
          </p:cNvPr>
          <p:cNvSpPr/>
          <p:nvPr/>
        </p:nvSpPr>
        <p:spPr>
          <a:xfrm>
            <a:off x="4652690" y="2481295"/>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59" name="Text 11">
            <a:extLst>
              <a:ext uri="{FF2B5EF4-FFF2-40B4-BE49-F238E27FC236}">
                <a16:creationId xmlns:a16="http://schemas.microsoft.com/office/drawing/2014/main" id="{C4161502-4807-DEDE-E174-D07DE7BBF70B}"/>
              </a:ext>
            </a:extLst>
          </p:cNvPr>
          <p:cNvSpPr/>
          <p:nvPr/>
        </p:nvSpPr>
        <p:spPr>
          <a:xfrm>
            <a:off x="4815117" y="2575962"/>
            <a:ext cx="454431"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알림 확인 (Ack)</a:t>
            </a:r>
            <a:endParaRPr lang="en-US" sz="492" dirty="0"/>
          </a:p>
        </p:txBody>
      </p:sp>
      <p:sp>
        <p:nvSpPr>
          <p:cNvPr id="60" name="Shape 12">
            <a:extLst>
              <a:ext uri="{FF2B5EF4-FFF2-40B4-BE49-F238E27FC236}">
                <a16:creationId xmlns:a16="http://schemas.microsoft.com/office/drawing/2014/main" id="{6E21CCBB-EBE5-482A-9244-0815D2447B1D}"/>
              </a:ext>
            </a:extLst>
          </p:cNvPr>
          <p:cNvSpPr/>
          <p:nvPr/>
        </p:nvSpPr>
        <p:spPr>
          <a:xfrm>
            <a:off x="4094687" y="3068162"/>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61" name="Text 13">
            <a:extLst>
              <a:ext uri="{FF2B5EF4-FFF2-40B4-BE49-F238E27FC236}">
                <a16:creationId xmlns:a16="http://schemas.microsoft.com/office/drawing/2014/main" id="{A2AFEAF7-64C6-64CB-A85D-2A12431EDF21}"/>
              </a:ext>
            </a:extLst>
          </p:cNvPr>
          <p:cNvSpPr/>
          <p:nvPr/>
        </p:nvSpPr>
        <p:spPr>
          <a:xfrm>
            <a:off x="4276467" y="3162829"/>
            <a:ext cx="415722"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모든 알림 확인</a:t>
            </a:r>
            <a:endParaRPr lang="en-US" sz="492" dirty="0"/>
          </a:p>
        </p:txBody>
      </p:sp>
      <p:sp>
        <p:nvSpPr>
          <p:cNvPr id="62" name="Shape 14">
            <a:extLst>
              <a:ext uri="{FF2B5EF4-FFF2-40B4-BE49-F238E27FC236}">
                <a16:creationId xmlns:a16="http://schemas.microsoft.com/office/drawing/2014/main" id="{0F94F2E5-FDE1-2DA4-F51C-87C83A1AFE6F}"/>
              </a:ext>
            </a:extLst>
          </p:cNvPr>
          <p:cNvSpPr/>
          <p:nvPr/>
        </p:nvSpPr>
        <p:spPr>
          <a:xfrm>
            <a:off x="5210695" y="3068162"/>
            <a:ext cx="779282" cy="269382"/>
          </a:xfrm>
          <a:prstGeom prst="roundRect">
            <a:avLst>
              <a:gd name="adj" fmla="val 7143"/>
            </a:avLst>
          </a:prstGeom>
          <a:solidFill>
            <a:srgbClr val="DAD7F7"/>
          </a:solidFill>
          <a:ln/>
          <a:effectLst>
            <a:outerShdw blurRad="19050" dist="9525" dir="5400000" algn="bl" rotWithShape="0">
              <a:srgbClr val="101828">
                <a:alpha val="6000"/>
              </a:srgbClr>
            </a:outerShdw>
          </a:effectLst>
        </p:spPr>
        <p:txBody>
          <a:bodyPr/>
          <a:lstStyle/>
          <a:p>
            <a:endParaRPr lang="ko-KR" altLang="en-US" sz="909"/>
          </a:p>
        </p:txBody>
      </p:sp>
      <p:sp>
        <p:nvSpPr>
          <p:cNvPr id="63" name="Text 15">
            <a:extLst>
              <a:ext uri="{FF2B5EF4-FFF2-40B4-BE49-F238E27FC236}">
                <a16:creationId xmlns:a16="http://schemas.microsoft.com/office/drawing/2014/main" id="{D86DCE3C-3BA3-EC07-4144-68E654FC0016}"/>
              </a:ext>
            </a:extLst>
          </p:cNvPr>
          <p:cNvSpPr/>
          <p:nvPr/>
        </p:nvSpPr>
        <p:spPr>
          <a:xfrm>
            <a:off x="5429605" y="3162829"/>
            <a:ext cx="341424"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443C86"/>
                </a:solidFill>
                <a:latin typeface="Noto Sans KR" pitchFamily="34" charset="0"/>
                <a:ea typeface="Noto Sans KR" pitchFamily="34" charset="-122"/>
                <a:cs typeface="Noto Sans KR" pitchFamily="34" charset="-120"/>
              </a:rPr>
              <a:t>이벤트 상세</a:t>
            </a:r>
            <a:endParaRPr lang="en-US" sz="492" dirty="0"/>
          </a:p>
        </p:txBody>
      </p:sp>
      <p:sp>
        <p:nvSpPr>
          <p:cNvPr id="64" name="Shape 16">
            <a:extLst>
              <a:ext uri="{FF2B5EF4-FFF2-40B4-BE49-F238E27FC236}">
                <a16:creationId xmlns:a16="http://schemas.microsoft.com/office/drawing/2014/main" id="{08CE7741-E9C5-E609-0B12-60FB42601717}"/>
              </a:ext>
            </a:extLst>
          </p:cNvPr>
          <p:cNvSpPr/>
          <p:nvPr/>
        </p:nvSpPr>
        <p:spPr>
          <a:xfrm>
            <a:off x="6996286" y="1894429"/>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65" name="Text 17">
            <a:extLst>
              <a:ext uri="{FF2B5EF4-FFF2-40B4-BE49-F238E27FC236}">
                <a16:creationId xmlns:a16="http://schemas.microsoft.com/office/drawing/2014/main" id="{6A3E32CF-E449-19A8-958A-C700DD72F2CF}"/>
              </a:ext>
            </a:extLst>
          </p:cNvPr>
          <p:cNvSpPr/>
          <p:nvPr/>
        </p:nvSpPr>
        <p:spPr>
          <a:xfrm>
            <a:off x="7149467" y="1989096"/>
            <a:ext cx="472883"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릴레이 차단 진입</a:t>
            </a:r>
            <a:endParaRPr lang="en-US" sz="492" dirty="0"/>
          </a:p>
        </p:txBody>
      </p:sp>
      <p:sp>
        <p:nvSpPr>
          <p:cNvPr id="66" name="Shape 18">
            <a:extLst>
              <a:ext uri="{FF2B5EF4-FFF2-40B4-BE49-F238E27FC236}">
                <a16:creationId xmlns:a16="http://schemas.microsoft.com/office/drawing/2014/main" id="{3417181E-B9F6-1F2D-3566-0C1A2FC495DD}"/>
              </a:ext>
            </a:extLst>
          </p:cNvPr>
          <p:cNvSpPr/>
          <p:nvPr/>
        </p:nvSpPr>
        <p:spPr>
          <a:xfrm>
            <a:off x="6996286" y="2481295"/>
            <a:ext cx="779282" cy="269382"/>
          </a:xfrm>
          <a:prstGeom prst="roundRect">
            <a:avLst>
              <a:gd name="adj" fmla="val 7143"/>
            </a:avLst>
          </a:prstGeom>
          <a:solidFill>
            <a:srgbClr val="5B4EE8"/>
          </a:solidFill>
          <a:ln/>
          <a:effectLst>
            <a:outerShdw blurRad="19050" dist="9525" dir="5400000" algn="bl" rotWithShape="0">
              <a:srgbClr val="101828">
                <a:alpha val="6000"/>
              </a:srgbClr>
            </a:outerShdw>
          </a:effectLst>
        </p:spPr>
        <p:txBody>
          <a:bodyPr/>
          <a:lstStyle/>
          <a:p>
            <a:endParaRPr lang="ko-KR" altLang="en-US" sz="909"/>
          </a:p>
        </p:txBody>
      </p:sp>
      <p:sp>
        <p:nvSpPr>
          <p:cNvPr id="67" name="Text 19">
            <a:extLst>
              <a:ext uri="{FF2B5EF4-FFF2-40B4-BE49-F238E27FC236}">
                <a16:creationId xmlns:a16="http://schemas.microsoft.com/office/drawing/2014/main" id="{7F1F5CA7-A837-A2AD-3690-4E66054F00CB}"/>
              </a:ext>
            </a:extLst>
          </p:cNvPr>
          <p:cNvSpPr/>
          <p:nvPr/>
        </p:nvSpPr>
        <p:spPr>
          <a:xfrm>
            <a:off x="7149467" y="2575962"/>
            <a:ext cx="472883"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FFFFFF"/>
                </a:solidFill>
                <a:latin typeface="Noto Sans KR" pitchFamily="34" charset="0"/>
                <a:ea typeface="Noto Sans KR" pitchFamily="34" charset="-122"/>
                <a:cs typeface="Noto Sans KR" pitchFamily="34" charset="-120"/>
              </a:rPr>
              <a:t>릴레이 제어 화면</a:t>
            </a:r>
            <a:endParaRPr lang="en-US" sz="492" dirty="0"/>
          </a:p>
        </p:txBody>
      </p:sp>
      <p:sp>
        <p:nvSpPr>
          <p:cNvPr id="68" name="Shape 20">
            <a:extLst>
              <a:ext uri="{FF2B5EF4-FFF2-40B4-BE49-F238E27FC236}">
                <a16:creationId xmlns:a16="http://schemas.microsoft.com/office/drawing/2014/main" id="{16673CBE-514F-E7ED-34E7-D7DE78465600}"/>
              </a:ext>
            </a:extLst>
          </p:cNvPr>
          <p:cNvSpPr/>
          <p:nvPr/>
        </p:nvSpPr>
        <p:spPr>
          <a:xfrm>
            <a:off x="6996286" y="3068162"/>
            <a:ext cx="779282" cy="269382"/>
          </a:xfrm>
          <a:prstGeom prst="roundRect">
            <a:avLst>
              <a:gd name="adj" fmla="val 7143"/>
            </a:avLst>
          </a:prstGeom>
          <a:solidFill>
            <a:srgbClr val="DAD7F7"/>
          </a:solidFill>
          <a:ln/>
          <a:effectLst>
            <a:outerShdw blurRad="19050" dist="9525" dir="5400000" algn="bl" rotWithShape="0">
              <a:srgbClr val="101828">
                <a:alpha val="6000"/>
              </a:srgbClr>
            </a:outerShdw>
          </a:effectLst>
        </p:spPr>
        <p:txBody>
          <a:bodyPr/>
          <a:lstStyle/>
          <a:p>
            <a:endParaRPr lang="ko-KR" altLang="en-US" sz="909"/>
          </a:p>
        </p:txBody>
      </p:sp>
      <p:sp>
        <p:nvSpPr>
          <p:cNvPr id="69" name="Text 21">
            <a:extLst>
              <a:ext uri="{FF2B5EF4-FFF2-40B4-BE49-F238E27FC236}">
                <a16:creationId xmlns:a16="http://schemas.microsoft.com/office/drawing/2014/main" id="{3A3A7F7D-AE4A-A1E7-BA34-B14389AADDBD}"/>
              </a:ext>
            </a:extLst>
          </p:cNvPr>
          <p:cNvSpPr/>
          <p:nvPr/>
        </p:nvSpPr>
        <p:spPr>
          <a:xfrm>
            <a:off x="7112337" y="3162829"/>
            <a:ext cx="547143"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443C86"/>
                </a:solidFill>
                <a:latin typeface="Noto Sans KR" pitchFamily="34" charset="0"/>
                <a:ea typeface="Noto Sans KR" pitchFamily="34" charset="-122"/>
                <a:cs typeface="Noto Sans KR" pitchFamily="34" charset="-120"/>
              </a:rPr>
              <a:t>위험 제어 승인 모달</a:t>
            </a:r>
            <a:endParaRPr lang="en-US" sz="492" dirty="0"/>
          </a:p>
        </p:txBody>
      </p:sp>
      <p:sp>
        <p:nvSpPr>
          <p:cNvPr id="70" name="Shape 22">
            <a:extLst>
              <a:ext uri="{FF2B5EF4-FFF2-40B4-BE49-F238E27FC236}">
                <a16:creationId xmlns:a16="http://schemas.microsoft.com/office/drawing/2014/main" id="{E186512E-E307-3EAA-51D0-7D852285C90A}"/>
              </a:ext>
            </a:extLst>
          </p:cNvPr>
          <p:cNvSpPr/>
          <p:nvPr/>
        </p:nvSpPr>
        <p:spPr>
          <a:xfrm>
            <a:off x="6438281" y="3772394"/>
            <a:ext cx="779282" cy="269382"/>
          </a:xfrm>
          <a:prstGeom prst="roundRect">
            <a:avLst>
              <a:gd name="adj" fmla="val 7143"/>
            </a:avLst>
          </a:prstGeom>
          <a:solidFill>
            <a:srgbClr val="F4B6B6"/>
          </a:solidFill>
          <a:ln/>
          <a:effectLst>
            <a:outerShdw blurRad="19050" dist="9525" dir="5400000" algn="bl" rotWithShape="0">
              <a:srgbClr val="101828">
                <a:alpha val="6000"/>
              </a:srgbClr>
            </a:outerShdw>
          </a:effectLst>
        </p:spPr>
        <p:txBody>
          <a:bodyPr/>
          <a:lstStyle/>
          <a:p>
            <a:endParaRPr lang="ko-KR" altLang="en-US" sz="909"/>
          </a:p>
        </p:txBody>
      </p:sp>
      <p:sp>
        <p:nvSpPr>
          <p:cNvPr id="71" name="Text 23">
            <a:extLst>
              <a:ext uri="{FF2B5EF4-FFF2-40B4-BE49-F238E27FC236}">
                <a16:creationId xmlns:a16="http://schemas.microsoft.com/office/drawing/2014/main" id="{680C1146-5AA8-9F54-00C4-DA2B77E50F25}"/>
              </a:ext>
            </a:extLst>
          </p:cNvPr>
          <p:cNvSpPr/>
          <p:nvPr/>
        </p:nvSpPr>
        <p:spPr>
          <a:xfrm>
            <a:off x="6486386" y="3827075"/>
            <a:ext cx="683074" cy="179262"/>
          </a:xfrm>
          <a:prstGeom prst="rect">
            <a:avLst/>
          </a:prstGeom>
          <a:noFill/>
          <a:ln/>
        </p:spPr>
        <p:txBody>
          <a:bodyPr wrap="square" lIns="12828" tIns="12828" rIns="12828" bIns="12828" rtlCol="0" anchor="t">
            <a:normAutofit/>
          </a:bodyPr>
          <a:lstStyle/>
          <a:p>
            <a:pPr algn="ctr">
              <a:lnSpc>
                <a:spcPct val="128000"/>
              </a:lnSpc>
            </a:pPr>
            <a:r>
              <a:rPr lang="en-US" sz="492" b="1" kern="0" spc="-3" dirty="0">
                <a:solidFill>
                  <a:srgbClr val="8F2020"/>
                </a:solidFill>
                <a:latin typeface="Noto Sans KR" pitchFamily="34" charset="0"/>
                <a:ea typeface="Noto Sans KR" pitchFamily="34" charset="-122"/>
                <a:cs typeface="Noto Sans KR" pitchFamily="34" charset="-120"/>
              </a:rPr>
              <a:t>릴레이 차단 / Kill-Switch</a:t>
            </a:r>
            <a:endParaRPr lang="en-US" sz="492" dirty="0"/>
          </a:p>
        </p:txBody>
      </p:sp>
      <p:sp>
        <p:nvSpPr>
          <p:cNvPr id="72" name="Shape 24">
            <a:extLst>
              <a:ext uri="{FF2B5EF4-FFF2-40B4-BE49-F238E27FC236}">
                <a16:creationId xmlns:a16="http://schemas.microsoft.com/office/drawing/2014/main" id="{9B48A5DD-9BB9-1B11-B87D-51588AC35B68}"/>
              </a:ext>
            </a:extLst>
          </p:cNvPr>
          <p:cNvSpPr/>
          <p:nvPr/>
        </p:nvSpPr>
        <p:spPr>
          <a:xfrm>
            <a:off x="7554289" y="3772394"/>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73" name="Text 25">
            <a:extLst>
              <a:ext uri="{FF2B5EF4-FFF2-40B4-BE49-F238E27FC236}">
                <a16:creationId xmlns:a16="http://schemas.microsoft.com/office/drawing/2014/main" id="{43DF429C-30F8-7A4B-E451-8222D41C22B1}"/>
              </a:ext>
            </a:extLst>
          </p:cNvPr>
          <p:cNvSpPr/>
          <p:nvPr/>
        </p:nvSpPr>
        <p:spPr>
          <a:xfrm>
            <a:off x="7773200" y="3867061"/>
            <a:ext cx="341424"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릴레이 복구</a:t>
            </a:r>
            <a:endParaRPr lang="en-US" sz="492" dirty="0"/>
          </a:p>
        </p:txBody>
      </p:sp>
      <p:sp>
        <p:nvSpPr>
          <p:cNvPr id="4" name="직사각형 3">
            <a:extLst>
              <a:ext uri="{FF2B5EF4-FFF2-40B4-BE49-F238E27FC236}">
                <a16:creationId xmlns:a16="http://schemas.microsoft.com/office/drawing/2014/main" id="{9BD9E911-BC19-4AA3-AD76-8B7BEBE7BD83}"/>
              </a:ext>
            </a:extLst>
          </p:cNvPr>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5" name="직선 연결선 16">
            <a:extLst>
              <a:ext uri="{FF2B5EF4-FFF2-40B4-BE49-F238E27FC236}">
                <a16:creationId xmlns:a16="http://schemas.microsoft.com/office/drawing/2014/main" id="{9A732FA0-2DEC-0C38-88A4-C858365FC01C}"/>
              </a:ext>
            </a:extLst>
          </p:cNvPr>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 name="직선 연결선 17">
            <a:extLst>
              <a:ext uri="{FF2B5EF4-FFF2-40B4-BE49-F238E27FC236}">
                <a16:creationId xmlns:a16="http://schemas.microsoft.com/office/drawing/2014/main" id="{93F3889B-87B5-7CDB-147D-1EF4A3994636}"/>
              </a:ext>
            </a:extLst>
          </p:cNvPr>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7" name="제목 12">
            <a:extLst>
              <a:ext uri="{FF2B5EF4-FFF2-40B4-BE49-F238E27FC236}">
                <a16:creationId xmlns:a16="http://schemas.microsoft.com/office/drawing/2014/main" id="{53CA9BC0-06AE-EA88-A9AA-679D92EFEB56}"/>
              </a:ext>
            </a:extLst>
          </p:cNvPr>
          <p:cNvSpPr txBox="1">
            <a:spLocks/>
          </p:cNvSpPr>
          <p:nvPr/>
        </p:nvSpPr>
        <p:spPr>
          <a:xfrm>
            <a:off x="323528" y="692696"/>
            <a:ext cx="2808312"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Flow chart - user</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28" name="Picture 2">
            <a:extLst>
              <a:ext uri="{FF2B5EF4-FFF2-40B4-BE49-F238E27FC236}">
                <a16:creationId xmlns:a16="http://schemas.microsoft.com/office/drawing/2014/main" id="{08CBA29E-FFD6-891D-14A4-318CAA94D3A8}"/>
              </a:ext>
            </a:extLst>
          </p:cNvPr>
          <p:cNvPicPr>
            <a:picLocks noChangeAspect="1" noChangeArrowheads="1"/>
          </p:cNvPicPr>
          <p:nvPr/>
        </p:nvPicPr>
        <p:blipFill>
          <a:blip r:embed="rId5" cstate="print"/>
          <a:srcRect/>
          <a:stretch>
            <a:fillRect/>
          </a:stretch>
        </p:blipFill>
        <p:spPr bwMode="auto">
          <a:xfrm>
            <a:off x="8676456" y="476671"/>
            <a:ext cx="454960" cy="158965"/>
          </a:xfrm>
          <a:prstGeom prst="rect">
            <a:avLst/>
          </a:prstGeom>
          <a:noFill/>
          <a:ln w="9525">
            <a:noFill/>
            <a:miter lim="800000"/>
            <a:headEnd/>
            <a:tailEnd/>
          </a:ln>
        </p:spPr>
      </p:pic>
      <p:sp>
        <p:nvSpPr>
          <p:cNvPr id="29" name="막힌 원호 34">
            <a:extLst>
              <a:ext uri="{FF2B5EF4-FFF2-40B4-BE49-F238E27FC236}">
                <a16:creationId xmlns:a16="http://schemas.microsoft.com/office/drawing/2014/main" id="{D3EE96F3-BF1F-6AC0-7D76-756189E11A50}"/>
              </a:ext>
            </a:extLst>
          </p:cNvPr>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0" name="그림 29">
            <a:extLst>
              <a:ext uri="{FF2B5EF4-FFF2-40B4-BE49-F238E27FC236}">
                <a16:creationId xmlns:a16="http://schemas.microsoft.com/office/drawing/2014/main" id="{B6226B9F-206B-AF9C-442E-3E0B5AC0C759}"/>
              </a:ext>
            </a:extLst>
          </p:cNvPr>
          <p:cNvPicPr>
            <a:picLocks noChangeAspect="1"/>
          </p:cNvPicPr>
          <p:nvPr/>
        </p:nvPicPr>
        <p:blipFill>
          <a:blip r:embed="rId6"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Tree>
    <p:extLst>
      <p:ext uri="{BB962C8B-B14F-4D97-AF65-F5344CB8AC3E}">
        <p14:creationId xmlns:p14="http://schemas.microsoft.com/office/powerpoint/2010/main" val="424171419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그림 34">
            <a:extLst>
              <a:ext uri="{FF2B5EF4-FFF2-40B4-BE49-F238E27FC236}">
                <a16:creationId xmlns:a16="http://schemas.microsoft.com/office/drawing/2014/main" id="{389876C7-CCFB-228E-6DCC-543D8FE39A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1227" y="2197026"/>
            <a:ext cx="76585" cy="162742"/>
          </a:xfrm>
          <a:prstGeom prst="rect">
            <a:avLst/>
          </a:prstGeom>
        </p:spPr>
      </p:pic>
      <p:pic>
        <p:nvPicPr>
          <p:cNvPr id="2"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089" y="1700745"/>
            <a:ext cx="9163776" cy="2693814"/>
          </a:xfrm>
          <a:prstGeom prst="rect">
            <a:avLst/>
          </a:prstGeom>
        </p:spPr>
      </p:pic>
      <p:sp>
        <p:nvSpPr>
          <p:cNvPr id="5" name="Shape 2"/>
          <p:cNvSpPr/>
          <p:nvPr/>
        </p:nvSpPr>
        <p:spPr>
          <a:xfrm>
            <a:off x="4083591" y="2316474"/>
            <a:ext cx="267277" cy="86586"/>
          </a:xfrm>
          <a:prstGeom prst="roundRect">
            <a:avLst>
              <a:gd name="adj" fmla="val 22222"/>
            </a:avLst>
          </a:prstGeom>
          <a:solidFill>
            <a:srgbClr val="FFFFFF">
              <a:alpha val="92000"/>
            </a:srgbClr>
          </a:solidFill>
          <a:ln/>
        </p:spPr>
        <p:txBody>
          <a:bodyPr/>
          <a:lstStyle/>
          <a:p>
            <a:endParaRPr lang="ko-KR" altLang="en-US" sz="909"/>
          </a:p>
        </p:txBody>
      </p:sp>
      <p:sp>
        <p:nvSpPr>
          <p:cNvPr id="6" name="Text 3"/>
          <p:cNvSpPr/>
          <p:nvPr/>
        </p:nvSpPr>
        <p:spPr>
          <a:xfrm>
            <a:off x="4112455" y="2321285"/>
            <a:ext cx="248035" cy="96208"/>
          </a:xfrm>
          <a:prstGeom prst="rect">
            <a:avLst/>
          </a:prstGeom>
          <a:noFill/>
          <a:ln/>
        </p:spPr>
        <p:txBody>
          <a:bodyPr wrap="none" lIns="12828" tIns="12828" rIns="12828" bIns="12828" rtlCol="0" anchor="t">
            <a:normAutofit/>
          </a:bodyPr>
          <a:lstStyle/>
          <a:p>
            <a:r>
              <a:rPr lang="en-US" sz="416" b="1" dirty="0">
                <a:solidFill>
                  <a:srgbClr val="4B5563"/>
                </a:solidFill>
                <a:latin typeface="Noto Sans KR" pitchFamily="34" charset="0"/>
                <a:ea typeface="Noto Sans KR" pitchFamily="34" charset="-122"/>
                <a:cs typeface="Noto Sans KR" pitchFamily="34" charset="-120"/>
              </a:rPr>
              <a:t>목록 갱신</a:t>
            </a:r>
            <a:endParaRPr lang="en-US" sz="416" dirty="0"/>
          </a:p>
        </p:txBody>
      </p:sp>
      <p:sp>
        <p:nvSpPr>
          <p:cNvPr id="7" name="Shape 4"/>
          <p:cNvSpPr/>
          <p:nvPr/>
        </p:nvSpPr>
        <p:spPr>
          <a:xfrm>
            <a:off x="1096269" y="1931643"/>
            <a:ext cx="779282" cy="269382"/>
          </a:xfrm>
          <a:prstGeom prst="roundRect">
            <a:avLst>
              <a:gd name="adj" fmla="val 7143"/>
            </a:avLst>
          </a:prstGeom>
          <a:solidFill>
            <a:srgbClr val="5B4EE8"/>
          </a:solidFill>
          <a:ln/>
          <a:effectLst>
            <a:outerShdw blurRad="19050" dist="9525" dir="5400000" algn="bl" rotWithShape="0">
              <a:srgbClr val="101828">
                <a:alpha val="6000"/>
              </a:srgbClr>
            </a:outerShdw>
          </a:effectLst>
        </p:spPr>
        <p:txBody>
          <a:bodyPr/>
          <a:lstStyle/>
          <a:p>
            <a:endParaRPr lang="ko-KR" altLang="en-US" sz="909"/>
          </a:p>
        </p:txBody>
      </p:sp>
      <p:sp>
        <p:nvSpPr>
          <p:cNvPr id="8" name="Text 5"/>
          <p:cNvSpPr/>
          <p:nvPr/>
        </p:nvSpPr>
        <p:spPr>
          <a:xfrm>
            <a:off x="1257455" y="2026310"/>
            <a:ext cx="456911"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FFFFFF"/>
                </a:solidFill>
                <a:latin typeface="Noto Sans KR" pitchFamily="34" charset="0"/>
                <a:ea typeface="Noto Sans KR" pitchFamily="34" charset="-122"/>
                <a:cs typeface="Noto Sans KR" pitchFamily="34" charset="-120"/>
              </a:rPr>
              <a:t>추세 차트 / 이력</a:t>
            </a:r>
            <a:endParaRPr lang="en-US" sz="492" dirty="0"/>
          </a:p>
        </p:txBody>
      </p:sp>
      <p:sp>
        <p:nvSpPr>
          <p:cNvPr id="9" name="Shape 6"/>
          <p:cNvSpPr/>
          <p:nvPr/>
        </p:nvSpPr>
        <p:spPr>
          <a:xfrm>
            <a:off x="1654273" y="2518510"/>
            <a:ext cx="779282" cy="269382"/>
          </a:xfrm>
          <a:prstGeom prst="roundRect">
            <a:avLst>
              <a:gd name="adj" fmla="val 7143"/>
            </a:avLst>
          </a:prstGeom>
          <a:solidFill>
            <a:srgbClr val="DAD7F7"/>
          </a:solidFill>
          <a:ln/>
          <a:effectLst>
            <a:outerShdw blurRad="19050" dist="9525" dir="5400000" algn="bl" rotWithShape="0">
              <a:srgbClr val="101828">
                <a:alpha val="6000"/>
              </a:srgbClr>
            </a:outerShdw>
          </a:effectLst>
        </p:spPr>
        <p:txBody>
          <a:bodyPr/>
          <a:lstStyle/>
          <a:p>
            <a:endParaRPr lang="ko-KR" altLang="en-US" sz="909"/>
          </a:p>
        </p:txBody>
      </p:sp>
      <p:sp>
        <p:nvSpPr>
          <p:cNvPr id="10" name="Text 7"/>
          <p:cNvSpPr/>
          <p:nvPr/>
        </p:nvSpPr>
        <p:spPr>
          <a:xfrm>
            <a:off x="1807454" y="2613176"/>
            <a:ext cx="472883"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443C86"/>
                </a:solidFill>
                <a:latin typeface="Noto Sans KR" pitchFamily="34" charset="0"/>
                <a:ea typeface="Noto Sans KR" pitchFamily="34" charset="-122"/>
                <a:cs typeface="Noto Sans KR" pitchFamily="34" charset="-120"/>
              </a:rPr>
              <a:t>이벤트 이력 목록</a:t>
            </a:r>
            <a:endParaRPr lang="en-US" sz="492" dirty="0"/>
          </a:p>
        </p:txBody>
      </p:sp>
      <p:sp>
        <p:nvSpPr>
          <p:cNvPr id="11" name="Shape 8"/>
          <p:cNvSpPr/>
          <p:nvPr/>
        </p:nvSpPr>
        <p:spPr>
          <a:xfrm>
            <a:off x="1654273" y="3105376"/>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12" name="Text 9"/>
          <p:cNvSpPr/>
          <p:nvPr/>
        </p:nvSpPr>
        <p:spPr>
          <a:xfrm>
            <a:off x="1786860" y="3200044"/>
            <a:ext cx="514072"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이벤트 정렬 / 이동</a:t>
            </a:r>
            <a:endParaRPr lang="en-US" sz="492" dirty="0"/>
          </a:p>
        </p:txBody>
      </p:sp>
      <p:sp>
        <p:nvSpPr>
          <p:cNvPr id="13" name="Shape 10"/>
          <p:cNvSpPr/>
          <p:nvPr/>
        </p:nvSpPr>
        <p:spPr>
          <a:xfrm>
            <a:off x="1654273" y="3692242"/>
            <a:ext cx="779282" cy="269382"/>
          </a:xfrm>
          <a:prstGeom prst="roundRect">
            <a:avLst>
              <a:gd name="adj" fmla="val 7143"/>
            </a:avLst>
          </a:prstGeom>
          <a:solidFill>
            <a:srgbClr val="DAD7F7"/>
          </a:solidFill>
          <a:ln/>
          <a:effectLst>
            <a:outerShdw blurRad="19050" dist="9525" dir="5400000" algn="bl" rotWithShape="0">
              <a:srgbClr val="101828">
                <a:alpha val="6000"/>
              </a:srgbClr>
            </a:outerShdw>
          </a:effectLst>
        </p:spPr>
        <p:txBody>
          <a:bodyPr/>
          <a:lstStyle/>
          <a:p>
            <a:endParaRPr lang="ko-KR" altLang="en-US" sz="909"/>
          </a:p>
        </p:txBody>
      </p:sp>
      <p:sp>
        <p:nvSpPr>
          <p:cNvPr id="14" name="Text 11"/>
          <p:cNvSpPr/>
          <p:nvPr/>
        </p:nvSpPr>
        <p:spPr>
          <a:xfrm>
            <a:off x="1873184" y="3786910"/>
            <a:ext cx="341424"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443C86"/>
                </a:solidFill>
                <a:latin typeface="Noto Sans KR" pitchFamily="34" charset="0"/>
                <a:ea typeface="Noto Sans KR" pitchFamily="34" charset="-122"/>
                <a:cs typeface="Noto Sans KR" pitchFamily="34" charset="-120"/>
              </a:rPr>
              <a:t>이벤트 상세</a:t>
            </a:r>
            <a:endParaRPr lang="en-US" sz="492" dirty="0"/>
          </a:p>
        </p:txBody>
      </p:sp>
      <p:sp>
        <p:nvSpPr>
          <p:cNvPr id="15" name="Shape 12"/>
          <p:cNvSpPr/>
          <p:nvPr/>
        </p:nvSpPr>
        <p:spPr>
          <a:xfrm>
            <a:off x="538265" y="2518510"/>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16" name="Text 13"/>
          <p:cNvSpPr/>
          <p:nvPr/>
        </p:nvSpPr>
        <p:spPr>
          <a:xfrm>
            <a:off x="639546" y="2613176"/>
            <a:ext cx="576682"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CSV / PDF 내보내기</a:t>
            </a:r>
            <a:endParaRPr lang="en-US" sz="492" dirty="0"/>
          </a:p>
        </p:txBody>
      </p:sp>
      <p:sp>
        <p:nvSpPr>
          <p:cNvPr id="17" name="Shape 14"/>
          <p:cNvSpPr/>
          <p:nvPr/>
        </p:nvSpPr>
        <p:spPr>
          <a:xfrm>
            <a:off x="3216670" y="1931643"/>
            <a:ext cx="779282" cy="269382"/>
          </a:xfrm>
          <a:prstGeom prst="roundRect">
            <a:avLst>
              <a:gd name="adj" fmla="val 7143"/>
            </a:avLst>
          </a:prstGeom>
          <a:solidFill>
            <a:srgbClr val="5B4EE8"/>
          </a:solidFill>
          <a:ln/>
          <a:effectLst>
            <a:outerShdw blurRad="19050" dist="9525" dir="5400000" algn="bl" rotWithShape="0">
              <a:srgbClr val="101828">
                <a:alpha val="6000"/>
              </a:srgbClr>
            </a:outerShdw>
          </a:effectLst>
        </p:spPr>
        <p:txBody>
          <a:bodyPr/>
          <a:lstStyle/>
          <a:p>
            <a:endParaRPr lang="ko-KR" altLang="en-US" sz="909"/>
          </a:p>
        </p:txBody>
      </p:sp>
      <p:sp>
        <p:nvSpPr>
          <p:cNvPr id="18" name="Text 15"/>
          <p:cNvSpPr/>
          <p:nvPr/>
        </p:nvSpPr>
        <p:spPr>
          <a:xfrm>
            <a:off x="3472748" y="2026310"/>
            <a:ext cx="267126"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FFFFFF"/>
                </a:solidFill>
                <a:latin typeface="Noto Sans KR" pitchFamily="34" charset="0"/>
                <a:ea typeface="Noto Sans KR" pitchFamily="34" charset="-122"/>
                <a:cs typeface="Noto Sans KR" pitchFamily="34" charset="-120"/>
              </a:rPr>
              <a:t>공지사항</a:t>
            </a:r>
            <a:endParaRPr lang="en-US" sz="492" dirty="0"/>
          </a:p>
        </p:txBody>
      </p:sp>
      <p:sp>
        <p:nvSpPr>
          <p:cNvPr id="19" name="Shape 16"/>
          <p:cNvSpPr/>
          <p:nvPr/>
        </p:nvSpPr>
        <p:spPr>
          <a:xfrm>
            <a:off x="3216670" y="2518510"/>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20" name="Text 17"/>
          <p:cNvSpPr/>
          <p:nvPr/>
        </p:nvSpPr>
        <p:spPr>
          <a:xfrm>
            <a:off x="3341289" y="2613176"/>
            <a:ext cx="530044"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공지 카테고리 필터</a:t>
            </a:r>
            <a:endParaRPr lang="en-US" sz="492" dirty="0"/>
          </a:p>
        </p:txBody>
      </p:sp>
      <p:sp>
        <p:nvSpPr>
          <p:cNvPr id="21" name="Shape 18"/>
          <p:cNvSpPr/>
          <p:nvPr/>
        </p:nvSpPr>
        <p:spPr>
          <a:xfrm>
            <a:off x="3216670" y="3105376"/>
            <a:ext cx="779282" cy="269382"/>
          </a:xfrm>
          <a:prstGeom prst="roundRect">
            <a:avLst>
              <a:gd name="adj" fmla="val 7143"/>
            </a:avLst>
          </a:prstGeom>
          <a:solidFill>
            <a:srgbClr val="DAD7F7"/>
          </a:solidFill>
          <a:ln/>
          <a:effectLst>
            <a:outerShdw blurRad="19050" dist="9525" dir="5400000" algn="bl" rotWithShape="0">
              <a:srgbClr val="101828">
                <a:alpha val="6000"/>
              </a:srgbClr>
            </a:outerShdw>
          </a:effectLst>
        </p:spPr>
        <p:txBody>
          <a:bodyPr/>
          <a:lstStyle/>
          <a:p>
            <a:endParaRPr lang="ko-KR" altLang="en-US" sz="909"/>
          </a:p>
        </p:txBody>
      </p:sp>
      <p:sp>
        <p:nvSpPr>
          <p:cNvPr id="22" name="Text 19"/>
          <p:cNvSpPr/>
          <p:nvPr/>
        </p:nvSpPr>
        <p:spPr>
          <a:xfrm>
            <a:off x="3464179" y="3200044"/>
            <a:ext cx="284263"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443C86"/>
                </a:solidFill>
                <a:latin typeface="Noto Sans KR" pitchFamily="34" charset="0"/>
                <a:ea typeface="Noto Sans KR" pitchFamily="34" charset="-122"/>
                <a:cs typeface="Noto Sans KR" pitchFamily="34" charset="-120"/>
              </a:rPr>
              <a:t>공지 상세</a:t>
            </a:r>
            <a:endParaRPr lang="en-US" sz="492" dirty="0"/>
          </a:p>
        </p:txBody>
      </p:sp>
      <p:sp>
        <p:nvSpPr>
          <p:cNvPr id="23" name="Shape 20"/>
          <p:cNvSpPr/>
          <p:nvPr/>
        </p:nvSpPr>
        <p:spPr>
          <a:xfrm>
            <a:off x="6676311" y="1933435"/>
            <a:ext cx="779282" cy="269382"/>
          </a:xfrm>
          <a:prstGeom prst="roundRect">
            <a:avLst>
              <a:gd name="adj" fmla="val 7143"/>
            </a:avLst>
          </a:prstGeom>
          <a:solidFill>
            <a:srgbClr val="5B4EE8"/>
          </a:solidFill>
          <a:ln/>
          <a:effectLst>
            <a:outerShdw blurRad="19050" dist="9525" dir="5400000" algn="bl" rotWithShape="0">
              <a:srgbClr val="101828">
                <a:alpha val="6000"/>
              </a:srgbClr>
            </a:outerShdw>
          </a:effectLst>
        </p:spPr>
        <p:txBody>
          <a:bodyPr/>
          <a:lstStyle/>
          <a:p>
            <a:endParaRPr lang="ko-KR" altLang="en-US" sz="909"/>
          </a:p>
        </p:txBody>
      </p:sp>
      <p:sp>
        <p:nvSpPr>
          <p:cNvPr id="24" name="Text 21"/>
          <p:cNvSpPr/>
          <p:nvPr/>
        </p:nvSpPr>
        <p:spPr>
          <a:xfrm>
            <a:off x="6923821" y="2018055"/>
            <a:ext cx="284263"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FFFFFF"/>
                </a:solidFill>
                <a:latin typeface="Noto Sans KR" pitchFamily="34" charset="0"/>
                <a:ea typeface="Noto Sans KR" pitchFamily="34" charset="-122"/>
                <a:cs typeface="Noto Sans KR" pitchFamily="34" charset="-120"/>
              </a:rPr>
              <a:t>설정 화면</a:t>
            </a:r>
            <a:endParaRPr lang="en-US" sz="492" dirty="0"/>
          </a:p>
        </p:txBody>
      </p:sp>
      <p:sp>
        <p:nvSpPr>
          <p:cNvPr id="27" name="Shape 24"/>
          <p:cNvSpPr/>
          <p:nvPr/>
        </p:nvSpPr>
        <p:spPr>
          <a:xfrm>
            <a:off x="5560303" y="2518510"/>
            <a:ext cx="779282" cy="269382"/>
          </a:xfrm>
          <a:prstGeom prst="roundRect">
            <a:avLst>
              <a:gd name="adj" fmla="val 7143"/>
            </a:avLst>
          </a:prstGeom>
          <a:solidFill>
            <a:srgbClr val="DAD7F7"/>
          </a:solidFill>
          <a:ln/>
          <a:effectLst>
            <a:outerShdw blurRad="19050" dist="9525" dir="5400000" algn="bl" rotWithShape="0">
              <a:srgbClr val="101828">
                <a:alpha val="6000"/>
              </a:srgbClr>
            </a:outerShdw>
          </a:effectLst>
        </p:spPr>
        <p:txBody>
          <a:bodyPr/>
          <a:lstStyle/>
          <a:p>
            <a:endParaRPr lang="ko-KR" altLang="en-US" sz="909"/>
          </a:p>
        </p:txBody>
      </p:sp>
      <p:sp>
        <p:nvSpPr>
          <p:cNvPr id="28" name="Text 25"/>
          <p:cNvSpPr/>
          <p:nvPr/>
        </p:nvSpPr>
        <p:spPr>
          <a:xfrm>
            <a:off x="5742083" y="2613176"/>
            <a:ext cx="415722"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443C86"/>
                </a:solidFill>
                <a:latin typeface="Noto Sans KR" pitchFamily="34" charset="0"/>
                <a:ea typeface="Noto Sans KR" pitchFamily="34" charset="-122"/>
                <a:cs typeface="Noto Sans KR" pitchFamily="34" charset="-120"/>
              </a:rPr>
              <a:t>알림 수신 설정</a:t>
            </a:r>
            <a:endParaRPr lang="en-US" sz="492" dirty="0"/>
          </a:p>
        </p:txBody>
      </p:sp>
      <p:sp>
        <p:nvSpPr>
          <p:cNvPr id="29" name="Shape 26"/>
          <p:cNvSpPr/>
          <p:nvPr/>
        </p:nvSpPr>
        <p:spPr>
          <a:xfrm>
            <a:off x="6676311" y="2518510"/>
            <a:ext cx="779282" cy="269382"/>
          </a:xfrm>
          <a:prstGeom prst="roundRect">
            <a:avLst>
              <a:gd name="adj" fmla="val 7143"/>
            </a:avLst>
          </a:prstGeom>
          <a:solidFill>
            <a:srgbClr val="DAD7F7"/>
          </a:solidFill>
          <a:ln/>
          <a:effectLst>
            <a:outerShdw blurRad="19050" dist="9525" dir="5400000" algn="bl" rotWithShape="0">
              <a:srgbClr val="101828">
                <a:alpha val="6000"/>
              </a:srgbClr>
            </a:outerShdw>
          </a:effectLst>
        </p:spPr>
        <p:txBody>
          <a:bodyPr/>
          <a:lstStyle/>
          <a:p>
            <a:endParaRPr lang="ko-KR" altLang="en-US" sz="909"/>
          </a:p>
        </p:txBody>
      </p:sp>
      <p:sp>
        <p:nvSpPr>
          <p:cNvPr id="30" name="Text 27"/>
          <p:cNvSpPr/>
          <p:nvPr/>
        </p:nvSpPr>
        <p:spPr>
          <a:xfrm>
            <a:off x="6858091" y="2613176"/>
            <a:ext cx="415722"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443C86"/>
                </a:solidFill>
                <a:latin typeface="Noto Sans KR" pitchFamily="34" charset="0"/>
                <a:ea typeface="Noto Sans KR" pitchFamily="34" charset="-122"/>
                <a:cs typeface="Noto Sans KR" pitchFamily="34" charset="-120"/>
              </a:rPr>
              <a:t>계정 정보 수정</a:t>
            </a:r>
            <a:endParaRPr lang="en-US" sz="492" dirty="0"/>
          </a:p>
        </p:txBody>
      </p:sp>
      <p:sp>
        <p:nvSpPr>
          <p:cNvPr id="31" name="Shape 28"/>
          <p:cNvSpPr/>
          <p:nvPr/>
        </p:nvSpPr>
        <p:spPr>
          <a:xfrm>
            <a:off x="6676311" y="3105376"/>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32" name="Text 29"/>
          <p:cNvSpPr/>
          <p:nvPr/>
        </p:nvSpPr>
        <p:spPr>
          <a:xfrm>
            <a:off x="6866659" y="3200044"/>
            <a:ext cx="398586"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비밀번호 변경</a:t>
            </a:r>
            <a:endParaRPr lang="en-US" sz="492" dirty="0"/>
          </a:p>
        </p:txBody>
      </p:sp>
      <p:sp>
        <p:nvSpPr>
          <p:cNvPr id="33" name="Shape 30"/>
          <p:cNvSpPr/>
          <p:nvPr/>
        </p:nvSpPr>
        <p:spPr>
          <a:xfrm>
            <a:off x="7792319" y="2518510"/>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34" name="Text 31"/>
          <p:cNvSpPr/>
          <p:nvPr/>
        </p:nvSpPr>
        <p:spPr>
          <a:xfrm>
            <a:off x="7840424" y="2573190"/>
            <a:ext cx="683074" cy="17926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테마 전환/캘리브레이션 이력</a:t>
            </a:r>
            <a:endParaRPr lang="en-US" sz="492" dirty="0"/>
          </a:p>
        </p:txBody>
      </p:sp>
      <p:sp>
        <p:nvSpPr>
          <p:cNvPr id="4" name="직사각형 3">
            <a:extLst>
              <a:ext uri="{FF2B5EF4-FFF2-40B4-BE49-F238E27FC236}">
                <a16:creationId xmlns:a16="http://schemas.microsoft.com/office/drawing/2014/main" id="{30DEA617-4509-0665-2F74-51A62D92F2B0}"/>
              </a:ext>
            </a:extLst>
          </p:cNvPr>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8" name="직선 연결선 16">
            <a:extLst>
              <a:ext uri="{FF2B5EF4-FFF2-40B4-BE49-F238E27FC236}">
                <a16:creationId xmlns:a16="http://schemas.microsoft.com/office/drawing/2014/main" id="{A8120461-0409-E742-502B-08F6869E582F}"/>
              </a:ext>
            </a:extLst>
          </p:cNvPr>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9" name="직선 연결선 17">
            <a:extLst>
              <a:ext uri="{FF2B5EF4-FFF2-40B4-BE49-F238E27FC236}">
                <a16:creationId xmlns:a16="http://schemas.microsoft.com/office/drawing/2014/main" id="{CC59071B-8BA8-DE84-4216-0A3323AB0BF6}"/>
              </a:ext>
            </a:extLst>
          </p:cNvPr>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40" name="제목 12">
            <a:extLst>
              <a:ext uri="{FF2B5EF4-FFF2-40B4-BE49-F238E27FC236}">
                <a16:creationId xmlns:a16="http://schemas.microsoft.com/office/drawing/2014/main" id="{7DBA1181-EA51-2C71-EDB7-0A4D9037D225}"/>
              </a:ext>
            </a:extLst>
          </p:cNvPr>
          <p:cNvSpPr txBox="1">
            <a:spLocks/>
          </p:cNvSpPr>
          <p:nvPr/>
        </p:nvSpPr>
        <p:spPr>
          <a:xfrm>
            <a:off x="323528" y="692696"/>
            <a:ext cx="2808312"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Flow chart - user</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41" name="Picture 2">
            <a:extLst>
              <a:ext uri="{FF2B5EF4-FFF2-40B4-BE49-F238E27FC236}">
                <a16:creationId xmlns:a16="http://schemas.microsoft.com/office/drawing/2014/main" id="{729D9C01-8FB3-F895-5CE2-6E7CD701E458}"/>
              </a:ext>
            </a:extLst>
          </p:cNvPr>
          <p:cNvPicPr>
            <a:picLocks noChangeAspect="1" noChangeArrowheads="1"/>
          </p:cNvPicPr>
          <p:nvPr/>
        </p:nvPicPr>
        <p:blipFill>
          <a:blip r:embed="rId5" cstate="print"/>
          <a:srcRect/>
          <a:stretch>
            <a:fillRect/>
          </a:stretch>
        </p:blipFill>
        <p:spPr bwMode="auto">
          <a:xfrm>
            <a:off x="8676456" y="476671"/>
            <a:ext cx="454960" cy="158965"/>
          </a:xfrm>
          <a:prstGeom prst="rect">
            <a:avLst/>
          </a:prstGeom>
          <a:noFill/>
          <a:ln w="9525">
            <a:noFill/>
            <a:miter lim="800000"/>
            <a:headEnd/>
            <a:tailEnd/>
          </a:ln>
        </p:spPr>
      </p:pic>
      <p:sp>
        <p:nvSpPr>
          <p:cNvPr id="42" name="막힌 원호 34">
            <a:extLst>
              <a:ext uri="{FF2B5EF4-FFF2-40B4-BE49-F238E27FC236}">
                <a16:creationId xmlns:a16="http://schemas.microsoft.com/office/drawing/2014/main" id="{EB021DD2-7F4B-8D9D-E3B2-89E0EDD813FC}"/>
              </a:ext>
            </a:extLst>
          </p:cNvPr>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43" name="그림 42">
            <a:extLst>
              <a:ext uri="{FF2B5EF4-FFF2-40B4-BE49-F238E27FC236}">
                <a16:creationId xmlns:a16="http://schemas.microsoft.com/office/drawing/2014/main" id="{3998B97B-2B4B-9D20-7E01-3C21D33B3AD6}"/>
              </a:ext>
            </a:extLst>
          </p:cNvPr>
          <p:cNvPicPr>
            <a:picLocks noChangeAspect="1"/>
          </p:cNvPicPr>
          <p:nvPr/>
        </p:nvPicPr>
        <p:blipFill>
          <a:blip r:embed="rId6"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3" name="직사각형 2">
            <a:extLst>
              <a:ext uri="{FF2B5EF4-FFF2-40B4-BE49-F238E27FC236}">
                <a16:creationId xmlns:a16="http://schemas.microsoft.com/office/drawing/2014/main" id="{F3702DB5-E701-E60F-0F43-F0C8518D3EBB}"/>
              </a:ext>
            </a:extLst>
          </p:cNvPr>
          <p:cNvSpPr/>
          <p:nvPr/>
        </p:nvSpPr>
        <p:spPr>
          <a:xfrm>
            <a:off x="4578101" y="2201025"/>
            <a:ext cx="936104" cy="37216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ko-KR" altLang="en-US" b="1" dirty="0"/>
          </a:p>
        </p:txBody>
      </p:sp>
      <p:sp>
        <p:nvSpPr>
          <p:cNvPr id="25" name="직사각형 24">
            <a:extLst>
              <a:ext uri="{FF2B5EF4-FFF2-40B4-BE49-F238E27FC236}">
                <a16:creationId xmlns:a16="http://schemas.microsoft.com/office/drawing/2014/main" id="{F450A786-8DD1-B76E-B819-78A74B74B596}"/>
              </a:ext>
            </a:extLst>
          </p:cNvPr>
          <p:cNvSpPr/>
          <p:nvPr/>
        </p:nvSpPr>
        <p:spPr>
          <a:xfrm>
            <a:off x="5298181" y="2254751"/>
            <a:ext cx="648072" cy="162742"/>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ko-KR" altLang="en-US" b="1" dirty="0"/>
          </a:p>
        </p:txBody>
      </p:sp>
      <p:sp>
        <p:nvSpPr>
          <p:cNvPr id="36" name="직사각형 35">
            <a:extLst>
              <a:ext uri="{FF2B5EF4-FFF2-40B4-BE49-F238E27FC236}">
                <a16:creationId xmlns:a16="http://schemas.microsoft.com/office/drawing/2014/main" id="{E9195E3E-F62D-A48C-E0AB-E4E496953401}"/>
              </a:ext>
            </a:extLst>
          </p:cNvPr>
          <p:cNvSpPr>
            <a:spLocks noChangeAspect="1"/>
          </p:cNvSpPr>
          <p:nvPr/>
        </p:nvSpPr>
        <p:spPr>
          <a:xfrm>
            <a:off x="5946253" y="2189859"/>
            <a:ext cx="648071" cy="165600"/>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ko-KR" altLang="en-US" b="1" dirty="0"/>
          </a:p>
        </p:txBody>
      </p:sp>
    </p:spTree>
    <p:extLst>
      <p:ext uri="{BB962C8B-B14F-4D97-AF65-F5344CB8AC3E}">
        <p14:creationId xmlns:p14="http://schemas.microsoft.com/office/powerpoint/2010/main" val="30040340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74859" y="1261296"/>
            <a:ext cx="6262139" cy="4953227"/>
          </a:xfrm>
          <a:prstGeom prst="rect">
            <a:avLst/>
          </a:prstGeom>
        </p:spPr>
      </p:pic>
      <p:sp>
        <p:nvSpPr>
          <p:cNvPr id="3" name="Shape 0"/>
          <p:cNvSpPr/>
          <p:nvPr/>
        </p:nvSpPr>
        <p:spPr>
          <a:xfrm>
            <a:off x="3226470" y="3637625"/>
            <a:ext cx="142808" cy="86586"/>
          </a:xfrm>
          <a:prstGeom prst="roundRect">
            <a:avLst>
              <a:gd name="adj" fmla="val 22222"/>
            </a:avLst>
          </a:prstGeom>
          <a:solidFill>
            <a:srgbClr val="FFFFFF">
              <a:alpha val="92000"/>
            </a:srgbClr>
          </a:solidFill>
          <a:ln/>
        </p:spPr>
        <p:txBody>
          <a:bodyPr/>
          <a:lstStyle/>
          <a:p>
            <a:endParaRPr lang="ko-KR" altLang="en-US" sz="909"/>
          </a:p>
        </p:txBody>
      </p:sp>
      <p:sp>
        <p:nvSpPr>
          <p:cNvPr id="4" name="Text 1"/>
          <p:cNvSpPr/>
          <p:nvPr/>
        </p:nvSpPr>
        <p:spPr>
          <a:xfrm>
            <a:off x="3255332" y="3642435"/>
            <a:ext cx="123567" cy="96208"/>
          </a:xfrm>
          <a:prstGeom prst="rect">
            <a:avLst/>
          </a:prstGeom>
          <a:noFill/>
          <a:ln/>
        </p:spPr>
        <p:txBody>
          <a:bodyPr wrap="none" lIns="12828" tIns="12828" rIns="12828" bIns="12828" rtlCol="0" anchor="t">
            <a:normAutofit/>
          </a:bodyPr>
          <a:lstStyle/>
          <a:p>
            <a:r>
              <a:rPr lang="en-US" sz="416" b="1" dirty="0">
                <a:solidFill>
                  <a:srgbClr val="4B5563"/>
                </a:solidFill>
                <a:latin typeface="Noto Sans KR" pitchFamily="34" charset="0"/>
                <a:ea typeface="Noto Sans KR" pitchFamily="34" charset="-122"/>
                <a:cs typeface="Noto Sans KR" pitchFamily="34" charset="-120"/>
              </a:rPr>
              <a:t>yes</a:t>
            </a:r>
            <a:endParaRPr lang="en-US" sz="416" dirty="0"/>
          </a:p>
        </p:txBody>
      </p:sp>
      <p:sp>
        <p:nvSpPr>
          <p:cNvPr id="5" name="Shape 2"/>
          <p:cNvSpPr/>
          <p:nvPr/>
        </p:nvSpPr>
        <p:spPr>
          <a:xfrm>
            <a:off x="3891017" y="3344192"/>
            <a:ext cx="124017" cy="86586"/>
          </a:xfrm>
          <a:prstGeom prst="roundRect">
            <a:avLst>
              <a:gd name="adj" fmla="val 22222"/>
            </a:avLst>
          </a:prstGeom>
          <a:solidFill>
            <a:srgbClr val="FFFFFF">
              <a:alpha val="92000"/>
            </a:srgbClr>
          </a:solidFill>
          <a:ln/>
        </p:spPr>
        <p:txBody>
          <a:bodyPr/>
          <a:lstStyle/>
          <a:p>
            <a:endParaRPr lang="ko-KR" altLang="en-US" sz="909"/>
          </a:p>
        </p:txBody>
      </p:sp>
      <p:sp>
        <p:nvSpPr>
          <p:cNvPr id="6" name="Text 3"/>
          <p:cNvSpPr/>
          <p:nvPr/>
        </p:nvSpPr>
        <p:spPr>
          <a:xfrm>
            <a:off x="3919880" y="3349002"/>
            <a:ext cx="104776" cy="96208"/>
          </a:xfrm>
          <a:prstGeom prst="rect">
            <a:avLst/>
          </a:prstGeom>
          <a:noFill/>
          <a:ln/>
        </p:spPr>
        <p:txBody>
          <a:bodyPr wrap="none" lIns="12828" tIns="12828" rIns="12828" bIns="12828" rtlCol="0" anchor="t">
            <a:normAutofit/>
          </a:bodyPr>
          <a:lstStyle/>
          <a:p>
            <a:r>
              <a:rPr lang="en-US" sz="416" b="1" dirty="0">
                <a:solidFill>
                  <a:srgbClr val="4B5563"/>
                </a:solidFill>
                <a:latin typeface="Noto Sans KR" pitchFamily="34" charset="0"/>
                <a:ea typeface="Noto Sans KR" pitchFamily="34" charset="-122"/>
                <a:cs typeface="Noto Sans KR" pitchFamily="34" charset="-120"/>
              </a:rPr>
              <a:t>no</a:t>
            </a:r>
            <a:endParaRPr lang="en-US" sz="416" dirty="0"/>
          </a:p>
        </p:txBody>
      </p:sp>
      <p:sp>
        <p:nvSpPr>
          <p:cNvPr id="7" name="Shape 4"/>
          <p:cNvSpPr/>
          <p:nvPr/>
        </p:nvSpPr>
        <p:spPr>
          <a:xfrm>
            <a:off x="5121760" y="3050758"/>
            <a:ext cx="252470" cy="86586"/>
          </a:xfrm>
          <a:prstGeom prst="roundRect">
            <a:avLst>
              <a:gd name="adj" fmla="val 22222"/>
            </a:avLst>
          </a:prstGeom>
          <a:solidFill>
            <a:srgbClr val="FFFFFF">
              <a:alpha val="92000"/>
            </a:srgbClr>
          </a:solidFill>
          <a:ln/>
        </p:spPr>
        <p:txBody>
          <a:bodyPr/>
          <a:lstStyle/>
          <a:p>
            <a:endParaRPr lang="ko-KR" altLang="en-US" sz="909"/>
          </a:p>
        </p:txBody>
      </p:sp>
      <p:sp>
        <p:nvSpPr>
          <p:cNvPr id="8" name="Text 5"/>
          <p:cNvSpPr/>
          <p:nvPr/>
        </p:nvSpPr>
        <p:spPr>
          <a:xfrm>
            <a:off x="5150623" y="3055569"/>
            <a:ext cx="233228" cy="96208"/>
          </a:xfrm>
          <a:prstGeom prst="rect">
            <a:avLst/>
          </a:prstGeom>
          <a:noFill/>
          <a:ln/>
        </p:spPr>
        <p:txBody>
          <a:bodyPr wrap="none" lIns="12828" tIns="12828" rIns="12828" bIns="12828" rtlCol="0" anchor="t">
            <a:normAutofit/>
          </a:bodyPr>
          <a:lstStyle/>
          <a:p>
            <a:r>
              <a:rPr lang="en-US" sz="416" b="1" dirty="0">
                <a:solidFill>
                  <a:srgbClr val="4B5563"/>
                </a:solidFill>
                <a:latin typeface="Noto Sans KR" pitchFamily="34" charset="0"/>
                <a:ea typeface="Noto Sans KR" pitchFamily="34" charset="-122"/>
                <a:cs typeface="Noto Sans KR" pitchFamily="34" charset="-120"/>
              </a:rPr>
              <a:t>재로그인</a:t>
            </a:r>
            <a:endParaRPr lang="en-US" sz="416" dirty="0"/>
          </a:p>
        </p:txBody>
      </p:sp>
      <p:sp>
        <p:nvSpPr>
          <p:cNvPr id="9" name="Shape 6"/>
          <p:cNvSpPr/>
          <p:nvPr/>
        </p:nvSpPr>
        <p:spPr>
          <a:xfrm>
            <a:off x="2908233" y="1492194"/>
            <a:ext cx="779282" cy="269382"/>
          </a:xfrm>
          <a:prstGeom prst="roundRect">
            <a:avLst>
              <a:gd name="adj" fmla="val 50000"/>
            </a:avLst>
          </a:prstGeom>
          <a:solidFill>
            <a:srgbClr val="1E1B4B"/>
          </a:solidFill>
          <a:ln/>
          <a:effectLst>
            <a:outerShdw blurRad="19050" dist="9525" dir="5400000" algn="bl" rotWithShape="0">
              <a:srgbClr val="101828">
                <a:alpha val="6000"/>
              </a:srgbClr>
            </a:outerShdw>
          </a:effectLst>
        </p:spPr>
        <p:txBody>
          <a:bodyPr/>
          <a:lstStyle/>
          <a:p>
            <a:endParaRPr lang="ko-KR" altLang="en-US" sz="909"/>
          </a:p>
        </p:txBody>
      </p:sp>
      <p:sp>
        <p:nvSpPr>
          <p:cNvPr id="10" name="Text 7"/>
          <p:cNvSpPr/>
          <p:nvPr/>
        </p:nvSpPr>
        <p:spPr>
          <a:xfrm>
            <a:off x="3221472" y="1586861"/>
            <a:ext cx="152805"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FFFFFF"/>
                </a:solidFill>
                <a:latin typeface="Noto Sans KR" pitchFamily="34" charset="0"/>
                <a:ea typeface="Noto Sans KR" pitchFamily="34" charset="-122"/>
                <a:cs typeface="Noto Sans KR" pitchFamily="34" charset="-120"/>
              </a:rPr>
              <a:t>시작</a:t>
            </a:r>
            <a:endParaRPr lang="en-US" sz="492" dirty="0"/>
          </a:p>
        </p:txBody>
      </p:sp>
      <p:sp>
        <p:nvSpPr>
          <p:cNvPr id="11" name="Shape 8"/>
          <p:cNvSpPr/>
          <p:nvPr/>
        </p:nvSpPr>
        <p:spPr>
          <a:xfrm>
            <a:off x="2908233" y="2079061"/>
            <a:ext cx="779282" cy="269382"/>
          </a:xfrm>
          <a:prstGeom prst="roundRect">
            <a:avLst>
              <a:gd name="adj" fmla="val 7143"/>
            </a:avLst>
          </a:prstGeom>
          <a:solidFill>
            <a:srgbClr val="5B4EE8"/>
          </a:solidFill>
          <a:ln/>
          <a:effectLst>
            <a:outerShdw blurRad="19050" dist="9525" dir="5400000" algn="bl" rotWithShape="0">
              <a:srgbClr val="101828">
                <a:alpha val="6000"/>
              </a:srgbClr>
            </a:outerShdw>
          </a:effectLst>
        </p:spPr>
        <p:txBody>
          <a:bodyPr/>
          <a:lstStyle/>
          <a:p>
            <a:endParaRPr lang="ko-KR" altLang="en-US" sz="909"/>
          </a:p>
        </p:txBody>
      </p:sp>
      <p:sp>
        <p:nvSpPr>
          <p:cNvPr id="12" name="Text 9"/>
          <p:cNvSpPr/>
          <p:nvPr/>
        </p:nvSpPr>
        <p:spPr>
          <a:xfrm>
            <a:off x="3127144" y="2173728"/>
            <a:ext cx="341424"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FFFFFF"/>
                </a:solidFill>
                <a:latin typeface="Noto Sans KR" pitchFamily="34" charset="0"/>
                <a:ea typeface="Noto Sans KR" pitchFamily="34" charset="-122"/>
                <a:cs typeface="Noto Sans KR" pitchFamily="34" charset="-120"/>
              </a:rPr>
              <a:t>로그인 화면</a:t>
            </a:r>
            <a:endParaRPr lang="en-US" sz="492" dirty="0"/>
          </a:p>
        </p:txBody>
      </p:sp>
      <p:sp>
        <p:nvSpPr>
          <p:cNvPr id="13" name="Shape 10"/>
          <p:cNvSpPr/>
          <p:nvPr/>
        </p:nvSpPr>
        <p:spPr>
          <a:xfrm>
            <a:off x="2908233" y="2665927"/>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14" name="Text 11"/>
          <p:cNvSpPr/>
          <p:nvPr/>
        </p:nvSpPr>
        <p:spPr>
          <a:xfrm>
            <a:off x="3040820" y="2760595"/>
            <a:ext cx="514072"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일반 / 소셜 로그인</a:t>
            </a:r>
            <a:endParaRPr lang="en-US" sz="492" dirty="0"/>
          </a:p>
        </p:txBody>
      </p:sp>
      <p:sp>
        <p:nvSpPr>
          <p:cNvPr id="15" name="Shape 12"/>
          <p:cNvSpPr/>
          <p:nvPr/>
        </p:nvSpPr>
        <p:spPr>
          <a:xfrm>
            <a:off x="2937096" y="3175828"/>
            <a:ext cx="721557" cy="423314"/>
          </a:xfrm>
          <a:prstGeom prst="rect">
            <a:avLst/>
          </a:prstGeom>
          <a:solidFill>
            <a:srgbClr val="F5B96B"/>
          </a:solidFill>
          <a:ln/>
        </p:spPr>
        <p:txBody>
          <a:bodyPr/>
          <a:lstStyle/>
          <a:p>
            <a:endParaRPr lang="ko-KR" altLang="en-US" sz="909"/>
          </a:p>
        </p:txBody>
      </p:sp>
      <p:sp>
        <p:nvSpPr>
          <p:cNvPr id="16" name="Text 13"/>
          <p:cNvSpPr/>
          <p:nvPr/>
        </p:nvSpPr>
        <p:spPr>
          <a:xfrm>
            <a:off x="3062166" y="3303303"/>
            <a:ext cx="471417" cy="187605"/>
          </a:xfrm>
          <a:prstGeom prst="rect">
            <a:avLst/>
          </a:prstGeom>
          <a:noFill/>
          <a:ln/>
        </p:spPr>
        <p:txBody>
          <a:bodyPr wrap="square" lIns="12828" tIns="12828" rIns="12828" bIns="12828" rtlCol="0" anchor="t">
            <a:normAutofit/>
          </a:bodyPr>
          <a:lstStyle/>
          <a:p>
            <a:pPr algn="ctr"/>
            <a:r>
              <a:rPr lang="en-US" sz="454" b="1" kern="0" spc="-3" dirty="0">
                <a:solidFill>
                  <a:srgbClr val="6B3D0E"/>
                </a:solidFill>
                <a:latin typeface="Noto Sans KR" pitchFamily="34" charset="0"/>
                <a:ea typeface="Noto Sans KR" pitchFamily="34" charset="-122"/>
                <a:cs typeface="Noto Sans KR" pitchFamily="34" charset="-120"/>
              </a:rPr>
              <a:t>역할 확인 (RBAC)</a:t>
            </a:r>
            <a:endParaRPr lang="en-US" sz="454" dirty="0"/>
          </a:p>
        </p:txBody>
      </p:sp>
      <p:sp>
        <p:nvSpPr>
          <p:cNvPr id="17" name="Shape 14"/>
          <p:cNvSpPr/>
          <p:nvPr/>
        </p:nvSpPr>
        <p:spPr>
          <a:xfrm>
            <a:off x="4247436" y="3252794"/>
            <a:ext cx="779282" cy="269382"/>
          </a:xfrm>
          <a:prstGeom prst="roundRect">
            <a:avLst>
              <a:gd name="adj" fmla="val 7143"/>
            </a:avLst>
          </a:prstGeom>
          <a:solidFill>
            <a:srgbClr val="F4B6B6"/>
          </a:solidFill>
          <a:ln/>
          <a:effectLst>
            <a:outerShdw blurRad="19050" dist="9525" dir="5400000" algn="bl" rotWithShape="0">
              <a:srgbClr val="101828">
                <a:alpha val="6000"/>
              </a:srgbClr>
            </a:outerShdw>
          </a:effectLst>
        </p:spPr>
        <p:txBody>
          <a:bodyPr/>
          <a:lstStyle/>
          <a:p>
            <a:endParaRPr lang="ko-KR" altLang="en-US" sz="909"/>
          </a:p>
        </p:txBody>
      </p:sp>
      <p:sp>
        <p:nvSpPr>
          <p:cNvPr id="18" name="Text 15"/>
          <p:cNvSpPr/>
          <p:nvPr/>
        </p:nvSpPr>
        <p:spPr>
          <a:xfrm>
            <a:off x="4494945" y="3347461"/>
            <a:ext cx="284263"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8F2020"/>
                </a:solidFill>
                <a:latin typeface="Noto Sans KR" pitchFamily="34" charset="0"/>
                <a:ea typeface="Noto Sans KR" pitchFamily="34" charset="-122"/>
                <a:cs typeface="Noto Sans KR" pitchFamily="34" charset="-120"/>
              </a:rPr>
              <a:t>접근 거부</a:t>
            </a:r>
            <a:endParaRPr lang="en-US" sz="492" dirty="0"/>
          </a:p>
        </p:txBody>
      </p:sp>
      <p:sp>
        <p:nvSpPr>
          <p:cNvPr id="19" name="Shape 16"/>
          <p:cNvSpPr/>
          <p:nvPr/>
        </p:nvSpPr>
        <p:spPr>
          <a:xfrm>
            <a:off x="4247436" y="3839660"/>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20" name="Text 17"/>
          <p:cNvSpPr/>
          <p:nvPr/>
        </p:nvSpPr>
        <p:spPr>
          <a:xfrm>
            <a:off x="4363486" y="3934328"/>
            <a:ext cx="547143"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접근 실패 감사 로그</a:t>
            </a:r>
            <a:endParaRPr lang="en-US" sz="492" dirty="0"/>
          </a:p>
        </p:txBody>
      </p:sp>
      <p:sp>
        <p:nvSpPr>
          <p:cNvPr id="21" name="Shape 18"/>
          <p:cNvSpPr/>
          <p:nvPr/>
        </p:nvSpPr>
        <p:spPr>
          <a:xfrm>
            <a:off x="3801047" y="4426527"/>
            <a:ext cx="779282" cy="269382"/>
          </a:xfrm>
          <a:prstGeom prst="roundRect">
            <a:avLst>
              <a:gd name="adj" fmla="val 7143"/>
            </a:avLst>
          </a:prstGeom>
          <a:solidFill>
            <a:srgbClr val="5B4EE8"/>
          </a:solidFill>
          <a:ln/>
          <a:effectLst>
            <a:outerShdw blurRad="19050" dist="9525" dir="5400000" algn="bl" rotWithShape="0">
              <a:srgbClr val="101828">
                <a:alpha val="6000"/>
              </a:srgbClr>
            </a:outerShdw>
          </a:effectLst>
        </p:spPr>
        <p:txBody>
          <a:bodyPr/>
          <a:lstStyle/>
          <a:p>
            <a:endParaRPr lang="ko-KR" altLang="en-US" sz="909"/>
          </a:p>
        </p:txBody>
      </p:sp>
      <p:sp>
        <p:nvSpPr>
          <p:cNvPr id="22" name="Text 19"/>
          <p:cNvSpPr/>
          <p:nvPr/>
        </p:nvSpPr>
        <p:spPr>
          <a:xfrm>
            <a:off x="3962797" y="4521194"/>
            <a:ext cx="455746"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FFFFFF"/>
                </a:solidFill>
                <a:latin typeface="Noto Sans KR" pitchFamily="34" charset="0"/>
                <a:ea typeface="Noto Sans KR" pitchFamily="34" charset="-122"/>
                <a:cs typeface="Noto Sans KR" pitchFamily="34" charset="-120"/>
              </a:rPr>
              <a:t>관리자 대시보드</a:t>
            </a:r>
            <a:endParaRPr lang="en-US" sz="492" dirty="0"/>
          </a:p>
        </p:txBody>
      </p:sp>
      <p:sp>
        <p:nvSpPr>
          <p:cNvPr id="23" name="Shape 20"/>
          <p:cNvSpPr/>
          <p:nvPr/>
        </p:nvSpPr>
        <p:spPr>
          <a:xfrm>
            <a:off x="2127035" y="5013393"/>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24" name="Text 21"/>
          <p:cNvSpPr/>
          <p:nvPr/>
        </p:nvSpPr>
        <p:spPr>
          <a:xfrm>
            <a:off x="2308815" y="5108061"/>
            <a:ext cx="415722"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전체 운영 요약</a:t>
            </a:r>
            <a:endParaRPr lang="en-US" sz="492" dirty="0"/>
          </a:p>
        </p:txBody>
      </p:sp>
      <p:sp>
        <p:nvSpPr>
          <p:cNvPr id="25" name="Shape 22"/>
          <p:cNvSpPr/>
          <p:nvPr/>
        </p:nvSpPr>
        <p:spPr>
          <a:xfrm>
            <a:off x="3243043" y="5013393"/>
            <a:ext cx="779282" cy="269382"/>
          </a:xfrm>
          <a:prstGeom prst="roundRect">
            <a:avLst>
              <a:gd name="adj" fmla="val 7143"/>
            </a:avLst>
          </a:prstGeom>
          <a:solidFill>
            <a:srgbClr val="DAD7F7"/>
          </a:solidFill>
          <a:ln/>
          <a:effectLst>
            <a:outerShdw blurRad="19050" dist="9525" dir="5400000" algn="bl" rotWithShape="0">
              <a:srgbClr val="101828">
                <a:alpha val="6000"/>
              </a:srgbClr>
            </a:outerShdw>
          </a:effectLst>
        </p:spPr>
        <p:txBody>
          <a:bodyPr/>
          <a:lstStyle/>
          <a:p>
            <a:endParaRPr lang="ko-KR" altLang="en-US" sz="909"/>
          </a:p>
        </p:txBody>
      </p:sp>
      <p:sp>
        <p:nvSpPr>
          <p:cNvPr id="26" name="Text 23"/>
          <p:cNvSpPr/>
          <p:nvPr/>
        </p:nvSpPr>
        <p:spPr>
          <a:xfrm>
            <a:off x="3396224" y="5108061"/>
            <a:ext cx="472883"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443C86"/>
                </a:solidFill>
                <a:latin typeface="Noto Sans KR" pitchFamily="34" charset="0"/>
                <a:ea typeface="Noto Sans KR" pitchFamily="34" charset="-122"/>
                <a:cs typeface="Noto Sans KR" pitchFamily="34" charset="-120"/>
              </a:rPr>
              <a:t>최근 위험 배터리</a:t>
            </a:r>
            <a:endParaRPr lang="en-US" sz="492" dirty="0"/>
          </a:p>
        </p:txBody>
      </p:sp>
      <p:sp>
        <p:nvSpPr>
          <p:cNvPr id="27" name="Shape 24"/>
          <p:cNvSpPr/>
          <p:nvPr/>
        </p:nvSpPr>
        <p:spPr>
          <a:xfrm>
            <a:off x="4359052" y="5013393"/>
            <a:ext cx="779282" cy="269382"/>
          </a:xfrm>
          <a:prstGeom prst="roundRect">
            <a:avLst>
              <a:gd name="adj" fmla="val 7143"/>
            </a:avLst>
          </a:prstGeom>
          <a:solidFill>
            <a:srgbClr val="DAD7F7"/>
          </a:solidFill>
          <a:ln/>
          <a:effectLst>
            <a:outerShdw blurRad="19050" dist="9525" dir="5400000" algn="bl" rotWithShape="0">
              <a:srgbClr val="101828">
                <a:alpha val="6000"/>
              </a:srgbClr>
            </a:outerShdw>
          </a:effectLst>
        </p:spPr>
        <p:txBody>
          <a:bodyPr/>
          <a:lstStyle/>
          <a:p>
            <a:endParaRPr lang="ko-KR" altLang="en-US" sz="909"/>
          </a:p>
        </p:txBody>
      </p:sp>
      <p:sp>
        <p:nvSpPr>
          <p:cNvPr id="28" name="Text 25"/>
          <p:cNvSpPr/>
          <p:nvPr/>
        </p:nvSpPr>
        <p:spPr>
          <a:xfrm>
            <a:off x="4415460" y="5108061"/>
            <a:ext cx="666429"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443C86"/>
                </a:solidFill>
                <a:latin typeface="Noto Sans KR" pitchFamily="34" charset="0"/>
                <a:ea typeface="Noto Sans KR" pitchFamily="34" charset="-122"/>
                <a:cs typeface="Noto Sans KR" pitchFamily="34" charset="-120"/>
              </a:rPr>
              <a:t>최근 오프라인 디바이스</a:t>
            </a:r>
            <a:endParaRPr lang="en-US" sz="492" dirty="0"/>
          </a:p>
        </p:txBody>
      </p:sp>
      <p:sp>
        <p:nvSpPr>
          <p:cNvPr id="29" name="Shape 26"/>
          <p:cNvSpPr/>
          <p:nvPr/>
        </p:nvSpPr>
        <p:spPr>
          <a:xfrm>
            <a:off x="5475060" y="5013393"/>
            <a:ext cx="779282" cy="269382"/>
          </a:xfrm>
          <a:prstGeom prst="roundRect">
            <a:avLst>
              <a:gd name="adj" fmla="val 7143"/>
            </a:avLst>
          </a:prstGeom>
          <a:solidFill>
            <a:srgbClr val="DAD7F7"/>
          </a:solidFill>
          <a:ln/>
          <a:effectLst>
            <a:outerShdw blurRad="19050" dist="9525" dir="5400000" algn="bl" rotWithShape="0">
              <a:srgbClr val="101828">
                <a:alpha val="6000"/>
              </a:srgbClr>
            </a:outerShdw>
          </a:effectLst>
        </p:spPr>
        <p:txBody>
          <a:bodyPr/>
          <a:lstStyle/>
          <a:p>
            <a:endParaRPr lang="ko-KR" altLang="en-US" sz="909"/>
          </a:p>
        </p:txBody>
      </p:sp>
      <p:sp>
        <p:nvSpPr>
          <p:cNvPr id="30" name="Text 27"/>
          <p:cNvSpPr/>
          <p:nvPr/>
        </p:nvSpPr>
        <p:spPr>
          <a:xfrm>
            <a:off x="5562550" y="5108061"/>
            <a:ext cx="604304"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443C86"/>
                </a:solidFill>
                <a:latin typeface="Noto Sans KR" pitchFamily="34" charset="0"/>
                <a:ea typeface="Noto Sans KR" pitchFamily="34" charset="-122"/>
                <a:cs typeface="Noto Sans KR" pitchFamily="34" charset="-120"/>
              </a:rPr>
              <a:t>최근 관리자 조작 로그</a:t>
            </a:r>
            <a:endParaRPr lang="en-US" sz="492" dirty="0"/>
          </a:p>
        </p:txBody>
      </p:sp>
      <p:sp>
        <p:nvSpPr>
          <p:cNvPr id="31" name="Shape 28"/>
          <p:cNvSpPr/>
          <p:nvPr/>
        </p:nvSpPr>
        <p:spPr>
          <a:xfrm>
            <a:off x="2127035" y="5512207"/>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32" name="Text 29"/>
          <p:cNvSpPr/>
          <p:nvPr/>
        </p:nvSpPr>
        <p:spPr>
          <a:xfrm>
            <a:off x="2374545" y="5606875"/>
            <a:ext cx="284263"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유저 관리</a:t>
            </a:r>
            <a:endParaRPr lang="en-US" sz="492" dirty="0"/>
          </a:p>
        </p:txBody>
      </p:sp>
      <p:sp>
        <p:nvSpPr>
          <p:cNvPr id="33" name="Shape 30"/>
          <p:cNvSpPr/>
          <p:nvPr/>
        </p:nvSpPr>
        <p:spPr>
          <a:xfrm>
            <a:off x="3243043" y="5512207"/>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34" name="Text 31"/>
          <p:cNvSpPr/>
          <p:nvPr/>
        </p:nvSpPr>
        <p:spPr>
          <a:xfrm>
            <a:off x="3461954" y="5606875"/>
            <a:ext cx="341424"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배터리 관리</a:t>
            </a:r>
            <a:endParaRPr lang="en-US" sz="492" dirty="0"/>
          </a:p>
        </p:txBody>
      </p:sp>
      <p:sp>
        <p:nvSpPr>
          <p:cNvPr id="35" name="Shape 32"/>
          <p:cNvSpPr/>
          <p:nvPr/>
        </p:nvSpPr>
        <p:spPr>
          <a:xfrm>
            <a:off x="4359052" y="5512207"/>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36" name="Text 33"/>
          <p:cNvSpPr/>
          <p:nvPr/>
        </p:nvSpPr>
        <p:spPr>
          <a:xfrm>
            <a:off x="4539930" y="5606875"/>
            <a:ext cx="417526"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디바이스·헬스</a:t>
            </a:r>
            <a:endParaRPr lang="en-US" sz="492" dirty="0"/>
          </a:p>
        </p:txBody>
      </p:sp>
      <p:sp>
        <p:nvSpPr>
          <p:cNvPr id="37" name="Shape 34"/>
          <p:cNvSpPr/>
          <p:nvPr/>
        </p:nvSpPr>
        <p:spPr>
          <a:xfrm>
            <a:off x="5475060" y="5512207"/>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38" name="Text 35"/>
          <p:cNvSpPr/>
          <p:nvPr/>
        </p:nvSpPr>
        <p:spPr>
          <a:xfrm>
            <a:off x="5722569" y="5606875"/>
            <a:ext cx="284263"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공지 관리</a:t>
            </a:r>
            <a:endParaRPr lang="en-US" sz="492" dirty="0"/>
          </a:p>
        </p:txBody>
      </p:sp>
      <p:sp>
        <p:nvSpPr>
          <p:cNvPr id="39" name="Shape 36"/>
          <p:cNvSpPr/>
          <p:nvPr/>
        </p:nvSpPr>
        <p:spPr>
          <a:xfrm>
            <a:off x="6479453" y="5512207"/>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40" name="Text 37"/>
          <p:cNvSpPr/>
          <p:nvPr/>
        </p:nvSpPr>
        <p:spPr>
          <a:xfrm>
            <a:off x="6726962" y="5606875"/>
            <a:ext cx="284263"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감사 로그</a:t>
            </a:r>
            <a:endParaRPr lang="en-US" sz="492" dirty="0"/>
          </a:p>
        </p:txBody>
      </p:sp>
      <p:sp>
        <p:nvSpPr>
          <p:cNvPr id="45" name="직사각형 44">
            <a:extLst>
              <a:ext uri="{FF2B5EF4-FFF2-40B4-BE49-F238E27FC236}">
                <a16:creationId xmlns:a16="http://schemas.microsoft.com/office/drawing/2014/main" id="{B125CF21-C239-A29A-528C-E470A18D1F9F}"/>
              </a:ext>
            </a:extLst>
          </p:cNvPr>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6" name="직선 연결선 16">
            <a:extLst>
              <a:ext uri="{FF2B5EF4-FFF2-40B4-BE49-F238E27FC236}">
                <a16:creationId xmlns:a16="http://schemas.microsoft.com/office/drawing/2014/main" id="{C8AB3AB8-9D59-ACA9-A731-F452EE1A3706}"/>
              </a:ext>
            </a:extLst>
          </p:cNvPr>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7" name="직선 연결선 17">
            <a:extLst>
              <a:ext uri="{FF2B5EF4-FFF2-40B4-BE49-F238E27FC236}">
                <a16:creationId xmlns:a16="http://schemas.microsoft.com/office/drawing/2014/main" id="{C2005928-067E-7A18-ECE3-E348AD7EC28B}"/>
              </a:ext>
            </a:extLst>
          </p:cNvPr>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48" name="제목 12">
            <a:extLst>
              <a:ext uri="{FF2B5EF4-FFF2-40B4-BE49-F238E27FC236}">
                <a16:creationId xmlns:a16="http://schemas.microsoft.com/office/drawing/2014/main" id="{4199DDAC-EB89-BA80-F92C-82D07EA2C062}"/>
              </a:ext>
            </a:extLst>
          </p:cNvPr>
          <p:cNvSpPr txBox="1">
            <a:spLocks/>
          </p:cNvSpPr>
          <p:nvPr/>
        </p:nvSpPr>
        <p:spPr>
          <a:xfrm>
            <a:off x="323528" y="692696"/>
            <a:ext cx="2808312"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Flow chart - admin</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49" name="Picture 2">
            <a:extLst>
              <a:ext uri="{FF2B5EF4-FFF2-40B4-BE49-F238E27FC236}">
                <a16:creationId xmlns:a16="http://schemas.microsoft.com/office/drawing/2014/main" id="{456DEE59-6533-A81F-9961-0D897A1739C6}"/>
              </a:ext>
            </a:extLst>
          </p:cNvPr>
          <p:cNvPicPr>
            <a:picLocks noChangeAspect="1" noChangeArrowheads="1"/>
          </p:cNvPicPr>
          <p:nvPr/>
        </p:nvPicPr>
        <p:blipFill>
          <a:blip r:embed="rId4" cstate="print"/>
          <a:srcRect/>
          <a:stretch>
            <a:fillRect/>
          </a:stretch>
        </p:blipFill>
        <p:spPr bwMode="auto">
          <a:xfrm>
            <a:off x="8676456" y="476671"/>
            <a:ext cx="454960" cy="158965"/>
          </a:xfrm>
          <a:prstGeom prst="rect">
            <a:avLst/>
          </a:prstGeom>
          <a:noFill/>
          <a:ln w="9525">
            <a:noFill/>
            <a:miter lim="800000"/>
            <a:headEnd/>
            <a:tailEnd/>
          </a:ln>
        </p:spPr>
      </p:pic>
      <p:sp>
        <p:nvSpPr>
          <p:cNvPr id="50" name="막힌 원호 34">
            <a:extLst>
              <a:ext uri="{FF2B5EF4-FFF2-40B4-BE49-F238E27FC236}">
                <a16:creationId xmlns:a16="http://schemas.microsoft.com/office/drawing/2014/main" id="{CACAF125-DF8B-D0A0-AC4E-A9BE9FAD259F}"/>
              </a:ext>
            </a:extLst>
          </p:cNvPr>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51" name="그림 50">
            <a:extLst>
              <a:ext uri="{FF2B5EF4-FFF2-40B4-BE49-F238E27FC236}">
                <a16:creationId xmlns:a16="http://schemas.microsoft.com/office/drawing/2014/main" id="{F14D3360-EDC2-F456-EAD9-1309798B783C}"/>
              </a:ext>
            </a:extLst>
          </p:cNvPr>
          <p:cNvPicPr>
            <a:picLocks noChangeAspect="1"/>
          </p:cNvPicPr>
          <p:nvPr/>
        </p:nvPicPr>
        <p:blipFill>
          <a:blip r:embed="rId5"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Tree>
    <p:extLst>
      <p:ext uri="{BB962C8B-B14F-4D97-AF65-F5344CB8AC3E}">
        <p14:creationId xmlns:p14="http://schemas.microsoft.com/office/powerpoint/2010/main" val="225885251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36121" y="1484784"/>
            <a:ext cx="7043337" cy="5041279"/>
          </a:xfrm>
          <a:prstGeom prst="rect">
            <a:avLst/>
          </a:prstGeom>
        </p:spPr>
      </p:pic>
      <p:sp>
        <p:nvSpPr>
          <p:cNvPr id="5" name="Shape 2"/>
          <p:cNvSpPr/>
          <p:nvPr/>
        </p:nvSpPr>
        <p:spPr>
          <a:xfrm>
            <a:off x="4616398" y="5034846"/>
            <a:ext cx="155097" cy="86586"/>
          </a:xfrm>
          <a:prstGeom prst="roundRect">
            <a:avLst>
              <a:gd name="adj" fmla="val 22222"/>
            </a:avLst>
          </a:prstGeom>
          <a:solidFill>
            <a:srgbClr val="FFFFFF">
              <a:alpha val="92000"/>
            </a:srgbClr>
          </a:solidFill>
          <a:ln/>
        </p:spPr>
        <p:txBody>
          <a:bodyPr/>
          <a:lstStyle/>
          <a:p>
            <a:endParaRPr lang="ko-KR" altLang="en-US" sz="909"/>
          </a:p>
        </p:txBody>
      </p:sp>
      <p:sp>
        <p:nvSpPr>
          <p:cNvPr id="6" name="Text 3"/>
          <p:cNvSpPr/>
          <p:nvPr/>
        </p:nvSpPr>
        <p:spPr>
          <a:xfrm>
            <a:off x="4645261" y="5039656"/>
            <a:ext cx="135856" cy="96208"/>
          </a:xfrm>
          <a:prstGeom prst="rect">
            <a:avLst/>
          </a:prstGeom>
          <a:noFill/>
          <a:ln/>
        </p:spPr>
        <p:txBody>
          <a:bodyPr wrap="none" lIns="12828" tIns="12828" rIns="12828" bIns="12828" rtlCol="0" anchor="t">
            <a:normAutofit/>
          </a:bodyPr>
          <a:lstStyle/>
          <a:p>
            <a:r>
              <a:rPr lang="en-US" sz="416" b="1" dirty="0">
                <a:solidFill>
                  <a:srgbClr val="4B5563"/>
                </a:solidFill>
                <a:latin typeface="Noto Sans KR" pitchFamily="34" charset="0"/>
                <a:ea typeface="Noto Sans KR" pitchFamily="34" charset="-122"/>
                <a:cs typeface="Noto Sans KR" pitchFamily="34" charset="-120"/>
              </a:rPr>
              <a:t>확인</a:t>
            </a:r>
            <a:endParaRPr lang="en-US" sz="416" dirty="0"/>
          </a:p>
        </p:txBody>
      </p:sp>
      <p:sp>
        <p:nvSpPr>
          <p:cNvPr id="7" name="Shape 4"/>
          <p:cNvSpPr/>
          <p:nvPr/>
        </p:nvSpPr>
        <p:spPr>
          <a:xfrm>
            <a:off x="3746300" y="1715682"/>
            <a:ext cx="779282" cy="269382"/>
          </a:xfrm>
          <a:prstGeom prst="roundRect">
            <a:avLst>
              <a:gd name="adj" fmla="val 7143"/>
            </a:avLst>
          </a:prstGeom>
          <a:solidFill>
            <a:srgbClr val="5B4EE8"/>
          </a:solidFill>
          <a:ln/>
          <a:effectLst>
            <a:outerShdw blurRad="19050" dist="9525" dir="5400000" algn="bl" rotWithShape="0">
              <a:srgbClr val="101828">
                <a:alpha val="6000"/>
              </a:srgbClr>
            </a:outerShdw>
          </a:effectLst>
        </p:spPr>
        <p:txBody>
          <a:bodyPr/>
          <a:lstStyle/>
          <a:p>
            <a:endParaRPr lang="ko-KR" altLang="en-US" sz="909"/>
          </a:p>
        </p:txBody>
      </p:sp>
      <p:sp>
        <p:nvSpPr>
          <p:cNvPr id="8" name="Text 5"/>
          <p:cNvSpPr/>
          <p:nvPr/>
        </p:nvSpPr>
        <p:spPr>
          <a:xfrm>
            <a:off x="3965211" y="1810349"/>
            <a:ext cx="341424"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FFFFFF"/>
                </a:solidFill>
                <a:latin typeface="Noto Sans KR" pitchFamily="34" charset="0"/>
                <a:ea typeface="Noto Sans KR" pitchFamily="34" charset="-122"/>
                <a:cs typeface="Noto Sans KR" pitchFamily="34" charset="-120"/>
              </a:rPr>
              <a:t>배터리 목록</a:t>
            </a:r>
            <a:endParaRPr lang="en-US" sz="492" dirty="0"/>
          </a:p>
        </p:txBody>
      </p:sp>
      <p:sp>
        <p:nvSpPr>
          <p:cNvPr id="9" name="Shape 6"/>
          <p:cNvSpPr/>
          <p:nvPr/>
        </p:nvSpPr>
        <p:spPr>
          <a:xfrm>
            <a:off x="3188297" y="2302548"/>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10" name="Text 7"/>
          <p:cNvSpPr/>
          <p:nvPr/>
        </p:nvSpPr>
        <p:spPr>
          <a:xfrm>
            <a:off x="3320883" y="2397215"/>
            <a:ext cx="514072"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배터리 검색 / 필터</a:t>
            </a:r>
            <a:endParaRPr lang="en-US" sz="492" dirty="0"/>
          </a:p>
        </p:txBody>
      </p:sp>
      <p:sp>
        <p:nvSpPr>
          <p:cNvPr id="11" name="Shape 8"/>
          <p:cNvSpPr/>
          <p:nvPr/>
        </p:nvSpPr>
        <p:spPr>
          <a:xfrm>
            <a:off x="3746300" y="2889415"/>
            <a:ext cx="779282" cy="269382"/>
          </a:xfrm>
          <a:prstGeom prst="roundRect">
            <a:avLst>
              <a:gd name="adj" fmla="val 7143"/>
            </a:avLst>
          </a:prstGeom>
          <a:solidFill>
            <a:srgbClr val="DAD7F7"/>
          </a:solidFill>
          <a:ln/>
          <a:effectLst>
            <a:outerShdw blurRad="19050" dist="9525" dir="5400000" algn="bl" rotWithShape="0">
              <a:srgbClr val="101828">
                <a:alpha val="6000"/>
              </a:srgbClr>
            </a:outerShdw>
          </a:effectLst>
        </p:spPr>
        <p:txBody>
          <a:bodyPr/>
          <a:lstStyle/>
          <a:p>
            <a:endParaRPr lang="ko-KR" altLang="en-US" sz="909"/>
          </a:p>
        </p:txBody>
      </p:sp>
      <p:sp>
        <p:nvSpPr>
          <p:cNvPr id="12" name="Text 9"/>
          <p:cNvSpPr/>
          <p:nvPr/>
        </p:nvSpPr>
        <p:spPr>
          <a:xfrm>
            <a:off x="3965211" y="2984083"/>
            <a:ext cx="341424"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443C86"/>
                </a:solidFill>
                <a:latin typeface="Noto Sans KR" pitchFamily="34" charset="0"/>
                <a:ea typeface="Noto Sans KR" pitchFamily="34" charset="-122"/>
                <a:cs typeface="Noto Sans KR" pitchFamily="34" charset="-120"/>
              </a:rPr>
              <a:t>배터리 상세</a:t>
            </a:r>
            <a:endParaRPr lang="en-US" sz="492" dirty="0"/>
          </a:p>
        </p:txBody>
      </p:sp>
      <p:sp>
        <p:nvSpPr>
          <p:cNvPr id="13" name="Shape 10"/>
          <p:cNvSpPr/>
          <p:nvPr/>
        </p:nvSpPr>
        <p:spPr>
          <a:xfrm>
            <a:off x="3188297" y="3476281"/>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14" name="Text 11"/>
          <p:cNvSpPr/>
          <p:nvPr/>
        </p:nvSpPr>
        <p:spPr>
          <a:xfrm>
            <a:off x="3370077" y="3566477"/>
            <a:ext cx="415722" cy="108234"/>
          </a:xfrm>
          <a:prstGeom prst="rect">
            <a:avLst/>
          </a:prstGeom>
          <a:noFill/>
          <a:ln/>
        </p:spPr>
        <p:txBody>
          <a:bodyPr wrap="square" lIns="12828" tIns="12828" rIns="12828" bIns="12828" rtlCol="0" anchor="t">
            <a:normAutofit fontScale="85000" lnSpcReduction="10000"/>
          </a:bodyPr>
          <a:lstStyle/>
          <a:p>
            <a:pPr algn="ctr"/>
            <a:r>
              <a:rPr lang="en-US" sz="492" b="1" kern="0" spc="-3" dirty="0">
                <a:solidFill>
                  <a:srgbClr val="14603A"/>
                </a:solidFill>
                <a:latin typeface="Noto Sans KR" pitchFamily="34" charset="0"/>
                <a:ea typeface="Noto Sans KR" pitchFamily="34" charset="-122"/>
                <a:cs typeface="Noto Sans KR" pitchFamily="34" charset="-120"/>
              </a:rPr>
              <a:t>운영 상태 선택</a:t>
            </a:r>
            <a:endParaRPr lang="en-US" sz="492" dirty="0"/>
          </a:p>
        </p:txBody>
      </p:sp>
      <p:sp>
        <p:nvSpPr>
          <p:cNvPr id="15" name="Shape 12"/>
          <p:cNvSpPr/>
          <p:nvPr/>
        </p:nvSpPr>
        <p:spPr>
          <a:xfrm>
            <a:off x="4304305" y="3476281"/>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16" name="Text 13"/>
          <p:cNvSpPr/>
          <p:nvPr/>
        </p:nvSpPr>
        <p:spPr>
          <a:xfrm>
            <a:off x="4457486" y="3570949"/>
            <a:ext cx="472883"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관리자 메모 입력</a:t>
            </a:r>
            <a:endParaRPr lang="en-US" sz="492" dirty="0"/>
          </a:p>
        </p:txBody>
      </p:sp>
      <p:sp>
        <p:nvSpPr>
          <p:cNvPr id="17" name="Shape 14"/>
          <p:cNvSpPr/>
          <p:nvPr/>
        </p:nvSpPr>
        <p:spPr>
          <a:xfrm>
            <a:off x="3188297" y="4063148"/>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18" name="Text 15"/>
          <p:cNvSpPr/>
          <p:nvPr/>
        </p:nvSpPr>
        <p:spPr>
          <a:xfrm>
            <a:off x="3284580" y="4157816"/>
            <a:ext cx="586716"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BLOCKED 사유 입력</a:t>
            </a:r>
            <a:endParaRPr lang="en-US" sz="492" dirty="0"/>
          </a:p>
        </p:txBody>
      </p:sp>
      <p:sp>
        <p:nvSpPr>
          <p:cNvPr id="19" name="Shape 16"/>
          <p:cNvSpPr/>
          <p:nvPr/>
        </p:nvSpPr>
        <p:spPr>
          <a:xfrm>
            <a:off x="4304305" y="4650014"/>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20" name="Text 17"/>
          <p:cNvSpPr/>
          <p:nvPr/>
        </p:nvSpPr>
        <p:spPr>
          <a:xfrm>
            <a:off x="4551815" y="4744682"/>
            <a:ext cx="284263"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변경 확인</a:t>
            </a:r>
            <a:endParaRPr lang="en-US" sz="492" dirty="0"/>
          </a:p>
        </p:txBody>
      </p:sp>
      <p:sp>
        <p:nvSpPr>
          <p:cNvPr id="21" name="Shape 18"/>
          <p:cNvSpPr/>
          <p:nvPr/>
        </p:nvSpPr>
        <p:spPr>
          <a:xfrm>
            <a:off x="4304305" y="5236881"/>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22" name="Text 19"/>
          <p:cNvSpPr/>
          <p:nvPr/>
        </p:nvSpPr>
        <p:spPr>
          <a:xfrm>
            <a:off x="4399762" y="5331549"/>
            <a:ext cx="588332"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운영 상태 / 메모 저장</a:t>
            </a:r>
            <a:endParaRPr lang="en-US" sz="492" dirty="0"/>
          </a:p>
        </p:txBody>
      </p:sp>
      <p:sp>
        <p:nvSpPr>
          <p:cNvPr id="23" name="Shape 20"/>
          <p:cNvSpPr/>
          <p:nvPr/>
        </p:nvSpPr>
        <p:spPr>
          <a:xfrm>
            <a:off x="4304305" y="5823747"/>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24" name="Text 21"/>
          <p:cNvSpPr/>
          <p:nvPr/>
        </p:nvSpPr>
        <p:spPr>
          <a:xfrm>
            <a:off x="4486085" y="5918415"/>
            <a:ext cx="415722"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감사 로그 기록</a:t>
            </a:r>
            <a:endParaRPr lang="en-US" sz="492" dirty="0"/>
          </a:p>
        </p:txBody>
      </p:sp>
      <p:sp>
        <p:nvSpPr>
          <p:cNvPr id="25" name="Shape 22"/>
          <p:cNvSpPr/>
          <p:nvPr/>
        </p:nvSpPr>
        <p:spPr>
          <a:xfrm>
            <a:off x="7205904" y="1715682"/>
            <a:ext cx="779282" cy="269382"/>
          </a:xfrm>
          <a:prstGeom prst="roundRect">
            <a:avLst>
              <a:gd name="adj" fmla="val 7143"/>
            </a:avLst>
          </a:prstGeom>
          <a:solidFill>
            <a:srgbClr val="5B4EE8"/>
          </a:solidFill>
          <a:ln/>
          <a:effectLst>
            <a:outerShdw blurRad="19050" dist="9525" dir="5400000" algn="bl" rotWithShape="0">
              <a:srgbClr val="101828">
                <a:alpha val="6000"/>
              </a:srgbClr>
            </a:outerShdw>
          </a:effectLst>
        </p:spPr>
        <p:txBody>
          <a:bodyPr/>
          <a:lstStyle/>
          <a:p>
            <a:endParaRPr lang="ko-KR" altLang="en-US" sz="909"/>
          </a:p>
        </p:txBody>
      </p:sp>
      <p:sp>
        <p:nvSpPr>
          <p:cNvPr id="26" name="Text 23"/>
          <p:cNvSpPr/>
          <p:nvPr/>
        </p:nvSpPr>
        <p:spPr>
          <a:xfrm>
            <a:off x="7280654" y="1810349"/>
            <a:ext cx="629746"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FFFFFF"/>
                </a:solidFill>
                <a:latin typeface="Noto Sans KR" pitchFamily="34" charset="0"/>
                <a:ea typeface="Noto Sans KR" pitchFamily="34" charset="-122"/>
                <a:cs typeface="Noto Sans KR" pitchFamily="34" charset="-120"/>
              </a:rPr>
              <a:t>통계 · 디바이스 · 헬스</a:t>
            </a:r>
            <a:endParaRPr lang="en-US" sz="492" dirty="0"/>
          </a:p>
        </p:txBody>
      </p:sp>
      <p:sp>
        <p:nvSpPr>
          <p:cNvPr id="27" name="Shape 24"/>
          <p:cNvSpPr/>
          <p:nvPr/>
        </p:nvSpPr>
        <p:spPr>
          <a:xfrm>
            <a:off x="6089896" y="2302548"/>
            <a:ext cx="779282" cy="269382"/>
          </a:xfrm>
          <a:prstGeom prst="roundRect">
            <a:avLst>
              <a:gd name="adj" fmla="val 7143"/>
            </a:avLst>
          </a:prstGeom>
          <a:solidFill>
            <a:srgbClr val="DAD7F7"/>
          </a:solidFill>
          <a:ln/>
          <a:effectLst>
            <a:outerShdw blurRad="19050" dist="9525" dir="5400000" algn="bl" rotWithShape="0">
              <a:srgbClr val="101828">
                <a:alpha val="6000"/>
              </a:srgbClr>
            </a:outerShdw>
          </a:effectLst>
        </p:spPr>
        <p:txBody>
          <a:bodyPr/>
          <a:lstStyle/>
          <a:p>
            <a:endParaRPr lang="ko-KR" altLang="en-US" sz="909"/>
          </a:p>
        </p:txBody>
      </p:sp>
      <p:sp>
        <p:nvSpPr>
          <p:cNvPr id="28" name="Text 25"/>
          <p:cNvSpPr/>
          <p:nvPr/>
        </p:nvSpPr>
        <p:spPr>
          <a:xfrm>
            <a:off x="6308806" y="2397215"/>
            <a:ext cx="341424"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443C86"/>
                </a:solidFill>
                <a:latin typeface="Noto Sans KR" pitchFamily="34" charset="0"/>
                <a:ea typeface="Noto Sans KR" pitchFamily="34" charset="-122"/>
                <a:cs typeface="Noto Sans KR" pitchFamily="34" charset="-120"/>
              </a:rPr>
              <a:t>배터리 통계</a:t>
            </a:r>
            <a:endParaRPr lang="en-US" sz="492" dirty="0"/>
          </a:p>
        </p:txBody>
      </p:sp>
      <p:sp>
        <p:nvSpPr>
          <p:cNvPr id="29" name="Shape 26"/>
          <p:cNvSpPr/>
          <p:nvPr/>
        </p:nvSpPr>
        <p:spPr>
          <a:xfrm>
            <a:off x="7205904" y="2302548"/>
            <a:ext cx="779282" cy="269382"/>
          </a:xfrm>
          <a:prstGeom prst="roundRect">
            <a:avLst>
              <a:gd name="adj" fmla="val 7143"/>
            </a:avLst>
          </a:prstGeom>
          <a:solidFill>
            <a:srgbClr val="DAD7F7"/>
          </a:solidFill>
          <a:ln/>
          <a:effectLst>
            <a:outerShdw blurRad="19050" dist="9525" dir="5400000" algn="bl" rotWithShape="0">
              <a:srgbClr val="101828">
                <a:alpha val="6000"/>
              </a:srgbClr>
            </a:outerShdw>
          </a:effectLst>
        </p:spPr>
        <p:txBody>
          <a:bodyPr/>
          <a:lstStyle/>
          <a:p>
            <a:endParaRPr lang="ko-KR" altLang="en-US" sz="909"/>
          </a:p>
        </p:txBody>
      </p:sp>
      <p:sp>
        <p:nvSpPr>
          <p:cNvPr id="30" name="Text 27"/>
          <p:cNvSpPr/>
          <p:nvPr/>
        </p:nvSpPr>
        <p:spPr>
          <a:xfrm>
            <a:off x="7330523" y="2397215"/>
            <a:ext cx="530044"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443C86"/>
                </a:solidFill>
                <a:latin typeface="Noto Sans KR" pitchFamily="34" charset="0"/>
                <a:ea typeface="Noto Sans KR" pitchFamily="34" charset="-122"/>
                <a:cs typeface="Noto Sans KR" pitchFamily="34" charset="-120"/>
              </a:rPr>
              <a:t>디바이스 상태 목록</a:t>
            </a:r>
            <a:endParaRPr lang="en-US" sz="492" dirty="0"/>
          </a:p>
        </p:txBody>
      </p:sp>
      <p:sp>
        <p:nvSpPr>
          <p:cNvPr id="31" name="Shape 28"/>
          <p:cNvSpPr/>
          <p:nvPr/>
        </p:nvSpPr>
        <p:spPr>
          <a:xfrm>
            <a:off x="8321912" y="2302548"/>
            <a:ext cx="779282" cy="269382"/>
          </a:xfrm>
          <a:prstGeom prst="roundRect">
            <a:avLst>
              <a:gd name="adj" fmla="val 7143"/>
            </a:avLst>
          </a:prstGeom>
          <a:solidFill>
            <a:srgbClr val="DAD7F7"/>
          </a:solidFill>
          <a:ln/>
          <a:effectLst>
            <a:outerShdw blurRad="19050" dist="9525" dir="5400000" algn="bl" rotWithShape="0">
              <a:srgbClr val="101828">
                <a:alpha val="6000"/>
              </a:srgbClr>
            </a:outerShdw>
          </a:effectLst>
        </p:spPr>
        <p:txBody>
          <a:bodyPr/>
          <a:lstStyle/>
          <a:p>
            <a:endParaRPr lang="ko-KR" altLang="en-US" sz="909"/>
          </a:p>
        </p:txBody>
      </p:sp>
      <p:sp>
        <p:nvSpPr>
          <p:cNvPr id="32" name="Text 29"/>
          <p:cNvSpPr/>
          <p:nvPr/>
        </p:nvSpPr>
        <p:spPr>
          <a:xfrm>
            <a:off x="8475094" y="2397215"/>
            <a:ext cx="472883"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443C86"/>
                </a:solidFill>
                <a:latin typeface="Noto Sans KR" pitchFamily="34" charset="0"/>
                <a:ea typeface="Noto Sans KR" pitchFamily="34" charset="-122"/>
                <a:cs typeface="Noto Sans KR" pitchFamily="34" charset="-120"/>
              </a:rPr>
              <a:t>시스템 헬스 카드</a:t>
            </a:r>
            <a:endParaRPr lang="en-US" sz="492" dirty="0"/>
          </a:p>
        </p:txBody>
      </p:sp>
      <p:sp>
        <p:nvSpPr>
          <p:cNvPr id="33" name="Shape 30"/>
          <p:cNvSpPr/>
          <p:nvPr/>
        </p:nvSpPr>
        <p:spPr>
          <a:xfrm>
            <a:off x="6089896" y="2889415"/>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34" name="Text 31"/>
          <p:cNvSpPr/>
          <p:nvPr/>
        </p:nvSpPr>
        <p:spPr>
          <a:xfrm>
            <a:off x="6147459" y="2984083"/>
            <a:ext cx="664156"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상태·모드·제조사 분포</a:t>
            </a:r>
            <a:endParaRPr lang="en-US" sz="492" dirty="0"/>
          </a:p>
        </p:txBody>
      </p:sp>
      <p:sp>
        <p:nvSpPr>
          <p:cNvPr id="35" name="Shape 32"/>
          <p:cNvSpPr/>
          <p:nvPr/>
        </p:nvSpPr>
        <p:spPr>
          <a:xfrm>
            <a:off x="6089896" y="3476281"/>
            <a:ext cx="779282" cy="269382"/>
          </a:xfrm>
          <a:prstGeom prst="roundRect">
            <a:avLst>
              <a:gd name="adj" fmla="val 7143"/>
            </a:avLst>
          </a:prstGeom>
          <a:solidFill>
            <a:srgbClr val="DAD7F7"/>
          </a:solidFill>
          <a:ln/>
          <a:effectLst>
            <a:outerShdw blurRad="19050" dist="9525" dir="5400000" algn="bl" rotWithShape="0">
              <a:srgbClr val="101828">
                <a:alpha val="6000"/>
              </a:srgbClr>
            </a:outerShdw>
          </a:effectLst>
        </p:spPr>
        <p:txBody>
          <a:bodyPr/>
          <a:lstStyle/>
          <a:p>
            <a:endParaRPr lang="ko-KR" altLang="en-US" sz="909"/>
          </a:p>
        </p:txBody>
      </p:sp>
      <p:sp>
        <p:nvSpPr>
          <p:cNvPr id="36" name="Text 33"/>
          <p:cNvSpPr/>
          <p:nvPr/>
        </p:nvSpPr>
        <p:spPr>
          <a:xfrm>
            <a:off x="6218349" y="3570949"/>
            <a:ext cx="522378"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443C86"/>
                </a:solidFill>
                <a:latin typeface="Noto Sans KR" pitchFamily="34" charset="0"/>
                <a:ea typeface="Noto Sans KR" pitchFamily="34" charset="-122"/>
                <a:cs typeface="Noto Sans KR" pitchFamily="34" charset="-120"/>
              </a:rPr>
              <a:t>이상 이벤트 Top 5</a:t>
            </a:r>
            <a:endParaRPr lang="en-US" sz="492" dirty="0"/>
          </a:p>
        </p:txBody>
      </p:sp>
      <p:sp>
        <p:nvSpPr>
          <p:cNvPr id="37" name="Shape 34"/>
          <p:cNvSpPr/>
          <p:nvPr/>
        </p:nvSpPr>
        <p:spPr>
          <a:xfrm>
            <a:off x="7205904" y="2889415"/>
            <a:ext cx="779282" cy="269382"/>
          </a:xfrm>
          <a:prstGeom prst="roundRect">
            <a:avLst>
              <a:gd name="adj" fmla="val 7143"/>
            </a:avLst>
          </a:prstGeom>
          <a:solidFill>
            <a:srgbClr val="DAD7F7"/>
          </a:solidFill>
          <a:ln/>
          <a:effectLst>
            <a:outerShdw blurRad="19050" dist="9525" dir="5400000" algn="bl" rotWithShape="0">
              <a:srgbClr val="101828">
                <a:alpha val="6000"/>
              </a:srgbClr>
            </a:outerShdw>
          </a:effectLst>
        </p:spPr>
        <p:txBody>
          <a:bodyPr/>
          <a:lstStyle/>
          <a:p>
            <a:endParaRPr lang="ko-KR" altLang="en-US" sz="909"/>
          </a:p>
        </p:txBody>
      </p:sp>
      <p:sp>
        <p:nvSpPr>
          <p:cNvPr id="38" name="Text 35"/>
          <p:cNvSpPr/>
          <p:nvPr/>
        </p:nvSpPr>
        <p:spPr>
          <a:xfrm>
            <a:off x="7396253" y="2984083"/>
            <a:ext cx="398586"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443C86"/>
                </a:solidFill>
                <a:latin typeface="Noto Sans KR" pitchFamily="34" charset="0"/>
                <a:ea typeface="Noto Sans KR" pitchFamily="34" charset="-122"/>
                <a:cs typeface="Noto Sans KR" pitchFamily="34" charset="-120"/>
              </a:rPr>
              <a:t>디바이스 상세</a:t>
            </a:r>
            <a:endParaRPr lang="en-US" sz="492" dirty="0"/>
          </a:p>
        </p:txBody>
      </p:sp>
      <p:sp>
        <p:nvSpPr>
          <p:cNvPr id="39" name="Shape 36"/>
          <p:cNvSpPr/>
          <p:nvPr/>
        </p:nvSpPr>
        <p:spPr>
          <a:xfrm>
            <a:off x="8321912" y="2889415"/>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40" name="Text 37"/>
          <p:cNvSpPr/>
          <p:nvPr/>
        </p:nvSpPr>
        <p:spPr>
          <a:xfrm>
            <a:off x="8437062" y="2984083"/>
            <a:ext cx="548985"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오프라인·지연 경보</a:t>
            </a:r>
            <a:endParaRPr lang="en-US" sz="492" dirty="0"/>
          </a:p>
        </p:txBody>
      </p:sp>
      <p:pic>
        <p:nvPicPr>
          <p:cNvPr id="41" name="Image 0" descr="preencoded.png">
            <a:extLst>
              <a:ext uri="{FF2B5EF4-FFF2-40B4-BE49-F238E27FC236}">
                <a16:creationId xmlns:a16="http://schemas.microsoft.com/office/drawing/2014/main" id="{63C9898F-8FBB-0711-FB55-42F90E11ED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293" y="1484784"/>
            <a:ext cx="3360502" cy="5041279"/>
          </a:xfrm>
          <a:prstGeom prst="rect">
            <a:avLst/>
          </a:prstGeom>
        </p:spPr>
      </p:pic>
      <p:sp>
        <p:nvSpPr>
          <p:cNvPr id="42" name="Shape 2">
            <a:extLst>
              <a:ext uri="{FF2B5EF4-FFF2-40B4-BE49-F238E27FC236}">
                <a16:creationId xmlns:a16="http://schemas.microsoft.com/office/drawing/2014/main" id="{6B326D5D-0D76-77F1-A356-05C77E650260}"/>
              </a:ext>
            </a:extLst>
          </p:cNvPr>
          <p:cNvSpPr/>
          <p:nvPr/>
        </p:nvSpPr>
        <p:spPr>
          <a:xfrm>
            <a:off x="741975" y="5034846"/>
            <a:ext cx="155097" cy="86586"/>
          </a:xfrm>
          <a:prstGeom prst="roundRect">
            <a:avLst>
              <a:gd name="adj" fmla="val 22222"/>
            </a:avLst>
          </a:prstGeom>
          <a:solidFill>
            <a:srgbClr val="FFFFFF">
              <a:alpha val="92000"/>
            </a:srgbClr>
          </a:solidFill>
          <a:ln/>
        </p:spPr>
        <p:txBody>
          <a:bodyPr/>
          <a:lstStyle/>
          <a:p>
            <a:endParaRPr lang="ko-KR" altLang="en-US" sz="909"/>
          </a:p>
        </p:txBody>
      </p:sp>
      <p:sp>
        <p:nvSpPr>
          <p:cNvPr id="43" name="Text 3">
            <a:extLst>
              <a:ext uri="{FF2B5EF4-FFF2-40B4-BE49-F238E27FC236}">
                <a16:creationId xmlns:a16="http://schemas.microsoft.com/office/drawing/2014/main" id="{E665E2E7-AB75-D81A-37D9-774973DF4C76}"/>
              </a:ext>
            </a:extLst>
          </p:cNvPr>
          <p:cNvSpPr/>
          <p:nvPr/>
        </p:nvSpPr>
        <p:spPr>
          <a:xfrm>
            <a:off x="770838" y="5039656"/>
            <a:ext cx="135856" cy="96208"/>
          </a:xfrm>
          <a:prstGeom prst="rect">
            <a:avLst/>
          </a:prstGeom>
          <a:noFill/>
          <a:ln/>
        </p:spPr>
        <p:txBody>
          <a:bodyPr wrap="none" lIns="12828" tIns="12828" rIns="12828" bIns="12828" rtlCol="0" anchor="t">
            <a:normAutofit/>
          </a:bodyPr>
          <a:lstStyle/>
          <a:p>
            <a:r>
              <a:rPr lang="en-US" sz="416" b="1" dirty="0">
                <a:solidFill>
                  <a:srgbClr val="4B5563"/>
                </a:solidFill>
                <a:latin typeface="Noto Sans KR" pitchFamily="34" charset="0"/>
                <a:ea typeface="Noto Sans KR" pitchFamily="34" charset="-122"/>
                <a:cs typeface="Noto Sans KR" pitchFamily="34" charset="-120"/>
              </a:rPr>
              <a:t>확인</a:t>
            </a:r>
            <a:endParaRPr lang="en-US" sz="416" dirty="0"/>
          </a:p>
        </p:txBody>
      </p:sp>
      <p:sp>
        <p:nvSpPr>
          <p:cNvPr id="44" name="Shape 4">
            <a:extLst>
              <a:ext uri="{FF2B5EF4-FFF2-40B4-BE49-F238E27FC236}">
                <a16:creationId xmlns:a16="http://schemas.microsoft.com/office/drawing/2014/main" id="{B0909056-8BA8-0A47-2696-EFA2C4A7A754}"/>
              </a:ext>
            </a:extLst>
          </p:cNvPr>
          <p:cNvSpPr/>
          <p:nvPr/>
        </p:nvSpPr>
        <p:spPr>
          <a:xfrm>
            <a:off x="1801893" y="4741412"/>
            <a:ext cx="267277" cy="86586"/>
          </a:xfrm>
          <a:prstGeom prst="roundRect">
            <a:avLst>
              <a:gd name="adj" fmla="val 22222"/>
            </a:avLst>
          </a:prstGeom>
          <a:solidFill>
            <a:srgbClr val="FFFFFF">
              <a:alpha val="92000"/>
            </a:srgbClr>
          </a:solidFill>
          <a:ln/>
        </p:spPr>
        <p:txBody>
          <a:bodyPr/>
          <a:lstStyle/>
          <a:p>
            <a:endParaRPr lang="ko-KR" altLang="en-US" sz="909"/>
          </a:p>
        </p:txBody>
      </p:sp>
      <p:sp>
        <p:nvSpPr>
          <p:cNvPr id="45" name="Text 5">
            <a:extLst>
              <a:ext uri="{FF2B5EF4-FFF2-40B4-BE49-F238E27FC236}">
                <a16:creationId xmlns:a16="http://schemas.microsoft.com/office/drawing/2014/main" id="{2DF72955-FF48-5232-9DE9-0563BA381FCA}"/>
              </a:ext>
            </a:extLst>
          </p:cNvPr>
          <p:cNvSpPr/>
          <p:nvPr/>
        </p:nvSpPr>
        <p:spPr>
          <a:xfrm>
            <a:off x="1830757" y="4746223"/>
            <a:ext cx="248035" cy="96208"/>
          </a:xfrm>
          <a:prstGeom prst="rect">
            <a:avLst/>
          </a:prstGeom>
          <a:noFill/>
          <a:ln/>
        </p:spPr>
        <p:txBody>
          <a:bodyPr wrap="none" lIns="12828" tIns="12828" rIns="12828" bIns="12828" rtlCol="0" anchor="t">
            <a:normAutofit/>
          </a:bodyPr>
          <a:lstStyle/>
          <a:p>
            <a:r>
              <a:rPr lang="en-US" sz="416" b="1" dirty="0">
                <a:solidFill>
                  <a:srgbClr val="4B5563"/>
                </a:solidFill>
                <a:latin typeface="Noto Sans KR" pitchFamily="34" charset="0"/>
                <a:ea typeface="Noto Sans KR" pitchFamily="34" charset="-122"/>
                <a:cs typeface="Noto Sans KR" pitchFamily="34" charset="-120"/>
              </a:rPr>
              <a:t>감사 기록</a:t>
            </a:r>
            <a:endParaRPr lang="en-US" sz="416" dirty="0"/>
          </a:p>
        </p:txBody>
      </p:sp>
      <p:sp>
        <p:nvSpPr>
          <p:cNvPr id="46" name="Shape 6">
            <a:extLst>
              <a:ext uri="{FF2B5EF4-FFF2-40B4-BE49-F238E27FC236}">
                <a16:creationId xmlns:a16="http://schemas.microsoft.com/office/drawing/2014/main" id="{A997CE65-984A-9C2D-7CB2-FFDE2DF59096}"/>
              </a:ext>
            </a:extLst>
          </p:cNvPr>
          <p:cNvSpPr/>
          <p:nvPr/>
        </p:nvSpPr>
        <p:spPr>
          <a:xfrm>
            <a:off x="987886" y="1715682"/>
            <a:ext cx="779282" cy="269382"/>
          </a:xfrm>
          <a:prstGeom prst="roundRect">
            <a:avLst>
              <a:gd name="adj" fmla="val 7143"/>
            </a:avLst>
          </a:prstGeom>
          <a:solidFill>
            <a:srgbClr val="5B4EE8"/>
          </a:solidFill>
          <a:ln/>
          <a:effectLst>
            <a:outerShdw blurRad="19050" dist="9525" dir="5400000" algn="bl" rotWithShape="0">
              <a:srgbClr val="101828">
                <a:alpha val="6000"/>
              </a:srgbClr>
            </a:outerShdw>
          </a:effectLst>
        </p:spPr>
        <p:txBody>
          <a:bodyPr/>
          <a:lstStyle/>
          <a:p>
            <a:endParaRPr lang="ko-KR" altLang="en-US" sz="909"/>
          </a:p>
        </p:txBody>
      </p:sp>
      <p:sp>
        <p:nvSpPr>
          <p:cNvPr id="47" name="Text 7">
            <a:extLst>
              <a:ext uri="{FF2B5EF4-FFF2-40B4-BE49-F238E27FC236}">
                <a16:creationId xmlns:a16="http://schemas.microsoft.com/office/drawing/2014/main" id="{148A49D0-E7B5-6E3F-2307-1C62C372DE1C}"/>
              </a:ext>
            </a:extLst>
          </p:cNvPr>
          <p:cNvSpPr/>
          <p:nvPr/>
        </p:nvSpPr>
        <p:spPr>
          <a:xfrm>
            <a:off x="1235396" y="1810349"/>
            <a:ext cx="284263"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FFFFFF"/>
                </a:solidFill>
                <a:latin typeface="Noto Sans KR" pitchFamily="34" charset="0"/>
                <a:ea typeface="Noto Sans KR" pitchFamily="34" charset="-122"/>
                <a:cs typeface="Noto Sans KR" pitchFamily="34" charset="-120"/>
              </a:rPr>
              <a:t>유저 목록</a:t>
            </a:r>
            <a:endParaRPr lang="en-US" sz="492" dirty="0"/>
          </a:p>
        </p:txBody>
      </p:sp>
      <p:sp>
        <p:nvSpPr>
          <p:cNvPr id="48" name="Shape 8">
            <a:extLst>
              <a:ext uri="{FF2B5EF4-FFF2-40B4-BE49-F238E27FC236}">
                <a16:creationId xmlns:a16="http://schemas.microsoft.com/office/drawing/2014/main" id="{95EAC0B4-7FD9-E8D0-5884-76D92293F3A9}"/>
              </a:ext>
            </a:extLst>
          </p:cNvPr>
          <p:cNvSpPr/>
          <p:nvPr/>
        </p:nvSpPr>
        <p:spPr>
          <a:xfrm>
            <a:off x="95072" y="2302548"/>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49" name="Text 9">
            <a:extLst>
              <a:ext uri="{FF2B5EF4-FFF2-40B4-BE49-F238E27FC236}">
                <a16:creationId xmlns:a16="http://schemas.microsoft.com/office/drawing/2014/main" id="{6A3E3596-87AD-0C35-1FCB-410DBF5D39B4}"/>
              </a:ext>
            </a:extLst>
          </p:cNvPr>
          <p:cNvSpPr/>
          <p:nvPr/>
        </p:nvSpPr>
        <p:spPr>
          <a:xfrm>
            <a:off x="227659" y="2397215"/>
            <a:ext cx="514072"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이름 / 이메일 검색</a:t>
            </a:r>
            <a:endParaRPr lang="en-US" sz="492" dirty="0"/>
          </a:p>
        </p:txBody>
      </p:sp>
      <p:sp>
        <p:nvSpPr>
          <p:cNvPr id="50" name="Shape 10">
            <a:extLst>
              <a:ext uri="{FF2B5EF4-FFF2-40B4-BE49-F238E27FC236}">
                <a16:creationId xmlns:a16="http://schemas.microsoft.com/office/drawing/2014/main" id="{71714FEE-AF73-D90E-C6E5-53A58124CD11}"/>
              </a:ext>
            </a:extLst>
          </p:cNvPr>
          <p:cNvSpPr/>
          <p:nvPr/>
        </p:nvSpPr>
        <p:spPr>
          <a:xfrm>
            <a:off x="1880663" y="2302548"/>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51" name="Text 11">
            <a:extLst>
              <a:ext uri="{FF2B5EF4-FFF2-40B4-BE49-F238E27FC236}">
                <a16:creationId xmlns:a16="http://schemas.microsoft.com/office/drawing/2014/main" id="{E1657DBA-1F07-F548-CDFD-425005EDE0D1}"/>
              </a:ext>
            </a:extLst>
          </p:cNvPr>
          <p:cNvSpPr/>
          <p:nvPr/>
        </p:nvSpPr>
        <p:spPr>
          <a:xfrm>
            <a:off x="2037528" y="2397215"/>
            <a:ext cx="465555"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상태 · 권한 필터</a:t>
            </a:r>
            <a:endParaRPr lang="en-US" sz="492" dirty="0"/>
          </a:p>
        </p:txBody>
      </p:sp>
      <p:sp>
        <p:nvSpPr>
          <p:cNvPr id="52" name="Shape 12">
            <a:extLst>
              <a:ext uri="{FF2B5EF4-FFF2-40B4-BE49-F238E27FC236}">
                <a16:creationId xmlns:a16="http://schemas.microsoft.com/office/drawing/2014/main" id="{848CEC59-785E-7D53-CA46-3F7274ED4329}"/>
              </a:ext>
            </a:extLst>
          </p:cNvPr>
          <p:cNvSpPr/>
          <p:nvPr/>
        </p:nvSpPr>
        <p:spPr>
          <a:xfrm>
            <a:off x="987886" y="2889415"/>
            <a:ext cx="779282" cy="269382"/>
          </a:xfrm>
          <a:prstGeom prst="roundRect">
            <a:avLst>
              <a:gd name="adj" fmla="val 7143"/>
            </a:avLst>
          </a:prstGeom>
          <a:solidFill>
            <a:srgbClr val="DAD7F7"/>
          </a:solidFill>
          <a:ln/>
          <a:effectLst>
            <a:outerShdw blurRad="19050" dist="9525" dir="5400000" algn="bl" rotWithShape="0">
              <a:srgbClr val="101828">
                <a:alpha val="6000"/>
              </a:srgbClr>
            </a:outerShdw>
          </a:effectLst>
        </p:spPr>
        <p:txBody>
          <a:bodyPr/>
          <a:lstStyle/>
          <a:p>
            <a:endParaRPr lang="ko-KR" altLang="en-US" sz="909"/>
          </a:p>
        </p:txBody>
      </p:sp>
      <p:sp>
        <p:nvSpPr>
          <p:cNvPr id="53" name="Text 13">
            <a:extLst>
              <a:ext uri="{FF2B5EF4-FFF2-40B4-BE49-F238E27FC236}">
                <a16:creationId xmlns:a16="http://schemas.microsoft.com/office/drawing/2014/main" id="{58FC4433-7BB2-8635-3623-9677FA244768}"/>
              </a:ext>
            </a:extLst>
          </p:cNvPr>
          <p:cNvSpPr/>
          <p:nvPr/>
        </p:nvSpPr>
        <p:spPr>
          <a:xfrm>
            <a:off x="1235396" y="2979610"/>
            <a:ext cx="284263" cy="108234"/>
          </a:xfrm>
          <a:prstGeom prst="rect">
            <a:avLst/>
          </a:prstGeom>
          <a:noFill/>
          <a:ln/>
        </p:spPr>
        <p:txBody>
          <a:bodyPr wrap="square" lIns="12828" tIns="12828" rIns="12828" bIns="12828" rtlCol="0" anchor="t">
            <a:normAutofit fontScale="85000" lnSpcReduction="10000"/>
          </a:bodyPr>
          <a:lstStyle/>
          <a:p>
            <a:pPr algn="ctr"/>
            <a:r>
              <a:rPr lang="en-US" sz="492" b="1" kern="0" spc="-3" dirty="0">
                <a:solidFill>
                  <a:srgbClr val="443C86"/>
                </a:solidFill>
                <a:latin typeface="Noto Sans KR" pitchFamily="34" charset="0"/>
                <a:ea typeface="Noto Sans KR" pitchFamily="34" charset="-122"/>
                <a:cs typeface="Noto Sans KR" pitchFamily="34" charset="-120"/>
              </a:rPr>
              <a:t>유저 상세</a:t>
            </a:r>
            <a:endParaRPr lang="en-US" sz="492" dirty="0"/>
          </a:p>
        </p:txBody>
      </p:sp>
      <p:sp>
        <p:nvSpPr>
          <p:cNvPr id="54" name="Shape 14">
            <a:extLst>
              <a:ext uri="{FF2B5EF4-FFF2-40B4-BE49-F238E27FC236}">
                <a16:creationId xmlns:a16="http://schemas.microsoft.com/office/drawing/2014/main" id="{CA3726A8-A3AF-B9F4-EC46-41254CD71B9F}"/>
              </a:ext>
            </a:extLst>
          </p:cNvPr>
          <p:cNvSpPr/>
          <p:nvPr/>
        </p:nvSpPr>
        <p:spPr>
          <a:xfrm>
            <a:off x="429883" y="3476281"/>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55" name="Text 15">
            <a:extLst>
              <a:ext uri="{FF2B5EF4-FFF2-40B4-BE49-F238E27FC236}">
                <a16:creationId xmlns:a16="http://schemas.microsoft.com/office/drawing/2014/main" id="{7F15AED6-CB51-A284-79F1-FDD56FCA04A4}"/>
              </a:ext>
            </a:extLst>
          </p:cNvPr>
          <p:cNvSpPr/>
          <p:nvPr/>
        </p:nvSpPr>
        <p:spPr>
          <a:xfrm>
            <a:off x="591068" y="3570949"/>
            <a:ext cx="456911"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정지 / 해제 선택</a:t>
            </a:r>
            <a:endParaRPr lang="en-US" sz="492" dirty="0"/>
          </a:p>
        </p:txBody>
      </p:sp>
      <p:sp>
        <p:nvSpPr>
          <p:cNvPr id="56" name="Shape 16">
            <a:extLst>
              <a:ext uri="{FF2B5EF4-FFF2-40B4-BE49-F238E27FC236}">
                <a16:creationId xmlns:a16="http://schemas.microsoft.com/office/drawing/2014/main" id="{43AF8F08-081E-D74F-B8BE-5E89779C478B}"/>
              </a:ext>
            </a:extLst>
          </p:cNvPr>
          <p:cNvSpPr/>
          <p:nvPr/>
        </p:nvSpPr>
        <p:spPr>
          <a:xfrm>
            <a:off x="1545891" y="3476281"/>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57" name="Text 17">
            <a:extLst>
              <a:ext uri="{FF2B5EF4-FFF2-40B4-BE49-F238E27FC236}">
                <a16:creationId xmlns:a16="http://schemas.microsoft.com/office/drawing/2014/main" id="{DF6CB3CD-0229-0579-E74A-14A7A06062E6}"/>
              </a:ext>
            </a:extLst>
          </p:cNvPr>
          <p:cNvSpPr/>
          <p:nvPr/>
        </p:nvSpPr>
        <p:spPr>
          <a:xfrm>
            <a:off x="1707640" y="3570949"/>
            <a:ext cx="455746"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비밀번호 재설정</a:t>
            </a:r>
            <a:endParaRPr lang="en-US" sz="492" dirty="0"/>
          </a:p>
        </p:txBody>
      </p:sp>
      <p:sp>
        <p:nvSpPr>
          <p:cNvPr id="58" name="Shape 18">
            <a:extLst>
              <a:ext uri="{FF2B5EF4-FFF2-40B4-BE49-F238E27FC236}">
                <a16:creationId xmlns:a16="http://schemas.microsoft.com/office/drawing/2014/main" id="{F298F68A-84BD-6472-BA46-4C6CA7B53822}"/>
              </a:ext>
            </a:extLst>
          </p:cNvPr>
          <p:cNvSpPr/>
          <p:nvPr/>
        </p:nvSpPr>
        <p:spPr>
          <a:xfrm>
            <a:off x="429883" y="4063148"/>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59" name="Text 19">
            <a:extLst>
              <a:ext uri="{FF2B5EF4-FFF2-40B4-BE49-F238E27FC236}">
                <a16:creationId xmlns:a16="http://schemas.microsoft.com/office/drawing/2014/main" id="{4A45F584-0112-5FD3-671F-29CA2B487F19}"/>
              </a:ext>
            </a:extLst>
          </p:cNvPr>
          <p:cNvSpPr/>
          <p:nvPr/>
        </p:nvSpPr>
        <p:spPr>
          <a:xfrm>
            <a:off x="677392" y="4157816"/>
            <a:ext cx="284263"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사유 입력</a:t>
            </a:r>
            <a:endParaRPr lang="en-US" sz="492" dirty="0"/>
          </a:p>
        </p:txBody>
      </p:sp>
      <p:sp>
        <p:nvSpPr>
          <p:cNvPr id="60" name="Shape 20">
            <a:extLst>
              <a:ext uri="{FF2B5EF4-FFF2-40B4-BE49-F238E27FC236}">
                <a16:creationId xmlns:a16="http://schemas.microsoft.com/office/drawing/2014/main" id="{FE60A7DC-4E85-5380-BAE8-A3FD6DC8666A}"/>
              </a:ext>
            </a:extLst>
          </p:cNvPr>
          <p:cNvSpPr/>
          <p:nvPr/>
        </p:nvSpPr>
        <p:spPr>
          <a:xfrm>
            <a:off x="429883" y="4650014"/>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61" name="Text 21">
            <a:extLst>
              <a:ext uri="{FF2B5EF4-FFF2-40B4-BE49-F238E27FC236}">
                <a16:creationId xmlns:a16="http://schemas.microsoft.com/office/drawing/2014/main" id="{C0CE708F-6A22-0354-FFEA-8B052B5E5155}"/>
              </a:ext>
            </a:extLst>
          </p:cNvPr>
          <p:cNvSpPr/>
          <p:nvPr/>
        </p:nvSpPr>
        <p:spPr>
          <a:xfrm>
            <a:off x="677392" y="4744682"/>
            <a:ext cx="284263"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변경 확인</a:t>
            </a:r>
            <a:endParaRPr lang="en-US" sz="492" dirty="0"/>
          </a:p>
        </p:txBody>
      </p:sp>
      <p:sp>
        <p:nvSpPr>
          <p:cNvPr id="62" name="Shape 22">
            <a:extLst>
              <a:ext uri="{FF2B5EF4-FFF2-40B4-BE49-F238E27FC236}">
                <a16:creationId xmlns:a16="http://schemas.microsoft.com/office/drawing/2014/main" id="{5649F007-66B8-193F-FEB2-76DEE6036782}"/>
              </a:ext>
            </a:extLst>
          </p:cNvPr>
          <p:cNvSpPr/>
          <p:nvPr/>
        </p:nvSpPr>
        <p:spPr>
          <a:xfrm>
            <a:off x="429883" y="5236881"/>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63" name="Text 23">
            <a:extLst>
              <a:ext uri="{FF2B5EF4-FFF2-40B4-BE49-F238E27FC236}">
                <a16:creationId xmlns:a16="http://schemas.microsoft.com/office/drawing/2014/main" id="{9A7B0BFC-F1A5-7D49-C9F3-BE23E7EBA3C8}"/>
              </a:ext>
            </a:extLst>
          </p:cNvPr>
          <p:cNvSpPr/>
          <p:nvPr/>
        </p:nvSpPr>
        <p:spPr>
          <a:xfrm>
            <a:off x="611663" y="5331549"/>
            <a:ext cx="415722"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상태 변경 저장</a:t>
            </a:r>
            <a:endParaRPr lang="en-US" sz="492" dirty="0"/>
          </a:p>
        </p:txBody>
      </p:sp>
      <p:sp>
        <p:nvSpPr>
          <p:cNvPr id="64" name="Shape 24">
            <a:extLst>
              <a:ext uri="{FF2B5EF4-FFF2-40B4-BE49-F238E27FC236}">
                <a16:creationId xmlns:a16="http://schemas.microsoft.com/office/drawing/2014/main" id="{E2F3C14D-93B1-5D1E-FA0F-C55E94650D09}"/>
              </a:ext>
            </a:extLst>
          </p:cNvPr>
          <p:cNvSpPr/>
          <p:nvPr/>
        </p:nvSpPr>
        <p:spPr>
          <a:xfrm>
            <a:off x="1545891" y="5823747"/>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65" name="Text 25">
            <a:extLst>
              <a:ext uri="{FF2B5EF4-FFF2-40B4-BE49-F238E27FC236}">
                <a16:creationId xmlns:a16="http://schemas.microsoft.com/office/drawing/2014/main" id="{D3AAA5D4-583F-C148-2814-D9B94B04D6D2}"/>
              </a:ext>
            </a:extLst>
          </p:cNvPr>
          <p:cNvSpPr/>
          <p:nvPr/>
        </p:nvSpPr>
        <p:spPr>
          <a:xfrm>
            <a:off x="1727671" y="5918415"/>
            <a:ext cx="415722"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감사 로그 기록</a:t>
            </a:r>
            <a:endParaRPr lang="en-US" sz="492" dirty="0"/>
          </a:p>
        </p:txBody>
      </p:sp>
      <p:sp>
        <p:nvSpPr>
          <p:cNvPr id="3" name="직사각형 2">
            <a:extLst>
              <a:ext uri="{FF2B5EF4-FFF2-40B4-BE49-F238E27FC236}">
                <a16:creationId xmlns:a16="http://schemas.microsoft.com/office/drawing/2014/main" id="{348AEC1F-BFC4-ECA9-3067-034BA81850B5}"/>
              </a:ext>
            </a:extLst>
          </p:cNvPr>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 name="직선 연결선 16">
            <a:extLst>
              <a:ext uri="{FF2B5EF4-FFF2-40B4-BE49-F238E27FC236}">
                <a16:creationId xmlns:a16="http://schemas.microsoft.com/office/drawing/2014/main" id="{666240DC-7A1D-CD6C-4719-8C47916D6AEE}"/>
              </a:ext>
            </a:extLst>
          </p:cNvPr>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69" name="직선 연결선 17">
            <a:extLst>
              <a:ext uri="{FF2B5EF4-FFF2-40B4-BE49-F238E27FC236}">
                <a16:creationId xmlns:a16="http://schemas.microsoft.com/office/drawing/2014/main" id="{0D9BD4B0-0DF1-3C03-441B-6759A3863223}"/>
              </a:ext>
            </a:extLst>
          </p:cNvPr>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70" name="제목 12">
            <a:extLst>
              <a:ext uri="{FF2B5EF4-FFF2-40B4-BE49-F238E27FC236}">
                <a16:creationId xmlns:a16="http://schemas.microsoft.com/office/drawing/2014/main" id="{762037C2-1E94-39C9-1F8F-EAF48FD96CEA}"/>
              </a:ext>
            </a:extLst>
          </p:cNvPr>
          <p:cNvSpPr txBox="1">
            <a:spLocks/>
          </p:cNvSpPr>
          <p:nvPr/>
        </p:nvSpPr>
        <p:spPr>
          <a:xfrm>
            <a:off x="323528" y="692696"/>
            <a:ext cx="2808312"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Flow chart - admin</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71" name="Picture 2">
            <a:extLst>
              <a:ext uri="{FF2B5EF4-FFF2-40B4-BE49-F238E27FC236}">
                <a16:creationId xmlns:a16="http://schemas.microsoft.com/office/drawing/2014/main" id="{DB924482-79F1-96FD-2D25-1688B1C90BBF}"/>
              </a:ext>
            </a:extLst>
          </p:cNvPr>
          <p:cNvPicPr>
            <a:picLocks noChangeAspect="1" noChangeArrowheads="1"/>
          </p:cNvPicPr>
          <p:nvPr/>
        </p:nvPicPr>
        <p:blipFill>
          <a:blip r:embed="rId5" cstate="print"/>
          <a:srcRect/>
          <a:stretch>
            <a:fillRect/>
          </a:stretch>
        </p:blipFill>
        <p:spPr bwMode="auto">
          <a:xfrm>
            <a:off x="8676456" y="476671"/>
            <a:ext cx="454960" cy="158965"/>
          </a:xfrm>
          <a:prstGeom prst="rect">
            <a:avLst/>
          </a:prstGeom>
          <a:noFill/>
          <a:ln w="9525">
            <a:noFill/>
            <a:miter lim="800000"/>
            <a:headEnd/>
            <a:tailEnd/>
          </a:ln>
        </p:spPr>
      </p:pic>
      <p:sp>
        <p:nvSpPr>
          <p:cNvPr id="72" name="막힌 원호 34">
            <a:extLst>
              <a:ext uri="{FF2B5EF4-FFF2-40B4-BE49-F238E27FC236}">
                <a16:creationId xmlns:a16="http://schemas.microsoft.com/office/drawing/2014/main" id="{0470C107-A09F-7B5E-67C7-301490F2B00A}"/>
              </a:ext>
            </a:extLst>
          </p:cNvPr>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73" name="그림 72">
            <a:extLst>
              <a:ext uri="{FF2B5EF4-FFF2-40B4-BE49-F238E27FC236}">
                <a16:creationId xmlns:a16="http://schemas.microsoft.com/office/drawing/2014/main" id="{E0753B20-4CCB-AD16-8385-F2E7D788B364}"/>
              </a:ext>
            </a:extLst>
          </p:cNvPr>
          <p:cNvPicPr>
            <a:picLocks noChangeAspect="1"/>
          </p:cNvPicPr>
          <p:nvPr/>
        </p:nvPicPr>
        <p:blipFill>
          <a:blip r:embed="rId6"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Tree>
    <p:extLst>
      <p:ext uri="{BB962C8B-B14F-4D97-AF65-F5344CB8AC3E}">
        <p14:creationId xmlns:p14="http://schemas.microsoft.com/office/powerpoint/2010/main" val="197055302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08336" y="1495227"/>
            <a:ext cx="5927329" cy="3867546"/>
          </a:xfrm>
          <a:prstGeom prst="rect">
            <a:avLst/>
          </a:prstGeom>
        </p:spPr>
      </p:pic>
      <p:sp>
        <p:nvSpPr>
          <p:cNvPr id="5" name="Shape 2"/>
          <p:cNvSpPr/>
          <p:nvPr/>
        </p:nvSpPr>
        <p:spPr>
          <a:xfrm>
            <a:off x="3885637" y="3284689"/>
            <a:ext cx="267277" cy="86586"/>
          </a:xfrm>
          <a:prstGeom prst="roundRect">
            <a:avLst>
              <a:gd name="adj" fmla="val 22222"/>
            </a:avLst>
          </a:prstGeom>
          <a:solidFill>
            <a:srgbClr val="FFFFFF">
              <a:alpha val="92000"/>
            </a:srgbClr>
          </a:solidFill>
          <a:ln/>
        </p:spPr>
        <p:txBody>
          <a:bodyPr/>
          <a:lstStyle/>
          <a:p>
            <a:endParaRPr lang="ko-KR" altLang="en-US" sz="909"/>
          </a:p>
        </p:txBody>
      </p:sp>
      <p:sp>
        <p:nvSpPr>
          <p:cNvPr id="6" name="Text 3"/>
          <p:cNvSpPr/>
          <p:nvPr/>
        </p:nvSpPr>
        <p:spPr>
          <a:xfrm>
            <a:off x="3914500" y="3289499"/>
            <a:ext cx="248035" cy="96208"/>
          </a:xfrm>
          <a:prstGeom prst="rect">
            <a:avLst/>
          </a:prstGeom>
          <a:noFill/>
          <a:ln/>
        </p:spPr>
        <p:txBody>
          <a:bodyPr wrap="none" lIns="12828" tIns="12828" rIns="12828" bIns="12828" rtlCol="0" anchor="t">
            <a:normAutofit/>
          </a:bodyPr>
          <a:lstStyle/>
          <a:p>
            <a:r>
              <a:rPr lang="en-US" sz="416" b="1" dirty="0">
                <a:solidFill>
                  <a:srgbClr val="4B5563"/>
                </a:solidFill>
                <a:latin typeface="Noto Sans KR" pitchFamily="34" charset="0"/>
                <a:ea typeface="Noto Sans KR" pitchFamily="34" charset="-122"/>
                <a:cs typeface="Noto Sans KR" pitchFamily="34" charset="-120"/>
              </a:rPr>
              <a:t>목록 갱신</a:t>
            </a:r>
            <a:endParaRPr lang="en-US" sz="416" dirty="0"/>
          </a:p>
        </p:txBody>
      </p:sp>
      <p:sp>
        <p:nvSpPr>
          <p:cNvPr id="7" name="Shape 4"/>
          <p:cNvSpPr/>
          <p:nvPr/>
        </p:nvSpPr>
        <p:spPr>
          <a:xfrm>
            <a:off x="5061287" y="2110956"/>
            <a:ext cx="267277" cy="86586"/>
          </a:xfrm>
          <a:prstGeom prst="roundRect">
            <a:avLst>
              <a:gd name="adj" fmla="val 22222"/>
            </a:avLst>
          </a:prstGeom>
          <a:solidFill>
            <a:srgbClr val="FFFFFF">
              <a:alpha val="92000"/>
            </a:srgbClr>
          </a:solidFill>
          <a:ln/>
        </p:spPr>
        <p:txBody>
          <a:bodyPr/>
          <a:lstStyle/>
          <a:p>
            <a:endParaRPr lang="ko-KR" altLang="en-US" sz="909"/>
          </a:p>
        </p:txBody>
      </p:sp>
      <p:sp>
        <p:nvSpPr>
          <p:cNvPr id="8" name="Text 5"/>
          <p:cNvSpPr/>
          <p:nvPr/>
        </p:nvSpPr>
        <p:spPr>
          <a:xfrm>
            <a:off x="5090150" y="2115766"/>
            <a:ext cx="248035" cy="96208"/>
          </a:xfrm>
          <a:prstGeom prst="rect">
            <a:avLst/>
          </a:prstGeom>
          <a:noFill/>
          <a:ln/>
        </p:spPr>
        <p:txBody>
          <a:bodyPr wrap="none" lIns="12828" tIns="12828" rIns="12828" bIns="12828" rtlCol="0" anchor="t">
            <a:normAutofit/>
          </a:bodyPr>
          <a:lstStyle/>
          <a:p>
            <a:r>
              <a:rPr lang="en-US" sz="416" b="1" dirty="0">
                <a:solidFill>
                  <a:srgbClr val="4B5563"/>
                </a:solidFill>
                <a:latin typeface="Noto Sans KR" pitchFamily="34" charset="0"/>
                <a:ea typeface="Noto Sans KR" pitchFamily="34" charset="-122"/>
                <a:cs typeface="Noto Sans KR" pitchFamily="34" charset="-120"/>
              </a:rPr>
              <a:t>목록 갱신</a:t>
            </a:r>
            <a:endParaRPr lang="en-US" sz="416" dirty="0"/>
          </a:p>
        </p:txBody>
      </p:sp>
      <p:sp>
        <p:nvSpPr>
          <p:cNvPr id="9" name="Shape 6"/>
          <p:cNvSpPr/>
          <p:nvPr/>
        </p:nvSpPr>
        <p:spPr>
          <a:xfrm>
            <a:off x="2730093" y="1726125"/>
            <a:ext cx="779282" cy="269382"/>
          </a:xfrm>
          <a:prstGeom prst="roundRect">
            <a:avLst>
              <a:gd name="adj" fmla="val 7143"/>
            </a:avLst>
          </a:prstGeom>
          <a:solidFill>
            <a:srgbClr val="5B4EE8"/>
          </a:solidFill>
          <a:ln/>
          <a:effectLst>
            <a:outerShdw blurRad="19050" dist="9525" dir="5400000" algn="bl" rotWithShape="0">
              <a:srgbClr val="101828">
                <a:alpha val="6000"/>
              </a:srgbClr>
            </a:outerShdw>
          </a:effectLst>
        </p:spPr>
        <p:txBody>
          <a:bodyPr/>
          <a:lstStyle/>
          <a:p>
            <a:endParaRPr lang="ko-KR" altLang="en-US" sz="909"/>
          </a:p>
        </p:txBody>
      </p:sp>
      <p:sp>
        <p:nvSpPr>
          <p:cNvPr id="10" name="Text 7"/>
          <p:cNvSpPr/>
          <p:nvPr/>
        </p:nvSpPr>
        <p:spPr>
          <a:xfrm>
            <a:off x="2920442" y="1820792"/>
            <a:ext cx="398586"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FFFFFF"/>
                </a:solidFill>
                <a:latin typeface="Noto Sans KR" pitchFamily="34" charset="0"/>
                <a:ea typeface="Noto Sans KR" pitchFamily="34" charset="-122"/>
                <a:cs typeface="Noto Sans KR" pitchFamily="34" charset="-120"/>
              </a:rPr>
              <a:t>공지사항 관리</a:t>
            </a:r>
            <a:endParaRPr lang="en-US" sz="492" dirty="0"/>
          </a:p>
        </p:txBody>
      </p:sp>
      <p:sp>
        <p:nvSpPr>
          <p:cNvPr id="11" name="Shape 8"/>
          <p:cNvSpPr/>
          <p:nvPr/>
        </p:nvSpPr>
        <p:spPr>
          <a:xfrm>
            <a:off x="1837278" y="2312991"/>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12" name="Text 9"/>
          <p:cNvSpPr/>
          <p:nvPr/>
        </p:nvSpPr>
        <p:spPr>
          <a:xfrm>
            <a:off x="2047620" y="2407658"/>
            <a:ext cx="358562"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새 공지 작성</a:t>
            </a:r>
            <a:endParaRPr lang="en-US" sz="492" dirty="0"/>
          </a:p>
        </p:txBody>
      </p:sp>
      <p:sp>
        <p:nvSpPr>
          <p:cNvPr id="13" name="Shape 10"/>
          <p:cNvSpPr/>
          <p:nvPr/>
        </p:nvSpPr>
        <p:spPr>
          <a:xfrm>
            <a:off x="2953287" y="2312991"/>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14" name="Text 11"/>
          <p:cNvSpPr/>
          <p:nvPr/>
        </p:nvSpPr>
        <p:spPr>
          <a:xfrm>
            <a:off x="3200796" y="2407658"/>
            <a:ext cx="284263"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공지 수정</a:t>
            </a:r>
            <a:endParaRPr lang="en-US" sz="492" dirty="0"/>
          </a:p>
        </p:txBody>
      </p:sp>
      <p:sp>
        <p:nvSpPr>
          <p:cNvPr id="15" name="Shape 12"/>
          <p:cNvSpPr/>
          <p:nvPr/>
        </p:nvSpPr>
        <p:spPr>
          <a:xfrm>
            <a:off x="4069295" y="2312991"/>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16" name="Text 13"/>
          <p:cNvSpPr/>
          <p:nvPr/>
        </p:nvSpPr>
        <p:spPr>
          <a:xfrm>
            <a:off x="4230481" y="2403187"/>
            <a:ext cx="456911" cy="108234"/>
          </a:xfrm>
          <a:prstGeom prst="rect">
            <a:avLst/>
          </a:prstGeom>
          <a:noFill/>
          <a:ln/>
        </p:spPr>
        <p:txBody>
          <a:bodyPr wrap="square" lIns="12828" tIns="12828" rIns="12828" bIns="12828" rtlCol="0" anchor="t">
            <a:normAutofit fontScale="85000" lnSpcReduction="10000"/>
          </a:bodyPr>
          <a:lstStyle/>
          <a:p>
            <a:pPr algn="ctr"/>
            <a:r>
              <a:rPr lang="en-US" sz="492" b="1" kern="0" spc="-3" dirty="0">
                <a:solidFill>
                  <a:srgbClr val="14603A"/>
                </a:solidFill>
                <a:latin typeface="Noto Sans KR" pitchFamily="34" charset="0"/>
                <a:ea typeface="Noto Sans KR" pitchFamily="34" charset="-122"/>
                <a:cs typeface="Noto Sans KR" pitchFamily="34" charset="-120"/>
              </a:rPr>
              <a:t>보관 / 삭제 확인</a:t>
            </a:r>
            <a:endParaRPr lang="en-US" sz="492" dirty="0"/>
          </a:p>
        </p:txBody>
      </p:sp>
      <p:sp>
        <p:nvSpPr>
          <p:cNvPr id="17" name="Shape 14"/>
          <p:cNvSpPr/>
          <p:nvPr/>
        </p:nvSpPr>
        <p:spPr>
          <a:xfrm>
            <a:off x="2730093" y="2899858"/>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18" name="Text 15"/>
          <p:cNvSpPr/>
          <p:nvPr/>
        </p:nvSpPr>
        <p:spPr>
          <a:xfrm>
            <a:off x="2834118" y="2994526"/>
            <a:ext cx="571233"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카테고리 / 공개 범위</a:t>
            </a:r>
            <a:endParaRPr lang="en-US" sz="492" dirty="0"/>
          </a:p>
        </p:txBody>
      </p:sp>
      <p:sp>
        <p:nvSpPr>
          <p:cNvPr id="19" name="Shape 16"/>
          <p:cNvSpPr/>
          <p:nvPr/>
        </p:nvSpPr>
        <p:spPr>
          <a:xfrm>
            <a:off x="2730093" y="3486724"/>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20" name="Text 17"/>
          <p:cNvSpPr/>
          <p:nvPr/>
        </p:nvSpPr>
        <p:spPr>
          <a:xfrm>
            <a:off x="2891279" y="3581392"/>
            <a:ext cx="456911"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제목 / 내용 입력</a:t>
            </a:r>
            <a:endParaRPr lang="en-US" sz="492" dirty="0"/>
          </a:p>
        </p:txBody>
      </p:sp>
      <p:sp>
        <p:nvSpPr>
          <p:cNvPr id="21" name="Shape 18"/>
          <p:cNvSpPr/>
          <p:nvPr/>
        </p:nvSpPr>
        <p:spPr>
          <a:xfrm>
            <a:off x="2730093" y="4073591"/>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22" name="Text 19"/>
          <p:cNvSpPr/>
          <p:nvPr/>
        </p:nvSpPr>
        <p:spPr>
          <a:xfrm>
            <a:off x="2845242" y="4168259"/>
            <a:ext cx="548985"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웹푸시·카카오 발송</a:t>
            </a:r>
            <a:endParaRPr lang="en-US" sz="492" dirty="0"/>
          </a:p>
        </p:txBody>
      </p:sp>
      <p:sp>
        <p:nvSpPr>
          <p:cNvPr id="23" name="Shape 20"/>
          <p:cNvSpPr/>
          <p:nvPr/>
        </p:nvSpPr>
        <p:spPr>
          <a:xfrm>
            <a:off x="2730093" y="4660457"/>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24" name="Text 21"/>
          <p:cNvSpPr/>
          <p:nvPr/>
        </p:nvSpPr>
        <p:spPr>
          <a:xfrm>
            <a:off x="2891279" y="4755125"/>
            <a:ext cx="456911"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임시 저장 / 게시</a:t>
            </a:r>
            <a:endParaRPr lang="en-US" sz="492" dirty="0"/>
          </a:p>
        </p:txBody>
      </p:sp>
      <p:sp>
        <p:nvSpPr>
          <p:cNvPr id="25" name="Shape 22"/>
          <p:cNvSpPr/>
          <p:nvPr/>
        </p:nvSpPr>
        <p:spPr>
          <a:xfrm>
            <a:off x="6078118" y="1726125"/>
            <a:ext cx="779282" cy="269382"/>
          </a:xfrm>
          <a:prstGeom prst="roundRect">
            <a:avLst>
              <a:gd name="adj" fmla="val 7143"/>
            </a:avLst>
          </a:prstGeom>
          <a:solidFill>
            <a:srgbClr val="5B4EE8"/>
          </a:solidFill>
          <a:ln/>
          <a:effectLst>
            <a:outerShdw blurRad="19050" dist="9525" dir="5400000" algn="bl" rotWithShape="0">
              <a:srgbClr val="101828">
                <a:alpha val="6000"/>
              </a:srgbClr>
            </a:outerShdw>
          </a:effectLst>
        </p:spPr>
        <p:txBody>
          <a:bodyPr/>
          <a:lstStyle/>
          <a:p>
            <a:endParaRPr lang="ko-KR" altLang="en-US" sz="909"/>
          </a:p>
        </p:txBody>
      </p:sp>
      <p:sp>
        <p:nvSpPr>
          <p:cNvPr id="26" name="Text 23"/>
          <p:cNvSpPr/>
          <p:nvPr/>
        </p:nvSpPr>
        <p:spPr>
          <a:xfrm>
            <a:off x="6259898" y="1820792"/>
            <a:ext cx="415722"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FFFFFF"/>
                </a:solidFill>
                <a:latin typeface="Noto Sans KR" pitchFamily="34" charset="0"/>
                <a:ea typeface="Noto Sans KR" pitchFamily="34" charset="-122"/>
                <a:cs typeface="Noto Sans KR" pitchFamily="34" charset="-120"/>
              </a:rPr>
              <a:t>감사 로그 목록</a:t>
            </a:r>
            <a:endParaRPr lang="en-US" sz="492" dirty="0"/>
          </a:p>
        </p:txBody>
      </p:sp>
      <p:sp>
        <p:nvSpPr>
          <p:cNvPr id="27" name="Shape 24"/>
          <p:cNvSpPr/>
          <p:nvPr/>
        </p:nvSpPr>
        <p:spPr>
          <a:xfrm>
            <a:off x="6078118" y="2312991"/>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28" name="Text 25"/>
          <p:cNvSpPr/>
          <p:nvPr/>
        </p:nvSpPr>
        <p:spPr>
          <a:xfrm>
            <a:off x="6126222" y="2367672"/>
            <a:ext cx="683074" cy="17926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기간·관리자·행위·대상 필터</a:t>
            </a:r>
            <a:endParaRPr lang="en-US" sz="492" dirty="0"/>
          </a:p>
        </p:txBody>
      </p:sp>
      <p:sp>
        <p:nvSpPr>
          <p:cNvPr id="29" name="Shape 26"/>
          <p:cNvSpPr/>
          <p:nvPr/>
        </p:nvSpPr>
        <p:spPr>
          <a:xfrm>
            <a:off x="6078118" y="2899858"/>
            <a:ext cx="779282" cy="269382"/>
          </a:xfrm>
          <a:prstGeom prst="roundRect">
            <a:avLst>
              <a:gd name="adj" fmla="val 7143"/>
            </a:avLst>
          </a:prstGeom>
          <a:solidFill>
            <a:srgbClr val="DAD7F7"/>
          </a:solidFill>
          <a:ln/>
          <a:effectLst>
            <a:outerShdw blurRad="19050" dist="9525" dir="5400000" algn="bl" rotWithShape="0">
              <a:srgbClr val="101828">
                <a:alpha val="6000"/>
              </a:srgbClr>
            </a:outerShdw>
          </a:effectLst>
        </p:spPr>
        <p:txBody>
          <a:bodyPr/>
          <a:lstStyle/>
          <a:p>
            <a:endParaRPr lang="ko-KR" altLang="en-US" sz="909"/>
          </a:p>
        </p:txBody>
      </p:sp>
      <p:sp>
        <p:nvSpPr>
          <p:cNvPr id="30" name="Text 27"/>
          <p:cNvSpPr/>
          <p:nvPr/>
        </p:nvSpPr>
        <p:spPr>
          <a:xfrm>
            <a:off x="6259898" y="2994526"/>
            <a:ext cx="415722"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443C86"/>
                </a:solidFill>
                <a:latin typeface="Noto Sans KR" pitchFamily="34" charset="0"/>
                <a:ea typeface="Noto Sans KR" pitchFamily="34" charset="-122"/>
                <a:cs typeface="Noto Sans KR" pitchFamily="34" charset="-120"/>
              </a:rPr>
              <a:t>감사 로그 상세</a:t>
            </a:r>
            <a:endParaRPr lang="en-US" sz="492" dirty="0"/>
          </a:p>
        </p:txBody>
      </p:sp>
      <p:sp>
        <p:nvSpPr>
          <p:cNvPr id="31" name="Shape 28"/>
          <p:cNvSpPr/>
          <p:nvPr/>
        </p:nvSpPr>
        <p:spPr>
          <a:xfrm>
            <a:off x="6078118" y="3486724"/>
            <a:ext cx="779282" cy="269382"/>
          </a:xfrm>
          <a:prstGeom prst="roundRect">
            <a:avLst>
              <a:gd name="adj" fmla="val 7143"/>
            </a:avLst>
          </a:prstGeom>
          <a:solidFill>
            <a:srgbClr val="BEF2D3"/>
          </a:solidFill>
          <a:ln/>
          <a:effectLst>
            <a:outerShdw blurRad="19050" dist="9525" dir="5400000" algn="bl" rotWithShape="0">
              <a:srgbClr val="101828">
                <a:alpha val="6000"/>
              </a:srgbClr>
            </a:outerShdw>
          </a:effectLst>
        </p:spPr>
        <p:txBody>
          <a:bodyPr/>
          <a:lstStyle/>
          <a:p>
            <a:endParaRPr lang="ko-KR" altLang="en-US" sz="909"/>
          </a:p>
        </p:txBody>
      </p:sp>
      <p:sp>
        <p:nvSpPr>
          <p:cNvPr id="32" name="Text 29"/>
          <p:cNvSpPr/>
          <p:nvPr/>
        </p:nvSpPr>
        <p:spPr>
          <a:xfrm>
            <a:off x="6231299" y="3581392"/>
            <a:ext cx="472883" cy="99252"/>
          </a:xfrm>
          <a:prstGeom prst="rect">
            <a:avLst/>
          </a:prstGeom>
          <a:noFill/>
          <a:ln/>
        </p:spPr>
        <p:txBody>
          <a:bodyPr wrap="square" lIns="12828" tIns="12828" rIns="12828" bIns="12828" rtlCol="0" anchor="t">
            <a:normAutofit fontScale="85000" lnSpcReduction="10000"/>
          </a:bodyPr>
          <a:lstStyle/>
          <a:p>
            <a:pPr algn="ctr">
              <a:lnSpc>
                <a:spcPct val="128000"/>
              </a:lnSpc>
            </a:pPr>
            <a:r>
              <a:rPr lang="en-US" sz="492" b="1" kern="0" spc="-3" dirty="0">
                <a:solidFill>
                  <a:srgbClr val="14603A"/>
                </a:solidFill>
                <a:latin typeface="Noto Sans KR" pitchFamily="34" charset="0"/>
                <a:ea typeface="Noto Sans KR" pitchFamily="34" charset="-122"/>
                <a:cs typeface="Noto Sans KR" pitchFamily="34" charset="-120"/>
              </a:rPr>
              <a:t>민감 정보 마스킹</a:t>
            </a:r>
            <a:endParaRPr lang="en-US" sz="492" dirty="0"/>
          </a:p>
        </p:txBody>
      </p:sp>
      <p:sp>
        <p:nvSpPr>
          <p:cNvPr id="3" name="직사각형 2">
            <a:extLst>
              <a:ext uri="{FF2B5EF4-FFF2-40B4-BE49-F238E27FC236}">
                <a16:creationId xmlns:a16="http://schemas.microsoft.com/office/drawing/2014/main" id="{517AD182-3F17-10F7-0DA5-18FCD41C2E2D}"/>
              </a:ext>
            </a:extLst>
          </p:cNvPr>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 name="직선 연결선 16">
            <a:extLst>
              <a:ext uri="{FF2B5EF4-FFF2-40B4-BE49-F238E27FC236}">
                <a16:creationId xmlns:a16="http://schemas.microsoft.com/office/drawing/2014/main" id="{B9952317-B945-6600-D23C-FE676F69123B}"/>
              </a:ext>
            </a:extLst>
          </p:cNvPr>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 name="직선 연결선 17">
            <a:extLst>
              <a:ext uri="{FF2B5EF4-FFF2-40B4-BE49-F238E27FC236}">
                <a16:creationId xmlns:a16="http://schemas.microsoft.com/office/drawing/2014/main" id="{83F2D703-E81D-EC30-E40F-3656AF089464}"/>
              </a:ext>
            </a:extLst>
          </p:cNvPr>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37" name="제목 12">
            <a:extLst>
              <a:ext uri="{FF2B5EF4-FFF2-40B4-BE49-F238E27FC236}">
                <a16:creationId xmlns:a16="http://schemas.microsoft.com/office/drawing/2014/main" id="{F207DEE9-E0FD-5429-4BD6-C44F272FAD4C}"/>
              </a:ext>
            </a:extLst>
          </p:cNvPr>
          <p:cNvSpPr txBox="1">
            <a:spLocks/>
          </p:cNvSpPr>
          <p:nvPr/>
        </p:nvSpPr>
        <p:spPr>
          <a:xfrm>
            <a:off x="323528" y="692696"/>
            <a:ext cx="2808312"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Flow chart - admin</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38" name="Picture 2">
            <a:extLst>
              <a:ext uri="{FF2B5EF4-FFF2-40B4-BE49-F238E27FC236}">
                <a16:creationId xmlns:a16="http://schemas.microsoft.com/office/drawing/2014/main" id="{F12D6BB9-C085-A9E5-5C72-535FECE4BDC8}"/>
              </a:ext>
            </a:extLst>
          </p:cNvPr>
          <p:cNvPicPr>
            <a:picLocks noChangeAspect="1" noChangeArrowheads="1"/>
          </p:cNvPicPr>
          <p:nvPr/>
        </p:nvPicPr>
        <p:blipFill>
          <a:blip r:embed="rId4" cstate="print"/>
          <a:srcRect/>
          <a:stretch>
            <a:fillRect/>
          </a:stretch>
        </p:blipFill>
        <p:spPr bwMode="auto">
          <a:xfrm>
            <a:off x="8676456" y="476671"/>
            <a:ext cx="454960" cy="158965"/>
          </a:xfrm>
          <a:prstGeom prst="rect">
            <a:avLst/>
          </a:prstGeom>
          <a:noFill/>
          <a:ln w="9525">
            <a:noFill/>
            <a:miter lim="800000"/>
            <a:headEnd/>
            <a:tailEnd/>
          </a:ln>
        </p:spPr>
      </p:pic>
      <p:sp>
        <p:nvSpPr>
          <p:cNvPr id="39" name="막힌 원호 34">
            <a:extLst>
              <a:ext uri="{FF2B5EF4-FFF2-40B4-BE49-F238E27FC236}">
                <a16:creationId xmlns:a16="http://schemas.microsoft.com/office/drawing/2014/main" id="{2A0EE4EF-385A-6A3E-9C5D-BAAD0E7AC51B}"/>
              </a:ext>
            </a:extLst>
          </p:cNvPr>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40" name="그림 39">
            <a:extLst>
              <a:ext uri="{FF2B5EF4-FFF2-40B4-BE49-F238E27FC236}">
                <a16:creationId xmlns:a16="http://schemas.microsoft.com/office/drawing/2014/main" id="{913BED54-A721-4B39-8B21-533F87569827}"/>
              </a:ext>
            </a:extLst>
          </p:cNvPr>
          <p:cNvPicPr>
            <a:picLocks noChangeAspect="1"/>
          </p:cNvPicPr>
          <p:nvPr/>
        </p:nvPicPr>
        <p:blipFill>
          <a:blip r:embed="rId5"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Tree>
    <p:extLst>
      <p:ext uri="{BB962C8B-B14F-4D97-AF65-F5344CB8AC3E}">
        <p14:creationId xmlns:p14="http://schemas.microsoft.com/office/powerpoint/2010/main" val="352579921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직사각형 20"/>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2" name="직선 연결선 21"/>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직선 연결선 24"/>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8" name="제목 12"/>
          <p:cNvSpPr txBox="1">
            <a:spLocks/>
          </p:cNvSpPr>
          <p:nvPr/>
        </p:nvSpPr>
        <p:spPr>
          <a:xfrm>
            <a:off x="323528" y="692697"/>
            <a:ext cx="2952328" cy="272474"/>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a:t>
            </a:r>
            <a:r>
              <a:rPr lang="ko-KR" altLang="en-US" sz="1700" b="1" noProof="0" dirty="0">
                <a:solidFill>
                  <a:schemeClr val="bg1"/>
                </a:solidFill>
                <a:latin typeface="+mn-ea"/>
                <a:cs typeface="+mj-cs"/>
              </a:rPr>
              <a:t>알고리즘 </a:t>
            </a:r>
            <a:r>
              <a:rPr lang="ko-KR" altLang="en-US" sz="1700" b="1" dirty="0">
                <a:solidFill>
                  <a:schemeClr val="bg1"/>
                </a:solidFill>
                <a:latin typeface="+mn-ea"/>
                <a:cs typeface="+mj-cs"/>
              </a:rPr>
              <a:t>명세서</a:t>
            </a:r>
            <a:r>
              <a:rPr lang="ko-KR" altLang="en-US" sz="1700" b="1" noProof="0" dirty="0">
                <a:solidFill>
                  <a:schemeClr val="bg1"/>
                </a:solidFill>
                <a:latin typeface="+mn-ea"/>
                <a:cs typeface="+mj-cs"/>
              </a:rPr>
              <a:t> </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30"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2" name="막힌 원호 31"/>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a:extLst>
              <a:ext uri="{FF2B5EF4-FFF2-40B4-BE49-F238E27FC236}">
                <a16:creationId xmlns:a16="http://schemas.microsoft.com/office/drawing/2014/main" id="{E9BCB1CE-2DD6-40DC-A0F7-0303DCBC1F92}"/>
              </a:ext>
            </a:extLst>
          </p:cNvPr>
          <p:cNvSpPr/>
          <p:nvPr/>
        </p:nvSpPr>
        <p:spPr>
          <a:xfrm>
            <a:off x="222256" y="1473901"/>
            <a:ext cx="4291660" cy="4386448"/>
          </a:xfrm>
          <a:prstGeom prst="rect">
            <a:avLst/>
          </a:prstGeom>
          <a:noFill/>
          <a:ln>
            <a:solidFill>
              <a:schemeClr val="accent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b="1" dirty="0">
              <a:solidFill>
                <a:schemeClr val="tx1"/>
              </a:solidFill>
            </a:endParaRPr>
          </a:p>
        </p:txBody>
      </p:sp>
      <p:sp>
        <p:nvSpPr>
          <p:cNvPr id="24" name="직사각형 23">
            <a:extLst>
              <a:ext uri="{FF2B5EF4-FFF2-40B4-BE49-F238E27FC236}">
                <a16:creationId xmlns:a16="http://schemas.microsoft.com/office/drawing/2014/main" id="{749E862D-DEC1-4F85-9CD2-0CF387D69237}"/>
              </a:ext>
            </a:extLst>
          </p:cNvPr>
          <p:cNvSpPr/>
          <p:nvPr/>
        </p:nvSpPr>
        <p:spPr>
          <a:xfrm>
            <a:off x="4572000" y="1473901"/>
            <a:ext cx="4291660" cy="4386448"/>
          </a:xfrm>
          <a:prstGeom prst="rect">
            <a:avLst/>
          </a:prstGeom>
          <a:noFill/>
          <a:ln>
            <a:solidFill>
              <a:schemeClr val="accent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b="1" dirty="0">
              <a:solidFill>
                <a:schemeClr val="tx1"/>
              </a:solidFill>
            </a:endParaRPr>
          </a:p>
        </p:txBody>
      </p:sp>
      <p:pic>
        <p:nvPicPr>
          <p:cNvPr id="2" name="그림 1">
            <a:extLst>
              <a:ext uri="{FF2B5EF4-FFF2-40B4-BE49-F238E27FC236}">
                <a16:creationId xmlns:a16="http://schemas.microsoft.com/office/drawing/2014/main" id="{4B734AFF-158A-07BF-BC18-52B3EA10F090}"/>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pic>
        <p:nvPicPr>
          <p:cNvPr id="3" name="그림 2">
            <a:extLst>
              <a:ext uri="{FF2B5EF4-FFF2-40B4-BE49-F238E27FC236}">
                <a16:creationId xmlns:a16="http://schemas.microsoft.com/office/drawing/2014/main" id="{FEE98778-1FBB-AFA1-0AD7-058D72F3EA78}"/>
              </a:ext>
            </a:extLst>
          </p:cNvPr>
          <p:cNvPicPr>
            <a:picLocks noChangeAspect="1"/>
          </p:cNvPicPr>
          <p:nvPr/>
        </p:nvPicPr>
        <p:blipFill>
          <a:blip r:embed="rId4"/>
          <a:stretch>
            <a:fillRect/>
          </a:stretch>
        </p:blipFill>
        <p:spPr>
          <a:xfrm>
            <a:off x="280340" y="1549998"/>
            <a:ext cx="4233576" cy="4183258"/>
          </a:xfrm>
          <a:prstGeom prst="rect">
            <a:avLst/>
          </a:prstGeom>
        </p:spPr>
      </p:pic>
      <p:graphicFrame>
        <p:nvGraphicFramePr>
          <p:cNvPr id="5" name="표 4">
            <a:extLst>
              <a:ext uri="{FF2B5EF4-FFF2-40B4-BE49-F238E27FC236}">
                <a16:creationId xmlns:a16="http://schemas.microsoft.com/office/drawing/2014/main" id="{285C4234-71D0-49BB-852D-2DC5D2275A81}"/>
              </a:ext>
            </a:extLst>
          </p:cNvPr>
          <p:cNvGraphicFramePr>
            <a:graphicFrameLocks noGrp="1"/>
          </p:cNvGraphicFramePr>
          <p:nvPr/>
        </p:nvGraphicFramePr>
        <p:xfrm>
          <a:off x="4630086" y="1499795"/>
          <a:ext cx="4204531" cy="4233463"/>
        </p:xfrm>
        <a:graphic>
          <a:graphicData uri="http://schemas.openxmlformats.org/drawingml/2006/table">
            <a:tbl>
              <a:tblPr/>
              <a:tblGrid>
                <a:gridCol w="4204531">
                  <a:extLst>
                    <a:ext uri="{9D8B030D-6E8A-4147-A177-3AD203B41FA5}">
                      <a16:colId xmlns:a16="http://schemas.microsoft.com/office/drawing/2014/main" val="2980468099"/>
                    </a:ext>
                  </a:extLst>
                </a:gridCol>
              </a:tblGrid>
              <a:tr h="282231">
                <a:tc>
                  <a:txBody>
                    <a:bodyPr/>
                    <a:lstStyle/>
                    <a:p>
                      <a:pPr>
                        <a:buNone/>
                      </a:pPr>
                      <a:r>
                        <a:rPr lang="ko-KR" sz="1100" dirty="0">
                          <a:solidFill>
                            <a:schemeClr val="bg1"/>
                          </a:solidFill>
                        </a:rPr>
                        <a:t>알고리즘 시나리오</a:t>
                      </a:r>
                    </a:p>
                  </a:txBody>
                  <a:tcPr marL="75433" marR="75433" marT="37716" marB="37716" anchor="ctr">
                    <a:lnL>
                      <a:noFill/>
                    </a:lnL>
                    <a:lnR>
                      <a:noFill/>
                    </a:lnR>
                    <a:lnT>
                      <a:noFill/>
                    </a:lnT>
                    <a:lnB>
                      <a:noFill/>
                    </a:lnB>
                    <a:solidFill>
                      <a:srgbClr val="3B5AA8"/>
                    </a:solidFill>
                  </a:tcPr>
                </a:tc>
                <a:extLst>
                  <a:ext uri="{0D108BD9-81ED-4DB2-BD59-A6C34878D82A}">
                    <a16:rowId xmlns:a16="http://schemas.microsoft.com/office/drawing/2014/main" val="2022971181"/>
                  </a:ext>
                </a:extLst>
              </a:tr>
              <a:tr h="493904">
                <a:tc>
                  <a:txBody>
                    <a:bodyPr/>
                    <a:lstStyle/>
                    <a:p>
                      <a:pPr>
                        <a:buNone/>
                      </a:pPr>
                      <a:r>
                        <a:rPr lang="ko-KR" sz="1100" dirty="0"/>
                        <a:t>① 보조배터리에서 수집된 전압, 전류, 온도, SOC, 가스, 압력 데이터를 </a:t>
                      </a:r>
                      <a:r>
                        <a:rPr lang="ko-KR" sz="1100" dirty="0" err="1"/>
                        <a:t>전처리하여</a:t>
                      </a:r>
                      <a:r>
                        <a:rPr lang="ko-KR" sz="1100" dirty="0"/>
                        <a:t> 일정한 길이의 </a:t>
                      </a:r>
                      <a:r>
                        <a:rPr lang="ko-KR" sz="1100" dirty="0" err="1"/>
                        <a:t>Sequence</a:t>
                      </a:r>
                      <a:r>
                        <a:rPr lang="ko-KR" sz="1100" dirty="0"/>
                        <a:t> 데이터로 변환한다.</a:t>
                      </a:r>
                    </a:p>
                  </a:txBody>
                  <a:tcPr marL="75433" marR="75433" marT="37716" marB="37716" anchor="ctr">
                    <a:lnL>
                      <a:noFill/>
                    </a:lnL>
                    <a:lnR>
                      <a:noFill/>
                    </a:lnR>
                    <a:lnT>
                      <a:noFill/>
                    </a:lnT>
                    <a:lnB>
                      <a:noFill/>
                    </a:lnB>
                    <a:noFill/>
                  </a:tcPr>
                </a:tc>
                <a:extLst>
                  <a:ext uri="{0D108BD9-81ED-4DB2-BD59-A6C34878D82A}">
                    <a16:rowId xmlns:a16="http://schemas.microsoft.com/office/drawing/2014/main" val="1583339975"/>
                  </a:ext>
                </a:extLst>
              </a:tr>
              <a:tr h="493904">
                <a:tc>
                  <a:txBody>
                    <a:bodyPr/>
                    <a:lstStyle/>
                    <a:p>
                      <a:pPr>
                        <a:buNone/>
                      </a:pPr>
                      <a:r>
                        <a:rPr lang="ko-KR" sz="1100" dirty="0"/>
                        <a:t>② 생성된 </a:t>
                      </a:r>
                      <a:r>
                        <a:rPr lang="ko-KR" sz="1100" dirty="0" err="1"/>
                        <a:t>Sequence</a:t>
                      </a:r>
                      <a:r>
                        <a:rPr lang="ko-KR" sz="1100" dirty="0"/>
                        <a:t> 데이터는 LSTM </a:t>
                      </a:r>
                      <a:r>
                        <a:rPr lang="ko-KR" sz="1100" dirty="0" err="1"/>
                        <a:t>Autoencoder와</a:t>
                      </a:r>
                      <a:r>
                        <a:rPr lang="ko-KR" sz="1100" dirty="0"/>
                        <a:t> </a:t>
                      </a:r>
                      <a:r>
                        <a:rPr lang="ko-KR" sz="1100" dirty="0" err="1"/>
                        <a:t>Informer에</a:t>
                      </a:r>
                      <a:r>
                        <a:rPr lang="ko-KR" sz="1100" dirty="0"/>
                        <a:t> 동시에 입력된다.</a:t>
                      </a:r>
                    </a:p>
                  </a:txBody>
                  <a:tcPr marL="75433" marR="75433" marT="37716" marB="37716"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177200227"/>
                  </a:ext>
                </a:extLst>
              </a:tr>
              <a:tr h="493904">
                <a:tc>
                  <a:txBody>
                    <a:bodyPr/>
                    <a:lstStyle/>
                    <a:p>
                      <a:pPr>
                        <a:buNone/>
                      </a:pPr>
                      <a:r>
                        <a:rPr lang="ko-KR" sz="1100" dirty="0"/>
                        <a:t>③ LSTM </a:t>
                      </a:r>
                      <a:r>
                        <a:rPr lang="ko-KR" sz="1100" dirty="0" err="1"/>
                        <a:t>Autoencoder는</a:t>
                      </a:r>
                      <a:r>
                        <a:rPr lang="ko-KR" sz="1100" dirty="0"/>
                        <a:t> 현재 센서 패턴을 복원하고, </a:t>
                      </a:r>
                      <a:r>
                        <a:rPr lang="ko-KR" sz="1100" dirty="0" err="1"/>
                        <a:t>입력값과</a:t>
                      </a:r>
                      <a:r>
                        <a:rPr lang="ko-KR" sz="1100" dirty="0"/>
                        <a:t> </a:t>
                      </a:r>
                      <a:r>
                        <a:rPr lang="ko-KR" sz="1100" dirty="0" err="1"/>
                        <a:t>복원값의</a:t>
                      </a:r>
                      <a:r>
                        <a:rPr lang="ko-KR" sz="1100" dirty="0"/>
                        <a:t> 차이를 통해 현재 이상점수를 계산한다.</a:t>
                      </a:r>
                    </a:p>
                  </a:txBody>
                  <a:tcPr marL="75433" marR="75433" marT="37716" marB="37716" anchor="ctr">
                    <a:lnL>
                      <a:noFill/>
                    </a:lnL>
                    <a:lnR>
                      <a:noFill/>
                    </a:lnR>
                    <a:lnT>
                      <a:noFill/>
                    </a:lnT>
                    <a:lnB>
                      <a:noFill/>
                    </a:lnB>
                    <a:noFill/>
                  </a:tcPr>
                </a:tc>
                <a:extLst>
                  <a:ext uri="{0D108BD9-81ED-4DB2-BD59-A6C34878D82A}">
                    <a16:rowId xmlns:a16="http://schemas.microsoft.com/office/drawing/2014/main" val="2811270436"/>
                  </a:ext>
                </a:extLst>
              </a:tr>
              <a:tr h="493904">
                <a:tc>
                  <a:txBody>
                    <a:bodyPr/>
                    <a:lstStyle/>
                    <a:p>
                      <a:pPr>
                        <a:buNone/>
                      </a:pPr>
                      <a:r>
                        <a:rPr lang="ko-KR" sz="1100" dirty="0"/>
                        <a:t>④ </a:t>
                      </a:r>
                      <a:r>
                        <a:rPr lang="ko-KR" sz="1100" dirty="0" err="1"/>
                        <a:t>Informer는</a:t>
                      </a:r>
                      <a:r>
                        <a:rPr lang="ko-KR" sz="1100" dirty="0"/>
                        <a:t> 미래 센서 변화 흐름을 예측하고, </a:t>
                      </a:r>
                      <a:r>
                        <a:rPr lang="ko-KR" sz="1100" dirty="0" err="1"/>
                        <a:t>실제값과</a:t>
                      </a:r>
                      <a:r>
                        <a:rPr lang="ko-KR" sz="1100" dirty="0"/>
                        <a:t> </a:t>
                      </a:r>
                      <a:r>
                        <a:rPr lang="ko-KR" sz="1100" dirty="0" err="1"/>
                        <a:t>예측값의</a:t>
                      </a:r>
                      <a:r>
                        <a:rPr lang="ko-KR" sz="1100" dirty="0"/>
                        <a:t> 차이를 통해 미래 위험점수를 계산한다.</a:t>
                      </a:r>
                    </a:p>
                  </a:txBody>
                  <a:tcPr marL="75433" marR="75433" marT="37716" marB="37716"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2314932209"/>
                  </a:ext>
                </a:extLst>
              </a:tr>
              <a:tr h="493904">
                <a:tc>
                  <a:txBody>
                    <a:bodyPr/>
                    <a:lstStyle/>
                    <a:p>
                      <a:pPr>
                        <a:buNone/>
                      </a:pPr>
                      <a:r>
                        <a:rPr lang="ko-KR" sz="1100"/>
                        <a:t>⑤ 두 모델에서 계산된 점수는 가중합 방식으로 결합되어 최종 이상점수로 산출된다.</a:t>
                      </a:r>
                    </a:p>
                  </a:txBody>
                  <a:tcPr marL="75433" marR="75433" marT="37716" marB="37716" anchor="ctr">
                    <a:lnL>
                      <a:noFill/>
                    </a:lnL>
                    <a:lnR>
                      <a:noFill/>
                    </a:lnR>
                    <a:lnT>
                      <a:noFill/>
                    </a:lnT>
                    <a:lnB>
                      <a:noFill/>
                    </a:lnB>
                    <a:noFill/>
                  </a:tcPr>
                </a:tc>
                <a:extLst>
                  <a:ext uri="{0D108BD9-81ED-4DB2-BD59-A6C34878D82A}">
                    <a16:rowId xmlns:a16="http://schemas.microsoft.com/office/drawing/2014/main" val="3719911239"/>
                  </a:ext>
                </a:extLst>
              </a:tr>
              <a:tr h="493904">
                <a:tc>
                  <a:txBody>
                    <a:bodyPr/>
                    <a:lstStyle/>
                    <a:p>
                      <a:pPr>
                        <a:buNone/>
                      </a:pPr>
                      <a:r>
                        <a:rPr lang="ko-KR" sz="1100" dirty="0"/>
                        <a:t>⑥ 최종 이상점수가 </a:t>
                      </a:r>
                      <a:r>
                        <a:rPr lang="ko-KR" sz="1100" dirty="0" err="1"/>
                        <a:t>기준값</a:t>
                      </a:r>
                      <a:r>
                        <a:rPr lang="ko-KR" sz="1100" dirty="0"/>
                        <a:t> 이하이면 정상 상태로 판단하고, 대시보드에 반입 가능 상태를 표시한다.</a:t>
                      </a:r>
                    </a:p>
                  </a:txBody>
                  <a:tcPr marL="75433" marR="75433" marT="37716" marB="37716"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1323549309"/>
                  </a:ext>
                </a:extLst>
              </a:tr>
              <a:tr h="493904">
                <a:tc>
                  <a:txBody>
                    <a:bodyPr/>
                    <a:lstStyle/>
                    <a:p>
                      <a:pPr>
                        <a:buNone/>
                      </a:pPr>
                      <a:r>
                        <a:rPr lang="ko-KR" sz="1100"/>
                        <a:t>⑦ 최종 이상점수가 기준값을 초과하면 위험 상태로 판단하고, 대시보드 경고 및 사용자 알림을 발생시킨다.</a:t>
                      </a:r>
                    </a:p>
                  </a:txBody>
                  <a:tcPr marL="75433" marR="75433" marT="37716" marB="37716" anchor="ctr">
                    <a:lnL>
                      <a:noFill/>
                    </a:lnL>
                    <a:lnR>
                      <a:noFill/>
                    </a:lnR>
                    <a:lnT>
                      <a:noFill/>
                    </a:lnT>
                    <a:lnB>
                      <a:noFill/>
                    </a:lnB>
                    <a:noFill/>
                  </a:tcPr>
                </a:tc>
                <a:extLst>
                  <a:ext uri="{0D108BD9-81ED-4DB2-BD59-A6C34878D82A}">
                    <a16:rowId xmlns:a16="http://schemas.microsoft.com/office/drawing/2014/main" val="2039986105"/>
                  </a:ext>
                </a:extLst>
              </a:tr>
              <a:tr h="493904">
                <a:tc>
                  <a:txBody>
                    <a:bodyPr/>
                    <a:lstStyle/>
                    <a:p>
                      <a:pPr>
                        <a:buNone/>
                      </a:pPr>
                      <a:r>
                        <a:rPr lang="ko-KR" sz="1100" dirty="0"/>
                        <a:t>⑧ 위험등급이 높은 경우 </a:t>
                      </a:r>
                      <a:r>
                        <a:rPr lang="ko-KR" sz="1100" dirty="0" err="1"/>
                        <a:t>Relay</a:t>
                      </a:r>
                      <a:r>
                        <a:rPr lang="ko-KR" sz="1100" dirty="0"/>
                        <a:t> </a:t>
                      </a:r>
                      <a:r>
                        <a:rPr lang="ko-KR" sz="1100" dirty="0" err="1"/>
                        <a:t>Kill-Switch를</a:t>
                      </a:r>
                      <a:r>
                        <a:rPr lang="ko-KR" sz="1100" dirty="0"/>
                        <a:t> 작동시켜 보조배터리 전원을 차단한다.</a:t>
                      </a:r>
                    </a:p>
                  </a:txBody>
                  <a:tcPr marL="75433" marR="75433" marT="37716" marB="37716"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1111222322"/>
                  </a:ext>
                </a:extLst>
              </a:tr>
            </a:tbl>
          </a:graphicData>
        </a:graphic>
      </p:graphicFrame>
    </p:spTree>
    <p:extLst>
      <p:ext uri="{BB962C8B-B14F-4D97-AF65-F5344CB8AC3E}">
        <p14:creationId xmlns:p14="http://schemas.microsoft.com/office/powerpoint/2010/main" val="193488501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8B061-268F-8413-DBFC-20894BE35200}"/>
            </a:ext>
          </a:extLst>
        </p:cNvPr>
        <p:cNvGrpSpPr/>
        <p:nvPr/>
      </p:nvGrpSpPr>
      <p:grpSpPr>
        <a:xfrm>
          <a:off x="0" y="0"/>
          <a:ext cx="0" cy="0"/>
          <a:chOff x="0" y="0"/>
          <a:chExt cx="0" cy="0"/>
        </a:xfrm>
      </p:grpSpPr>
      <p:sp>
        <p:nvSpPr>
          <p:cNvPr id="17" name="직사각형 16">
            <a:extLst>
              <a:ext uri="{FF2B5EF4-FFF2-40B4-BE49-F238E27FC236}">
                <a16:creationId xmlns:a16="http://schemas.microsoft.com/office/drawing/2014/main" id="{CC137F7C-5799-5C0A-FAAA-22840A4DCB0E}"/>
              </a:ext>
            </a:extLst>
          </p:cNvPr>
          <p:cNvSpPr/>
          <p:nvPr/>
        </p:nvSpPr>
        <p:spPr>
          <a:xfrm>
            <a:off x="1010281" y="1310389"/>
            <a:ext cx="7033700" cy="27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2" name="TextBox 1">
            <a:extLst>
              <a:ext uri="{FF2B5EF4-FFF2-40B4-BE49-F238E27FC236}">
                <a16:creationId xmlns:a16="http://schemas.microsoft.com/office/drawing/2014/main" id="{60349FF9-4C6C-E40D-985A-82AB3354CFE7}"/>
              </a:ext>
            </a:extLst>
          </p:cNvPr>
          <p:cNvSpPr txBox="1"/>
          <p:nvPr/>
        </p:nvSpPr>
        <p:spPr>
          <a:xfrm>
            <a:off x="1010281" y="1037307"/>
            <a:ext cx="2826655" cy="323165"/>
          </a:xfrm>
          <a:prstGeom prst="rect">
            <a:avLst/>
          </a:prstGeom>
          <a:noFill/>
        </p:spPr>
        <p:txBody>
          <a:bodyPr wrap="square">
            <a:spAutoFit/>
          </a:bodyPr>
          <a:lstStyle/>
          <a:p>
            <a:r>
              <a:rPr lang="ko-KR" altLang="en-US" sz="1500" b="1" dirty="0" err="1"/>
              <a:t>열폭주</a:t>
            </a:r>
            <a:r>
              <a:rPr lang="ko-KR" altLang="en-US" sz="1500" b="1" dirty="0"/>
              <a:t> 이상 징후 </a:t>
            </a:r>
            <a:r>
              <a:rPr lang="en-US" altLang="ko-KR" sz="1500" b="1" dirty="0"/>
              <a:t>AI </a:t>
            </a:r>
            <a:r>
              <a:rPr lang="ko-KR" altLang="en-US" sz="1500" b="1" dirty="0"/>
              <a:t>모델 구현</a:t>
            </a:r>
          </a:p>
        </p:txBody>
      </p:sp>
      <p:pic>
        <p:nvPicPr>
          <p:cNvPr id="5" name="그림 4">
            <a:extLst>
              <a:ext uri="{FF2B5EF4-FFF2-40B4-BE49-F238E27FC236}">
                <a16:creationId xmlns:a16="http://schemas.microsoft.com/office/drawing/2014/main" id="{82700679-E664-81AB-36E0-B25AA9740E95}"/>
              </a:ext>
            </a:extLst>
          </p:cNvPr>
          <p:cNvPicPr>
            <a:picLocks noChangeAspect="1"/>
          </p:cNvPicPr>
          <p:nvPr/>
        </p:nvPicPr>
        <p:blipFill>
          <a:blip r:embed="rId2"/>
          <a:srcRect t="15882" b="18838"/>
          <a:stretch>
            <a:fillRect/>
          </a:stretch>
        </p:blipFill>
        <p:spPr>
          <a:xfrm>
            <a:off x="415636" y="1614388"/>
            <a:ext cx="8233064" cy="3116987"/>
          </a:xfrm>
          <a:prstGeom prst="rect">
            <a:avLst/>
          </a:prstGeom>
        </p:spPr>
      </p:pic>
    </p:spTree>
    <p:extLst>
      <p:ext uri="{BB962C8B-B14F-4D97-AF65-F5344CB8AC3E}">
        <p14:creationId xmlns:p14="http://schemas.microsoft.com/office/powerpoint/2010/main" val="131049050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F2C7A-CF95-B005-C568-FE7A38367BB6}"/>
            </a:ext>
          </a:extLst>
        </p:cNvPr>
        <p:cNvGrpSpPr/>
        <p:nvPr/>
      </p:nvGrpSpPr>
      <p:grpSpPr>
        <a:xfrm>
          <a:off x="0" y="0"/>
          <a:ext cx="0" cy="0"/>
          <a:chOff x="0" y="0"/>
          <a:chExt cx="0" cy="0"/>
        </a:xfrm>
      </p:grpSpPr>
      <p:sp>
        <p:nvSpPr>
          <p:cNvPr id="17" name="직사각형 16">
            <a:extLst>
              <a:ext uri="{FF2B5EF4-FFF2-40B4-BE49-F238E27FC236}">
                <a16:creationId xmlns:a16="http://schemas.microsoft.com/office/drawing/2014/main" id="{A4381374-0956-EDBB-40D9-AE3643888F2B}"/>
              </a:ext>
            </a:extLst>
          </p:cNvPr>
          <p:cNvSpPr/>
          <p:nvPr/>
        </p:nvSpPr>
        <p:spPr>
          <a:xfrm>
            <a:off x="1010281" y="1310389"/>
            <a:ext cx="7033700" cy="27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2" name="TextBox 1">
            <a:extLst>
              <a:ext uri="{FF2B5EF4-FFF2-40B4-BE49-F238E27FC236}">
                <a16:creationId xmlns:a16="http://schemas.microsoft.com/office/drawing/2014/main" id="{927B57DE-12F1-F94B-3C8E-78D32C2B91F2}"/>
              </a:ext>
            </a:extLst>
          </p:cNvPr>
          <p:cNvSpPr txBox="1"/>
          <p:nvPr/>
        </p:nvSpPr>
        <p:spPr>
          <a:xfrm>
            <a:off x="1010281" y="1033390"/>
            <a:ext cx="2826655" cy="323165"/>
          </a:xfrm>
          <a:prstGeom prst="rect">
            <a:avLst/>
          </a:prstGeom>
          <a:noFill/>
        </p:spPr>
        <p:txBody>
          <a:bodyPr wrap="square">
            <a:spAutoFit/>
          </a:bodyPr>
          <a:lstStyle/>
          <a:p>
            <a:r>
              <a:rPr lang="en-US" altLang="ko-KR" sz="1500" b="1" dirty="0"/>
              <a:t>Input Feature </a:t>
            </a:r>
            <a:r>
              <a:rPr lang="ko-KR" altLang="en-US" sz="1500" b="1" dirty="0"/>
              <a:t>총정리 </a:t>
            </a:r>
            <a:r>
              <a:rPr lang="en-US" altLang="ko-KR" sz="1500" b="1" dirty="0"/>
              <a:t> </a:t>
            </a:r>
            <a:endParaRPr lang="ko-KR" altLang="en-US" sz="1500" b="1" dirty="0"/>
          </a:p>
        </p:txBody>
      </p:sp>
      <p:pic>
        <p:nvPicPr>
          <p:cNvPr id="4" name="그림 3">
            <a:extLst>
              <a:ext uri="{FF2B5EF4-FFF2-40B4-BE49-F238E27FC236}">
                <a16:creationId xmlns:a16="http://schemas.microsoft.com/office/drawing/2014/main" id="{4D51794A-6C63-E074-C000-ACEAF6E83835}"/>
              </a:ext>
            </a:extLst>
          </p:cNvPr>
          <p:cNvPicPr>
            <a:picLocks noChangeAspect="1"/>
          </p:cNvPicPr>
          <p:nvPr/>
        </p:nvPicPr>
        <p:blipFill>
          <a:blip r:embed="rId2"/>
          <a:stretch>
            <a:fillRect/>
          </a:stretch>
        </p:blipFill>
        <p:spPr>
          <a:xfrm>
            <a:off x="1010281" y="1329604"/>
            <a:ext cx="7033700" cy="4390592"/>
          </a:xfrm>
          <a:prstGeom prst="rect">
            <a:avLst/>
          </a:prstGeom>
        </p:spPr>
      </p:pic>
    </p:spTree>
    <p:extLst>
      <p:ext uri="{BB962C8B-B14F-4D97-AF65-F5344CB8AC3E}">
        <p14:creationId xmlns:p14="http://schemas.microsoft.com/office/powerpoint/2010/main" val="266792226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92CBF-8825-A9E3-08A5-15B04B9C41A1}"/>
            </a:ext>
          </a:extLst>
        </p:cNvPr>
        <p:cNvGrpSpPr/>
        <p:nvPr/>
      </p:nvGrpSpPr>
      <p:grpSpPr>
        <a:xfrm>
          <a:off x="0" y="0"/>
          <a:ext cx="0" cy="0"/>
          <a:chOff x="0" y="0"/>
          <a:chExt cx="0" cy="0"/>
        </a:xfrm>
      </p:grpSpPr>
      <p:sp>
        <p:nvSpPr>
          <p:cNvPr id="17" name="직사각형 16">
            <a:extLst>
              <a:ext uri="{FF2B5EF4-FFF2-40B4-BE49-F238E27FC236}">
                <a16:creationId xmlns:a16="http://schemas.microsoft.com/office/drawing/2014/main" id="{B154C164-8B17-12F0-6ECD-5A7A005EC540}"/>
              </a:ext>
            </a:extLst>
          </p:cNvPr>
          <p:cNvSpPr/>
          <p:nvPr/>
        </p:nvSpPr>
        <p:spPr>
          <a:xfrm>
            <a:off x="1010281" y="1310389"/>
            <a:ext cx="7033700" cy="27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2" name="TextBox 1">
            <a:extLst>
              <a:ext uri="{FF2B5EF4-FFF2-40B4-BE49-F238E27FC236}">
                <a16:creationId xmlns:a16="http://schemas.microsoft.com/office/drawing/2014/main" id="{8032B5D2-82A9-CE65-D82E-C61F04B47F56}"/>
              </a:ext>
            </a:extLst>
          </p:cNvPr>
          <p:cNvSpPr txBox="1"/>
          <p:nvPr/>
        </p:nvSpPr>
        <p:spPr>
          <a:xfrm>
            <a:off x="1010281" y="1023807"/>
            <a:ext cx="6326017" cy="323165"/>
          </a:xfrm>
          <a:prstGeom prst="rect">
            <a:avLst/>
          </a:prstGeom>
          <a:noFill/>
        </p:spPr>
        <p:txBody>
          <a:bodyPr wrap="square">
            <a:spAutoFit/>
          </a:bodyPr>
          <a:lstStyle/>
          <a:p>
            <a:r>
              <a:rPr lang="ko-KR" altLang="en-US" sz="1500" b="1" dirty="0"/>
              <a:t>모드별</a:t>
            </a:r>
            <a:r>
              <a:rPr lang="en-US" altLang="ko-KR" sz="1500" b="1" dirty="0"/>
              <a:t> Input Feature</a:t>
            </a:r>
            <a:endParaRPr lang="ko-KR" altLang="en-US" sz="1500" b="1" dirty="0"/>
          </a:p>
        </p:txBody>
      </p:sp>
      <p:pic>
        <p:nvPicPr>
          <p:cNvPr id="5" name="그림 4">
            <a:extLst>
              <a:ext uri="{FF2B5EF4-FFF2-40B4-BE49-F238E27FC236}">
                <a16:creationId xmlns:a16="http://schemas.microsoft.com/office/drawing/2014/main" id="{DCA19F57-A484-FC33-CD72-5EA3BD69AF04}"/>
              </a:ext>
            </a:extLst>
          </p:cNvPr>
          <p:cNvPicPr>
            <a:picLocks noChangeAspect="1"/>
          </p:cNvPicPr>
          <p:nvPr/>
        </p:nvPicPr>
        <p:blipFill>
          <a:blip r:embed="rId2"/>
          <a:srcRect l="8179" t="7810" r="8892"/>
          <a:stretch>
            <a:fillRect/>
          </a:stretch>
        </p:blipFill>
        <p:spPr>
          <a:xfrm>
            <a:off x="1336231" y="1453212"/>
            <a:ext cx="6471539" cy="4412456"/>
          </a:xfrm>
          <a:prstGeom prst="rect">
            <a:avLst/>
          </a:prstGeom>
        </p:spPr>
      </p:pic>
    </p:spTree>
    <p:extLst>
      <p:ext uri="{BB962C8B-B14F-4D97-AF65-F5344CB8AC3E}">
        <p14:creationId xmlns:p14="http://schemas.microsoft.com/office/powerpoint/2010/main" val="289259757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B802C-B6AB-CC18-C7C6-B9C44AAFE13E}"/>
            </a:ext>
          </a:extLst>
        </p:cNvPr>
        <p:cNvGrpSpPr/>
        <p:nvPr/>
      </p:nvGrpSpPr>
      <p:grpSpPr>
        <a:xfrm>
          <a:off x="0" y="0"/>
          <a:ext cx="0" cy="0"/>
          <a:chOff x="0" y="0"/>
          <a:chExt cx="0" cy="0"/>
        </a:xfrm>
      </p:grpSpPr>
      <p:sp>
        <p:nvSpPr>
          <p:cNvPr id="17" name="직사각형 16">
            <a:extLst>
              <a:ext uri="{FF2B5EF4-FFF2-40B4-BE49-F238E27FC236}">
                <a16:creationId xmlns:a16="http://schemas.microsoft.com/office/drawing/2014/main" id="{10F17220-2C12-BD90-2ED0-C8058EC0C88D}"/>
              </a:ext>
            </a:extLst>
          </p:cNvPr>
          <p:cNvSpPr/>
          <p:nvPr/>
        </p:nvSpPr>
        <p:spPr>
          <a:xfrm>
            <a:off x="1010281" y="1310389"/>
            <a:ext cx="7033700" cy="27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2" name="TextBox 1">
            <a:extLst>
              <a:ext uri="{FF2B5EF4-FFF2-40B4-BE49-F238E27FC236}">
                <a16:creationId xmlns:a16="http://schemas.microsoft.com/office/drawing/2014/main" id="{0B6498A8-77DD-C8DF-2EF4-141D4C08CB3D}"/>
              </a:ext>
            </a:extLst>
          </p:cNvPr>
          <p:cNvSpPr txBox="1"/>
          <p:nvPr/>
        </p:nvSpPr>
        <p:spPr>
          <a:xfrm>
            <a:off x="1010281" y="1023807"/>
            <a:ext cx="3486479" cy="323165"/>
          </a:xfrm>
          <a:prstGeom prst="rect">
            <a:avLst/>
          </a:prstGeom>
          <a:noFill/>
        </p:spPr>
        <p:txBody>
          <a:bodyPr wrap="square">
            <a:spAutoFit/>
          </a:bodyPr>
          <a:lstStyle/>
          <a:p>
            <a:r>
              <a:rPr lang="en-US" altLang="ko-KR" sz="1500" b="1" dirty="0"/>
              <a:t>Base Model : Auto-Encoder</a:t>
            </a:r>
            <a:endParaRPr lang="ko-KR" altLang="en-US" sz="1500" b="1" dirty="0"/>
          </a:p>
        </p:txBody>
      </p:sp>
      <p:pic>
        <p:nvPicPr>
          <p:cNvPr id="5" name="그림 4">
            <a:extLst>
              <a:ext uri="{FF2B5EF4-FFF2-40B4-BE49-F238E27FC236}">
                <a16:creationId xmlns:a16="http://schemas.microsoft.com/office/drawing/2014/main" id="{D2EEB05C-04F6-93A3-AB80-1C71136E121F}"/>
              </a:ext>
            </a:extLst>
          </p:cNvPr>
          <p:cNvPicPr>
            <a:picLocks noChangeAspect="1"/>
          </p:cNvPicPr>
          <p:nvPr/>
        </p:nvPicPr>
        <p:blipFill>
          <a:blip r:embed="rId2"/>
          <a:srcRect t="10075"/>
          <a:stretch>
            <a:fillRect/>
          </a:stretch>
        </p:blipFill>
        <p:spPr>
          <a:xfrm>
            <a:off x="979909" y="1337389"/>
            <a:ext cx="7033700" cy="4243169"/>
          </a:xfrm>
          <a:prstGeom prst="rect">
            <a:avLst/>
          </a:prstGeom>
        </p:spPr>
      </p:pic>
    </p:spTree>
    <p:extLst>
      <p:ext uri="{BB962C8B-B14F-4D97-AF65-F5344CB8AC3E}">
        <p14:creationId xmlns:p14="http://schemas.microsoft.com/office/powerpoint/2010/main" val="186937633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89FD0-CD72-05F1-D44B-3245F7285819}"/>
            </a:ext>
          </a:extLst>
        </p:cNvPr>
        <p:cNvGrpSpPr/>
        <p:nvPr/>
      </p:nvGrpSpPr>
      <p:grpSpPr>
        <a:xfrm>
          <a:off x="0" y="0"/>
          <a:ext cx="0" cy="0"/>
          <a:chOff x="0" y="0"/>
          <a:chExt cx="0" cy="0"/>
        </a:xfrm>
      </p:grpSpPr>
      <p:sp>
        <p:nvSpPr>
          <p:cNvPr id="17" name="직사각형 16">
            <a:extLst>
              <a:ext uri="{FF2B5EF4-FFF2-40B4-BE49-F238E27FC236}">
                <a16:creationId xmlns:a16="http://schemas.microsoft.com/office/drawing/2014/main" id="{C04123F4-CFE6-53C7-1623-FF84B607F582}"/>
              </a:ext>
            </a:extLst>
          </p:cNvPr>
          <p:cNvSpPr/>
          <p:nvPr/>
        </p:nvSpPr>
        <p:spPr>
          <a:xfrm>
            <a:off x="1010281" y="1310389"/>
            <a:ext cx="7033700" cy="27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2" name="TextBox 1">
            <a:extLst>
              <a:ext uri="{FF2B5EF4-FFF2-40B4-BE49-F238E27FC236}">
                <a16:creationId xmlns:a16="http://schemas.microsoft.com/office/drawing/2014/main" id="{1DA0C16B-A973-D754-4214-971B99B8461E}"/>
              </a:ext>
            </a:extLst>
          </p:cNvPr>
          <p:cNvSpPr txBox="1"/>
          <p:nvPr/>
        </p:nvSpPr>
        <p:spPr>
          <a:xfrm>
            <a:off x="1010281" y="1037307"/>
            <a:ext cx="3486479" cy="323165"/>
          </a:xfrm>
          <a:prstGeom prst="rect">
            <a:avLst/>
          </a:prstGeom>
          <a:noFill/>
        </p:spPr>
        <p:txBody>
          <a:bodyPr wrap="square">
            <a:spAutoFit/>
          </a:bodyPr>
          <a:lstStyle/>
          <a:p>
            <a:r>
              <a:rPr lang="en-US" altLang="ko-KR" sz="1500" b="1" dirty="0"/>
              <a:t>Normal AE vs LSTM-Auto Encoder</a:t>
            </a:r>
            <a:endParaRPr lang="ko-KR" altLang="en-US" sz="1500" b="1" dirty="0"/>
          </a:p>
        </p:txBody>
      </p:sp>
      <p:sp>
        <p:nvSpPr>
          <p:cNvPr id="6" name="바닥글 개체 틀 3">
            <a:extLst>
              <a:ext uri="{FF2B5EF4-FFF2-40B4-BE49-F238E27FC236}">
                <a16:creationId xmlns:a16="http://schemas.microsoft.com/office/drawing/2014/main" id="{D9348731-9CAF-986A-2BA4-556D85F36D92}"/>
              </a:ext>
            </a:extLst>
          </p:cNvPr>
          <p:cNvSpPr>
            <a:spLocks noGrp="1"/>
          </p:cNvSpPr>
          <p:nvPr>
            <p:ph type="ftr" sz="quarter" idx="11"/>
          </p:nvPr>
        </p:nvSpPr>
        <p:spPr>
          <a:xfrm>
            <a:off x="1238985" y="5768687"/>
            <a:ext cx="6666030" cy="52007"/>
          </a:xfrm>
        </p:spPr>
        <p:txBody>
          <a:bodyPr/>
          <a:lstStyle/>
          <a:p>
            <a:r>
              <a:rPr lang="en-US" altLang="ko-KR" dirty="0"/>
              <a:t>Park, J., Jang, K., Jeong, D., Kwon, S., Chung, S., &amp; Bae, S., “A Research on Anomaly Detection of Abnormal Degradation in Lithium-ion Batteries using LSTM-</a:t>
            </a:r>
            <a:r>
              <a:rPr lang="en-US" altLang="ko-KR" dirty="0" err="1"/>
              <a:t>AutoEncoder</a:t>
            </a:r>
            <a:r>
              <a:rPr lang="en-US" altLang="ko-KR" dirty="0"/>
              <a:t> Model,” Proceedings of the KIEE Summer Conference, 2024.</a:t>
            </a:r>
            <a:endParaRPr lang="ko-KR" altLang="en-US" dirty="0"/>
          </a:p>
        </p:txBody>
      </p:sp>
      <p:pic>
        <p:nvPicPr>
          <p:cNvPr id="5" name="그림 4">
            <a:extLst>
              <a:ext uri="{FF2B5EF4-FFF2-40B4-BE49-F238E27FC236}">
                <a16:creationId xmlns:a16="http://schemas.microsoft.com/office/drawing/2014/main" id="{BDF25BBC-A020-9649-D3B2-297A9F25F112}"/>
              </a:ext>
            </a:extLst>
          </p:cNvPr>
          <p:cNvPicPr>
            <a:picLocks noChangeAspect="1"/>
          </p:cNvPicPr>
          <p:nvPr/>
        </p:nvPicPr>
        <p:blipFill>
          <a:blip r:embed="rId2"/>
          <a:srcRect t="8554"/>
          <a:stretch>
            <a:fillRect/>
          </a:stretch>
        </p:blipFill>
        <p:spPr>
          <a:xfrm>
            <a:off x="979909" y="1337389"/>
            <a:ext cx="7033700" cy="4210223"/>
          </a:xfrm>
          <a:prstGeom prst="rect">
            <a:avLst/>
          </a:prstGeom>
        </p:spPr>
      </p:pic>
    </p:spTree>
    <p:extLst>
      <p:ext uri="{BB962C8B-B14F-4D97-AF65-F5344CB8AC3E}">
        <p14:creationId xmlns:p14="http://schemas.microsoft.com/office/powerpoint/2010/main" val="11653976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0F21B-1384-A80F-C090-BD2031A15109}"/>
            </a:ext>
          </a:extLst>
        </p:cNvPr>
        <p:cNvGrpSpPr/>
        <p:nvPr/>
      </p:nvGrpSpPr>
      <p:grpSpPr>
        <a:xfrm>
          <a:off x="0" y="0"/>
          <a:ext cx="0" cy="0"/>
          <a:chOff x="0" y="0"/>
          <a:chExt cx="0" cy="0"/>
        </a:xfrm>
      </p:grpSpPr>
      <p:sp>
        <p:nvSpPr>
          <p:cNvPr id="17" name="직사각형 16">
            <a:extLst>
              <a:ext uri="{FF2B5EF4-FFF2-40B4-BE49-F238E27FC236}">
                <a16:creationId xmlns:a16="http://schemas.microsoft.com/office/drawing/2014/main" id="{4C639AA3-0903-20BE-AE36-9C17E1038AA2}"/>
              </a:ext>
            </a:extLst>
          </p:cNvPr>
          <p:cNvSpPr/>
          <p:nvPr/>
        </p:nvSpPr>
        <p:spPr>
          <a:xfrm>
            <a:off x="1010281" y="1310389"/>
            <a:ext cx="7033700" cy="27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2" name="TextBox 1">
            <a:extLst>
              <a:ext uri="{FF2B5EF4-FFF2-40B4-BE49-F238E27FC236}">
                <a16:creationId xmlns:a16="http://schemas.microsoft.com/office/drawing/2014/main" id="{B51E57F5-CCA7-AC38-9623-5A31511D3BE1}"/>
              </a:ext>
            </a:extLst>
          </p:cNvPr>
          <p:cNvSpPr txBox="1"/>
          <p:nvPr/>
        </p:nvSpPr>
        <p:spPr>
          <a:xfrm>
            <a:off x="1010281" y="1037307"/>
            <a:ext cx="7025765" cy="323165"/>
          </a:xfrm>
          <a:prstGeom prst="rect">
            <a:avLst/>
          </a:prstGeom>
          <a:noFill/>
        </p:spPr>
        <p:txBody>
          <a:bodyPr wrap="square">
            <a:spAutoFit/>
          </a:bodyPr>
          <a:lstStyle/>
          <a:p>
            <a:r>
              <a:rPr lang="en-US" altLang="ko-KR" sz="1500" b="1" dirty="0"/>
              <a:t>LSTM – Auto Encoder</a:t>
            </a:r>
            <a:endParaRPr lang="ko-KR" altLang="en-US" sz="1500" b="1" dirty="0"/>
          </a:p>
        </p:txBody>
      </p:sp>
      <p:pic>
        <p:nvPicPr>
          <p:cNvPr id="6" name="그림 5">
            <a:extLst>
              <a:ext uri="{FF2B5EF4-FFF2-40B4-BE49-F238E27FC236}">
                <a16:creationId xmlns:a16="http://schemas.microsoft.com/office/drawing/2014/main" id="{20B1C627-6E29-F494-46F8-7AF0906AE651}"/>
              </a:ext>
            </a:extLst>
          </p:cNvPr>
          <p:cNvPicPr>
            <a:picLocks noChangeAspect="1"/>
          </p:cNvPicPr>
          <p:nvPr/>
        </p:nvPicPr>
        <p:blipFill>
          <a:blip r:embed="rId2"/>
          <a:srcRect t="9793" b="1748"/>
          <a:stretch>
            <a:fillRect/>
          </a:stretch>
        </p:blipFill>
        <p:spPr>
          <a:xfrm>
            <a:off x="1014249" y="1337389"/>
            <a:ext cx="7033700" cy="4210223"/>
          </a:xfrm>
          <a:prstGeom prst="rect">
            <a:avLst/>
          </a:prstGeom>
        </p:spPr>
      </p:pic>
      <p:sp>
        <p:nvSpPr>
          <p:cNvPr id="10" name="바닥글 개체 틀 3">
            <a:extLst>
              <a:ext uri="{FF2B5EF4-FFF2-40B4-BE49-F238E27FC236}">
                <a16:creationId xmlns:a16="http://schemas.microsoft.com/office/drawing/2014/main" id="{FED77005-8A8C-1128-1058-0CBBB57E4B94}"/>
              </a:ext>
            </a:extLst>
          </p:cNvPr>
          <p:cNvSpPr>
            <a:spLocks noGrp="1"/>
          </p:cNvSpPr>
          <p:nvPr>
            <p:ph type="ftr" sz="quarter" idx="11"/>
          </p:nvPr>
        </p:nvSpPr>
        <p:spPr>
          <a:xfrm>
            <a:off x="1238985" y="5709180"/>
            <a:ext cx="6666030" cy="223027"/>
          </a:xfrm>
        </p:spPr>
        <p:txBody>
          <a:bodyPr/>
          <a:lstStyle/>
          <a:p>
            <a:r>
              <a:rPr lang="en-US" altLang="ko-KR" dirty="0"/>
              <a:t>Park, J., Jang, K., Jeong, D., Kwon, S., Chung, S., &amp; Bae, S., “A Research on Anomaly Detection of Abnormal Degradation in Lithium-ion Batteries using LSTM-</a:t>
            </a:r>
            <a:r>
              <a:rPr lang="en-US" altLang="ko-KR" dirty="0" err="1"/>
              <a:t>AutoEncoder</a:t>
            </a:r>
            <a:r>
              <a:rPr lang="en-US" altLang="ko-KR" dirty="0"/>
              <a:t> Model,” Proceedings of the KIEE Summer Conference, 2024.</a:t>
            </a:r>
            <a:endParaRPr lang="ko-KR" altLang="en-US" dirty="0"/>
          </a:p>
        </p:txBody>
      </p:sp>
    </p:spTree>
    <p:extLst>
      <p:ext uri="{BB962C8B-B14F-4D97-AF65-F5344CB8AC3E}">
        <p14:creationId xmlns:p14="http://schemas.microsoft.com/office/powerpoint/2010/main" val="181804418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8D3FA-ED04-34F4-1C52-ED78FF7487E8}"/>
            </a:ext>
          </a:extLst>
        </p:cNvPr>
        <p:cNvGrpSpPr/>
        <p:nvPr/>
      </p:nvGrpSpPr>
      <p:grpSpPr>
        <a:xfrm>
          <a:off x="0" y="0"/>
          <a:ext cx="0" cy="0"/>
          <a:chOff x="0" y="0"/>
          <a:chExt cx="0" cy="0"/>
        </a:xfrm>
      </p:grpSpPr>
      <p:sp>
        <p:nvSpPr>
          <p:cNvPr id="17" name="직사각형 16">
            <a:extLst>
              <a:ext uri="{FF2B5EF4-FFF2-40B4-BE49-F238E27FC236}">
                <a16:creationId xmlns:a16="http://schemas.microsoft.com/office/drawing/2014/main" id="{ED63E2DD-9444-6C5C-B0CC-C84BBDFAECAF}"/>
              </a:ext>
            </a:extLst>
          </p:cNvPr>
          <p:cNvSpPr/>
          <p:nvPr/>
        </p:nvSpPr>
        <p:spPr>
          <a:xfrm>
            <a:off x="1010281" y="1310389"/>
            <a:ext cx="7033700" cy="27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2" name="TextBox 1">
            <a:extLst>
              <a:ext uri="{FF2B5EF4-FFF2-40B4-BE49-F238E27FC236}">
                <a16:creationId xmlns:a16="http://schemas.microsoft.com/office/drawing/2014/main" id="{3A2F6C8A-2458-BD65-B9C9-2F0CEBB634D6}"/>
              </a:ext>
            </a:extLst>
          </p:cNvPr>
          <p:cNvSpPr txBox="1"/>
          <p:nvPr/>
        </p:nvSpPr>
        <p:spPr>
          <a:xfrm>
            <a:off x="1010281" y="1037306"/>
            <a:ext cx="3091623" cy="323165"/>
          </a:xfrm>
          <a:prstGeom prst="rect">
            <a:avLst/>
          </a:prstGeom>
          <a:noFill/>
        </p:spPr>
        <p:txBody>
          <a:bodyPr wrap="square">
            <a:spAutoFit/>
          </a:bodyPr>
          <a:lstStyle/>
          <a:p>
            <a:r>
              <a:rPr lang="en-US" altLang="ko-KR" sz="1500" b="1" dirty="0"/>
              <a:t>Auto-Encoder </a:t>
            </a:r>
            <a:r>
              <a:rPr lang="ko-KR" altLang="en-US" sz="1500" b="1" dirty="0"/>
              <a:t>단일 모델의 한계</a:t>
            </a:r>
          </a:p>
        </p:txBody>
      </p:sp>
      <p:pic>
        <p:nvPicPr>
          <p:cNvPr id="5" name="그림 4">
            <a:extLst>
              <a:ext uri="{FF2B5EF4-FFF2-40B4-BE49-F238E27FC236}">
                <a16:creationId xmlns:a16="http://schemas.microsoft.com/office/drawing/2014/main" id="{D5BE38C7-1617-CD3E-C7B7-D6E1E5448A40}"/>
              </a:ext>
            </a:extLst>
          </p:cNvPr>
          <p:cNvPicPr>
            <a:picLocks noChangeAspect="1"/>
          </p:cNvPicPr>
          <p:nvPr/>
        </p:nvPicPr>
        <p:blipFill>
          <a:blip r:embed="rId2"/>
          <a:srcRect t="10044"/>
          <a:stretch>
            <a:fillRect/>
          </a:stretch>
        </p:blipFill>
        <p:spPr>
          <a:xfrm>
            <a:off x="1085522" y="1337389"/>
            <a:ext cx="7131459" cy="4210223"/>
          </a:xfrm>
          <a:prstGeom prst="rect">
            <a:avLst/>
          </a:prstGeom>
        </p:spPr>
      </p:pic>
    </p:spTree>
    <p:extLst>
      <p:ext uri="{BB962C8B-B14F-4D97-AF65-F5344CB8AC3E}">
        <p14:creationId xmlns:p14="http://schemas.microsoft.com/office/powerpoint/2010/main" val="405117725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37066-5AE4-7366-6E23-329A8E5B9227}"/>
            </a:ext>
          </a:extLst>
        </p:cNvPr>
        <p:cNvGrpSpPr/>
        <p:nvPr/>
      </p:nvGrpSpPr>
      <p:grpSpPr>
        <a:xfrm>
          <a:off x="0" y="0"/>
          <a:ext cx="0" cy="0"/>
          <a:chOff x="0" y="0"/>
          <a:chExt cx="0" cy="0"/>
        </a:xfrm>
      </p:grpSpPr>
      <p:sp>
        <p:nvSpPr>
          <p:cNvPr id="17" name="직사각형 16">
            <a:extLst>
              <a:ext uri="{FF2B5EF4-FFF2-40B4-BE49-F238E27FC236}">
                <a16:creationId xmlns:a16="http://schemas.microsoft.com/office/drawing/2014/main" id="{675A228B-09F4-7193-1E9A-376DADE6F86D}"/>
              </a:ext>
            </a:extLst>
          </p:cNvPr>
          <p:cNvSpPr/>
          <p:nvPr/>
        </p:nvSpPr>
        <p:spPr>
          <a:xfrm>
            <a:off x="1010281" y="1310389"/>
            <a:ext cx="7033700" cy="27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3" name="TextBox 2">
            <a:extLst>
              <a:ext uri="{FF2B5EF4-FFF2-40B4-BE49-F238E27FC236}">
                <a16:creationId xmlns:a16="http://schemas.microsoft.com/office/drawing/2014/main" id="{4FEEAFF9-5A4C-24BF-CA46-A53EA70B8DFC}"/>
              </a:ext>
            </a:extLst>
          </p:cNvPr>
          <p:cNvSpPr txBox="1"/>
          <p:nvPr/>
        </p:nvSpPr>
        <p:spPr>
          <a:xfrm>
            <a:off x="1010281" y="1037307"/>
            <a:ext cx="3486479" cy="323165"/>
          </a:xfrm>
          <a:prstGeom prst="rect">
            <a:avLst/>
          </a:prstGeom>
          <a:noFill/>
        </p:spPr>
        <p:txBody>
          <a:bodyPr wrap="square">
            <a:spAutoFit/>
          </a:bodyPr>
          <a:lstStyle/>
          <a:p>
            <a:r>
              <a:rPr lang="en-US" altLang="ko-KR" sz="1500" b="1" dirty="0"/>
              <a:t>Informer</a:t>
            </a:r>
            <a:endParaRPr lang="ko-KR" altLang="en-US" sz="1500" b="1" dirty="0"/>
          </a:p>
        </p:txBody>
      </p:sp>
      <p:sp>
        <p:nvSpPr>
          <p:cNvPr id="6" name="바닥글 개체 틀 3">
            <a:extLst>
              <a:ext uri="{FF2B5EF4-FFF2-40B4-BE49-F238E27FC236}">
                <a16:creationId xmlns:a16="http://schemas.microsoft.com/office/drawing/2014/main" id="{27269FC8-987F-5633-64E6-3375A9C19369}"/>
              </a:ext>
            </a:extLst>
          </p:cNvPr>
          <p:cNvSpPr>
            <a:spLocks noGrp="1"/>
          </p:cNvSpPr>
          <p:nvPr>
            <p:ph type="ftr" sz="quarter" idx="11"/>
          </p:nvPr>
        </p:nvSpPr>
        <p:spPr>
          <a:xfrm>
            <a:off x="1292903" y="5520611"/>
            <a:ext cx="6666030" cy="444587"/>
          </a:xfrm>
        </p:spPr>
        <p:txBody>
          <a:bodyPr/>
          <a:lstStyle/>
          <a:p>
            <a:r>
              <a:rPr lang="ko-KR" altLang="ko-KR" b="1" dirty="0" err="1"/>
              <a:t>Accurate</a:t>
            </a:r>
            <a:r>
              <a:rPr lang="ko-KR" altLang="ko-KR" b="1" dirty="0"/>
              <a:t> </a:t>
            </a:r>
            <a:r>
              <a:rPr lang="ko-KR" altLang="ko-KR" b="1" dirty="0" err="1"/>
              <a:t>estimation</a:t>
            </a:r>
            <a:r>
              <a:rPr lang="ko-KR" altLang="ko-KR" b="1" dirty="0"/>
              <a:t> of </a:t>
            </a:r>
            <a:r>
              <a:rPr lang="ko-KR" altLang="ko-KR" b="1" dirty="0" err="1"/>
              <a:t>state</a:t>
            </a:r>
            <a:r>
              <a:rPr lang="ko-KR" altLang="ko-KR" b="1" dirty="0"/>
              <a:t> of </a:t>
            </a:r>
            <a:r>
              <a:rPr lang="ko-KR" altLang="ko-KR" b="1" dirty="0" err="1"/>
              <a:t>charge</a:t>
            </a:r>
            <a:r>
              <a:rPr lang="ko-KR" altLang="ko-KR" b="1" dirty="0"/>
              <a:t> and </a:t>
            </a:r>
            <a:r>
              <a:rPr lang="ko-KR" altLang="ko-KR" b="1" dirty="0" err="1"/>
              <a:t>state</a:t>
            </a:r>
            <a:r>
              <a:rPr lang="ko-KR" altLang="ko-KR" b="1" dirty="0"/>
              <a:t> of </a:t>
            </a:r>
            <a:r>
              <a:rPr lang="ko-KR" altLang="ko-KR" b="1" dirty="0" err="1"/>
              <a:t>health</a:t>
            </a:r>
            <a:r>
              <a:rPr lang="ko-KR" altLang="ko-KR" b="1" dirty="0"/>
              <a:t> of </a:t>
            </a:r>
            <a:r>
              <a:rPr lang="ko-KR" altLang="ko-KR" b="1" dirty="0" err="1"/>
              <a:t>electric</a:t>
            </a:r>
            <a:r>
              <a:rPr lang="ko-KR" altLang="ko-KR" b="1" dirty="0"/>
              <a:t> </a:t>
            </a:r>
            <a:r>
              <a:rPr lang="ko-KR" altLang="ko-KR" b="1" dirty="0" err="1"/>
              <a:t>vehicle</a:t>
            </a:r>
            <a:r>
              <a:rPr lang="ko-KR" altLang="ko-KR" b="1" dirty="0"/>
              <a:t> </a:t>
            </a:r>
            <a:r>
              <a:rPr lang="ko-KR" altLang="ko-KR" b="1" dirty="0" err="1"/>
              <a:t>power</a:t>
            </a:r>
            <a:r>
              <a:rPr lang="ko-KR" altLang="ko-KR" b="1" dirty="0"/>
              <a:t> </a:t>
            </a:r>
            <a:r>
              <a:rPr lang="ko-KR" altLang="ko-KR" b="1" dirty="0" err="1"/>
              <a:t>batteries</a:t>
            </a:r>
            <a:r>
              <a:rPr lang="ko-KR" altLang="ko-KR" b="1" dirty="0"/>
              <a:t> </a:t>
            </a:r>
            <a:r>
              <a:rPr lang="ko-KR" altLang="ko-KR" b="1" dirty="0" err="1"/>
              <a:t>based</a:t>
            </a:r>
            <a:r>
              <a:rPr lang="ko-KR" altLang="ko-KR" b="1" dirty="0"/>
              <a:t> </a:t>
            </a:r>
            <a:r>
              <a:rPr lang="ko-KR" altLang="ko-KR" b="1" dirty="0" err="1"/>
              <a:t>on</a:t>
            </a:r>
            <a:r>
              <a:rPr lang="ko-KR" altLang="ko-KR" b="1" dirty="0"/>
              <a:t> </a:t>
            </a:r>
            <a:r>
              <a:rPr lang="ko-KR" altLang="ko-KR" b="1" dirty="0" err="1"/>
              <a:t>dynamic</a:t>
            </a:r>
            <a:r>
              <a:rPr lang="ko-KR" altLang="ko-KR" b="1" dirty="0"/>
              <a:t> </a:t>
            </a:r>
            <a:r>
              <a:rPr lang="ko-KR" altLang="ko-KR" b="1" dirty="0" err="1"/>
              <a:t>channel</a:t>
            </a:r>
            <a:r>
              <a:rPr lang="ko-KR" altLang="ko-KR" b="1" dirty="0"/>
              <a:t> </a:t>
            </a:r>
            <a:r>
              <a:rPr lang="ko-KR" altLang="ko-KR" b="1" dirty="0" err="1"/>
              <a:t>pruning</a:t>
            </a:r>
            <a:r>
              <a:rPr lang="ko-KR" altLang="ko-KR" b="1" dirty="0"/>
              <a:t> </a:t>
            </a:r>
            <a:r>
              <a:rPr lang="ko-KR" altLang="ko-KR" b="1" dirty="0" err="1"/>
              <a:t>informer-stacked</a:t>
            </a:r>
            <a:r>
              <a:rPr lang="ko-KR" altLang="ko-KR" b="1" dirty="0"/>
              <a:t> </a:t>
            </a:r>
            <a:r>
              <a:rPr lang="ko-KR" altLang="ko-KR" b="1" dirty="0" err="1"/>
              <a:t>denoising</a:t>
            </a:r>
            <a:r>
              <a:rPr lang="ko-KR" altLang="ko-KR" b="1" dirty="0"/>
              <a:t> </a:t>
            </a:r>
            <a:r>
              <a:rPr lang="ko-KR" altLang="ko-KR" b="1" dirty="0" err="1"/>
              <a:t>autoencoder</a:t>
            </a:r>
            <a:r>
              <a:rPr lang="ko-KR" altLang="ko-KR" b="1" dirty="0"/>
              <a:t> </a:t>
            </a:r>
            <a:r>
              <a:rPr lang="ko-KR" altLang="ko-KR" b="1" dirty="0" err="1"/>
              <a:t>model</a:t>
            </a:r>
            <a:r>
              <a:rPr lang="en-US" altLang="ko-KR" b="1" dirty="0"/>
              <a:t>, 2025.</a:t>
            </a:r>
          </a:p>
          <a:p>
            <a:endParaRPr lang="ko-KR" altLang="en-US" dirty="0"/>
          </a:p>
        </p:txBody>
      </p:sp>
      <p:pic>
        <p:nvPicPr>
          <p:cNvPr id="4" name="그림 3">
            <a:extLst>
              <a:ext uri="{FF2B5EF4-FFF2-40B4-BE49-F238E27FC236}">
                <a16:creationId xmlns:a16="http://schemas.microsoft.com/office/drawing/2014/main" id="{231FADC0-F1DA-6829-0977-50CF20E97D88}"/>
              </a:ext>
            </a:extLst>
          </p:cNvPr>
          <p:cNvPicPr>
            <a:picLocks noChangeAspect="1"/>
          </p:cNvPicPr>
          <p:nvPr/>
        </p:nvPicPr>
        <p:blipFill>
          <a:blip r:embed="rId3"/>
          <a:srcRect t="9810"/>
          <a:stretch>
            <a:fillRect/>
          </a:stretch>
        </p:blipFill>
        <p:spPr>
          <a:xfrm>
            <a:off x="1109069" y="1337389"/>
            <a:ext cx="7033700" cy="4082180"/>
          </a:xfrm>
          <a:prstGeom prst="rect">
            <a:avLst/>
          </a:prstGeom>
        </p:spPr>
      </p:pic>
    </p:spTree>
    <p:extLst>
      <p:ext uri="{BB962C8B-B14F-4D97-AF65-F5344CB8AC3E}">
        <p14:creationId xmlns:p14="http://schemas.microsoft.com/office/powerpoint/2010/main" val="225942758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5D1F4-3DCD-42D3-C0EB-414529B19B2F}"/>
            </a:ext>
          </a:extLst>
        </p:cNvPr>
        <p:cNvGrpSpPr/>
        <p:nvPr/>
      </p:nvGrpSpPr>
      <p:grpSpPr>
        <a:xfrm>
          <a:off x="0" y="0"/>
          <a:ext cx="0" cy="0"/>
          <a:chOff x="0" y="0"/>
          <a:chExt cx="0" cy="0"/>
        </a:xfrm>
      </p:grpSpPr>
      <p:sp>
        <p:nvSpPr>
          <p:cNvPr id="17" name="직사각형 16">
            <a:extLst>
              <a:ext uri="{FF2B5EF4-FFF2-40B4-BE49-F238E27FC236}">
                <a16:creationId xmlns:a16="http://schemas.microsoft.com/office/drawing/2014/main" id="{C1208315-0258-6868-22EB-162360C62DFE}"/>
              </a:ext>
            </a:extLst>
          </p:cNvPr>
          <p:cNvSpPr/>
          <p:nvPr/>
        </p:nvSpPr>
        <p:spPr>
          <a:xfrm>
            <a:off x="1010281" y="1310389"/>
            <a:ext cx="7033700" cy="27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2" name="TextBox 1">
            <a:extLst>
              <a:ext uri="{FF2B5EF4-FFF2-40B4-BE49-F238E27FC236}">
                <a16:creationId xmlns:a16="http://schemas.microsoft.com/office/drawing/2014/main" id="{0B6DD944-4430-136F-5EDC-2C9A5B1634B3}"/>
              </a:ext>
            </a:extLst>
          </p:cNvPr>
          <p:cNvSpPr txBox="1"/>
          <p:nvPr/>
        </p:nvSpPr>
        <p:spPr>
          <a:xfrm>
            <a:off x="1010281" y="1037306"/>
            <a:ext cx="3561719" cy="553998"/>
          </a:xfrm>
          <a:prstGeom prst="rect">
            <a:avLst/>
          </a:prstGeom>
          <a:noFill/>
        </p:spPr>
        <p:txBody>
          <a:bodyPr wrap="square">
            <a:spAutoFit/>
          </a:bodyPr>
          <a:lstStyle/>
          <a:p>
            <a:r>
              <a:rPr lang="ko-KR" altLang="ko-KR" sz="1500" b="1" dirty="0" err="1"/>
              <a:t>A</a:t>
            </a:r>
            <a:r>
              <a:rPr lang="en-US" altLang="ko-KR" sz="1500" b="1" dirty="0" err="1"/>
              <a:t>uto</a:t>
            </a:r>
            <a:r>
              <a:rPr lang="en-US" altLang="ko-KR" sz="1500" b="1" dirty="0"/>
              <a:t> </a:t>
            </a:r>
            <a:r>
              <a:rPr lang="ko-KR" altLang="ko-KR" sz="1500" b="1" dirty="0" err="1"/>
              <a:t>E</a:t>
            </a:r>
            <a:r>
              <a:rPr lang="en-US" altLang="ko-KR" sz="1500" b="1" dirty="0" err="1"/>
              <a:t>ncdoer</a:t>
            </a:r>
            <a:r>
              <a:rPr lang="ko-KR" altLang="ko-KR" sz="1500" b="1" dirty="0"/>
              <a:t> + </a:t>
            </a:r>
            <a:r>
              <a:rPr lang="ko-KR" altLang="ko-KR" sz="1500" b="1" dirty="0" err="1"/>
              <a:t>Informer</a:t>
            </a:r>
            <a:r>
              <a:rPr lang="ko-KR" altLang="ko-KR" sz="1500" b="1" dirty="0"/>
              <a:t> 결합의 근거</a:t>
            </a:r>
            <a:endParaRPr lang="ko-KR" altLang="en-US" sz="1500" b="1" dirty="0"/>
          </a:p>
        </p:txBody>
      </p:sp>
      <p:pic>
        <p:nvPicPr>
          <p:cNvPr id="4" name="그림 3">
            <a:extLst>
              <a:ext uri="{FF2B5EF4-FFF2-40B4-BE49-F238E27FC236}">
                <a16:creationId xmlns:a16="http://schemas.microsoft.com/office/drawing/2014/main" id="{0CE6530B-D4E4-C404-7B1F-0EAC0B82E8B2}"/>
              </a:ext>
            </a:extLst>
          </p:cNvPr>
          <p:cNvPicPr>
            <a:picLocks noChangeAspect="1"/>
          </p:cNvPicPr>
          <p:nvPr/>
        </p:nvPicPr>
        <p:blipFill>
          <a:blip r:embed="rId2"/>
          <a:srcRect t="10190"/>
          <a:stretch>
            <a:fillRect/>
          </a:stretch>
        </p:blipFill>
        <p:spPr>
          <a:xfrm>
            <a:off x="685801" y="1337388"/>
            <a:ext cx="7917632" cy="3982680"/>
          </a:xfrm>
          <a:prstGeom prst="rect">
            <a:avLst/>
          </a:prstGeom>
        </p:spPr>
      </p:pic>
      <p:sp>
        <p:nvSpPr>
          <p:cNvPr id="6" name="바닥글 개체 틀 3">
            <a:extLst>
              <a:ext uri="{FF2B5EF4-FFF2-40B4-BE49-F238E27FC236}">
                <a16:creationId xmlns:a16="http://schemas.microsoft.com/office/drawing/2014/main" id="{E6C4D436-7053-E138-3ABA-47A5D8F88384}"/>
              </a:ext>
            </a:extLst>
          </p:cNvPr>
          <p:cNvSpPr>
            <a:spLocks noGrp="1"/>
          </p:cNvSpPr>
          <p:nvPr>
            <p:ph type="ftr" sz="quarter" idx="11"/>
          </p:nvPr>
        </p:nvSpPr>
        <p:spPr>
          <a:xfrm>
            <a:off x="1238984" y="5520612"/>
            <a:ext cx="6666030" cy="444587"/>
          </a:xfrm>
        </p:spPr>
        <p:txBody>
          <a:bodyPr/>
          <a:lstStyle/>
          <a:p>
            <a:r>
              <a:rPr lang="ko-KR" altLang="ko-KR" b="1" dirty="0" err="1"/>
              <a:t>Accurate</a:t>
            </a:r>
            <a:r>
              <a:rPr lang="ko-KR" altLang="ko-KR" b="1" dirty="0"/>
              <a:t> </a:t>
            </a:r>
            <a:r>
              <a:rPr lang="ko-KR" altLang="ko-KR" b="1" dirty="0" err="1"/>
              <a:t>estimation</a:t>
            </a:r>
            <a:r>
              <a:rPr lang="ko-KR" altLang="ko-KR" b="1" dirty="0"/>
              <a:t> of </a:t>
            </a:r>
            <a:r>
              <a:rPr lang="ko-KR" altLang="ko-KR" b="1" dirty="0" err="1"/>
              <a:t>state</a:t>
            </a:r>
            <a:r>
              <a:rPr lang="ko-KR" altLang="ko-KR" b="1" dirty="0"/>
              <a:t> of </a:t>
            </a:r>
            <a:r>
              <a:rPr lang="ko-KR" altLang="ko-KR" b="1" dirty="0" err="1"/>
              <a:t>charge</a:t>
            </a:r>
            <a:r>
              <a:rPr lang="ko-KR" altLang="ko-KR" b="1" dirty="0"/>
              <a:t> and </a:t>
            </a:r>
            <a:r>
              <a:rPr lang="ko-KR" altLang="ko-KR" b="1" dirty="0" err="1"/>
              <a:t>state</a:t>
            </a:r>
            <a:r>
              <a:rPr lang="ko-KR" altLang="ko-KR" b="1" dirty="0"/>
              <a:t> of </a:t>
            </a:r>
            <a:r>
              <a:rPr lang="ko-KR" altLang="ko-KR" b="1" dirty="0" err="1"/>
              <a:t>health</a:t>
            </a:r>
            <a:r>
              <a:rPr lang="ko-KR" altLang="ko-KR" b="1" dirty="0"/>
              <a:t> of </a:t>
            </a:r>
            <a:r>
              <a:rPr lang="ko-KR" altLang="ko-KR" b="1" dirty="0" err="1"/>
              <a:t>electric</a:t>
            </a:r>
            <a:r>
              <a:rPr lang="ko-KR" altLang="ko-KR" b="1" dirty="0"/>
              <a:t> </a:t>
            </a:r>
            <a:r>
              <a:rPr lang="ko-KR" altLang="ko-KR" b="1" dirty="0" err="1"/>
              <a:t>vehicle</a:t>
            </a:r>
            <a:r>
              <a:rPr lang="ko-KR" altLang="ko-KR" b="1" dirty="0"/>
              <a:t> </a:t>
            </a:r>
            <a:r>
              <a:rPr lang="ko-KR" altLang="ko-KR" b="1" dirty="0" err="1"/>
              <a:t>power</a:t>
            </a:r>
            <a:r>
              <a:rPr lang="ko-KR" altLang="ko-KR" b="1" dirty="0"/>
              <a:t> </a:t>
            </a:r>
            <a:r>
              <a:rPr lang="ko-KR" altLang="ko-KR" b="1" dirty="0" err="1"/>
              <a:t>batteries</a:t>
            </a:r>
            <a:r>
              <a:rPr lang="ko-KR" altLang="ko-KR" b="1" dirty="0"/>
              <a:t> </a:t>
            </a:r>
            <a:r>
              <a:rPr lang="ko-KR" altLang="ko-KR" b="1" dirty="0" err="1"/>
              <a:t>based</a:t>
            </a:r>
            <a:r>
              <a:rPr lang="ko-KR" altLang="ko-KR" b="1" dirty="0"/>
              <a:t> </a:t>
            </a:r>
            <a:r>
              <a:rPr lang="ko-KR" altLang="ko-KR" b="1" dirty="0" err="1"/>
              <a:t>on</a:t>
            </a:r>
            <a:r>
              <a:rPr lang="ko-KR" altLang="ko-KR" b="1" dirty="0"/>
              <a:t> </a:t>
            </a:r>
            <a:r>
              <a:rPr lang="ko-KR" altLang="ko-KR" b="1" dirty="0" err="1"/>
              <a:t>dynamic</a:t>
            </a:r>
            <a:r>
              <a:rPr lang="ko-KR" altLang="ko-KR" b="1" dirty="0"/>
              <a:t> </a:t>
            </a:r>
            <a:r>
              <a:rPr lang="ko-KR" altLang="ko-KR" b="1" dirty="0" err="1"/>
              <a:t>channel</a:t>
            </a:r>
            <a:r>
              <a:rPr lang="ko-KR" altLang="ko-KR" b="1" dirty="0"/>
              <a:t> </a:t>
            </a:r>
            <a:r>
              <a:rPr lang="ko-KR" altLang="ko-KR" b="1" dirty="0" err="1"/>
              <a:t>pruning</a:t>
            </a:r>
            <a:r>
              <a:rPr lang="ko-KR" altLang="ko-KR" b="1" dirty="0"/>
              <a:t> </a:t>
            </a:r>
            <a:r>
              <a:rPr lang="ko-KR" altLang="ko-KR" b="1" dirty="0" err="1"/>
              <a:t>informer-stacked</a:t>
            </a:r>
            <a:r>
              <a:rPr lang="ko-KR" altLang="ko-KR" b="1" dirty="0"/>
              <a:t> </a:t>
            </a:r>
            <a:r>
              <a:rPr lang="ko-KR" altLang="ko-KR" b="1" dirty="0" err="1"/>
              <a:t>denoising</a:t>
            </a:r>
            <a:r>
              <a:rPr lang="ko-KR" altLang="ko-KR" b="1" dirty="0"/>
              <a:t> </a:t>
            </a:r>
            <a:r>
              <a:rPr lang="ko-KR" altLang="ko-KR" b="1" dirty="0" err="1"/>
              <a:t>autoencoder</a:t>
            </a:r>
            <a:r>
              <a:rPr lang="ko-KR" altLang="ko-KR" b="1" dirty="0"/>
              <a:t> </a:t>
            </a:r>
            <a:r>
              <a:rPr lang="ko-KR" altLang="ko-KR" b="1" dirty="0" err="1"/>
              <a:t>model</a:t>
            </a:r>
            <a:r>
              <a:rPr lang="en-US" altLang="ko-KR" b="1" dirty="0"/>
              <a:t>, 2025.</a:t>
            </a:r>
          </a:p>
          <a:p>
            <a:endParaRPr lang="ko-KR" altLang="en-US" dirty="0"/>
          </a:p>
        </p:txBody>
      </p:sp>
    </p:spTree>
    <p:extLst>
      <p:ext uri="{BB962C8B-B14F-4D97-AF65-F5344CB8AC3E}">
        <p14:creationId xmlns:p14="http://schemas.microsoft.com/office/powerpoint/2010/main" val="117682000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9924B-7F7B-04A6-CD92-82F4DB3434BC}"/>
            </a:ext>
          </a:extLst>
        </p:cNvPr>
        <p:cNvGrpSpPr/>
        <p:nvPr/>
      </p:nvGrpSpPr>
      <p:grpSpPr>
        <a:xfrm>
          <a:off x="0" y="0"/>
          <a:ext cx="0" cy="0"/>
          <a:chOff x="0" y="0"/>
          <a:chExt cx="0" cy="0"/>
        </a:xfrm>
      </p:grpSpPr>
      <p:sp>
        <p:nvSpPr>
          <p:cNvPr id="17" name="직사각형 16">
            <a:extLst>
              <a:ext uri="{FF2B5EF4-FFF2-40B4-BE49-F238E27FC236}">
                <a16:creationId xmlns:a16="http://schemas.microsoft.com/office/drawing/2014/main" id="{73375E0E-4FBE-A3C4-C063-93B2136D4F06}"/>
              </a:ext>
            </a:extLst>
          </p:cNvPr>
          <p:cNvSpPr/>
          <p:nvPr/>
        </p:nvSpPr>
        <p:spPr>
          <a:xfrm>
            <a:off x="1010281" y="1310389"/>
            <a:ext cx="7033700" cy="27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2" name="TextBox 1">
            <a:extLst>
              <a:ext uri="{FF2B5EF4-FFF2-40B4-BE49-F238E27FC236}">
                <a16:creationId xmlns:a16="http://schemas.microsoft.com/office/drawing/2014/main" id="{60AEE640-E8D3-56EE-A544-EE4235F67A0E}"/>
              </a:ext>
            </a:extLst>
          </p:cNvPr>
          <p:cNvSpPr txBox="1"/>
          <p:nvPr/>
        </p:nvSpPr>
        <p:spPr>
          <a:xfrm>
            <a:off x="1010281" y="1037307"/>
            <a:ext cx="2826655" cy="323165"/>
          </a:xfrm>
          <a:prstGeom prst="rect">
            <a:avLst/>
          </a:prstGeom>
          <a:noFill/>
        </p:spPr>
        <p:txBody>
          <a:bodyPr wrap="square">
            <a:spAutoFit/>
          </a:bodyPr>
          <a:lstStyle/>
          <a:p>
            <a:r>
              <a:rPr lang="en-US" altLang="ko-KR" sz="1500" b="1" dirty="0"/>
              <a:t>Hybrid AI Algorithm </a:t>
            </a:r>
            <a:r>
              <a:rPr lang="ko-KR" altLang="en-US" sz="1500" b="1" dirty="0"/>
              <a:t>제안</a:t>
            </a:r>
          </a:p>
        </p:txBody>
      </p:sp>
      <p:pic>
        <p:nvPicPr>
          <p:cNvPr id="5" name="그림 4">
            <a:extLst>
              <a:ext uri="{FF2B5EF4-FFF2-40B4-BE49-F238E27FC236}">
                <a16:creationId xmlns:a16="http://schemas.microsoft.com/office/drawing/2014/main" id="{3C5EC5A7-BD96-CDCD-B4DE-F3D67903E074}"/>
              </a:ext>
            </a:extLst>
          </p:cNvPr>
          <p:cNvPicPr>
            <a:picLocks noChangeAspect="1"/>
          </p:cNvPicPr>
          <p:nvPr/>
        </p:nvPicPr>
        <p:blipFill>
          <a:blip r:embed="rId2"/>
          <a:srcRect t="12173"/>
          <a:stretch>
            <a:fillRect/>
          </a:stretch>
        </p:blipFill>
        <p:spPr>
          <a:xfrm>
            <a:off x="1085523" y="1390866"/>
            <a:ext cx="7033700" cy="4156745"/>
          </a:xfrm>
          <a:prstGeom prst="rect">
            <a:avLst/>
          </a:prstGeom>
        </p:spPr>
      </p:pic>
    </p:spTree>
    <p:extLst>
      <p:ext uri="{BB962C8B-B14F-4D97-AF65-F5344CB8AC3E}">
        <p14:creationId xmlns:p14="http://schemas.microsoft.com/office/powerpoint/2010/main" val="142006759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D39FD-0980-3C16-066E-C6A5A2EC62EE}"/>
            </a:ext>
          </a:extLst>
        </p:cNvPr>
        <p:cNvGrpSpPr/>
        <p:nvPr/>
      </p:nvGrpSpPr>
      <p:grpSpPr>
        <a:xfrm>
          <a:off x="0" y="0"/>
          <a:ext cx="0" cy="0"/>
          <a:chOff x="0" y="0"/>
          <a:chExt cx="0" cy="0"/>
        </a:xfrm>
      </p:grpSpPr>
      <p:sp>
        <p:nvSpPr>
          <p:cNvPr id="17" name="직사각형 16">
            <a:extLst>
              <a:ext uri="{FF2B5EF4-FFF2-40B4-BE49-F238E27FC236}">
                <a16:creationId xmlns:a16="http://schemas.microsoft.com/office/drawing/2014/main" id="{86E0D42B-283D-FFB8-C18E-8F1D5CF4572A}"/>
              </a:ext>
            </a:extLst>
          </p:cNvPr>
          <p:cNvSpPr/>
          <p:nvPr/>
        </p:nvSpPr>
        <p:spPr>
          <a:xfrm>
            <a:off x="1010281" y="1310389"/>
            <a:ext cx="7033700" cy="27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2" name="TextBox 1">
            <a:extLst>
              <a:ext uri="{FF2B5EF4-FFF2-40B4-BE49-F238E27FC236}">
                <a16:creationId xmlns:a16="http://schemas.microsoft.com/office/drawing/2014/main" id="{1991DFD8-BDC3-209C-C47C-8FE8CD9CC95D}"/>
              </a:ext>
            </a:extLst>
          </p:cNvPr>
          <p:cNvSpPr txBox="1"/>
          <p:nvPr/>
        </p:nvSpPr>
        <p:spPr>
          <a:xfrm>
            <a:off x="1010281" y="1023807"/>
            <a:ext cx="3982222" cy="323165"/>
          </a:xfrm>
          <a:prstGeom prst="rect">
            <a:avLst/>
          </a:prstGeom>
          <a:noFill/>
        </p:spPr>
        <p:txBody>
          <a:bodyPr wrap="square">
            <a:spAutoFit/>
          </a:bodyPr>
          <a:lstStyle/>
          <a:p>
            <a:r>
              <a:rPr lang="en-US" altLang="ko-KR" sz="1500" b="1" dirty="0"/>
              <a:t>Hybrid AI Algorithm Architecture </a:t>
            </a:r>
            <a:endParaRPr lang="ko-KR" altLang="en-US" sz="1500" dirty="0"/>
          </a:p>
        </p:txBody>
      </p:sp>
      <p:pic>
        <p:nvPicPr>
          <p:cNvPr id="5" name="그림 4">
            <a:extLst>
              <a:ext uri="{FF2B5EF4-FFF2-40B4-BE49-F238E27FC236}">
                <a16:creationId xmlns:a16="http://schemas.microsoft.com/office/drawing/2014/main" id="{CC8EB270-D353-1AD0-F126-7807093D283A}"/>
              </a:ext>
            </a:extLst>
          </p:cNvPr>
          <p:cNvPicPr>
            <a:picLocks noChangeAspect="1"/>
          </p:cNvPicPr>
          <p:nvPr/>
        </p:nvPicPr>
        <p:blipFill>
          <a:blip r:embed="rId2"/>
          <a:srcRect t="8810"/>
          <a:stretch>
            <a:fillRect/>
          </a:stretch>
        </p:blipFill>
        <p:spPr>
          <a:xfrm>
            <a:off x="629454" y="1457416"/>
            <a:ext cx="7885092" cy="4376778"/>
          </a:xfrm>
          <a:prstGeom prst="rect">
            <a:avLst/>
          </a:prstGeom>
        </p:spPr>
      </p:pic>
    </p:spTree>
    <p:extLst>
      <p:ext uri="{BB962C8B-B14F-4D97-AF65-F5344CB8AC3E}">
        <p14:creationId xmlns:p14="http://schemas.microsoft.com/office/powerpoint/2010/main" val="385944999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B2EA6-61E7-1F2C-7F94-E2073EB5E5F7}"/>
            </a:ext>
          </a:extLst>
        </p:cNvPr>
        <p:cNvGrpSpPr/>
        <p:nvPr/>
      </p:nvGrpSpPr>
      <p:grpSpPr>
        <a:xfrm>
          <a:off x="0" y="0"/>
          <a:ext cx="0" cy="0"/>
          <a:chOff x="0" y="0"/>
          <a:chExt cx="0" cy="0"/>
        </a:xfrm>
      </p:grpSpPr>
      <p:sp>
        <p:nvSpPr>
          <p:cNvPr id="17" name="직사각형 16">
            <a:extLst>
              <a:ext uri="{FF2B5EF4-FFF2-40B4-BE49-F238E27FC236}">
                <a16:creationId xmlns:a16="http://schemas.microsoft.com/office/drawing/2014/main" id="{95218CC4-4B5C-5509-F1DE-96E700E8256D}"/>
              </a:ext>
            </a:extLst>
          </p:cNvPr>
          <p:cNvSpPr/>
          <p:nvPr/>
        </p:nvSpPr>
        <p:spPr>
          <a:xfrm>
            <a:off x="1010281" y="1310389"/>
            <a:ext cx="7033700" cy="27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3" name="TextBox 2">
            <a:extLst>
              <a:ext uri="{FF2B5EF4-FFF2-40B4-BE49-F238E27FC236}">
                <a16:creationId xmlns:a16="http://schemas.microsoft.com/office/drawing/2014/main" id="{48B3270F-B49D-4B66-97DA-356C60885F0A}"/>
              </a:ext>
            </a:extLst>
          </p:cNvPr>
          <p:cNvSpPr txBox="1"/>
          <p:nvPr/>
        </p:nvSpPr>
        <p:spPr>
          <a:xfrm>
            <a:off x="1010281" y="1010307"/>
            <a:ext cx="5483463" cy="323165"/>
          </a:xfrm>
          <a:prstGeom prst="rect">
            <a:avLst/>
          </a:prstGeom>
          <a:noFill/>
        </p:spPr>
        <p:txBody>
          <a:bodyPr wrap="square">
            <a:spAutoFit/>
          </a:bodyPr>
          <a:lstStyle/>
          <a:p>
            <a:r>
              <a:rPr lang="en-US" altLang="ko-KR" sz="1500" b="1" dirty="0"/>
              <a:t>Hybrid AI Algorithm </a:t>
            </a:r>
            <a:r>
              <a:rPr lang="ko-KR" altLang="en-US" sz="1500" b="1" dirty="0"/>
              <a:t>동작 검증</a:t>
            </a:r>
            <a:r>
              <a:rPr lang="en-US" altLang="ko-KR" sz="1500" b="1" dirty="0"/>
              <a:t> </a:t>
            </a:r>
            <a:endParaRPr lang="ko-KR" altLang="en-US" sz="1500" b="1" dirty="0"/>
          </a:p>
        </p:txBody>
      </p:sp>
      <p:pic>
        <p:nvPicPr>
          <p:cNvPr id="4" name="그림 3">
            <a:extLst>
              <a:ext uri="{FF2B5EF4-FFF2-40B4-BE49-F238E27FC236}">
                <a16:creationId xmlns:a16="http://schemas.microsoft.com/office/drawing/2014/main" id="{00E7C79D-73AB-C0AD-73E0-517A3DA5FD46}"/>
              </a:ext>
            </a:extLst>
          </p:cNvPr>
          <p:cNvPicPr>
            <a:picLocks noChangeAspect="1"/>
          </p:cNvPicPr>
          <p:nvPr/>
        </p:nvPicPr>
        <p:blipFill>
          <a:blip r:embed="rId2"/>
          <a:srcRect t="9335"/>
          <a:stretch>
            <a:fillRect/>
          </a:stretch>
        </p:blipFill>
        <p:spPr>
          <a:xfrm>
            <a:off x="685800" y="1391185"/>
            <a:ext cx="7980219" cy="4239500"/>
          </a:xfrm>
          <a:prstGeom prst="rect">
            <a:avLst/>
          </a:prstGeom>
        </p:spPr>
      </p:pic>
    </p:spTree>
    <p:extLst>
      <p:ext uri="{BB962C8B-B14F-4D97-AF65-F5344CB8AC3E}">
        <p14:creationId xmlns:p14="http://schemas.microsoft.com/office/powerpoint/2010/main" val="348035467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0F327-F49C-1AAD-E4E3-70820C902D43}"/>
            </a:ext>
          </a:extLst>
        </p:cNvPr>
        <p:cNvGrpSpPr/>
        <p:nvPr/>
      </p:nvGrpSpPr>
      <p:grpSpPr>
        <a:xfrm>
          <a:off x="0" y="0"/>
          <a:ext cx="0" cy="0"/>
          <a:chOff x="0" y="0"/>
          <a:chExt cx="0" cy="0"/>
        </a:xfrm>
      </p:grpSpPr>
      <p:sp>
        <p:nvSpPr>
          <p:cNvPr id="17" name="직사각형 16">
            <a:extLst>
              <a:ext uri="{FF2B5EF4-FFF2-40B4-BE49-F238E27FC236}">
                <a16:creationId xmlns:a16="http://schemas.microsoft.com/office/drawing/2014/main" id="{65AD525E-F0F0-24EA-E9C7-B8F55079F144}"/>
              </a:ext>
            </a:extLst>
          </p:cNvPr>
          <p:cNvSpPr/>
          <p:nvPr/>
        </p:nvSpPr>
        <p:spPr>
          <a:xfrm>
            <a:off x="1010281" y="1310389"/>
            <a:ext cx="7033700" cy="27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3" name="TextBox 2">
            <a:extLst>
              <a:ext uri="{FF2B5EF4-FFF2-40B4-BE49-F238E27FC236}">
                <a16:creationId xmlns:a16="http://schemas.microsoft.com/office/drawing/2014/main" id="{64E3081F-F420-56F1-F69B-E86AAA595335}"/>
              </a:ext>
            </a:extLst>
          </p:cNvPr>
          <p:cNvSpPr txBox="1"/>
          <p:nvPr/>
        </p:nvSpPr>
        <p:spPr>
          <a:xfrm>
            <a:off x="1010281" y="1010307"/>
            <a:ext cx="5483463" cy="323165"/>
          </a:xfrm>
          <a:prstGeom prst="rect">
            <a:avLst/>
          </a:prstGeom>
          <a:noFill/>
        </p:spPr>
        <p:txBody>
          <a:bodyPr wrap="square">
            <a:spAutoFit/>
          </a:bodyPr>
          <a:lstStyle/>
          <a:p>
            <a:r>
              <a:rPr lang="en-US" altLang="ko-KR" sz="1500" b="1" dirty="0"/>
              <a:t>Hybrid AI Algorithm feature &amp; EV Battery </a:t>
            </a:r>
            <a:r>
              <a:rPr lang="ko-KR" altLang="en-US" sz="1500" b="1" dirty="0"/>
              <a:t>매핑</a:t>
            </a:r>
            <a:r>
              <a:rPr lang="en-US" altLang="ko-KR" sz="1500" b="1" dirty="0"/>
              <a:t> </a:t>
            </a:r>
            <a:endParaRPr lang="ko-KR" altLang="en-US" sz="1500" b="1" dirty="0"/>
          </a:p>
        </p:txBody>
      </p:sp>
      <p:pic>
        <p:nvPicPr>
          <p:cNvPr id="5" name="그림 4">
            <a:extLst>
              <a:ext uri="{FF2B5EF4-FFF2-40B4-BE49-F238E27FC236}">
                <a16:creationId xmlns:a16="http://schemas.microsoft.com/office/drawing/2014/main" id="{11DB532C-BC55-37F5-CA56-42CDA7BE2952}"/>
              </a:ext>
            </a:extLst>
          </p:cNvPr>
          <p:cNvPicPr>
            <a:picLocks noChangeAspect="1"/>
          </p:cNvPicPr>
          <p:nvPr/>
        </p:nvPicPr>
        <p:blipFill>
          <a:blip r:embed="rId2"/>
          <a:srcRect t="10182"/>
          <a:stretch>
            <a:fillRect/>
          </a:stretch>
        </p:blipFill>
        <p:spPr>
          <a:xfrm>
            <a:off x="470848" y="1396513"/>
            <a:ext cx="8202305" cy="4151099"/>
          </a:xfrm>
          <a:prstGeom prst="rect">
            <a:avLst/>
          </a:prstGeom>
        </p:spPr>
      </p:pic>
    </p:spTree>
    <p:extLst>
      <p:ext uri="{BB962C8B-B14F-4D97-AF65-F5344CB8AC3E}">
        <p14:creationId xmlns:p14="http://schemas.microsoft.com/office/powerpoint/2010/main" val="90984593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757AE-DB72-D942-3DFB-8EEFD1EFC39A}"/>
            </a:ext>
          </a:extLst>
        </p:cNvPr>
        <p:cNvGrpSpPr/>
        <p:nvPr/>
      </p:nvGrpSpPr>
      <p:grpSpPr>
        <a:xfrm>
          <a:off x="0" y="0"/>
          <a:ext cx="0" cy="0"/>
          <a:chOff x="0" y="0"/>
          <a:chExt cx="0" cy="0"/>
        </a:xfrm>
      </p:grpSpPr>
      <p:sp>
        <p:nvSpPr>
          <p:cNvPr id="17" name="직사각형 16">
            <a:extLst>
              <a:ext uri="{FF2B5EF4-FFF2-40B4-BE49-F238E27FC236}">
                <a16:creationId xmlns:a16="http://schemas.microsoft.com/office/drawing/2014/main" id="{B233A354-4748-4D29-47AD-206D8D6806E2}"/>
              </a:ext>
            </a:extLst>
          </p:cNvPr>
          <p:cNvSpPr/>
          <p:nvPr/>
        </p:nvSpPr>
        <p:spPr>
          <a:xfrm>
            <a:off x="1010281" y="1310389"/>
            <a:ext cx="7033700" cy="27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3" name="TextBox 2">
            <a:extLst>
              <a:ext uri="{FF2B5EF4-FFF2-40B4-BE49-F238E27FC236}">
                <a16:creationId xmlns:a16="http://schemas.microsoft.com/office/drawing/2014/main" id="{5220180E-EFF4-D0E5-667A-725916CA8C55}"/>
              </a:ext>
            </a:extLst>
          </p:cNvPr>
          <p:cNvSpPr txBox="1"/>
          <p:nvPr/>
        </p:nvSpPr>
        <p:spPr>
          <a:xfrm>
            <a:off x="1085523" y="979914"/>
            <a:ext cx="7483514" cy="507831"/>
          </a:xfrm>
          <a:prstGeom prst="rect">
            <a:avLst/>
          </a:prstGeom>
          <a:noFill/>
        </p:spPr>
        <p:txBody>
          <a:bodyPr wrap="square">
            <a:spAutoFit/>
          </a:bodyPr>
          <a:lstStyle/>
          <a:p>
            <a:r>
              <a:rPr lang="en-US" altLang="ko-KR" sz="1350" b="1" dirty="0"/>
              <a:t>Hybrid AI Algorithm  Baseline -&gt; </a:t>
            </a:r>
            <a:r>
              <a:rPr lang="ko-KR" altLang="en-US" sz="1350" b="1" dirty="0" err="1"/>
              <a:t>하이퍼파라미터</a:t>
            </a:r>
            <a:r>
              <a:rPr lang="ko-KR" altLang="en-US" sz="1350" b="1" dirty="0"/>
              <a:t> </a:t>
            </a:r>
            <a:r>
              <a:rPr lang="en-US" altLang="ko-KR" sz="1350" b="1" dirty="0"/>
              <a:t>+ </a:t>
            </a:r>
            <a:r>
              <a:rPr lang="ko-KR" altLang="en-US" sz="1350" b="1" dirty="0"/>
              <a:t>평가 값 평가 </a:t>
            </a:r>
            <a:r>
              <a:rPr lang="en-US" altLang="ko-KR" sz="1350" b="1" dirty="0"/>
              <a:t>-&gt;issue </a:t>
            </a:r>
            <a:r>
              <a:rPr lang="ko-KR" altLang="en-US" sz="1350" b="1" dirty="0"/>
              <a:t>정리</a:t>
            </a:r>
            <a:r>
              <a:rPr lang="en-US" altLang="ko-KR" sz="1350" b="1" dirty="0"/>
              <a:t> </a:t>
            </a:r>
            <a:endParaRPr lang="ko-KR" altLang="en-US" sz="1350" dirty="0"/>
          </a:p>
          <a:p>
            <a:r>
              <a:rPr lang="en-US" altLang="ko-KR" sz="1350" b="1" dirty="0"/>
              <a:t> </a:t>
            </a:r>
            <a:endParaRPr lang="ko-KR" altLang="en-US" sz="1350" b="1" dirty="0"/>
          </a:p>
        </p:txBody>
      </p:sp>
      <p:pic>
        <p:nvPicPr>
          <p:cNvPr id="4" name="그림 3">
            <a:extLst>
              <a:ext uri="{FF2B5EF4-FFF2-40B4-BE49-F238E27FC236}">
                <a16:creationId xmlns:a16="http://schemas.microsoft.com/office/drawing/2014/main" id="{8D1E5D21-44AD-BC55-12F2-47528AEE16F1}"/>
              </a:ext>
            </a:extLst>
          </p:cNvPr>
          <p:cNvPicPr>
            <a:picLocks noChangeAspect="1"/>
          </p:cNvPicPr>
          <p:nvPr/>
        </p:nvPicPr>
        <p:blipFill>
          <a:blip r:embed="rId2"/>
          <a:stretch>
            <a:fillRect/>
          </a:stretch>
        </p:blipFill>
        <p:spPr>
          <a:xfrm>
            <a:off x="0" y="1337389"/>
            <a:ext cx="9144000" cy="1904285"/>
          </a:xfrm>
          <a:prstGeom prst="rect">
            <a:avLst/>
          </a:prstGeom>
        </p:spPr>
      </p:pic>
      <p:pic>
        <p:nvPicPr>
          <p:cNvPr id="6" name="그림 5">
            <a:extLst>
              <a:ext uri="{FF2B5EF4-FFF2-40B4-BE49-F238E27FC236}">
                <a16:creationId xmlns:a16="http://schemas.microsoft.com/office/drawing/2014/main" id="{82E9009A-A7E3-8C18-D2CF-D186F08F0578}"/>
              </a:ext>
            </a:extLst>
          </p:cNvPr>
          <p:cNvPicPr>
            <a:picLocks noChangeAspect="1"/>
          </p:cNvPicPr>
          <p:nvPr/>
        </p:nvPicPr>
        <p:blipFill>
          <a:blip r:embed="rId3"/>
          <a:stretch>
            <a:fillRect/>
          </a:stretch>
        </p:blipFill>
        <p:spPr>
          <a:xfrm>
            <a:off x="0" y="1994055"/>
            <a:ext cx="5558613" cy="1731085"/>
          </a:xfrm>
          <a:prstGeom prst="rect">
            <a:avLst/>
          </a:prstGeom>
        </p:spPr>
      </p:pic>
      <p:pic>
        <p:nvPicPr>
          <p:cNvPr id="8" name="그림 7">
            <a:extLst>
              <a:ext uri="{FF2B5EF4-FFF2-40B4-BE49-F238E27FC236}">
                <a16:creationId xmlns:a16="http://schemas.microsoft.com/office/drawing/2014/main" id="{166AB3D2-EE20-F62F-7F7A-51133D631ECE}"/>
              </a:ext>
            </a:extLst>
          </p:cNvPr>
          <p:cNvPicPr>
            <a:picLocks noChangeAspect="1"/>
          </p:cNvPicPr>
          <p:nvPr/>
        </p:nvPicPr>
        <p:blipFill>
          <a:blip r:embed="rId4"/>
          <a:stretch>
            <a:fillRect/>
          </a:stretch>
        </p:blipFill>
        <p:spPr>
          <a:xfrm>
            <a:off x="0" y="2923020"/>
            <a:ext cx="5558613" cy="2363612"/>
          </a:xfrm>
          <a:prstGeom prst="rect">
            <a:avLst/>
          </a:prstGeom>
        </p:spPr>
      </p:pic>
    </p:spTree>
    <p:extLst>
      <p:ext uri="{BB962C8B-B14F-4D97-AF65-F5344CB8AC3E}">
        <p14:creationId xmlns:p14="http://schemas.microsoft.com/office/powerpoint/2010/main" val="314029962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F324C-DDBF-2FDE-A6A9-9D46BE16EBEF}"/>
            </a:ext>
          </a:extLst>
        </p:cNvPr>
        <p:cNvGrpSpPr/>
        <p:nvPr/>
      </p:nvGrpSpPr>
      <p:grpSpPr>
        <a:xfrm>
          <a:off x="0" y="0"/>
          <a:ext cx="0" cy="0"/>
          <a:chOff x="0" y="0"/>
          <a:chExt cx="0" cy="0"/>
        </a:xfrm>
      </p:grpSpPr>
      <p:sp>
        <p:nvSpPr>
          <p:cNvPr id="17" name="직사각형 16">
            <a:extLst>
              <a:ext uri="{FF2B5EF4-FFF2-40B4-BE49-F238E27FC236}">
                <a16:creationId xmlns:a16="http://schemas.microsoft.com/office/drawing/2014/main" id="{C0586F01-C473-7DBA-AEFA-DCBB6F1BA9CA}"/>
              </a:ext>
            </a:extLst>
          </p:cNvPr>
          <p:cNvSpPr/>
          <p:nvPr/>
        </p:nvSpPr>
        <p:spPr>
          <a:xfrm>
            <a:off x="1010281" y="1310389"/>
            <a:ext cx="7033700" cy="27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3" name="TextBox 2">
            <a:extLst>
              <a:ext uri="{FF2B5EF4-FFF2-40B4-BE49-F238E27FC236}">
                <a16:creationId xmlns:a16="http://schemas.microsoft.com/office/drawing/2014/main" id="{E2689CAC-1FC2-F639-9028-37441013AA58}"/>
              </a:ext>
            </a:extLst>
          </p:cNvPr>
          <p:cNvSpPr txBox="1"/>
          <p:nvPr/>
        </p:nvSpPr>
        <p:spPr>
          <a:xfrm>
            <a:off x="1085523" y="979914"/>
            <a:ext cx="7483514" cy="507831"/>
          </a:xfrm>
          <a:prstGeom prst="rect">
            <a:avLst/>
          </a:prstGeom>
          <a:noFill/>
        </p:spPr>
        <p:txBody>
          <a:bodyPr wrap="square">
            <a:spAutoFit/>
          </a:bodyPr>
          <a:lstStyle/>
          <a:p>
            <a:r>
              <a:rPr lang="en-US" altLang="ko-KR" sz="1350" b="1" dirty="0"/>
              <a:t>Hybrid AI Algorithm  Baseline -&gt; </a:t>
            </a:r>
            <a:r>
              <a:rPr lang="ko-KR" altLang="en-US" sz="1350" b="1" dirty="0" err="1"/>
              <a:t>하이퍼파라미터</a:t>
            </a:r>
            <a:r>
              <a:rPr lang="ko-KR" altLang="en-US" sz="1350" b="1" dirty="0"/>
              <a:t> </a:t>
            </a:r>
            <a:r>
              <a:rPr lang="en-US" altLang="ko-KR" sz="1350" b="1" dirty="0"/>
              <a:t>+ </a:t>
            </a:r>
            <a:r>
              <a:rPr lang="ko-KR" altLang="en-US" sz="1350" b="1" dirty="0"/>
              <a:t>평가 값 평가 </a:t>
            </a:r>
            <a:r>
              <a:rPr lang="en-US" altLang="ko-KR" sz="1350" b="1" dirty="0"/>
              <a:t>-&gt;issue </a:t>
            </a:r>
            <a:r>
              <a:rPr lang="ko-KR" altLang="en-US" sz="1350" b="1" dirty="0"/>
              <a:t>정리</a:t>
            </a:r>
            <a:r>
              <a:rPr lang="en-US" altLang="ko-KR" sz="1350" b="1" dirty="0"/>
              <a:t> </a:t>
            </a:r>
            <a:endParaRPr lang="ko-KR" altLang="en-US" sz="1350" dirty="0"/>
          </a:p>
          <a:p>
            <a:r>
              <a:rPr lang="en-US" altLang="ko-KR" sz="1350" b="1" dirty="0"/>
              <a:t> </a:t>
            </a:r>
            <a:endParaRPr lang="ko-KR" altLang="en-US" sz="1350" b="1" dirty="0"/>
          </a:p>
        </p:txBody>
      </p:sp>
    </p:spTree>
    <p:extLst>
      <p:ext uri="{BB962C8B-B14F-4D97-AF65-F5344CB8AC3E}">
        <p14:creationId xmlns:p14="http://schemas.microsoft.com/office/powerpoint/2010/main" val="86907562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직사각형 16"/>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직선 연결선 17"/>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 name="직선 연결선 22"/>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4"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None/>
            </a:pPr>
            <a:r>
              <a:rPr lang="en-US" altLang="ko-KR" sz="1700" b="1" dirty="0">
                <a:solidFill>
                  <a:schemeClr val="bg1"/>
                </a:solidFill>
                <a:latin typeface="+mn-ea"/>
                <a:cs typeface="+mj-cs"/>
              </a:rPr>
              <a:t>| </a:t>
            </a:r>
            <a:r>
              <a:rPr lang="ko-KR" altLang="en-US" sz="1700" b="1" dirty="0">
                <a:solidFill>
                  <a:schemeClr val="bg1"/>
                </a:solidFill>
                <a:latin typeface="+mn-ea"/>
                <a:cs typeface="+mj-cs"/>
              </a:rPr>
              <a:t>데이터 수집·처리 정의서</a:t>
            </a:r>
          </a:p>
        </p:txBody>
      </p:sp>
      <p:pic>
        <p:nvPicPr>
          <p:cNvPr id="29"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0" name="막힌 원호 29"/>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2" name="그림 1">
            <a:extLst>
              <a:ext uri="{FF2B5EF4-FFF2-40B4-BE49-F238E27FC236}">
                <a16:creationId xmlns:a16="http://schemas.microsoft.com/office/drawing/2014/main" id="{AE311E42-8094-1ED2-BF9F-D52B09934D67}"/>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501" name="TB501"/>
          <p:cNvSpPr txBox="1"/>
          <p:nvPr/>
        </p:nvSpPr>
        <p:spPr>
          <a:xfrm>
            <a:off x="402336" y="1463040"/>
            <a:ext cx="8229600" cy="292608"/>
          </a:xfrm>
          <a:prstGeom prst="rect">
            <a:avLst/>
          </a:prstGeom>
          <a:noFill/>
          <a:ln>
            <a:noFill/>
          </a:ln>
        </p:spPr>
        <p:txBody>
          <a:bodyPr wrap="square" lIns="0" tIns="0" rIns="0" bIns="0" anchor="ctr">
            <a:noAutofit/>
          </a:bodyPr>
          <a:lstStyle/>
          <a:p>
            <a:pPr algn="l"/>
            <a:r>
              <a:rPr lang="ko-KR" altLang="en-US" sz="1300" dirty="0">
                <a:solidFill>
                  <a:srgbClr val="2563EB"/>
                </a:solidFill>
                <a:latin typeface="맑은 고딕"/>
                <a:ea typeface="맑은 고딕"/>
              </a:rPr>
              <a:t>▍ </a:t>
            </a:r>
            <a:r>
              <a:rPr lang="ko-KR" altLang="en-US" sz="1300" b="1" dirty="0">
                <a:solidFill>
                  <a:srgbClr val="2A2A2A"/>
                </a:solidFill>
                <a:latin typeface="맑은 고딕"/>
                <a:ea typeface="맑은 고딕"/>
              </a:rPr>
              <a:t>① 수집·처리 파이프라인 개요</a:t>
            </a:r>
          </a:p>
        </p:txBody>
      </p:sp>
      <p:sp>
        <p:nvSpPr>
          <p:cNvPr id="502" name="RRect502"/>
          <p:cNvSpPr/>
          <p:nvPr/>
        </p:nvSpPr>
        <p:spPr>
          <a:xfrm>
            <a:off x="402336" y="1892808"/>
            <a:ext cx="1371600" cy="868680"/>
          </a:xfrm>
          <a:prstGeom prst="roundRect">
            <a:avLst>
              <a:gd name="adj" fmla="val 12000"/>
            </a:avLst>
          </a:prstGeom>
          <a:solidFill>
            <a:srgbClr val="1D4ED8"/>
          </a:solidFill>
          <a:ln>
            <a:noFill/>
          </a:ln>
        </p:spPr>
        <p:txBody>
          <a:bodyPr/>
          <a:lstStyle/>
          <a:p>
            <a:endParaRPr lang="ko-KR"/>
          </a:p>
        </p:txBody>
      </p:sp>
      <p:sp>
        <p:nvSpPr>
          <p:cNvPr id="503" name="TB503"/>
          <p:cNvSpPr txBox="1"/>
          <p:nvPr/>
        </p:nvSpPr>
        <p:spPr>
          <a:xfrm>
            <a:off x="438912" y="1892808"/>
            <a:ext cx="1298448" cy="868680"/>
          </a:xfrm>
          <a:prstGeom prst="rect">
            <a:avLst/>
          </a:prstGeom>
          <a:noFill/>
          <a:ln>
            <a:noFill/>
          </a:ln>
        </p:spPr>
        <p:txBody>
          <a:bodyPr wrap="square" lIns="0" tIns="0" rIns="0" bIns="0" anchor="ctr">
            <a:noAutofit/>
          </a:bodyPr>
          <a:lstStyle/>
          <a:p>
            <a:pPr algn="ctr"/>
            <a:r>
              <a:rPr lang="ko-KR" altLang="en-US" sz="900" b="1" dirty="0">
                <a:solidFill>
                  <a:srgbClr val="FFFFFF"/>
                </a:solidFill>
                <a:latin typeface="맑은 고딕"/>
                <a:ea typeface="맑은 고딕"/>
              </a:rPr>
              <a:t>에지(Pi 5)</a:t>
            </a:r>
          </a:p>
          <a:p>
            <a:pPr algn="ctr"/>
            <a:r>
              <a:rPr lang="ko-KR" altLang="en-US" sz="900" b="1" dirty="0">
                <a:solidFill>
                  <a:srgbClr val="FFFFFF"/>
                </a:solidFill>
                <a:latin typeface="맑은 고딕"/>
                <a:ea typeface="맑은 고딕"/>
              </a:rPr>
              <a:t>전압·전류·온도·SOC</a:t>
            </a:r>
          </a:p>
          <a:p>
            <a:pPr algn="ctr"/>
            <a:r>
              <a:rPr lang="ko-KR" altLang="en-US" sz="900" b="1" dirty="0">
                <a:solidFill>
                  <a:srgbClr val="FFFFFF"/>
                </a:solidFill>
                <a:latin typeface="맑은 고딕"/>
                <a:ea typeface="맑은 고딕"/>
              </a:rPr>
              <a:t>가스·압력·음향</a:t>
            </a:r>
          </a:p>
        </p:txBody>
      </p:sp>
      <p:sp>
        <p:nvSpPr>
          <p:cNvPr id="504" name="RRect504"/>
          <p:cNvSpPr/>
          <p:nvPr/>
        </p:nvSpPr>
        <p:spPr>
          <a:xfrm>
            <a:off x="1961388" y="1892808"/>
            <a:ext cx="1371600" cy="868680"/>
          </a:xfrm>
          <a:prstGeom prst="roundRect">
            <a:avLst>
              <a:gd name="adj" fmla="val 12000"/>
            </a:avLst>
          </a:prstGeom>
          <a:solidFill>
            <a:srgbClr val="3B5AA8"/>
          </a:solidFill>
          <a:ln>
            <a:noFill/>
          </a:ln>
        </p:spPr>
        <p:txBody>
          <a:bodyPr/>
          <a:lstStyle/>
          <a:p>
            <a:endParaRPr lang="ko-KR"/>
          </a:p>
        </p:txBody>
      </p:sp>
      <p:sp>
        <p:nvSpPr>
          <p:cNvPr id="505" name="TB505"/>
          <p:cNvSpPr txBox="1"/>
          <p:nvPr/>
        </p:nvSpPr>
        <p:spPr>
          <a:xfrm>
            <a:off x="1997964" y="1892808"/>
            <a:ext cx="1298448" cy="868680"/>
          </a:xfrm>
          <a:prstGeom prst="rect">
            <a:avLst/>
          </a:prstGeom>
          <a:noFill/>
          <a:ln>
            <a:noFill/>
          </a:ln>
        </p:spPr>
        <p:txBody>
          <a:bodyPr wrap="square" lIns="0" tIns="0" rIns="0" bIns="0" anchor="ctr">
            <a:noAutofit/>
          </a:bodyPr>
          <a:lstStyle/>
          <a:p>
            <a:pPr algn="ctr"/>
            <a:r>
              <a:rPr lang="ko-KR" altLang="en-US" sz="900" b="1" dirty="0">
                <a:solidFill>
                  <a:srgbClr val="FFFFFF"/>
                </a:solidFill>
                <a:latin typeface="맑은 고딕"/>
                <a:ea typeface="맑은 고딕"/>
              </a:rPr>
              <a:t>Kafka</a:t>
            </a:r>
          </a:p>
          <a:p>
            <a:pPr algn="ctr"/>
            <a:r>
              <a:rPr lang="ko-KR" altLang="en-US" sz="900" b="1" dirty="0">
                <a:solidFill>
                  <a:srgbClr val="FFFFFF"/>
                </a:solidFill>
                <a:latin typeface="맑은 고딕"/>
                <a:ea typeface="맑은 고딕"/>
              </a:rPr>
              <a:t>battery-raw-</a:t>
            </a:r>
          </a:p>
          <a:p>
            <a:pPr algn="ctr"/>
            <a:r>
              <a:rPr lang="ko-KR" altLang="en-US" sz="900" b="1" dirty="0">
                <a:solidFill>
                  <a:srgbClr val="FFFFFF"/>
                </a:solidFill>
                <a:latin typeface="맑은 고딕"/>
                <a:ea typeface="맑은 고딕"/>
              </a:rPr>
              <a:t>metrics</a:t>
            </a:r>
          </a:p>
        </p:txBody>
      </p:sp>
      <p:sp>
        <p:nvSpPr>
          <p:cNvPr id="506" name="RRect506"/>
          <p:cNvSpPr/>
          <p:nvPr/>
        </p:nvSpPr>
        <p:spPr>
          <a:xfrm>
            <a:off x="3520440" y="1892808"/>
            <a:ext cx="1371600" cy="868680"/>
          </a:xfrm>
          <a:prstGeom prst="roundRect">
            <a:avLst>
              <a:gd name="adj" fmla="val 12000"/>
            </a:avLst>
          </a:prstGeom>
          <a:solidFill>
            <a:srgbClr val="2563EB"/>
          </a:solidFill>
          <a:ln>
            <a:noFill/>
          </a:ln>
        </p:spPr>
        <p:txBody>
          <a:bodyPr/>
          <a:lstStyle/>
          <a:p>
            <a:endParaRPr lang="ko-KR"/>
          </a:p>
        </p:txBody>
      </p:sp>
      <p:sp>
        <p:nvSpPr>
          <p:cNvPr id="507" name="TB507"/>
          <p:cNvSpPr txBox="1"/>
          <p:nvPr/>
        </p:nvSpPr>
        <p:spPr>
          <a:xfrm>
            <a:off x="3557016" y="1892808"/>
            <a:ext cx="1298448" cy="868680"/>
          </a:xfrm>
          <a:prstGeom prst="rect">
            <a:avLst/>
          </a:prstGeom>
          <a:noFill/>
          <a:ln>
            <a:noFill/>
          </a:ln>
        </p:spPr>
        <p:txBody>
          <a:bodyPr wrap="square" lIns="0" tIns="0" rIns="0" bIns="0" anchor="ctr">
            <a:noAutofit/>
          </a:bodyPr>
          <a:lstStyle/>
          <a:p>
            <a:pPr algn="ctr"/>
            <a:r>
              <a:rPr lang="ko-KR" altLang="en-US" sz="900" b="1" dirty="0">
                <a:solidFill>
                  <a:srgbClr val="FFFFFF"/>
                </a:solidFill>
                <a:latin typeface="맑은 고딕"/>
                <a:ea typeface="맑은 고딕"/>
              </a:rPr>
              <a:t>Consumer</a:t>
            </a:r>
          </a:p>
          <a:p>
            <a:pPr algn="ctr"/>
            <a:r>
              <a:rPr lang="ko-KR" altLang="en-US" sz="900" b="1" dirty="0">
                <a:solidFill>
                  <a:srgbClr val="FFFFFF"/>
                </a:solidFill>
                <a:latin typeface="맑은 고딕"/>
                <a:ea typeface="맑은 고딕"/>
              </a:rPr>
              <a:t>→TimescaleDB</a:t>
            </a:r>
          </a:p>
          <a:p>
            <a:pPr algn="ctr"/>
            <a:r>
              <a:rPr lang="ko-KR" altLang="en-US" sz="900" b="1" dirty="0">
                <a:solidFill>
                  <a:srgbClr val="FFFFFF"/>
                </a:solidFill>
                <a:latin typeface="맑은 고딕"/>
                <a:ea typeface="맑은 고딕"/>
              </a:rPr>
              <a:t>적재</a:t>
            </a:r>
          </a:p>
        </p:txBody>
      </p:sp>
      <p:sp>
        <p:nvSpPr>
          <p:cNvPr id="508" name="RRect508"/>
          <p:cNvSpPr/>
          <p:nvPr/>
        </p:nvSpPr>
        <p:spPr>
          <a:xfrm>
            <a:off x="5079492" y="1892808"/>
            <a:ext cx="1371600" cy="868680"/>
          </a:xfrm>
          <a:prstGeom prst="roundRect">
            <a:avLst>
              <a:gd name="adj" fmla="val 12000"/>
            </a:avLst>
          </a:prstGeom>
          <a:solidFill>
            <a:srgbClr val="1D4ED8"/>
          </a:solidFill>
          <a:ln>
            <a:noFill/>
          </a:ln>
        </p:spPr>
        <p:txBody>
          <a:bodyPr/>
          <a:lstStyle/>
          <a:p>
            <a:endParaRPr lang="ko-KR"/>
          </a:p>
        </p:txBody>
      </p:sp>
      <p:sp>
        <p:nvSpPr>
          <p:cNvPr id="509" name="TB509"/>
          <p:cNvSpPr txBox="1"/>
          <p:nvPr/>
        </p:nvSpPr>
        <p:spPr>
          <a:xfrm>
            <a:off x="5116068" y="1892808"/>
            <a:ext cx="1298448" cy="868680"/>
          </a:xfrm>
          <a:prstGeom prst="rect">
            <a:avLst/>
          </a:prstGeom>
          <a:noFill/>
          <a:ln>
            <a:noFill/>
          </a:ln>
        </p:spPr>
        <p:txBody>
          <a:bodyPr wrap="square" lIns="0" tIns="0" rIns="0" bIns="0" anchor="ctr">
            <a:noAutofit/>
          </a:bodyPr>
          <a:lstStyle/>
          <a:p>
            <a:pPr algn="ctr"/>
            <a:r>
              <a:rPr lang="ko-KR" altLang="en-US" sz="900" b="1" dirty="0">
                <a:solidFill>
                  <a:srgbClr val="FFFFFF"/>
                </a:solidFill>
                <a:latin typeface="맑은 고딕"/>
                <a:ea typeface="맑은 고딕"/>
              </a:rPr>
              <a:t>AI 추론(Colab)</a:t>
            </a:r>
          </a:p>
          <a:p>
            <a:pPr algn="ctr"/>
            <a:r>
              <a:rPr lang="ko-KR" altLang="en-US" sz="900" b="1" dirty="0">
                <a:solidFill>
                  <a:srgbClr val="FFFFFF"/>
                </a:solidFill>
                <a:latin typeface="맑은 고딕"/>
                <a:ea typeface="맑은 고딕"/>
              </a:rPr>
              <a:t>LSTM-AE</a:t>
            </a:r>
          </a:p>
          <a:p>
            <a:pPr algn="ctr"/>
            <a:r>
              <a:rPr lang="ko-KR" altLang="en-US" sz="900" b="1" dirty="0">
                <a:solidFill>
                  <a:srgbClr val="FFFFFF"/>
                </a:solidFill>
                <a:latin typeface="맑은 고딕"/>
                <a:ea typeface="맑은 고딕"/>
              </a:rPr>
              <a:t>이상점수 계산</a:t>
            </a:r>
          </a:p>
        </p:txBody>
      </p:sp>
      <p:sp>
        <p:nvSpPr>
          <p:cNvPr id="510" name="RRect510"/>
          <p:cNvSpPr/>
          <p:nvPr/>
        </p:nvSpPr>
        <p:spPr>
          <a:xfrm>
            <a:off x="6638544" y="1892808"/>
            <a:ext cx="1371600" cy="868680"/>
          </a:xfrm>
          <a:prstGeom prst="roundRect">
            <a:avLst>
              <a:gd name="adj" fmla="val 12000"/>
            </a:avLst>
          </a:prstGeom>
          <a:solidFill>
            <a:srgbClr val="3B5AA8"/>
          </a:solidFill>
          <a:ln>
            <a:noFill/>
          </a:ln>
        </p:spPr>
        <p:txBody>
          <a:bodyPr/>
          <a:lstStyle/>
          <a:p>
            <a:endParaRPr lang="ko-KR"/>
          </a:p>
        </p:txBody>
      </p:sp>
      <p:sp>
        <p:nvSpPr>
          <p:cNvPr id="511" name="TB511"/>
          <p:cNvSpPr txBox="1"/>
          <p:nvPr/>
        </p:nvSpPr>
        <p:spPr>
          <a:xfrm>
            <a:off x="6675120" y="1892808"/>
            <a:ext cx="1298448" cy="868680"/>
          </a:xfrm>
          <a:prstGeom prst="rect">
            <a:avLst/>
          </a:prstGeom>
          <a:noFill/>
          <a:ln>
            <a:noFill/>
          </a:ln>
        </p:spPr>
        <p:txBody>
          <a:bodyPr wrap="square" lIns="0" tIns="0" rIns="0" bIns="0" anchor="ctr">
            <a:noAutofit/>
          </a:bodyPr>
          <a:lstStyle/>
          <a:p>
            <a:pPr algn="ctr"/>
            <a:r>
              <a:rPr lang="ko-KR" altLang="en-US" sz="900" b="1" dirty="0">
                <a:solidFill>
                  <a:srgbClr val="FFFFFF"/>
                </a:solidFill>
                <a:latin typeface="맑은 고딕"/>
                <a:ea typeface="맑은 고딕"/>
              </a:rPr>
              <a:t>백엔드/대시보드</a:t>
            </a:r>
          </a:p>
          <a:p>
            <a:pPr algn="ctr"/>
            <a:r>
              <a:rPr lang="ko-KR" altLang="en-US" sz="900" b="1" dirty="0">
                <a:solidFill>
                  <a:srgbClr val="FFFFFF"/>
                </a:solidFill>
                <a:latin typeface="맑은 고딕"/>
                <a:ea typeface="맑은 고딕"/>
              </a:rPr>
              <a:t>REST·WebSocket</a:t>
            </a:r>
          </a:p>
          <a:p>
            <a:pPr algn="ctr"/>
            <a:r>
              <a:rPr lang="ko-KR" altLang="en-US" sz="900" b="1" dirty="0">
                <a:solidFill>
                  <a:srgbClr val="FFFFFF"/>
                </a:solidFill>
                <a:latin typeface="맑은 고딕"/>
                <a:ea typeface="맑은 고딕"/>
              </a:rPr>
              <a:t>카카오 알림</a:t>
            </a:r>
          </a:p>
        </p:txBody>
      </p:sp>
      <p:cxnSp>
        <p:nvCxnSpPr>
          <p:cNvPr id="512" name="Line512"/>
          <p:cNvCxnSpPr/>
          <p:nvPr/>
        </p:nvCxnSpPr>
        <p:spPr>
          <a:xfrm>
            <a:off x="1773936" y="2327148"/>
            <a:ext cx="187452" cy="914"/>
          </a:xfrm>
          <a:prstGeom prst="line">
            <a:avLst/>
          </a:prstGeom>
          <a:ln w="19050">
            <a:solidFill>
              <a:srgbClr val="3B5AA8"/>
            </a:solidFill>
            <a:tailEnd type="triangle" w="med" len="med"/>
          </a:ln>
        </p:spPr>
      </p:cxnSp>
      <p:cxnSp>
        <p:nvCxnSpPr>
          <p:cNvPr id="513" name="Line513"/>
          <p:cNvCxnSpPr/>
          <p:nvPr/>
        </p:nvCxnSpPr>
        <p:spPr>
          <a:xfrm>
            <a:off x="3332988" y="2327148"/>
            <a:ext cx="187452" cy="914"/>
          </a:xfrm>
          <a:prstGeom prst="line">
            <a:avLst/>
          </a:prstGeom>
          <a:ln w="19050">
            <a:solidFill>
              <a:srgbClr val="3B5AA8"/>
            </a:solidFill>
            <a:tailEnd type="triangle" w="med" len="med"/>
          </a:ln>
        </p:spPr>
      </p:cxnSp>
      <p:cxnSp>
        <p:nvCxnSpPr>
          <p:cNvPr id="514" name="Line514"/>
          <p:cNvCxnSpPr/>
          <p:nvPr/>
        </p:nvCxnSpPr>
        <p:spPr>
          <a:xfrm>
            <a:off x="4892040" y="2327148"/>
            <a:ext cx="187452" cy="914"/>
          </a:xfrm>
          <a:prstGeom prst="line">
            <a:avLst/>
          </a:prstGeom>
          <a:ln w="19050">
            <a:solidFill>
              <a:srgbClr val="3B5AA8"/>
            </a:solidFill>
            <a:tailEnd type="triangle" w="med" len="med"/>
          </a:ln>
        </p:spPr>
      </p:cxnSp>
      <p:cxnSp>
        <p:nvCxnSpPr>
          <p:cNvPr id="515" name="Line515"/>
          <p:cNvCxnSpPr/>
          <p:nvPr/>
        </p:nvCxnSpPr>
        <p:spPr>
          <a:xfrm>
            <a:off x="6451092" y="2327148"/>
            <a:ext cx="187452" cy="914"/>
          </a:xfrm>
          <a:prstGeom prst="line">
            <a:avLst/>
          </a:prstGeom>
          <a:ln w="19050">
            <a:solidFill>
              <a:srgbClr val="3B5AA8"/>
            </a:solidFill>
            <a:tailEnd type="triangle" w="med" len="med"/>
          </a:ln>
        </p:spPr>
      </p:cxnSp>
      <p:cxnSp>
        <p:nvCxnSpPr>
          <p:cNvPr id="516" name="Line516"/>
          <p:cNvCxnSpPr/>
          <p:nvPr/>
        </p:nvCxnSpPr>
        <p:spPr>
          <a:xfrm flipH="1">
            <a:off x="2647188" y="1892808"/>
            <a:ext cx="3118104" cy="914"/>
          </a:xfrm>
          <a:prstGeom prst="line">
            <a:avLst/>
          </a:prstGeom>
          <a:ln w="19050">
            <a:solidFill>
              <a:srgbClr val="C77B12"/>
            </a:solidFill>
            <a:prstDash val="dash"/>
            <a:tailEnd type="triangle" w="med" len="med"/>
          </a:ln>
        </p:spPr>
      </p:cxnSp>
      <p:sp>
        <p:nvSpPr>
          <p:cNvPr id="517" name="TB517"/>
          <p:cNvSpPr txBox="1"/>
          <p:nvPr/>
        </p:nvSpPr>
        <p:spPr>
          <a:xfrm>
            <a:off x="3332988" y="1618488"/>
            <a:ext cx="3118104" cy="219456"/>
          </a:xfrm>
          <a:prstGeom prst="rect">
            <a:avLst/>
          </a:prstGeom>
          <a:noFill/>
          <a:ln>
            <a:noFill/>
          </a:ln>
        </p:spPr>
        <p:txBody>
          <a:bodyPr wrap="square" lIns="0" tIns="0" rIns="0" bIns="0" anchor="ctr">
            <a:noAutofit/>
          </a:bodyPr>
          <a:lstStyle/>
          <a:p>
            <a:pPr algn="ctr"/>
            <a:r>
              <a:rPr lang="ko-KR" altLang="en-US" sz="800" dirty="0">
                <a:solidFill>
                  <a:srgbClr val="C77B12"/>
                </a:solidFill>
                <a:latin typeface="맑은 고딕"/>
                <a:ea typeface="맑은 고딕"/>
              </a:rPr>
              <a:t>battery-anomaly-alerts 발행(재구독)</a:t>
            </a:r>
          </a:p>
        </p:txBody>
      </p:sp>
      <p:sp>
        <p:nvSpPr>
          <p:cNvPr id="518" name="TB518"/>
          <p:cNvSpPr txBox="1"/>
          <p:nvPr/>
        </p:nvSpPr>
        <p:spPr>
          <a:xfrm>
            <a:off x="402336" y="2926080"/>
            <a:ext cx="8339328" cy="256032"/>
          </a:xfrm>
          <a:prstGeom prst="rect">
            <a:avLst/>
          </a:prstGeom>
          <a:noFill/>
          <a:ln>
            <a:noFill/>
          </a:ln>
        </p:spPr>
        <p:txBody>
          <a:bodyPr wrap="square" lIns="0" tIns="0" rIns="0" bIns="0" anchor="t">
            <a:noAutofit/>
          </a:bodyPr>
          <a:lstStyle/>
          <a:p>
            <a:pPr algn="l"/>
            <a:r>
              <a:rPr lang="ko-KR" altLang="en-US" sz="900" i="1" dirty="0">
                <a:solidFill>
                  <a:srgbClr val="5B6472"/>
                </a:solidFill>
                <a:latin typeface="맑은 고딕"/>
                <a:ea typeface="맑은 고딕"/>
              </a:rPr>
              <a:t>battery-events(센서 오류·인터락·릴레이 제어 이벤트)는 Consumer와 백엔드가 공통 구독하여 이벤트 이력·감사로그에 반영합니다.</a:t>
            </a:r>
          </a:p>
        </p:txBody>
      </p:sp>
      <p:sp>
        <p:nvSpPr>
          <p:cNvPr id="519" name="TB519"/>
          <p:cNvSpPr txBox="1"/>
          <p:nvPr/>
        </p:nvSpPr>
        <p:spPr>
          <a:xfrm>
            <a:off x="402336" y="3291840"/>
            <a:ext cx="8339328" cy="237744"/>
          </a:xfrm>
          <a:prstGeom prst="rect">
            <a:avLst/>
          </a:prstGeom>
          <a:noFill/>
          <a:ln>
            <a:noFill/>
          </a:ln>
        </p:spPr>
        <p:txBody>
          <a:bodyPr wrap="square" lIns="0" tIns="0" rIns="0" bIns="0" anchor="b">
            <a:noAutofit/>
          </a:bodyPr>
          <a:lstStyle/>
          <a:p>
            <a:pPr algn="l"/>
            <a:r>
              <a:rPr lang="ko-KR" altLang="en-US" sz="1300" b="1" dirty="0">
                <a:solidFill>
                  <a:srgbClr val="3B5AA8"/>
                </a:solidFill>
                <a:latin typeface="맑은 고딕"/>
                <a:ea typeface="맑은 고딕"/>
              </a:rPr>
              <a:t>Kafka 토픽 정의</a:t>
            </a:r>
          </a:p>
        </p:txBody>
      </p:sp>
      <p:graphicFrame>
        <p:nvGraphicFramePr>
          <p:cNvPr id="520" name="Tbl520"/>
          <p:cNvGraphicFramePr>
            <a:graphicFrameLocks noGrp="1"/>
          </p:cNvGraphicFramePr>
          <p:nvPr/>
        </p:nvGraphicFramePr>
        <p:xfrm>
          <a:off x="402336" y="3566160"/>
          <a:ext cx="8339328" cy="1828800"/>
        </p:xfrm>
        <a:graphic>
          <a:graphicData uri="http://schemas.openxmlformats.org/drawingml/2006/table">
            <a:tbl>
              <a:tblPr firstRow="1"/>
              <a:tblGrid>
                <a:gridCol w="2066544">
                  <a:extLst>
                    <a:ext uri="{9D8B030D-6E8A-4147-A177-3AD203B41FA5}">
                      <a16:colId xmlns:a16="http://schemas.microsoft.com/office/drawing/2014/main" val="20000"/>
                    </a:ext>
                  </a:extLst>
                </a:gridCol>
                <a:gridCol w="1792224">
                  <a:extLst>
                    <a:ext uri="{9D8B030D-6E8A-4147-A177-3AD203B41FA5}">
                      <a16:colId xmlns:a16="http://schemas.microsoft.com/office/drawing/2014/main" val="20001"/>
                    </a:ext>
                  </a:extLst>
                </a:gridCol>
                <a:gridCol w="1792224">
                  <a:extLst>
                    <a:ext uri="{9D8B030D-6E8A-4147-A177-3AD203B41FA5}">
                      <a16:colId xmlns:a16="http://schemas.microsoft.com/office/drawing/2014/main" val="20002"/>
                    </a:ext>
                  </a:extLst>
                </a:gridCol>
                <a:gridCol w="2688336">
                  <a:extLst>
                    <a:ext uri="{9D8B030D-6E8A-4147-A177-3AD203B41FA5}">
                      <a16:colId xmlns:a16="http://schemas.microsoft.com/office/drawing/2014/main" val="20003"/>
                    </a:ext>
                  </a:extLst>
                </a:gridCol>
              </a:tblGrid>
              <a:tr h="457200">
                <a:tc>
                  <a:txBody>
                    <a:bodyPr/>
                    <a:lstStyle/>
                    <a:p>
                      <a:pPr algn="ctr"/>
                      <a:r>
                        <a:rPr lang="ko-KR" altLang="en-US" sz="1050" b="1">
                          <a:solidFill>
                            <a:srgbClr val="FFFFFF"/>
                          </a:solidFill>
                          <a:latin typeface="맑은 고딕"/>
                        </a:rPr>
                        <a:t>토픽명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1050" b="1">
                          <a:solidFill>
                            <a:srgbClr val="FFFFFF"/>
                          </a:solidFill>
                          <a:latin typeface="맑은 고딕"/>
                        </a:rPr>
                        <a:t>Producer</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1050" b="1">
                          <a:solidFill>
                            <a:srgbClr val="FFFFFF"/>
                          </a:solidFill>
                          <a:latin typeface="맑은 고딕"/>
                        </a:rPr>
                        <a:t>Consumer</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1050" b="1">
                          <a:solidFill>
                            <a:srgbClr val="FFFFFF"/>
                          </a:solidFill>
                          <a:latin typeface="맑은 고딕"/>
                        </a:rPr>
                        <a:t>주요 내용</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extLst>
                  <a:ext uri="{0D108BD9-81ED-4DB2-BD59-A6C34878D82A}">
                    <a16:rowId xmlns:a16="http://schemas.microsoft.com/office/drawing/2014/main" val="10000"/>
                  </a:ext>
                </a:extLst>
              </a:tr>
              <a:tr h="457200">
                <a:tc>
                  <a:txBody>
                    <a:bodyPr/>
                    <a:lstStyle/>
                    <a:p>
                      <a:pPr algn="ctr"/>
                      <a:r>
                        <a:rPr lang="ko-KR" altLang="en-US" sz="1000" b="0">
                          <a:solidFill>
                            <a:srgbClr val="222222"/>
                          </a:solidFill>
                          <a:latin typeface="맑은 고딕"/>
                        </a:rPr>
                        <a:t>battery-raw-metrics</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1000" b="0">
                          <a:solidFill>
                            <a:srgbClr val="222222"/>
                          </a:solidFill>
                          <a:latin typeface="맑은 고딕"/>
                        </a:rPr>
                        <a:t>에지(Raspberry Pi 5)</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1000" b="0">
                          <a:solidFill>
                            <a:srgbClr val="222222"/>
                          </a:solidFill>
                          <a:latin typeface="맑은 고딕"/>
                        </a:rPr>
                        <a:t>Consumer, AI(Colab)</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1000" b="0">
                          <a:solidFill>
                            <a:srgbClr val="222222"/>
                          </a:solidFill>
                          <a:latin typeface="맑은 고딕"/>
                        </a:rPr>
                        <a:t>센서 Raw 값(전압·전류·온도·SOC·가스·압력·음향)</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1"/>
                  </a:ext>
                </a:extLst>
              </a:tr>
              <a:tr h="457200">
                <a:tc>
                  <a:txBody>
                    <a:bodyPr/>
                    <a:lstStyle/>
                    <a:p>
                      <a:pPr algn="ctr"/>
                      <a:r>
                        <a:rPr lang="ko-KR" altLang="en-US" sz="1000" b="0">
                          <a:solidFill>
                            <a:srgbClr val="222222"/>
                          </a:solidFill>
                          <a:latin typeface="맑은 고딕"/>
                        </a:rPr>
                        <a:t>battery-anomaly-alerts</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1000" b="0">
                          <a:solidFill>
                            <a:srgbClr val="222222"/>
                          </a:solidFill>
                          <a:latin typeface="맑은 고딕"/>
                        </a:rPr>
                        <a:t>AI 추론 서버(Colab)</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1000" b="0">
                          <a:solidFill>
                            <a:srgbClr val="222222"/>
                          </a:solidFill>
                          <a:latin typeface="맑은 고딕"/>
                        </a:rPr>
                        <a:t>백엔드(REST/WebSocket)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1000" b="0">
                          <a:solidFill>
                            <a:srgbClr val="222222"/>
                          </a:solidFill>
                          <a:latin typeface="맑은 고딕"/>
                        </a:rPr>
                        <a:t>이상점수, 상태 등급, XAI 기여 요인, 파생 온도</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2"/>
                  </a:ext>
                </a:extLst>
              </a:tr>
              <a:tr h="457200">
                <a:tc>
                  <a:txBody>
                    <a:bodyPr/>
                    <a:lstStyle/>
                    <a:p>
                      <a:pPr algn="ctr"/>
                      <a:r>
                        <a:rPr lang="ko-KR" altLang="en-US" sz="1000" b="0">
                          <a:solidFill>
                            <a:srgbClr val="222222"/>
                          </a:solidFill>
                          <a:latin typeface="맑은 고딕"/>
                        </a:rPr>
                        <a:t>battery-events</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1000" b="0">
                          <a:solidFill>
                            <a:srgbClr val="222222"/>
                          </a:solidFill>
                          <a:latin typeface="맑은 고딕"/>
                        </a:rPr>
                        <a:t>에지 / 백엔드</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1000" b="0">
                          <a:solidFill>
                            <a:srgbClr val="222222"/>
                          </a:solidFill>
                          <a:latin typeface="맑은 고딕"/>
                        </a:rPr>
                        <a:t>Consumer, 백엔드</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1000" b="0">
                          <a:solidFill>
                            <a:srgbClr val="222222"/>
                          </a:solidFill>
                          <a:latin typeface="맑은 고딕"/>
                        </a:rPr>
                        <a:t>센서 오류, 모드 인터락, 릴레이 제어(Kill-Switch) 이벤트</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7091354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직사각형 16"/>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직선 연결선 17"/>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 name="직선 연결선 22"/>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4"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None/>
            </a:pPr>
            <a:r>
              <a:rPr lang="en-US" altLang="ko-KR" sz="1700" b="1" dirty="0">
                <a:solidFill>
                  <a:schemeClr val="bg1"/>
                </a:solidFill>
                <a:latin typeface="+mn-ea"/>
                <a:cs typeface="+mj-cs"/>
              </a:rPr>
              <a:t>| </a:t>
            </a:r>
            <a:r>
              <a:rPr lang="ko-KR" altLang="en-US" sz="1700" b="1" dirty="0">
                <a:solidFill>
                  <a:schemeClr val="bg1"/>
                </a:solidFill>
                <a:latin typeface="+mn-ea"/>
                <a:cs typeface="+mj-cs"/>
              </a:rPr>
              <a:t>데이터 수집·처리 정의서</a:t>
            </a:r>
          </a:p>
        </p:txBody>
      </p:sp>
      <p:pic>
        <p:nvPicPr>
          <p:cNvPr id="29"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0" name="막힌 원호 29"/>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2" name="그림 1">
            <a:extLst>
              <a:ext uri="{FF2B5EF4-FFF2-40B4-BE49-F238E27FC236}">
                <a16:creationId xmlns:a16="http://schemas.microsoft.com/office/drawing/2014/main" id="{AE311E42-8094-1ED2-BF9F-D52B09934D67}"/>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501" name="TB501"/>
          <p:cNvSpPr txBox="1"/>
          <p:nvPr/>
        </p:nvSpPr>
        <p:spPr>
          <a:xfrm>
            <a:off x="402336" y="1463040"/>
            <a:ext cx="8229600" cy="292608"/>
          </a:xfrm>
          <a:prstGeom prst="rect">
            <a:avLst/>
          </a:prstGeom>
          <a:noFill/>
          <a:ln>
            <a:noFill/>
          </a:ln>
        </p:spPr>
        <p:txBody>
          <a:bodyPr wrap="square" lIns="0" tIns="0" rIns="0" bIns="0" anchor="ctr">
            <a:noAutofit/>
          </a:bodyPr>
          <a:lstStyle/>
          <a:p>
            <a:pPr algn="l"/>
            <a:r>
              <a:rPr lang="ko-KR" altLang="en-US" sz="1300" dirty="0">
                <a:solidFill>
                  <a:srgbClr val="2563EB"/>
                </a:solidFill>
                <a:latin typeface="맑은 고딕"/>
                <a:ea typeface="맑은 고딕"/>
              </a:rPr>
              <a:t>▍ </a:t>
            </a:r>
            <a:r>
              <a:rPr lang="ko-KR" altLang="en-US" sz="1300" b="1" dirty="0">
                <a:solidFill>
                  <a:srgbClr val="2A2A2A"/>
                </a:solidFill>
                <a:latin typeface="맑은 고딕"/>
                <a:ea typeface="맑은 고딕"/>
              </a:rPr>
              <a:t>② 센서 필드별 수집·처리 정의</a:t>
            </a:r>
          </a:p>
        </p:txBody>
      </p:sp>
      <p:sp>
        <p:nvSpPr>
          <p:cNvPr id="502" name="TB502"/>
          <p:cNvSpPr txBox="1"/>
          <p:nvPr/>
        </p:nvSpPr>
        <p:spPr>
          <a:xfrm>
            <a:off x="402336" y="1847088"/>
            <a:ext cx="8339328" cy="237744"/>
          </a:xfrm>
          <a:prstGeom prst="rect">
            <a:avLst/>
          </a:prstGeom>
          <a:noFill/>
          <a:ln>
            <a:noFill/>
          </a:ln>
        </p:spPr>
        <p:txBody>
          <a:bodyPr wrap="square" lIns="0" tIns="0" rIns="0" bIns="0" anchor="b">
            <a:noAutofit/>
          </a:bodyPr>
          <a:lstStyle/>
          <a:p>
            <a:pPr algn="l"/>
            <a:r>
              <a:rPr lang="ko-KR" altLang="en-US" sz="1300" b="1" dirty="0">
                <a:solidFill>
                  <a:srgbClr val="3B5AA8"/>
                </a:solidFill>
                <a:latin typeface="맑은 고딕"/>
                <a:ea typeface="맑은 고딕"/>
              </a:rPr>
              <a:t>수집 항목 및 처리 방식</a:t>
            </a:r>
          </a:p>
        </p:txBody>
      </p:sp>
      <p:graphicFrame>
        <p:nvGraphicFramePr>
          <p:cNvPr id="503" name="Tbl503"/>
          <p:cNvGraphicFramePr>
            <a:graphicFrameLocks noGrp="1"/>
          </p:cNvGraphicFramePr>
          <p:nvPr/>
        </p:nvGraphicFramePr>
        <p:xfrm>
          <a:off x="402336" y="2121408"/>
          <a:ext cx="8339328" cy="4279392"/>
        </p:xfrm>
        <a:graphic>
          <a:graphicData uri="http://schemas.openxmlformats.org/drawingml/2006/table">
            <a:tbl>
              <a:tblPr firstRow="1"/>
              <a:tblGrid>
                <a:gridCol w="1143368">
                  <a:extLst>
                    <a:ext uri="{9D8B030D-6E8A-4147-A177-3AD203B41FA5}">
                      <a16:colId xmlns:a16="http://schemas.microsoft.com/office/drawing/2014/main" val="20000"/>
                    </a:ext>
                  </a:extLst>
                </a:gridCol>
                <a:gridCol w="1270409">
                  <a:extLst>
                    <a:ext uri="{9D8B030D-6E8A-4147-A177-3AD203B41FA5}">
                      <a16:colId xmlns:a16="http://schemas.microsoft.com/office/drawing/2014/main" val="20001"/>
                    </a:ext>
                  </a:extLst>
                </a:gridCol>
                <a:gridCol w="671502">
                  <a:extLst>
                    <a:ext uri="{9D8B030D-6E8A-4147-A177-3AD203B41FA5}">
                      <a16:colId xmlns:a16="http://schemas.microsoft.com/office/drawing/2014/main" val="20002"/>
                    </a:ext>
                  </a:extLst>
                </a:gridCol>
                <a:gridCol w="671502">
                  <a:extLst>
                    <a:ext uri="{9D8B030D-6E8A-4147-A177-3AD203B41FA5}">
                      <a16:colId xmlns:a16="http://schemas.microsoft.com/office/drawing/2014/main" val="20003"/>
                    </a:ext>
                  </a:extLst>
                </a:gridCol>
                <a:gridCol w="3239543">
                  <a:extLst>
                    <a:ext uri="{9D8B030D-6E8A-4147-A177-3AD203B41FA5}">
                      <a16:colId xmlns:a16="http://schemas.microsoft.com/office/drawing/2014/main" val="20004"/>
                    </a:ext>
                  </a:extLst>
                </a:gridCol>
                <a:gridCol w="1343004">
                  <a:extLst>
                    <a:ext uri="{9D8B030D-6E8A-4147-A177-3AD203B41FA5}">
                      <a16:colId xmlns:a16="http://schemas.microsoft.com/office/drawing/2014/main" val="20005"/>
                    </a:ext>
                  </a:extLst>
                </a:gridCol>
              </a:tblGrid>
              <a:tr h="329184">
                <a:tc>
                  <a:txBody>
                    <a:bodyPr/>
                    <a:lstStyle/>
                    <a:p>
                      <a:pPr algn="ctr"/>
                      <a:r>
                        <a:rPr lang="ko-KR" altLang="en-US" sz="900" b="1">
                          <a:solidFill>
                            <a:srgbClr val="FFFFFF"/>
                          </a:solidFill>
                          <a:latin typeface="맑은 고딕"/>
                        </a:rPr>
                        <a:t>수집 항목(필드)</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출처 센서/모듈</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데이터 타입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적용 모드</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처리 방식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대상 Kafka 토픽</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extLst>
                  <a:ext uri="{0D108BD9-81ED-4DB2-BD59-A6C34878D82A}">
                    <a16:rowId xmlns:a16="http://schemas.microsoft.com/office/drawing/2014/main" val="10000"/>
                  </a:ext>
                </a:extLst>
              </a:tr>
              <a:tr h="329184">
                <a:tc>
                  <a:txBody>
                    <a:bodyPr/>
                    <a:lstStyle/>
                    <a:p>
                      <a:pPr algn="ctr"/>
                      <a:r>
                        <a:rPr lang="ko-KR" altLang="en-US" sz="850" b="0">
                          <a:solidFill>
                            <a:srgbClr val="222222"/>
                          </a:solidFill>
                          <a:latin typeface="맑은 고딕"/>
                        </a:rPr>
                        <a:t>voltage_v</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INA226</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FLOAT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1·2·3</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I2C 레지스터 Raw 값 그대로 전송</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battery-raw-metrics</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1"/>
                  </a:ext>
                </a:extLst>
              </a:tr>
              <a:tr h="329184">
                <a:tc>
                  <a:txBody>
                    <a:bodyPr/>
                    <a:lstStyle/>
                    <a:p>
                      <a:pPr algn="ctr"/>
                      <a:r>
                        <a:rPr lang="ko-KR" altLang="en-US" sz="850" b="0">
                          <a:solidFill>
                            <a:srgbClr val="222222"/>
                          </a:solidFill>
                          <a:latin typeface="맑은 고딕"/>
                        </a:rPr>
                        <a:t>current_a</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INA226</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FLOAT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1·2·3</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I2C 레지스터 Raw 값 그대로 전송</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battery-raw-metrics</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2"/>
                  </a:ext>
                </a:extLst>
              </a:tr>
              <a:tr h="329184">
                <a:tc>
                  <a:txBody>
                    <a:bodyPr/>
                    <a:lstStyle/>
                    <a:p>
                      <a:pPr algn="ctr"/>
                      <a:r>
                        <a:rPr lang="ko-KR" altLang="en-US" sz="850" b="0">
                          <a:solidFill>
                            <a:srgbClr val="222222"/>
                          </a:solidFill>
                          <a:latin typeface="맑은 고딕"/>
                        </a:rPr>
                        <a:t>power_w</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INA226(연산)</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FLOAT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1·2·3</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전압×전류 연산값 함께 전송</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battery-raw-metrics</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3"/>
                  </a:ext>
                </a:extLst>
              </a:tr>
              <a:tr h="329184">
                <a:tc>
                  <a:txBody>
                    <a:bodyPr/>
                    <a:lstStyle/>
                    <a:p>
                      <a:pPr algn="ctr"/>
                      <a:r>
                        <a:rPr lang="ko-KR" altLang="en-US" sz="850" b="0">
                          <a:solidFill>
                            <a:srgbClr val="222222"/>
                          </a:solidFill>
                          <a:latin typeface="맑은 고딕"/>
                        </a:rPr>
                        <a:t>soc_pct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BQ27441</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FLOAT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1·2·3</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Fuel Gauge 레지스터 값 읽기</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battery-raw-metrics</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4"/>
                  </a:ext>
                </a:extLst>
              </a:tr>
              <a:tr h="329184">
                <a:tc>
                  <a:txBody>
                    <a:bodyPr/>
                    <a:lstStyle/>
                    <a:p>
                      <a:pPr algn="ctr"/>
                      <a:r>
                        <a:rPr lang="ko-KR" altLang="en-US" sz="850" b="0">
                          <a:solidFill>
                            <a:srgbClr val="222222"/>
                          </a:solidFill>
                          <a:latin typeface="맑은 고딕"/>
                        </a:rPr>
                        <a:t>temp_contact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dirty="0">
                          <a:solidFill>
                            <a:srgbClr val="222222"/>
                          </a:solidFill>
                          <a:latin typeface="맑은 고딕"/>
                        </a:rPr>
                        <a:t>DS18B20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FLOAT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1·2</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1-Wire Raw 값 그대로 전송</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battery-raw-metrics</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5"/>
                  </a:ext>
                </a:extLst>
              </a:tr>
              <a:tr h="329184">
                <a:tc>
                  <a:txBody>
                    <a:bodyPr/>
                    <a:lstStyle/>
                    <a:p>
                      <a:pPr algn="ctr"/>
                      <a:r>
                        <a:rPr lang="ko-KR" altLang="en-US" sz="850" b="0">
                          <a:solidFill>
                            <a:srgbClr val="222222"/>
                          </a:solidFill>
                          <a:latin typeface="맑은 고딕"/>
                        </a:rPr>
                        <a:t>temp_ir_surface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dirty="0">
                          <a:solidFill>
                            <a:srgbClr val="222222"/>
                          </a:solidFill>
                          <a:latin typeface="맑은 고딕"/>
                        </a:rPr>
                        <a:t>MLX90614</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FLOAT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1·2·3</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I2C Raw 전송→AI서버 칼만필터 적용</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battery-raw-metrics</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6"/>
                  </a:ext>
                </a:extLst>
              </a:tr>
              <a:tr h="329184">
                <a:tc>
                  <a:txBody>
                    <a:bodyPr/>
                    <a:lstStyle/>
                    <a:p>
                      <a:pPr algn="ctr"/>
                      <a:r>
                        <a:rPr lang="ko-KR" altLang="en-US" sz="850" b="0">
                          <a:solidFill>
                            <a:srgbClr val="222222"/>
                          </a:solidFill>
                          <a:latin typeface="맑은 고딕"/>
                        </a:rPr>
                        <a:t>temp_ambient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dirty="0">
                          <a:solidFill>
                            <a:srgbClr val="222222"/>
                          </a:solidFill>
                          <a:latin typeface="맑은 고딕"/>
                        </a:rPr>
                        <a:t>MLX90614(</a:t>
                      </a:r>
                      <a:r>
                        <a:rPr lang="ko-KR" altLang="en-US" sz="850" b="0" dirty="0" err="1">
                          <a:solidFill>
                            <a:srgbClr val="222222"/>
                          </a:solidFill>
                          <a:latin typeface="맑은 고딕"/>
                        </a:rPr>
                        <a:t>Ta</a:t>
                      </a:r>
                      <a:r>
                        <a:rPr lang="ko-KR" altLang="en-US" sz="850" b="0" dirty="0">
                          <a:solidFill>
                            <a:srgbClr val="222222"/>
                          </a:solidFill>
                          <a:latin typeface="맑은 고딕"/>
                        </a:rPr>
                        <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FLOAT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3</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IR 센서 주변온도 채널 값 사용</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battery-raw-metrics</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7"/>
                  </a:ext>
                </a:extLst>
              </a:tr>
              <a:tr h="329184">
                <a:tc>
                  <a:txBody>
                    <a:bodyPr/>
                    <a:lstStyle/>
                    <a:p>
                      <a:pPr algn="ctr"/>
                      <a:r>
                        <a:rPr lang="ko-KR" altLang="en-US" sz="850" b="0">
                          <a:solidFill>
                            <a:srgbClr val="222222"/>
                          </a:solidFill>
                          <a:latin typeface="맑은 고딕"/>
                        </a:rPr>
                        <a:t>gas_raw</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가스센서(MQ-2)</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INT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1·2·3</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ADS1115 16비트 ADC 변환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battery-raw-metrics</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8"/>
                  </a:ext>
                </a:extLst>
              </a:tr>
              <a:tr h="329184">
                <a:tc>
                  <a:txBody>
                    <a:bodyPr/>
                    <a:lstStyle/>
                    <a:p>
                      <a:pPr algn="ctr"/>
                      <a:r>
                        <a:rPr lang="ko-KR" altLang="en-US" sz="850" b="0">
                          <a:solidFill>
                            <a:srgbClr val="222222"/>
                          </a:solidFill>
                          <a:latin typeface="맑은 고딕"/>
                        </a:rPr>
                        <a:t>pressure_raw</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압력센서(FSR-402)</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INT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1·2</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ADS1115 16비트 ADC 변환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battery-raw-metrics</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9"/>
                  </a:ext>
                </a:extLst>
              </a:tr>
              <a:tr h="329184">
                <a:tc>
                  <a:txBody>
                    <a:bodyPr/>
                    <a:lstStyle/>
                    <a:p>
                      <a:pPr algn="ctr"/>
                      <a:r>
                        <a:rPr lang="ko-KR" altLang="en-US" sz="850" b="0">
                          <a:solidFill>
                            <a:srgbClr val="222222"/>
                          </a:solidFill>
                          <a:latin typeface="맑은 고딕"/>
                        </a:rPr>
                        <a:t>acoustic_raw</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음향센서</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INT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1·2</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ADS1115 아날로그/GPIO 신호 수집</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battery-raw-metrics</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10"/>
                  </a:ext>
                </a:extLst>
              </a:tr>
              <a:tr h="329184">
                <a:tc>
                  <a:txBody>
                    <a:bodyPr/>
                    <a:lstStyle/>
                    <a:p>
                      <a:pPr algn="ctr"/>
                      <a:r>
                        <a:rPr lang="ko-KR" altLang="en-US" sz="850" b="0">
                          <a:solidFill>
                            <a:srgbClr val="222222"/>
                          </a:solidFill>
                          <a:latin typeface="맑은 고딕"/>
                        </a:rPr>
                        <a:t>anomaly_score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AI서버(LSTM-AE)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FLOAT(0~1)</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1·2·3</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30-step 윈도우 특징 추출→재구성 오차 산출</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battery-anomaly-alerts</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11"/>
                  </a:ext>
                </a:extLst>
              </a:tr>
              <a:tr h="329184">
                <a:tc>
                  <a:txBody>
                    <a:bodyPr/>
                    <a:lstStyle/>
                    <a:p>
                      <a:pPr algn="ctr"/>
                      <a:r>
                        <a:rPr lang="ko-KR" altLang="en-US" sz="850" b="0">
                          <a:solidFill>
                            <a:srgbClr val="222222"/>
                          </a:solidFill>
                          <a:latin typeface="맑은 고딕"/>
                        </a:rPr>
                        <a:t>status_grade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AI 서버</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1·2·3</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이상점수 구간 매핑(정상/주의/경고/위험)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dirty="0" err="1">
                          <a:solidFill>
                            <a:srgbClr val="222222"/>
                          </a:solidFill>
                          <a:latin typeface="맑은 고딕"/>
                        </a:rPr>
                        <a:t>battery-anomaly-alerts</a:t>
                      </a:r>
                      <a:endParaRPr lang="ko-KR" altLang="en-US" sz="850" b="0" dirty="0">
                        <a:solidFill>
                          <a:srgbClr val="222222"/>
                        </a:solidFill>
                        <a:latin typeface="맑은 고딕"/>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01684944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직사각형 16"/>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직선 연결선 17"/>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 name="직선 연결선 22"/>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4"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None/>
            </a:pPr>
            <a:r>
              <a:rPr lang="en-US" altLang="ko-KR" sz="1700" b="1" dirty="0">
                <a:solidFill>
                  <a:schemeClr val="bg1"/>
                </a:solidFill>
                <a:latin typeface="+mn-ea"/>
                <a:cs typeface="+mj-cs"/>
              </a:rPr>
              <a:t>| </a:t>
            </a:r>
            <a:r>
              <a:rPr lang="ko-KR" altLang="en-US" sz="1700" b="1" dirty="0">
                <a:solidFill>
                  <a:schemeClr val="bg1"/>
                </a:solidFill>
                <a:latin typeface="+mn-ea"/>
                <a:cs typeface="+mj-cs"/>
              </a:rPr>
              <a:t>실제 구현 검증 결과</a:t>
            </a:r>
          </a:p>
        </p:txBody>
      </p:sp>
      <p:pic>
        <p:nvPicPr>
          <p:cNvPr id="29"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0" name="막힌 원호 29"/>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2" name="그림 1">
            <a:extLst>
              <a:ext uri="{FF2B5EF4-FFF2-40B4-BE49-F238E27FC236}">
                <a16:creationId xmlns:a16="http://schemas.microsoft.com/office/drawing/2014/main" id="{AE311E42-8094-1ED2-BF9F-D52B09934D67}"/>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501" name="TB501"/>
          <p:cNvSpPr txBox="1"/>
          <p:nvPr/>
        </p:nvSpPr>
        <p:spPr>
          <a:xfrm>
            <a:off x="402336" y="1463040"/>
            <a:ext cx="8229600" cy="292608"/>
          </a:xfrm>
          <a:prstGeom prst="rect">
            <a:avLst/>
          </a:prstGeom>
          <a:noFill/>
          <a:ln>
            <a:noFill/>
          </a:ln>
        </p:spPr>
        <p:txBody>
          <a:bodyPr wrap="square" lIns="0" tIns="0" rIns="0" bIns="0" anchor="ctr">
            <a:noAutofit/>
          </a:bodyPr>
          <a:lstStyle/>
          <a:p>
            <a:pPr algn="l"/>
            <a:r>
              <a:rPr lang="ko-KR" altLang="en-US" sz="1300" dirty="0">
                <a:solidFill>
                  <a:srgbClr val="2563EB"/>
                </a:solidFill>
                <a:latin typeface="맑은 고딕"/>
                <a:ea typeface="맑은 고딕"/>
              </a:rPr>
              <a:t>▍ </a:t>
            </a:r>
            <a:r>
              <a:rPr lang="ko-KR" altLang="en-US" sz="1300" b="1" dirty="0">
                <a:solidFill>
                  <a:srgbClr val="2A2A2A"/>
                </a:solidFill>
                <a:latin typeface="맑은 고딕"/>
                <a:ea typeface="맑은 고딕"/>
              </a:rPr>
              <a:t>① 실제 회로 (Real Model) 배선 개요</a:t>
            </a:r>
          </a:p>
        </p:txBody>
      </p:sp>
      <p:pic>
        <p:nvPicPr>
          <p:cNvPr id="502" name="Circuit502"/>
          <p:cNvPicPr>
            <a:picLocks noChangeAspect="1"/>
          </p:cNvPicPr>
          <p:nvPr/>
        </p:nvPicPr>
        <p:blipFill>
          <a:blip r:embed="rId4"/>
          <a:stretch>
            <a:fillRect/>
          </a:stretch>
        </p:blipFill>
        <p:spPr>
          <a:xfrm>
            <a:off x="1753650" y="1828800"/>
            <a:ext cx="5636700" cy="3977640"/>
          </a:xfrm>
          <a:prstGeom prst="rect">
            <a:avLst/>
          </a:prstGeom>
        </p:spPr>
      </p:pic>
      <p:sp>
        <p:nvSpPr>
          <p:cNvPr id="503" name="TB503"/>
          <p:cNvSpPr txBox="1"/>
          <p:nvPr/>
        </p:nvSpPr>
        <p:spPr>
          <a:xfrm>
            <a:off x="402336" y="5897880"/>
            <a:ext cx="8339328" cy="457200"/>
          </a:xfrm>
          <a:prstGeom prst="rect">
            <a:avLst/>
          </a:prstGeom>
          <a:noFill/>
          <a:ln>
            <a:noFill/>
          </a:ln>
        </p:spPr>
        <p:txBody>
          <a:bodyPr wrap="square" lIns="0" tIns="0" rIns="0" bIns="0" anchor="t">
            <a:noAutofit/>
          </a:bodyPr>
          <a:lstStyle/>
          <a:p>
            <a:pPr algn="ctr"/>
            <a:r>
              <a:rPr lang="ko-KR" altLang="en-US" sz="1000" b="1" dirty="0">
                <a:solidFill>
                  <a:srgbClr val="2E4585"/>
                </a:solidFill>
                <a:latin typeface="맑은 고딕"/>
                <a:ea typeface="맑은 고딕"/>
              </a:rPr>
              <a:t>단일 Raspberry Pi 5 통합 — I2C·1-Wire 센서 4종 + ADS1115 아날로그 3채널 + 모드별 릴레이 측정부</a:t>
            </a:r>
          </a:p>
        </p:txBody>
      </p:sp>
    </p:spTree>
    <p:extLst>
      <p:ext uri="{BB962C8B-B14F-4D97-AF65-F5344CB8AC3E}">
        <p14:creationId xmlns:p14="http://schemas.microsoft.com/office/powerpoint/2010/main" val="403472057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직사각형 16"/>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직선 연결선 17"/>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 name="직선 연결선 22"/>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4"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None/>
            </a:pPr>
            <a:r>
              <a:rPr lang="en-US" altLang="ko-KR" sz="1700" b="1" dirty="0">
                <a:solidFill>
                  <a:schemeClr val="bg1"/>
                </a:solidFill>
                <a:latin typeface="+mn-ea"/>
                <a:cs typeface="+mj-cs"/>
              </a:rPr>
              <a:t>| </a:t>
            </a:r>
            <a:r>
              <a:rPr lang="ko-KR" altLang="en-US" sz="1700" b="1" dirty="0">
                <a:solidFill>
                  <a:schemeClr val="bg1"/>
                </a:solidFill>
                <a:latin typeface="+mn-ea"/>
                <a:cs typeface="+mj-cs"/>
              </a:rPr>
              <a:t>실제 구현 검증 결과</a:t>
            </a:r>
          </a:p>
        </p:txBody>
      </p:sp>
      <p:pic>
        <p:nvPicPr>
          <p:cNvPr id="29"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0" name="막힌 원호 29"/>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2" name="그림 1">
            <a:extLst>
              <a:ext uri="{FF2B5EF4-FFF2-40B4-BE49-F238E27FC236}">
                <a16:creationId xmlns:a16="http://schemas.microsoft.com/office/drawing/2014/main" id="{AE311E42-8094-1ED2-BF9F-D52B09934D67}"/>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501" name="TB501"/>
          <p:cNvSpPr txBox="1"/>
          <p:nvPr/>
        </p:nvSpPr>
        <p:spPr>
          <a:xfrm>
            <a:off x="402336" y="1463040"/>
            <a:ext cx="8229600" cy="292608"/>
          </a:xfrm>
          <a:prstGeom prst="rect">
            <a:avLst/>
          </a:prstGeom>
          <a:noFill/>
          <a:ln>
            <a:noFill/>
          </a:ln>
        </p:spPr>
        <p:txBody>
          <a:bodyPr wrap="square" lIns="0" tIns="0" rIns="0" bIns="0" anchor="ctr">
            <a:noAutofit/>
          </a:bodyPr>
          <a:lstStyle/>
          <a:p>
            <a:pPr algn="l"/>
            <a:r>
              <a:rPr lang="ko-KR" altLang="en-US" sz="1300" dirty="0">
                <a:solidFill>
                  <a:srgbClr val="2563EB"/>
                </a:solidFill>
                <a:latin typeface="맑은 고딕"/>
                <a:ea typeface="맑은 고딕"/>
              </a:rPr>
              <a:t>▍ </a:t>
            </a:r>
            <a:r>
              <a:rPr lang="ko-KR" altLang="en-US" sz="1300" b="1" dirty="0">
                <a:solidFill>
                  <a:srgbClr val="2A2A2A"/>
                </a:solidFill>
                <a:latin typeface="맑은 고딕"/>
                <a:ea typeface="맑은 고딕"/>
              </a:rPr>
              <a:t>② Raspberry Pi 5 핀 배정 · I2C 주소 맵</a:t>
            </a:r>
          </a:p>
        </p:txBody>
      </p:sp>
      <p:sp>
        <p:nvSpPr>
          <p:cNvPr id="502" name="TB502"/>
          <p:cNvSpPr txBox="1"/>
          <p:nvPr/>
        </p:nvSpPr>
        <p:spPr>
          <a:xfrm>
            <a:off x="402336" y="1847088"/>
            <a:ext cx="8339328" cy="237744"/>
          </a:xfrm>
          <a:prstGeom prst="rect">
            <a:avLst/>
          </a:prstGeom>
          <a:noFill/>
          <a:ln>
            <a:noFill/>
          </a:ln>
        </p:spPr>
        <p:txBody>
          <a:bodyPr wrap="square" lIns="0" tIns="0" rIns="0" bIns="0" anchor="b">
            <a:noAutofit/>
          </a:bodyPr>
          <a:lstStyle/>
          <a:p>
            <a:pPr algn="l"/>
            <a:r>
              <a:rPr lang="ko-KR" altLang="en-US" sz="1150" b="1" dirty="0">
                <a:solidFill>
                  <a:srgbClr val="3B5AA8"/>
                </a:solidFill>
                <a:latin typeface="맑은 고딕"/>
                <a:ea typeface="맑은 고딕"/>
              </a:rPr>
              <a:t>핀 배정 (BCM)</a:t>
            </a:r>
          </a:p>
        </p:txBody>
      </p:sp>
      <p:graphicFrame>
        <p:nvGraphicFramePr>
          <p:cNvPr id="503" name="Tbl503"/>
          <p:cNvGraphicFramePr>
            <a:graphicFrameLocks noGrp="1"/>
          </p:cNvGraphicFramePr>
          <p:nvPr/>
        </p:nvGraphicFramePr>
        <p:xfrm>
          <a:off x="402336" y="2121408"/>
          <a:ext cx="8339328" cy="2016252"/>
        </p:xfrm>
        <a:graphic>
          <a:graphicData uri="http://schemas.openxmlformats.org/drawingml/2006/table">
            <a:tbl>
              <a:tblPr firstRow="1"/>
              <a:tblGrid>
                <a:gridCol w="11887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5687568">
                  <a:extLst>
                    <a:ext uri="{9D8B030D-6E8A-4147-A177-3AD203B41FA5}">
                      <a16:colId xmlns:a16="http://schemas.microsoft.com/office/drawing/2014/main" val="20002"/>
                    </a:ext>
                  </a:extLst>
                </a:gridCol>
              </a:tblGrid>
              <a:tr h="224028">
                <a:tc>
                  <a:txBody>
                    <a:bodyPr/>
                    <a:lstStyle/>
                    <a:p>
                      <a:pPr algn="ctr"/>
                      <a:r>
                        <a:rPr lang="ko-KR" altLang="en-US" sz="900" b="1">
                          <a:solidFill>
                            <a:srgbClr val="FFFFFF"/>
                          </a:solidFill>
                          <a:latin typeface="맑은 고딕"/>
                        </a:rPr>
                        <a:t>핀(BCM)</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신호</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연결 대상</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extLst>
                  <a:ext uri="{0D108BD9-81ED-4DB2-BD59-A6C34878D82A}">
                    <a16:rowId xmlns:a16="http://schemas.microsoft.com/office/drawing/2014/main" val="10000"/>
                  </a:ext>
                </a:extLst>
              </a:tr>
              <a:tr h="224028">
                <a:tc>
                  <a:txBody>
                    <a:bodyPr/>
                    <a:lstStyle/>
                    <a:p>
                      <a:pPr algn="ctr"/>
                      <a:r>
                        <a:rPr lang="ko-KR" altLang="en-US" sz="850" b="0">
                          <a:solidFill>
                            <a:srgbClr val="222222"/>
                          </a:solidFill>
                          <a:latin typeface="맑은 고딕"/>
                        </a:rPr>
                        <a:t>핀1 3V3</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센서 전원</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전 센서 공통 3.3V (I2C 4종·FSR·음향·풀업)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1"/>
                  </a:ext>
                </a:extLst>
              </a:tr>
              <a:tr h="224028">
                <a:tc>
                  <a:txBody>
                    <a:bodyPr/>
                    <a:lstStyle/>
                    <a:p>
                      <a:pPr algn="ctr"/>
                      <a:r>
                        <a:rPr lang="ko-KR" altLang="en-US" sz="850" b="0">
                          <a:solidFill>
                            <a:srgbClr val="222222"/>
                          </a:solidFill>
                          <a:latin typeface="맑은 고딕"/>
                        </a:rPr>
                        <a:t>핀2·4 5V</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전원</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TP4056 충전 · 릴레이 코일 · MQ-2 히터</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2"/>
                  </a:ext>
                </a:extLst>
              </a:tr>
              <a:tr h="224028">
                <a:tc>
                  <a:txBody>
                    <a:bodyPr/>
                    <a:lstStyle/>
                    <a:p>
                      <a:pPr algn="ctr"/>
                      <a:r>
                        <a:rPr lang="ko-KR" altLang="en-US" sz="850" b="0">
                          <a:solidFill>
                            <a:srgbClr val="222222"/>
                          </a:solidFill>
                          <a:latin typeface="맑은 고딕"/>
                        </a:rPr>
                        <a:t>핀3 GPIO2/SDA</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I2C 데이터</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INA226·BQ27441·MLX90614·ADS1115 공유</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3"/>
                  </a:ext>
                </a:extLst>
              </a:tr>
              <a:tr h="224028">
                <a:tc>
                  <a:txBody>
                    <a:bodyPr/>
                    <a:lstStyle/>
                    <a:p>
                      <a:pPr algn="ctr"/>
                      <a:r>
                        <a:rPr lang="ko-KR" altLang="en-US" sz="850" b="0">
                          <a:solidFill>
                            <a:srgbClr val="222222"/>
                          </a:solidFill>
                          <a:latin typeface="맑은 고딕"/>
                        </a:rPr>
                        <a:t>핀5 GPIO3/SCL</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I2C 클럭</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동일 버스 (0x40·0x55·0x5A·0x48 충돌 없음)</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4"/>
                  </a:ext>
                </a:extLst>
              </a:tr>
              <a:tr h="224028">
                <a:tc>
                  <a:txBody>
                    <a:bodyPr/>
                    <a:lstStyle/>
                    <a:p>
                      <a:pPr algn="ctr"/>
                      <a:r>
                        <a:rPr lang="ko-KR" altLang="en-US" sz="850" b="0">
                          <a:solidFill>
                            <a:srgbClr val="222222"/>
                          </a:solidFill>
                          <a:latin typeface="맑은 고딕"/>
                        </a:rPr>
                        <a:t>핀7 GPIO4</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릴레이 IN1→CH1</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모드1 내장배터리 소스 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5"/>
                  </a:ext>
                </a:extLst>
              </a:tr>
              <a:tr h="224028">
                <a:tc>
                  <a:txBody>
                    <a:bodyPr/>
                    <a:lstStyle/>
                    <a:p>
                      <a:pPr algn="ctr"/>
                      <a:r>
                        <a:rPr lang="ko-KR" altLang="en-US" sz="850" b="0">
                          <a:solidFill>
                            <a:srgbClr val="222222"/>
                          </a:solidFill>
                          <a:latin typeface="맑은 고딕"/>
                        </a:rPr>
                        <a:t>핀29 GPIO5</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릴레이 IN2→CH2</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모드2 외부 셀 소스 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6"/>
                  </a:ext>
                </a:extLst>
              </a:tr>
              <a:tr h="224028">
                <a:tc>
                  <a:txBody>
                    <a:bodyPr/>
                    <a:lstStyle/>
                    <a:p>
                      <a:pPr algn="ctr"/>
                      <a:r>
                        <a:rPr lang="ko-KR" altLang="en-US" sz="850" b="0">
                          <a:solidFill>
                            <a:srgbClr val="222222"/>
                          </a:solidFill>
                          <a:latin typeface="맑은 고딕"/>
                        </a:rPr>
                        <a:t>핀31 GPIO6</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릴레이 IN3→CH3</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모드3 보조배터리(PD트리거) 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7"/>
                  </a:ext>
                </a:extLst>
              </a:tr>
              <a:tr h="224028">
                <a:tc>
                  <a:txBody>
                    <a:bodyPr/>
                    <a:lstStyle/>
                    <a:p>
                      <a:pPr algn="ctr"/>
                      <a:r>
                        <a:rPr lang="ko-KR" altLang="en-US" sz="850" b="0">
                          <a:solidFill>
                            <a:srgbClr val="222222"/>
                          </a:solidFill>
                          <a:latin typeface="맑은 고딕"/>
                        </a:rPr>
                        <a:t>핀24 GPIO8</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1-Wire DQ</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DS18B20 접촉 온도 (4.7k 풀업→3V3)</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8"/>
                  </a:ext>
                </a:extLst>
              </a:tr>
            </a:tbl>
          </a:graphicData>
        </a:graphic>
      </p:graphicFrame>
      <p:sp>
        <p:nvSpPr>
          <p:cNvPr id="504" name="TB504"/>
          <p:cNvSpPr txBox="1"/>
          <p:nvPr/>
        </p:nvSpPr>
        <p:spPr>
          <a:xfrm>
            <a:off x="402336" y="4338828"/>
            <a:ext cx="8339328" cy="237744"/>
          </a:xfrm>
          <a:prstGeom prst="rect">
            <a:avLst/>
          </a:prstGeom>
          <a:noFill/>
          <a:ln>
            <a:noFill/>
          </a:ln>
        </p:spPr>
        <p:txBody>
          <a:bodyPr wrap="square" lIns="0" tIns="0" rIns="0" bIns="0" anchor="b">
            <a:noAutofit/>
          </a:bodyPr>
          <a:lstStyle/>
          <a:p>
            <a:pPr algn="l"/>
            <a:r>
              <a:rPr lang="ko-KR" altLang="en-US" sz="1150" b="1" dirty="0">
                <a:solidFill>
                  <a:srgbClr val="3B5AA8"/>
                </a:solidFill>
                <a:latin typeface="맑은 고딕"/>
                <a:ea typeface="맑은 고딕"/>
              </a:rPr>
              <a:t>I2C 디바이스 주소 &amp; ADS1115 아날로그 채널</a:t>
            </a:r>
          </a:p>
        </p:txBody>
      </p:sp>
      <p:graphicFrame>
        <p:nvGraphicFramePr>
          <p:cNvPr id="505" name="Tbl505"/>
          <p:cNvGraphicFramePr>
            <a:graphicFrameLocks noGrp="1"/>
          </p:cNvGraphicFramePr>
          <p:nvPr/>
        </p:nvGraphicFramePr>
        <p:xfrm>
          <a:off x="402336" y="4613148"/>
          <a:ext cx="8339328" cy="1120140"/>
        </p:xfrm>
        <a:graphic>
          <a:graphicData uri="http://schemas.openxmlformats.org/drawingml/2006/table">
            <a:tbl>
              <a:tblPr firstRow="1"/>
              <a:tblGrid>
                <a:gridCol w="14630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3401568">
                  <a:extLst>
                    <a:ext uri="{9D8B030D-6E8A-4147-A177-3AD203B41FA5}">
                      <a16:colId xmlns:a16="http://schemas.microsoft.com/office/drawing/2014/main" val="20003"/>
                    </a:ext>
                  </a:extLst>
                </a:gridCol>
              </a:tblGrid>
              <a:tr h="224028">
                <a:tc>
                  <a:txBody>
                    <a:bodyPr/>
                    <a:lstStyle/>
                    <a:p>
                      <a:pPr algn="ctr"/>
                      <a:r>
                        <a:rPr lang="ko-KR" altLang="en-US" sz="900" b="1">
                          <a:solidFill>
                            <a:srgbClr val="FFFFFF"/>
                          </a:solidFill>
                          <a:latin typeface="맑은 고딕"/>
                        </a:rPr>
                        <a:t>디바이스</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I2C 주소</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측정 항목</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ADS1115 채널</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extLst>
                  <a:ext uri="{0D108BD9-81ED-4DB2-BD59-A6C34878D82A}">
                    <a16:rowId xmlns:a16="http://schemas.microsoft.com/office/drawing/2014/main" val="10000"/>
                  </a:ext>
                </a:extLst>
              </a:tr>
              <a:tr h="224028">
                <a:tc>
                  <a:txBody>
                    <a:bodyPr/>
                    <a:lstStyle/>
                    <a:p>
                      <a:pPr algn="ctr"/>
                      <a:r>
                        <a:rPr lang="ko-KR" altLang="en-US" sz="850" b="0">
                          <a:solidFill>
                            <a:srgbClr val="222222"/>
                          </a:solidFill>
                          <a:latin typeface="맑은 고딕"/>
                        </a:rPr>
                        <a:t>INA226</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0x40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전압·전류·전력</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1"/>
                  </a:ext>
                </a:extLst>
              </a:tr>
              <a:tr h="224028">
                <a:tc>
                  <a:txBody>
                    <a:bodyPr/>
                    <a:lstStyle/>
                    <a:p>
                      <a:pPr algn="ctr"/>
                      <a:r>
                        <a:rPr lang="ko-KR" altLang="en-US" sz="850" b="0">
                          <a:solidFill>
                            <a:srgbClr val="222222"/>
                          </a:solidFill>
                          <a:latin typeface="맑은 고딕"/>
                        </a:rPr>
                        <a:t>BQ27441</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0x55</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연료게이지 SOC</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2"/>
                  </a:ext>
                </a:extLst>
              </a:tr>
              <a:tr h="224028">
                <a:tc>
                  <a:txBody>
                    <a:bodyPr/>
                    <a:lstStyle/>
                    <a:p>
                      <a:pPr algn="ctr"/>
                      <a:r>
                        <a:rPr lang="ko-KR" altLang="en-US" sz="850" b="0">
                          <a:solidFill>
                            <a:srgbClr val="222222"/>
                          </a:solidFill>
                          <a:latin typeface="맑은 고딕"/>
                        </a:rPr>
                        <a:t>MLX90614</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0x5A</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IR표면·주변온도</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3"/>
                  </a:ext>
                </a:extLst>
              </a:tr>
              <a:tr h="224028">
                <a:tc>
                  <a:txBody>
                    <a:bodyPr/>
                    <a:lstStyle/>
                    <a:p>
                      <a:pPr algn="ctr"/>
                      <a:r>
                        <a:rPr lang="ko-KR" altLang="en-US" sz="850" b="0">
                          <a:solidFill>
                            <a:srgbClr val="222222"/>
                          </a:solidFill>
                          <a:latin typeface="맑은 고딕"/>
                        </a:rPr>
                        <a:t>ADS1115</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0x48(GND)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16bit ADC</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l"/>
                      <a:r>
                        <a:rPr lang="ko-KR" altLang="en-US" sz="850" b="0">
                          <a:solidFill>
                            <a:srgbClr val="222222"/>
                          </a:solidFill>
                          <a:latin typeface="맑은 고딕"/>
                        </a:rPr>
                        <a:t>A0가스·A1압력·A2음향·A3예비</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4"/>
                  </a:ext>
                </a:extLst>
              </a:tr>
            </a:tbl>
          </a:graphicData>
        </a:graphic>
      </p:graphicFrame>
      <p:sp>
        <p:nvSpPr>
          <p:cNvPr id="506" name="TB506"/>
          <p:cNvSpPr txBox="1"/>
          <p:nvPr/>
        </p:nvSpPr>
        <p:spPr>
          <a:xfrm>
            <a:off x="402336" y="5824728"/>
            <a:ext cx="8339328" cy="365760"/>
          </a:xfrm>
          <a:prstGeom prst="rect">
            <a:avLst/>
          </a:prstGeom>
          <a:noFill/>
          <a:ln>
            <a:noFill/>
          </a:ln>
        </p:spPr>
        <p:txBody>
          <a:bodyPr wrap="square" lIns="0" tIns="0" rIns="0" bIns="0" anchor="t">
            <a:noAutofit/>
          </a:bodyPr>
          <a:lstStyle/>
          <a:p>
            <a:pPr algn="l"/>
            <a:r>
              <a:rPr lang="ko-KR" altLang="en-US" sz="900" dirty="0">
                <a:latin typeface="맑은 고딕"/>
                <a:ea typeface="맑은 고딕"/>
              </a:rPr>
              <a:t>※ 측정 모드 ↔ 센서 적용 — 모드1(내장)·모드2(외부셀): 온도·가스·압력·음향 전부 사용 / 모드3(보조배터리): 온도(IR+주변)·가스만 사용</a:t>
            </a:r>
          </a:p>
        </p:txBody>
      </p:sp>
    </p:spTree>
    <p:extLst>
      <p:ext uri="{BB962C8B-B14F-4D97-AF65-F5344CB8AC3E}">
        <p14:creationId xmlns:p14="http://schemas.microsoft.com/office/powerpoint/2010/main" val="12563290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직사각형 16"/>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직선 연결선 17"/>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 name="직선 연결선 22"/>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4"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None/>
            </a:pPr>
            <a:r>
              <a:rPr lang="en-US" altLang="ko-KR" sz="1700" b="1" dirty="0">
                <a:solidFill>
                  <a:schemeClr val="bg1"/>
                </a:solidFill>
                <a:latin typeface="+mn-ea"/>
                <a:cs typeface="+mj-cs"/>
              </a:rPr>
              <a:t>| </a:t>
            </a:r>
            <a:r>
              <a:rPr lang="ko-KR" altLang="en-US" sz="1700" b="1" dirty="0">
                <a:solidFill>
                  <a:schemeClr val="bg1"/>
                </a:solidFill>
                <a:latin typeface="+mn-ea"/>
                <a:cs typeface="+mj-cs"/>
              </a:rPr>
              <a:t>실제 구현 검증 결과</a:t>
            </a:r>
          </a:p>
        </p:txBody>
      </p:sp>
      <p:pic>
        <p:nvPicPr>
          <p:cNvPr id="29"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0" name="막힌 원호 29"/>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2" name="그림 1">
            <a:extLst>
              <a:ext uri="{FF2B5EF4-FFF2-40B4-BE49-F238E27FC236}">
                <a16:creationId xmlns:a16="http://schemas.microsoft.com/office/drawing/2014/main" id="{AE311E42-8094-1ED2-BF9F-D52B09934D67}"/>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501" name="TB501"/>
          <p:cNvSpPr txBox="1"/>
          <p:nvPr/>
        </p:nvSpPr>
        <p:spPr>
          <a:xfrm>
            <a:off x="402336" y="1463040"/>
            <a:ext cx="8229600" cy="292608"/>
          </a:xfrm>
          <a:prstGeom prst="rect">
            <a:avLst/>
          </a:prstGeom>
          <a:noFill/>
          <a:ln>
            <a:noFill/>
          </a:ln>
        </p:spPr>
        <p:txBody>
          <a:bodyPr wrap="square" lIns="0" tIns="0" rIns="0" bIns="0" anchor="ctr">
            <a:noAutofit/>
          </a:bodyPr>
          <a:lstStyle/>
          <a:p>
            <a:r>
              <a:rPr lang="ko-KR" altLang="en-US" sz="1300" dirty="0">
                <a:solidFill>
                  <a:srgbClr val="2563EB"/>
                </a:solidFill>
                <a:latin typeface="맑은 고딕"/>
                <a:ea typeface="맑은 고딕"/>
              </a:rPr>
              <a:t>▍ </a:t>
            </a:r>
            <a:r>
              <a:rPr lang="ko-KR" altLang="en-US" sz="1300" b="1" dirty="0">
                <a:solidFill>
                  <a:srgbClr val="2A2A2A"/>
                </a:solidFill>
                <a:ea typeface="맑은 고딕"/>
              </a:rPr>
              <a:t>③</a:t>
            </a:r>
            <a:r>
              <a:rPr lang="ko-KR" altLang="en-US" sz="1300" b="1" dirty="0">
                <a:solidFill>
                  <a:srgbClr val="2A2A2A"/>
                </a:solidFill>
                <a:latin typeface="맑은 고딕"/>
                <a:ea typeface="맑은 고딕"/>
              </a:rPr>
              <a:t> 실제 센서 매핑 검증</a:t>
            </a:r>
          </a:p>
        </p:txBody>
      </p:sp>
      <p:sp>
        <p:nvSpPr>
          <p:cNvPr id="502" name="TB502"/>
          <p:cNvSpPr txBox="1"/>
          <p:nvPr/>
        </p:nvSpPr>
        <p:spPr>
          <a:xfrm>
            <a:off x="402336" y="1847088"/>
            <a:ext cx="8339328" cy="237744"/>
          </a:xfrm>
          <a:prstGeom prst="rect">
            <a:avLst/>
          </a:prstGeom>
          <a:noFill/>
          <a:ln>
            <a:noFill/>
          </a:ln>
        </p:spPr>
        <p:txBody>
          <a:bodyPr wrap="square" lIns="0" tIns="0" rIns="0" bIns="0" anchor="b">
            <a:noAutofit/>
          </a:bodyPr>
          <a:lstStyle/>
          <a:p>
            <a:pPr algn="l"/>
            <a:r>
              <a:rPr lang="ko-KR" altLang="en-US" sz="1300" b="1" dirty="0">
                <a:solidFill>
                  <a:srgbClr val="3B5AA8"/>
                </a:solidFill>
                <a:latin typeface="맑은 고딕"/>
                <a:ea typeface="맑은 고딕"/>
              </a:rPr>
              <a:t>실측 회로 배선 기준 매핑 (7종)</a:t>
            </a:r>
          </a:p>
        </p:txBody>
      </p:sp>
      <p:graphicFrame>
        <p:nvGraphicFramePr>
          <p:cNvPr id="503" name="Tbl503"/>
          <p:cNvGraphicFramePr>
            <a:graphicFrameLocks noGrp="1"/>
          </p:cNvGraphicFramePr>
          <p:nvPr/>
        </p:nvGraphicFramePr>
        <p:xfrm>
          <a:off x="402336" y="2121408"/>
          <a:ext cx="8339328" cy="2487168"/>
        </p:xfrm>
        <a:graphic>
          <a:graphicData uri="http://schemas.openxmlformats.org/drawingml/2006/table">
            <a:tbl>
              <a:tblPr firstRow="1"/>
              <a:tblGrid>
                <a:gridCol w="1356724">
                  <a:extLst>
                    <a:ext uri="{9D8B030D-6E8A-4147-A177-3AD203B41FA5}">
                      <a16:colId xmlns:a16="http://schemas.microsoft.com/office/drawing/2014/main" val="20000"/>
                    </a:ext>
                  </a:extLst>
                </a:gridCol>
                <a:gridCol w="2351654">
                  <a:extLst>
                    <a:ext uri="{9D8B030D-6E8A-4147-A177-3AD203B41FA5}">
                      <a16:colId xmlns:a16="http://schemas.microsoft.com/office/drawing/2014/main" val="20001"/>
                    </a:ext>
                  </a:extLst>
                </a:gridCol>
                <a:gridCol w="2080310">
                  <a:extLst>
                    <a:ext uri="{9D8B030D-6E8A-4147-A177-3AD203B41FA5}">
                      <a16:colId xmlns:a16="http://schemas.microsoft.com/office/drawing/2014/main" val="20002"/>
                    </a:ext>
                  </a:extLst>
                </a:gridCol>
                <a:gridCol w="814034">
                  <a:extLst>
                    <a:ext uri="{9D8B030D-6E8A-4147-A177-3AD203B41FA5}">
                      <a16:colId xmlns:a16="http://schemas.microsoft.com/office/drawing/2014/main" val="20003"/>
                    </a:ext>
                  </a:extLst>
                </a:gridCol>
                <a:gridCol w="814034">
                  <a:extLst>
                    <a:ext uri="{9D8B030D-6E8A-4147-A177-3AD203B41FA5}">
                      <a16:colId xmlns:a16="http://schemas.microsoft.com/office/drawing/2014/main" val="20004"/>
                    </a:ext>
                  </a:extLst>
                </a:gridCol>
                <a:gridCol w="922572">
                  <a:extLst>
                    <a:ext uri="{9D8B030D-6E8A-4147-A177-3AD203B41FA5}">
                      <a16:colId xmlns:a16="http://schemas.microsoft.com/office/drawing/2014/main" val="20005"/>
                    </a:ext>
                  </a:extLst>
                </a:gridCol>
              </a:tblGrid>
              <a:tr h="310896">
                <a:tc>
                  <a:txBody>
                    <a:bodyPr/>
                    <a:lstStyle/>
                    <a:p>
                      <a:pPr algn="ctr"/>
                      <a:r>
                        <a:rPr lang="ko-KR" altLang="en-US" sz="1000" b="1" dirty="0">
                          <a:solidFill>
                            <a:srgbClr val="FFFFFF"/>
                          </a:solidFill>
                          <a:latin typeface="맑은 고딕"/>
                        </a:rPr>
                        <a:t>필드</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1000" b="1">
                          <a:solidFill>
                            <a:srgbClr val="FFFFFF"/>
                          </a:solidFill>
                          <a:latin typeface="맑은 고딕"/>
                        </a:rPr>
                        <a:t>실제 센서</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1000" b="1">
                          <a:solidFill>
                            <a:srgbClr val="FFFFFF"/>
                          </a:solidFill>
                          <a:latin typeface="맑은 고딕"/>
                        </a:rPr>
                        <a:t>위치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1000" b="1">
                          <a:solidFill>
                            <a:srgbClr val="FFFFFF"/>
                          </a:solidFill>
                          <a:latin typeface="맑은 고딕"/>
                        </a:rPr>
                        <a:t>모드1</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1000" b="1">
                          <a:solidFill>
                            <a:srgbClr val="FFFFFF"/>
                          </a:solidFill>
                          <a:latin typeface="맑은 고딕"/>
                        </a:rPr>
                        <a:t>모드2</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1000" b="1">
                          <a:solidFill>
                            <a:srgbClr val="FFFFFF"/>
                          </a:solidFill>
                          <a:latin typeface="맑은 고딕"/>
                        </a:rPr>
                        <a:t>모드3</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extLst>
                  <a:ext uri="{0D108BD9-81ED-4DB2-BD59-A6C34878D82A}">
                    <a16:rowId xmlns:a16="http://schemas.microsoft.com/office/drawing/2014/main" val="10000"/>
                  </a:ext>
                </a:extLst>
              </a:tr>
              <a:tr h="310896">
                <a:tc>
                  <a:txBody>
                    <a:bodyPr/>
                    <a:lstStyle/>
                    <a:p>
                      <a:pPr algn="ctr"/>
                      <a:r>
                        <a:rPr lang="ko-KR" altLang="en-US" sz="950" b="0">
                          <a:solidFill>
                            <a:srgbClr val="222222"/>
                          </a:solidFill>
                          <a:latin typeface="맑은 고딕"/>
                        </a:rPr>
                        <a:t>voltage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INA226</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I2C 0x40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O</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O</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O</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1"/>
                  </a:ext>
                </a:extLst>
              </a:tr>
              <a:tr h="310896">
                <a:tc>
                  <a:txBody>
                    <a:bodyPr/>
                    <a:lstStyle/>
                    <a:p>
                      <a:pPr algn="ctr"/>
                      <a:r>
                        <a:rPr lang="ko-KR" altLang="en-US" sz="950" b="0">
                          <a:solidFill>
                            <a:srgbClr val="222222"/>
                          </a:solidFill>
                          <a:latin typeface="맑은 고딕"/>
                        </a:rPr>
                        <a:t>current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INA226</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I2C 0x40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O</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O</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O</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2"/>
                  </a:ext>
                </a:extLst>
              </a:tr>
              <a:tr h="310896">
                <a:tc>
                  <a:txBody>
                    <a:bodyPr/>
                    <a:lstStyle/>
                    <a:p>
                      <a:pPr algn="ctr"/>
                      <a:r>
                        <a:rPr lang="ko-KR" altLang="en-US" sz="950" b="0">
                          <a:solidFill>
                            <a:srgbClr val="222222"/>
                          </a:solidFill>
                          <a:latin typeface="맑은 고딕"/>
                        </a:rPr>
                        <a:t>temperature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MLX90614 + DS18B20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I2C 0x5A + 1-Wire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O</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O</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IR+주변</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3"/>
                  </a:ext>
                </a:extLst>
              </a:tr>
              <a:tr h="310896">
                <a:tc>
                  <a:txBody>
                    <a:bodyPr/>
                    <a:lstStyle/>
                    <a:p>
                      <a:pPr algn="ctr"/>
                      <a:r>
                        <a:rPr lang="ko-KR" altLang="en-US" sz="950" b="0">
                          <a:solidFill>
                            <a:srgbClr val="222222"/>
                          </a:solidFill>
                          <a:latin typeface="맑은 고딕"/>
                        </a:rPr>
                        <a:t>soc</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BQ27441</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I2C 0x55</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O</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O</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O</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4"/>
                  </a:ext>
                </a:extLst>
              </a:tr>
              <a:tr h="310896">
                <a:tc>
                  <a:txBody>
                    <a:bodyPr/>
                    <a:lstStyle/>
                    <a:p>
                      <a:pPr algn="ctr"/>
                      <a:r>
                        <a:rPr lang="ko-KR" altLang="en-US" sz="950" b="0">
                          <a:solidFill>
                            <a:srgbClr val="222222"/>
                          </a:solidFill>
                          <a:latin typeface="맑은 고딕"/>
                        </a:rPr>
                        <a:t>gas</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MQ-2</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ADS1115 A0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O</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O</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O</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5"/>
                  </a:ext>
                </a:extLst>
              </a:tr>
              <a:tr h="310896">
                <a:tc>
                  <a:txBody>
                    <a:bodyPr/>
                    <a:lstStyle/>
                    <a:p>
                      <a:pPr algn="ctr"/>
                      <a:r>
                        <a:rPr lang="ko-KR" altLang="en-US" sz="950" b="0">
                          <a:solidFill>
                            <a:srgbClr val="222222"/>
                          </a:solidFill>
                          <a:latin typeface="맑은 고딕"/>
                        </a:rPr>
                        <a:t>pressure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FSR-402</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ADS1115 A1</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O</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O</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6"/>
                  </a:ext>
                </a:extLst>
              </a:tr>
              <a:tr h="310896">
                <a:tc>
                  <a:txBody>
                    <a:bodyPr/>
                    <a:lstStyle/>
                    <a:p>
                      <a:pPr algn="ctr"/>
                      <a:r>
                        <a:rPr lang="ko-KR" altLang="en-US" sz="950" b="0">
                          <a:solidFill>
                            <a:srgbClr val="222222"/>
                          </a:solidFill>
                          <a:latin typeface="맑은 고딕"/>
                        </a:rPr>
                        <a:t>acoustic</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음향 센서</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ADS1115 A2</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O</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a:solidFill>
                            <a:srgbClr val="222222"/>
                          </a:solidFill>
                          <a:latin typeface="맑은 고딕"/>
                        </a:rPr>
                        <a:t>O</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950" b="0" dirty="0">
                          <a:solidFill>
                            <a:srgbClr val="222222"/>
                          </a:solidFill>
                          <a:latin typeface="맑은 고딕"/>
                        </a:rPr>
                        <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7"/>
                  </a:ext>
                </a:extLst>
              </a:tr>
            </a:tbl>
          </a:graphicData>
        </a:graphic>
      </p:graphicFrame>
      <p:sp>
        <p:nvSpPr>
          <p:cNvPr id="504" name="TB504"/>
          <p:cNvSpPr txBox="1"/>
          <p:nvPr/>
        </p:nvSpPr>
        <p:spPr>
          <a:xfrm>
            <a:off x="402336" y="4745736"/>
            <a:ext cx="8339328" cy="365760"/>
          </a:xfrm>
          <a:prstGeom prst="rect">
            <a:avLst/>
          </a:prstGeom>
          <a:noFill/>
          <a:ln>
            <a:noFill/>
          </a:ln>
        </p:spPr>
        <p:txBody>
          <a:bodyPr wrap="square" lIns="0" tIns="0" rIns="0" bIns="0" anchor="t">
            <a:noAutofit/>
          </a:bodyPr>
          <a:lstStyle/>
          <a:p>
            <a:pPr algn="l"/>
            <a:r>
              <a:rPr lang="ko-KR" altLang="en-US" sz="1000" dirty="0">
                <a:solidFill>
                  <a:srgbClr val="222222"/>
                </a:solidFill>
                <a:latin typeface="맑은 고딕"/>
                <a:ea typeface="맑은 고딕"/>
              </a:rPr>
              <a:t>데이터 7개 항목이 실제 회로(실배선도) 센서와 1:1로 매핑되어, 회로 제작 후 코드 교체 없이 실측 전환됨</a:t>
            </a:r>
          </a:p>
        </p:txBody>
      </p:sp>
    </p:spTree>
    <p:extLst>
      <p:ext uri="{BB962C8B-B14F-4D97-AF65-F5344CB8AC3E}">
        <p14:creationId xmlns:p14="http://schemas.microsoft.com/office/powerpoint/2010/main" val="292466057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직사각형 16"/>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직선 연결선 17"/>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 name="직선 연결선 22"/>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4"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None/>
            </a:pPr>
            <a:r>
              <a:rPr lang="en-US" altLang="ko-KR" sz="1700" b="1" dirty="0">
                <a:solidFill>
                  <a:schemeClr val="bg1"/>
                </a:solidFill>
                <a:latin typeface="+mn-ea"/>
                <a:cs typeface="+mj-cs"/>
              </a:rPr>
              <a:t>| </a:t>
            </a:r>
            <a:r>
              <a:rPr lang="ko-KR" altLang="en-US" sz="1700" b="1" dirty="0">
                <a:solidFill>
                  <a:schemeClr val="bg1"/>
                </a:solidFill>
                <a:latin typeface="+mn-ea"/>
                <a:cs typeface="+mj-cs"/>
              </a:rPr>
              <a:t>실제 구현 검증 결과</a:t>
            </a:r>
          </a:p>
        </p:txBody>
      </p:sp>
      <p:pic>
        <p:nvPicPr>
          <p:cNvPr id="29" name="Picture 2"/>
          <p:cNvPicPr>
            <a:picLocks noChangeAspect="1" noChangeArrowheads="1"/>
          </p:cNvPicPr>
          <p:nvPr/>
        </p:nvPicPr>
        <p:blipFill>
          <a:blip r:embed="rId3" cstate="print"/>
          <a:srcRect/>
          <a:stretch>
            <a:fillRect/>
          </a:stretch>
        </p:blipFill>
        <p:spPr bwMode="auto">
          <a:xfrm>
            <a:off x="8676456" y="476671"/>
            <a:ext cx="454960" cy="158965"/>
          </a:xfrm>
          <a:prstGeom prst="rect">
            <a:avLst/>
          </a:prstGeom>
          <a:noFill/>
          <a:ln w="9525">
            <a:noFill/>
            <a:miter lim="800000"/>
            <a:headEnd/>
            <a:tailEnd/>
          </a:ln>
        </p:spPr>
      </p:pic>
      <p:sp>
        <p:nvSpPr>
          <p:cNvPr id="30" name="막힌 원호 29"/>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2" name="그림 1">
            <a:extLst>
              <a:ext uri="{FF2B5EF4-FFF2-40B4-BE49-F238E27FC236}">
                <a16:creationId xmlns:a16="http://schemas.microsoft.com/office/drawing/2014/main" id="{AE311E42-8094-1ED2-BF9F-D52B09934D67}"/>
              </a:ext>
            </a:extLst>
          </p:cNvPr>
          <p:cNvPicPr>
            <a:picLocks noChangeAspect="1"/>
          </p:cNvPicPr>
          <p:nvPr/>
        </p:nvPicPr>
        <p:blipFill>
          <a:blip r:embed="rId4"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501" name="TB501"/>
          <p:cNvSpPr txBox="1"/>
          <p:nvPr/>
        </p:nvSpPr>
        <p:spPr>
          <a:xfrm>
            <a:off x="402336" y="1463040"/>
            <a:ext cx="8229600" cy="292608"/>
          </a:xfrm>
          <a:prstGeom prst="rect">
            <a:avLst/>
          </a:prstGeom>
          <a:noFill/>
          <a:ln>
            <a:noFill/>
          </a:ln>
        </p:spPr>
        <p:txBody>
          <a:bodyPr wrap="square" lIns="0" tIns="0" rIns="0" bIns="0" anchor="ctr">
            <a:noAutofit/>
          </a:bodyPr>
          <a:lstStyle/>
          <a:p>
            <a:r>
              <a:rPr lang="ko-KR" altLang="en-US" sz="1300" dirty="0">
                <a:solidFill>
                  <a:srgbClr val="2563EB"/>
                </a:solidFill>
                <a:latin typeface="맑은 고딕"/>
                <a:ea typeface="맑은 고딕"/>
              </a:rPr>
              <a:t>▍ </a:t>
            </a:r>
            <a:r>
              <a:rPr lang="ko-KR" altLang="en-US" sz="1300" b="1" dirty="0">
                <a:solidFill>
                  <a:srgbClr val="2A2A2A"/>
                </a:solidFill>
                <a:ea typeface="맑은 고딕"/>
              </a:rPr>
              <a:t>④</a:t>
            </a:r>
            <a:r>
              <a:rPr lang="ko-KR" altLang="en-US" sz="1300" b="1" dirty="0">
                <a:solidFill>
                  <a:srgbClr val="2A2A2A"/>
                </a:solidFill>
                <a:latin typeface="맑은 고딕"/>
                <a:ea typeface="맑은 고딕"/>
              </a:rPr>
              <a:t> Grafana 실시간 모니터링 검증 </a:t>
            </a:r>
          </a:p>
        </p:txBody>
      </p:sp>
      <p:pic>
        <p:nvPicPr>
          <p:cNvPr id="502" name="Grafana502"/>
          <p:cNvPicPr>
            <a:picLocks noChangeAspect="1"/>
          </p:cNvPicPr>
          <p:nvPr/>
        </p:nvPicPr>
        <p:blipFill>
          <a:blip r:embed="rId5"/>
          <a:srcRect t="29295" b="9710"/>
          <a:stretch>
            <a:fillRect/>
          </a:stretch>
        </p:blipFill>
        <p:spPr>
          <a:xfrm>
            <a:off x="323528" y="2006825"/>
            <a:ext cx="8280920" cy="4309980"/>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직사각형 13"/>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7" name="직선 연결선 16"/>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 name="직선 연결선 17"/>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19" name="제목 12"/>
          <p:cNvSpPr txBox="1">
            <a:spLocks/>
          </p:cNvSpPr>
          <p:nvPr/>
        </p:nvSpPr>
        <p:spPr>
          <a:xfrm>
            <a:off x="323528" y="692696"/>
            <a:ext cx="2808312"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a:t>
            </a:r>
            <a:r>
              <a:rPr lang="ko-KR" altLang="en-US" sz="1700" b="1">
                <a:solidFill>
                  <a:schemeClr val="bg1"/>
                </a:solidFill>
                <a:latin typeface="+mn-ea"/>
                <a:cs typeface="+mj-cs"/>
              </a:rPr>
              <a:t>프로그램 </a:t>
            </a:r>
            <a:r>
              <a:rPr lang="en-US" altLang="ko-KR" sz="1700" b="1">
                <a:solidFill>
                  <a:schemeClr val="bg1"/>
                </a:solidFill>
                <a:latin typeface="+mn-ea"/>
                <a:cs typeface="+mj-cs"/>
              </a:rPr>
              <a:t>- </a:t>
            </a:r>
            <a:r>
              <a:rPr kumimoji="0" lang="ko-KR" altLang="en-US" sz="1700" b="1" i="0" u="none" strike="noStrike" kern="1200" cap="none" spc="0" normalizeH="0" baseline="0" noProof="0" dirty="0">
                <a:ln>
                  <a:noFill/>
                </a:ln>
                <a:solidFill>
                  <a:schemeClr val="bg1"/>
                </a:solidFill>
                <a:effectLst/>
                <a:uLnTx/>
                <a:uFillTx/>
                <a:latin typeface="+mn-ea"/>
                <a:cs typeface="+mj-cs"/>
              </a:rPr>
              <a:t>목록</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1026"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5" name="막힌 원호 34"/>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그림 2">
            <a:extLst>
              <a:ext uri="{FF2B5EF4-FFF2-40B4-BE49-F238E27FC236}">
                <a16:creationId xmlns:a16="http://schemas.microsoft.com/office/drawing/2014/main" id="{01052307-33C6-8A6E-99FA-D8F564BAD730}"/>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graphicFrame>
        <p:nvGraphicFramePr>
          <p:cNvPr id="1027" name="Table 1026"/>
          <p:cNvGraphicFramePr>
            <a:graphicFrameLocks noGrp="1"/>
          </p:cNvGraphicFramePr>
          <p:nvPr/>
        </p:nvGraphicFramePr>
        <p:xfrm>
          <a:off x="301752" y="1335024"/>
          <a:ext cx="4160519" cy="5230360"/>
        </p:xfrm>
        <a:graphic>
          <a:graphicData uri="http://schemas.openxmlformats.org/drawingml/2006/table">
            <a:tbl>
              <a:tblPr>
                <a:tableStyleId>{5C22544A-7EE6-4342-B048-85BDC9FD1C3A}</a:tableStyleId>
              </a:tblPr>
              <a:tblGrid>
                <a:gridCol w="655597">
                  <a:extLst>
                    <a:ext uri="{9D8B030D-6E8A-4147-A177-3AD203B41FA5}">
                      <a16:colId xmlns:a16="http://schemas.microsoft.com/office/drawing/2014/main" val="20000"/>
                    </a:ext>
                  </a:extLst>
                </a:gridCol>
                <a:gridCol w="868526">
                  <a:extLst>
                    <a:ext uri="{9D8B030D-6E8A-4147-A177-3AD203B41FA5}">
                      <a16:colId xmlns:a16="http://schemas.microsoft.com/office/drawing/2014/main" val="20001"/>
                    </a:ext>
                  </a:extLst>
                </a:gridCol>
                <a:gridCol w="1606306">
                  <a:extLst>
                    <a:ext uri="{9D8B030D-6E8A-4147-A177-3AD203B41FA5}">
                      <a16:colId xmlns:a16="http://schemas.microsoft.com/office/drawing/2014/main" val="20002"/>
                    </a:ext>
                  </a:extLst>
                </a:gridCol>
                <a:gridCol w="410915">
                  <a:extLst>
                    <a:ext uri="{9D8B030D-6E8A-4147-A177-3AD203B41FA5}">
                      <a16:colId xmlns:a16="http://schemas.microsoft.com/office/drawing/2014/main" val="20003"/>
                    </a:ext>
                  </a:extLst>
                </a:gridCol>
                <a:gridCol w="619175">
                  <a:extLst>
                    <a:ext uri="{9D8B030D-6E8A-4147-A177-3AD203B41FA5}">
                      <a16:colId xmlns:a16="http://schemas.microsoft.com/office/drawing/2014/main" val="20004"/>
                    </a:ext>
                  </a:extLst>
                </a:gridCol>
              </a:tblGrid>
              <a:tr h="261518">
                <a:tc>
                  <a:txBody>
                    <a:bodyPr/>
                    <a:lstStyle/>
                    <a:p>
                      <a:pPr algn="ctr"/>
                      <a:r>
                        <a:rPr sz="660" b="1">
                          <a:solidFill>
                            <a:srgbClr val="FFFFFF"/>
                          </a:solidFill>
                          <a:latin typeface="맑은 고딕"/>
                        </a:rPr>
                        <a:t>요구사항 ID</a:t>
                      </a:r>
                    </a:p>
                  </a:txBody>
                  <a:tcPr marL="27432" marR="27432" marT="4572" marB="4572" anchor="ctr">
                    <a:solidFill>
                      <a:srgbClr val="3B5AA8"/>
                    </a:solidFill>
                  </a:tcPr>
                </a:tc>
                <a:tc>
                  <a:txBody>
                    <a:bodyPr/>
                    <a:lstStyle/>
                    <a:p>
                      <a:pPr algn="ctr"/>
                      <a:r>
                        <a:rPr sz="660" b="1">
                          <a:solidFill>
                            <a:srgbClr val="FFFFFF"/>
                          </a:solidFill>
                          <a:latin typeface="맑은 고딕"/>
                        </a:rPr>
                        <a:t>요구사항명</a:t>
                      </a:r>
                    </a:p>
                  </a:txBody>
                  <a:tcPr marL="27432" marR="27432" marT="4572" marB="4572" anchor="ctr">
                    <a:solidFill>
                      <a:srgbClr val="3B5AA8"/>
                    </a:solidFill>
                  </a:tcPr>
                </a:tc>
                <a:tc>
                  <a:txBody>
                    <a:bodyPr/>
                    <a:lstStyle/>
                    <a:p>
                      <a:pPr algn="ctr"/>
                      <a:r>
                        <a:rPr sz="660" b="1">
                          <a:solidFill>
                            <a:srgbClr val="FFFFFF"/>
                          </a:solidFill>
                          <a:latin typeface="맑은 고딕"/>
                        </a:rPr>
                        <a:t>요구사항 상세설명</a:t>
                      </a:r>
                    </a:p>
                  </a:txBody>
                  <a:tcPr marL="27432" marR="27432" marT="4572" marB="4572" anchor="ctr">
                    <a:solidFill>
                      <a:srgbClr val="3B5AA8"/>
                    </a:solidFill>
                  </a:tcPr>
                </a:tc>
                <a:tc>
                  <a:txBody>
                    <a:bodyPr/>
                    <a:lstStyle/>
                    <a:p>
                      <a:pPr algn="ctr"/>
                      <a:r>
                        <a:rPr sz="660" b="1">
                          <a:solidFill>
                            <a:srgbClr val="FFFFFF"/>
                          </a:solidFill>
                          <a:latin typeface="맑은 고딕"/>
                        </a:rPr>
                        <a:t>중요도</a:t>
                      </a:r>
                    </a:p>
                  </a:txBody>
                  <a:tcPr marL="27432" marR="27432" marT="4572" marB="4572" anchor="ctr">
                    <a:solidFill>
                      <a:srgbClr val="3B5AA8"/>
                    </a:solidFill>
                  </a:tcPr>
                </a:tc>
                <a:tc>
                  <a:txBody>
                    <a:bodyPr/>
                    <a:lstStyle/>
                    <a:p>
                      <a:pPr algn="ctr"/>
                      <a:r>
                        <a:rPr sz="660" b="1">
                          <a:solidFill>
                            <a:srgbClr val="FFFFFF"/>
                          </a:solidFill>
                          <a:latin typeface="맑은 고딕"/>
                        </a:rPr>
                        <a:t>비고</a:t>
                      </a:r>
                    </a:p>
                  </a:txBody>
                  <a:tcPr marL="27432" marR="27432" marT="4572" marB="4572" anchor="ctr">
                    <a:solidFill>
                      <a:srgbClr val="3B5AA8"/>
                    </a:solidFill>
                  </a:tcPr>
                </a:tc>
                <a:extLst>
                  <a:ext uri="{0D108BD9-81ED-4DB2-BD59-A6C34878D82A}">
                    <a16:rowId xmlns:a16="http://schemas.microsoft.com/office/drawing/2014/main" val="10000"/>
                  </a:ext>
                </a:extLst>
              </a:tr>
              <a:tr h="261518">
                <a:tc>
                  <a:txBody>
                    <a:bodyPr/>
                    <a:lstStyle/>
                    <a:p>
                      <a:pPr algn="ctr"/>
                      <a:r>
                        <a:rPr sz="540" b="0">
                          <a:solidFill>
                            <a:srgbClr val="222222"/>
                          </a:solidFill>
                          <a:latin typeface="맑은 고딕"/>
                        </a:rPr>
                        <a:t>REQ-WEB-001</a:t>
                      </a:r>
                    </a:p>
                  </a:txBody>
                  <a:tcPr marL="27432" marR="27432" marT="4572" marB="4572" anchor="ctr">
                    <a:solidFill>
                      <a:srgbClr val="FFFFFF"/>
                    </a:solidFill>
                  </a:tcPr>
                </a:tc>
                <a:tc>
                  <a:txBody>
                    <a:bodyPr/>
                    <a:lstStyle/>
                    <a:p>
                      <a:pPr algn="l"/>
                      <a:r>
                        <a:rPr sz="540" b="0">
                          <a:solidFill>
                            <a:srgbClr val="222222"/>
                          </a:solidFill>
                          <a:latin typeface="맑은 고딕"/>
                        </a:rPr>
                        <a:t>랜딩 핵심 정보 확인</a:t>
                      </a:r>
                    </a:p>
                  </a:txBody>
                  <a:tcPr marL="27432" marR="27432" marT="4572" marB="4572" anchor="ctr">
                    <a:solidFill>
                      <a:srgbClr val="FFFFFF"/>
                    </a:solidFill>
                  </a:tcPr>
                </a:tc>
                <a:tc>
                  <a:txBody>
                    <a:bodyPr/>
                    <a:lstStyle/>
                    <a:p>
                      <a:pPr algn="l"/>
                      <a:r>
                        <a:rPr sz="540" b="0">
                          <a:solidFill>
                            <a:srgbClr val="222222"/>
                          </a:solidFill>
                          <a:latin typeface="맑은 고딕"/>
                        </a:rPr>
                        <a:t>셀가드 서비스의 AI 열폭주 예측, 실시간 관제, 전압·전류·온도·SOC 수집 설명을 확인한다.</a:t>
                      </a:r>
                    </a:p>
                  </a:txBody>
                  <a:tcPr marL="27432" marR="27432" marT="4572" marB="4572" anchor="ctr">
                    <a:solidFill>
                      <a:srgbClr val="FFFFFF"/>
                    </a:solidFill>
                  </a:tcPr>
                </a:tc>
                <a:tc>
                  <a:txBody>
                    <a:bodyPr/>
                    <a:lstStyle/>
                    <a:p>
                      <a:pPr algn="ctr"/>
                      <a:r>
                        <a:rPr sz="540" b="0">
                          <a:solidFill>
                            <a:srgbClr val="222222"/>
                          </a:solidFill>
                          <a:latin typeface="맑은 고딕"/>
                        </a:rPr>
                        <a:t>조회</a:t>
                      </a:r>
                    </a:p>
                  </a:txBody>
                  <a:tcPr marL="27432" marR="27432" marT="4572" marB="4572" anchor="ctr">
                    <a:solidFill>
                      <a:srgbClr val="FFFFFF"/>
                    </a:solidFill>
                  </a:tcPr>
                </a:tc>
                <a:tc>
                  <a:txBody>
                    <a:bodyPr/>
                    <a:lstStyle/>
                    <a:p>
                      <a:pPr algn="ctr"/>
                      <a:r>
                        <a:rPr sz="540" b="0">
                          <a:solidFill>
                            <a:srgbClr val="222222"/>
                          </a:solidFill>
                          <a:latin typeface="맑은 고딕"/>
                        </a:rPr>
                        <a:t>REQ-WEB-001</a:t>
                      </a:r>
                    </a:p>
                  </a:txBody>
                  <a:tcPr marL="27432" marR="27432" marT="4572" marB="4572" anchor="ctr">
                    <a:solidFill>
                      <a:srgbClr val="FFFFFF"/>
                    </a:solidFill>
                  </a:tcPr>
                </a:tc>
                <a:extLst>
                  <a:ext uri="{0D108BD9-81ED-4DB2-BD59-A6C34878D82A}">
                    <a16:rowId xmlns:a16="http://schemas.microsoft.com/office/drawing/2014/main" val="10001"/>
                  </a:ext>
                </a:extLst>
              </a:tr>
              <a:tr h="261518">
                <a:tc>
                  <a:txBody>
                    <a:bodyPr/>
                    <a:lstStyle/>
                    <a:p>
                      <a:pPr algn="ctr"/>
                      <a:r>
                        <a:rPr sz="540" b="0">
                          <a:solidFill>
                            <a:srgbClr val="222222"/>
                          </a:solidFill>
                          <a:latin typeface="맑은 고딕"/>
                        </a:rPr>
                        <a:t>REQ-WEB-002</a:t>
                      </a:r>
                    </a:p>
                  </a:txBody>
                  <a:tcPr marL="27432" marR="27432" marT="4572" marB="4572" anchor="ctr">
                    <a:solidFill>
                      <a:srgbClr val="EEF3FB"/>
                    </a:solidFill>
                  </a:tcPr>
                </a:tc>
                <a:tc>
                  <a:txBody>
                    <a:bodyPr/>
                    <a:lstStyle/>
                    <a:p>
                      <a:pPr algn="l"/>
                      <a:r>
                        <a:rPr sz="540" b="0">
                          <a:solidFill>
                            <a:srgbClr val="222222"/>
                          </a:solidFill>
                          <a:latin typeface="맑은 고딕"/>
                        </a:rPr>
                        <a:t>랜딩 메뉴 이동</a:t>
                      </a:r>
                    </a:p>
                  </a:txBody>
                  <a:tcPr marL="27432" marR="27432" marT="4572" marB="4572" anchor="ctr">
                    <a:solidFill>
                      <a:srgbClr val="EEF3FB"/>
                    </a:solidFill>
                  </a:tcPr>
                </a:tc>
                <a:tc>
                  <a:txBody>
                    <a:bodyPr/>
                    <a:lstStyle/>
                    <a:p>
                      <a:pPr algn="l"/>
                      <a:r>
                        <a:rPr sz="540" b="0">
                          <a:solidFill>
                            <a:srgbClr val="222222"/>
                          </a:solidFill>
                          <a:latin typeface="맑은 고딕"/>
                        </a:rPr>
                        <a:t>제품, 실시간 관제, AI 이상탐지, 문의 메뉴를 클릭 가능한 항목으로 제공한다.</a:t>
                      </a:r>
                    </a:p>
                  </a:txBody>
                  <a:tcPr marL="27432" marR="27432" marT="4572" marB="4572" anchor="ctr">
                    <a:solidFill>
                      <a:srgbClr val="EEF3FB"/>
                    </a:solidFill>
                  </a:tcPr>
                </a:tc>
                <a:tc>
                  <a:txBody>
                    <a:bodyPr/>
                    <a:lstStyle/>
                    <a:p>
                      <a:pPr algn="ctr"/>
                      <a:r>
                        <a:rPr sz="540" b="0">
                          <a:solidFill>
                            <a:srgbClr val="222222"/>
                          </a:solidFill>
                          <a:latin typeface="맑은 고딕"/>
                        </a:rPr>
                        <a:t>메인</a:t>
                      </a:r>
                    </a:p>
                  </a:txBody>
                  <a:tcPr marL="27432" marR="27432" marT="4572" marB="4572" anchor="ctr">
                    <a:solidFill>
                      <a:srgbClr val="EEF3FB"/>
                    </a:solidFill>
                  </a:tcPr>
                </a:tc>
                <a:tc>
                  <a:txBody>
                    <a:bodyPr/>
                    <a:lstStyle/>
                    <a:p>
                      <a:pPr algn="ctr"/>
                      <a:r>
                        <a:rPr sz="540" b="0">
                          <a:solidFill>
                            <a:srgbClr val="222222"/>
                          </a:solidFill>
                          <a:latin typeface="맑은 고딕"/>
                        </a:rPr>
                        <a:t>REQ-WEB-002</a:t>
                      </a:r>
                    </a:p>
                  </a:txBody>
                  <a:tcPr marL="27432" marR="27432" marT="4572" marB="4572" anchor="ctr">
                    <a:solidFill>
                      <a:srgbClr val="EEF3FB"/>
                    </a:solidFill>
                  </a:tcPr>
                </a:tc>
                <a:extLst>
                  <a:ext uri="{0D108BD9-81ED-4DB2-BD59-A6C34878D82A}">
                    <a16:rowId xmlns:a16="http://schemas.microsoft.com/office/drawing/2014/main" val="10002"/>
                  </a:ext>
                </a:extLst>
              </a:tr>
              <a:tr h="261518">
                <a:tc>
                  <a:txBody>
                    <a:bodyPr/>
                    <a:lstStyle/>
                    <a:p>
                      <a:pPr algn="ctr"/>
                      <a:r>
                        <a:rPr sz="540" b="0">
                          <a:solidFill>
                            <a:srgbClr val="222222"/>
                          </a:solidFill>
                          <a:latin typeface="맑은 고딕"/>
                        </a:rPr>
                        <a:t>REQ-WEB-003</a:t>
                      </a:r>
                    </a:p>
                  </a:txBody>
                  <a:tcPr marL="27432" marR="27432" marT="4572" marB="4572" anchor="ctr">
                    <a:solidFill>
                      <a:srgbClr val="FFFFFF"/>
                    </a:solidFill>
                  </a:tcPr>
                </a:tc>
                <a:tc>
                  <a:txBody>
                    <a:bodyPr/>
                    <a:lstStyle/>
                    <a:p>
                      <a:pPr algn="l"/>
                      <a:r>
                        <a:rPr sz="540" b="0">
                          <a:solidFill>
                            <a:srgbClr val="222222"/>
                          </a:solidFill>
                          <a:latin typeface="맑은 고딕"/>
                        </a:rPr>
                        <a:t>로그인 모달 열기</a:t>
                      </a:r>
                    </a:p>
                  </a:txBody>
                  <a:tcPr marL="27432" marR="27432" marT="4572" marB="4572" anchor="ctr">
                    <a:solidFill>
                      <a:srgbClr val="FFFFFF"/>
                    </a:solidFill>
                  </a:tcPr>
                </a:tc>
                <a:tc>
                  <a:txBody>
                    <a:bodyPr/>
                    <a:lstStyle/>
                    <a:p>
                      <a:pPr algn="l"/>
                      <a:r>
                        <a:rPr sz="540" b="0">
                          <a:solidFill>
                            <a:srgbClr val="222222"/>
                          </a:solidFill>
                          <a:latin typeface="맑은 고딕"/>
                        </a:rPr>
                        <a:t>로그인, 무료로 시작, 관제 시작하기 버튼으로 로그인 모달을 연다.</a:t>
                      </a:r>
                    </a:p>
                  </a:txBody>
                  <a:tcPr marL="27432" marR="27432" marT="4572" marB="4572" anchor="ctr">
                    <a:solidFill>
                      <a:srgbClr val="FFFFFF"/>
                    </a:solidFill>
                  </a:tcPr>
                </a:tc>
                <a:tc>
                  <a:txBody>
                    <a:bodyPr/>
                    <a:lstStyle/>
                    <a:p>
                      <a:pPr algn="ctr"/>
                      <a:r>
                        <a:rPr sz="540" b="0">
                          <a:solidFill>
                            <a:srgbClr val="222222"/>
                          </a:solidFill>
                          <a:latin typeface="맑은 고딕"/>
                        </a:rPr>
                        <a:t>인증</a:t>
                      </a:r>
                    </a:p>
                  </a:txBody>
                  <a:tcPr marL="27432" marR="27432" marT="4572" marB="4572" anchor="ctr">
                    <a:solidFill>
                      <a:srgbClr val="FFFFFF"/>
                    </a:solidFill>
                  </a:tcPr>
                </a:tc>
                <a:tc>
                  <a:txBody>
                    <a:bodyPr/>
                    <a:lstStyle/>
                    <a:p>
                      <a:pPr algn="ctr"/>
                      <a:r>
                        <a:rPr sz="540" b="0">
                          <a:solidFill>
                            <a:srgbClr val="222222"/>
                          </a:solidFill>
                          <a:latin typeface="맑은 고딕"/>
                        </a:rPr>
                        <a:t>REQ-WEB-003</a:t>
                      </a:r>
                    </a:p>
                  </a:txBody>
                  <a:tcPr marL="27432" marR="27432" marT="4572" marB="4572" anchor="ctr">
                    <a:solidFill>
                      <a:srgbClr val="FFFFFF"/>
                    </a:solidFill>
                  </a:tcPr>
                </a:tc>
                <a:extLst>
                  <a:ext uri="{0D108BD9-81ED-4DB2-BD59-A6C34878D82A}">
                    <a16:rowId xmlns:a16="http://schemas.microsoft.com/office/drawing/2014/main" val="10003"/>
                  </a:ext>
                </a:extLst>
              </a:tr>
              <a:tr h="261518">
                <a:tc>
                  <a:txBody>
                    <a:bodyPr/>
                    <a:lstStyle/>
                    <a:p>
                      <a:pPr algn="ctr"/>
                      <a:r>
                        <a:rPr sz="540" b="0">
                          <a:solidFill>
                            <a:srgbClr val="222222"/>
                          </a:solidFill>
                          <a:latin typeface="맑은 고딕"/>
                        </a:rPr>
                        <a:t>REQ-WEB-004</a:t>
                      </a:r>
                    </a:p>
                  </a:txBody>
                  <a:tcPr marL="27432" marR="27432" marT="4572" marB="4572" anchor="ctr">
                    <a:solidFill>
                      <a:srgbClr val="EEF3FB"/>
                    </a:solidFill>
                  </a:tcPr>
                </a:tc>
                <a:tc>
                  <a:txBody>
                    <a:bodyPr/>
                    <a:lstStyle/>
                    <a:p>
                      <a:pPr algn="l"/>
                      <a:r>
                        <a:rPr sz="540" b="0">
                          <a:solidFill>
                            <a:srgbClr val="222222"/>
                          </a:solidFill>
                          <a:latin typeface="맑은 고딕"/>
                        </a:rPr>
                        <a:t>데모 영상 실행</a:t>
                      </a:r>
                    </a:p>
                  </a:txBody>
                  <a:tcPr marL="27432" marR="27432" marT="4572" marB="4572" anchor="ctr">
                    <a:solidFill>
                      <a:srgbClr val="EEF3FB"/>
                    </a:solidFill>
                  </a:tcPr>
                </a:tc>
                <a:tc>
                  <a:txBody>
                    <a:bodyPr/>
                    <a:lstStyle/>
                    <a:p>
                      <a:pPr algn="l"/>
                      <a:r>
                        <a:rPr sz="540" b="0">
                          <a:solidFill>
                            <a:srgbClr val="222222"/>
                          </a:solidFill>
                          <a:latin typeface="맑은 고딕"/>
                        </a:rPr>
                        <a:t>랜딩 화면의 데모 영상 버튼으로 데모 콘텐츠 진입을 제공한다.</a:t>
                      </a:r>
                    </a:p>
                  </a:txBody>
                  <a:tcPr marL="27432" marR="27432" marT="4572" marB="4572" anchor="ctr">
                    <a:solidFill>
                      <a:srgbClr val="EEF3FB"/>
                    </a:solidFill>
                  </a:tcPr>
                </a:tc>
                <a:tc>
                  <a:txBody>
                    <a:bodyPr/>
                    <a:lstStyle/>
                    <a:p>
                      <a:pPr algn="ctr"/>
                      <a:r>
                        <a:rPr sz="540" b="0">
                          <a:solidFill>
                            <a:srgbClr val="222222"/>
                          </a:solidFill>
                          <a:latin typeface="맑은 고딕"/>
                        </a:rPr>
                        <a:t>데모</a:t>
                      </a:r>
                    </a:p>
                  </a:txBody>
                  <a:tcPr marL="27432" marR="27432" marT="4572" marB="4572" anchor="ctr">
                    <a:solidFill>
                      <a:srgbClr val="EEF3FB"/>
                    </a:solidFill>
                  </a:tcPr>
                </a:tc>
                <a:tc>
                  <a:txBody>
                    <a:bodyPr/>
                    <a:lstStyle/>
                    <a:p>
                      <a:pPr algn="ctr"/>
                      <a:r>
                        <a:rPr sz="540" b="0">
                          <a:solidFill>
                            <a:srgbClr val="222222"/>
                          </a:solidFill>
                          <a:latin typeface="맑은 고딕"/>
                        </a:rPr>
                        <a:t>REQ-WEB-004</a:t>
                      </a:r>
                    </a:p>
                  </a:txBody>
                  <a:tcPr marL="27432" marR="27432" marT="4572" marB="4572" anchor="ctr">
                    <a:solidFill>
                      <a:srgbClr val="EEF3FB"/>
                    </a:solidFill>
                  </a:tcPr>
                </a:tc>
                <a:extLst>
                  <a:ext uri="{0D108BD9-81ED-4DB2-BD59-A6C34878D82A}">
                    <a16:rowId xmlns:a16="http://schemas.microsoft.com/office/drawing/2014/main" val="10004"/>
                  </a:ext>
                </a:extLst>
              </a:tr>
              <a:tr h="261518">
                <a:tc>
                  <a:txBody>
                    <a:bodyPr/>
                    <a:lstStyle/>
                    <a:p>
                      <a:pPr algn="ctr"/>
                      <a:r>
                        <a:rPr sz="540" b="0">
                          <a:solidFill>
                            <a:srgbClr val="222222"/>
                          </a:solidFill>
                          <a:latin typeface="맑은 고딕"/>
                        </a:rPr>
                        <a:t>REQ-WEB-005</a:t>
                      </a:r>
                    </a:p>
                  </a:txBody>
                  <a:tcPr marL="27432" marR="27432" marT="4572" marB="4572" anchor="ctr">
                    <a:solidFill>
                      <a:srgbClr val="FFFFFF"/>
                    </a:solidFill>
                  </a:tcPr>
                </a:tc>
                <a:tc>
                  <a:txBody>
                    <a:bodyPr/>
                    <a:lstStyle/>
                    <a:p>
                      <a:pPr algn="l"/>
                      <a:r>
                        <a:rPr sz="540" b="0">
                          <a:solidFill>
                            <a:srgbClr val="222222"/>
                          </a:solidFill>
                          <a:latin typeface="맑은 고딕"/>
                        </a:rPr>
                        <a:t>이메일 로그인</a:t>
                      </a:r>
                    </a:p>
                  </a:txBody>
                  <a:tcPr marL="27432" marR="27432" marT="4572" marB="4572" anchor="ctr">
                    <a:solidFill>
                      <a:srgbClr val="FFFFFF"/>
                    </a:solidFill>
                  </a:tcPr>
                </a:tc>
                <a:tc>
                  <a:txBody>
                    <a:bodyPr/>
                    <a:lstStyle/>
                    <a:p>
                      <a:pPr algn="l"/>
                      <a:r>
                        <a:rPr sz="540" b="0">
                          <a:solidFill>
                            <a:srgbClr val="222222"/>
                          </a:solidFill>
                          <a:latin typeface="맑은 고딕"/>
                        </a:rPr>
                        <a:t>이메일과 비밀번호 기반 로그인을 수행한다.</a:t>
                      </a:r>
                    </a:p>
                  </a:txBody>
                  <a:tcPr marL="27432" marR="27432" marT="4572" marB="4572" anchor="ctr">
                    <a:solidFill>
                      <a:srgbClr val="FFFFFF"/>
                    </a:solidFill>
                  </a:tcPr>
                </a:tc>
                <a:tc>
                  <a:txBody>
                    <a:bodyPr/>
                    <a:lstStyle/>
                    <a:p>
                      <a:pPr algn="ctr"/>
                      <a:r>
                        <a:rPr sz="540" b="0">
                          <a:solidFill>
                            <a:srgbClr val="222222"/>
                          </a:solidFill>
                          <a:latin typeface="맑은 고딕"/>
                        </a:rPr>
                        <a:t>인증</a:t>
                      </a:r>
                    </a:p>
                  </a:txBody>
                  <a:tcPr marL="27432" marR="27432" marT="4572" marB="4572" anchor="ctr">
                    <a:solidFill>
                      <a:srgbClr val="FFFFFF"/>
                    </a:solidFill>
                  </a:tcPr>
                </a:tc>
                <a:tc>
                  <a:txBody>
                    <a:bodyPr/>
                    <a:lstStyle/>
                    <a:p>
                      <a:pPr algn="ctr"/>
                      <a:r>
                        <a:rPr sz="540" b="0">
                          <a:solidFill>
                            <a:srgbClr val="222222"/>
                          </a:solidFill>
                          <a:latin typeface="맑은 고딕"/>
                        </a:rPr>
                        <a:t>REQ-WEB-005</a:t>
                      </a:r>
                    </a:p>
                  </a:txBody>
                  <a:tcPr marL="27432" marR="27432" marT="4572" marB="4572" anchor="ctr">
                    <a:solidFill>
                      <a:srgbClr val="FFFFFF"/>
                    </a:solidFill>
                  </a:tcPr>
                </a:tc>
                <a:extLst>
                  <a:ext uri="{0D108BD9-81ED-4DB2-BD59-A6C34878D82A}">
                    <a16:rowId xmlns:a16="http://schemas.microsoft.com/office/drawing/2014/main" val="10005"/>
                  </a:ext>
                </a:extLst>
              </a:tr>
              <a:tr h="261518">
                <a:tc>
                  <a:txBody>
                    <a:bodyPr/>
                    <a:lstStyle/>
                    <a:p>
                      <a:pPr algn="ctr"/>
                      <a:r>
                        <a:rPr sz="540" b="0">
                          <a:solidFill>
                            <a:srgbClr val="222222"/>
                          </a:solidFill>
                          <a:latin typeface="맑은 고딕"/>
                        </a:rPr>
                        <a:t>REQ-WEB-006</a:t>
                      </a:r>
                    </a:p>
                  </a:txBody>
                  <a:tcPr marL="27432" marR="27432" marT="4572" marB="4572" anchor="ctr">
                    <a:solidFill>
                      <a:srgbClr val="EEF3FB"/>
                    </a:solidFill>
                  </a:tcPr>
                </a:tc>
                <a:tc>
                  <a:txBody>
                    <a:bodyPr/>
                    <a:lstStyle/>
                    <a:p>
                      <a:pPr algn="l"/>
                      <a:r>
                        <a:rPr sz="540" b="0">
                          <a:solidFill>
                            <a:srgbClr val="222222"/>
                          </a:solidFill>
                          <a:latin typeface="맑은 고딕"/>
                        </a:rPr>
                        <a:t>관리자 로그인</a:t>
                      </a:r>
                    </a:p>
                  </a:txBody>
                  <a:tcPr marL="27432" marR="27432" marT="4572" marB="4572" anchor="ctr">
                    <a:solidFill>
                      <a:srgbClr val="EEF3FB"/>
                    </a:solidFill>
                  </a:tcPr>
                </a:tc>
                <a:tc>
                  <a:txBody>
                    <a:bodyPr/>
                    <a:lstStyle/>
                    <a:p>
                      <a:pPr algn="l"/>
                      <a:r>
                        <a:rPr sz="540" b="0">
                          <a:solidFill>
                            <a:srgbClr val="222222"/>
                          </a:solidFill>
                          <a:latin typeface="맑은 고딕"/>
                        </a:rPr>
                        <a:t>로그인 모달에서 관리자 계정 진입 동작을 제공한다.</a:t>
                      </a:r>
                    </a:p>
                  </a:txBody>
                  <a:tcPr marL="27432" marR="27432" marT="4572" marB="4572" anchor="ctr">
                    <a:solidFill>
                      <a:srgbClr val="EEF3FB"/>
                    </a:solidFill>
                  </a:tcPr>
                </a:tc>
                <a:tc>
                  <a:txBody>
                    <a:bodyPr/>
                    <a:lstStyle/>
                    <a:p>
                      <a:pPr algn="ctr"/>
                      <a:r>
                        <a:rPr sz="540" b="0">
                          <a:solidFill>
                            <a:srgbClr val="222222"/>
                          </a:solidFill>
                          <a:latin typeface="맑은 고딕"/>
                        </a:rPr>
                        <a:t>관리자</a:t>
                      </a:r>
                    </a:p>
                  </a:txBody>
                  <a:tcPr marL="27432" marR="27432" marT="4572" marB="4572" anchor="ctr">
                    <a:solidFill>
                      <a:srgbClr val="EEF3FB"/>
                    </a:solidFill>
                  </a:tcPr>
                </a:tc>
                <a:tc>
                  <a:txBody>
                    <a:bodyPr/>
                    <a:lstStyle/>
                    <a:p>
                      <a:pPr algn="ctr"/>
                      <a:r>
                        <a:rPr sz="540" b="0">
                          <a:solidFill>
                            <a:srgbClr val="222222"/>
                          </a:solidFill>
                          <a:latin typeface="맑은 고딕"/>
                        </a:rPr>
                        <a:t>REQ-WEB-006</a:t>
                      </a:r>
                    </a:p>
                  </a:txBody>
                  <a:tcPr marL="27432" marR="27432" marT="4572" marB="4572" anchor="ctr">
                    <a:solidFill>
                      <a:srgbClr val="EEF3FB"/>
                    </a:solidFill>
                  </a:tcPr>
                </a:tc>
                <a:extLst>
                  <a:ext uri="{0D108BD9-81ED-4DB2-BD59-A6C34878D82A}">
                    <a16:rowId xmlns:a16="http://schemas.microsoft.com/office/drawing/2014/main" val="10006"/>
                  </a:ext>
                </a:extLst>
              </a:tr>
              <a:tr h="261518">
                <a:tc>
                  <a:txBody>
                    <a:bodyPr/>
                    <a:lstStyle/>
                    <a:p>
                      <a:pPr algn="ctr"/>
                      <a:r>
                        <a:rPr sz="540" b="0">
                          <a:solidFill>
                            <a:srgbClr val="222222"/>
                          </a:solidFill>
                          <a:latin typeface="맑은 고딕"/>
                        </a:rPr>
                        <a:t>REQ-WEB-007</a:t>
                      </a:r>
                    </a:p>
                  </a:txBody>
                  <a:tcPr marL="27432" marR="27432" marT="4572" marB="4572" anchor="ctr">
                    <a:solidFill>
                      <a:srgbClr val="FFFFFF"/>
                    </a:solidFill>
                  </a:tcPr>
                </a:tc>
                <a:tc>
                  <a:txBody>
                    <a:bodyPr/>
                    <a:lstStyle/>
                    <a:p>
                      <a:pPr algn="l"/>
                      <a:r>
                        <a:rPr sz="540" b="0">
                          <a:solidFill>
                            <a:srgbClr val="222222"/>
                          </a:solidFill>
                          <a:latin typeface="맑은 고딕"/>
                        </a:rPr>
                        <a:t>소셜 로그인</a:t>
                      </a:r>
                    </a:p>
                  </a:txBody>
                  <a:tcPr marL="27432" marR="27432" marT="4572" marB="4572" anchor="ctr">
                    <a:solidFill>
                      <a:srgbClr val="FFFFFF"/>
                    </a:solidFill>
                  </a:tcPr>
                </a:tc>
                <a:tc>
                  <a:txBody>
                    <a:bodyPr/>
                    <a:lstStyle/>
                    <a:p>
                      <a:pPr algn="l"/>
                      <a:r>
                        <a:rPr sz="540" b="0">
                          <a:solidFill>
                            <a:srgbClr val="222222"/>
                          </a:solidFill>
                          <a:latin typeface="맑은 고딕"/>
                        </a:rPr>
                        <a:t>Google 로그인 버튼으로 소셜 로그인을 수행한다.</a:t>
                      </a:r>
                    </a:p>
                  </a:txBody>
                  <a:tcPr marL="27432" marR="27432" marT="4572" marB="4572" anchor="ctr">
                    <a:solidFill>
                      <a:srgbClr val="FFFFFF"/>
                    </a:solidFill>
                  </a:tcPr>
                </a:tc>
                <a:tc>
                  <a:txBody>
                    <a:bodyPr/>
                    <a:lstStyle/>
                    <a:p>
                      <a:pPr algn="ctr"/>
                      <a:r>
                        <a:rPr sz="540" b="0">
                          <a:solidFill>
                            <a:srgbClr val="222222"/>
                          </a:solidFill>
                          <a:latin typeface="맑은 고딕"/>
                        </a:rPr>
                        <a:t>인증</a:t>
                      </a:r>
                    </a:p>
                  </a:txBody>
                  <a:tcPr marL="27432" marR="27432" marT="4572" marB="4572" anchor="ctr">
                    <a:solidFill>
                      <a:srgbClr val="FFFFFF"/>
                    </a:solidFill>
                  </a:tcPr>
                </a:tc>
                <a:tc>
                  <a:txBody>
                    <a:bodyPr/>
                    <a:lstStyle/>
                    <a:p>
                      <a:pPr algn="ctr"/>
                      <a:r>
                        <a:rPr sz="540" b="0">
                          <a:solidFill>
                            <a:srgbClr val="222222"/>
                          </a:solidFill>
                          <a:latin typeface="맑은 고딕"/>
                        </a:rPr>
                        <a:t>REQ-WEB-007</a:t>
                      </a:r>
                    </a:p>
                  </a:txBody>
                  <a:tcPr marL="27432" marR="27432" marT="4572" marB="4572" anchor="ctr">
                    <a:solidFill>
                      <a:srgbClr val="FFFFFF"/>
                    </a:solidFill>
                  </a:tcPr>
                </a:tc>
                <a:extLst>
                  <a:ext uri="{0D108BD9-81ED-4DB2-BD59-A6C34878D82A}">
                    <a16:rowId xmlns:a16="http://schemas.microsoft.com/office/drawing/2014/main" val="10007"/>
                  </a:ext>
                </a:extLst>
              </a:tr>
              <a:tr h="261518">
                <a:tc>
                  <a:txBody>
                    <a:bodyPr/>
                    <a:lstStyle/>
                    <a:p>
                      <a:pPr algn="ctr"/>
                      <a:r>
                        <a:rPr sz="540" b="0">
                          <a:solidFill>
                            <a:srgbClr val="222222"/>
                          </a:solidFill>
                          <a:latin typeface="맑은 고딕"/>
                        </a:rPr>
                        <a:t>REQ-WEB-008</a:t>
                      </a:r>
                    </a:p>
                  </a:txBody>
                  <a:tcPr marL="27432" marR="27432" marT="4572" marB="4572" anchor="ctr">
                    <a:solidFill>
                      <a:srgbClr val="EEF3FB"/>
                    </a:solidFill>
                  </a:tcPr>
                </a:tc>
                <a:tc>
                  <a:txBody>
                    <a:bodyPr/>
                    <a:lstStyle/>
                    <a:p>
                      <a:pPr algn="l"/>
                      <a:r>
                        <a:rPr sz="540" b="0">
                          <a:solidFill>
                            <a:srgbClr val="222222"/>
                          </a:solidFill>
                          <a:latin typeface="맑은 고딕"/>
                        </a:rPr>
                        <a:t>회원가입 진입</a:t>
                      </a:r>
                    </a:p>
                  </a:txBody>
                  <a:tcPr marL="27432" marR="27432" marT="4572" marB="4572" anchor="ctr">
                    <a:solidFill>
                      <a:srgbClr val="EEF3FB"/>
                    </a:solidFill>
                  </a:tcPr>
                </a:tc>
                <a:tc>
                  <a:txBody>
                    <a:bodyPr/>
                    <a:lstStyle/>
                    <a:p>
                      <a:pPr algn="l"/>
                      <a:r>
                        <a:rPr sz="540" b="0">
                          <a:solidFill>
                            <a:srgbClr val="222222"/>
                          </a:solidFill>
                          <a:latin typeface="맑은 고딕"/>
                        </a:rPr>
                        <a:t>로그인 모달 또는 회원가입 버튼에서 회원가입 화면으로 이동한다.</a:t>
                      </a:r>
                    </a:p>
                  </a:txBody>
                  <a:tcPr marL="27432" marR="27432" marT="4572" marB="4572" anchor="ctr">
                    <a:solidFill>
                      <a:srgbClr val="EEF3FB"/>
                    </a:solidFill>
                  </a:tcPr>
                </a:tc>
                <a:tc>
                  <a:txBody>
                    <a:bodyPr/>
                    <a:lstStyle/>
                    <a:p>
                      <a:pPr algn="ctr"/>
                      <a:r>
                        <a:rPr sz="540" b="0">
                          <a:solidFill>
                            <a:srgbClr val="222222"/>
                          </a:solidFill>
                          <a:latin typeface="맑은 고딕"/>
                        </a:rPr>
                        <a:t>이동</a:t>
                      </a:r>
                    </a:p>
                  </a:txBody>
                  <a:tcPr marL="27432" marR="27432" marT="4572" marB="4572" anchor="ctr">
                    <a:solidFill>
                      <a:srgbClr val="EEF3FB"/>
                    </a:solidFill>
                  </a:tcPr>
                </a:tc>
                <a:tc>
                  <a:txBody>
                    <a:bodyPr/>
                    <a:lstStyle/>
                    <a:p>
                      <a:pPr algn="ctr"/>
                      <a:r>
                        <a:rPr sz="540" b="0">
                          <a:solidFill>
                            <a:srgbClr val="222222"/>
                          </a:solidFill>
                          <a:latin typeface="맑은 고딕"/>
                        </a:rPr>
                        <a:t>REQ-WEB-008</a:t>
                      </a:r>
                    </a:p>
                  </a:txBody>
                  <a:tcPr marL="27432" marR="27432" marT="4572" marB="4572" anchor="ctr">
                    <a:solidFill>
                      <a:srgbClr val="EEF3FB"/>
                    </a:solidFill>
                  </a:tcPr>
                </a:tc>
                <a:extLst>
                  <a:ext uri="{0D108BD9-81ED-4DB2-BD59-A6C34878D82A}">
                    <a16:rowId xmlns:a16="http://schemas.microsoft.com/office/drawing/2014/main" val="10008"/>
                  </a:ext>
                </a:extLst>
              </a:tr>
              <a:tr h="261518">
                <a:tc>
                  <a:txBody>
                    <a:bodyPr/>
                    <a:lstStyle/>
                    <a:p>
                      <a:pPr algn="ctr"/>
                      <a:r>
                        <a:rPr sz="540" b="0">
                          <a:solidFill>
                            <a:srgbClr val="222222"/>
                          </a:solidFill>
                          <a:latin typeface="맑은 고딕"/>
                        </a:rPr>
                        <a:t>REQ-WEB-009</a:t>
                      </a:r>
                    </a:p>
                  </a:txBody>
                  <a:tcPr marL="27432" marR="27432" marT="4572" marB="4572" anchor="ctr">
                    <a:solidFill>
                      <a:srgbClr val="FFFFFF"/>
                    </a:solidFill>
                  </a:tcPr>
                </a:tc>
                <a:tc>
                  <a:txBody>
                    <a:bodyPr/>
                    <a:lstStyle/>
                    <a:p>
                      <a:pPr algn="l"/>
                      <a:r>
                        <a:rPr sz="540" b="0">
                          <a:solidFill>
                            <a:srgbClr val="222222"/>
                          </a:solidFill>
                          <a:latin typeface="맑은 고딕"/>
                        </a:rPr>
                        <a:t>회원가입 입력</a:t>
                      </a:r>
                    </a:p>
                  </a:txBody>
                  <a:tcPr marL="27432" marR="27432" marT="4572" marB="4572" anchor="ctr">
                    <a:solidFill>
                      <a:srgbClr val="FFFFFF"/>
                    </a:solidFill>
                  </a:tcPr>
                </a:tc>
                <a:tc>
                  <a:txBody>
                    <a:bodyPr/>
                    <a:lstStyle/>
                    <a:p>
                      <a:pPr algn="l"/>
                      <a:r>
                        <a:rPr sz="540" b="0">
                          <a:solidFill>
                            <a:srgbClr val="222222"/>
                          </a:solidFill>
                          <a:latin typeface="맑은 고딕"/>
                        </a:rPr>
                        <a:t>이름, 이메일, 비밀번호, 전화번호, 약관 동의 정보를 입력해 가입한다.</a:t>
                      </a:r>
                    </a:p>
                  </a:txBody>
                  <a:tcPr marL="27432" marR="27432" marT="4572" marB="4572" anchor="ctr">
                    <a:solidFill>
                      <a:srgbClr val="FFFFFF"/>
                    </a:solidFill>
                  </a:tcPr>
                </a:tc>
                <a:tc>
                  <a:txBody>
                    <a:bodyPr/>
                    <a:lstStyle/>
                    <a:p>
                      <a:pPr algn="ctr"/>
                      <a:r>
                        <a:rPr sz="540" b="0">
                          <a:solidFill>
                            <a:srgbClr val="222222"/>
                          </a:solidFill>
                          <a:latin typeface="맑은 고딕"/>
                        </a:rPr>
                        <a:t>입력검증</a:t>
                      </a:r>
                    </a:p>
                  </a:txBody>
                  <a:tcPr marL="27432" marR="27432" marT="4572" marB="4572" anchor="ctr">
                    <a:solidFill>
                      <a:srgbClr val="FFFFFF"/>
                    </a:solidFill>
                  </a:tcPr>
                </a:tc>
                <a:tc>
                  <a:txBody>
                    <a:bodyPr/>
                    <a:lstStyle/>
                    <a:p>
                      <a:pPr algn="ctr"/>
                      <a:r>
                        <a:rPr sz="540" b="0">
                          <a:solidFill>
                            <a:srgbClr val="222222"/>
                          </a:solidFill>
                          <a:latin typeface="맑은 고딕"/>
                        </a:rPr>
                        <a:t>REQ-WEB-009</a:t>
                      </a:r>
                    </a:p>
                  </a:txBody>
                  <a:tcPr marL="27432" marR="27432" marT="4572" marB="4572" anchor="ctr">
                    <a:solidFill>
                      <a:srgbClr val="FFFFFF"/>
                    </a:solidFill>
                  </a:tcPr>
                </a:tc>
                <a:extLst>
                  <a:ext uri="{0D108BD9-81ED-4DB2-BD59-A6C34878D82A}">
                    <a16:rowId xmlns:a16="http://schemas.microsoft.com/office/drawing/2014/main" val="10009"/>
                  </a:ext>
                </a:extLst>
              </a:tr>
              <a:tr h="261518">
                <a:tc>
                  <a:txBody>
                    <a:bodyPr/>
                    <a:lstStyle/>
                    <a:p>
                      <a:pPr algn="ctr"/>
                      <a:r>
                        <a:rPr sz="540" b="0">
                          <a:solidFill>
                            <a:srgbClr val="222222"/>
                          </a:solidFill>
                          <a:latin typeface="맑은 고딕"/>
                        </a:rPr>
                        <a:t>REQ-WEB-010</a:t>
                      </a:r>
                    </a:p>
                  </a:txBody>
                  <a:tcPr marL="27432" marR="27432" marT="4572" marB="4572" anchor="ctr">
                    <a:solidFill>
                      <a:srgbClr val="EEF3FB"/>
                    </a:solidFill>
                  </a:tcPr>
                </a:tc>
                <a:tc>
                  <a:txBody>
                    <a:bodyPr/>
                    <a:lstStyle/>
                    <a:p>
                      <a:pPr algn="l"/>
                      <a:r>
                        <a:rPr sz="540" b="0">
                          <a:solidFill>
                            <a:srgbClr val="222222"/>
                          </a:solidFill>
                          <a:latin typeface="맑은 고딕"/>
                        </a:rPr>
                        <a:t>로그인 화면 복귀</a:t>
                      </a:r>
                    </a:p>
                  </a:txBody>
                  <a:tcPr marL="27432" marR="27432" marT="4572" marB="4572" anchor="ctr">
                    <a:solidFill>
                      <a:srgbClr val="EEF3FB"/>
                    </a:solidFill>
                  </a:tcPr>
                </a:tc>
                <a:tc>
                  <a:txBody>
                    <a:bodyPr/>
                    <a:lstStyle/>
                    <a:p>
                      <a:pPr algn="l"/>
                      <a:r>
                        <a:rPr sz="540" b="0">
                          <a:solidFill>
                            <a:srgbClr val="222222"/>
                          </a:solidFill>
                          <a:latin typeface="맑은 고딕"/>
                        </a:rPr>
                        <a:t>회원가입 화면에서 기존 계정 로그인 화면으로 돌아간다.</a:t>
                      </a:r>
                    </a:p>
                  </a:txBody>
                  <a:tcPr marL="27432" marR="27432" marT="4572" marB="4572" anchor="ctr">
                    <a:solidFill>
                      <a:srgbClr val="EEF3FB"/>
                    </a:solidFill>
                  </a:tcPr>
                </a:tc>
                <a:tc>
                  <a:txBody>
                    <a:bodyPr/>
                    <a:lstStyle/>
                    <a:p>
                      <a:pPr algn="ctr"/>
                      <a:r>
                        <a:rPr sz="540" b="0">
                          <a:solidFill>
                            <a:srgbClr val="222222"/>
                          </a:solidFill>
                          <a:latin typeface="맑은 고딕"/>
                        </a:rPr>
                        <a:t>이동</a:t>
                      </a:r>
                    </a:p>
                  </a:txBody>
                  <a:tcPr marL="27432" marR="27432" marT="4572" marB="4572" anchor="ctr">
                    <a:solidFill>
                      <a:srgbClr val="EEF3FB"/>
                    </a:solidFill>
                  </a:tcPr>
                </a:tc>
                <a:tc>
                  <a:txBody>
                    <a:bodyPr/>
                    <a:lstStyle/>
                    <a:p>
                      <a:pPr algn="ctr"/>
                      <a:r>
                        <a:rPr sz="540" b="0">
                          <a:solidFill>
                            <a:srgbClr val="222222"/>
                          </a:solidFill>
                          <a:latin typeface="맑은 고딕"/>
                        </a:rPr>
                        <a:t>REQ-WEB-010</a:t>
                      </a:r>
                    </a:p>
                  </a:txBody>
                  <a:tcPr marL="27432" marR="27432" marT="4572" marB="4572" anchor="ctr">
                    <a:solidFill>
                      <a:srgbClr val="EEF3FB"/>
                    </a:solidFill>
                  </a:tcPr>
                </a:tc>
                <a:extLst>
                  <a:ext uri="{0D108BD9-81ED-4DB2-BD59-A6C34878D82A}">
                    <a16:rowId xmlns:a16="http://schemas.microsoft.com/office/drawing/2014/main" val="10010"/>
                  </a:ext>
                </a:extLst>
              </a:tr>
              <a:tr h="261518">
                <a:tc>
                  <a:txBody>
                    <a:bodyPr/>
                    <a:lstStyle/>
                    <a:p>
                      <a:pPr algn="ctr"/>
                      <a:r>
                        <a:rPr sz="540" b="0">
                          <a:solidFill>
                            <a:srgbClr val="222222"/>
                          </a:solidFill>
                          <a:latin typeface="맑은 고딕"/>
                        </a:rPr>
                        <a:t>REQ-WEB-011</a:t>
                      </a:r>
                    </a:p>
                  </a:txBody>
                  <a:tcPr marL="27432" marR="27432" marT="4572" marB="4572" anchor="ctr">
                    <a:solidFill>
                      <a:srgbClr val="FFFFFF"/>
                    </a:solidFill>
                  </a:tcPr>
                </a:tc>
                <a:tc>
                  <a:txBody>
                    <a:bodyPr/>
                    <a:lstStyle/>
                    <a:p>
                      <a:pPr algn="l"/>
                      <a:r>
                        <a:rPr sz="540" b="0">
                          <a:solidFill>
                            <a:srgbClr val="222222"/>
                          </a:solidFill>
                          <a:latin typeface="맑은 고딕"/>
                        </a:rPr>
                        <a:t>계정 찾기 진입</a:t>
                      </a:r>
                    </a:p>
                  </a:txBody>
                  <a:tcPr marL="27432" marR="27432" marT="4572" marB="4572" anchor="ctr">
                    <a:solidFill>
                      <a:srgbClr val="FFFFFF"/>
                    </a:solidFill>
                  </a:tcPr>
                </a:tc>
                <a:tc>
                  <a:txBody>
                    <a:bodyPr/>
                    <a:lstStyle/>
                    <a:p>
                      <a:pPr algn="l"/>
                      <a:r>
                        <a:rPr sz="540" b="0">
                          <a:solidFill>
                            <a:srgbClr val="222222"/>
                          </a:solidFill>
                          <a:latin typeface="맑은 고딕"/>
                        </a:rPr>
                        <a:t>로그인 화면에서 계정 찾기 화면으로 이동한다.</a:t>
                      </a:r>
                    </a:p>
                  </a:txBody>
                  <a:tcPr marL="27432" marR="27432" marT="4572" marB="4572" anchor="ctr">
                    <a:solidFill>
                      <a:srgbClr val="FFFFFF"/>
                    </a:solidFill>
                  </a:tcPr>
                </a:tc>
                <a:tc>
                  <a:txBody>
                    <a:bodyPr/>
                    <a:lstStyle/>
                    <a:p>
                      <a:pPr algn="ctr"/>
                      <a:r>
                        <a:rPr sz="540" b="0">
                          <a:solidFill>
                            <a:srgbClr val="222222"/>
                          </a:solidFill>
                          <a:latin typeface="맑은 고딕"/>
                        </a:rPr>
                        <a:t>계정</a:t>
                      </a:r>
                    </a:p>
                  </a:txBody>
                  <a:tcPr marL="27432" marR="27432" marT="4572" marB="4572" anchor="ctr">
                    <a:solidFill>
                      <a:srgbClr val="FFFFFF"/>
                    </a:solidFill>
                  </a:tcPr>
                </a:tc>
                <a:tc>
                  <a:txBody>
                    <a:bodyPr/>
                    <a:lstStyle/>
                    <a:p>
                      <a:pPr algn="ctr"/>
                      <a:r>
                        <a:rPr sz="540" b="0">
                          <a:solidFill>
                            <a:srgbClr val="222222"/>
                          </a:solidFill>
                          <a:latin typeface="맑은 고딕"/>
                        </a:rPr>
                        <a:t>REQ-WEB-011</a:t>
                      </a:r>
                    </a:p>
                  </a:txBody>
                  <a:tcPr marL="27432" marR="27432" marT="4572" marB="4572" anchor="ctr">
                    <a:solidFill>
                      <a:srgbClr val="FFFFFF"/>
                    </a:solidFill>
                  </a:tcPr>
                </a:tc>
                <a:extLst>
                  <a:ext uri="{0D108BD9-81ED-4DB2-BD59-A6C34878D82A}">
                    <a16:rowId xmlns:a16="http://schemas.microsoft.com/office/drawing/2014/main" val="10011"/>
                  </a:ext>
                </a:extLst>
              </a:tr>
              <a:tr h="261518">
                <a:tc>
                  <a:txBody>
                    <a:bodyPr/>
                    <a:lstStyle/>
                    <a:p>
                      <a:pPr algn="ctr"/>
                      <a:r>
                        <a:rPr sz="540" b="0">
                          <a:solidFill>
                            <a:srgbClr val="222222"/>
                          </a:solidFill>
                          <a:latin typeface="맑은 고딕"/>
                        </a:rPr>
                        <a:t>REQ-WEB-012</a:t>
                      </a:r>
                    </a:p>
                  </a:txBody>
                  <a:tcPr marL="27432" marR="27432" marT="4572" marB="4572" anchor="ctr">
                    <a:solidFill>
                      <a:srgbClr val="EEF3FB"/>
                    </a:solidFill>
                  </a:tcPr>
                </a:tc>
                <a:tc>
                  <a:txBody>
                    <a:bodyPr/>
                    <a:lstStyle/>
                    <a:p>
                      <a:pPr algn="l"/>
                      <a:r>
                        <a:rPr sz="540" b="0">
                          <a:solidFill>
                            <a:srgbClr val="222222"/>
                          </a:solidFill>
                          <a:latin typeface="맑은 고딕"/>
                        </a:rPr>
                        <a:t>비밀번호 재설정 탭</a:t>
                      </a:r>
                    </a:p>
                  </a:txBody>
                  <a:tcPr marL="27432" marR="27432" marT="4572" marB="4572" anchor="ctr">
                    <a:solidFill>
                      <a:srgbClr val="EEF3FB"/>
                    </a:solidFill>
                  </a:tcPr>
                </a:tc>
                <a:tc>
                  <a:txBody>
                    <a:bodyPr/>
                    <a:lstStyle/>
                    <a:p>
                      <a:pPr algn="l"/>
                      <a:r>
                        <a:rPr sz="540" b="0">
                          <a:solidFill>
                            <a:srgbClr val="222222"/>
                          </a:solidFill>
                          <a:latin typeface="맑은 고딕"/>
                        </a:rPr>
                        <a:t>계정 찾기 화면에서 이메일 입력 후 재설정 링크 발송 흐름을 제공한다.</a:t>
                      </a:r>
                    </a:p>
                  </a:txBody>
                  <a:tcPr marL="27432" marR="27432" marT="4572" marB="4572" anchor="ctr">
                    <a:solidFill>
                      <a:srgbClr val="EEF3FB"/>
                    </a:solidFill>
                  </a:tcPr>
                </a:tc>
                <a:tc>
                  <a:txBody>
                    <a:bodyPr/>
                    <a:lstStyle/>
                    <a:p>
                      <a:pPr algn="ctr"/>
                      <a:r>
                        <a:rPr sz="540" b="0">
                          <a:solidFill>
                            <a:srgbClr val="222222"/>
                          </a:solidFill>
                          <a:latin typeface="맑은 고딕"/>
                        </a:rPr>
                        <a:t>계정</a:t>
                      </a:r>
                    </a:p>
                  </a:txBody>
                  <a:tcPr marL="27432" marR="27432" marT="4572" marB="4572" anchor="ctr">
                    <a:solidFill>
                      <a:srgbClr val="EEF3FB"/>
                    </a:solidFill>
                  </a:tcPr>
                </a:tc>
                <a:tc>
                  <a:txBody>
                    <a:bodyPr/>
                    <a:lstStyle/>
                    <a:p>
                      <a:pPr algn="ctr"/>
                      <a:r>
                        <a:rPr sz="540" b="0">
                          <a:solidFill>
                            <a:srgbClr val="222222"/>
                          </a:solidFill>
                          <a:latin typeface="맑은 고딕"/>
                        </a:rPr>
                        <a:t>REQ-WEB-012</a:t>
                      </a:r>
                    </a:p>
                  </a:txBody>
                  <a:tcPr marL="27432" marR="27432" marT="4572" marB="4572" anchor="ctr">
                    <a:solidFill>
                      <a:srgbClr val="EEF3FB"/>
                    </a:solidFill>
                  </a:tcPr>
                </a:tc>
                <a:extLst>
                  <a:ext uri="{0D108BD9-81ED-4DB2-BD59-A6C34878D82A}">
                    <a16:rowId xmlns:a16="http://schemas.microsoft.com/office/drawing/2014/main" val="10012"/>
                  </a:ext>
                </a:extLst>
              </a:tr>
              <a:tr h="261518">
                <a:tc>
                  <a:txBody>
                    <a:bodyPr/>
                    <a:lstStyle/>
                    <a:p>
                      <a:pPr algn="ctr"/>
                      <a:r>
                        <a:rPr sz="540" b="0">
                          <a:solidFill>
                            <a:srgbClr val="222222"/>
                          </a:solidFill>
                          <a:latin typeface="맑은 고딕"/>
                        </a:rPr>
                        <a:t>REQ-WEB-013</a:t>
                      </a:r>
                    </a:p>
                  </a:txBody>
                  <a:tcPr marL="27432" marR="27432" marT="4572" marB="4572" anchor="ctr">
                    <a:solidFill>
                      <a:srgbClr val="FFFFFF"/>
                    </a:solidFill>
                  </a:tcPr>
                </a:tc>
                <a:tc>
                  <a:txBody>
                    <a:bodyPr/>
                    <a:lstStyle/>
                    <a:p>
                      <a:pPr algn="l"/>
                      <a:r>
                        <a:rPr sz="540" b="0">
                          <a:solidFill>
                            <a:srgbClr val="222222"/>
                          </a:solidFill>
                          <a:latin typeface="맑은 고딕"/>
                        </a:rPr>
                        <a:t>이메일 찾기 탭</a:t>
                      </a:r>
                    </a:p>
                  </a:txBody>
                  <a:tcPr marL="27432" marR="27432" marT="4572" marB="4572" anchor="ctr">
                    <a:solidFill>
                      <a:srgbClr val="FFFFFF"/>
                    </a:solidFill>
                  </a:tcPr>
                </a:tc>
                <a:tc>
                  <a:txBody>
                    <a:bodyPr/>
                    <a:lstStyle/>
                    <a:p>
                      <a:pPr algn="l"/>
                      <a:r>
                        <a:rPr sz="540" b="0">
                          <a:solidFill>
                            <a:srgbClr val="222222"/>
                          </a:solidFill>
                          <a:latin typeface="맑은 고딕"/>
                        </a:rPr>
                        <a:t>계정 찾기 화면에서 이메일 찾기 탭으로 표시 내용을 전환한다.</a:t>
                      </a:r>
                    </a:p>
                  </a:txBody>
                  <a:tcPr marL="27432" marR="27432" marT="4572" marB="4572" anchor="ctr">
                    <a:solidFill>
                      <a:srgbClr val="FFFFFF"/>
                    </a:solidFill>
                  </a:tcPr>
                </a:tc>
                <a:tc>
                  <a:txBody>
                    <a:bodyPr/>
                    <a:lstStyle/>
                    <a:p>
                      <a:pPr algn="ctr"/>
                      <a:r>
                        <a:rPr sz="540" b="0">
                          <a:solidFill>
                            <a:srgbClr val="222222"/>
                          </a:solidFill>
                          <a:latin typeface="맑은 고딕"/>
                        </a:rPr>
                        <a:t>계정</a:t>
                      </a:r>
                    </a:p>
                  </a:txBody>
                  <a:tcPr marL="27432" marR="27432" marT="4572" marB="4572" anchor="ctr">
                    <a:solidFill>
                      <a:srgbClr val="FFFFFF"/>
                    </a:solidFill>
                  </a:tcPr>
                </a:tc>
                <a:tc>
                  <a:txBody>
                    <a:bodyPr/>
                    <a:lstStyle/>
                    <a:p>
                      <a:pPr algn="ctr"/>
                      <a:r>
                        <a:rPr sz="540" b="0">
                          <a:solidFill>
                            <a:srgbClr val="222222"/>
                          </a:solidFill>
                          <a:latin typeface="맑은 고딕"/>
                        </a:rPr>
                        <a:t>REQ-WEB-013</a:t>
                      </a:r>
                    </a:p>
                  </a:txBody>
                  <a:tcPr marL="27432" marR="27432" marT="4572" marB="4572" anchor="ctr">
                    <a:solidFill>
                      <a:srgbClr val="FFFFFF"/>
                    </a:solidFill>
                  </a:tcPr>
                </a:tc>
                <a:extLst>
                  <a:ext uri="{0D108BD9-81ED-4DB2-BD59-A6C34878D82A}">
                    <a16:rowId xmlns:a16="http://schemas.microsoft.com/office/drawing/2014/main" val="10013"/>
                  </a:ext>
                </a:extLst>
              </a:tr>
              <a:tr h="261518">
                <a:tc>
                  <a:txBody>
                    <a:bodyPr/>
                    <a:lstStyle/>
                    <a:p>
                      <a:pPr algn="ctr"/>
                      <a:r>
                        <a:rPr sz="540" b="0">
                          <a:solidFill>
                            <a:srgbClr val="222222"/>
                          </a:solidFill>
                          <a:latin typeface="맑은 고딕"/>
                        </a:rPr>
                        <a:t>REQ-WEB-014</a:t>
                      </a:r>
                    </a:p>
                  </a:txBody>
                  <a:tcPr marL="27432" marR="27432" marT="4572" marB="4572" anchor="ctr">
                    <a:solidFill>
                      <a:srgbClr val="EEF3FB"/>
                    </a:solidFill>
                  </a:tcPr>
                </a:tc>
                <a:tc>
                  <a:txBody>
                    <a:bodyPr/>
                    <a:lstStyle/>
                    <a:p>
                      <a:pPr algn="l"/>
                      <a:r>
                        <a:rPr sz="540" b="0">
                          <a:solidFill>
                            <a:srgbClr val="222222"/>
                          </a:solidFill>
                          <a:latin typeface="맑은 고딕"/>
                        </a:rPr>
                        <a:t>로그아웃</a:t>
                      </a:r>
                    </a:p>
                  </a:txBody>
                  <a:tcPr marL="27432" marR="27432" marT="4572" marB="4572" anchor="ctr">
                    <a:solidFill>
                      <a:srgbClr val="EEF3FB"/>
                    </a:solidFill>
                  </a:tcPr>
                </a:tc>
                <a:tc>
                  <a:txBody>
                    <a:bodyPr/>
                    <a:lstStyle/>
                    <a:p>
                      <a:pPr algn="l"/>
                      <a:r>
                        <a:rPr sz="540" b="0">
                          <a:solidFill>
                            <a:srgbClr val="222222"/>
                          </a:solidFill>
                          <a:latin typeface="맑은 고딕"/>
                        </a:rPr>
                        <a:t>앱 셸에서 로그아웃 버튼으로 세션을 종료한다.</a:t>
                      </a:r>
                    </a:p>
                  </a:txBody>
                  <a:tcPr marL="27432" marR="27432" marT="4572" marB="4572" anchor="ctr">
                    <a:solidFill>
                      <a:srgbClr val="EEF3FB"/>
                    </a:solidFill>
                  </a:tcPr>
                </a:tc>
                <a:tc>
                  <a:txBody>
                    <a:bodyPr/>
                    <a:lstStyle/>
                    <a:p>
                      <a:pPr algn="ctr"/>
                      <a:r>
                        <a:rPr sz="540" b="0">
                          <a:solidFill>
                            <a:srgbClr val="222222"/>
                          </a:solidFill>
                          <a:latin typeface="맑은 고딕"/>
                        </a:rPr>
                        <a:t>인증</a:t>
                      </a:r>
                    </a:p>
                  </a:txBody>
                  <a:tcPr marL="27432" marR="27432" marT="4572" marB="4572" anchor="ctr">
                    <a:solidFill>
                      <a:srgbClr val="EEF3FB"/>
                    </a:solidFill>
                  </a:tcPr>
                </a:tc>
                <a:tc>
                  <a:txBody>
                    <a:bodyPr/>
                    <a:lstStyle/>
                    <a:p>
                      <a:pPr algn="ctr"/>
                      <a:r>
                        <a:rPr sz="540" b="0">
                          <a:solidFill>
                            <a:srgbClr val="222222"/>
                          </a:solidFill>
                          <a:latin typeface="맑은 고딕"/>
                        </a:rPr>
                        <a:t>REQ-WEB-014</a:t>
                      </a:r>
                    </a:p>
                  </a:txBody>
                  <a:tcPr marL="27432" marR="27432" marT="4572" marB="4572" anchor="ctr">
                    <a:solidFill>
                      <a:srgbClr val="EEF3FB"/>
                    </a:solidFill>
                  </a:tcPr>
                </a:tc>
                <a:extLst>
                  <a:ext uri="{0D108BD9-81ED-4DB2-BD59-A6C34878D82A}">
                    <a16:rowId xmlns:a16="http://schemas.microsoft.com/office/drawing/2014/main" val="10014"/>
                  </a:ext>
                </a:extLst>
              </a:tr>
              <a:tr h="261518">
                <a:tc>
                  <a:txBody>
                    <a:bodyPr/>
                    <a:lstStyle/>
                    <a:p>
                      <a:pPr algn="ctr"/>
                      <a:r>
                        <a:rPr sz="540" b="0">
                          <a:solidFill>
                            <a:srgbClr val="222222"/>
                          </a:solidFill>
                          <a:latin typeface="맑은 고딕"/>
                        </a:rPr>
                        <a:t>REQ-WEB-015</a:t>
                      </a:r>
                    </a:p>
                  </a:txBody>
                  <a:tcPr marL="27432" marR="27432" marT="4572" marB="4572" anchor="ctr">
                    <a:solidFill>
                      <a:srgbClr val="FFFFFF"/>
                    </a:solidFill>
                  </a:tcPr>
                </a:tc>
                <a:tc>
                  <a:txBody>
                    <a:bodyPr/>
                    <a:lstStyle/>
                    <a:p>
                      <a:pPr algn="l"/>
                      <a:r>
                        <a:rPr sz="540" b="0">
                          <a:solidFill>
                            <a:srgbClr val="222222"/>
                          </a:solidFill>
                          <a:latin typeface="맑은 고딕"/>
                        </a:rPr>
                        <a:t>언어 전환</a:t>
                      </a:r>
                    </a:p>
                  </a:txBody>
                  <a:tcPr marL="27432" marR="27432" marT="4572" marB="4572" anchor="ctr">
                    <a:solidFill>
                      <a:srgbClr val="FFFFFF"/>
                    </a:solidFill>
                  </a:tcPr>
                </a:tc>
                <a:tc>
                  <a:txBody>
                    <a:bodyPr/>
                    <a:lstStyle/>
                    <a:p>
                      <a:pPr algn="l"/>
                      <a:r>
                        <a:rPr sz="540" b="0">
                          <a:solidFill>
                            <a:srgbClr val="222222"/>
                          </a:solidFill>
                          <a:latin typeface="맑은 고딕"/>
                        </a:rPr>
                        <a:t>한/영 토글로 화면 언어를 전환한다.</a:t>
                      </a:r>
                    </a:p>
                  </a:txBody>
                  <a:tcPr marL="27432" marR="27432" marT="4572" marB="4572" anchor="ctr">
                    <a:solidFill>
                      <a:srgbClr val="FFFFFF"/>
                    </a:solidFill>
                  </a:tcPr>
                </a:tc>
                <a:tc>
                  <a:txBody>
                    <a:bodyPr/>
                    <a:lstStyle/>
                    <a:p>
                      <a:pPr algn="ctr"/>
                      <a:r>
                        <a:rPr sz="540" b="0">
                          <a:solidFill>
                            <a:srgbClr val="222222"/>
                          </a:solidFill>
                          <a:latin typeface="맑은 고딕"/>
                        </a:rPr>
                        <a:t>설정</a:t>
                      </a:r>
                    </a:p>
                  </a:txBody>
                  <a:tcPr marL="27432" marR="27432" marT="4572" marB="4572" anchor="ctr">
                    <a:solidFill>
                      <a:srgbClr val="FFFFFF"/>
                    </a:solidFill>
                  </a:tcPr>
                </a:tc>
                <a:tc>
                  <a:txBody>
                    <a:bodyPr/>
                    <a:lstStyle/>
                    <a:p>
                      <a:pPr algn="ctr"/>
                      <a:r>
                        <a:rPr sz="540" b="0">
                          <a:solidFill>
                            <a:srgbClr val="222222"/>
                          </a:solidFill>
                          <a:latin typeface="맑은 고딕"/>
                        </a:rPr>
                        <a:t>REQ-WEB-015</a:t>
                      </a:r>
                    </a:p>
                  </a:txBody>
                  <a:tcPr marL="27432" marR="27432" marT="4572" marB="4572" anchor="ctr">
                    <a:solidFill>
                      <a:srgbClr val="FFFFFF"/>
                    </a:solidFill>
                  </a:tcPr>
                </a:tc>
                <a:extLst>
                  <a:ext uri="{0D108BD9-81ED-4DB2-BD59-A6C34878D82A}">
                    <a16:rowId xmlns:a16="http://schemas.microsoft.com/office/drawing/2014/main" val="10015"/>
                  </a:ext>
                </a:extLst>
              </a:tr>
              <a:tr h="261518">
                <a:tc>
                  <a:txBody>
                    <a:bodyPr/>
                    <a:lstStyle/>
                    <a:p>
                      <a:pPr algn="ctr"/>
                      <a:r>
                        <a:rPr sz="540" b="0">
                          <a:solidFill>
                            <a:srgbClr val="222222"/>
                          </a:solidFill>
                          <a:latin typeface="맑은 고딕"/>
                        </a:rPr>
                        <a:t>REQ-WEB-016</a:t>
                      </a:r>
                    </a:p>
                  </a:txBody>
                  <a:tcPr marL="27432" marR="27432" marT="4572" marB="4572" anchor="ctr">
                    <a:solidFill>
                      <a:srgbClr val="EEF3FB"/>
                    </a:solidFill>
                  </a:tcPr>
                </a:tc>
                <a:tc>
                  <a:txBody>
                    <a:bodyPr/>
                    <a:lstStyle/>
                    <a:p>
                      <a:pPr algn="l"/>
                      <a:r>
                        <a:rPr sz="540" b="0">
                          <a:solidFill>
                            <a:srgbClr val="222222"/>
                          </a:solidFill>
                          <a:latin typeface="맑은 고딕"/>
                        </a:rPr>
                        <a:t>알림 패널 열기</a:t>
                      </a:r>
                    </a:p>
                  </a:txBody>
                  <a:tcPr marL="27432" marR="27432" marT="4572" marB="4572" anchor="ctr">
                    <a:solidFill>
                      <a:srgbClr val="EEF3FB"/>
                    </a:solidFill>
                  </a:tcPr>
                </a:tc>
                <a:tc>
                  <a:txBody>
                    <a:bodyPr/>
                    <a:lstStyle/>
                    <a:p>
                      <a:pPr algn="l"/>
                      <a:r>
                        <a:rPr sz="540" b="0">
                          <a:solidFill>
                            <a:srgbClr val="222222"/>
                          </a:solidFill>
                          <a:latin typeface="맑은 고딕"/>
                        </a:rPr>
                        <a:t>상단 알림 아이콘으로 미확인 알림 패널을 열고 닫는다.</a:t>
                      </a:r>
                    </a:p>
                  </a:txBody>
                  <a:tcPr marL="27432" marR="27432" marT="4572" marB="4572" anchor="ctr">
                    <a:solidFill>
                      <a:srgbClr val="EEF3FB"/>
                    </a:solidFill>
                  </a:tcPr>
                </a:tc>
                <a:tc>
                  <a:txBody>
                    <a:bodyPr/>
                    <a:lstStyle/>
                    <a:p>
                      <a:pPr algn="ctr"/>
                      <a:r>
                        <a:rPr sz="540" b="0">
                          <a:solidFill>
                            <a:srgbClr val="222222"/>
                          </a:solidFill>
                          <a:latin typeface="맑은 고딕"/>
                        </a:rPr>
                        <a:t>알림</a:t>
                      </a:r>
                    </a:p>
                  </a:txBody>
                  <a:tcPr marL="27432" marR="27432" marT="4572" marB="4572" anchor="ctr">
                    <a:solidFill>
                      <a:srgbClr val="EEF3FB"/>
                    </a:solidFill>
                  </a:tcPr>
                </a:tc>
                <a:tc>
                  <a:txBody>
                    <a:bodyPr/>
                    <a:lstStyle/>
                    <a:p>
                      <a:pPr algn="ctr"/>
                      <a:r>
                        <a:rPr sz="540" b="0">
                          <a:solidFill>
                            <a:srgbClr val="222222"/>
                          </a:solidFill>
                          <a:latin typeface="맑은 고딕"/>
                        </a:rPr>
                        <a:t>REQ-WEB-016</a:t>
                      </a:r>
                    </a:p>
                  </a:txBody>
                  <a:tcPr marL="27432" marR="27432" marT="4572" marB="4572" anchor="ctr">
                    <a:solidFill>
                      <a:srgbClr val="EEF3FB"/>
                    </a:solidFill>
                  </a:tcPr>
                </a:tc>
                <a:extLst>
                  <a:ext uri="{0D108BD9-81ED-4DB2-BD59-A6C34878D82A}">
                    <a16:rowId xmlns:a16="http://schemas.microsoft.com/office/drawing/2014/main" val="10016"/>
                  </a:ext>
                </a:extLst>
              </a:tr>
              <a:tr h="261518">
                <a:tc>
                  <a:txBody>
                    <a:bodyPr/>
                    <a:lstStyle/>
                    <a:p>
                      <a:pPr algn="ctr"/>
                      <a:r>
                        <a:rPr sz="540" b="0">
                          <a:solidFill>
                            <a:srgbClr val="222222"/>
                          </a:solidFill>
                          <a:latin typeface="맑은 고딕"/>
                        </a:rPr>
                        <a:t>REQ-WEB-017</a:t>
                      </a:r>
                    </a:p>
                  </a:txBody>
                  <a:tcPr marL="27432" marR="27432" marT="4572" marB="4572" anchor="ctr">
                    <a:solidFill>
                      <a:srgbClr val="FFFFFF"/>
                    </a:solidFill>
                  </a:tcPr>
                </a:tc>
                <a:tc>
                  <a:txBody>
                    <a:bodyPr/>
                    <a:lstStyle/>
                    <a:p>
                      <a:pPr algn="l"/>
                      <a:r>
                        <a:rPr sz="540" b="0">
                          <a:solidFill>
                            <a:srgbClr val="222222"/>
                          </a:solidFill>
                          <a:latin typeface="맑은 고딕"/>
                        </a:rPr>
                        <a:t>메뉴 접기/펼치기</a:t>
                      </a:r>
                    </a:p>
                  </a:txBody>
                  <a:tcPr marL="27432" marR="27432" marT="4572" marB="4572" anchor="ctr">
                    <a:solidFill>
                      <a:srgbClr val="FFFFFF"/>
                    </a:solidFill>
                  </a:tcPr>
                </a:tc>
                <a:tc>
                  <a:txBody>
                    <a:bodyPr/>
                    <a:lstStyle/>
                    <a:p>
                      <a:pPr algn="l"/>
                      <a:r>
                        <a:rPr sz="540" b="0">
                          <a:solidFill>
                            <a:srgbClr val="222222"/>
                          </a:solidFill>
                          <a:latin typeface="맑은 고딕"/>
                        </a:rPr>
                        <a:t>사이드 메뉴 접기 버튼으로 데스크톱 내비게이션 폭을 전환한다.</a:t>
                      </a:r>
                    </a:p>
                  </a:txBody>
                  <a:tcPr marL="27432" marR="27432" marT="4572" marB="4572" anchor="ctr">
                    <a:solidFill>
                      <a:srgbClr val="FFFFFF"/>
                    </a:solidFill>
                  </a:tcPr>
                </a:tc>
                <a:tc>
                  <a:txBody>
                    <a:bodyPr/>
                    <a:lstStyle/>
                    <a:p>
                      <a:pPr algn="ctr"/>
                      <a:r>
                        <a:rPr sz="540" b="0">
                          <a:solidFill>
                            <a:srgbClr val="222222"/>
                          </a:solidFill>
                          <a:latin typeface="맑은 고딕"/>
                        </a:rPr>
                        <a:t>UI</a:t>
                      </a:r>
                    </a:p>
                  </a:txBody>
                  <a:tcPr marL="27432" marR="27432" marT="4572" marB="4572" anchor="ctr">
                    <a:solidFill>
                      <a:srgbClr val="FFFFFF"/>
                    </a:solidFill>
                  </a:tcPr>
                </a:tc>
                <a:tc>
                  <a:txBody>
                    <a:bodyPr/>
                    <a:lstStyle/>
                    <a:p>
                      <a:pPr algn="ctr"/>
                      <a:r>
                        <a:rPr sz="540" b="0">
                          <a:solidFill>
                            <a:srgbClr val="222222"/>
                          </a:solidFill>
                          <a:latin typeface="맑은 고딕"/>
                        </a:rPr>
                        <a:t>REQ-WEB-017</a:t>
                      </a:r>
                    </a:p>
                  </a:txBody>
                  <a:tcPr marL="27432" marR="27432" marT="4572" marB="4572" anchor="ctr">
                    <a:solidFill>
                      <a:srgbClr val="FFFFFF"/>
                    </a:solidFill>
                  </a:tcPr>
                </a:tc>
                <a:extLst>
                  <a:ext uri="{0D108BD9-81ED-4DB2-BD59-A6C34878D82A}">
                    <a16:rowId xmlns:a16="http://schemas.microsoft.com/office/drawing/2014/main" val="10017"/>
                  </a:ext>
                </a:extLst>
              </a:tr>
              <a:tr h="261518">
                <a:tc>
                  <a:txBody>
                    <a:bodyPr/>
                    <a:lstStyle/>
                    <a:p>
                      <a:pPr algn="ctr"/>
                      <a:r>
                        <a:rPr sz="540" b="0">
                          <a:solidFill>
                            <a:srgbClr val="222222"/>
                          </a:solidFill>
                          <a:latin typeface="맑은 고딕"/>
                        </a:rPr>
                        <a:t>REQ-WEB-018</a:t>
                      </a:r>
                    </a:p>
                  </a:txBody>
                  <a:tcPr marL="27432" marR="27432" marT="4572" marB="4572" anchor="ctr">
                    <a:solidFill>
                      <a:srgbClr val="EEF3FB"/>
                    </a:solidFill>
                  </a:tcPr>
                </a:tc>
                <a:tc>
                  <a:txBody>
                    <a:bodyPr/>
                    <a:lstStyle/>
                    <a:p>
                      <a:pPr algn="l"/>
                      <a:r>
                        <a:rPr sz="540" b="0">
                          <a:solidFill>
                            <a:srgbClr val="222222"/>
                          </a:solidFill>
                          <a:latin typeface="맑은 고딕"/>
                        </a:rPr>
                        <a:t>사이드바 메뉴 이동</a:t>
                      </a:r>
                    </a:p>
                  </a:txBody>
                  <a:tcPr marL="27432" marR="27432" marT="4572" marB="4572" anchor="ctr">
                    <a:solidFill>
                      <a:srgbClr val="EEF3FB"/>
                    </a:solidFill>
                  </a:tcPr>
                </a:tc>
                <a:tc>
                  <a:txBody>
                    <a:bodyPr/>
                    <a:lstStyle/>
                    <a:p>
                      <a:pPr algn="l"/>
                      <a:r>
                        <a:rPr sz="540" b="0">
                          <a:solidFill>
                            <a:srgbClr val="222222"/>
                          </a:solidFill>
                          <a:latin typeface="맑은 고딕"/>
                        </a:rPr>
                        <a:t>대시보드, 배터리 관리, 이상 탐지, 추세 차트, 이벤트 이력, 알림 센터, 공지사항, 릴레이 제어, 설정으로 이동한다.</a:t>
                      </a:r>
                    </a:p>
                  </a:txBody>
                  <a:tcPr marL="27432" marR="27432" marT="4572" marB="4572" anchor="ctr">
                    <a:solidFill>
                      <a:srgbClr val="EEF3FB"/>
                    </a:solidFill>
                  </a:tcPr>
                </a:tc>
                <a:tc>
                  <a:txBody>
                    <a:bodyPr/>
                    <a:lstStyle/>
                    <a:p>
                      <a:pPr algn="ctr"/>
                      <a:r>
                        <a:rPr sz="540" b="0">
                          <a:solidFill>
                            <a:srgbClr val="222222"/>
                          </a:solidFill>
                          <a:latin typeface="맑은 고딕"/>
                        </a:rPr>
                        <a:t>이동</a:t>
                      </a:r>
                    </a:p>
                  </a:txBody>
                  <a:tcPr marL="27432" marR="27432" marT="4572" marB="4572" anchor="ctr">
                    <a:solidFill>
                      <a:srgbClr val="EEF3FB"/>
                    </a:solidFill>
                  </a:tcPr>
                </a:tc>
                <a:tc>
                  <a:txBody>
                    <a:bodyPr/>
                    <a:lstStyle/>
                    <a:p>
                      <a:pPr algn="ctr"/>
                      <a:r>
                        <a:rPr sz="540" b="0">
                          <a:solidFill>
                            <a:srgbClr val="222222"/>
                          </a:solidFill>
                          <a:latin typeface="맑은 고딕"/>
                        </a:rPr>
                        <a:t>REQ-WEB-018</a:t>
                      </a:r>
                    </a:p>
                  </a:txBody>
                  <a:tcPr marL="27432" marR="27432" marT="4572" marB="4572" anchor="ctr">
                    <a:solidFill>
                      <a:srgbClr val="EEF3FB"/>
                    </a:solidFill>
                  </a:tcPr>
                </a:tc>
                <a:extLst>
                  <a:ext uri="{0D108BD9-81ED-4DB2-BD59-A6C34878D82A}">
                    <a16:rowId xmlns:a16="http://schemas.microsoft.com/office/drawing/2014/main" val="10018"/>
                  </a:ext>
                </a:extLst>
              </a:tr>
              <a:tr h="261518">
                <a:tc>
                  <a:txBody>
                    <a:bodyPr/>
                    <a:lstStyle/>
                    <a:p>
                      <a:pPr algn="ctr"/>
                      <a:r>
                        <a:rPr sz="540" b="0">
                          <a:solidFill>
                            <a:srgbClr val="222222"/>
                          </a:solidFill>
                          <a:latin typeface="맑은 고딕"/>
                        </a:rPr>
                        <a:t>REQ-WEB-019</a:t>
                      </a:r>
                    </a:p>
                  </a:txBody>
                  <a:tcPr marL="27432" marR="27432" marT="4572" marB="4572" anchor="ctr">
                    <a:solidFill>
                      <a:srgbClr val="FFFFFF"/>
                    </a:solidFill>
                  </a:tcPr>
                </a:tc>
                <a:tc>
                  <a:txBody>
                    <a:bodyPr/>
                    <a:lstStyle/>
                    <a:p>
                      <a:pPr algn="l"/>
                      <a:r>
                        <a:rPr sz="540" b="0">
                          <a:solidFill>
                            <a:srgbClr val="222222"/>
                          </a:solidFill>
                          <a:latin typeface="맑은 고딕"/>
                        </a:rPr>
                        <a:t>현재 연결 배터리 확인</a:t>
                      </a:r>
                    </a:p>
                  </a:txBody>
                  <a:tcPr marL="27432" marR="27432" marT="4572" marB="4572" anchor="ctr">
                    <a:solidFill>
                      <a:srgbClr val="FFFFFF"/>
                    </a:solidFill>
                  </a:tcPr>
                </a:tc>
                <a:tc>
                  <a:txBody>
                    <a:bodyPr/>
                    <a:lstStyle/>
                    <a:p>
                      <a:pPr algn="l"/>
                      <a:r>
                        <a:rPr sz="540" b="0">
                          <a:solidFill>
                            <a:srgbClr val="222222"/>
                          </a:solidFill>
                          <a:latin typeface="맑은 고딕"/>
                        </a:rPr>
                        <a:t>실시간 관제 화면에서 연결 배터리 ID와 측정 중 상태를 확인한다.</a:t>
                      </a:r>
                    </a:p>
                  </a:txBody>
                  <a:tcPr marL="27432" marR="27432" marT="4572" marB="4572" anchor="ctr">
                    <a:solidFill>
                      <a:srgbClr val="FFFFFF"/>
                    </a:solidFill>
                  </a:tcPr>
                </a:tc>
                <a:tc>
                  <a:txBody>
                    <a:bodyPr/>
                    <a:lstStyle/>
                    <a:p>
                      <a:pPr algn="ctr"/>
                      <a:r>
                        <a:rPr sz="540" b="0">
                          <a:solidFill>
                            <a:srgbClr val="222222"/>
                          </a:solidFill>
                          <a:latin typeface="맑은 고딕"/>
                        </a:rPr>
                        <a:t>상태</a:t>
                      </a:r>
                    </a:p>
                  </a:txBody>
                  <a:tcPr marL="27432" marR="27432" marT="4572" marB="4572" anchor="ctr">
                    <a:solidFill>
                      <a:srgbClr val="FFFFFF"/>
                    </a:solidFill>
                  </a:tcPr>
                </a:tc>
                <a:tc>
                  <a:txBody>
                    <a:bodyPr/>
                    <a:lstStyle/>
                    <a:p>
                      <a:pPr algn="ctr"/>
                      <a:r>
                        <a:rPr sz="540" b="0">
                          <a:solidFill>
                            <a:srgbClr val="222222"/>
                          </a:solidFill>
                          <a:latin typeface="맑은 고딕"/>
                        </a:rPr>
                        <a:t>REQ-WEB-019</a:t>
                      </a:r>
                    </a:p>
                  </a:txBody>
                  <a:tcPr marL="27432" marR="27432" marT="4572" marB="4572" anchor="ctr">
                    <a:solidFill>
                      <a:srgbClr val="FFFFFF"/>
                    </a:solidFill>
                  </a:tcPr>
                </a:tc>
                <a:extLst>
                  <a:ext uri="{0D108BD9-81ED-4DB2-BD59-A6C34878D82A}">
                    <a16:rowId xmlns:a16="http://schemas.microsoft.com/office/drawing/2014/main" val="10019"/>
                  </a:ext>
                </a:extLst>
              </a:tr>
            </a:tbl>
          </a:graphicData>
        </a:graphic>
      </p:graphicFrame>
      <p:graphicFrame>
        <p:nvGraphicFramePr>
          <p:cNvPr id="1028" name="Table 1027"/>
          <p:cNvGraphicFramePr>
            <a:graphicFrameLocks noGrp="1"/>
          </p:cNvGraphicFramePr>
          <p:nvPr/>
        </p:nvGraphicFramePr>
        <p:xfrm>
          <a:off x="4681728" y="1335024"/>
          <a:ext cx="4160519" cy="5230360"/>
        </p:xfrm>
        <a:graphic>
          <a:graphicData uri="http://schemas.openxmlformats.org/drawingml/2006/table">
            <a:tbl>
              <a:tblPr>
                <a:tableStyleId>{5C22544A-7EE6-4342-B048-85BDC9FD1C3A}</a:tableStyleId>
              </a:tblPr>
              <a:tblGrid>
                <a:gridCol w="655597">
                  <a:extLst>
                    <a:ext uri="{9D8B030D-6E8A-4147-A177-3AD203B41FA5}">
                      <a16:colId xmlns:a16="http://schemas.microsoft.com/office/drawing/2014/main" val="20000"/>
                    </a:ext>
                  </a:extLst>
                </a:gridCol>
                <a:gridCol w="868526">
                  <a:extLst>
                    <a:ext uri="{9D8B030D-6E8A-4147-A177-3AD203B41FA5}">
                      <a16:colId xmlns:a16="http://schemas.microsoft.com/office/drawing/2014/main" val="20001"/>
                    </a:ext>
                  </a:extLst>
                </a:gridCol>
                <a:gridCol w="1606306">
                  <a:extLst>
                    <a:ext uri="{9D8B030D-6E8A-4147-A177-3AD203B41FA5}">
                      <a16:colId xmlns:a16="http://schemas.microsoft.com/office/drawing/2014/main" val="20002"/>
                    </a:ext>
                  </a:extLst>
                </a:gridCol>
                <a:gridCol w="410915">
                  <a:extLst>
                    <a:ext uri="{9D8B030D-6E8A-4147-A177-3AD203B41FA5}">
                      <a16:colId xmlns:a16="http://schemas.microsoft.com/office/drawing/2014/main" val="20003"/>
                    </a:ext>
                  </a:extLst>
                </a:gridCol>
                <a:gridCol w="619175">
                  <a:extLst>
                    <a:ext uri="{9D8B030D-6E8A-4147-A177-3AD203B41FA5}">
                      <a16:colId xmlns:a16="http://schemas.microsoft.com/office/drawing/2014/main" val="20004"/>
                    </a:ext>
                  </a:extLst>
                </a:gridCol>
              </a:tblGrid>
              <a:tr h="261518">
                <a:tc>
                  <a:txBody>
                    <a:bodyPr/>
                    <a:lstStyle/>
                    <a:p>
                      <a:pPr algn="ctr"/>
                      <a:r>
                        <a:rPr sz="660" b="1">
                          <a:solidFill>
                            <a:srgbClr val="FFFFFF"/>
                          </a:solidFill>
                          <a:latin typeface="맑은 고딕"/>
                        </a:rPr>
                        <a:t>요구사항 ID</a:t>
                      </a:r>
                    </a:p>
                  </a:txBody>
                  <a:tcPr marL="27432" marR="27432" marT="4572" marB="4572" anchor="ctr">
                    <a:solidFill>
                      <a:srgbClr val="3B5AA8"/>
                    </a:solidFill>
                  </a:tcPr>
                </a:tc>
                <a:tc>
                  <a:txBody>
                    <a:bodyPr/>
                    <a:lstStyle/>
                    <a:p>
                      <a:pPr algn="ctr"/>
                      <a:r>
                        <a:rPr sz="660" b="1">
                          <a:solidFill>
                            <a:srgbClr val="FFFFFF"/>
                          </a:solidFill>
                          <a:latin typeface="맑은 고딕"/>
                        </a:rPr>
                        <a:t>요구사항명</a:t>
                      </a:r>
                    </a:p>
                  </a:txBody>
                  <a:tcPr marL="27432" marR="27432" marT="4572" marB="4572" anchor="ctr">
                    <a:solidFill>
                      <a:srgbClr val="3B5AA8"/>
                    </a:solidFill>
                  </a:tcPr>
                </a:tc>
                <a:tc>
                  <a:txBody>
                    <a:bodyPr/>
                    <a:lstStyle/>
                    <a:p>
                      <a:pPr algn="ctr"/>
                      <a:r>
                        <a:rPr sz="660" b="1">
                          <a:solidFill>
                            <a:srgbClr val="FFFFFF"/>
                          </a:solidFill>
                          <a:latin typeface="맑은 고딕"/>
                        </a:rPr>
                        <a:t>요구사항 상세설명</a:t>
                      </a:r>
                    </a:p>
                  </a:txBody>
                  <a:tcPr marL="27432" marR="27432" marT="4572" marB="4572" anchor="ctr">
                    <a:solidFill>
                      <a:srgbClr val="3B5AA8"/>
                    </a:solidFill>
                  </a:tcPr>
                </a:tc>
                <a:tc>
                  <a:txBody>
                    <a:bodyPr/>
                    <a:lstStyle/>
                    <a:p>
                      <a:pPr algn="ctr"/>
                      <a:r>
                        <a:rPr sz="660" b="1">
                          <a:solidFill>
                            <a:srgbClr val="FFFFFF"/>
                          </a:solidFill>
                          <a:latin typeface="맑은 고딕"/>
                        </a:rPr>
                        <a:t>중요도</a:t>
                      </a:r>
                    </a:p>
                  </a:txBody>
                  <a:tcPr marL="27432" marR="27432" marT="4572" marB="4572" anchor="ctr">
                    <a:solidFill>
                      <a:srgbClr val="3B5AA8"/>
                    </a:solidFill>
                  </a:tcPr>
                </a:tc>
                <a:tc>
                  <a:txBody>
                    <a:bodyPr/>
                    <a:lstStyle/>
                    <a:p>
                      <a:pPr algn="ctr"/>
                      <a:r>
                        <a:rPr sz="660" b="1">
                          <a:solidFill>
                            <a:srgbClr val="FFFFFF"/>
                          </a:solidFill>
                          <a:latin typeface="맑은 고딕"/>
                        </a:rPr>
                        <a:t>비고</a:t>
                      </a:r>
                    </a:p>
                  </a:txBody>
                  <a:tcPr marL="27432" marR="27432" marT="4572" marB="4572" anchor="ctr">
                    <a:solidFill>
                      <a:srgbClr val="3B5AA8"/>
                    </a:solidFill>
                  </a:tcPr>
                </a:tc>
                <a:extLst>
                  <a:ext uri="{0D108BD9-81ED-4DB2-BD59-A6C34878D82A}">
                    <a16:rowId xmlns:a16="http://schemas.microsoft.com/office/drawing/2014/main" val="10000"/>
                  </a:ext>
                </a:extLst>
              </a:tr>
              <a:tr h="261518">
                <a:tc>
                  <a:txBody>
                    <a:bodyPr/>
                    <a:lstStyle/>
                    <a:p>
                      <a:pPr algn="ctr"/>
                      <a:r>
                        <a:rPr sz="540" b="0">
                          <a:solidFill>
                            <a:srgbClr val="222222"/>
                          </a:solidFill>
                          <a:latin typeface="맑은 고딕"/>
                        </a:rPr>
                        <a:t>REQ-WEB-020</a:t>
                      </a:r>
                    </a:p>
                  </a:txBody>
                  <a:tcPr marL="27432" marR="27432" marT="4572" marB="4572" anchor="ctr">
                    <a:solidFill>
                      <a:srgbClr val="FFFFFF"/>
                    </a:solidFill>
                  </a:tcPr>
                </a:tc>
                <a:tc>
                  <a:txBody>
                    <a:bodyPr/>
                    <a:lstStyle/>
                    <a:p>
                      <a:pPr algn="l"/>
                      <a:r>
                        <a:rPr sz="540" b="0">
                          <a:solidFill>
                            <a:srgbClr val="222222"/>
                          </a:solidFill>
                          <a:latin typeface="맑은 고딕"/>
                        </a:rPr>
                        <a:t>배터리 변경</a:t>
                      </a:r>
                    </a:p>
                  </a:txBody>
                  <a:tcPr marL="27432" marR="27432" marT="4572" marB="4572" anchor="ctr">
                    <a:solidFill>
                      <a:srgbClr val="FFFFFF"/>
                    </a:solidFill>
                  </a:tcPr>
                </a:tc>
                <a:tc>
                  <a:txBody>
                    <a:bodyPr/>
                    <a:lstStyle/>
                    <a:p>
                      <a:pPr algn="l"/>
                      <a:r>
                        <a:rPr sz="540" b="0">
                          <a:solidFill>
                            <a:srgbClr val="222222"/>
                          </a:solidFill>
                          <a:latin typeface="맑은 고딕"/>
                        </a:rPr>
                        <a:t>대시보드의 배터리 변경 버튼으로 저장된 배터리 선택 흐름을 연다.</a:t>
                      </a:r>
                    </a:p>
                  </a:txBody>
                  <a:tcPr marL="27432" marR="27432" marT="4572" marB="4572" anchor="ctr">
                    <a:solidFill>
                      <a:srgbClr val="FFFFFF"/>
                    </a:solidFill>
                  </a:tcPr>
                </a:tc>
                <a:tc>
                  <a:txBody>
                    <a:bodyPr/>
                    <a:lstStyle/>
                    <a:p>
                      <a:pPr algn="ctr"/>
                      <a:r>
                        <a:rPr sz="540" b="0">
                          <a:solidFill>
                            <a:srgbClr val="222222"/>
                          </a:solidFill>
                          <a:latin typeface="맑은 고딕"/>
                        </a:rPr>
                        <a:t>변경</a:t>
                      </a:r>
                    </a:p>
                  </a:txBody>
                  <a:tcPr marL="27432" marR="27432" marT="4572" marB="4572" anchor="ctr">
                    <a:solidFill>
                      <a:srgbClr val="FFFFFF"/>
                    </a:solidFill>
                  </a:tcPr>
                </a:tc>
                <a:tc>
                  <a:txBody>
                    <a:bodyPr/>
                    <a:lstStyle/>
                    <a:p>
                      <a:pPr algn="ctr"/>
                      <a:r>
                        <a:rPr sz="540" b="0">
                          <a:solidFill>
                            <a:srgbClr val="222222"/>
                          </a:solidFill>
                          <a:latin typeface="맑은 고딕"/>
                        </a:rPr>
                        <a:t>REQ-WEB-020</a:t>
                      </a:r>
                    </a:p>
                  </a:txBody>
                  <a:tcPr marL="27432" marR="27432" marT="4572" marB="4572" anchor="ctr">
                    <a:solidFill>
                      <a:srgbClr val="FFFFFF"/>
                    </a:solidFill>
                  </a:tcPr>
                </a:tc>
                <a:extLst>
                  <a:ext uri="{0D108BD9-81ED-4DB2-BD59-A6C34878D82A}">
                    <a16:rowId xmlns:a16="http://schemas.microsoft.com/office/drawing/2014/main" val="10001"/>
                  </a:ext>
                </a:extLst>
              </a:tr>
              <a:tr h="261518">
                <a:tc>
                  <a:txBody>
                    <a:bodyPr/>
                    <a:lstStyle/>
                    <a:p>
                      <a:pPr algn="ctr"/>
                      <a:r>
                        <a:rPr sz="540" b="0">
                          <a:solidFill>
                            <a:srgbClr val="222222"/>
                          </a:solidFill>
                          <a:latin typeface="맑은 고딕"/>
                        </a:rPr>
                        <a:t>REQ-WEB-021</a:t>
                      </a:r>
                    </a:p>
                  </a:txBody>
                  <a:tcPr marL="27432" marR="27432" marT="4572" marB="4572" anchor="ctr">
                    <a:solidFill>
                      <a:srgbClr val="EEF3FB"/>
                    </a:solidFill>
                  </a:tcPr>
                </a:tc>
                <a:tc>
                  <a:txBody>
                    <a:bodyPr/>
                    <a:lstStyle/>
                    <a:p>
                      <a:pPr algn="l"/>
                      <a:r>
                        <a:rPr sz="540" b="0">
                          <a:solidFill>
                            <a:srgbClr val="222222"/>
                          </a:solidFill>
                          <a:latin typeface="맑은 고딕"/>
                        </a:rPr>
                        <a:t>이상점수 확인</a:t>
                      </a:r>
                    </a:p>
                  </a:txBody>
                  <a:tcPr marL="27432" marR="27432" marT="4572" marB="4572" anchor="ctr">
                    <a:solidFill>
                      <a:srgbClr val="EEF3FB"/>
                    </a:solidFill>
                  </a:tcPr>
                </a:tc>
                <a:tc>
                  <a:txBody>
                    <a:bodyPr/>
                    <a:lstStyle/>
                    <a:p>
                      <a:pPr algn="l"/>
                      <a:r>
                        <a:rPr sz="540" b="0">
                          <a:solidFill>
                            <a:srgbClr val="222222"/>
                          </a:solidFill>
                          <a:latin typeface="맑은 고딕"/>
                        </a:rPr>
                        <a:t>현재 이상점수, 정상·주의·위험 구간, 점수 추세를 확인한다.</a:t>
                      </a:r>
                    </a:p>
                  </a:txBody>
                  <a:tcPr marL="27432" marR="27432" marT="4572" marB="4572" anchor="ctr">
                    <a:solidFill>
                      <a:srgbClr val="EEF3FB"/>
                    </a:solidFill>
                  </a:tcPr>
                </a:tc>
                <a:tc>
                  <a:txBody>
                    <a:bodyPr/>
                    <a:lstStyle/>
                    <a:p>
                      <a:pPr algn="ctr"/>
                      <a:r>
                        <a:rPr sz="540" b="0">
                          <a:solidFill>
                            <a:srgbClr val="222222"/>
                          </a:solidFill>
                          <a:latin typeface="맑은 고딕"/>
                        </a:rPr>
                        <a:t>이상탐지</a:t>
                      </a:r>
                    </a:p>
                  </a:txBody>
                  <a:tcPr marL="27432" marR="27432" marT="4572" marB="4572" anchor="ctr">
                    <a:solidFill>
                      <a:srgbClr val="EEF3FB"/>
                    </a:solidFill>
                  </a:tcPr>
                </a:tc>
                <a:tc>
                  <a:txBody>
                    <a:bodyPr/>
                    <a:lstStyle/>
                    <a:p>
                      <a:pPr algn="ctr"/>
                      <a:r>
                        <a:rPr sz="540" b="0">
                          <a:solidFill>
                            <a:srgbClr val="222222"/>
                          </a:solidFill>
                          <a:latin typeface="맑은 고딕"/>
                        </a:rPr>
                        <a:t>REQ-WEB-021</a:t>
                      </a:r>
                    </a:p>
                  </a:txBody>
                  <a:tcPr marL="27432" marR="27432" marT="4572" marB="4572" anchor="ctr">
                    <a:solidFill>
                      <a:srgbClr val="EEF3FB"/>
                    </a:solidFill>
                  </a:tcPr>
                </a:tc>
                <a:extLst>
                  <a:ext uri="{0D108BD9-81ED-4DB2-BD59-A6C34878D82A}">
                    <a16:rowId xmlns:a16="http://schemas.microsoft.com/office/drawing/2014/main" val="10002"/>
                  </a:ext>
                </a:extLst>
              </a:tr>
              <a:tr h="261518">
                <a:tc>
                  <a:txBody>
                    <a:bodyPr/>
                    <a:lstStyle/>
                    <a:p>
                      <a:pPr algn="ctr"/>
                      <a:r>
                        <a:rPr sz="540" b="0">
                          <a:solidFill>
                            <a:srgbClr val="222222"/>
                          </a:solidFill>
                          <a:latin typeface="맑은 고딕"/>
                        </a:rPr>
                        <a:t>REQ-WEB-022</a:t>
                      </a:r>
                    </a:p>
                  </a:txBody>
                  <a:tcPr marL="27432" marR="27432" marT="4572" marB="4572" anchor="ctr">
                    <a:solidFill>
                      <a:srgbClr val="FFFFFF"/>
                    </a:solidFill>
                  </a:tcPr>
                </a:tc>
                <a:tc>
                  <a:txBody>
                    <a:bodyPr/>
                    <a:lstStyle/>
                    <a:p>
                      <a:pPr algn="l"/>
                      <a:r>
                        <a:rPr sz="540" b="0">
                          <a:solidFill>
                            <a:srgbClr val="222222"/>
                          </a:solidFill>
                          <a:latin typeface="맑은 고딕"/>
                        </a:rPr>
                        <a:t>이상 탐지 화면 이동</a:t>
                      </a:r>
                    </a:p>
                  </a:txBody>
                  <a:tcPr marL="27432" marR="27432" marT="4572" marB="4572" anchor="ctr">
                    <a:solidFill>
                      <a:srgbClr val="FFFFFF"/>
                    </a:solidFill>
                  </a:tcPr>
                </a:tc>
                <a:tc>
                  <a:txBody>
                    <a:bodyPr/>
                    <a:lstStyle/>
                    <a:p>
                      <a:pPr algn="l"/>
                      <a:r>
                        <a:rPr sz="540" b="0">
                          <a:solidFill>
                            <a:srgbClr val="222222"/>
                          </a:solidFill>
                          <a:latin typeface="맑은 고딕"/>
                        </a:rPr>
                        <a:t>대시보드 이상점수 영역에서 이상 탐지 관리 화면으로 이동한다.</a:t>
                      </a:r>
                    </a:p>
                  </a:txBody>
                  <a:tcPr marL="27432" marR="27432" marT="4572" marB="4572" anchor="ctr">
                    <a:solidFill>
                      <a:srgbClr val="FFFFFF"/>
                    </a:solidFill>
                  </a:tcPr>
                </a:tc>
                <a:tc>
                  <a:txBody>
                    <a:bodyPr/>
                    <a:lstStyle/>
                    <a:p>
                      <a:pPr algn="ctr"/>
                      <a:r>
                        <a:rPr sz="540" b="0">
                          <a:solidFill>
                            <a:srgbClr val="222222"/>
                          </a:solidFill>
                          <a:latin typeface="맑은 고딕"/>
                        </a:rPr>
                        <a:t>이동</a:t>
                      </a:r>
                    </a:p>
                  </a:txBody>
                  <a:tcPr marL="27432" marR="27432" marT="4572" marB="4572" anchor="ctr">
                    <a:solidFill>
                      <a:srgbClr val="FFFFFF"/>
                    </a:solidFill>
                  </a:tcPr>
                </a:tc>
                <a:tc>
                  <a:txBody>
                    <a:bodyPr/>
                    <a:lstStyle/>
                    <a:p>
                      <a:pPr algn="ctr"/>
                      <a:r>
                        <a:rPr sz="540" b="0">
                          <a:solidFill>
                            <a:srgbClr val="222222"/>
                          </a:solidFill>
                          <a:latin typeface="맑은 고딕"/>
                        </a:rPr>
                        <a:t>REQ-WEB-022</a:t>
                      </a:r>
                    </a:p>
                  </a:txBody>
                  <a:tcPr marL="27432" marR="27432" marT="4572" marB="4572" anchor="ctr">
                    <a:solidFill>
                      <a:srgbClr val="FFFFFF"/>
                    </a:solidFill>
                  </a:tcPr>
                </a:tc>
                <a:extLst>
                  <a:ext uri="{0D108BD9-81ED-4DB2-BD59-A6C34878D82A}">
                    <a16:rowId xmlns:a16="http://schemas.microsoft.com/office/drawing/2014/main" val="10003"/>
                  </a:ext>
                </a:extLst>
              </a:tr>
              <a:tr h="261518">
                <a:tc>
                  <a:txBody>
                    <a:bodyPr/>
                    <a:lstStyle/>
                    <a:p>
                      <a:pPr algn="ctr"/>
                      <a:r>
                        <a:rPr sz="540" b="0">
                          <a:solidFill>
                            <a:srgbClr val="222222"/>
                          </a:solidFill>
                          <a:latin typeface="맑은 고딕"/>
                        </a:rPr>
                        <a:t>REQ-WEB-023</a:t>
                      </a:r>
                    </a:p>
                  </a:txBody>
                  <a:tcPr marL="27432" marR="27432" marT="4572" marB="4572" anchor="ctr">
                    <a:solidFill>
                      <a:srgbClr val="EEF3FB"/>
                    </a:solidFill>
                  </a:tcPr>
                </a:tc>
                <a:tc>
                  <a:txBody>
                    <a:bodyPr/>
                    <a:lstStyle/>
                    <a:p>
                      <a:pPr algn="l"/>
                      <a:r>
                        <a:rPr sz="540" b="0">
                          <a:solidFill>
                            <a:srgbClr val="222222"/>
                          </a:solidFill>
                          <a:latin typeface="맑은 고딕"/>
                        </a:rPr>
                        <a:t>릴레이 차단 진입</a:t>
                      </a:r>
                    </a:p>
                  </a:txBody>
                  <a:tcPr marL="27432" marR="27432" marT="4572" marB="4572" anchor="ctr">
                    <a:solidFill>
                      <a:srgbClr val="EEF3FB"/>
                    </a:solidFill>
                  </a:tcPr>
                </a:tc>
                <a:tc>
                  <a:txBody>
                    <a:bodyPr/>
                    <a:lstStyle/>
                    <a:p>
                      <a:pPr algn="l"/>
                      <a:r>
                        <a:rPr sz="540" b="0">
                          <a:solidFill>
                            <a:srgbClr val="222222"/>
                          </a:solidFill>
                          <a:latin typeface="맑은 고딕"/>
                        </a:rPr>
                        <a:t>대시보드의 릴레이 차단 버튼으로 Kill-Switch 승인 흐름에 진입한다.</a:t>
                      </a:r>
                    </a:p>
                  </a:txBody>
                  <a:tcPr marL="27432" marR="27432" marT="4572" marB="4572" anchor="ctr">
                    <a:solidFill>
                      <a:srgbClr val="EEF3FB"/>
                    </a:solidFill>
                  </a:tcPr>
                </a:tc>
                <a:tc>
                  <a:txBody>
                    <a:bodyPr/>
                    <a:lstStyle/>
                    <a:p>
                      <a:pPr algn="ctr"/>
                      <a:r>
                        <a:rPr sz="540" b="0">
                          <a:solidFill>
                            <a:srgbClr val="222222"/>
                          </a:solidFill>
                          <a:latin typeface="맑은 고딕"/>
                        </a:rPr>
                        <a:t>제어</a:t>
                      </a:r>
                    </a:p>
                  </a:txBody>
                  <a:tcPr marL="27432" marR="27432" marT="4572" marB="4572" anchor="ctr">
                    <a:solidFill>
                      <a:srgbClr val="EEF3FB"/>
                    </a:solidFill>
                  </a:tcPr>
                </a:tc>
                <a:tc>
                  <a:txBody>
                    <a:bodyPr/>
                    <a:lstStyle/>
                    <a:p>
                      <a:pPr algn="ctr"/>
                      <a:r>
                        <a:rPr sz="540" b="0">
                          <a:solidFill>
                            <a:srgbClr val="222222"/>
                          </a:solidFill>
                          <a:latin typeface="맑은 고딕"/>
                        </a:rPr>
                        <a:t>REQ-WEB-023</a:t>
                      </a:r>
                    </a:p>
                  </a:txBody>
                  <a:tcPr marL="27432" marR="27432" marT="4572" marB="4572" anchor="ctr">
                    <a:solidFill>
                      <a:srgbClr val="EEF3FB"/>
                    </a:solidFill>
                  </a:tcPr>
                </a:tc>
                <a:extLst>
                  <a:ext uri="{0D108BD9-81ED-4DB2-BD59-A6C34878D82A}">
                    <a16:rowId xmlns:a16="http://schemas.microsoft.com/office/drawing/2014/main" val="10004"/>
                  </a:ext>
                </a:extLst>
              </a:tr>
              <a:tr h="261518">
                <a:tc>
                  <a:txBody>
                    <a:bodyPr/>
                    <a:lstStyle/>
                    <a:p>
                      <a:pPr algn="ctr"/>
                      <a:r>
                        <a:rPr sz="540" b="0">
                          <a:solidFill>
                            <a:srgbClr val="222222"/>
                          </a:solidFill>
                          <a:latin typeface="맑은 고딕"/>
                        </a:rPr>
                        <a:t>REQ-WEB-024</a:t>
                      </a:r>
                    </a:p>
                  </a:txBody>
                  <a:tcPr marL="27432" marR="27432" marT="4572" marB="4572" anchor="ctr">
                    <a:solidFill>
                      <a:srgbClr val="FFFFFF"/>
                    </a:solidFill>
                  </a:tcPr>
                </a:tc>
                <a:tc>
                  <a:txBody>
                    <a:bodyPr/>
                    <a:lstStyle/>
                    <a:p>
                      <a:pPr algn="l"/>
                      <a:r>
                        <a:rPr sz="540" b="0">
                          <a:solidFill>
                            <a:srgbClr val="222222"/>
                          </a:solidFill>
                          <a:latin typeface="맑은 고딕"/>
                        </a:rPr>
                        <a:t>계측 현재값 확인</a:t>
                      </a:r>
                    </a:p>
                  </a:txBody>
                  <a:tcPr marL="27432" marR="27432" marT="4572" marB="4572" anchor="ctr">
                    <a:solidFill>
                      <a:srgbClr val="FFFFFF"/>
                    </a:solidFill>
                  </a:tcPr>
                </a:tc>
                <a:tc>
                  <a:txBody>
                    <a:bodyPr/>
                    <a:lstStyle/>
                    <a:p>
                      <a:pPr algn="l"/>
                      <a:r>
                        <a:rPr sz="540" b="0">
                          <a:solidFill>
                            <a:srgbClr val="222222"/>
                          </a:solidFill>
                          <a:latin typeface="맑은 고딕"/>
                        </a:rPr>
                        <a:t>전압, 전류, 온도, SOC 현재값 카드와 정상·주의·위험 상태를 확인한다.</a:t>
                      </a:r>
                    </a:p>
                  </a:txBody>
                  <a:tcPr marL="27432" marR="27432" marT="4572" marB="4572" anchor="ctr">
                    <a:solidFill>
                      <a:srgbClr val="FFFFFF"/>
                    </a:solidFill>
                  </a:tcPr>
                </a:tc>
                <a:tc>
                  <a:txBody>
                    <a:bodyPr/>
                    <a:lstStyle/>
                    <a:p>
                      <a:pPr algn="ctr"/>
                      <a:r>
                        <a:rPr sz="540" b="0">
                          <a:solidFill>
                            <a:srgbClr val="222222"/>
                          </a:solidFill>
                          <a:latin typeface="맑은 고딕"/>
                        </a:rPr>
                        <a:t>계측</a:t>
                      </a:r>
                    </a:p>
                  </a:txBody>
                  <a:tcPr marL="27432" marR="27432" marT="4572" marB="4572" anchor="ctr">
                    <a:solidFill>
                      <a:srgbClr val="FFFFFF"/>
                    </a:solidFill>
                  </a:tcPr>
                </a:tc>
                <a:tc>
                  <a:txBody>
                    <a:bodyPr/>
                    <a:lstStyle/>
                    <a:p>
                      <a:pPr algn="ctr"/>
                      <a:r>
                        <a:rPr sz="540" b="0">
                          <a:solidFill>
                            <a:srgbClr val="222222"/>
                          </a:solidFill>
                          <a:latin typeface="맑은 고딕"/>
                        </a:rPr>
                        <a:t>REQ-WEB-024</a:t>
                      </a:r>
                    </a:p>
                  </a:txBody>
                  <a:tcPr marL="27432" marR="27432" marT="4572" marB="4572" anchor="ctr">
                    <a:solidFill>
                      <a:srgbClr val="FFFFFF"/>
                    </a:solidFill>
                  </a:tcPr>
                </a:tc>
                <a:extLst>
                  <a:ext uri="{0D108BD9-81ED-4DB2-BD59-A6C34878D82A}">
                    <a16:rowId xmlns:a16="http://schemas.microsoft.com/office/drawing/2014/main" val="10005"/>
                  </a:ext>
                </a:extLst>
              </a:tr>
              <a:tr h="261518">
                <a:tc>
                  <a:txBody>
                    <a:bodyPr/>
                    <a:lstStyle/>
                    <a:p>
                      <a:pPr algn="ctr"/>
                      <a:r>
                        <a:rPr sz="540" b="0">
                          <a:solidFill>
                            <a:srgbClr val="222222"/>
                          </a:solidFill>
                          <a:latin typeface="맑은 고딕"/>
                        </a:rPr>
                        <a:t>REQ-WEB-025</a:t>
                      </a:r>
                    </a:p>
                  </a:txBody>
                  <a:tcPr marL="27432" marR="27432" marT="4572" marB="4572" anchor="ctr">
                    <a:solidFill>
                      <a:srgbClr val="EEF3FB"/>
                    </a:solidFill>
                  </a:tcPr>
                </a:tc>
                <a:tc>
                  <a:txBody>
                    <a:bodyPr/>
                    <a:lstStyle/>
                    <a:p>
                      <a:pPr algn="l"/>
                      <a:r>
                        <a:rPr sz="540" b="0">
                          <a:solidFill>
                            <a:srgbClr val="222222"/>
                          </a:solidFill>
                          <a:latin typeface="맑은 고딕"/>
                        </a:rPr>
                        <a:t>위험도 분포 확인</a:t>
                      </a:r>
                    </a:p>
                  </a:txBody>
                  <a:tcPr marL="27432" marR="27432" marT="4572" marB="4572" anchor="ctr">
                    <a:solidFill>
                      <a:srgbClr val="EEF3FB"/>
                    </a:solidFill>
                  </a:tcPr>
                </a:tc>
                <a:tc>
                  <a:txBody>
                    <a:bodyPr/>
                    <a:lstStyle/>
                    <a:p>
                      <a:pPr algn="l"/>
                      <a:r>
                        <a:rPr sz="540" b="0">
                          <a:solidFill>
                            <a:srgbClr val="222222"/>
                          </a:solidFill>
                          <a:latin typeface="맑은 고딕"/>
                        </a:rPr>
                        <a:t>정상, 주의, 경고, 위험 구간별 배터리 분포를 확인한다.</a:t>
                      </a:r>
                    </a:p>
                  </a:txBody>
                  <a:tcPr marL="27432" marR="27432" marT="4572" marB="4572" anchor="ctr">
                    <a:solidFill>
                      <a:srgbClr val="EEF3FB"/>
                    </a:solidFill>
                  </a:tcPr>
                </a:tc>
                <a:tc>
                  <a:txBody>
                    <a:bodyPr/>
                    <a:lstStyle/>
                    <a:p>
                      <a:pPr algn="ctr"/>
                      <a:r>
                        <a:rPr sz="540" b="0">
                          <a:solidFill>
                            <a:srgbClr val="222222"/>
                          </a:solidFill>
                          <a:latin typeface="맑은 고딕"/>
                        </a:rPr>
                        <a:t>상태</a:t>
                      </a:r>
                    </a:p>
                  </a:txBody>
                  <a:tcPr marL="27432" marR="27432" marT="4572" marB="4572" anchor="ctr">
                    <a:solidFill>
                      <a:srgbClr val="EEF3FB"/>
                    </a:solidFill>
                  </a:tcPr>
                </a:tc>
                <a:tc>
                  <a:txBody>
                    <a:bodyPr/>
                    <a:lstStyle/>
                    <a:p>
                      <a:pPr algn="ctr"/>
                      <a:r>
                        <a:rPr sz="540" b="0">
                          <a:solidFill>
                            <a:srgbClr val="222222"/>
                          </a:solidFill>
                          <a:latin typeface="맑은 고딕"/>
                        </a:rPr>
                        <a:t>REQ-WEB-025</a:t>
                      </a:r>
                    </a:p>
                  </a:txBody>
                  <a:tcPr marL="27432" marR="27432" marT="4572" marB="4572" anchor="ctr">
                    <a:solidFill>
                      <a:srgbClr val="EEF3FB"/>
                    </a:solidFill>
                  </a:tcPr>
                </a:tc>
                <a:extLst>
                  <a:ext uri="{0D108BD9-81ED-4DB2-BD59-A6C34878D82A}">
                    <a16:rowId xmlns:a16="http://schemas.microsoft.com/office/drawing/2014/main" val="10006"/>
                  </a:ext>
                </a:extLst>
              </a:tr>
              <a:tr h="261518">
                <a:tc>
                  <a:txBody>
                    <a:bodyPr/>
                    <a:lstStyle/>
                    <a:p>
                      <a:pPr algn="ctr"/>
                      <a:r>
                        <a:rPr sz="540" b="0">
                          <a:solidFill>
                            <a:srgbClr val="222222"/>
                          </a:solidFill>
                          <a:latin typeface="맑은 고딕"/>
                        </a:rPr>
                        <a:t>REQ-WEB-026</a:t>
                      </a:r>
                    </a:p>
                  </a:txBody>
                  <a:tcPr marL="27432" marR="27432" marT="4572" marB="4572" anchor="ctr">
                    <a:solidFill>
                      <a:srgbClr val="FFFFFF"/>
                    </a:solidFill>
                  </a:tcPr>
                </a:tc>
                <a:tc>
                  <a:txBody>
                    <a:bodyPr/>
                    <a:lstStyle/>
                    <a:p>
                      <a:pPr algn="l"/>
                      <a:r>
                        <a:rPr sz="540" b="0">
                          <a:solidFill>
                            <a:srgbClr val="222222"/>
                          </a:solidFill>
                          <a:latin typeface="맑은 고딕"/>
                        </a:rPr>
                        <a:t>최근 이벤트 확인</a:t>
                      </a:r>
                    </a:p>
                  </a:txBody>
                  <a:tcPr marL="27432" marR="27432" marT="4572" marB="4572" anchor="ctr">
                    <a:solidFill>
                      <a:srgbClr val="FFFFFF"/>
                    </a:solidFill>
                  </a:tcPr>
                </a:tc>
                <a:tc>
                  <a:txBody>
                    <a:bodyPr/>
                    <a:lstStyle/>
                    <a:p>
                      <a:pPr algn="l"/>
                      <a:r>
                        <a:rPr sz="540" b="0">
                          <a:solidFill>
                            <a:srgbClr val="222222"/>
                          </a:solidFill>
                          <a:latin typeface="맑은 고딕"/>
                        </a:rPr>
                        <a:t>대시보드에서 최근 이상 이벤트와 발생 시간을 확인한다.</a:t>
                      </a:r>
                    </a:p>
                  </a:txBody>
                  <a:tcPr marL="27432" marR="27432" marT="4572" marB="4572" anchor="ctr">
                    <a:solidFill>
                      <a:srgbClr val="FFFFFF"/>
                    </a:solidFill>
                  </a:tcPr>
                </a:tc>
                <a:tc>
                  <a:txBody>
                    <a:bodyPr/>
                    <a:lstStyle/>
                    <a:p>
                      <a:pPr algn="ctr"/>
                      <a:r>
                        <a:rPr sz="540" b="0">
                          <a:solidFill>
                            <a:srgbClr val="222222"/>
                          </a:solidFill>
                          <a:latin typeface="맑은 고딕"/>
                        </a:rPr>
                        <a:t>조회</a:t>
                      </a:r>
                    </a:p>
                  </a:txBody>
                  <a:tcPr marL="27432" marR="27432" marT="4572" marB="4572" anchor="ctr">
                    <a:solidFill>
                      <a:srgbClr val="FFFFFF"/>
                    </a:solidFill>
                  </a:tcPr>
                </a:tc>
                <a:tc>
                  <a:txBody>
                    <a:bodyPr/>
                    <a:lstStyle/>
                    <a:p>
                      <a:pPr algn="ctr"/>
                      <a:r>
                        <a:rPr sz="540" b="0">
                          <a:solidFill>
                            <a:srgbClr val="222222"/>
                          </a:solidFill>
                          <a:latin typeface="맑은 고딕"/>
                        </a:rPr>
                        <a:t>REQ-WEB-026</a:t>
                      </a:r>
                    </a:p>
                  </a:txBody>
                  <a:tcPr marL="27432" marR="27432" marT="4572" marB="4572" anchor="ctr">
                    <a:solidFill>
                      <a:srgbClr val="FFFFFF"/>
                    </a:solidFill>
                  </a:tcPr>
                </a:tc>
                <a:extLst>
                  <a:ext uri="{0D108BD9-81ED-4DB2-BD59-A6C34878D82A}">
                    <a16:rowId xmlns:a16="http://schemas.microsoft.com/office/drawing/2014/main" val="10007"/>
                  </a:ext>
                </a:extLst>
              </a:tr>
              <a:tr h="261518">
                <a:tc>
                  <a:txBody>
                    <a:bodyPr/>
                    <a:lstStyle/>
                    <a:p>
                      <a:pPr algn="ctr"/>
                      <a:r>
                        <a:rPr sz="540" b="0">
                          <a:solidFill>
                            <a:srgbClr val="222222"/>
                          </a:solidFill>
                          <a:latin typeface="맑은 고딕"/>
                        </a:rPr>
                        <a:t>REQ-WEB-027</a:t>
                      </a:r>
                    </a:p>
                  </a:txBody>
                  <a:tcPr marL="27432" marR="27432" marT="4572" marB="4572" anchor="ctr">
                    <a:solidFill>
                      <a:srgbClr val="EEF3FB"/>
                    </a:solidFill>
                  </a:tcPr>
                </a:tc>
                <a:tc>
                  <a:txBody>
                    <a:bodyPr/>
                    <a:lstStyle/>
                    <a:p>
                      <a:pPr algn="l"/>
                      <a:r>
                        <a:rPr sz="540" b="0">
                          <a:solidFill>
                            <a:srgbClr val="222222"/>
                          </a:solidFill>
                          <a:latin typeface="맑은 고딕"/>
                        </a:rPr>
                        <a:t>알림 센터 전체 보기</a:t>
                      </a:r>
                    </a:p>
                  </a:txBody>
                  <a:tcPr marL="27432" marR="27432" marT="4572" marB="4572" anchor="ctr">
                    <a:solidFill>
                      <a:srgbClr val="EEF3FB"/>
                    </a:solidFill>
                  </a:tcPr>
                </a:tc>
                <a:tc>
                  <a:txBody>
                    <a:bodyPr/>
                    <a:lstStyle/>
                    <a:p>
                      <a:pPr algn="l"/>
                      <a:r>
                        <a:rPr sz="540" b="0">
                          <a:solidFill>
                            <a:srgbClr val="222222"/>
                          </a:solidFill>
                          <a:latin typeface="맑은 고딕"/>
                        </a:rPr>
                        <a:t>대시보드 알림 영역에서 알림 센터로 이동한다.</a:t>
                      </a:r>
                    </a:p>
                  </a:txBody>
                  <a:tcPr marL="27432" marR="27432" marT="4572" marB="4572" anchor="ctr">
                    <a:solidFill>
                      <a:srgbClr val="EEF3FB"/>
                    </a:solidFill>
                  </a:tcPr>
                </a:tc>
                <a:tc>
                  <a:txBody>
                    <a:bodyPr/>
                    <a:lstStyle/>
                    <a:p>
                      <a:pPr algn="ctr"/>
                      <a:r>
                        <a:rPr sz="540" b="0">
                          <a:solidFill>
                            <a:srgbClr val="222222"/>
                          </a:solidFill>
                          <a:latin typeface="맑은 고딕"/>
                        </a:rPr>
                        <a:t>이동</a:t>
                      </a:r>
                    </a:p>
                  </a:txBody>
                  <a:tcPr marL="27432" marR="27432" marT="4572" marB="4572" anchor="ctr">
                    <a:solidFill>
                      <a:srgbClr val="EEF3FB"/>
                    </a:solidFill>
                  </a:tcPr>
                </a:tc>
                <a:tc>
                  <a:txBody>
                    <a:bodyPr/>
                    <a:lstStyle/>
                    <a:p>
                      <a:pPr algn="ctr"/>
                      <a:r>
                        <a:rPr sz="540" b="0">
                          <a:solidFill>
                            <a:srgbClr val="222222"/>
                          </a:solidFill>
                          <a:latin typeface="맑은 고딕"/>
                        </a:rPr>
                        <a:t>REQ-WEB-027</a:t>
                      </a:r>
                    </a:p>
                  </a:txBody>
                  <a:tcPr marL="27432" marR="27432" marT="4572" marB="4572" anchor="ctr">
                    <a:solidFill>
                      <a:srgbClr val="EEF3FB"/>
                    </a:solidFill>
                  </a:tcPr>
                </a:tc>
                <a:extLst>
                  <a:ext uri="{0D108BD9-81ED-4DB2-BD59-A6C34878D82A}">
                    <a16:rowId xmlns:a16="http://schemas.microsoft.com/office/drawing/2014/main" val="10008"/>
                  </a:ext>
                </a:extLst>
              </a:tr>
              <a:tr h="261518">
                <a:tc>
                  <a:txBody>
                    <a:bodyPr/>
                    <a:lstStyle/>
                    <a:p>
                      <a:pPr algn="ctr"/>
                      <a:r>
                        <a:rPr sz="540" b="0">
                          <a:solidFill>
                            <a:srgbClr val="222222"/>
                          </a:solidFill>
                          <a:latin typeface="맑은 고딕"/>
                        </a:rPr>
                        <a:t>REQ-WEB-028</a:t>
                      </a:r>
                    </a:p>
                  </a:txBody>
                  <a:tcPr marL="27432" marR="27432" marT="4572" marB="4572" anchor="ctr">
                    <a:solidFill>
                      <a:srgbClr val="FFFFFF"/>
                    </a:solidFill>
                  </a:tcPr>
                </a:tc>
                <a:tc>
                  <a:txBody>
                    <a:bodyPr/>
                    <a:lstStyle/>
                    <a:p>
                      <a:pPr algn="l"/>
                      <a:r>
                        <a:rPr sz="540" b="0">
                          <a:solidFill>
                            <a:srgbClr val="222222"/>
                          </a:solidFill>
                          <a:latin typeface="맑은 고딕"/>
                        </a:rPr>
                        <a:t>공지사항 확인</a:t>
                      </a:r>
                    </a:p>
                  </a:txBody>
                  <a:tcPr marL="27432" marR="27432" marT="4572" marB="4572" anchor="ctr">
                    <a:solidFill>
                      <a:srgbClr val="FFFFFF"/>
                    </a:solidFill>
                  </a:tcPr>
                </a:tc>
                <a:tc>
                  <a:txBody>
                    <a:bodyPr/>
                    <a:lstStyle/>
                    <a:p>
                      <a:pPr algn="l"/>
                      <a:r>
                        <a:rPr sz="540" b="0">
                          <a:solidFill>
                            <a:srgbClr val="222222"/>
                          </a:solidFill>
                          <a:latin typeface="맑은 고딕"/>
                        </a:rPr>
                        <a:t>대시보드 또는 공지사항 화면에서 서비스 소식과 점검 안내를 확인한다.</a:t>
                      </a:r>
                    </a:p>
                  </a:txBody>
                  <a:tcPr marL="27432" marR="27432" marT="4572" marB="4572" anchor="ctr">
                    <a:solidFill>
                      <a:srgbClr val="FFFFFF"/>
                    </a:solidFill>
                  </a:tcPr>
                </a:tc>
                <a:tc>
                  <a:txBody>
                    <a:bodyPr/>
                    <a:lstStyle/>
                    <a:p>
                      <a:pPr algn="ctr"/>
                      <a:r>
                        <a:rPr sz="540" b="0">
                          <a:solidFill>
                            <a:srgbClr val="222222"/>
                          </a:solidFill>
                          <a:latin typeface="맑은 고딕"/>
                        </a:rPr>
                        <a:t>공지</a:t>
                      </a:r>
                    </a:p>
                  </a:txBody>
                  <a:tcPr marL="27432" marR="27432" marT="4572" marB="4572" anchor="ctr">
                    <a:solidFill>
                      <a:srgbClr val="FFFFFF"/>
                    </a:solidFill>
                  </a:tcPr>
                </a:tc>
                <a:tc>
                  <a:txBody>
                    <a:bodyPr/>
                    <a:lstStyle/>
                    <a:p>
                      <a:pPr algn="ctr"/>
                      <a:r>
                        <a:rPr sz="540" b="0">
                          <a:solidFill>
                            <a:srgbClr val="222222"/>
                          </a:solidFill>
                          <a:latin typeface="맑은 고딕"/>
                        </a:rPr>
                        <a:t>REQ-WEB-028</a:t>
                      </a:r>
                    </a:p>
                  </a:txBody>
                  <a:tcPr marL="27432" marR="27432" marT="4572" marB="4572" anchor="ctr">
                    <a:solidFill>
                      <a:srgbClr val="FFFFFF"/>
                    </a:solidFill>
                  </a:tcPr>
                </a:tc>
                <a:extLst>
                  <a:ext uri="{0D108BD9-81ED-4DB2-BD59-A6C34878D82A}">
                    <a16:rowId xmlns:a16="http://schemas.microsoft.com/office/drawing/2014/main" val="10009"/>
                  </a:ext>
                </a:extLst>
              </a:tr>
              <a:tr h="261518">
                <a:tc>
                  <a:txBody>
                    <a:bodyPr/>
                    <a:lstStyle/>
                    <a:p>
                      <a:pPr algn="ctr"/>
                      <a:r>
                        <a:rPr sz="540" b="0">
                          <a:solidFill>
                            <a:srgbClr val="222222"/>
                          </a:solidFill>
                          <a:latin typeface="맑은 고딕"/>
                        </a:rPr>
                        <a:t>REQ-WEB-029</a:t>
                      </a:r>
                    </a:p>
                  </a:txBody>
                  <a:tcPr marL="27432" marR="27432" marT="4572" marB="4572" anchor="ctr">
                    <a:solidFill>
                      <a:srgbClr val="EEF3FB"/>
                    </a:solidFill>
                  </a:tcPr>
                </a:tc>
                <a:tc>
                  <a:txBody>
                    <a:bodyPr/>
                    <a:lstStyle/>
                    <a:p>
                      <a:pPr algn="l"/>
                      <a:r>
                        <a:rPr sz="540" b="0">
                          <a:solidFill>
                            <a:srgbClr val="222222"/>
                          </a:solidFill>
                          <a:latin typeface="맑은 고딕"/>
                        </a:rPr>
                        <a:t>공지사항 전체 보기</a:t>
                      </a:r>
                    </a:p>
                  </a:txBody>
                  <a:tcPr marL="27432" marR="27432" marT="4572" marB="4572" anchor="ctr">
                    <a:solidFill>
                      <a:srgbClr val="EEF3FB"/>
                    </a:solidFill>
                  </a:tcPr>
                </a:tc>
                <a:tc>
                  <a:txBody>
                    <a:bodyPr/>
                    <a:lstStyle/>
                    <a:p>
                      <a:pPr algn="l"/>
                      <a:r>
                        <a:rPr sz="540" b="0">
                          <a:solidFill>
                            <a:srgbClr val="222222"/>
                          </a:solidFill>
                          <a:latin typeface="맑은 고딕"/>
                        </a:rPr>
                        <a:t>대시보드 공지 영역에서 공지사항 목록 화면으로 이동한다.</a:t>
                      </a:r>
                    </a:p>
                  </a:txBody>
                  <a:tcPr marL="27432" marR="27432" marT="4572" marB="4572" anchor="ctr">
                    <a:solidFill>
                      <a:srgbClr val="EEF3FB"/>
                    </a:solidFill>
                  </a:tcPr>
                </a:tc>
                <a:tc>
                  <a:txBody>
                    <a:bodyPr/>
                    <a:lstStyle/>
                    <a:p>
                      <a:pPr algn="ctr"/>
                      <a:r>
                        <a:rPr sz="540" b="0">
                          <a:solidFill>
                            <a:srgbClr val="222222"/>
                          </a:solidFill>
                          <a:latin typeface="맑은 고딕"/>
                        </a:rPr>
                        <a:t>이동</a:t>
                      </a:r>
                    </a:p>
                  </a:txBody>
                  <a:tcPr marL="27432" marR="27432" marT="4572" marB="4572" anchor="ctr">
                    <a:solidFill>
                      <a:srgbClr val="EEF3FB"/>
                    </a:solidFill>
                  </a:tcPr>
                </a:tc>
                <a:tc>
                  <a:txBody>
                    <a:bodyPr/>
                    <a:lstStyle/>
                    <a:p>
                      <a:pPr algn="ctr"/>
                      <a:r>
                        <a:rPr sz="540" b="0">
                          <a:solidFill>
                            <a:srgbClr val="222222"/>
                          </a:solidFill>
                          <a:latin typeface="맑은 고딕"/>
                        </a:rPr>
                        <a:t>REQ-WEB-029</a:t>
                      </a:r>
                    </a:p>
                  </a:txBody>
                  <a:tcPr marL="27432" marR="27432" marT="4572" marB="4572" anchor="ctr">
                    <a:solidFill>
                      <a:srgbClr val="EEF3FB"/>
                    </a:solidFill>
                  </a:tcPr>
                </a:tc>
                <a:extLst>
                  <a:ext uri="{0D108BD9-81ED-4DB2-BD59-A6C34878D82A}">
                    <a16:rowId xmlns:a16="http://schemas.microsoft.com/office/drawing/2014/main" val="10010"/>
                  </a:ext>
                </a:extLst>
              </a:tr>
              <a:tr h="261518">
                <a:tc>
                  <a:txBody>
                    <a:bodyPr/>
                    <a:lstStyle/>
                    <a:p>
                      <a:pPr algn="ctr"/>
                      <a:r>
                        <a:rPr sz="540" b="0">
                          <a:solidFill>
                            <a:srgbClr val="222222"/>
                          </a:solidFill>
                          <a:latin typeface="맑은 고딕"/>
                        </a:rPr>
                        <a:t>REQ-WEB-030</a:t>
                      </a:r>
                    </a:p>
                  </a:txBody>
                  <a:tcPr marL="27432" marR="27432" marT="4572" marB="4572" anchor="ctr">
                    <a:solidFill>
                      <a:srgbClr val="FFFFFF"/>
                    </a:solidFill>
                  </a:tcPr>
                </a:tc>
                <a:tc>
                  <a:txBody>
                    <a:bodyPr/>
                    <a:lstStyle/>
                    <a:p>
                      <a:pPr algn="l"/>
                      <a:r>
                        <a:rPr sz="540" b="0">
                          <a:solidFill>
                            <a:srgbClr val="222222"/>
                          </a:solidFill>
                          <a:latin typeface="맑은 고딕"/>
                        </a:rPr>
                        <a:t>디바이스 상태 확인</a:t>
                      </a:r>
                    </a:p>
                  </a:txBody>
                  <a:tcPr marL="27432" marR="27432" marT="4572" marB="4572" anchor="ctr">
                    <a:solidFill>
                      <a:srgbClr val="FFFFFF"/>
                    </a:solidFill>
                  </a:tcPr>
                </a:tc>
                <a:tc>
                  <a:txBody>
                    <a:bodyPr/>
                    <a:lstStyle/>
                    <a:p>
                      <a:pPr algn="l"/>
                      <a:r>
                        <a:rPr sz="540" b="0">
                          <a:solidFill>
                            <a:srgbClr val="222222"/>
                          </a:solidFill>
                          <a:latin typeface="맑은 고딕"/>
                        </a:rPr>
                        <a:t>디바이스 관리 화면에서 진단기별 온라인, 오프라인, 최근 수신 상태를 확인한다.</a:t>
                      </a:r>
                    </a:p>
                  </a:txBody>
                  <a:tcPr marL="27432" marR="27432" marT="4572" marB="4572" anchor="ctr">
                    <a:solidFill>
                      <a:srgbClr val="FFFFFF"/>
                    </a:solidFill>
                  </a:tcPr>
                </a:tc>
                <a:tc>
                  <a:txBody>
                    <a:bodyPr/>
                    <a:lstStyle/>
                    <a:p>
                      <a:pPr algn="ctr"/>
                      <a:r>
                        <a:rPr sz="540" b="0">
                          <a:solidFill>
                            <a:srgbClr val="222222"/>
                          </a:solidFill>
                          <a:latin typeface="맑은 고딕"/>
                        </a:rPr>
                        <a:t>조회</a:t>
                      </a:r>
                    </a:p>
                  </a:txBody>
                  <a:tcPr marL="27432" marR="27432" marT="4572" marB="4572" anchor="ctr">
                    <a:solidFill>
                      <a:srgbClr val="FFFFFF"/>
                    </a:solidFill>
                  </a:tcPr>
                </a:tc>
                <a:tc>
                  <a:txBody>
                    <a:bodyPr/>
                    <a:lstStyle/>
                    <a:p>
                      <a:pPr algn="ctr"/>
                      <a:r>
                        <a:rPr sz="540" b="0">
                          <a:solidFill>
                            <a:srgbClr val="222222"/>
                          </a:solidFill>
                          <a:latin typeface="맑은 고딕"/>
                        </a:rPr>
                        <a:t>REQ-WEB-030</a:t>
                      </a:r>
                    </a:p>
                  </a:txBody>
                  <a:tcPr marL="27432" marR="27432" marT="4572" marB="4572" anchor="ctr">
                    <a:solidFill>
                      <a:srgbClr val="FFFFFF"/>
                    </a:solidFill>
                  </a:tcPr>
                </a:tc>
                <a:extLst>
                  <a:ext uri="{0D108BD9-81ED-4DB2-BD59-A6C34878D82A}">
                    <a16:rowId xmlns:a16="http://schemas.microsoft.com/office/drawing/2014/main" val="10011"/>
                  </a:ext>
                </a:extLst>
              </a:tr>
              <a:tr h="261518">
                <a:tc>
                  <a:txBody>
                    <a:bodyPr/>
                    <a:lstStyle/>
                    <a:p>
                      <a:pPr algn="ctr"/>
                      <a:r>
                        <a:rPr sz="540" b="0">
                          <a:solidFill>
                            <a:srgbClr val="222222"/>
                          </a:solidFill>
                          <a:latin typeface="맑은 고딕"/>
                        </a:rPr>
                        <a:t>REQ-WEB-031</a:t>
                      </a:r>
                    </a:p>
                  </a:txBody>
                  <a:tcPr marL="27432" marR="27432" marT="4572" marB="4572" anchor="ctr">
                    <a:solidFill>
                      <a:srgbClr val="EEF3FB"/>
                    </a:solidFill>
                  </a:tcPr>
                </a:tc>
                <a:tc>
                  <a:txBody>
                    <a:bodyPr/>
                    <a:lstStyle/>
                    <a:p>
                      <a:pPr algn="l"/>
                      <a:r>
                        <a:rPr sz="540" b="0">
                          <a:solidFill>
                            <a:srgbClr val="222222"/>
                          </a:solidFill>
                          <a:latin typeface="맑은 고딕"/>
                        </a:rPr>
                        <a:t>디바이스 상세 확인</a:t>
                      </a:r>
                    </a:p>
                  </a:txBody>
                  <a:tcPr marL="27432" marR="27432" marT="4572" marB="4572" anchor="ctr">
                    <a:solidFill>
                      <a:srgbClr val="EEF3FB"/>
                    </a:solidFill>
                  </a:tcPr>
                </a:tc>
                <a:tc>
                  <a:txBody>
                    <a:bodyPr/>
                    <a:lstStyle/>
                    <a:p>
                      <a:pPr algn="l"/>
                      <a:r>
                        <a:rPr sz="540" b="0">
                          <a:solidFill>
                            <a:srgbClr val="222222"/>
                          </a:solidFill>
                          <a:latin typeface="맑은 고딕"/>
                        </a:rPr>
                        <a:t>디바이스 목록 카드에서 각 진단기의 센서 구성과 상태 정보를 확인한다.</a:t>
                      </a:r>
                    </a:p>
                  </a:txBody>
                  <a:tcPr marL="27432" marR="27432" marT="4572" marB="4572" anchor="ctr">
                    <a:solidFill>
                      <a:srgbClr val="EEF3FB"/>
                    </a:solidFill>
                  </a:tcPr>
                </a:tc>
                <a:tc>
                  <a:txBody>
                    <a:bodyPr/>
                    <a:lstStyle/>
                    <a:p>
                      <a:pPr algn="ctr"/>
                      <a:r>
                        <a:rPr sz="540" b="0">
                          <a:solidFill>
                            <a:srgbClr val="222222"/>
                          </a:solidFill>
                          <a:latin typeface="맑은 고딕"/>
                        </a:rPr>
                        <a:t>조회</a:t>
                      </a:r>
                    </a:p>
                  </a:txBody>
                  <a:tcPr marL="27432" marR="27432" marT="4572" marB="4572" anchor="ctr">
                    <a:solidFill>
                      <a:srgbClr val="EEF3FB"/>
                    </a:solidFill>
                  </a:tcPr>
                </a:tc>
                <a:tc>
                  <a:txBody>
                    <a:bodyPr/>
                    <a:lstStyle/>
                    <a:p>
                      <a:pPr algn="ctr"/>
                      <a:r>
                        <a:rPr sz="540" b="0">
                          <a:solidFill>
                            <a:srgbClr val="222222"/>
                          </a:solidFill>
                          <a:latin typeface="맑은 고딕"/>
                        </a:rPr>
                        <a:t>REQ-WEB-031</a:t>
                      </a:r>
                    </a:p>
                  </a:txBody>
                  <a:tcPr marL="27432" marR="27432" marT="4572" marB="4572" anchor="ctr">
                    <a:solidFill>
                      <a:srgbClr val="EEF3FB"/>
                    </a:solidFill>
                  </a:tcPr>
                </a:tc>
                <a:extLst>
                  <a:ext uri="{0D108BD9-81ED-4DB2-BD59-A6C34878D82A}">
                    <a16:rowId xmlns:a16="http://schemas.microsoft.com/office/drawing/2014/main" val="10012"/>
                  </a:ext>
                </a:extLst>
              </a:tr>
              <a:tr h="261518">
                <a:tc>
                  <a:txBody>
                    <a:bodyPr/>
                    <a:lstStyle/>
                    <a:p>
                      <a:pPr algn="ctr"/>
                      <a:r>
                        <a:rPr sz="540" b="0">
                          <a:solidFill>
                            <a:srgbClr val="222222"/>
                          </a:solidFill>
                          <a:latin typeface="맑은 고딕"/>
                        </a:rPr>
                        <a:t>REQ-WEB-032</a:t>
                      </a:r>
                    </a:p>
                  </a:txBody>
                  <a:tcPr marL="27432" marR="27432" marT="4572" marB="4572" anchor="ctr">
                    <a:solidFill>
                      <a:srgbClr val="FFFFFF"/>
                    </a:solidFill>
                  </a:tcPr>
                </a:tc>
                <a:tc>
                  <a:txBody>
                    <a:bodyPr/>
                    <a:lstStyle/>
                    <a:p>
                      <a:pPr algn="l"/>
                      <a:r>
                        <a:rPr sz="540" b="0">
                          <a:solidFill>
                            <a:srgbClr val="222222"/>
                          </a:solidFill>
                          <a:latin typeface="맑은 고딕"/>
                        </a:rPr>
                        <a:t>저장된 배터리 목록 확인</a:t>
                      </a:r>
                    </a:p>
                  </a:txBody>
                  <a:tcPr marL="27432" marR="27432" marT="4572" marB="4572" anchor="ctr">
                    <a:solidFill>
                      <a:srgbClr val="FFFFFF"/>
                    </a:solidFill>
                  </a:tcPr>
                </a:tc>
                <a:tc>
                  <a:txBody>
                    <a:bodyPr/>
                    <a:lstStyle/>
                    <a:p>
                      <a:pPr algn="l"/>
                      <a:r>
                        <a:rPr sz="540" b="0">
                          <a:solidFill>
                            <a:srgbClr val="222222"/>
                          </a:solidFill>
                          <a:latin typeface="맑은 고딕"/>
                        </a:rPr>
                        <a:t>배터리 관리 화면에서 저장된 배터리, 모드, 상태, 최근 측정 정보를 확인한다.</a:t>
                      </a:r>
                    </a:p>
                  </a:txBody>
                  <a:tcPr marL="27432" marR="27432" marT="4572" marB="4572" anchor="ctr">
                    <a:solidFill>
                      <a:srgbClr val="FFFFFF"/>
                    </a:solidFill>
                  </a:tcPr>
                </a:tc>
                <a:tc>
                  <a:txBody>
                    <a:bodyPr/>
                    <a:lstStyle/>
                    <a:p>
                      <a:pPr algn="ctr"/>
                      <a:r>
                        <a:rPr sz="540" b="0">
                          <a:solidFill>
                            <a:srgbClr val="222222"/>
                          </a:solidFill>
                          <a:latin typeface="맑은 고딕"/>
                        </a:rPr>
                        <a:t>조회</a:t>
                      </a:r>
                    </a:p>
                  </a:txBody>
                  <a:tcPr marL="27432" marR="27432" marT="4572" marB="4572" anchor="ctr">
                    <a:solidFill>
                      <a:srgbClr val="FFFFFF"/>
                    </a:solidFill>
                  </a:tcPr>
                </a:tc>
                <a:tc>
                  <a:txBody>
                    <a:bodyPr/>
                    <a:lstStyle/>
                    <a:p>
                      <a:pPr algn="ctr"/>
                      <a:r>
                        <a:rPr sz="540" b="0">
                          <a:solidFill>
                            <a:srgbClr val="222222"/>
                          </a:solidFill>
                          <a:latin typeface="맑은 고딕"/>
                        </a:rPr>
                        <a:t>REQ-WEB-032</a:t>
                      </a:r>
                    </a:p>
                  </a:txBody>
                  <a:tcPr marL="27432" marR="27432" marT="4572" marB="4572" anchor="ctr">
                    <a:solidFill>
                      <a:srgbClr val="FFFFFF"/>
                    </a:solidFill>
                  </a:tcPr>
                </a:tc>
                <a:extLst>
                  <a:ext uri="{0D108BD9-81ED-4DB2-BD59-A6C34878D82A}">
                    <a16:rowId xmlns:a16="http://schemas.microsoft.com/office/drawing/2014/main" val="10013"/>
                  </a:ext>
                </a:extLst>
              </a:tr>
              <a:tr h="261518">
                <a:tc>
                  <a:txBody>
                    <a:bodyPr/>
                    <a:lstStyle/>
                    <a:p>
                      <a:pPr algn="ctr"/>
                      <a:r>
                        <a:rPr sz="540" b="0">
                          <a:solidFill>
                            <a:srgbClr val="222222"/>
                          </a:solidFill>
                          <a:latin typeface="맑은 고딕"/>
                        </a:rPr>
                        <a:t>REQ-WEB-033</a:t>
                      </a:r>
                    </a:p>
                  </a:txBody>
                  <a:tcPr marL="27432" marR="27432" marT="4572" marB="4572" anchor="ctr">
                    <a:solidFill>
                      <a:srgbClr val="EEF3FB"/>
                    </a:solidFill>
                  </a:tcPr>
                </a:tc>
                <a:tc>
                  <a:txBody>
                    <a:bodyPr/>
                    <a:lstStyle/>
                    <a:p>
                      <a:pPr algn="l"/>
                      <a:r>
                        <a:rPr sz="540" b="0">
                          <a:solidFill>
                            <a:srgbClr val="222222"/>
                          </a:solidFill>
                          <a:latin typeface="맑은 고딕"/>
                        </a:rPr>
                        <a:t>측정 모드 필터</a:t>
                      </a:r>
                    </a:p>
                  </a:txBody>
                  <a:tcPr marL="27432" marR="27432" marT="4572" marB="4572" anchor="ctr">
                    <a:solidFill>
                      <a:srgbClr val="EEF3FB"/>
                    </a:solidFill>
                  </a:tcPr>
                </a:tc>
                <a:tc>
                  <a:txBody>
                    <a:bodyPr/>
                    <a:lstStyle/>
                    <a:p>
                      <a:pPr algn="l"/>
                      <a:r>
                        <a:rPr sz="540" b="0">
                          <a:solidFill>
                            <a:srgbClr val="222222"/>
                          </a:solidFill>
                          <a:latin typeface="맑은 고딕"/>
                        </a:rPr>
                        <a:t>배터리 관리 화면에서 전체 모드, 모드 1, 모드 2, 모드 3으로 목록을 필터링한다.</a:t>
                      </a:r>
                    </a:p>
                  </a:txBody>
                  <a:tcPr marL="27432" marR="27432" marT="4572" marB="4572" anchor="ctr">
                    <a:solidFill>
                      <a:srgbClr val="EEF3FB"/>
                    </a:solidFill>
                  </a:tcPr>
                </a:tc>
                <a:tc>
                  <a:txBody>
                    <a:bodyPr/>
                    <a:lstStyle/>
                    <a:p>
                      <a:pPr algn="ctr"/>
                      <a:r>
                        <a:rPr sz="540" b="0">
                          <a:solidFill>
                            <a:srgbClr val="222222"/>
                          </a:solidFill>
                          <a:latin typeface="맑은 고딕"/>
                        </a:rPr>
                        <a:t>필터</a:t>
                      </a:r>
                    </a:p>
                  </a:txBody>
                  <a:tcPr marL="27432" marR="27432" marT="4572" marB="4572" anchor="ctr">
                    <a:solidFill>
                      <a:srgbClr val="EEF3FB"/>
                    </a:solidFill>
                  </a:tcPr>
                </a:tc>
                <a:tc>
                  <a:txBody>
                    <a:bodyPr/>
                    <a:lstStyle/>
                    <a:p>
                      <a:pPr algn="ctr"/>
                      <a:r>
                        <a:rPr sz="540" b="0">
                          <a:solidFill>
                            <a:srgbClr val="222222"/>
                          </a:solidFill>
                          <a:latin typeface="맑은 고딕"/>
                        </a:rPr>
                        <a:t>REQ-WEB-033</a:t>
                      </a:r>
                    </a:p>
                  </a:txBody>
                  <a:tcPr marL="27432" marR="27432" marT="4572" marB="4572" anchor="ctr">
                    <a:solidFill>
                      <a:srgbClr val="EEF3FB"/>
                    </a:solidFill>
                  </a:tcPr>
                </a:tc>
                <a:extLst>
                  <a:ext uri="{0D108BD9-81ED-4DB2-BD59-A6C34878D82A}">
                    <a16:rowId xmlns:a16="http://schemas.microsoft.com/office/drawing/2014/main" val="10014"/>
                  </a:ext>
                </a:extLst>
              </a:tr>
              <a:tr h="261518">
                <a:tc>
                  <a:txBody>
                    <a:bodyPr/>
                    <a:lstStyle/>
                    <a:p>
                      <a:pPr algn="ctr"/>
                      <a:r>
                        <a:rPr sz="540" b="0">
                          <a:solidFill>
                            <a:srgbClr val="222222"/>
                          </a:solidFill>
                          <a:latin typeface="맑은 고딕"/>
                        </a:rPr>
                        <a:t>REQ-WEB-034</a:t>
                      </a:r>
                    </a:p>
                  </a:txBody>
                  <a:tcPr marL="27432" marR="27432" marT="4572" marB="4572" anchor="ctr">
                    <a:solidFill>
                      <a:srgbClr val="FFFFFF"/>
                    </a:solidFill>
                  </a:tcPr>
                </a:tc>
                <a:tc>
                  <a:txBody>
                    <a:bodyPr/>
                    <a:lstStyle/>
                    <a:p>
                      <a:pPr algn="l"/>
                      <a:r>
                        <a:rPr sz="540" b="0">
                          <a:solidFill>
                            <a:srgbClr val="222222"/>
                          </a:solidFill>
                          <a:latin typeface="맑은 고딕"/>
                        </a:rPr>
                        <a:t>배터리 선택</a:t>
                      </a:r>
                    </a:p>
                  </a:txBody>
                  <a:tcPr marL="27432" marR="27432" marT="4572" marB="4572" anchor="ctr">
                    <a:solidFill>
                      <a:srgbClr val="FFFFFF"/>
                    </a:solidFill>
                  </a:tcPr>
                </a:tc>
                <a:tc>
                  <a:txBody>
                    <a:bodyPr/>
                    <a:lstStyle/>
                    <a:p>
                      <a:pPr algn="l"/>
                      <a:r>
                        <a:rPr sz="540" b="0">
                          <a:solidFill>
                            <a:srgbClr val="222222"/>
                          </a:solidFill>
                          <a:latin typeface="맑은 고딕"/>
                        </a:rPr>
                        <a:t>저장된 배터리 카드의 이 배터리 측정 버튼으로 측정 연결 확인 모달을 연다.</a:t>
                      </a:r>
                    </a:p>
                  </a:txBody>
                  <a:tcPr marL="27432" marR="27432" marT="4572" marB="4572" anchor="ctr">
                    <a:solidFill>
                      <a:srgbClr val="FFFFFF"/>
                    </a:solidFill>
                  </a:tcPr>
                </a:tc>
                <a:tc>
                  <a:txBody>
                    <a:bodyPr/>
                    <a:lstStyle/>
                    <a:p>
                      <a:pPr algn="ctr"/>
                      <a:r>
                        <a:rPr sz="540" b="0">
                          <a:solidFill>
                            <a:srgbClr val="222222"/>
                          </a:solidFill>
                          <a:latin typeface="맑은 고딕"/>
                        </a:rPr>
                        <a:t>선택</a:t>
                      </a:r>
                    </a:p>
                  </a:txBody>
                  <a:tcPr marL="27432" marR="27432" marT="4572" marB="4572" anchor="ctr">
                    <a:solidFill>
                      <a:srgbClr val="FFFFFF"/>
                    </a:solidFill>
                  </a:tcPr>
                </a:tc>
                <a:tc>
                  <a:txBody>
                    <a:bodyPr/>
                    <a:lstStyle/>
                    <a:p>
                      <a:pPr algn="ctr"/>
                      <a:r>
                        <a:rPr sz="540" b="0">
                          <a:solidFill>
                            <a:srgbClr val="222222"/>
                          </a:solidFill>
                          <a:latin typeface="맑은 고딕"/>
                        </a:rPr>
                        <a:t>REQ-WEB-034</a:t>
                      </a:r>
                    </a:p>
                  </a:txBody>
                  <a:tcPr marL="27432" marR="27432" marT="4572" marB="4572" anchor="ctr">
                    <a:solidFill>
                      <a:srgbClr val="FFFFFF"/>
                    </a:solidFill>
                  </a:tcPr>
                </a:tc>
                <a:extLst>
                  <a:ext uri="{0D108BD9-81ED-4DB2-BD59-A6C34878D82A}">
                    <a16:rowId xmlns:a16="http://schemas.microsoft.com/office/drawing/2014/main" val="10015"/>
                  </a:ext>
                </a:extLst>
              </a:tr>
              <a:tr h="261518">
                <a:tc>
                  <a:txBody>
                    <a:bodyPr/>
                    <a:lstStyle/>
                    <a:p>
                      <a:pPr algn="ctr"/>
                      <a:r>
                        <a:rPr sz="540" b="0">
                          <a:solidFill>
                            <a:srgbClr val="222222"/>
                          </a:solidFill>
                          <a:latin typeface="맑은 고딕"/>
                        </a:rPr>
                        <a:t>REQ-WEB-035</a:t>
                      </a:r>
                    </a:p>
                  </a:txBody>
                  <a:tcPr marL="27432" marR="27432" marT="4572" marB="4572" anchor="ctr">
                    <a:solidFill>
                      <a:srgbClr val="EEF3FB"/>
                    </a:solidFill>
                  </a:tcPr>
                </a:tc>
                <a:tc>
                  <a:txBody>
                    <a:bodyPr/>
                    <a:lstStyle/>
                    <a:p>
                      <a:pPr algn="l"/>
                      <a:r>
                        <a:rPr sz="540" b="0">
                          <a:solidFill>
                            <a:srgbClr val="222222"/>
                          </a:solidFill>
                          <a:latin typeface="맑은 고딕"/>
                        </a:rPr>
                        <a:t>배터리 상세 이동</a:t>
                      </a:r>
                    </a:p>
                  </a:txBody>
                  <a:tcPr marL="27432" marR="27432" marT="4572" marB="4572" anchor="ctr">
                    <a:solidFill>
                      <a:srgbClr val="EEF3FB"/>
                    </a:solidFill>
                  </a:tcPr>
                </a:tc>
                <a:tc>
                  <a:txBody>
                    <a:bodyPr/>
                    <a:lstStyle/>
                    <a:p>
                      <a:pPr algn="l"/>
                      <a:r>
                        <a:rPr sz="540" b="0">
                          <a:solidFill>
                            <a:srgbClr val="222222"/>
                          </a:solidFill>
                          <a:latin typeface="맑은 고딕"/>
                        </a:rPr>
                        <a:t>배터리 카드의 상세 보기 동작으로 배터리 상세/이력 화면으로 이동한다.</a:t>
                      </a:r>
                    </a:p>
                  </a:txBody>
                  <a:tcPr marL="27432" marR="27432" marT="4572" marB="4572" anchor="ctr">
                    <a:solidFill>
                      <a:srgbClr val="EEF3FB"/>
                    </a:solidFill>
                  </a:tcPr>
                </a:tc>
                <a:tc>
                  <a:txBody>
                    <a:bodyPr/>
                    <a:lstStyle/>
                    <a:p>
                      <a:pPr algn="ctr"/>
                      <a:r>
                        <a:rPr sz="540" b="0">
                          <a:solidFill>
                            <a:srgbClr val="222222"/>
                          </a:solidFill>
                          <a:latin typeface="맑은 고딕"/>
                        </a:rPr>
                        <a:t>이동</a:t>
                      </a:r>
                    </a:p>
                  </a:txBody>
                  <a:tcPr marL="27432" marR="27432" marT="4572" marB="4572" anchor="ctr">
                    <a:solidFill>
                      <a:srgbClr val="EEF3FB"/>
                    </a:solidFill>
                  </a:tcPr>
                </a:tc>
                <a:tc>
                  <a:txBody>
                    <a:bodyPr/>
                    <a:lstStyle/>
                    <a:p>
                      <a:pPr algn="ctr"/>
                      <a:r>
                        <a:rPr sz="540" b="0">
                          <a:solidFill>
                            <a:srgbClr val="222222"/>
                          </a:solidFill>
                          <a:latin typeface="맑은 고딕"/>
                        </a:rPr>
                        <a:t>REQ-WEB-035</a:t>
                      </a:r>
                    </a:p>
                  </a:txBody>
                  <a:tcPr marL="27432" marR="27432" marT="4572" marB="4572" anchor="ctr">
                    <a:solidFill>
                      <a:srgbClr val="EEF3FB"/>
                    </a:solidFill>
                  </a:tcPr>
                </a:tc>
                <a:extLst>
                  <a:ext uri="{0D108BD9-81ED-4DB2-BD59-A6C34878D82A}">
                    <a16:rowId xmlns:a16="http://schemas.microsoft.com/office/drawing/2014/main" val="10016"/>
                  </a:ext>
                </a:extLst>
              </a:tr>
              <a:tr h="261518">
                <a:tc>
                  <a:txBody>
                    <a:bodyPr/>
                    <a:lstStyle/>
                    <a:p>
                      <a:pPr algn="ctr"/>
                      <a:r>
                        <a:rPr sz="540" b="0">
                          <a:solidFill>
                            <a:srgbClr val="222222"/>
                          </a:solidFill>
                          <a:latin typeface="맑은 고딕"/>
                        </a:rPr>
                        <a:t>REQ-WEB-036</a:t>
                      </a:r>
                    </a:p>
                  </a:txBody>
                  <a:tcPr marL="27432" marR="27432" marT="4572" marB="4572" anchor="ctr">
                    <a:solidFill>
                      <a:srgbClr val="FFFFFF"/>
                    </a:solidFill>
                  </a:tcPr>
                </a:tc>
                <a:tc>
                  <a:txBody>
                    <a:bodyPr/>
                    <a:lstStyle/>
                    <a:p>
                      <a:pPr algn="l"/>
                      <a:r>
                        <a:rPr sz="540" b="0">
                          <a:solidFill>
                            <a:srgbClr val="222222"/>
                          </a:solidFill>
                          <a:latin typeface="맑은 고딕"/>
                        </a:rPr>
                        <a:t>새 배터리 등록 모달</a:t>
                      </a:r>
                    </a:p>
                  </a:txBody>
                  <a:tcPr marL="27432" marR="27432" marT="4572" marB="4572" anchor="ctr">
                    <a:solidFill>
                      <a:srgbClr val="FFFFFF"/>
                    </a:solidFill>
                  </a:tcPr>
                </a:tc>
                <a:tc>
                  <a:txBody>
                    <a:bodyPr/>
                    <a:lstStyle/>
                    <a:p>
                      <a:pPr algn="l"/>
                      <a:r>
                        <a:rPr sz="540" b="0">
                          <a:solidFill>
                            <a:srgbClr val="222222"/>
                          </a:solidFill>
                          <a:latin typeface="맑은 고딕"/>
                        </a:rPr>
                        <a:t>새 배터리 등록 버튼으로 등록 모달을 열고 배터리 정보를 입력한다.</a:t>
                      </a:r>
                    </a:p>
                  </a:txBody>
                  <a:tcPr marL="27432" marR="27432" marT="4572" marB="4572" anchor="ctr">
                    <a:solidFill>
                      <a:srgbClr val="FFFFFF"/>
                    </a:solidFill>
                  </a:tcPr>
                </a:tc>
                <a:tc>
                  <a:txBody>
                    <a:bodyPr/>
                    <a:lstStyle/>
                    <a:p>
                      <a:pPr algn="ctr"/>
                      <a:r>
                        <a:rPr sz="540" b="0">
                          <a:solidFill>
                            <a:srgbClr val="222222"/>
                          </a:solidFill>
                          <a:latin typeface="맑은 고딕"/>
                        </a:rPr>
                        <a:t>등록</a:t>
                      </a:r>
                    </a:p>
                  </a:txBody>
                  <a:tcPr marL="27432" marR="27432" marT="4572" marB="4572" anchor="ctr">
                    <a:solidFill>
                      <a:srgbClr val="FFFFFF"/>
                    </a:solidFill>
                  </a:tcPr>
                </a:tc>
                <a:tc>
                  <a:txBody>
                    <a:bodyPr/>
                    <a:lstStyle/>
                    <a:p>
                      <a:pPr algn="ctr"/>
                      <a:r>
                        <a:rPr sz="540" b="0">
                          <a:solidFill>
                            <a:srgbClr val="222222"/>
                          </a:solidFill>
                          <a:latin typeface="맑은 고딕"/>
                        </a:rPr>
                        <a:t>REQ-WEB-036</a:t>
                      </a:r>
                    </a:p>
                  </a:txBody>
                  <a:tcPr marL="27432" marR="27432" marT="4572" marB="4572" anchor="ctr">
                    <a:solidFill>
                      <a:srgbClr val="FFFFFF"/>
                    </a:solidFill>
                  </a:tcPr>
                </a:tc>
                <a:extLst>
                  <a:ext uri="{0D108BD9-81ED-4DB2-BD59-A6C34878D82A}">
                    <a16:rowId xmlns:a16="http://schemas.microsoft.com/office/drawing/2014/main" val="10017"/>
                  </a:ext>
                </a:extLst>
              </a:tr>
              <a:tr h="261518">
                <a:tc>
                  <a:txBody>
                    <a:bodyPr/>
                    <a:lstStyle/>
                    <a:p>
                      <a:pPr algn="ctr"/>
                      <a:r>
                        <a:rPr sz="540" b="0">
                          <a:solidFill>
                            <a:srgbClr val="222222"/>
                          </a:solidFill>
                          <a:latin typeface="맑은 고딕"/>
                        </a:rPr>
                        <a:t>REQ-WEB-037</a:t>
                      </a:r>
                    </a:p>
                  </a:txBody>
                  <a:tcPr marL="27432" marR="27432" marT="4572" marB="4572" anchor="ctr">
                    <a:solidFill>
                      <a:srgbClr val="EEF3FB"/>
                    </a:solidFill>
                  </a:tcPr>
                </a:tc>
                <a:tc>
                  <a:txBody>
                    <a:bodyPr/>
                    <a:lstStyle/>
                    <a:p>
                      <a:pPr algn="l"/>
                      <a:r>
                        <a:rPr sz="540" b="0">
                          <a:solidFill>
                            <a:srgbClr val="222222"/>
                          </a:solidFill>
                          <a:latin typeface="맑은 고딕"/>
                        </a:rPr>
                        <a:t>배터리 등록 입력</a:t>
                      </a:r>
                    </a:p>
                  </a:txBody>
                  <a:tcPr marL="27432" marR="27432" marT="4572" marB="4572" anchor="ctr">
                    <a:solidFill>
                      <a:srgbClr val="EEF3FB"/>
                    </a:solidFill>
                  </a:tcPr>
                </a:tc>
                <a:tc>
                  <a:txBody>
                    <a:bodyPr/>
                    <a:lstStyle/>
                    <a:p>
                      <a:pPr algn="l"/>
                      <a:r>
                        <a:rPr sz="540" b="0">
                          <a:solidFill>
                            <a:srgbClr val="222222"/>
                          </a:solidFill>
                          <a:latin typeface="맑은 고딕"/>
                        </a:rPr>
                        <a:t>배터리 이름, 종류, 측정 모드, 직렬 셀 수, 제조사/모델을 입력해 battery_id 발급 흐름을 제공한다.</a:t>
                      </a:r>
                    </a:p>
                  </a:txBody>
                  <a:tcPr marL="27432" marR="27432" marT="4572" marB="4572" anchor="ctr">
                    <a:solidFill>
                      <a:srgbClr val="EEF3FB"/>
                    </a:solidFill>
                  </a:tcPr>
                </a:tc>
                <a:tc>
                  <a:txBody>
                    <a:bodyPr/>
                    <a:lstStyle/>
                    <a:p>
                      <a:pPr algn="ctr"/>
                      <a:r>
                        <a:rPr sz="540" b="0">
                          <a:solidFill>
                            <a:srgbClr val="222222"/>
                          </a:solidFill>
                          <a:latin typeface="맑은 고딕"/>
                        </a:rPr>
                        <a:t>입력검증</a:t>
                      </a:r>
                    </a:p>
                  </a:txBody>
                  <a:tcPr marL="27432" marR="27432" marT="4572" marB="4572" anchor="ctr">
                    <a:solidFill>
                      <a:srgbClr val="EEF3FB"/>
                    </a:solidFill>
                  </a:tcPr>
                </a:tc>
                <a:tc>
                  <a:txBody>
                    <a:bodyPr/>
                    <a:lstStyle/>
                    <a:p>
                      <a:pPr algn="ctr"/>
                      <a:r>
                        <a:rPr sz="540" b="0">
                          <a:solidFill>
                            <a:srgbClr val="222222"/>
                          </a:solidFill>
                          <a:latin typeface="맑은 고딕"/>
                        </a:rPr>
                        <a:t>REQ-WEB-037</a:t>
                      </a:r>
                    </a:p>
                  </a:txBody>
                  <a:tcPr marL="27432" marR="27432" marT="4572" marB="4572" anchor="ctr">
                    <a:solidFill>
                      <a:srgbClr val="EEF3FB"/>
                    </a:solidFill>
                  </a:tcPr>
                </a:tc>
                <a:extLst>
                  <a:ext uri="{0D108BD9-81ED-4DB2-BD59-A6C34878D82A}">
                    <a16:rowId xmlns:a16="http://schemas.microsoft.com/office/drawing/2014/main" val="10018"/>
                  </a:ext>
                </a:extLst>
              </a:tr>
              <a:tr h="261518">
                <a:tc>
                  <a:txBody>
                    <a:bodyPr/>
                    <a:lstStyle/>
                    <a:p>
                      <a:pPr algn="ctr"/>
                      <a:r>
                        <a:rPr sz="540" b="0">
                          <a:solidFill>
                            <a:srgbClr val="222222"/>
                          </a:solidFill>
                          <a:latin typeface="맑은 고딕"/>
                        </a:rPr>
                        <a:t>REQ-WEB-038</a:t>
                      </a:r>
                    </a:p>
                  </a:txBody>
                  <a:tcPr marL="27432" marR="27432" marT="4572" marB="4572" anchor="ctr">
                    <a:solidFill>
                      <a:srgbClr val="FFFFFF"/>
                    </a:solidFill>
                  </a:tcPr>
                </a:tc>
                <a:tc>
                  <a:txBody>
                    <a:bodyPr/>
                    <a:lstStyle/>
                    <a:p>
                      <a:pPr algn="l"/>
                      <a:r>
                        <a:rPr sz="540" b="0">
                          <a:solidFill>
                            <a:srgbClr val="222222"/>
                          </a:solidFill>
                          <a:latin typeface="맑은 고딕"/>
                        </a:rPr>
                        <a:t>배터리 정보 수정</a:t>
                      </a:r>
                    </a:p>
                  </a:txBody>
                  <a:tcPr marL="27432" marR="27432" marT="4572" marB="4572" anchor="ctr">
                    <a:solidFill>
                      <a:srgbClr val="FFFFFF"/>
                    </a:solidFill>
                  </a:tcPr>
                </a:tc>
                <a:tc>
                  <a:txBody>
                    <a:bodyPr/>
                    <a:lstStyle/>
                    <a:p>
                      <a:pPr algn="l"/>
                      <a:r>
                        <a:rPr sz="540" b="0">
                          <a:solidFill>
                            <a:srgbClr val="222222"/>
                          </a:solidFill>
                          <a:latin typeface="맑은 고딕"/>
                        </a:rPr>
                        <a:t>배터리 정보 수정 모달에서 기존 배터리 정보를 수정하고 저장한다.</a:t>
                      </a:r>
                    </a:p>
                  </a:txBody>
                  <a:tcPr marL="27432" marR="27432" marT="4572" marB="4572" anchor="ctr">
                    <a:solidFill>
                      <a:srgbClr val="FFFFFF"/>
                    </a:solidFill>
                  </a:tcPr>
                </a:tc>
                <a:tc>
                  <a:txBody>
                    <a:bodyPr/>
                    <a:lstStyle/>
                    <a:p>
                      <a:pPr algn="ctr"/>
                      <a:r>
                        <a:rPr sz="540" b="0">
                          <a:solidFill>
                            <a:srgbClr val="222222"/>
                          </a:solidFill>
                          <a:latin typeface="맑은 고딕"/>
                        </a:rPr>
                        <a:t>수정</a:t>
                      </a:r>
                    </a:p>
                  </a:txBody>
                  <a:tcPr marL="27432" marR="27432" marT="4572" marB="4572" anchor="ctr">
                    <a:solidFill>
                      <a:srgbClr val="FFFFFF"/>
                    </a:solidFill>
                  </a:tcPr>
                </a:tc>
                <a:tc>
                  <a:txBody>
                    <a:bodyPr/>
                    <a:lstStyle/>
                    <a:p>
                      <a:pPr algn="ctr"/>
                      <a:r>
                        <a:rPr sz="540" b="0">
                          <a:solidFill>
                            <a:srgbClr val="222222"/>
                          </a:solidFill>
                          <a:latin typeface="맑은 고딕"/>
                        </a:rPr>
                        <a:t>REQ-WEB-038</a:t>
                      </a:r>
                    </a:p>
                  </a:txBody>
                  <a:tcPr marL="27432" marR="27432" marT="4572" marB="4572" anchor="ctr">
                    <a:solidFill>
                      <a:srgbClr val="FFFFFF"/>
                    </a:solidFill>
                  </a:tcPr>
                </a:tc>
                <a:extLst>
                  <a:ext uri="{0D108BD9-81ED-4DB2-BD59-A6C34878D82A}">
                    <a16:rowId xmlns:a16="http://schemas.microsoft.com/office/drawing/2014/main" val="10019"/>
                  </a:ext>
                </a:extLst>
              </a:tr>
            </a:tbl>
          </a:graphicData>
        </a:graphic>
      </p:graphicFrame>
    </p:spTree>
    <p:extLst>
      <p:ext uri="{BB962C8B-B14F-4D97-AF65-F5344CB8AC3E}">
        <p14:creationId xmlns:p14="http://schemas.microsoft.com/office/powerpoint/2010/main" val="318928840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306BA-44D5-2171-2641-CB8024263728}"/>
            </a:ext>
          </a:extLst>
        </p:cNvPr>
        <p:cNvGrpSpPr/>
        <p:nvPr/>
      </p:nvGrpSpPr>
      <p:grpSpPr>
        <a:xfrm>
          <a:off x="0" y="0"/>
          <a:ext cx="0" cy="0"/>
          <a:chOff x="0" y="0"/>
          <a:chExt cx="0" cy="0"/>
        </a:xfrm>
      </p:grpSpPr>
      <p:sp>
        <p:nvSpPr>
          <p:cNvPr id="14" name="직사각형 13">
            <a:extLst>
              <a:ext uri="{FF2B5EF4-FFF2-40B4-BE49-F238E27FC236}">
                <a16:creationId xmlns:a16="http://schemas.microsoft.com/office/drawing/2014/main" id="{18EA1B01-C3EC-D57E-4A8D-C00E46126C36}"/>
              </a:ext>
            </a:extLst>
          </p:cNvPr>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7" name="직선 연결선 16">
            <a:extLst>
              <a:ext uri="{FF2B5EF4-FFF2-40B4-BE49-F238E27FC236}">
                <a16:creationId xmlns:a16="http://schemas.microsoft.com/office/drawing/2014/main" id="{17AB456F-CF2E-36AA-E2E9-862E79E12612}"/>
              </a:ext>
            </a:extLst>
          </p:cNvPr>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CF712149-6166-8DA3-62E7-CCDAAC443A52}"/>
              </a:ext>
            </a:extLst>
          </p:cNvPr>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19" name="제목 12">
            <a:extLst>
              <a:ext uri="{FF2B5EF4-FFF2-40B4-BE49-F238E27FC236}">
                <a16:creationId xmlns:a16="http://schemas.microsoft.com/office/drawing/2014/main" id="{05BCA549-FEF2-EB9E-A74F-BA5B62CF4D37}"/>
              </a:ext>
            </a:extLst>
          </p:cNvPr>
          <p:cNvSpPr txBox="1">
            <a:spLocks/>
          </p:cNvSpPr>
          <p:nvPr/>
        </p:nvSpPr>
        <p:spPr>
          <a:xfrm>
            <a:off x="323528" y="692696"/>
            <a:ext cx="2808312"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a:t>
            </a:r>
            <a:r>
              <a:rPr lang="ko-KR" altLang="en-US" sz="1700" b="1">
                <a:solidFill>
                  <a:schemeClr val="bg1"/>
                </a:solidFill>
                <a:latin typeface="+mn-ea"/>
                <a:cs typeface="+mj-cs"/>
              </a:rPr>
              <a:t>프로그램 </a:t>
            </a:r>
            <a:r>
              <a:rPr lang="en-US" altLang="ko-KR" sz="1700" b="1">
                <a:solidFill>
                  <a:schemeClr val="bg1"/>
                </a:solidFill>
                <a:latin typeface="+mn-ea"/>
                <a:cs typeface="+mj-cs"/>
              </a:rPr>
              <a:t>- </a:t>
            </a:r>
            <a:r>
              <a:rPr kumimoji="0" lang="ko-KR" altLang="en-US" sz="1700" b="1" i="0" u="none" strike="noStrike" kern="1200" cap="none" spc="0" normalizeH="0" baseline="0" noProof="0" dirty="0">
                <a:ln>
                  <a:noFill/>
                </a:ln>
                <a:solidFill>
                  <a:schemeClr val="bg1"/>
                </a:solidFill>
                <a:effectLst/>
                <a:uLnTx/>
                <a:uFillTx/>
                <a:latin typeface="+mn-ea"/>
                <a:cs typeface="+mj-cs"/>
              </a:rPr>
              <a:t>목록</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1026" name="Picture 2">
            <a:extLst>
              <a:ext uri="{FF2B5EF4-FFF2-40B4-BE49-F238E27FC236}">
                <a16:creationId xmlns:a16="http://schemas.microsoft.com/office/drawing/2014/main" id="{14A1FBA2-F4D5-5460-32E0-AFFABD54A177}"/>
              </a:ext>
            </a:extLst>
          </p:cNvPr>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5" name="막힌 원호 34">
            <a:extLst>
              <a:ext uri="{FF2B5EF4-FFF2-40B4-BE49-F238E27FC236}">
                <a16:creationId xmlns:a16="http://schemas.microsoft.com/office/drawing/2014/main" id="{0750F912-80C4-F309-2B4E-0E2406122D39}"/>
              </a:ext>
            </a:extLst>
          </p:cNvPr>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그림 2">
            <a:extLst>
              <a:ext uri="{FF2B5EF4-FFF2-40B4-BE49-F238E27FC236}">
                <a16:creationId xmlns:a16="http://schemas.microsoft.com/office/drawing/2014/main" id="{D620AAE3-FE5B-BAEC-955F-0A9A8F835F85}"/>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graphicFrame>
        <p:nvGraphicFramePr>
          <p:cNvPr id="1027" name="Table 1026"/>
          <p:cNvGraphicFramePr>
            <a:graphicFrameLocks noGrp="1"/>
          </p:cNvGraphicFramePr>
          <p:nvPr/>
        </p:nvGraphicFramePr>
        <p:xfrm>
          <a:off x="301752" y="1335024"/>
          <a:ext cx="4160519" cy="5230360"/>
        </p:xfrm>
        <a:graphic>
          <a:graphicData uri="http://schemas.openxmlformats.org/drawingml/2006/table">
            <a:tbl>
              <a:tblPr>
                <a:tableStyleId>{5C22544A-7EE6-4342-B048-85BDC9FD1C3A}</a:tableStyleId>
              </a:tblPr>
              <a:tblGrid>
                <a:gridCol w="655597">
                  <a:extLst>
                    <a:ext uri="{9D8B030D-6E8A-4147-A177-3AD203B41FA5}">
                      <a16:colId xmlns:a16="http://schemas.microsoft.com/office/drawing/2014/main" val="20000"/>
                    </a:ext>
                  </a:extLst>
                </a:gridCol>
                <a:gridCol w="868526">
                  <a:extLst>
                    <a:ext uri="{9D8B030D-6E8A-4147-A177-3AD203B41FA5}">
                      <a16:colId xmlns:a16="http://schemas.microsoft.com/office/drawing/2014/main" val="20001"/>
                    </a:ext>
                  </a:extLst>
                </a:gridCol>
                <a:gridCol w="1606306">
                  <a:extLst>
                    <a:ext uri="{9D8B030D-6E8A-4147-A177-3AD203B41FA5}">
                      <a16:colId xmlns:a16="http://schemas.microsoft.com/office/drawing/2014/main" val="20002"/>
                    </a:ext>
                  </a:extLst>
                </a:gridCol>
                <a:gridCol w="410915">
                  <a:extLst>
                    <a:ext uri="{9D8B030D-6E8A-4147-A177-3AD203B41FA5}">
                      <a16:colId xmlns:a16="http://schemas.microsoft.com/office/drawing/2014/main" val="20003"/>
                    </a:ext>
                  </a:extLst>
                </a:gridCol>
                <a:gridCol w="619175">
                  <a:extLst>
                    <a:ext uri="{9D8B030D-6E8A-4147-A177-3AD203B41FA5}">
                      <a16:colId xmlns:a16="http://schemas.microsoft.com/office/drawing/2014/main" val="20004"/>
                    </a:ext>
                  </a:extLst>
                </a:gridCol>
              </a:tblGrid>
              <a:tr h="261518">
                <a:tc>
                  <a:txBody>
                    <a:bodyPr/>
                    <a:lstStyle/>
                    <a:p>
                      <a:pPr algn="ctr"/>
                      <a:r>
                        <a:rPr sz="660" b="1">
                          <a:solidFill>
                            <a:srgbClr val="FFFFFF"/>
                          </a:solidFill>
                          <a:latin typeface="맑은 고딕"/>
                        </a:rPr>
                        <a:t>요구사항 ID</a:t>
                      </a:r>
                    </a:p>
                  </a:txBody>
                  <a:tcPr marL="27432" marR="27432" marT="4572" marB="4572" anchor="ctr">
                    <a:solidFill>
                      <a:srgbClr val="3B5AA8"/>
                    </a:solidFill>
                  </a:tcPr>
                </a:tc>
                <a:tc>
                  <a:txBody>
                    <a:bodyPr/>
                    <a:lstStyle/>
                    <a:p>
                      <a:pPr algn="ctr"/>
                      <a:r>
                        <a:rPr sz="660" b="1">
                          <a:solidFill>
                            <a:srgbClr val="FFFFFF"/>
                          </a:solidFill>
                          <a:latin typeface="맑은 고딕"/>
                        </a:rPr>
                        <a:t>요구사항명</a:t>
                      </a:r>
                    </a:p>
                  </a:txBody>
                  <a:tcPr marL="27432" marR="27432" marT="4572" marB="4572" anchor="ctr">
                    <a:solidFill>
                      <a:srgbClr val="3B5AA8"/>
                    </a:solidFill>
                  </a:tcPr>
                </a:tc>
                <a:tc>
                  <a:txBody>
                    <a:bodyPr/>
                    <a:lstStyle/>
                    <a:p>
                      <a:pPr algn="ctr"/>
                      <a:r>
                        <a:rPr sz="660" b="1">
                          <a:solidFill>
                            <a:srgbClr val="FFFFFF"/>
                          </a:solidFill>
                          <a:latin typeface="맑은 고딕"/>
                        </a:rPr>
                        <a:t>요구사항 상세설명</a:t>
                      </a:r>
                    </a:p>
                  </a:txBody>
                  <a:tcPr marL="27432" marR="27432" marT="4572" marB="4572" anchor="ctr">
                    <a:solidFill>
                      <a:srgbClr val="3B5AA8"/>
                    </a:solidFill>
                  </a:tcPr>
                </a:tc>
                <a:tc>
                  <a:txBody>
                    <a:bodyPr/>
                    <a:lstStyle/>
                    <a:p>
                      <a:pPr algn="ctr"/>
                      <a:r>
                        <a:rPr sz="660" b="1">
                          <a:solidFill>
                            <a:srgbClr val="FFFFFF"/>
                          </a:solidFill>
                          <a:latin typeface="맑은 고딕"/>
                        </a:rPr>
                        <a:t>중요도</a:t>
                      </a:r>
                    </a:p>
                  </a:txBody>
                  <a:tcPr marL="27432" marR="27432" marT="4572" marB="4572" anchor="ctr">
                    <a:solidFill>
                      <a:srgbClr val="3B5AA8"/>
                    </a:solidFill>
                  </a:tcPr>
                </a:tc>
                <a:tc>
                  <a:txBody>
                    <a:bodyPr/>
                    <a:lstStyle/>
                    <a:p>
                      <a:pPr algn="ctr"/>
                      <a:r>
                        <a:rPr sz="660" b="1">
                          <a:solidFill>
                            <a:srgbClr val="FFFFFF"/>
                          </a:solidFill>
                          <a:latin typeface="맑은 고딕"/>
                        </a:rPr>
                        <a:t>비고</a:t>
                      </a:r>
                    </a:p>
                  </a:txBody>
                  <a:tcPr marL="27432" marR="27432" marT="4572" marB="4572" anchor="ctr">
                    <a:solidFill>
                      <a:srgbClr val="3B5AA8"/>
                    </a:solidFill>
                  </a:tcPr>
                </a:tc>
                <a:extLst>
                  <a:ext uri="{0D108BD9-81ED-4DB2-BD59-A6C34878D82A}">
                    <a16:rowId xmlns:a16="http://schemas.microsoft.com/office/drawing/2014/main" val="10000"/>
                  </a:ext>
                </a:extLst>
              </a:tr>
              <a:tr h="261518">
                <a:tc>
                  <a:txBody>
                    <a:bodyPr/>
                    <a:lstStyle/>
                    <a:p>
                      <a:pPr algn="ctr"/>
                      <a:r>
                        <a:rPr sz="540" b="0">
                          <a:solidFill>
                            <a:srgbClr val="222222"/>
                          </a:solidFill>
                          <a:latin typeface="맑은 고딕"/>
                        </a:rPr>
                        <a:t>REQ-WEB-039</a:t>
                      </a:r>
                    </a:p>
                  </a:txBody>
                  <a:tcPr marL="27432" marR="27432" marT="4572" marB="4572" anchor="ctr">
                    <a:solidFill>
                      <a:srgbClr val="FFFFFF"/>
                    </a:solidFill>
                  </a:tcPr>
                </a:tc>
                <a:tc>
                  <a:txBody>
                    <a:bodyPr/>
                    <a:lstStyle/>
                    <a:p>
                      <a:pPr algn="l"/>
                      <a:r>
                        <a:rPr sz="540" b="0">
                          <a:solidFill>
                            <a:srgbClr val="222222"/>
                          </a:solidFill>
                          <a:latin typeface="맑은 고딕"/>
                        </a:rPr>
                        <a:t>배터리 연결 확인</a:t>
                      </a:r>
                    </a:p>
                  </a:txBody>
                  <a:tcPr marL="27432" marR="27432" marT="4572" marB="4572" anchor="ctr">
                    <a:solidFill>
                      <a:srgbClr val="FFFFFF"/>
                    </a:solidFill>
                  </a:tcPr>
                </a:tc>
                <a:tc>
                  <a:txBody>
                    <a:bodyPr/>
                    <a:lstStyle/>
                    <a:p>
                      <a:pPr algn="l"/>
                      <a:r>
                        <a:rPr sz="540" b="0">
                          <a:solidFill>
                            <a:srgbClr val="222222"/>
                          </a:solidFill>
                          <a:latin typeface="맑은 고딕"/>
                        </a:rPr>
                        <a:t>연결 확인 모달에서 한 번에 하나의 배터리만 연결됨을 확인하고 측정 세션을 시작한다.</a:t>
                      </a:r>
                    </a:p>
                  </a:txBody>
                  <a:tcPr marL="27432" marR="27432" marT="4572" marB="4572" anchor="ctr">
                    <a:solidFill>
                      <a:srgbClr val="FFFFFF"/>
                    </a:solidFill>
                  </a:tcPr>
                </a:tc>
                <a:tc>
                  <a:txBody>
                    <a:bodyPr/>
                    <a:lstStyle/>
                    <a:p>
                      <a:pPr algn="ctr"/>
                      <a:r>
                        <a:rPr sz="540" b="0">
                          <a:solidFill>
                            <a:srgbClr val="222222"/>
                          </a:solidFill>
                          <a:latin typeface="맑은 고딕"/>
                        </a:rPr>
                        <a:t>확인</a:t>
                      </a:r>
                    </a:p>
                  </a:txBody>
                  <a:tcPr marL="27432" marR="27432" marT="4572" marB="4572" anchor="ctr">
                    <a:solidFill>
                      <a:srgbClr val="FFFFFF"/>
                    </a:solidFill>
                  </a:tcPr>
                </a:tc>
                <a:tc>
                  <a:txBody>
                    <a:bodyPr/>
                    <a:lstStyle/>
                    <a:p>
                      <a:pPr algn="ctr"/>
                      <a:r>
                        <a:rPr sz="540" b="0">
                          <a:solidFill>
                            <a:srgbClr val="222222"/>
                          </a:solidFill>
                          <a:latin typeface="맑은 고딕"/>
                        </a:rPr>
                        <a:t>REQ-WEB-039</a:t>
                      </a:r>
                    </a:p>
                  </a:txBody>
                  <a:tcPr marL="27432" marR="27432" marT="4572" marB="4572" anchor="ctr">
                    <a:solidFill>
                      <a:srgbClr val="FFFFFF"/>
                    </a:solidFill>
                  </a:tcPr>
                </a:tc>
                <a:extLst>
                  <a:ext uri="{0D108BD9-81ED-4DB2-BD59-A6C34878D82A}">
                    <a16:rowId xmlns:a16="http://schemas.microsoft.com/office/drawing/2014/main" val="10001"/>
                  </a:ext>
                </a:extLst>
              </a:tr>
              <a:tr h="261518">
                <a:tc>
                  <a:txBody>
                    <a:bodyPr/>
                    <a:lstStyle/>
                    <a:p>
                      <a:pPr algn="ctr"/>
                      <a:r>
                        <a:rPr sz="540" b="0">
                          <a:solidFill>
                            <a:srgbClr val="222222"/>
                          </a:solidFill>
                          <a:latin typeface="맑은 고딕"/>
                        </a:rPr>
                        <a:t>REQ-WEB-040</a:t>
                      </a:r>
                    </a:p>
                  </a:txBody>
                  <a:tcPr marL="27432" marR="27432" marT="4572" marB="4572" anchor="ctr">
                    <a:solidFill>
                      <a:srgbClr val="EEF3FB"/>
                    </a:solidFill>
                  </a:tcPr>
                </a:tc>
                <a:tc>
                  <a:txBody>
                    <a:bodyPr/>
                    <a:lstStyle/>
                    <a:p>
                      <a:pPr algn="l"/>
                      <a:r>
                        <a:rPr sz="540" b="0">
                          <a:solidFill>
                            <a:srgbClr val="222222"/>
                          </a:solidFill>
                          <a:latin typeface="맑은 고딕"/>
                        </a:rPr>
                        <a:t>배터리 상세 정보 확인</a:t>
                      </a:r>
                    </a:p>
                  </a:txBody>
                  <a:tcPr marL="27432" marR="27432" marT="4572" marB="4572" anchor="ctr">
                    <a:solidFill>
                      <a:srgbClr val="EEF3FB"/>
                    </a:solidFill>
                  </a:tcPr>
                </a:tc>
                <a:tc>
                  <a:txBody>
                    <a:bodyPr/>
                    <a:lstStyle/>
                    <a:p>
                      <a:pPr algn="l"/>
                      <a:r>
                        <a:rPr sz="540" b="0">
                          <a:solidFill>
                            <a:srgbClr val="222222"/>
                          </a:solidFill>
                          <a:latin typeface="맑은 고딕"/>
                        </a:rPr>
                        <a:t>배터리 상세/이력 화면에서 기본 정보, 현재 상태, 최근 측정, 과거 세션을 확인한다.</a:t>
                      </a:r>
                    </a:p>
                  </a:txBody>
                  <a:tcPr marL="27432" marR="27432" marT="4572" marB="4572" anchor="ctr">
                    <a:solidFill>
                      <a:srgbClr val="EEF3FB"/>
                    </a:solidFill>
                  </a:tcPr>
                </a:tc>
                <a:tc>
                  <a:txBody>
                    <a:bodyPr/>
                    <a:lstStyle/>
                    <a:p>
                      <a:pPr algn="ctr"/>
                      <a:r>
                        <a:rPr sz="540" b="0">
                          <a:solidFill>
                            <a:srgbClr val="222222"/>
                          </a:solidFill>
                          <a:latin typeface="맑은 고딕"/>
                        </a:rPr>
                        <a:t>조회</a:t>
                      </a:r>
                    </a:p>
                  </a:txBody>
                  <a:tcPr marL="27432" marR="27432" marT="4572" marB="4572" anchor="ctr">
                    <a:solidFill>
                      <a:srgbClr val="EEF3FB"/>
                    </a:solidFill>
                  </a:tcPr>
                </a:tc>
                <a:tc>
                  <a:txBody>
                    <a:bodyPr/>
                    <a:lstStyle/>
                    <a:p>
                      <a:pPr algn="ctr"/>
                      <a:r>
                        <a:rPr sz="540" b="0">
                          <a:solidFill>
                            <a:srgbClr val="222222"/>
                          </a:solidFill>
                          <a:latin typeface="맑은 고딕"/>
                        </a:rPr>
                        <a:t>REQ-WEB-040</a:t>
                      </a:r>
                    </a:p>
                  </a:txBody>
                  <a:tcPr marL="27432" marR="27432" marT="4572" marB="4572" anchor="ctr">
                    <a:solidFill>
                      <a:srgbClr val="EEF3FB"/>
                    </a:solidFill>
                  </a:tcPr>
                </a:tc>
                <a:extLst>
                  <a:ext uri="{0D108BD9-81ED-4DB2-BD59-A6C34878D82A}">
                    <a16:rowId xmlns:a16="http://schemas.microsoft.com/office/drawing/2014/main" val="10002"/>
                  </a:ext>
                </a:extLst>
              </a:tr>
              <a:tr h="261518">
                <a:tc>
                  <a:txBody>
                    <a:bodyPr/>
                    <a:lstStyle/>
                    <a:p>
                      <a:pPr algn="ctr"/>
                      <a:r>
                        <a:rPr sz="540" b="0">
                          <a:solidFill>
                            <a:srgbClr val="222222"/>
                          </a:solidFill>
                          <a:latin typeface="맑은 고딕"/>
                        </a:rPr>
                        <a:t>REQ-WEB-041</a:t>
                      </a:r>
                    </a:p>
                  </a:txBody>
                  <a:tcPr marL="27432" marR="27432" marT="4572" marB="4572" anchor="ctr">
                    <a:solidFill>
                      <a:srgbClr val="FFFFFF"/>
                    </a:solidFill>
                  </a:tcPr>
                </a:tc>
                <a:tc>
                  <a:txBody>
                    <a:bodyPr/>
                    <a:lstStyle/>
                    <a:p>
                      <a:pPr algn="l"/>
                      <a:r>
                        <a:rPr sz="540" b="0">
                          <a:solidFill>
                            <a:srgbClr val="222222"/>
                          </a:solidFill>
                          <a:latin typeface="맑은 고딕"/>
                        </a:rPr>
                        <a:t>과거 측정 세션 확인</a:t>
                      </a:r>
                    </a:p>
                  </a:txBody>
                  <a:tcPr marL="27432" marR="27432" marT="4572" marB="4572" anchor="ctr">
                    <a:solidFill>
                      <a:srgbClr val="FFFFFF"/>
                    </a:solidFill>
                  </a:tcPr>
                </a:tc>
                <a:tc>
                  <a:txBody>
                    <a:bodyPr/>
                    <a:lstStyle/>
                    <a:p>
                      <a:pPr algn="l"/>
                      <a:r>
                        <a:rPr sz="540" b="0">
                          <a:solidFill>
                            <a:srgbClr val="222222"/>
                          </a:solidFill>
                          <a:latin typeface="맑은 고딕"/>
                        </a:rPr>
                        <a:t>배터리 상세/이력 화면에서 세션 ID, 시간, 상태, 이상점수 이력을 확인한다.</a:t>
                      </a:r>
                    </a:p>
                  </a:txBody>
                  <a:tcPr marL="27432" marR="27432" marT="4572" marB="4572" anchor="ctr">
                    <a:solidFill>
                      <a:srgbClr val="FFFFFF"/>
                    </a:solidFill>
                  </a:tcPr>
                </a:tc>
                <a:tc>
                  <a:txBody>
                    <a:bodyPr/>
                    <a:lstStyle/>
                    <a:p>
                      <a:pPr algn="ctr"/>
                      <a:r>
                        <a:rPr sz="540" b="0">
                          <a:solidFill>
                            <a:srgbClr val="222222"/>
                          </a:solidFill>
                          <a:latin typeface="맑은 고딕"/>
                        </a:rPr>
                        <a:t>이력조회</a:t>
                      </a:r>
                    </a:p>
                  </a:txBody>
                  <a:tcPr marL="27432" marR="27432" marT="4572" marB="4572" anchor="ctr">
                    <a:solidFill>
                      <a:srgbClr val="FFFFFF"/>
                    </a:solidFill>
                  </a:tcPr>
                </a:tc>
                <a:tc>
                  <a:txBody>
                    <a:bodyPr/>
                    <a:lstStyle/>
                    <a:p>
                      <a:pPr algn="ctr"/>
                      <a:r>
                        <a:rPr sz="540" b="0">
                          <a:solidFill>
                            <a:srgbClr val="222222"/>
                          </a:solidFill>
                          <a:latin typeface="맑은 고딕"/>
                        </a:rPr>
                        <a:t>REQ-WEB-041</a:t>
                      </a:r>
                    </a:p>
                  </a:txBody>
                  <a:tcPr marL="27432" marR="27432" marT="4572" marB="4572" anchor="ctr">
                    <a:solidFill>
                      <a:srgbClr val="FFFFFF"/>
                    </a:solidFill>
                  </a:tcPr>
                </a:tc>
                <a:extLst>
                  <a:ext uri="{0D108BD9-81ED-4DB2-BD59-A6C34878D82A}">
                    <a16:rowId xmlns:a16="http://schemas.microsoft.com/office/drawing/2014/main" val="10003"/>
                  </a:ext>
                </a:extLst>
              </a:tr>
              <a:tr h="261518">
                <a:tc>
                  <a:txBody>
                    <a:bodyPr/>
                    <a:lstStyle/>
                    <a:p>
                      <a:pPr algn="ctr"/>
                      <a:r>
                        <a:rPr sz="540" b="0">
                          <a:solidFill>
                            <a:srgbClr val="222222"/>
                          </a:solidFill>
                          <a:latin typeface="맑은 고딕"/>
                        </a:rPr>
                        <a:t>REQ-WEB-042</a:t>
                      </a:r>
                    </a:p>
                  </a:txBody>
                  <a:tcPr marL="27432" marR="27432" marT="4572" marB="4572" anchor="ctr">
                    <a:solidFill>
                      <a:srgbClr val="EEF3FB"/>
                    </a:solidFill>
                  </a:tcPr>
                </a:tc>
                <a:tc>
                  <a:txBody>
                    <a:bodyPr/>
                    <a:lstStyle/>
                    <a:p>
                      <a:pPr algn="l"/>
                      <a:r>
                        <a:rPr sz="540" b="0">
                          <a:solidFill>
                            <a:srgbClr val="222222"/>
                          </a:solidFill>
                          <a:latin typeface="맑은 고딕"/>
                        </a:rPr>
                        <a:t>이상 이벤트 요약 확인</a:t>
                      </a:r>
                    </a:p>
                  </a:txBody>
                  <a:tcPr marL="27432" marR="27432" marT="4572" marB="4572" anchor="ctr">
                    <a:solidFill>
                      <a:srgbClr val="EEF3FB"/>
                    </a:solidFill>
                  </a:tcPr>
                </a:tc>
                <a:tc>
                  <a:txBody>
                    <a:bodyPr/>
                    <a:lstStyle/>
                    <a:p>
                      <a:pPr algn="l"/>
                      <a:r>
                        <a:rPr sz="540" b="0">
                          <a:solidFill>
                            <a:srgbClr val="222222"/>
                          </a:solidFill>
                          <a:latin typeface="맑은 고딕"/>
                        </a:rPr>
                        <a:t>이상 탐지 관리 화면에서 활성 이상 이벤트, 오늘 발생 이상, 최고 이상점수, 모델 상태를 확인한다.</a:t>
                      </a:r>
                    </a:p>
                  </a:txBody>
                  <a:tcPr marL="27432" marR="27432" marT="4572" marB="4572" anchor="ctr">
                    <a:solidFill>
                      <a:srgbClr val="EEF3FB"/>
                    </a:solidFill>
                  </a:tcPr>
                </a:tc>
                <a:tc>
                  <a:txBody>
                    <a:bodyPr/>
                    <a:lstStyle/>
                    <a:p>
                      <a:pPr algn="ctr"/>
                      <a:r>
                        <a:rPr sz="540" b="0">
                          <a:solidFill>
                            <a:srgbClr val="222222"/>
                          </a:solidFill>
                          <a:latin typeface="맑은 고딕"/>
                        </a:rPr>
                        <a:t>이상탐지</a:t>
                      </a:r>
                    </a:p>
                  </a:txBody>
                  <a:tcPr marL="27432" marR="27432" marT="4572" marB="4572" anchor="ctr">
                    <a:solidFill>
                      <a:srgbClr val="EEF3FB"/>
                    </a:solidFill>
                  </a:tcPr>
                </a:tc>
                <a:tc>
                  <a:txBody>
                    <a:bodyPr/>
                    <a:lstStyle/>
                    <a:p>
                      <a:pPr algn="ctr"/>
                      <a:r>
                        <a:rPr sz="540" b="0">
                          <a:solidFill>
                            <a:srgbClr val="222222"/>
                          </a:solidFill>
                          <a:latin typeface="맑은 고딕"/>
                        </a:rPr>
                        <a:t>REQ-WEB-042</a:t>
                      </a:r>
                    </a:p>
                  </a:txBody>
                  <a:tcPr marL="27432" marR="27432" marT="4572" marB="4572" anchor="ctr">
                    <a:solidFill>
                      <a:srgbClr val="EEF3FB"/>
                    </a:solidFill>
                  </a:tcPr>
                </a:tc>
                <a:extLst>
                  <a:ext uri="{0D108BD9-81ED-4DB2-BD59-A6C34878D82A}">
                    <a16:rowId xmlns:a16="http://schemas.microsoft.com/office/drawing/2014/main" val="10004"/>
                  </a:ext>
                </a:extLst>
              </a:tr>
              <a:tr h="261518">
                <a:tc>
                  <a:txBody>
                    <a:bodyPr/>
                    <a:lstStyle/>
                    <a:p>
                      <a:pPr algn="ctr"/>
                      <a:r>
                        <a:rPr sz="540" b="0">
                          <a:solidFill>
                            <a:srgbClr val="222222"/>
                          </a:solidFill>
                          <a:latin typeface="맑은 고딕"/>
                        </a:rPr>
                        <a:t>REQ-WEB-043</a:t>
                      </a:r>
                    </a:p>
                  </a:txBody>
                  <a:tcPr marL="27432" marR="27432" marT="4572" marB="4572" anchor="ctr">
                    <a:solidFill>
                      <a:srgbClr val="FFFFFF"/>
                    </a:solidFill>
                  </a:tcPr>
                </a:tc>
                <a:tc>
                  <a:txBody>
                    <a:bodyPr/>
                    <a:lstStyle/>
                    <a:p>
                      <a:pPr algn="l"/>
                      <a:r>
                        <a:rPr sz="540" b="0">
                          <a:solidFill>
                            <a:srgbClr val="222222"/>
                          </a:solidFill>
                          <a:latin typeface="맑은 고딕"/>
                        </a:rPr>
                        <a:t>이상 근거 확인</a:t>
                      </a:r>
                    </a:p>
                  </a:txBody>
                  <a:tcPr marL="27432" marR="27432" marT="4572" marB="4572" anchor="ctr">
                    <a:solidFill>
                      <a:srgbClr val="FFFFFF"/>
                    </a:solidFill>
                  </a:tcPr>
                </a:tc>
                <a:tc>
                  <a:txBody>
                    <a:bodyPr/>
                    <a:lstStyle/>
                    <a:p>
                      <a:pPr algn="l"/>
                      <a:r>
                        <a:rPr sz="540" b="0">
                          <a:solidFill>
                            <a:srgbClr val="222222"/>
                          </a:solidFill>
                          <a:latin typeface="맑은 고딕"/>
                        </a:rPr>
                        <a:t>XAI 영역에서 V_drop, dT/dt, gas_raw, pressure_raw 등 이상점수 기여 요인을 확인한다.</a:t>
                      </a:r>
                    </a:p>
                  </a:txBody>
                  <a:tcPr marL="27432" marR="27432" marT="4572" marB="4572" anchor="ctr">
                    <a:solidFill>
                      <a:srgbClr val="FFFFFF"/>
                    </a:solidFill>
                  </a:tcPr>
                </a:tc>
                <a:tc>
                  <a:txBody>
                    <a:bodyPr/>
                    <a:lstStyle/>
                    <a:p>
                      <a:pPr algn="ctr"/>
                      <a:r>
                        <a:rPr sz="540" b="0">
                          <a:solidFill>
                            <a:srgbClr val="222222"/>
                          </a:solidFill>
                          <a:latin typeface="맑은 고딕"/>
                        </a:rPr>
                        <a:t>이상탐지</a:t>
                      </a:r>
                    </a:p>
                  </a:txBody>
                  <a:tcPr marL="27432" marR="27432" marT="4572" marB="4572" anchor="ctr">
                    <a:solidFill>
                      <a:srgbClr val="FFFFFF"/>
                    </a:solidFill>
                  </a:tcPr>
                </a:tc>
                <a:tc>
                  <a:txBody>
                    <a:bodyPr/>
                    <a:lstStyle/>
                    <a:p>
                      <a:pPr algn="ctr"/>
                      <a:r>
                        <a:rPr sz="540" b="0">
                          <a:solidFill>
                            <a:srgbClr val="222222"/>
                          </a:solidFill>
                          <a:latin typeface="맑은 고딕"/>
                        </a:rPr>
                        <a:t>REQ-WEB-043</a:t>
                      </a:r>
                    </a:p>
                  </a:txBody>
                  <a:tcPr marL="27432" marR="27432" marT="4572" marB="4572" anchor="ctr">
                    <a:solidFill>
                      <a:srgbClr val="FFFFFF"/>
                    </a:solidFill>
                  </a:tcPr>
                </a:tc>
                <a:extLst>
                  <a:ext uri="{0D108BD9-81ED-4DB2-BD59-A6C34878D82A}">
                    <a16:rowId xmlns:a16="http://schemas.microsoft.com/office/drawing/2014/main" val="10005"/>
                  </a:ext>
                </a:extLst>
              </a:tr>
              <a:tr h="261518">
                <a:tc>
                  <a:txBody>
                    <a:bodyPr/>
                    <a:lstStyle/>
                    <a:p>
                      <a:pPr algn="ctr"/>
                      <a:r>
                        <a:rPr sz="540" b="0">
                          <a:solidFill>
                            <a:srgbClr val="222222"/>
                          </a:solidFill>
                          <a:latin typeface="맑은 고딕"/>
                        </a:rPr>
                        <a:t>REQ-WEB-044</a:t>
                      </a:r>
                    </a:p>
                  </a:txBody>
                  <a:tcPr marL="27432" marR="27432" marT="4572" marB="4572" anchor="ctr">
                    <a:solidFill>
                      <a:srgbClr val="EEF3FB"/>
                    </a:solidFill>
                  </a:tcPr>
                </a:tc>
                <a:tc>
                  <a:txBody>
                    <a:bodyPr/>
                    <a:lstStyle/>
                    <a:p>
                      <a:pPr algn="l"/>
                      <a:r>
                        <a:rPr sz="540" b="0">
                          <a:solidFill>
                            <a:srgbClr val="222222"/>
                          </a:solidFill>
                          <a:latin typeface="맑은 고딕"/>
                        </a:rPr>
                        <a:t>건강도 확인</a:t>
                      </a:r>
                    </a:p>
                  </a:txBody>
                  <a:tcPr marL="27432" marR="27432" marT="4572" marB="4572" anchor="ctr">
                    <a:solidFill>
                      <a:srgbClr val="EEF3FB"/>
                    </a:solidFill>
                  </a:tcPr>
                </a:tc>
                <a:tc>
                  <a:txBody>
                    <a:bodyPr/>
                    <a:lstStyle/>
                    <a:p>
                      <a:pPr algn="l"/>
                      <a:r>
                        <a:rPr sz="540" b="0">
                          <a:solidFill>
                            <a:srgbClr val="222222"/>
                          </a:solidFill>
                          <a:latin typeface="맑은 고딕"/>
                        </a:rPr>
                        <a:t>SOH, RUL, 누적 사이클, 내부 저항, 만료 임박 정보를 확인한다.</a:t>
                      </a:r>
                    </a:p>
                  </a:txBody>
                  <a:tcPr marL="27432" marR="27432" marT="4572" marB="4572" anchor="ctr">
                    <a:solidFill>
                      <a:srgbClr val="EEF3FB"/>
                    </a:solidFill>
                  </a:tcPr>
                </a:tc>
                <a:tc>
                  <a:txBody>
                    <a:bodyPr/>
                    <a:lstStyle/>
                    <a:p>
                      <a:pPr algn="ctr"/>
                      <a:r>
                        <a:rPr sz="540" b="0">
                          <a:solidFill>
                            <a:srgbClr val="222222"/>
                          </a:solidFill>
                          <a:latin typeface="맑은 고딕"/>
                        </a:rPr>
                        <a:t>조회</a:t>
                      </a:r>
                    </a:p>
                  </a:txBody>
                  <a:tcPr marL="27432" marR="27432" marT="4572" marB="4572" anchor="ctr">
                    <a:solidFill>
                      <a:srgbClr val="EEF3FB"/>
                    </a:solidFill>
                  </a:tcPr>
                </a:tc>
                <a:tc>
                  <a:txBody>
                    <a:bodyPr/>
                    <a:lstStyle/>
                    <a:p>
                      <a:pPr algn="ctr"/>
                      <a:r>
                        <a:rPr sz="540" b="0">
                          <a:solidFill>
                            <a:srgbClr val="222222"/>
                          </a:solidFill>
                          <a:latin typeface="맑은 고딕"/>
                        </a:rPr>
                        <a:t>REQ-WEB-044</a:t>
                      </a:r>
                    </a:p>
                  </a:txBody>
                  <a:tcPr marL="27432" marR="27432" marT="4572" marB="4572" anchor="ctr">
                    <a:solidFill>
                      <a:srgbClr val="EEF3FB"/>
                    </a:solidFill>
                  </a:tcPr>
                </a:tc>
                <a:extLst>
                  <a:ext uri="{0D108BD9-81ED-4DB2-BD59-A6C34878D82A}">
                    <a16:rowId xmlns:a16="http://schemas.microsoft.com/office/drawing/2014/main" val="10006"/>
                  </a:ext>
                </a:extLst>
              </a:tr>
              <a:tr h="261518">
                <a:tc>
                  <a:txBody>
                    <a:bodyPr/>
                    <a:lstStyle/>
                    <a:p>
                      <a:pPr algn="ctr"/>
                      <a:r>
                        <a:rPr sz="540" b="0">
                          <a:solidFill>
                            <a:srgbClr val="222222"/>
                          </a:solidFill>
                          <a:latin typeface="맑은 고딕"/>
                        </a:rPr>
                        <a:t>REQ-WEB-045</a:t>
                      </a:r>
                    </a:p>
                  </a:txBody>
                  <a:tcPr marL="27432" marR="27432" marT="4572" marB="4572" anchor="ctr">
                    <a:solidFill>
                      <a:srgbClr val="FFFFFF"/>
                    </a:solidFill>
                  </a:tcPr>
                </a:tc>
                <a:tc>
                  <a:txBody>
                    <a:bodyPr/>
                    <a:lstStyle/>
                    <a:p>
                      <a:pPr algn="l"/>
                      <a:r>
                        <a:rPr sz="540" b="0">
                          <a:solidFill>
                            <a:srgbClr val="222222"/>
                          </a:solidFill>
                          <a:latin typeface="맑은 고딕"/>
                        </a:rPr>
                        <a:t>이상 탐지 상세 열기</a:t>
                      </a:r>
                    </a:p>
                  </a:txBody>
                  <a:tcPr marL="27432" marR="27432" marT="4572" marB="4572" anchor="ctr">
                    <a:solidFill>
                      <a:srgbClr val="FFFFFF"/>
                    </a:solidFill>
                  </a:tcPr>
                </a:tc>
                <a:tc>
                  <a:txBody>
                    <a:bodyPr/>
                    <a:lstStyle/>
                    <a:p>
                      <a:pPr algn="l"/>
                      <a:r>
                        <a:rPr sz="540" b="0">
                          <a:solidFill>
                            <a:srgbClr val="222222"/>
                          </a:solidFill>
                          <a:latin typeface="맑은 고딕"/>
                        </a:rPr>
                        <a:t>이상 항목 또는 더보기 동작으로 이상 상세 모달을 연다.</a:t>
                      </a:r>
                    </a:p>
                  </a:txBody>
                  <a:tcPr marL="27432" marR="27432" marT="4572" marB="4572" anchor="ctr">
                    <a:solidFill>
                      <a:srgbClr val="FFFFFF"/>
                    </a:solidFill>
                  </a:tcPr>
                </a:tc>
                <a:tc>
                  <a:txBody>
                    <a:bodyPr/>
                    <a:lstStyle/>
                    <a:p>
                      <a:pPr algn="ctr"/>
                      <a:r>
                        <a:rPr sz="540" b="0">
                          <a:solidFill>
                            <a:srgbClr val="222222"/>
                          </a:solidFill>
                          <a:latin typeface="맑은 고딕"/>
                        </a:rPr>
                        <a:t>상세</a:t>
                      </a:r>
                    </a:p>
                  </a:txBody>
                  <a:tcPr marL="27432" marR="27432" marT="4572" marB="4572" anchor="ctr">
                    <a:solidFill>
                      <a:srgbClr val="FFFFFF"/>
                    </a:solidFill>
                  </a:tcPr>
                </a:tc>
                <a:tc>
                  <a:txBody>
                    <a:bodyPr/>
                    <a:lstStyle/>
                    <a:p>
                      <a:pPr algn="ctr"/>
                      <a:r>
                        <a:rPr sz="540" b="0">
                          <a:solidFill>
                            <a:srgbClr val="222222"/>
                          </a:solidFill>
                          <a:latin typeface="맑은 고딕"/>
                        </a:rPr>
                        <a:t>REQ-WEB-045</a:t>
                      </a:r>
                    </a:p>
                  </a:txBody>
                  <a:tcPr marL="27432" marR="27432" marT="4572" marB="4572" anchor="ctr">
                    <a:solidFill>
                      <a:srgbClr val="FFFFFF"/>
                    </a:solidFill>
                  </a:tcPr>
                </a:tc>
                <a:extLst>
                  <a:ext uri="{0D108BD9-81ED-4DB2-BD59-A6C34878D82A}">
                    <a16:rowId xmlns:a16="http://schemas.microsoft.com/office/drawing/2014/main" val="10007"/>
                  </a:ext>
                </a:extLst>
              </a:tr>
              <a:tr h="261518">
                <a:tc>
                  <a:txBody>
                    <a:bodyPr/>
                    <a:lstStyle/>
                    <a:p>
                      <a:pPr algn="ctr"/>
                      <a:r>
                        <a:rPr sz="540" b="0">
                          <a:solidFill>
                            <a:srgbClr val="222222"/>
                          </a:solidFill>
                          <a:latin typeface="맑은 고딕"/>
                        </a:rPr>
                        <a:t>REQ-WEB-046</a:t>
                      </a:r>
                    </a:p>
                  </a:txBody>
                  <a:tcPr marL="27432" marR="27432" marT="4572" marB="4572" anchor="ctr">
                    <a:solidFill>
                      <a:srgbClr val="EEF3FB"/>
                    </a:solidFill>
                  </a:tcPr>
                </a:tc>
                <a:tc>
                  <a:txBody>
                    <a:bodyPr/>
                    <a:lstStyle/>
                    <a:p>
                      <a:pPr algn="l"/>
                      <a:r>
                        <a:rPr sz="540" b="0">
                          <a:solidFill>
                            <a:srgbClr val="222222"/>
                          </a:solidFill>
                          <a:latin typeface="맑은 고딕"/>
                        </a:rPr>
                        <a:t>추세 기간 전환</a:t>
                      </a:r>
                    </a:p>
                  </a:txBody>
                  <a:tcPr marL="27432" marR="27432" marT="4572" marB="4572" anchor="ctr">
                    <a:solidFill>
                      <a:srgbClr val="EEF3FB"/>
                    </a:solidFill>
                  </a:tcPr>
                </a:tc>
                <a:tc>
                  <a:txBody>
                    <a:bodyPr/>
                    <a:lstStyle/>
                    <a:p>
                      <a:pPr algn="l"/>
                      <a:r>
                        <a:rPr sz="540" b="0">
                          <a:solidFill>
                            <a:srgbClr val="222222"/>
                          </a:solidFill>
                          <a:latin typeface="맑은 고딕"/>
                        </a:rPr>
                        <a:t>추세 차트 화면에서 24시간, 7일, 30일 기간 탭을 전환한다.</a:t>
                      </a:r>
                    </a:p>
                  </a:txBody>
                  <a:tcPr marL="27432" marR="27432" marT="4572" marB="4572" anchor="ctr">
                    <a:solidFill>
                      <a:srgbClr val="EEF3FB"/>
                    </a:solidFill>
                  </a:tcPr>
                </a:tc>
                <a:tc>
                  <a:txBody>
                    <a:bodyPr/>
                    <a:lstStyle/>
                    <a:p>
                      <a:pPr algn="ctr"/>
                      <a:r>
                        <a:rPr sz="540" b="0">
                          <a:solidFill>
                            <a:srgbClr val="222222"/>
                          </a:solidFill>
                          <a:latin typeface="맑은 고딕"/>
                        </a:rPr>
                        <a:t>차트</a:t>
                      </a:r>
                    </a:p>
                  </a:txBody>
                  <a:tcPr marL="27432" marR="27432" marT="4572" marB="4572" anchor="ctr">
                    <a:solidFill>
                      <a:srgbClr val="EEF3FB"/>
                    </a:solidFill>
                  </a:tcPr>
                </a:tc>
                <a:tc>
                  <a:txBody>
                    <a:bodyPr/>
                    <a:lstStyle/>
                    <a:p>
                      <a:pPr algn="ctr"/>
                      <a:r>
                        <a:rPr sz="540" b="0">
                          <a:solidFill>
                            <a:srgbClr val="222222"/>
                          </a:solidFill>
                          <a:latin typeface="맑은 고딕"/>
                        </a:rPr>
                        <a:t>REQ-WEB-046</a:t>
                      </a:r>
                    </a:p>
                  </a:txBody>
                  <a:tcPr marL="27432" marR="27432" marT="4572" marB="4572" anchor="ctr">
                    <a:solidFill>
                      <a:srgbClr val="EEF3FB"/>
                    </a:solidFill>
                  </a:tcPr>
                </a:tc>
                <a:extLst>
                  <a:ext uri="{0D108BD9-81ED-4DB2-BD59-A6C34878D82A}">
                    <a16:rowId xmlns:a16="http://schemas.microsoft.com/office/drawing/2014/main" val="10008"/>
                  </a:ext>
                </a:extLst>
              </a:tr>
              <a:tr h="261518">
                <a:tc>
                  <a:txBody>
                    <a:bodyPr/>
                    <a:lstStyle/>
                    <a:p>
                      <a:pPr algn="ctr"/>
                      <a:r>
                        <a:rPr sz="540" b="0">
                          <a:solidFill>
                            <a:srgbClr val="222222"/>
                          </a:solidFill>
                          <a:latin typeface="맑은 고딕"/>
                        </a:rPr>
                        <a:t>REQ-WEB-047</a:t>
                      </a:r>
                    </a:p>
                  </a:txBody>
                  <a:tcPr marL="27432" marR="27432" marT="4572" marB="4572" anchor="ctr">
                    <a:solidFill>
                      <a:srgbClr val="FFFFFF"/>
                    </a:solidFill>
                  </a:tcPr>
                </a:tc>
                <a:tc>
                  <a:txBody>
                    <a:bodyPr/>
                    <a:lstStyle/>
                    <a:p>
                      <a:pPr algn="l"/>
                      <a:r>
                        <a:rPr sz="540" b="0">
                          <a:solidFill>
                            <a:srgbClr val="222222"/>
                          </a:solidFill>
                          <a:latin typeface="맑은 고딕"/>
                        </a:rPr>
                        <a:t>추세 지표 전환</a:t>
                      </a:r>
                    </a:p>
                  </a:txBody>
                  <a:tcPr marL="27432" marR="27432" marT="4572" marB="4572" anchor="ctr">
                    <a:solidFill>
                      <a:srgbClr val="FFFFFF"/>
                    </a:solidFill>
                  </a:tcPr>
                </a:tc>
                <a:tc>
                  <a:txBody>
                    <a:bodyPr/>
                    <a:lstStyle/>
                    <a:p>
                      <a:pPr algn="l"/>
                      <a:r>
                        <a:rPr sz="540" b="0">
                          <a:solidFill>
                            <a:srgbClr val="222222"/>
                          </a:solidFill>
                          <a:latin typeface="맑은 고딕"/>
                        </a:rPr>
                        <a:t>추세 차트 화면에서 온도, 전압 등 표시 지표를 선택해 차트를 바꾼다.</a:t>
                      </a:r>
                    </a:p>
                  </a:txBody>
                  <a:tcPr marL="27432" marR="27432" marT="4572" marB="4572" anchor="ctr">
                    <a:solidFill>
                      <a:srgbClr val="FFFFFF"/>
                    </a:solidFill>
                  </a:tcPr>
                </a:tc>
                <a:tc>
                  <a:txBody>
                    <a:bodyPr/>
                    <a:lstStyle/>
                    <a:p>
                      <a:pPr algn="ctr"/>
                      <a:r>
                        <a:rPr sz="540" b="0">
                          <a:solidFill>
                            <a:srgbClr val="222222"/>
                          </a:solidFill>
                          <a:latin typeface="맑은 고딕"/>
                        </a:rPr>
                        <a:t>차트</a:t>
                      </a:r>
                    </a:p>
                  </a:txBody>
                  <a:tcPr marL="27432" marR="27432" marT="4572" marB="4572" anchor="ctr">
                    <a:solidFill>
                      <a:srgbClr val="FFFFFF"/>
                    </a:solidFill>
                  </a:tcPr>
                </a:tc>
                <a:tc>
                  <a:txBody>
                    <a:bodyPr/>
                    <a:lstStyle/>
                    <a:p>
                      <a:pPr algn="ctr"/>
                      <a:r>
                        <a:rPr sz="540" b="0">
                          <a:solidFill>
                            <a:srgbClr val="222222"/>
                          </a:solidFill>
                          <a:latin typeface="맑은 고딕"/>
                        </a:rPr>
                        <a:t>REQ-WEB-047</a:t>
                      </a:r>
                    </a:p>
                  </a:txBody>
                  <a:tcPr marL="27432" marR="27432" marT="4572" marB="4572" anchor="ctr">
                    <a:solidFill>
                      <a:srgbClr val="FFFFFF"/>
                    </a:solidFill>
                  </a:tcPr>
                </a:tc>
                <a:extLst>
                  <a:ext uri="{0D108BD9-81ED-4DB2-BD59-A6C34878D82A}">
                    <a16:rowId xmlns:a16="http://schemas.microsoft.com/office/drawing/2014/main" val="10009"/>
                  </a:ext>
                </a:extLst>
              </a:tr>
              <a:tr h="261518">
                <a:tc>
                  <a:txBody>
                    <a:bodyPr/>
                    <a:lstStyle/>
                    <a:p>
                      <a:pPr algn="ctr"/>
                      <a:r>
                        <a:rPr sz="540" b="0">
                          <a:solidFill>
                            <a:srgbClr val="222222"/>
                          </a:solidFill>
                          <a:latin typeface="맑은 고딕"/>
                        </a:rPr>
                        <a:t>REQ-WEB-048</a:t>
                      </a:r>
                    </a:p>
                  </a:txBody>
                  <a:tcPr marL="27432" marR="27432" marT="4572" marB="4572" anchor="ctr">
                    <a:solidFill>
                      <a:srgbClr val="EEF3FB"/>
                    </a:solidFill>
                  </a:tcPr>
                </a:tc>
                <a:tc>
                  <a:txBody>
                    <a:bodyPr/>
                    <a:lstStyle/>
                    <a:p>
                      <a:pPr algn="l"/>
                      <a:r>
                        <a:rPr sz="540" b="0">
                          <a:solidFill>
                            <a:srgbClr val="222222"/>
                          </a:solidFill>
                          <a:latin typeface="맑은 고딕"/>
                        </a:rPr>
                        <a:t>다중 배터리 비교</a:t>
                      </a:r>
                    </a:p>
                  </a:txBody>
                  <a:tcPr marL="27432" marR="27432" marT="4572" marB="4572" anchor="ctr">
                    <a:solidFill>
                      <a:srgbClr val="EEF3FB"/>
                    </a:solidFill>
                  </a:tcPr>
                </a:tc>
                <a:tc>
                  <a:txBody>
                    <a:bodyPr/>
                    <a:lstStyle/>
                    <a:p>
                      <a:pPr algn="l"/>
                      <a:r>
                        <a:rPr sz="540" b="0">
                          <a:solidFill>
                            <a:srgbClr val="222222"/>
                          </a:solidFill>
                          <a:latin typeface="맑은 고딕"/>
                        </a:rPr>
                        <a:t>추세 차트 화면에서 비교 추가 버튼으로 여러 배터리 또는 세션을 겹쳐 본다.</a:t>
                      </a:r>
                    </a:p>
                  </a:txBody>
                  <a:tcPr marL="27432" marR="27432" marT="4572" marB="4572" anchor="ctr">
                    <a:solidFill>
                      <a:srgbClr val="EEF3FB"/>
                    </a:solidFill>
                  </a:tcPr>
                </a:tc>
                <a:tc>
                  <a:txBody>
                    <a:bodyPr/>
                    <a:lstStyle/>
                    <a:p>
                      <a:pPr algn="ctr"/>
                      <a:r>
                        <a:rPr sz="540" b="0">
                          <a:solidFill>
                            <a:srgbClr val="222222"/>
                          </a:solidFill>
                          <a:latin typeface="맑은 고딕"/>
                        </a:rPr>
                        <a:t>차트</a:t>
                      </a:r>
                    </a:p>
                  </a:txBody>
                  <a:tcPr marL="27432" marR="27432" marT="4572" marB="4572" anchor="ctr">
                    <a:solidFill>
                      <a:srgbClr val="EEF3FB"/>
                    </a:solidFill>
                  </a:tcPr>
                </a:tc>
                <a:tc>
                  <a:txBody>
                    <a:bodyPr/>
                    <a:lstStyle/>
                    <a:p>
                      <a:pPr algn="ctr"/>
                      <a:r>
                        <a:rPr sz="540" b="0">
                          <a:solidFill>
                            <a:srgbClr val="222222"/>
                          </a:solidFill>
                          <a:latin typeface="맑은 고딕"/>
                        </a:rPr>
                        <a:t>REQ-WEB-048</a:t>
                      </a:r>
                    </a:p>
                  </a:txBody>
                  <a:tcPr marL="27432" marR="27432" marT="4572" marB="4572" anchor="ctr">
                    <a:solidFill>
                      <a:srgbClr val="EEF3FB"/>
                    </a:solidFill>
                  </a:tcPr>
                </a:tc>
                <a:extLst>
                  <a:ext uri="{0D108BD9-81ED-4DB2-BD59-A6C34878D82A}">
                    <a16:rowId xmlns:a16="http://schemas.microsoft.com/office/drawing/2014/main" val="10010"/>
                  </a:ext>
                </a:extLst>
              </a:tr>
              <a:tr h="261518">
                <a:tc>
                  <a:txBody>
                    <a:bodyPr/>
                    <a:lstStyle/>
                    <a:p>
                      <a:pPr algn="ctr"/>
                      <a:r>
                        <a:rPr sz="540" b="0">
                          <a:solidFill>
                            <a:srgbClr val="222222"/>
                          </a:solidFill>
                          <a:latin typeface="맑은 고딕"/>
                        </a:rPr>
                        <a:t>REQ-WEB-049</a:t>
                      </a:r>
                    </a:p>
                  </a:txBody>
                  <a:tcPr marL="27432" marR="27432" marT="4572" marB="4572" anchor="ctr">
                    <a:solidFill>
                      <a:srgbClr val="FFFFFF"/>
                    </a:solidFill>
                  </a:tcPr>
                </a:tc>
                <a:tc>
                  <a:txBody>
                    <a:bodyPr/>
                    <a:lstStyle/>
                    <a:p>
                      <a:pPr algn="l"/>
                      <a:r>
                        <a:rPr sz="540" b="0">
                          <a:solidFill>
                            <a:srgbClr val="222222"/>
                          </a:solidFill>
                          <a:latin typeface="맑은 고딕"/>
                        </a:rPr>
                        <a:t>이벤트 검색</a:t>
                      </a:r>
                    </a:p>
                  </a:txBody>
                  <a:tcPr marL="27432" marR="27432" marT="4572" marB="4572" anchor="ctr">
                    <a:solidFill>
                      <a:srgbClr val="FFFFFF"/>
                    </a:solidFill>
                  </a:tcPr>
                </a:tc>
                <a:tc>
                  <a:txBody>
                    <a:bodyPr/>
                    <a:lstStyle/>
                    <a:p>
                      <a:pPr algn="l"/>
                      <a:r>
                        <a:rPr sz="540" b="0">
                          <a:solidFill>
                            <a:srgbClr val="222222"/>
                          </a:solidFill>
                          <a:latin typeface="맑은 고딕"/>
                        </a:rPr>
                        <a:t>이벤트 이력 화면에서 이벤트 검색어로 목록을 필터링한다.</a:t>
                      </a:r>
                    </a:p>
                  </a:txBody>
                  <a:tcPr marL="27432" marR="27432" marT="4572" marB="4572" anchor="ctr">
                    <a:solidFill>
                      <a:srgbClr val="FFFFFF"/>
                    </a:solidFill>
                  </a:tcPr>
                </a:tc>
                <a:tc>
                  <a:txBody>
                    <a:bodyPr/>
                    <a:lstStyle/>
                    <a:p>
                      <a:pPr algn="ctr"/>
                      <a:r>
                        <a:rPr sz="540" b="0">
                          <a:solidFill>
                            <a:srgbClr val="222222"/>
                          </a:solidFill>
                          <a:latin typeface="맑은 고딕"/>
                        </a:rPr>
                        <a:t>검색</a:t>
                      </a:r>
                    </a:p>
                  </a:txBody>
                  <a:tcPr marL="27432" marR="27432" marT="4572" marB="4572" anchor="ctr">
                    <a:solidFill>
                      <a:srgbClr val="FFFFFF"/>
                    </a:solidFill>
                  </a:tcPr>
                </a:tc>
                <a:tc>
                  <a:txBody>
                    <a:bodyPr/>
                    <a:lstStyle/>
                    <a:p>
                      <a:pPr algn="ctr"/>
                      <a:r>
                        <a:rPr sz="540" b="0">
                          <a:solidFill>
                            <a:srgbClr val="222222"/>
                          </a:solidFill>
                          <a:latin typeface="맑은 고딕"/>
                        </a:rPr>
                        <a:t>REQ-WEB-049</a:t>
                      </a:r>
                    </a:p>
                  </a:txBody>
                  <a:tcPr marL="27432" marR="27432" marT="4572" marB="4572" anchor="ctr">
                    <a:solidFill>
                      <a:srgbClr val="FFFFFF"/>
                    </a:solidFill>
                  </a:tcPr>
                </a:tc>
                <a:extLst>
                  <a:ext uri="{0D108BD9-81ED-4DB2-BD59-A6C34878D82A}">
                    <a16:rowId xmlns:a16="http://schemas.microsoft.com/office/drawing/2014/main" val="10011"/>
                  </a:ext>
                </a:extLst>
              </a:tr>
              <a:tr h="261518">
                <a:tc>
                  <a:txBody>
                    <a:bodyPr/>
                    <a:lstStyle/>
                    <a:p>
                      <a:pPr algn="ctr"/>
                      <a:r>
                        <a:rPr sz="540" b="0">
                          <a:solidFill>
                            <a:srgbClr val="222222"/>
                          </a:solidFill>
                          <a:latin typeface="맑은 고딕"/>
                        </a:rPr>
                        <a:t>REQ-WEB-050</a:t>
                      </a:r>
                    </a:p>
                  </a:txBody>
                  <a:tcPr marL="27432" marR="27432" marT="4572" marB="4572" anchor="ctr">
                    <a:solidFill>
                      <a:srgbClr val="EEF3FB"/>
                    </a:solidFill>
                  </a:tcPr>
                </a:tc>
                <a:tc>
                  <a:txBody>
                    <a:bodyPr/>
                    <a:lstStyle/>
                    <a:p>
                      <a:pPr algn="l"/>
                      <a:r>
                        <a:rPr sz="540" b="0">
                          <a:solidFill>
                            <a:srgbClr val="222222"/>
                          </a:solidFill>
                          <a:latin typeface="맑은 고딕"/>
                        </a:rPr>
                        <a:t>이벤트 상태 필터</a:t>
                      </a:r>
                    </a:p>
                  </a:txBody>
                  <a:tcPr marL="27432" marR="27432" marT="4572" marB="4572" anchor="ctr">
                    <a:solidFill>
                      <a:srgbClr val="EEF3FB"/>
                    </a:solidFill>
                  </a:tcPr>
                </a:tc>
                <a:tc>
                  <a:txBody>
                    <a:bodyPr/>
                    <a:lstStyle/>
                    <a:p>
                      <a:pPr algn="l"/>
                      <a:r>
                        <a:rPr sz="540" b="0">
                          <a:solidFill>
                            <a:srgbClr val="222222"/>
                          </a:solidFill>
                          <a:latin typeface="맑은 고딕"/>
                        </a:rPr>
                        <a:t>이벤트 이력 화면에서 전체, 정상, 주의, 경고, 위험 등 상태 칩으로 목록을 필터링한다.</a:t>
                      </a:r>
                    </a:p>
                  </a:txBody>
                  <a:tcPr marL="27432" marR="27432" marT="4572" marB="4572" anchor="ctr">
                    <a:solidFill>
                      <a:srgbClr val="EEF3FB"/>
                    </a:solidFill>
                  </a:tcPr>
                </a:tc>
                <a:tc>
                  <a:txBody>
                    <a:bodyPr/>
                    <a:lstStyle/>
                    <a:p>
                      <a:pPr algn="ctr"/>
                      <a:r>
                        <a:rPr sz="540" b="0">
                          <a:solidFill>
                            <a:srgbClr val="222222"/>
                          </a:solidFill>
                          <a:latin typeface="맑은 고딕"/>
                        </a:rPr>
                        <a:t>필터</a:t>
                      </a:r>
                    </a:p>
                  </a:txBody>
                  <a:tcPr marL="27432" marR="27432" marT="4572" marB="4572" anchor="ctr">
                    <a:solidFill>
                      <a:srgbClr val="EEF3FB"/>
                    </a:solidFill>
                  </a:tcPr>
                </a:tc>
                <a:tc>
                  <a:txBody>
                    <a:bodyPr/>
                    <a:lstStyle/>
                    <a:p>
                      <a:pPr algn="ctr"/>
                      <a:r>
                        <a:rPr sz="540" b="0">
                          <a:solidFill>
                            <a:srgbClr val="222222"/>
                          </a:solidFill>
                          <a:latin typeface="맑은 고딕"/>
                        </a:rPr>
                        <a:t>REQ-WEB-050</a:t>
                      </a:r>
                    </a:p>
                  </a:txBody>
                  <a:tcPr marL="27432" marR="27432" marT="4572" marB="4572" anchor="ctr">
                    <a:solidFill>
                      <a:srgbClr val="EEF3FB"/>
                    </a:solidFill>
                  </a:tcPr>
                </a:tc>
                <a:extLst>
                  <a:ext uri="{0D108BD9-81ED-4DB2-BD59-A6C34878D82A}">
                    <a16:rowId xmlns:a16="http://schemas.microsoft.com/office/drawing/2014/main" val="10012"/>
                  </a:ext>
                </a:extLst>
              </a:tr>
              <a:tr h="261518">
                <a:tc>
                  <a:txBody>
                    <a:bodyPr/>
                    <a:lstStyle/>
                    <a:p>
                      <a:pPr algn="ctr"/>
                      <a:r>
                        <a:rPr sz="540" b="0">
                          <a:solidFill>
                            <a:srgbClr val="222222"/>
                          </a:solidFill>
                          <a:latin typeface="맑은 고딕"/>
                        </a:rPr>
                        <a:t>REQ-WEB-051</a:t>
                      </a:r>
                    </a:p>
                  </a:txBody>
                  <a:tcPr marL="27432" marR="27432" marT="4572" marB="4572" anchor="ctr">
                    <a:solidFill>
                      <a:srgbClr val="FFFFFF"/>
                    </a:solidFill>
                  </a:tcPr>
                </a:tc>
                <a:tc>
                  <a:txBody>
                    <a:bodyPr/>
                    <a:lstStyle/>
                    <a:p>
                      <a:pPr algn="l"/>
                      <a:r>
                        <a:rPr sz="540" b="0">
                          <a:solidFill>
                            <a:srgbClr val="222222"/>
                          </a:solidFill>
                          <a:latin typeface="맑은 고딕"/>
                        </a:rPr>
                        <a:t>이벤트 정렬</a:t>
                      </a:r>
                    </a:p>
                  </a:txBody>
                  <a:tcPr marL="27432" marR="27432" marT="4572" marB="4572" anchor="ctr">
                    <a:solidFill>
                      <a:srgbClr val="FFFFFF"/>
                    </a:solidFill>
                  </a:tcPr>
                </a:tc>
                <a:tc>
                  <a:txBody>
                    <a:bodyPr/>
                    <a:lstStyle/>
                    <a:p>
                      <a:pPr algn="l"/>
                      <a:r>
                        <a:rPr sz="540" b="0">
                          <a:solidFill>
                            <a:srgbClr val="222222"/>
                          </a:solidFill>
                          <a:latin typeface="맑은 고딕"/>
                        </a:rPr>
                        <a:t>이벤트 이력 화면에서 최근 측정순, 이상점수 높은순, SOC 낮은순 등 정렬 기준을 선택한다.</a:t>
                      </a:r>
                    </a:p>
                  </a:txBody>
                  <a:tcPr marL="27432" marR="27432" marT="4572" marB="4572" anchor="ctr">
                    <a:solidFill>
                      <a:srgbClr val="FFFFFF"/>
                    </a:solidFill>
                  </a:tcPr>
                </a:tc>
                <a:tc>
                  <a:txBody>
                    <a:bodyPr/>
                    <a:lstStyle/>
                    <a:p>
                      <a:pPr algn="ctr"/>
                      <a:r>
                        <a:rPr sz="540" b="0">
                          <a:solidFill>
                            <a:srgbClr val="222222"/>
                          </a:solidFill>
                          <a:latin typeface="맑은 고딕"/>
                        </a:rPr>
                        <a:t>정렬</a:t>
                      </a:r>
                    </a:p>
                  </a:txBody>
                  <a:tcPr marL="27432" marR="27432" marT="4572" marB="4572" anchor="ctr">
                    <a:solidFill>
                      <a:srgbClr val="FFFFFF"/>
                    </a:solidFill>
                  </a:tcPr>
                </a:tc>
                <a:tc>
                  <a:txBody>
                    <a:bodyPr/>
                    <a:lstStyle/>
                    <a:p>
                      <a:pPr algn="ctr"/>
                      <a:r>
                        <a:rPr sz="540" b="0">
                          <a:solidFill>
                            <a:srgbClr val="222222"/>
                          </a:solidFill>
                          <a:latin typeface="맑은 고딕"/>
                        </a:rPr>
                        <a:t>REQ-WEB-051</a:t>
                      </a:r>
                    </a:p>
                  </a:txBody>
                  <a:tcPr marL="27432" marR="27432" marT="4572" marB="4572" anchor="ctr">
                    <a:solidFill>
                      <a:srgbClr val="FFFFFF"/>
                    </a:solidFill>
                  </a:tcPr>
                </a:tc>
                <a:extLst>
                  <a:ext uri="{0D108BD9-81ED-4DB2-BD59-A6C34878D82A}">
                    <a16:rowId xmlns:a16="http://schemas.microsoft.com/office/drawing/2014/main" val="10013"/>
                  </a:ext>
                </a:extLst>
              </a:tr>
              <a:tr h="261518">
                <a:tc>
                  <a:txBody>
                    <a:bodyPr/>
                    <a:lstStyle/>
                    <a:p>
                      <a:pPr algn="ctr"/>
                      <a:r>
                        <a:rPr sz="540" b="0">
                          <a:solidFill>
                            <a:srgbClr val="222222"/>
                          </a:solidFill>
                          <a:latin typeface="맑은 고딕"/>
                        </a:rPr>
                        <a:t>REQ-WEB-052</a:t>
                      </a:r>
                    </a:p>
                  </a:txBody>
                  <a:tcPr marL="27432" marR="27432" marT="4572" marB="4572" anchor="ctr">
                    <a:solidFill>
                      <a:srgbClr val="EEF3FB"/>
                    </a:solidFill>
                  </a:tcPr>
                </a:tc>
                <a:tc>
                  <a:txBody>
                    <a:bodyPr/>
                    <a:lstStyle/>
                    <a:p>
                      <a:pPr algn="l"/>
                      <a:r>
                        <a:rPr sz="540" b="0">
                          <a:solidFill>
                            <a:srgbClr val="222222"/>
                          </a:solidFill>
                          <a:latin typeface="맑은 고딕"/>
                        </a:rPr>
                        <a:t>이벤트 페이지 이동</a:t>
                      </a:r>
                    </a:p>
                  </a:txBody>
                  <a:tcPr marL="27432" marR="27432" marT="4572" marB="4572" anchor="ctr">
                    <a:solidFill>
                      <a:srgbClr val="EEF3FB"/>
                    </a:solidFill>
                  </a:tcPr>
                </a:tc>
                <a:tc>
                  <a:txBody>
                    <a:bodyPr/>
                    <a:lstStyle/>
                    <a:p>
                      <a:pPr algn="l"/>
                      <a:r>
                        <a:rPr sz="540" b="0">
                          <a:solidFill>
                            <a:srgbClr val="222222"/>
                          </a:solidFill>
                          <a:latin typeface="맑은 고딕"/>
                        </a:rPr>
                        <a:t>이벤트 이력 목록에서 이전, 다음, 페이지 번호로 목록 페이지를 이동한다.</a:t>
                      </a:r>
                    </a:p>
                  </a:txBody>
                  <a:tcPr marL="27432" marR="27432" marT="4572" marB="4572" anchor="ctr">
                    <a:solidFill>
                      <a:srgbClr val="EEF3FB"/>
                    </a:solidFill>
                  </a:tcPr>
                </a:tc>
                <a:tc>
                  <a:txBody>
                    <a:bodyPr/>
                    <a:lstStyle/>
                    <a:p>
                      <a:pPr algn="ctr"/>
                      <a:r>
                        <a:rPr sz="540" b="0">
                          <a:solidFill>
                            <a:srgbClr val="222222"/>
                          </a:solidFill>
                          <a:latin typeface="맑은 고딕"/>
                        </a:rPr>
                        <a:t>목록</a:t>
                      </a:r>
                    </a:p>
                  </a:txBody>
                  <a:tcPr marL="27432" marR="27432" marT="4572" marB="4572" anchor="ctr">
                    <a:solidFill>
                      <a:srgbClr val="EEF3FB"/>
                    </a:solidFill>
                  </a:tcPr>
                </a:tc>
                <a:tc>
                  <a:txBody>
                    <a:bodyPr/>
                    <a:lstStyle/>
                    <a:p>
                      <a:pPr algn="ctr"/>
                      <a:r>
                        <a:rPr sz="540" b="0">
                          <a:solidFill>
                            <a:srgbClr val="222222"/>
                          </a:solidFill>
                          <a:latin typeface="맑은 고딕"/>
                        </a:rPr>
                        <a:t>REQ-WEB-052</a:t>
                      </a:r>
                    </a:p>
                  </a:txBody>
                  <a:tcPr marL="27432" marR="27432" marT="4572" marB="4572" anchor="ctr">
                    <a:solidFill>
                      <a:srgbClr val="EEF3FB"/>
                    </a:solidFill>
                  </a:tcPr>
                </a:tc>
                <a:extLst>
                  <a:ext uri="{0D108BD9-81ED-4DB2-BD59-A6C34878D82A}">
                    <a16:rowId xmlns:a16="http://schemas.microsoft.com/office/drawing/2014/main" val="10014"/>
                  </a:ext>
                </a:extLst>
              </a:tr>
              <a:tr h="261518">
                <a:tc>
                  <a:txBody>
                    <a:bodyPr/>
                    <a:lstStyle/>
                    <a:p>
                      <a:pPr algn="ctr"/>
                      <a:r>
                        <a:rPr sz="540" b="0">
                          <a:solidFill>
                            <a:srgbClr val="222222"/>
                          </a:solidFill>
                          <a:latin typeface="맑은 고딕"/>
                        </a:rPr>
                        <a:t>REQ-WEB-053</a:t>
                      </a:r>
                    </a:p>
                  </a:txBody>
                  <a:tcPr marL="27432" marR="27432" marT="4572" marB="4572" anchor="ctr">
                    <a:solidFill>
                      <a:srgbClr val="FFFFFF"/>
                    </a:solidFill>
                  </a:tcPr>
                </a:tc>
                <a:tc>
                  <a:txBody>
                    <a:bodyPr/>
                    <a:lstStyle/>
                    <a:p>
                      <a:pPr algn="l"/>
                      <a:r>
                        <a:rPr sz="540" b="0">
                          <a:solidFill>
                            <a:srgbClr val="222222"/>
                          </a:solidFill>
                          <a:latin typeface="맑은 고딕"/>
                        </a:rPr>
                        <a:t>이벤트 상세 확인</a:t>
                      </a:r>
                    </a:p>
                  </a:txBody>
                  <a:tcPr marL="27432" marR="27432" marT="4572" marB="4572" anchor="ctr">
                    <a:solidFill>
                      <a:srgbClr val="FFFFFF"/>
                    </a:solidFill>
                  </a:tcPr>
                </a:tc>
                <a:tc>
                  <a:txBody>
                    <a:bodyPr/>
                    <a:lstStyle/>
                    <a:p>
                      <a:pPr algn="l"/>
                      <a:r>
                        <a:rPr sz="540" b="0">
                          <a:solidFill>
                            <a:srgbClr val="222222"/>
                          </a:solidFill>
                          <a:latin typeface="맑은 고딕"/>
                        </a:rPr>
                        <a:t>이벤트 행을 클릭해 상세 정보와 관련 센서값을 확인한다.</a:t>
                      </a:r>
                    </a:p>
                  </a:txBody>
                  <a:tcPr marL="27432" marR="27432" marT="4572" marB="4572" anchor="ctr">
                    <a:solidFill>
                      <a:srgbClr val="FFFFFF"/>
                    </a:solidFill>
                  </a:tcPr>
                </a:tc>
                <a:tc>
                  <a:txBody>
                    <a:bodyPr/>
                    <a:lstStyle/>
                    <a:p>
                      <a:pPr algn="ctr"/>
                      <a:r>
                        <a:rPr sz="540" b="0">
                          <a:solidFill>
                            <a:srgbClr val="222222"/>
                          </a:solidFill>
                          <a:latin typeface="맑은 고딕"/>
                        </a:rPr>
                        <a:t>상세</a:t>
                      </a:r>
                    </a:p>
                  </a:txBody>
                  <a:tcPr marL="27432" marR="27432" marT="4572" marB="4572" anchor="ctr">
                    <a:solidFill>
                      <a:srgbClr val="FFFFFF"/>
                    </a:solidFill>
                  </a:tcPr>
                </a:tc>
                <a:tc>
                  <a:txBody>
                    <a:bodyPr/>
                    <a:lstStyle/>
                    <a:p>
                      <a:pPr algn="ctr"/>
                      <a:r>
                        <a:rPr sz="540" b="0">
                          <a:solidFill>
                            <a:srgbClr val="222222"/>
                          </a:solidFill>
                          <a:latin typeface="맑은 고딕"/>
                        </a:rPr>
                        <a:t>REQ-WEB-053</a:t>
                      </a:r>
                    </a:p>
                  </a:txBody>
                  <a:tcPr marL="27432" marR="27432" marT="4572" marB="4572" anchor="ctr">
                    <a:solidFill>
                      <a:srgbClr val="FFFFFF"/>
                    </a:solidFill>
                  </a:tcPr>
                </a:tc>
                <a:extLst>
                  <a:ext uri="{0D108BD9-81ED-4DB2-BD59-A6C34878D82A}">
                    <a16:rowId xmlns:a16="http://schemas.microsoft.com/office/drawing/2014/main" val="10015"/>
                  </a:ext>
                </a:extLst>
              </a:tr>
              <a:tr h="261518">
                <a:tc>
                  <a:txBody>
                    <a:bodyPr/>
                    <a:lstStyle/>
                    <a:p>
                      <a:pPr algn="ctr"/>
                      <a:r>
                        <a:rPr sz="540" b="0">
                          <a:solidFill>
                            <a:srgbClr val="222222"/>
                          </a:solidFill>
                          <a:latin typeface="맑은 고딕"/>
                        </a:rPr>
                        <a:t>REQ-WEB-054</a:t>
                      </a:r>
                    </a:p>
                  </a:txBody>
                  <a:tcPr marL="27432" marR="27432" marT="4572" marB="4572" anchor="ctr">
                    <a:solidFill>
                      <a:srgbClr val="EEF3FB"/>
                    </a:solidFill>
                  </a:tcPr>
                </a:tc>
                <a:tc>
                  <a:txBody>
                    <a:bodyPr/>
                    <a:lstStyle/>
                    <a:p>
                      <a:pPr algn="l"/>
                      <a:r>
                        <a:rPr sz="540" b="0">
                          <a:solidFill>
                            <a:srgbClr val="222222"/>
                          </a:solidFill>
                          <a:latin typeface="맑은 고딕"/>
                        </a:rPr>
                        <a:t>CSV 내보내기</a:t>
                      </a:r>
                    </a:p>
                  </a:txBody>
                  <a:tcPr marL="27432" marR="27432" marT="4572" marB="4572" anchor="ctr">
                    <a:solidFill>
                      <a:srgbClr val="EEF3FB"/>
                    </a:solidFill>
                  </a:tcPr>
                </a:tc>
                <a:tc>
                  <a:txBody>
                    <a:bodyPr/>
                    <a:lstStyle/>
                    <a:p>
                      <a:pPr algn="l"/>
                      <a:r>
                        <a:rPr sz="540" b="0">
                          <a:solidFill>
                            <a:srgbClr val="222222"/>
                          </a:solidFill>
                          <a:latin typeface="맑은 고딕"/>
                        </a:rPr>
                        <a:t>이벤트 또는 이력 조회 결과를 CSV로 내보내기 위한 확인 모달을 연다.</a:t>
                      </a:r>
                    </a:p>
                  </a:txBody>
                  <a:tcPr marL="27432" marR="27432" marT="4572" marB="4572" anchor="ctr">
                    <a:solidFill>
                      <a:srgbClr val="EEF3FB"/>
                    </a:solidFill>
                  </a:tcPr>
                </a:tc>
                <a:tc>
                  <a:txBody>
                    <a:bodyPr/>
                    <a:lstStyle/>
                    <a:p>
                      <a:pPr algn="ctr"/>
                      <a:r>
                        <a:rPr sz="540" b="0">
                          <a:solidFill>
                            <a:srgbClr val="222222"/>
                          </a:solidFill>
                          <a:latin typeface="맑은 고딕"/>
                        </a:rPr>
                        <a:t>내보내기</a:t>
                      </a:r>
                    </a:p>
                  </a:txBody>
                  <a:tcPr marL="27432" marR="27432" marT="4572" marB="4572" anchor="ctr">
                    <a:solidFill>
                      <a:srgbClr val="EEF3FB"/>
                    </a:solidFill>
                  </a:tcPr>
                </a:tc>
                <a:tc>
                  <a:txBody>
                    <a:bodyPr/>
                    <a:lstStyle/>
                    <a:p>
                      <a:pPr algn="ctr"/>
                      <a:r>
                        <a:rPr sz="540" b="0">
                          <a:solidFill>
                            <a:srgbClr val="222222"/>
                          </a:solidFill>
                          <a:latin typeface="맑은 고딕"/>
                        </a:rPr>
                        <a:t>REQ-WEB-054</a:t>
                      </a:r>
                    </a:p>
                  </a:txBody>
                  <a:tcPr marL="27432" marR="27432" marT="4572" marB="4572" anchor="ctr">
                    <a:solidFill>
                      <a:srgbClr val="EEF3FB"/>
                    </a:solidFill>
                  </a:tcPr>
                </a:tc>
                <a:extLst>
                  <a:ext uri="{0D108BD9-81ED-4DB2-BD59-A6C34878D82A}">
                    <a16:rowId xmlns:a16="http://schemas.microsoft.com/office/drawing/2014/main" val="10016"/>
                  </a:ext>
                </a:extLst>
              </a:tr>
              <a:tr h="261518">
                <a:tc>
                  <a:txBody>
                    <a:bodyPr/>
                    <a:lstStyle/>
                    <a:p>
                      <a:pPr algn="ctr"/>
                      <a:r>
                        <a:rPr sz="540" b="0">
                          <a:solidFill>
                            <a:srgbClr val="222222"/>
                          </a:solidFill>
                          <a:latin typeface="맑은 고딕"/>
                        </a:rPr>
                        <a:t>REQ-WEB-055</a:t>
                      </a:r>
                    </a:p>
                  </a:txBody>
                  <a:tcPr marL="27432" marR="27432" marT="4572" marB="4572" anchor="ctr">
                    <a:solidFill>
                      <a:srgbClr val="FFFFFF"/>
                    </a:solidFill>
                  </a:tcPr>
                </a:tc>
                <a:tc>
                  <a:txBody>
                    <a:bodyPr/>
                    <a:lstStyle/>
                    <a:p>
                      <a:pPr algn="l"/>
                      <a:r>
                        <a:rPr sz="540" b="0">
                          <a:solidFill>
                            <a:srgbClr val="222222"/>
                          </a:solidFill>
                          <a:latin typeface="맑은 고딕"/>
                        </a:rPr>
                        <a:t>PDF 내보내기</a:t>
                      </a:r>
                    </a:p>
                  </a:txBody>
                  <a:tcPr marL="27432" marR="27432" marT="4572" marB="4572" anchor="ctr">
                    <a:solidFill>
                      <a:srgbClr val="FFFFFF"/>
                    </a:solidFill>
                  </a:tcPr>
                </a:tc>
                <a:tc>
                  <a:txBody>
                    <a:bodyPr/>
                    <a:lstStyle/>
                    <a:p>
                      <a:pPr algn="l"/>
                      <a:r>
                        <a:rPr sz="540" b="0">
                          <a:solidFill>
                            <a:srgbClr val="222222"/>
                          </a:solidFill>
                          <a:latin typeface="맑은 고딕"/>
                        </a:rPr>
                        <a:t>이벤트 또는 이력 조회 결과를 PDF로 내보내기 위한 확인 모달을 연다.</a:t>
                      </a:r>
                    </a:p>
                  </a:txBody>
                  <a:tcPr marL="27432" marR="27432" marT="4572" marB="4572" anchor="ctr">
                    <a:solidFill>
                      <a:srgbClr val="FFFFFF"/>
                    </a:solidFill>
                  </a:tcPr>
                </a:tc>
                <a:tc>
                  <a:txBody>
                    <a:bodyPr/>
                    <a:lstStyle/>
                    <a:p>
                      <a:pPr algn="ctr"/>
                      <a:r>
                        <a:rPr sz="540" b="0">
                          <a:solidFill>
                            <a:srgbClr val="222222"/>
                          </a:solidFill>
                          <a:latin typeface="맑은 고딕"/>
                        </a:rPr>
                        <a:t>내보내기</a:t>
                      </a:r>
                    </a:p>
                  </a:txBody>
                  <a:tcPr marL="27432" marR="27432" marT="4572" marB="4572" anchor="ctr">
                    <a:solidFill>
                      <a:srgbClr val="FFFFFF"/>
                    </a:solidFill>
                  </a:tcPr>
                </a:tc>
                <a:tc>
                  <a:txBody>
                    <a:bodyPr/>
                    <a:lstStyle/>
                    <a:p>
                      <a:pPr algn="ctr"/>
                      <a:r>
                        <a:rPr sz="540" b="0">
                          <a:solidFill>
                            <a:srgbClr val="222222"/>
                          </a:solidFill>
                          <a:latin typeface="맑은 고딕"/>
                        </a:rPr>
                        <a:t>REQ-WEB-055</a:t>
                      </a:r>
                    </a:p>
                  </a:txBody>
                  <a:tcPr marL="27432" marR="27432" marT="4572" marB="4572" anchor="ctr">
                    <a:solidFill>
                      <a:srgbClr val="FFFFFF"/>
                    </a:solidFill>
                  </a:tcPr>
                </a:tc>
                <a:extLst>
                  <a:ext uri="{0D108BD9-81ED-4DB2-BD59-A6C34878D82A}">
                    <a16:rowId xmlns:a16="http://schemas.microsoft.com/office/drawing/2014/main" val="10017"/>
                  </a:ext>
                </a:extLst>
              </a:tr>
              <a:tr h="261518">
                <a:tc>
                  <a:txBody>
                    <a:bodyPr/>
                    <a:lstStyle/>
                    <a:p>
                      <a:pPr algn="ctr"/>
                      <a:r>
                        <a:rPr sz="540" b="0">
                          <a:solidFill>
                            <a:srgbClr val="222222"/>
                          </a:solidFill>
                          <a:latin typeface="맑은 고딕"/>
                        </a:rPr>
                        <a:t>REQ-WEB-056</a:t>
                      </a:r>
                    </a:p>
                  </a:txBody>
                  <a:tcPr marL="27432" marR="27432" marT="4572" marB="4572" anchor="ctr">
                    <a:solidFill>
                      <a:srgbClr val="EEF3FB"/>
                    </a:solidFill>
                  </a:tcPr>
                </a:tc>
                <a:tc>
                  <a:txBody>
                    <a:bodyPr/>
                    <a:lstStyle/>
                    <a:p>
                      <a:pPr algn="l"/>
                      <a:r>
                        <a:rPr sz="540" b="0">
                          <a:solidFill>
                            <a:srgbClr val="222222"/>
                          </a:solidFill>
                          <a:latin typeface="맑은 고딕"/>
                        </a:rPr>
                        <a:t>알림 이력 확인</a:t>
                      </a:r>
                    </a:p>
                  </a:txBody>
                  <a:tcPr marL="27432" marR="27432" marT="4572" marB="4572" anchor="ctr">
                    <a:solidFill>
                      <a:srgbClr val="EEF3FB"/>
                    </a:solidFill>
                  </a:tcPr>
                </a:tc>
                <a:tc>
                  <a:txBody>
                    <a:bodyPr/>
                    <a:lstStyle/>
                    <a:p>
                      <a:pPr algn="l"/>
                      <a:r>
                        <a:rPr sz="540" b="0">
                          <a:solidFill>
                            <a:srgbClr val="222222"/>
                          </a:solidFill>
                          <a:latin typeface="맑은 고딕"/>
                        </a:rPr>
                        <a:t>알림 센터에서 인앱·카카오 알림 이력, 발생 시간, 확인 상태를 확인한다.</a:t>
                      </a:r>
                    </a:p>
                  </a:txBody>
                  <a:tcPr marL="27432" marR="27432" marT="4572" marB="4572" anchor="ctr">
                    <a:solidFill>
                      <a:srgbClr val="EEF3FB"/>
                    </a:solidFill>
                  </a:tcPr>
                </a:tc>
                <a:tc>
                  <a:txBody>
                    <a:bodyPr/>
                    <a:lstStyle/>
                    <a:p>
                      <a:pPr algn="ctr"/>
                      <a:r>
                        <a:rPr sz="540" b="0">
                          <a:solidFill>
                            <a:srgbClr val="222222"/>
                          </a:solidFill>
                          <a:latin typeface="맑은 고딕"/>
                        </a:rPr>
                        <a:t>알림</a:t>
                      </a:r>
                    </a:p>
                  </a:txBody>
                  <a:tcPr marL="27432" marR="27432" marT="4572" marB="4572" anchor="ctr">
                    <a:solidFill>
                      <a:srgbClr val="EEF3FB"/>
                    </a:solidFill>
                  </a:tcPr>
                </a:tc>
                <a:tc>
                  <a:txBody>
                    <a:bodyPr/>
                    <a:lstStyle/>
                    <a:p>
                      <a:pPr algn="ctr"/>
                      <a:r>
                        <a:rPr sz="540" b="0">
                          <a:solidFill>
                            <a:srgbClr val="222222"/>
                          </a:solidFill>
                          <a:latin typeface="맑은 고딕"/>
                        </a:rPr>
                        <a:t>REQ-WEB-056</a:t>
                      </a:r>
                    </a:p>
                  </a:txBody>
                  <a:tcPr marL="27432" marR="27432" marT="4572" marB="4572" anchor="ctr">
                    <a:solidFill>
                      <a:srgbClr val="EEF3FB"/>
                    </a:solidFill>
                  </a:tcPr>
                </a:tc>
                <a:extLst>
                  <a:ext uri="{0D108BD9-81ED-4DB2-BD59-A6C34878D82A}">
                    <a16:rowId xmlns:a16="http://schemas.microsoft.com/office/drawing/2014/main" val="10018"/>
                  </a:ext>
                </a:extLst>
              </a:tr>
              <a:tr h="261518">
                <a:tc>
                  <a:txBody>
                    <a:bodyPr/>
                    <a:lstStyle/>
                    <a:p>
                      <a:pPr algn="ctr"/>
                      <a:r>
                        <a:rPr sz="540" b="0">
                          <a:solidFill>
                            <a:srgbClr val="222222"/>
                          </a:solidFill>
                          <a:latin typeface="맑은 고딕"/>
                        </a:rPr>
                        <a:t>REQ-WEB-057</a:t>
                      </a:r>
                    </a:p>
                  </a:txBody>
                  <a:tcPr marL="27432" marR="27432" marT="4572" marB="4572" anchor="ctr">
                    <a:solidFill>
                      <a:srgbClr val="FFFFFF"/>
                    </a:solidFill>
                  </a:tcPr>
                </a:tc>
                <a:tc>
                  <a:txBody>
                    <a:bodyPr/>
                    <a:lstStyle/>
                    <a:p>
                      <a:pPr algn="l"/>
                      <a:r>
                        <a:rPr sz="540" b="0">
                          <a:solidFill>
                            <a:srgbClr val="222222"/>
                          </a:solidFill>
                          <a:latin typeface="맑은 고딕"/>
                        </a:rPr>
                        <a:t>알림 확인</a:t>
                      </a:r>
                    </a:p>
                  </a:txBody>
                  <a:tcPr marL="27432" marR="27432" marT="4572" marB="4572" anchor="ctr">
                    <a:solidFill>
                      <a:srgbClr val="FFFFFF"/>
                    </a:solidFill>
                  </a:tcPr>
                </a:tc>
                <a:tc>
                  <a:txBody>
                    <a:bodyPr/>
                    <a:lstStyle/>
                    <a:p>
                      <a:pPr algn="l"/>
                      <a:r>
                        <a:rPr sz="540" b="0">
                          <a:solidFill>
                            <a:srgbClr val="222222"/>
                          </a:solidFill>
                          <a:latin typeface="맑은 고딕"/>
                        </a:rPr>
                        <a:t>알림 항목의 확인(Ack) 버튼으로 대응 확인 상태를 기록한다.</a:t>
                      </a:r>
                    </a:p>
                  </a:txBody>
                  <a:tcPr marL="27432" marR="27432" marT="4572" marB="4572" anchor="ctr">
                    <a:solidFill>
                      <a:srgbClr val="FFFFFF"/>
                    </a:solidFill>
                  </a:tcPr>
                </a:tc>
                <a:tc>
                  <a:txBody>
                    <a:bodyPr/>
                    <a:lstStyle/>
                    <a:p>
                      <a:pPr algn="ctr"/>
                      <a:r>
                        <a:rPr sz="540" b="0">
                          <a:solidFill>
                            <a:srgbClr val="222222"/>
                          </a:solidFill>
                          <a:latin typeface="맑은 고딕"/>
                        </a:rPr>
                        <a:t>알림</a:t>
                      </a:r>
                    </a:p>
                  </a:txBody>
                  <a:tcPr marL="27432" marR="27432" marT="4572" marB="4572" anchor="ctr">
                    <a:solidFill>
                      <a:srgbClr val="FFFFFF"/>
                    </a:solidFill>
                  </a:tcPr>
                </a:tc>
                <a:tc>
                  <a:txBody>
                    <a:bodyPr/>
                    <a:lstStyle/>
                    <a:p>
                      <a:pPr algn="ctr"/>
                      <a:r>
                        <a:rPr sz="540" b="0">
                          <a:solidFill>
                            <a:srgbClr val="222222"/>
                          </a:solidFill>
                          <a:latin typeface="맑은 고딕"/>
                        </a:rPr>
                        <a:t>REQ-WEB-057</a:t>
                      </a:r>
                    </a:p>
                  </a:txBody>
                  <a:tcPr marL="27432" marR="27432" marT="4572" marB="4572" anchor="ctr">
                    <a:solidFill>
                      <a:srgbClr val="FFFFFF"/>
                    </a:solidFill>
                  </a:tcPr>
                </a:tc>
                <a:extLst>
                  <a:ext uri="{0D108BD9-81ED-4DB2-BD59-A6C34878D82A}">
                    <a16:rowId xmlns:a16="http://schemas.microsoft.com/office/drawing/2014/main" val="10019"/>
                  </a:ext>
                </a:extLst>
              </a:tr>
            </a:tbl>
          </a:graphicData>
        </a:graphic>
      </p:graphicFrame>
      <p:graphicFrame>
        <p:nvGraphicFramePr>
          <p:cNvPr id="1028" name="Table 1027"/>
          <p:cNvGraphicFramePr>
            <a:graphicFrameLocks noGrp="1"/>
          </p:cNvGraphicFramePr>
          <p:nvPr/>
        </p:nvGraphicFramePr>
        <p:xfrm>
          <a:off x="4681728" y="1335024"/>
          <a:ext cx="4160519" cy="5230360"/>
        </p:xfrm>
        <a:graphic>
          <a:graphicData uri="http://schemas.openxmlformats.org/drawingml/2006/table">
            <a:tbl>
              <a:tblPr>
                <a:tableStyleId>{5C22544A-7EE6-4342-B048-85BDC9FD1C3A}</a:tableStyleId>
              </a:tblPr>
              <a:tblGrid>
                <a:gridCol w="655597">
                  <a:extLst>
                    <a:ext uri="{9D8B030D-6E8A-4147-A177-3AD203B41FA5}">
                      <a16:colId xmlns:a16="http://schemas.microsoft.com/office/drawing/2014/main" val="20000"/>
                    </a:ext>
                  </a:extLst>
                </a:gridCol>
                <a:gridCol w="868526">
                  <a:extLst>
                    <a:ext uri="{9D8B030D-6E8A-4147-A177-3AD203B41FA5}">
                      <a16:colId xmlns:a16="http://schemas.microsoft.com/office/drawing/2014/main" val="20001"/>
                    </a:ext>
                  </a:extLst>
                </a:gridCol>
                <a:gridCol w="1606306">
                  <a:extLst>
                    <a:ext uri="{9D8B030D-6E8A-4147-A177-3AD203B41FA5}">
                      <a16:colId xmlns:a16="http://schemas.microsoft.com/office/drawing/2014/main" val="20002"/>
                    </a:ext>
                  </a:extLst>
                </a:gridCol>
                <a:gridCol w="410915">
                  <a:extLst>
                    <a:ext uri="{9D8B030D-6E8A-4147-A177-3AD203B41FA5}">
                      <a16:colId xmlns:a16="http://schemas.microsoft.com/office/drawing/2014/main" val="20003"/>
                    </a:ext>
                  </a:extLst>
                </a:gridCol>
                <a:gridCol w="619175">
                  <a:extLst>
                    <a:ext uri="{9D8B030D-6E8A-4147-A177-3AD203B41FA5}">
                      <a16:colId xmlns:a16="http://schemas.microsoft.com/office/drawing/2014/main" val="20004"/>
                    </a:ext>
                  </a:extLst>
                </a:gridCol>
              </a:tblGrid>
              <a:tr h="261518">
                <a:tc>
                  <a:txBody>
                    <a:bodyPr/>
                    <a:lstStyle/>
                    <a:p>
                      <a:pPr algn="ctr"/>
                      <a:r>
                        <a:rPr sz="660" b="1">
                          <a:solidFill>
                            <a:srgbClr val="FFFFFF"/>
                          </a:solidFill>
                          <a:latin typeface="맑은 고딕"/>
                        </a:rPr>
                        <a:t>요구사항 ID</a:t>
                      </a:r>
                    </a:p>
                  </a:txBody>
                  <a:tcPr marL="27432" marR="27432" marT="4572" marB="4572" anchor="ctr">
                    <a:solidFill>
                      <a:srgbClr val="3B5AA8"/>
                    </a:solidFill>
                  </a:tcPr>
                </a:tc>
                <a:tc>
                  <a:txBody>
                    <a:bodyPr/>
                    <a:lstStyle/>
                    <a:p>
                      <a:pPr algn="ctr"/>
                      <a:r>
                        <a:rPr sz="660" b="1">
                          <a:solidFill>
                            <a:srgbClr val="FFFFFF"/>
                          </a:solidFill>
                          <a:latin typeface="맑은 고딕"/>
                        </a:rPr>
                        <a:t>요구사항명</a:t>
                      </a:r>
                    </a:p>
                  </a:txBody>
                  <a:tcPr marL="27432" marR="27432" marT="4572" marB="4572" anchor="ctr">
                    <a:solidFill>
                      <a:srgbClr val="3B5AA8"/>
                    </a:solidFill>
                  </a:tcPr>
                </a:tc>
                <a:tc>
                  <a:txBody>
                    <a:bodyPr/>
                    <a:lstStyle/>
                    <a:p>
                      <a:pPr algn="ctr"/>
                      <a:r>
                        <a:rPr sz="660" b="1">
                          <a:solidFill>
                            <a:srgbClr val="FFFFFF"/>
                          </a:solidFill>
                          <a:latin typeface="맑은 고딕"/>
                        </a:rPr>
                        <a:t>요구사항 상세설명</a:t>
                      </a:r>
                    </a:p>
                  </a:txBody>
                  <a:tcPr marL="27432" marR="27432" marT="4572" marB="4572" anchor="ctr">
                    <a:solidFill>
                      <a:srgbClr val="3B5AA8"/>
                    </a:solidFill>
                  </a:tcPr>
                </a:tc>
                <a:tc>
                  <a:txBody>
                    <a:bodyPr/>
                    <a:lstStyle/>
                    <a:p>
                      <a:pPr algn="ctr"/>
                      <a:r>
                        <a:rPr sz="660" b="1">
                          <a:solidFill>
                            <a:srgbClr val="FFFFFF"/>
                          </a:solidFill>
                          <a:latin typeface="맑은 고딕"/>
                        </a:rPr>
                        <a:t>중요도</a:t>
                      </a:r>
                    </a:p>
                  </a:txBody>
                  <a:tcPr marL="27432" marR="27432" marT="4572" marB="4572" anchor="ctr">
                    <a:solidFill>
                      <a:srgbClr val="3B5AA8"/>
                    </a:solidFill>
                  </a:tcPr>
                </a:tc>
                <a:tc>
                  <a:txBody>
                    <a:bodyPr/>
                    <a:lstStyle/>
                    <a:p>
                      <a:pPr algn="ctr"/>
                      <a:r>
                        <a:rPr sz="660" b="1">
                          <a:solidFill>
                            <a:srgbClr val="FFFFFF"/>
                          </a:solidFill>
                          <a:latin typeface="맑은 고딕"/>
                        </a:rPr>
                        <a:t>비고</a:t>
                      </a:r>
                    </a:p>
                  </a:txBody>
                  <a:tcPr marL="27432" marR="27432" marT="4572" marB="4572" anchor="ctr">
                    <a:solidFill>
                      <a:srgbClr val="3B5AA8"/>
                    </a:solidFill>
                  </a:tcPr>
                </a:tc>
                <a:extLst>
                  <a:ext uri="{0D108BD9-81ED-4DB2-BD59-A6C34878D82A}">
                    <a16:rowId xmlns:a16="http://schemas.microsoft.com/office/drawing/2014/main" val="10000"/>
                  </a:ext>
                </a:extLst>
              </a:tr>
              <a:tr h="261518">
                <a:tc>
                  <a:txBody>
                    <a:bodyPr/>
                    <a:lstStyle/>
                    <a:p>
                      <a:pPr algn="ctr"/>
                      <a:r>
                        <a:rPr sz="540" b="0">
                          <a:solidFill>
                            <a:srgbClr val="222222"/>
                          </a:solidFill>
                          <a:latin typeface="맑은 고딕"/>
                        </a:rPr>
                        <a:t>REQ-WEB-058</a:t>
                      </a:r>
                    </a:p>
                  </a:txBody>
                  <a:tcPr marL="27432" marR="27432" marT="4572" marB="4572" anchor="ctr">
                    <a:solidFill>
                      <a:srgbClr val="FFFFFF"/>
                    </a:solidFill>
                  </a:tcPr>
                </a:tc>
                <a:tc>
                  <a:txBody>
                    <a:bodyPr/>
                    <a:lstStyle/>
                    <a:p>
                      <a:pPr algn="l"/>
                      <a:r>
                        <a:rPr sz="540" b="0">
                          <a:solidFill>
                            <a:srgbClr val="222222"/>
                          </a:solidFill>
                          <a:latin typeface="맑은 고딕"/>
                        </a:rPr>
                        <a:t>모든 알림 확인</a:t>
                      </a:r>
                    </a:p>
                  </a:txBody>
                  <a:tcPr marL="27432" marR="27432" marT="4572" marB="4572" anchor="ctr">
                    <a:solidFill>
                      <a:srgbClr val="FFFFFF"/>
                    </a:solidFill>
                  </a:tcPr>
                </a:tc>
                <a:tc>
                  <a:txBody>
                    <a:bodyPr/>
                    <a:lstStyle/>
                    <a:p>
                      <a:pPr algn="l"/>
                      <a:r>
                        <a:rPr sz="540" b="0">
                          <a:solidFill>
                            <a:srgbClr val="222222"/>
                          </a:solidFill>
                          <a:latin typeface="맑은 고딕"/>
                        </a:rPr>
                        <a:t>알림 센터에서 모두 확인 버튼으로 미확인 알림을 일괄 처리한다.</a:t>
                      </a:r>
                    </a:p>
                  </a:txBody>
                  <a:tcPr marL="27432" marR="27432" marT="4572" marB="4572" anchor="ctr">
                    <a:solidFill>
                      <a:srgbClr val="FFFFFF"/>
                    </a:solidFill>
                  </a:tcPr>
                </a:tc>
                <a:tc>
                  <a:txBody>
                    <a:bodyPr/>
                    <a:lstStyle/>
                    <a:p>
                      <a:pPr algn="ctr"/>
                      <a:r>
                        <a:rPr sz="540" b="0">
                          <a:solidFill>
                            <a:srgbClr val="222222"/>
                          </a:solidFill>
                          <a:latin typeface="맑은 고딕"/>
                        </a:rPr>
                        <a:t>알림</a:t>
                      </a:r>
                    </a:p>
                  </a:txBody>
                  <a:tcPr marL="27432" marR="27432" marT="4572" marB="4572" anchor="ctr">
                    <a:solidFill>
                      <a:srgbClr val="FFFFFF"/>
                    </a:solidFill>
                  </a:tcPr>
                </a:tc>
                <a:tc>
                  <a:txBody>
                    <a:bodyPr/>
                    <a:lstStyle/>
                    <a:p>
                      <a:pPr algn="ctr"/>
                      <a:r>
                        <a:rPr sz="540" b="0">
                          <a:solidFill>
                            <a:srgbClr val="222222"/>
                          </a:solidFill>
                          <a:latin typeface="맑은 고딕"/>
                        </a:rPr>
                        <a:t>REQ-WEB-058</a:t>
                      </a:r>
                    </a:p>
                  </a:txBody>
                  <a:tcPr marL="27432" marR="27432" marT="4572" marB="4572" anchor="ctr">
                    <a:solidFill>
                      <a:srgbClr val="FFFFFF"/>
                    </a:solidFill>
                  </a:tcPr>
                </a:tc>
                <a:extLst>
                  <a:ext uri="{0D108BD9-81ED-4DB2-BD59-A6C34878D82A}">
                    <a16:rowId xmlns:a16="http://schemas.microsoft.com/office/drawing/2014/main" val="10001"/>
                  </a:ext>
                </a:extLst>
              </a:tr>
              <a:tr h="261518">
                <a:tc>
                  <a:txBody>
                    <a:bodyPr/>
                    <a:lstStyle/>
                    <a:p>
                      <a:pPr algn="ctr"/>
                      <a:r>
                        <a:rPr sz="540" b="0">
                          <a:solidFill>
                            <a:srgbClr val="222222"/>
                          </a:solidFill>
                          <a:latin typeface="맑은 고딕"/>
                        </a:rPr>
                        <a:t>REQ-WEB-059</a:t>
                      </a:r>
                    </a:p>
                  </a:txBody>
                  <a:tcPr marL="27432" marR="27432" marT="4572" marB="4572" anchor="ctr">
                    <a:solidFill>
                      <a:srgbClr val="EEF3FB"/>
                    </a:solidFill>
                  </a:tcPr>
                </a:tc>
                <a:tc>
                  <a:txBody>
                    <a:bodyPr/>
                    <a:lstStyle/>
                    <a:p>
                      <a:pPr algn="l"/>
                      <a:r>
                        <a:rPr sz="540" b="0">
                          <a:solidFill>
                            <a:srgbClr val="222222"/>
                          </a:solidFill>
                          <a:latin typeface="맑은 고딕"/>
                        </a:rPr>
                        <a:t>공지 카테고리 필터</a:t>
                      </a:r>
                    </a:p>
                  </a:txBody>
                  <a:tcPr marL="27432" marR="27432" marT="4572" marB="4572" anchor="ctr">
                    <a:solidFill>
                      <a:srgbClr val="EEF3FB"/>
                    </a:solidFill>
                  </a:tcPr>
                </a:tc>
                <a:tc>
                  <a:txBody>
                    <a:bodyPr/>
                    <a:lstStyle/>
                    <a:p>
                      <a:pPr algn="l"/>
                      <a:r>
                        <a:rPr sz="540" b="0">
                          <a:solidFill>
                            <a:srgbClr val="222222"/>
                          </a:solidFill>
                          <a:latin typeface="맑은 고딕"/>
                        </a:rPr>
                        <a:t>공지사항 화면에서 전체, 업데이트, 점검 등 카테고리 칩으로 공지를 필터링한다.</a:t>
                      </a:r>
                    </a:p>
                  </a:txBody>
                  <a:tcPr marL="27432" marR="27432" marT="4572" marB="4572" anchor="ctr">
                    <a:solidFill>
                      <a:srgbClr val="EEF3FB"/>
                    </a:solidFill>
                  </a:tcPr>
                </a:tc>
                <a:tc>
                  <a:txBody>
                    <a:bodyPr/>
                    <a:lstStyle/>
                    <a:p>
                      <a:pPr algn="ctr"/>
                      <a:r>
                        <a:rPr sz="540" b="0">
                          <a:solidFill>
                            <a:srgbClr val="222222"/>
                          </a:solidFill>
                          <a:latin typeface="맑은 고딕"/>
                        </a:rPr>
                        <a:t>공지</a:t>
                      </a:r>
                    </a:p>
                  </a:txBody>
                  <a:tcPr marL="27432" marR="27432" marT="4572" marB="4572" anchor="ctr">
                    <a:solidFill>
                      <a:srgbClr val="EEF3FB"/>
                    </a:solidFill>
                  </a:tcPr>
                </a:tc>
                <a:tc>
                  <a:txBody>
                    <a:bodyPr/>
                    <a:lstStyle/>
                    <a:p>
                      <a:pPr algn="ctr"/>
                      <a:r>
                        <a:rPr sz="540" b="0">
                          <a:solidFill>
                            <a:srgbClr val="222222"/>
                          </a:solidFill>
                          <a:latin typeface="맑은 고딕"/>
                        </a:rPr>
                        <a:t>REQ-WEB-059</a:t>
                      </a:r>
                    </a:p>
                  </a:txBody>
                  <a:tcPr marL="27432" marR="27432" marT="4572" marB="4572" anchor="ctr">
                    <a:solidFill>
                      <a:srgbClr val="EEF3FB"/>
                    </a:solidFill>
                  </a:tcPr>
                </a:tc>
                <a:extLst>
                  <a:ext uri="{0D108BD9-81ED-4DB2-BD59-A6C34878D82A}">
                    <a16:rowId xmlns:a16="http://schemas.microsoft.com/office/drawing/2014/main" val="10002"/>
                  </a:ext>
                </a:extLst>
              </a:tr>
              <a:tr h="261518">
                <a:tc>
                  <a:txBody>
                    <a:bodyPr/>
                    <a:lstStyle/>
                    <a:p>
                      <a:pPr algn="ctr"/>
                      <a:r>
                        <a:rPr sz="540" b="0">
                          <a:solidFill>
                            <a:srgbClr val="222222"/>
                          </a:solidFill>
                          <a:latin typeface="맑은 고딕"/>
                        </a:rPr>
                        <a:t>REQ-WEB-060</a:t>
                      </a:r>
                    </a:p>
                  </a:txBody>
                  <a:tcPr marL="27432" marR="27432" marT="4572" marB="4572" anchor="ctr">
                    <a:solidFill>
                      <a:srgbClr val="FFFFFF"/>
                    </a:solidFill>
                  </a:tcPr>
                </a:tc>
                <a:tc>
                  <a:txBody>
                    <a:bodyPr/>
                    <a:lstStyle/>
                    <a:p>
                      <a:pPr algn="l"/>
                      <a:r>
                        <a:rPr sz="540" b="0">
                          <a:solidFill>
                            <a:srgbClr val="222222"/>
                          </a:solidFill>
                          <a:latin typeface="맑은 고딕"/>
                        </a:rPr>
                        <a:t>공지 상세 확인</a:t>
                      </a:r>
                    </a:p>
                  </a:txBody>
                  <a:tcPr marL="27432" marR="27432" marT="4572" marB="4572" anchor="ctr">
                    <a:solidFill>
                      <a:srgbClr val="FFFFFF"/>
                    </a:solidFill>
                  </a:tcPr>
                </a:tc>
                <a:tc>
                  <a:txBody>
                    <a:bodyPr/>
                    <a:lstStyle/>
                    <a:p>
                      <a:pPr algn="l"/>
                      <a:r>
                        <a:rPr sz="540" b="0">
                          <a:solidFill>
                            <a:srgbClr val="222222"/>
                          </a:solidFill>
                          <a:latin typeface="맑은 고딕"/>
                        </a:rPr>
                        <a:t>공지사항 목록 항목을 클릭해 공지 상세를 확인한다.</a:t>
                      </a:r>
                    </a:p>
                  </a:txBody>
                  <a:tcPr marL="27432" marR="27432" marT="4572" marB="4572" anchor="ctr">
                    <a:solidFill>
                      <a:srgbClr val="FFFFFF"/>
                    </a:solidFill>
                  </a:tcPr>
                </a:tc>
                <a:tc>
                  <a:txBody>
                    <a:bodyPr/>
                    <a:lstStyle/>
                    <a:p>
                      <a:pPr algn="ctr"/>
                      <a:r>
                        <a:rPr sz="540" b="0">
                          <a:solidFill>
                            <a:srgbClr val="222222"/>
                          </a:solidFill>
                          <a:latin typeface="맑은 고딕"/>
                        </a:rPr>
                        <a:t>공지</a:t>
                      </a:r>
                    </a:p>
                  </a:txBody>
                  <a:tcPr marL="27432" marR="27432" marT="4572" marB="4572" anchor="ctr">
                    <a:solidFill>
                      <a:srgbClr val="FFFFFF"/>
                    </a:solidFill>
                  </a:tcPr>
                </a:tc>
                <a:tc>
                  <a:txBody>
                    <a:bodyPr/>
                    <a:lstStyle/>
                    <a:p>
                      <a:pPr algn="ctr"/>
                      <a:r>
                        <a:rPr sz="540" b="0">
                          <a:solidFill>
                            <a:srgbClr val="222222"/>
                          </a:solidFill>
                          <a:latin typeface="맑은 고딕"/>
                        </a:rPr>
                        <a:t>REQ-WEB-060</a:t>
                      </a:r>
                    </a:p>
                  </a:txBody>
                  <a:tcPr marL="27432" marR="27432" marT="4572" marB="4572" anchor="ctr">
                    <a:solidFill>
                      <a:srgbClr val="FFFFFF"/>
                    </a:solidFill>
                  </a:tcPr>
                </a:tc>
                <a:extLst>
                  <a:ext uri="{0D108BD9-81ED-4DB2-BD59-A6C34878D82A}">
                    <a16:rowId xmlns:a16="http://schemas.microsoft.com/office/drawing/2014/main" val="10003"/>
                  </a:ext>
                </a:extLst>
              </a:tr>
              <a:tr h="261518">
                <a:tc>
                  <a:txBody>
                    <a:bodyPr/>
                    <a:lstStyle/>
                    <a:p>
                      <a:pPr algn="ctr"/>
                      <a:r>
                        <a:rPr sz="540" b="0">
                          <a:solidFill>
                            <a:srgbClr val="222222"/>
                          </a:solidFill>
                          <a:latin typeface="맑은 고딕"/>
                        </a:rPr>
                        <a:t>REQ-WEB-061</a:t>
                      </a:r>
                    </a:p>
                  </a:txBody>
                  <a:tcPr marL="27432" marR="27432" marT="4572" marB="4572" anchor="ctr">
                    <a:solidFill>
                      <a:srgbClr val="EEF3FB"/>
                    </a:solidFill>
                  </a:tcPr>
                </a:tc>
                <a:tc>
                  <a:txBody>
                    <a:bodyPr/>
                    <a:lstStyle/>
                    <a:p>
                      <a:pPr algn="l"/>
                      <a:r>
                        <a:rPr sz="540" b="0">
                          <a:solidFill>
                            <a:srgbClr val="222222"/>
                          </a:solidFill>
                          <a:latin typeface="맑은 고딕"/>
                        </a:rPr>
                        <a:t>릴레이 상태 확인</a:t>
                      </a:r>
                    </a:p>
                  </a:txBody>
                  <a:tcPr marL="27432" marR="27432" marT="4572" marB="4572" anchor="ctr">
                    <a:solidFill>
                      <a:srgbClr val="EEF3FB"/>
                    </a:solidFill>
                  </a:tcPr>
                </a:tc>
                <a:tc>
                  <a:txBody>
                    <a:bodyPr/>
                    <a:lstStyle/>
                    <a:p>
                      <a:pPr algn="l"/>
                      <a:r>
                        <a:rPr sz="540" b="0">
                          <a:solidFill>
                            <a:srgbClr val="222222"/>
                          </a:solidFill>
                          <a:latin typeface="맑은 고딕"/>
                        </a:rPr>
                        <a:t>릴레이 제어 화면에서 현재 회로 상태, 차단됨, 정상 연결 상태를 확인한다.</a:t>
                      </a:r>
                    </a:p>
                  </a:txBody>
                  <a:tcPr marL="27432" marR="27432" marT="4572" marB="4572" anchor="ctr">
                    <a:solidFill>
                      <a:srgbClr val="EEF3FB"/>
                    </a:solidFill>
                  </a:tcPr>
                </a:tc>
                <a:tc>
                  <a:txBody>
                    <a:bodyPr/>
                    <a:lstStyle/>
                    <a:p>
                      <a:pPr algn="ctr"/>
                      <a:r>
                        <a:rPr sz="540" b="0">
                          <a:solidFill>
                            <a:srgbClr val="222222"/>
                          </a:solidFill>
                          <a:latin typeface="맑은 고딕"/>
                        </a:rPr>
                        <a:t>제어</a:t>
                      </a:r>
                    </a:p>
                  </a:txBody>
                  <a:tcPr marL="27432" marR="27432" marT="4572" marB="4572" anchor="ctr">
                    <a:solidFill>
                      <a:srgbClr val="EEF3FB"/>
                    </a:solidFill>
                  </a:tcPr>
                </a:tc>
                <a:tc>
                  <a:txBody>
                    <a:bodyPr/>
                    <a:lstStyle/>
                    <a:p>
                      <a:pPr algn="ctr"/>
                      <a:r>
                        <a:rPr sz="540" b="0">
                          <a:solidFill>
                            <a:srgbClr val="222222"/>
                          </a:solidFill>
                          <a:latin typeface="맑은 고딕"/>
                        </a:rPr>
                        <a:t>REQ-WEB-061</a:t>
                      </a:r>
                    </a:p>
                  </a:txBody>
                  <a:tcPr marL="27432" marR="27432" marT="4572" marB="4572" anchor="ctr">
                    <a:solidFill>
                      <a:srgbClr val="EEF3FB"/>
                    </a:solidFill>
                  </a:tcPr>
                </a:tc>
                <a:extLst>
                  <a:ext uri="{0D108BD9-81ED-4DB2-BD59-A6C34878D82A}">
                    <a16:rowId xmlns:a16="http://schemas.microsoft.com/office/drawing/2014/main" val="10004"/>
                  </a:ext>
                </a:extLst>
              </a:tr>
              <a:tr h="261518">
                <a:tc>
                  <a:txBody>
                    <a:bodyPr/>
                    <a:lstStyle/>
                    <a:p>
                      <a:pPr algn="ctr"/>
                      <a:r>
                        <a:rPr sz="540" b="0">
                          <a:solidFill>
                            <a:srgbClr val="222222"/>
                          </a:solidFill>
                          <a:latin typeface="맑은 고딕"/>
                        </a:rPr>
                        <a:t>REQ-WEB-062</a:t>
                      </a:r>
                    </a:p>
                  </a:txBody>
                  <a:tcPr marL="27432" marR="27432" marT="4572" marB="4572" anchor="ctr">
                    <a:solidFill>
                      <a:srgbClr val="FFFFFF"/>
                    </a:solidFill>
                  </a:tcPr>
                </a:tc>
                <a:tc>
                  <a:txBody>
                    <a:bodyPr/>
                    <a:lstStyle/>
                    <a:p>
                      <a:pPr algn="l"/>
                      <a:r>
                        <a:rPr sz="540" b="0">
                          <a:solidFill>
                            <a:srgbClr val="222222"/>
                          </a:solidFill>
                          <a:latin typeface="맑은 고딕"/>
                        </a:rPr>
                        <a:t>릴레이 차단 승인</a:t>
                      </a:r>
                    </a:p>
                  </a:txBody>
                  <a:tcPr marL="27432" marR="27432" marT="4572" marB="4572" anchor="ctr">
                    <a:solidFill>
                      <a:srgbClr val="FFFFFF"/>
                    </a:solidFill>
                  </a:tcPr>
                </a:tc>
                <a:tc>
                  <a:txBody>
                    <a:bodyPr/>
                    <a:lstStyle/>
                    <a:p>
                      <a:pPr algn="l"/>
                      <a:r>
                        <a:rPr sz="540" b="0">
                          <a:solidFill>
                            <a:srgbClr val="222222"/>
                          </a:solidFill>
                          <a:latin typeface="맑은 고딕"/>
                        </a:rPr>
                        <a:t>Kill-Switch 차단 버튼으로 위험 제어 승인 모달을 열고 재인증·사유 입력 후 실행한다.</a:t>
                      </a:r>
                    </a:p>
                  </a:txBody>
                  <a:tcPr marL="27432" marR="27432" marT="4572" marB="4572" anchor="ctr">
                    <a:solidFill>
                      <a:srgbClr val="FFFFFF"/>
                    </a:solidFill>
                  </a:tcPr>
                </a:tc>
                <a:tc>
                  <a:txBody>
                    <a:bodyPr/>
                    <a:lstStyle/>
                    <a:p>
                      <a:pPr algn="ctr"/>
                      <a:r>
                        <a:rPr sz="540" b="0">
                          <a:solidFill>
                            <a:srgbClr val="222222"/>
                          </a:solidFill>
                          <a:latin typeface="맑은 고딕"/>
                        </a:rPr>
                        <a:t>제어</a:t>
                      </a:r>
                    </a:p>
                  </a:txBody>
                  <a:tcPr marL="27432" marR="27432" marT="4572" marB="4572" anchor="ctr">
                    <a:solidFill>
                      <a:srgbClr val="FFFFFF"/>
                    </a:solidFill>
                  </a:tcPr>
                </a:tc>
                <a:tc>
                  <a:txBody>
                    <a:bodyPr/>
                    <a:lstStyle/>
                    <a:p>
                      <a:pPr algn="ctr"/>
                      <a:r>
                        <a:rPr sz="540" b="0">
                          <a:solidFill>
                            <a:srgbClr val="222222"/>
                          </a:solidFill>
                          <a:latin typeface="맑은 고딕"/>
                        </a:rPr>
                        <a:t>REQ-WEB-062</a:t>
                      </a:r>
                    </a:p>
                  </a:txBody>
                  <a:tcPr marL="27432" marR="27432" marT="4572" marB="4572" anchor="ctr">
                    <a:solidFill>
                      <a:srgbClr val="FFFFFF"/>
                    </a:solidFill>
                  </a:tcPr>
                </a:tc>
                <a:extLst>
                  <a:ext uri="{0D108BD9-81ED-4DB2-BD59-A6C34878D82A}">
                    <a16:rowId xmlns:a16="http://schemas.microsoft.com/office/drawing/2014/main" val="10005"/>
                  </a:ext>
                </a:extLst>
              </a:tr>
              <a:tr h="261518">
                <a:tc>
                  <a:txBody>
                    <a:bodyPr/>
                    <a:lstStyle/>
                    <a:p>
                      <a:pPr algn="ctr"/>
                      <a:r>
                        <a:rPr sz="540" b="0">
                          <a:solidFill>
                            <a:srgbClr val="222222"/>
                          </a:solidFill>
                          <a:latin typeface="맑은 고딕"/>
                        </a:rPr>
                        <a:t>REQ-WEB-063</a:t>
                      </a:r>
                    </a:p>
                  </a:txBody>
                  <a:tcPr marL="27432" marR="27432" marT="4572" marB="4572" anchor="ctr">
                    <a:solidFill>
                      <a:srgbClr val="EEF3FB"/>
                    </a:solidFill>
                  </a:tcPr>
                </a:tc>
                <a:tc>
                  <a:txBody>
                    <a:bodyPr/>
                    <a:lstStyle/>
                    <a:p>
                      <a:pPr algn="l"/>
                      <a:r>
                        <a:rPr sz="540" b="0">
                          <a:solidFill>
                            <a:srgbClr val="222222"/>
                          </a:solidFill>
                          <a:latin typeface="맑은 고딕"/>
                        </a:rPr>
                        <a:t>릴레이 복구 승인</a:t>
                      </a:r>
                    </a:p>
                  </a:txBody>
                  <a:tcPr marL="27432" marR="27432" marT="4572" marB="4572" anchor="ctr">
                    <a:solidFill>
                      <a:srgbClr val="EEF3FB"/>
                    </a:solidFill>
                  </a:tcPr>
                </a:tc>
                <a:tc>
                  <a:txBody>
                    <a:bodyPr/>
                    <a:lstStyle/>
                    <a:p>
                      <a:pPr algn="l"/>
                      <a:r>
                        <a:rPr sz="540" b="0">
                          <a:solidFill>
                            <a:srgbClr val="222222"/>
                          </a:solidFill>
                          <a:latin typeface="맑은 고딕"/>
                        </a:rPr>
                        <a:t>릴레이 복구 버튼으로 승인 모달을 열고 회로 복구를 실행한다.</a:t>
                      </a:r>
                    </a:p>
                  </a:txBody>
                  <a:tcPr marL="27432" marR="27432" marT="4572" marB="4572" anchor="ctr">
                    <a:solidFill>
                      <a:srgbClr val="EEF3FB"/>
                    </a:solidFill>
                  </a:tcPr>
                </a:tc>
                <a:tc>
                  <a:txBody>
                    <a:bodyPr/>
                    <a:lstStyle/>
                    <a:p>
                      <a:pPr algn="ctr"/>
                      <a:r>
                        <a:rPr sz="540" b="0">
                          <a:solidFill>
                            <a:srgbClr val="222222"/>
                          </a:solidFill>
                          <a:latin typeface="맑은 고딕"/>
                        </a:rPr>
                        <a:t>제어</a:t>
                      </a:r>
                    </a:p>
                  </a:txBody>
                  <a:tcPr marL="27432" marR="27432" marT="4572" marB="4572" anchor="ctr">
                    <a:solidFill>
                      <a:srgbClr val="EEF3FB"/>
                    </a:solidFill>
                  </a:tcPr>
                </a:tc>
                <a:tc>
                  <a:txBody>
                    <a:bodyPr/>
                    <a:lstStyle/>
                    <a:p>
                      <a:pPr algn="ctr"/>
                      <a:r>
                        <a:rPr sz="540" b="0">
                          <a:solidFill>
                            <a:srgbClr val="222222"/>
                          </a:solidFill>
                          <a:latin typeface="맑은 고딕"/>
                        </a:rPr>
                        <a:t>REQ-WEB-063</a:t>
                      </a:r>
                    </a:p>
                  </a:txBody>
                  <a:tcPr marL="27432" marR="27432" marT="4572" marB="4572" anchor="ctr">
                    <a:solidFill>
                      <a:srgbClr val="EEF3FB"/>
                    </a:solidFill>
                  </a:tcPr>
                </a:tc>
                <a:extLst>
                  <a:ext uri="{0D108BD9-81ED-4DB2-BD59-A6C34878D82A}">
                    <a16:rowId xmlns:a16="http://schemas.microsoft.com/office/drawing/2014/main" val="10006"/>
                  </a:ext>
                </a:extLst>
              </a:tr>
              <a:tr h="261518">
                <a:tc>
                  <a:txBody>
                    <a:bodyPr/>
                    <a:lstStyle/>
                    <a:p>
                      <a:pPr algn="ctr"/>
                      <a:r>
                        <a:rPr sz="540" b="0">
                          <a:solidFill>
                            <a:srgbClr val="222222"/>
                          </a:solidFill>
                          <a:latin typeface="맑은 고딕"/>
                        </a:rPr>
                        <a:t>REQ-WEB-064</a:t>
                      </a:r>
                    </a:p>
                  </a:txBody>
                  <a:tcPr marL="27432" marR="27432" marT="4572" marB="4572" anchor="ctr">
                    <a:solidFill>
                      <a:srgbClr val="FFFFFF"/>
                    </a:solidFill>
                  </a:tcPr>
                </a:tc>
                <a:tc>
                  <a:txBody>
                    <a:bodyPr/>
                    <a:lstStyle/>
                    <a:p>
                      <a:pPr algn="l"/>
                      <a:r>
                        <a:rPr sz="540" b="0">
                          <a:solidFill>
                            <a:srgbClr val="222222"/>
                          </a:solidFill>
                          <a:latin typeface="맑은 고딕"/>
                        </a:rPr>
                        <a:t>자동 차단 알림 확인</a:t>
                      </a:r>
                    </a:p>
                  </a:txBody>
                  <a:tcPr marL="27432" marR="27432" marT="4572" marB="4572" anchor="ctr">
                    <a:solidFill>
                      <a:srgbClr val="FFFFFF"/>
                    </a:solidFill>
                  </a:tcPr>
                </a:tc>
                <a:tc>
                  <a:txBody>
                    <a:bodyPr/>
                    <a:lstStyle/>
                    <a:p>
                      <a:pPr algn="l"/>
                      <a:r>
                        <a:rPr sz="540" b="0">
                          <a:solidFill>
                            <a:srgbClr val="222222"/>
                          </a:solidFill>
                          <a:latin typeface="맑은 고딕"/>
                        </a:rPr>
                        <a:t>Fail-Safe 자동 차단 모달에서 차단 사유와 대상 배터리 점검 안내를 확인한다.</a:t>
                      </a:r>
                    </a:p>
                  </a:txBody>
                  <a:tcPr marL="27432" marR="27432" marT="4572" marB="4572" anchor="ctr">
                    <a:solidFill>
                      <a:srgbClr val="FFFFFF"/>
                    </a:solidFill>
                  </a:tcPr>
                </a:tc>
                <a:tc>
                  <a:txBody>
                    <a:bodyPr/>
                    <a:lstStyle/>
                    <a:p>
                      <a:pPr algn="ctr"/>
                      <a:r>
                        <a:rPr sz="540" b="0">
                          <a:solidFill>
                            <a:srgbClr val="222222"/>
                          </a:solidFill>
                          <a:latin typeface="맑은 고딕"/>
                        </a:rPr>
                        <a:t>알림</a:t>
                      </a:r>
                    </a:p>
                  </a:txBody>
                  <a:tcPr marL="27432" marR="27432" marT="4572" marB="4572" anchor="ctr">
                    <a:solidFill>
                      <a:srgbClr val="FFFFFF"/>
                    </a:solidFill>
                  </a:tcPr>
                </a:tc>
                <a:tc>
                  <a:txBody>
                    <a:bodyPr/>
                    <a:lstStyle/>
                    <a:p>
                      <a:pPr algn="ctr"/>
                      <a:r>
                        <a:rPr sz="540" b="0">
                          <a:solidFill>
                            <a:srgbClr val="222222"/>
                          </a:solidFill>
                          <a:latin typeface="맑은 고딕"/>
                        </a:rPr>
                        <a:t>REQ-WEB-064</a:t>
                      </a:r>
                    </a:p>
                  </a:txBody>
                  <a:tcPr marL="27432" marR="27432" marT="4572" marB="4572" anchor="ctr">
                    <a:solidFill>
                      <a:srgbClr val="FFFFFF"/>
                    </a:solidFill>
                  </a:tcPr>
                </a:tc>
                <a:extLst>
                  <a:ext uri="{0D108BD9-81ED-4DB2-BD59-A6C34878D82A}">
                    <a16:rowId xmlns:a16="http://schemas.microsoft.com/office/drawing/2014/main" val="10007"/>
                  </a:ext>
                </a:extLst>
              </a:tr>
              <a:tr h="261518">
                <a:tc>
                  <a:txBody>
                    <a:bodyPr/>
                    <a:lstStyle/>
                    <a:p>
                      <a:pPr algn="ctr"/>
                      <a:r>
                        <a:rPr sz="540" b="0">
                          <a:solidFill>
                            <a:srgbClr val="222222"/>
                          </a:solidFill>
                          <a:latin typeface="맑은 고딕"/>
                        </a:rPr>
                        <a:t>REQ-WEB-065</a:t>
                      </a:r>
                    </a:p>
                  </a:txBody>
                  <a:tcPr marL="27432" marR="27432" marT="4572" marB="4572" anchor="ctr">
                    <a:solidFill>
                      <a:srgbClr val="FFFFFF"/>
                    </a:solidFill>
                  </a:tcPr>
                </a:tc>
                <a:tc>
                  <a:txBody>
                    <a:bodyPr/>
                    <a:lstStyle/>
                    <a:p>
                      <a:pPr algn="l"/>
                      <a:r>
                        <a:rPr sz="540" b="0">
                          <a:solidFill>
                            <a:srgbClr val="222222"/>
                          </a:solidFill>
                          <a:latin typeface="맑은 고딕"/>
                        </a:rPr>
                        <a:t>알림 수신 설정</a:t>
                      </a:r>
                    </a:p>
                  </a:txBody>
                  <a:tcPr marL="27432" marR="27432" marT="4572" marB="4572" anchor="ctr">
                    <a:solidFill>
                      <a:srgbClr val="FFFFFF"/>
                    </a:solidFill>
                  </a:tcPr>
                </a:tc>
                <a:tc>
                  <a:txBody>
                    <a:bodyPr/>
                    <a:lstStyle/>
                    <a:p>
                      <a:pPr algn="l"/>
                      <a:r>
                        <a:rPr sz="540" b="0">
                          <a:solidFill>
                            <a:srgbClr val="222222"/>
                          </a:solidFill>
                          <a:latin typeface="맑은 고딕"/>
                        </a:rPr>
                        <a:t>설정 화면의 알림 수신 탭에서 카카오, 이메일, SMS, 웹푸시 수신 여부를 토글한다.</a:t>
                      </a:r>
                    </a:p>
                  </a:txBody>
                  <a:tcPr marL="27432" marR="27432" marT="4572" marB="4572" anchor="ctr">
                    <a:solidFill>
                      <a:srgbClr val="FFFFFF"/>
                    </a:solidFill>
                  </a:tcPr>
                </a:tc>
                <a:tc>
                  <a:txBody>
                    <a:bodyPr/>
                    <a:lstStyle/>
                    <a:p>
                      <a:pPr algn="ctr"/>
                      <a:r>
                        <a:rPr sz="540" b="0">
                          <a:solidFill>
                            <a:srgbClr val="222222"/>
                          </a:solidFill>
                          <a:latin typeface="맑은 고딕"/>
                        </a:rPr>
                        <a:t>설정</a:t>
                      </a:r>
                    </a:p>
                  </a:txBody>
                  <a:tcPr marL="27432" marR="27432" marT="4572" marB="4572" anchor="ctr">
                    <a:solidFill>
                      <a:srgbClr val="FFFFFF"/>
                    </a:solidFill>
                  </a:tcPr>
                </a:tc>
                <a:tc>
                  <a:txBody>
                    <a:bodyPr/>
                    <a:lstStyle/>
                    <a:p>
                      <a:pPr algn="ctr"/>
                      <a:r>
                        <a:rPr sz="540" b="0">
                          <a:solidFill>
                            <a:srgbClr val="222222"/>
                          </a:solidFill>
                          <a:latin typeface="맑은 고딕"/>
                        </a:rPr>
                        <a:t>REQ-WEB-065</a:t>
                      </a:r>
                    </a:p>
                  </a:txBody>
                  <a:tcPr marL="27432" marR="27432" marT="4572" marB="4572" anchor="ctr">
                    <a:solidFill>
                      <a:srgbClr val="FFFFFF"/>
                    </a:solidFill>
                  </a:tcPr>
                </a:tc>
                <a:extLst>
                  <a:ext uri="{0D108BD9-81ED-4DB2-BD59-A6C34878D82A}">
                    <a16:rowId xmlns:a16="http://schemas.microsoft.com/office/drawing/2014/main" val="10009"/>
                  </a:ext>
                </a:extLst>
              </a:tr>
              <a:tr h="261518">
                <a:tc>
                  <a:txBody>
                    <a:bodyPr/>
                    <a:lstStyle/>
                    <a:p>
                      <a:pPr algn="ctr"/>
                      <a:r>
                        <a:rPr sz="540" b="0">
                          <a:solidFill>
                            <a:srgbClr val="222222"/>
                          </a:solidFill>
                          <a:latin typeface="맑은 고딕"/>
                        </a:rPr>
                        <a:t>REQ-WEB-066</a:t>
                      </a:r>
                    </a:p>
                  </a:txBody>
                  <a:tcPr marL="27432" marR="27432" marT="4572" marB="4572" anchor="ctr">
                    <a:solidFill>
                      <a:srgbClr val="EEF3FB"/>
                    </a:solidFill>
                  </a:tcPr>
                </a:tc>
                <a:tc>
                  <a:txBody>
                    <a:bodyPr/>
                    <a:lstStyle/>
                    <a:p>
                      <a:pPr algn="l"/>
                      <a:r>
                        <a:rPr sz="540" b="0">
                          <a:solidFill>
                            <a:srgbClr val="222222"/>
                          </a:solidFill>
                          <a:latin typeface="맑은 고딕"/>
                        </a:rPr>
                        <a:t>알림 조건 설정</a:t>
                      </a:r>
                    </a:p>
                  </a:txBody>
                  <a:tcPr marL="27432" marR="27432" marT="4572" marB="4572" anchor="ctr">
                    <a:solidFill>
                      <a:srgbClr val="EEF3FB"/>
                    </a:solidFill>
                  </a:tcPr>
                </a:tc>
                <a:tc>
                  <a:txBody>
                    <a:bodyPr/>
                    <a:lstStyle/>
                    <a:p>
                      <a:pPr algn="l"/>
                      <a:r>
                        <a:rPr sz="540" b="0">
                          <a:solidFill>
                            <a:srgbClr val="222222"/>
                          </a:solidFill>
                          <a:latin typeface="맑은 고딕"/>
                        </a:rPr>
                        <a:t>위험·경고 즉시 발송, 위험 등급만 발송, 중복 발송 억제 조건을 확인한다.</a:t>
                      </a:r>
                    </a:p>
                  </a:txBody>
                  <a:tcPr marL="27432" marR="27432" marT="4572" marB="4572" anchor="ctr">
                    <a:solidFill>
                      <a:srgbClr val="EEF3FB"/>
                    </a:solidFill>
                  </a:tcPr>
                </a:tc>
                <a:tc>
                  <a:txBody>
                    <a:bodyPr/>
                    <a:lstStyle/>
                    <a:p>
                      <a:pPr algn="ctr"/>
                      <a:r>
                        <a:rPr sz="540" b="0">
                          <a:solidFill>
                            <a:srgbClr val="222222"/>
                          </a:solidFill>
                          <a:latin typeface="맑은 고딕"/>
                        </a:rPr>
                        <a:t>알림</a:t>
                      </a:r>
                    </a:p>
                  </a:txBody>
                  <a:tcPr marL="27432" marR="27432" marT="4572" marB="4572" anchor="ctr">
                    <a:solidFill>
                      <a:srgbClr val="EEF3FB"/>
                    </a:solidFill>
                  </a:tcPr>
                </a:tc>
                <a:tc>
                  <a:txBody>
                    <a:bodyPr/>
                    <a:lstStyle/>
                    <a:p>
                      <a:pPr algn="ctr"/>
                      <a:r>
                        <a:rPr sz="540" b="0">
                          <a:solidFill>
                            <a:srgbClr val="222222"/>
                          </a:solidFill>
                          <a:latin typeface="맑은 고딕"/>
                        </a:rPr>
                        <a:t>REQ-WEB-066</a:t>
                      </a:r>
                    </a:p>
                  </a:txBody>
                  <a:tcPr marL="27432" marR="27432" marT="4572" marB="4572" anchor="ctr">
                    <a:solidFill>
                      <a:srgbClr val="EEF3FB"/>
                    </a:solidFill>
                  </a:tcPr>
                </a:tc>
                <a:extLst>
                  <a:ext uri="{0D108BD9-81ED-4DB2-BD59-A6C34878D82A}">
                    <a16:rowId xmlns:a16="http://schemas.microsoft.com/office/drawing/2014/main" val="10010"/>
                  </a:ext>
                </a:extLst>
              </a:tr>
              <a:tr h="261518">
                <a:tc>
                  <a:txBody>
                    <a:bodyPr/>
                    <a:lstStyle/>
                    <a:p>
                      <a:pPr algn="ctr"/>
                      <a:r>
                        <a:rPr sz="540" b="0">
                          <a:solidFill>
                            <a:srgbClr val="222222"/>
                          </a:solidFill>
                          <a:latin typeface="맑은 고딕"/>
                        </a:rPr>
                        <a:t>REQ-WEB-067</a:t>
                      </a:r>
                    </a:p>
                  </a:txBody>
                  <a:tcPr marL="27432" marR="27432" marT="4572" marB="4572" anchor="ctr">
                    <a:solidFill>
                      <a:srgbClr val="FFFFFF"/>
                    </a:solidFill>
                  </a:tcPr>
                </a:tc>
                <a:tc>
                  <a:txBody>
                    <a:bodyPr/>
                    <a:lstStyle/>
                    <a:p>
                      <a:pPr algn="l"/>
                      <a:r>
                        <a:rPr sz="540" b="0">
                          <a:solidFill>
                            <a:srgbClr val="222222"/>
                          </a:solidFill>
                          <a:latin typeface="맑은 고딕"/>
                        </a:rPr>
                        <a:t>계정 정보 확인</a:t>
                      </a:r>
                    </a:p>
                  </a:txBody>
                  <a:tcPr marL="27432" marR="27432" marT="4572" marB="4572" anchor="ctr">
                    <a:solidFill>
                      <a:srgbClr val="FFFFFF"/>
                    </a:solidFill>
                  </a:tcPr>
                </a:tc>
                <a:tc>
                  <a:txBody>
                    <a:bodyPr/>
                    <a:lstStyle/>
                    <a:p>
                      <a:pPr algn="l"/>
                      <a:r>
                        <a:rPr sz="540" b="0">
                          <a:solidFill>
                            <a:srgbClr val="222222"/>
                          </a:solidFill>
                          <a:latin typeface="맑은 고딕"/>
                        </a:rPr>
                        <a:t>설정 화면의 계정 탭에서 이름, 이메일, 전화번호를 확인하고 변경 저장 버튼을 제공한다.</a:t>
                      </a:r>
                    </a:p>
                  </a:txBody>
                  <a:tcPr marL="27432" marR="27432" marT="4572" marB="4572" anchor="ctr">
                    <a:solidFill>
                      <a:srgbClr val="FFFFFF"/>
                    </a:solidFill>
                  </a:tcPr>
                </a:tc>
                <a:tc>
                  <a:txBody>
                    <a:bodyPr/>
                    <a:lstStyle/>
                    <a:p>
                      <a:pPr algn="ctr"/>
                      <a:r>
                        <a:rPr sz="540" b="0">
                          <a:solidFill>
                            <a:srgbClr val="222222"/>
                          </a:solidFill>
                          <a:latin typeface="맑은 고딕"/>
                        </a:rPr>
                        <a:t>계정</a:t>
                      </a:r>
                    </a:p>
                  </a:txBody>
                  <a:tcPr marL="27432" marR="27432" marT="4572" marB="4572" anchor="ctr">
                    <a:solidFill>
                      <a:srgbClr val="FFFFFF"/>
                    </a:solidFill>
                  </a:tcPr>
                </a:tc>
                <a:tc>
                  <a:txBody>
                    <a:bodyPr/>
                    <a:lstStyle/>
                    <a:p>
                      <a:pPr algn="ctr"/>
                      <a:r>
                        <a:rPr sz="540" b="0">
                          <a:solidFill>
                            <a:srgbClr val="222222"/>
                          </a:solidFill>
                          <a:latin typeface="맑은 고딕"/>
                        </a:rPr>
                        <a:t>REQ-WEB-067</a:t>
                      </a:r>
                    </a:p>
                  </a:txBody>
                  <a:tcPr marL="27432" marR="27432" marT="4572" marB="4572" anchor="ctr">
                    <a:solidFill>
                      <a:srgbClr val="FFFFFF"/>
                    </a:solidFill>
                  </a:tcPr>
                </a:tc>
                <a:extLst>
                  <a:ext uri="{0D108BD9-81ED-4DB2-BD59-A6C34878D82A}">
                    <a16:rowId xmlns:a16="http://schemas.microsoft.com/office/drawing/2014/main" val="10011"/>
                  </a:ext>
                </a:extLst>
              </a:tr>
              <a:tr h="261518">
                <a:tc>
                  <a:txBody>
                    <a:bodyPr/>
                    <a:lstStyle/>
                    <a:p>
                      <a:pPr algn="ctr"/>
                      <a:r>
                        <a:rPr sz="540" b="0">
                          <a:solidFill>
                            <a:srgbClr val="222222"/>
                          </a:solidFill>
                          <a:latin typeface="맑은 고딕"/>
                        </a:rPr>
                        <a:t>REQ-WEB-068</a:t>
                      </a:r>
                    </a:p>
                  </a:txBody>
                  <a:tcPr marL="27432" marR="27432" marT="4572" marB="4572" anchor="ctr">
                    <a:solidFill>
                      <a:srgbClr val="EEF3FB"/>
                    </a:solidFill>
                  </a:tcPr>
                </a:tc>
                <a:tc>
                  <a:txBody>
                    <a:bodyPr/>
                    <a:lstStyle/>
                    <a:p>
                      <a:pPr algn="l"/>
                      <a:r>
                        <a:rPr sz="540" b="0">
                          <a:solidFill>
                            <a:srgbClr val="222222"/>
                          </a:solidFill>
                          <a:latin typeface="맑은 고딕"/>
                        </a:rPr>
                        <a:t>비밀번호 변경</a:t>
                      </a:r>
                    </a:p>
                  </a:txBody>
                  <a:tcPr marL="27432" marR="27432" marT="4572" marB="4572" anchor="ctr">
                    <a:solidFill>
                      <a:srgbClr val="EEF3FB"/>
                    </a:solidFill>
                  </a:tcPr>
                </a:tc>
                <a:tc>
                  <a:txBody>
                    <a:bodyPr/>
                    <a:lstStyle/>
                    <a:p>
                      <a:pPr algn="l"/>
                      <a:r>
                        <a:rPr sz="540" b="0">
                          <a:solidFill>
                            <a:srgbClr val="222222"/>
                          </a:solidFill>
                          <a:latin typeface="맑은 고딕"/>
                        </a:rPr>
                        <a:t>계정 탭에서 비밀번호 재설정 모달을 열고 새 비밀번호를 저장한다.</a:t>
                      </a:r>
                    </a:p>
                  </a:txBody>
                  <a:tcPr marL="27432" marR="27432" marT="4572" marB="4572" anchor="ctr">
                    <a:solidFill>
                      <a:srgbClr val="EEF3FB"/>
                    </a:solidFill>
                  </a:tcPr>
                </a:tc>
                <a:tc>
                  <a:txBody>
                    <a:bodyPr/>
                    <a:lstStyle/>
                    <a:p>
                      <a:pPr algn="ctr"/>
                      <a:r>
                        <a:rPr sz="540" b="0">
                          <a:solidFill>
                            <a:srgbClr val="222222"/>
                          </a:solidFill>
                          <a:latin typeface="맑은 고딕"/>
                        </a:rPr>
                        <a:t>계정</a:t>
                      </a:r>
                    </a:p>
                  </a:txBody>
                  <a:tcPr marL="27432" marR="27432" marT="4572" marB="4572" anchor="ctr">
                    <a:solidFill>
                      <a:srgbClr val="EEF3FB"/>
                    </a:solidFill>
                  </a:tcPr>
                </a:tc>
                <a:tc>
                  <a:txBody>
                    <a:bodyPr/>
                    <a:lstStyle/>
                    <a:p>
                      <a:pPr algn="ctr"/>
                      <a:r>
                        <a:rPr sz="540" b="0">
                          <a:solidFill>
                            <a:srgbClr val="222222"/>
                          </a:solidFill>
                          <a:latin typeface="맑은 고딕"/>
                        </a:rPr>
                        <a:t>REQ-WEB-068</a:t>
                      </a:r>
                    </a:p>
                  </a:txBody>
                  <a:tcPr marL="27432" marR="27432" marT="4572" marB="4572" anchor="ctr">
                    <a:solidFill>
                      <a:srgbClr val="EEF3FB"/>
                    </a:solidFill>
                  </a:tcPr>
                </a:tc>
                <a:extLst>
                  <a:ext uri="{0D108BD9-81ED-4DB2-BD59-A6C34878D82A}">
                    <a16:rowId xmlns:a16="http://schemas.microsoft.com/office/drawing/2014/main" val="10012"/>
                  </a:ext>
                </a:extLst>
              </a:tr>
              <a:tr h="261518">
                <a:tc>
                  <a:txBody>
                    <a:bodyPr/>
                    <a:lstStyle/>
                    <a:p>
                      <a:pPr algn="ctr"/>
                      <a:r>
                        <a:rPr sz="540" b="0">
                          <a:solidFill>
                            <a:srgbClr val="222222"/>
                          </a:solidFill>
                          <a:latin typeface="맑은 고딕"/>
                        </a:rPr>
                        <a:t>REQ-WEB-069</a:t>
                      </a:r>
                    </a:p>
                  </a:txBody>
                  <a:tcPr marL="27432" marR="27432" marT="4572" marB="4572" anchor="ctr">
                    <a:solidFill>
                      <a:srgbClr val="FFFFFF"/>
                    </a:solidFill>
                  </a:tcPr>
                </a:tc>
                <a:tc>
                  <a:txBody>
                    <a:bodyPr/>
                    <a:lstStyle/>
                    <a:p>
                      <a:pPr algn="l"/>
                      <a:r>
                        <a:rPr sz="540" b="0">
                          <a:solidFill>
                            <a:srgbClr val="222222"/>
                          </a:solidFill>
                          <a:latin typeface="맑은 고딕"/>
                        </a:rPr>
                        <a:t>프로필 사진 변경</a:t>
                      </a:r>
                    </a:p>
                  </a:txBody>
                  <a:tcPr marL="27432" marR="27432" marT="4572" marB="4572" anchor="ctr">
                    <a:solidFill>
                      <a:srgbClr val="FFFFFF"/>
                    </a:solidFill>
                  </a:tcPr>
                </a:tc>
                <a:tc>
                  <a:txBody>
                    <a:bodyPr/>
                    <a:lstStyle/>
                    <a:p>
                      <a:pPr algn="l"/>
                      <a:r>
                        <a:rPr sz="540" b="0">
                          <a:solidFill>
                            <a:srgbClr val="222222"/>
                          </a:solidFill>
                          <a:latin typeface="맑은 고딕"/>
                        </a:rPr>
                        <a:t>계정 탭에서 사진 변경 버튼을 제공한다.</a:t>
                      </a:r>
                    </a:p>
                  </a:txBody>
                  <a:tcPr marL="27432" marR="27432" marT="4572" marB="4572" anchor="ctr">
                    <a:solidFill>
                      <a:srgbClr val="FFFFFF"/>
                    </a:solidFill>
                  </a:tcPr>
                </a:tc>
                <a:tc>
                  <a:txBody>
                    <a:bodyPr/>
                    <a:lstStyle/>
                    <a:p>
                      <a:pPr algn="ctr"/>
                      <a:r>
                        <a:rPr sz="540" b="0">
                          <a:solidFill>
                            <a:srgbClr val="222222"/>
                          </a:solidFill>
                          <a:latin typeface="맑은 고딕"/>
                        </a:rPr>
                        <a:t>정의 필요</a:t>
                      </a:r>
                    </a:p>
                  </a:txBody>
                  <a:tcPr marL="27432" marR="27432" marT="4572" marB="4572" anchor="ctr">
                    <a:solidFill>
                      <a:srgbClr val="FFFFFF"/>
                    </a:solidFill>
                  </a:tcPr>
                </a:tc>
                <a:tc>
                  <a:txBody>
                    <a:bodyPr/>
                    <a:lstStyle/>
                    <a:p>
                      <a:pPr algn="ctr"/>
                      <a:r>
                        <a:rPr sz="540" b="0">
                          <a:solidFill>
                            <a:srgbClr val="222222"/>
                          </a:solidFill>
                          <a:latin typeface="맑은 고딕"/>
                        </a:rPr>
                        <a:t>REQ-WEB-069</a:t>
                      </a:r>
                    </a:p>
                  </a:txBody>
                  <a:tcPr marL="27432" marR="27432" marT="4572" marB="4572" anchor="ctr">
                    <a:solidFill>
                      <a:srgbClr val="FFFFFF"/>
                    </a:solidFill>
                  </a:tcPr>
                </a:tc>
                <a:extLst>
                  <a:ext uri="{0D108BD9-81ED-4DB2-BD59-A6C34878D82A}">
                    <a16:rowId xmlns:a16="http://schemas.microsoft.com/office/drawing/2014/main" val="10013"/>
                  </a:ext>
                </a:extLst>
              </a:tr>
              <a:tr h="261518">
                <a:tc>
                  <a:txBody>
                    <a:bodyPr/>
                    <a:lstStyle/>
                    <a:p>
                      <a:pPr algn="ctr"/>
                      <a:r>
                        <a:rPr sz="540" b="0">
                          <a:solidFill>
                            <a:srgbClr val="222222"/>
                          </a:solidFill>
                          <a:latin typeface="맑은 고딕"/>
                        </a:rPr>
                        <a:t>REQ-WEB-070</a:t>
                      </a:r>
                    </a:p>
                  </a:txBody>
                  <a:tcPr marL="27432" marR="27432" marT="4572" marB="4572" anchor="ctr">
                    <a:solidFill>
                      <a:srgbClr val="EEF3FB"/>
                    </a:solidFill>
                  </a:tcPr>
                </a:tc>
                <a:tc>
                  <a:txBody>
                    <a:bodyPr/>
                    <a:lstStyle/>
                    <a:p>
                      <a:pPr algn="l"/>
                      <a:r>
                        <a:rPr sz="540" b="0">
                          <a:solidFill>
                            <a:srgbClr val="222222"/>
                          </a:solidFill>
                          <a:latin typeface="맑은 고딕"/>
                        </a:rPr>
                        <a:t>테마 전환</a:t>
                      </a:r>
                    </a:p>
                  </a:txBody>
                  <a:tcPr marL="27432" marR="27432" marT="4572" marB="4572" anchor="ctr">
                    <a:solidFill>
                      <a:srgbClr val="EEF3FB"/>
                    </a:solidFill>
                  </a:tcPr>
                </a:tc>
                <a:tc>
                  <a:txBody>
                    <a:bodyPr/>
                    <a:lstStyle/>
                    <a:p>
                      <a:pPr algn="l"/>
                      <a:r>
                        <a:rPr sz="540" b="0">
                          <a:solidFill>
                            <a:srgbClr val="222222"/>
                          </a:solidFill>
                          <a:latin typeface="맑은 고딕"/>
                        </a:rPr>
                        <a:t>설정 화면의 테마 탭에서 라이트, 다크, 시스템 테마를 선택한다.</a:t>
                      </a:r>
                    </a:p>
                  </a:txBody>
                  <a:tcPr marL="27432" marR="27432" marT="4572" marB="4572" anchor="ctr">
                    <a:solidFill>
                      <a:srgbClr val="EEF3FB"/>
                    </a:solidFill>
                  </a:tcPr>
                </a:tc>
                <a:tc>
                  <a:txBody>
                    <a:bodyPr/>
                    <a:lstStyle/>
                    <a:p>
                      <a:pPr algn="ctr"/>
                      <a:r>
                        <a:rPr sz="540" b="0">
                          <a:solidFill>
                            <a:srgbClr val="222222"/>
                          </a:solidFill>
                          <a:latin typeface="맑은 고딕"/>
                        </a:rPr>
                        <a:t>설정</a:t>
                      </a:r>
                    </a:p>
                  </a:txBody>
                  <a:tcPr marL="27432" marR="27432" marT="4572" marB="4572" anchor="ctr">
                    <a:solidFill>
                      <a:srgbClr val="EEF3FB"/>
                    </a:solidFill>
                  </a:tcPr>
                </a:tc>
                <a:tc>
                  <a:txBody>
                    <a:bodyPr/>
                    <a:lstStyle/>
                    <a:p>
                      <a:pPr algn="ctr"/>
                      <a:r>
                        <a:rPr sz="540" b="0">
                          <a:solidFill>
                            <a:srgbClr val="222222"/>
                          </a:solidFill>
                          <a:latin typeface="맑은 고딕"/>
                        </a:rPr>
                        <a:t>REQ-WEB-070</a:t>
                      </a:r>
                    </a:p>
                  </a:txBody>
                  <a:tcPr marL="27432" marR="27432" marT="4572" marB="4572" anchor="ctr">
                    <a:solidFill>
                      <a:srgbClr val="EEF3FB"/>
                    </a:solidFill>
                  </a:tcPr>
                </a:tc>
                <a:extLst>
                  <a:ext uri="{0D108BD9-81ED-4DB2-BD59-A6C34878D82A}">
                    <a16:rowId xmlns:a16="http://schemas.microsoft.com/office/drawing/2014/main" val="10014"/>
                  </a:ext>
                </a:extLst>
              </a:tr>
              <a:tr h="261518">
                <a:tc>
                  <a:txBody>
                    <a:bodyPr/>
                    <a:lstStyle/>
                    <a:p>
                      <a:pPr algn="ctr"/>
                      <a:r>
                        <a:rPr sz="540" b="0">
                          <a:solidFill>
                            <a:srgbClr val="222222"/>
                          </a:solidFill>
                          <a:latin typeface="맑은 고딕"/>
                        </a:rPr>
                        <a:t>REQ-WEB-071</a:t>
                      </a:r>
                    </a:p>
                  </a:txBody>
                  <a:tcPr marL="27432" marR="27432" marT="4572" marB="4572" anchor="ctr">
                    <a:solidFill>
                      <a:srgbClr val="FFFFFF"/>
                    </a:solidFill>
                  </a:tcPr>
                </a:tc>
                <a:tc>
                  <a:txBody>
                    <a:bodyPr/>
                    <a:lstStyle/>
                    <a:p>
                      <a:pPr algn="l"/>
                      <a:r>
                        <a:rPr sz="540" b="0">
                          <a:solidFill>
                            <a:srgbClr val="222222"/>
                          </a:solidFill>
                          <a:latin typeface="맑은 고딕"/>
                        </a:rPr>
                        <a:t>센서 캘리브레이션 이력 확인</a:t>
                      </a:r>
                    </a:p>
                  </a:txBody>
                  <a:tcPr marL="27432" marR="27432" marT="4572" marB="4572" anchor="ctr">
                    <a:solidFill>
                      <a:srgbClr val="FFFFFF"/>
                    </a:solidFill>
                  </a:tcPr>
                </a:tc>
                <a:tc>
                  <a:txBody>
                    <a:bodyPr/>
                    <a:lstStyle/>
                    <a:p>
                      <a:pPr algn="l"/>
                      <a:r>
                        <a:rPr sz="540" b="0">
                          <a:solidFill>
                            <a:srgbClr val="222222"/>
                          </a:solidFill>
                          <a:latin typeface="맑은 고딕"/>
                        </a:rPr>
                        <a:t>테마·캘리브레이션 영역에서 센서별 보정일, 담당자, 유효 상태를 확인한다.</a:t>
                      </a:r>
                    </a:p>
                  </a:txBody>
                  <a:tcPr marL="27432" marR="27432" marT="4572" marB="4572" anchor="ctr">
                    <a:solidFill>
                      <a:srgbClr val="FFFFFF"/>
                    </a:solidFill>
                  </a:tcPr>
                </a:tc>
                <a:tc>
                  <a:txBody>
                    <a:bodyPr/>
                    <a:lstStyle/>
                    <a:p>
                      <a:pPr algn="ctr"/>
                      <a:r>
                        <a:rPr sz="540" b="0">
                          <a:solidFill>
                            <a:srgbClr val="222222"/>
                          </a:solidFill>
                          <a:latin typeface="맑은 고딕"/>
                        </a:rPr>
                        <a:t>조회</a:t>
                      </a:r>
                    </a:p>
                  </a:txBody>
                  <a:tcPr marL="27432" marR="27432" marT="4572" marB="4572" anchor="ctr">
                    <a:solidFill>
                      <a:srgbClr val="FFFFFF"/>
                    </a:solidFill>
                  </a:tcPr>
                </a:tc>
                <a:tc>
                  <a:txBody>
                    <a:bodyPr/>
                    <a:lstStyle/>
                    <a:p>
                      <a:pPr algn="ctr"/>
                      <a:r>
                        <a:rPr sz="540" b="0">
                          <a:solidFill>
                            <a:srgbClr val="222222"/>
                          </a:solidFill>
                          <a:latin typeface="맑은 고딕"/>
                        </a:rPr>
                        <a:t>REQ-WEB-071</a:t>
                      </a:r>
                    </a:p>
                  </a:txBody>
                  <a:tcPr marL="27432" marR="27432" marT="4572" marB="4572" anchor="ctr">
                    <a:solidFill>
                      <a:srgbClr val="FFFFFF"/>
                    </a:solidFill>
                  </a:tcPr>
                </a:tc>
                <a:extLst>
                  <a:ext uri="{0D108BD9-81ED-4DB2-BD59-A6C34878D82A}">
                    <a16:rowId xmlns:a16="http://schemas.microsoft.com/office/drawing/2014/main" val="10015"/>
                  </a:ext>
                </a:extLst>
              </a:tr>
              <a:tr h="261518">
                <a:tc>
                  <a:txBody>
                    <a:bodyPr/>
                    <a:lstStyle/>
                    <a:p>
                      <a:pPr algn="ctr"/>
                      <a:r>
                        <a:rPr sz="540" b="0">
                          <a:solidFill>
                            <a:srgbClr val="222222"/>
                          </a:solidFill>
                          <a:latin typeface="맑은 고딕"/>
                        </a:rPr>
                        <a:t>REQ-WEB-101</a:t>
                      </a:r>
                    </a:p>
                  </a:txBody>
                  <a:tcPr marL="27432" marR="27432" marT="4572" marB="4572" anchor="ctr">
                    <a:solidFill>
                      <a:srgbClr val="EEF3FB"/>
                    </a:solidFill>
                  </a:tcPr>
                </a:tc>
                <a:tc>
                  <a:txBody>
                    <a:bodyPr/>
                    <a:lstStyle/>
                    <a:p>
                      <a:pPr algn="l"/>
                      <a:r>
                        <a:rPr sz="540" b="0">
                          <a:solidFill>
                            <a:srgbClr val="222222"/>
                          </a:solidFill>
                          <a:latin typeface="맑은 고딕"/>
                        </a:rPr>
                        <a:t>관리자 대시보드 진입</a:t>
                      </a:r>
                    </a:p>
                  </a:txBody>
                  <a:tcPr marL="27432" marR="27432" marT="4572" marB="4572" anchor="ctr">
                    <a:solidFill>
                      <a:srgbClr val="EEF3FB"/>
                    </a:solidFill>
                  </a:tcPr>
                </a:tc>
                <a:tc>
                  <a:txBody>
                    <a:bodyPr/>
                    <a:lstStyle/>
                    <a:p>
                      <a:pPr algn="l"/>
                      <a:r>
                        <a:rPr sz="540" b="0">
                          <a:solidFill>
                            <a:srgbClr val="222222"/>
                          </a:solidFill>
                          <a:latin typeface="맑은 고딕"/>
                        </a:rPr>
                        <a:t>관리자 로그인 후 전체 운영 현황 허브 화면으로 진입한다.</a:t>
                      </a:r>
                    </a:p>
                  </a:txBody>
                  <a:tcPr marL="27432" marR="27432" marT="4572" marB="4572" anchor="ctr">
                    <a:solidFill>
                      <a:srgbClr val="EEF3FB"/>
                    </a:solidFill>
                  </a:tcPr>
                </a:tc>
                <a:tc>
                  <a:txBody>
                    <a:bodyPr/>
                    <a:lstStyle/>
                    <a:p>
                      <a:pPr algn="ctr"/>
                      <a:r>
                        <a:rPr sz="540" b="0">
                          <a:solidFill>
                            <a:srgbClr val="222222"/>
                          </a:solidFill>
                          <a:latin typeface="맑은 고딕"/>
                        </a:rPr>
                        <a:t>관리자</a:t>
                      </a:r>
                    </a:p>
                  </a:txBody>
                  <a:tcPr marL="27432" marR="27432" marT="4572" marB="4572" anchor="ctr">
                    <a:solidFill>
                      <a:srgbClr val="EEF3FB"/>
                    </a:solidFill>
                  </a:tcPr>
                </a:tc>
                <a:tc>
                  <a:txBody>
                    <a:bodyPr/>
                    <a:lstStyle/>
                    <a:p>
                      <a:pPr algn="ctr"/>
                      <a:r>
                        <a:rPr sz="540" b="0">
                          <a:solidFill>
                            <a:srgbClr val="222222"/>
                          </a:solidFill>
                          <a:latin typeface="맑은 고딕"/>
                        </a:rPr>
                        <a:t>REQ-WEB-101</a:t>
                      </a:r>
                    </a:p>
                  </a:txBody>
                  <a:tcPr marL="27432" marR="27432" marT="4572" marB="4572" anchor="ctr">
                    <a:solidFill>
                      <a:srgbClr val="EEF3FB"/>
                    </a:solidFill>
                  </a:tcPr>
                </a:tc>
                <a:extLst>
                  <a:ext uri="{0D108BD9-81ED-4DB2-BD59-A6C34878D82A}">
                    <a16:rowId xmlns:a16="http://schemas.microsoft.com/office/drawing/2014/main" val="10016"/>
                  </a:ext>
                </a:extLst>
              </a:tr>
              <a:tr h="261518">
                <a:tc>
                  <a:txBody>
                    <a:bodyPr/>
                    <a:lstStyle/>
                    <a:p>
                      <a:pPr algn="ctr"/>
                      <a:r>
                        <a:rPr sz="540" b="0">
                          <a:solidFill>
                            <a:srgbClr val="222222"/>
                          </a:solidFill>
                          <a:latin typeface="맑은 고딕"/>
                        </a:rPr>
                        <a:t>REQ-WEB-102</a:t>
                      </a:r>
                    </a:p>
                  </a:txBody>
                  <a:tcPr marL="27432" marR="27432" marT="4572" marB="4572" anchor="ctr">
                    <a:solidFill>
                      <a:srgbClr val="FFFFFF"/>
                    </a:solidFill>
                  </a:tcPr>
                </a:tc>
                <a:tc>
                  <a:txBody>
                    <a:bodyPr/>
                    <a:lstStyle/>
                    <a:p>
                      <a:pPr algn="l"/>
                      <a:r>
                        <a:rPr sz="540" b="0">
                          <a:solidFill>
                            <a:srgbClr val="222222"/>
                          </a:solidFill>
                          <a:latin typeface="맑은 고딕"/>
                        </a:rPr>
                        <a:t>관리자 메뉴 이동</a:t>
                      </a:r>
                    </a:p>
                  </a:txBody>
                  <a:tcPr marL="27432" marR="27432" marT="4572" marB="4572" anchor="ctr">
                    <a:solidFill>
                      <a:srgbClr val="FFFFFF"/>
                    </a:solidFill>
                  </a:tcPr>
                </a:tc>
                <a:tc>
                  <a:txBody>
                    <a:bodyPr/>
                    <a:lstStyle/>
                    <a:p>
                      <a:pPr algn="l"/>
                      <a:r>
                        <a:rPr sz="540" b="0">
                          <a:solidFill>
                            <a:srgbClr val="222222"/>
                          </a:solidFill>
                          <a:latin typeface="맑은 고딕"/>
                        </a:rPr>
                        <a:t>관리자 대시보드, 유저 관리, 배터리 관리, 공지사항 관리, 감사 로그 메뉴로 이동한다.</a:t>
                      </a:r>
                    </a:p>
                  </a:txBody>
                  <a:tcPr marL="27432" marR="27432" marT="4572" marB="4572" anchor="ctr">
                    <a:solidFill>
                      <a:srgbClr val="FFFFFF"/>
                    </a:solidFill>
                  </a:tcPr>
                </a:tc>
                <a:tc>
                  <a:txBody>
                    <a:bodyPr/>
                    <a:lstStyle/>
                    <a:p>
                      <a:pPr algn="ctr"/>
                      <a:r>
                        <a:rPr sz="540" b="0">
                          <a:solidFill>
                            <a:srgbClr val="222222"/>
                          </a:solidFill>
                          <a:latin typeface="맑은 고딕"/>
                        </a:rPr>
                        <a:t>이동</a:t>
                      </a:r>
                    </a:p>
                  </a:txBody>
                  <a:tcPr marL="27432" marR="27432" marT="4572" marB="4572" anchor="ctr">
                    <a:solidFill>
                      <a:srgbClr val="FFFFFF"/>
                    </a:solidFill>
                  </a:tcPr>
                </a:tc>
                <a:tc>
                  <a:txBody>
                    <a:bodyPr/>
                    <a:lstStyle/>
                    <a:p>
                      <a:pPr algn="ctr"/>
                      <a:r>
                        <a:rPr sz="540" b="0">
                          <a:solidFill>
                            <a:srgbClr val="222222"/>
                          </a:solidFill>
                          <a:latin typeface="맑은 고딕"/>
                        </a:rPr>
                        <a:t>REQ-WEB-102</a:t>
                      </a:r>
                    </a:p>
                  </a:txBody>
                  <a:tcPr marL="27432" marR="27432" marT="4572" marB="4572" anchor="ctr">
                    <a:solidFill>
                      <a:srgbClr val="FFFFFF"/>
                    </a:solidFill>
                  </a:tcPr>
                </a:tc>
                <a:extLst>
                  <a:ext uri="{0D108BD9-81ED-4DB2-BD59-A6C34878D82A}">
                    <a16:rowId xmlns:a16="http://schemas.microsoft.com/office/drawing/2014/main" val="10017"/>
                  </a:ext>
                </a:extLst>
              </a:tr>
              <a:tr h="261518">
                <a:tc>
                  <a:txBody>
                    <a:bodyPr/>
                    <a:lstStyle/>
                    <a:p>
                      <a:pPr algn="ctr"/>
                      <a:r>
                        <a:rPr sz="540" b="0">
                          <a:solidFill>
                            <a:srgbClr val="222222"/>
                          </a:solidFill>
                          <a:latin typeface="맑은 고딕"/>
                        </a:rPr>
                        <a:t>REQ-WEB-103</a:t>
                      </a:r>
                    </a:p>
                  </a:txBody>
                  <a:tcPr marL="27432" marR="27432" marT="4572" marB="4572" anchor="ctr">
                    <a:solidFill>
                      <a:srgbClr val="EEF3FB"/>
                    </a:solidFill>
                  </a:tcPr>
                </a:tc>
                <a:tc>
                  <a:txBody>
                    <a:bodyPr/>
                    <a:lstStyle/>
                    <a:p>
                      <a:pPr algn="l"/>
                      <a:r>
                        <a:rPr sz="540" b="0">
                          <a:solidFill>
                            <a:srgbClr val="222222"/>
                          </a:solidFill>
                          <a:latin typeface="맑은 고딕"/>
                        </a:rPr>
                        <a:t>관리자 모드 종료</a:t>
                      </a:r>
                    </a:p>
                  </a:txBody>
                  <a:tcPr marL="27432" marR="27432" marT="4572" marB="4572" anchor="ctr">
                    <a:solidFill>
                      <a:srgbClr val="EEF3FB"/>
                    </a:solidFill>
                  </a:tcPr>
                </a:tc>
                <a:tc>
                  <a:txBody>
                    <a:bodyPr/>
                    <a:lstStyle/>
                    <a:p>
                      <a:pPr algn="l"/>
                      <a:r>
                        <a:rPr sz="540" b="0">
                          <a:solidFill>
                            <a:srgbClr val="222222"/>
                          </a:solidFill>
                          <a:latin typeface="맑은 고딕"/>
                        </a:rPr>
                        <a:t>관리자 화면에서 일반 사용자 화면으로 나가거나 로그아웃한다.</a:t>
                      </a:r>
                    </a:p>
                  </a:txBody>
                  <a:tcPr marL="27432" marR="27432" marT="4572" marB="4572" anchor="ctr">
                    <a:solidFill>
                      <a:srgbClr val="EEF3FB"/>
                    </a:solidFill>
                  </a:tcPr>
                </a:tc>
                <a:tc>
                  <a:txBody>
                    <a:bodyPr/>
                    <a:lstStyle/>
                    <a:p>
                      <a:pPr algn="ctr"/>
                      <a:r>
                        <a:rPr sz="540" b="0">
                          <a:solidFill>
                            <a:srgbClr val="222222"/>
                          </a:solidFill>
                          <a:latin typeface="맑은 고딕"/>
                        </a:rPr>
                        <a:t>인증</a:t>
                      </a:r>
                    </a:p>
                  </a:txBody>
                  <a:tcPr marL="27432" marR="27432" marT="4572" marB="4572" anchor="ctr">
                    <a:solidFill>
                      <a:srgbClr val="EEF3FB"/>
                    </a:solidFill>
                  </a:tcPr>
                </a:tc>
                <a:tc>
                  <a:txBody>
                    <a:bodyPr/>
                    <a:lstStyle/>
                    <a:p>
                      <a:pPr algn="ctr"/>
                      <a:r>
                        <a:rPr sz="540" b="0">
                          <a:solidFill>
                            <a:srgbClr val="222222"/>
                          </a:solidFill>
                          <a:latin typeface="맑은 고딕"/>
                        </a:rPr>
                        <a:t>REQ-WEB-103</a:t>
                      </a:r>
                    </a:p>
                  </a:txBody>
                  <a:tcPr marL="27432" marR="27432" marT="4572" marB="4572" anchor="ctr">
                    <a:solidFill>
                      <a:srgbClr val="EEF3FB"/>
                    </a:solidFill>
                  </a:tcPr>
                </a:tc>
                <a:extLst>
                  <a:ext uri="{0D108BD9-81ED-4DB2-BD59-A6C34878D82A}">
                    <a16:rowId xmlns:a16="http://schemas.microsoft.com/office/drawing/2014/main" val="10018"/>
                  </a:ext>
                </a:extLst>
              </a:tr>
              <a:tr h="261518">
                <a:tc>
                  <a:txBody>
                    <a:bodyPr/>
                    <a:lstStyle/>
                    <a:p>
                      <a:pPr algn="ctr"/>
                      <a:r>
                        <a:rPr sz="540" b="0">
                          <a:solidFill>
                            <a:srgbClr val="222222"/>
                          </a:solidFill>
                          <a:latin typeface="맑은 고딕"/>
                        </a:rPr>
                        <a:t>REQ-WEB-104</a:t>
                      </a:r>
                    </a:p>
                  </a:txBody>
                  <a:tcPr marL="27432" marR="27432" marT="4572" marB="4572" anchor="ctr">
                    <a:solidFill>
                      <a:srgbClr val="FFFFFF"/>
                    </a:solidFill>
                  </a:tcPr>
                </a:tc>
                <a:tc>
                  <a:txBody>
                    <a:bodyPr/>
                    <a:lstStyle/>
                    <a:p>
                      <a:pPr algn="l"/>
                      <a:r>
                        <a:rPr sz="540" b="0">
                          <a:solidFill>
                            <a:srgbClr val="222222"/>
                          </a:solidFill>
                          <a:latin typeface="맑은 고딕"/>
                        </a:rPr>
                        <a:t>전체 운영 요약 확인</a:t>
                      </a:r>
                    </a:p>
                  </a:txBody>
                  <a:tcPr marL="27432" marR="27432" marT="4572" marB="4572" anchor="ctr">
                    <a:solidFill>
                      <a:srgbClr val="FFFFFF"/>
                    </a:solidFill>
                  </a:tcPr>
                </a:tc>
                <a:tc>
                  <a:txBody>
                    <a:bodyPr/>
                    <a:lstStyle/>
                    <a:p>
                      <a:pPr algn="l"/>
                      <a:r>
                        <a:rPr sz="540" b="0">
                          <a:solidFill>
                            <a:srgbClr val="222222"/>
                          </a:solidFill>
                          <a:latin typeface="맑은 고딕"/>
                        </a:rPr>
                        <a:t>전체 유저, 전체 배터리, 활성 세션, 위험/경고 배터리, 오프라인 디바이스 요약 카드를 확인한다.</a:t>
                      </a:r>
                    </a:p>
                  </a:txBody>
                  <a:tcPr marL="27432" marR="27432" marT="4572" marB="4572" anchor="ctr">
                    <a:solidFill>
                      <a:srgbClr val="FFFFFF"/>
                    </a:solidFill>
                  </a:tcPr>
                </a:tc>
                <a:tc>
                  <a:txBody>
                    <a:bodyPr/>
                    <a:lstStyle/>
                    <a:p>
                      <a:pPr algn="ctr"/>
                      <a:r>
                        <a:rPr sz="540" b="0">
                          <a:solidFill>
                            <a:srgbClr val="222222"/>
                          </a:solidFill>
                          <a:latin typeface="맑은 고딕"/>
                        </a:rPr>
                        <a:t>조회</a:t>
                      </a:r>
                    </a:p>
                  </a:txBody>
                  <a:tcPr marL="27432" marR="27432" marT="4572" marB="4572" anchor="ctr">
                    <a:solidFill>
                      <a:srgbClr val="FFFFFF"/>
                    </a:solidFill>
                  </a:tcPr>
                </a:tc>
                <a:tc>
                  <a:txBody>
                    <a:bodyPr/>
                    <a:lstStyle/>
                    <a:p>
                      <a:pPr algn="ctr"/>
                      <a:r>
                        <a:rPr sz="540" b="0">
                          <a:solidFill>
                            <a:srgbClr val="222222"/>
                          </a:solidFill>
                          <a:latin typeface="맑은 고딕"/>
                        </a:rPr>
                        <a:t>REQ-WEB-104</a:t>
                      </a:r>
                    </a:p>
                  </a:txBody>
                  <a:tcPr marL="27432" marR="27432" marT="4572" marB="4572" anchor="ctr">
                    <a:solidFill>
                      <a:srgbClr val="FFFFFF"/>
                    </a:solidFill>
                  </a:tcPr>
                </a:tc>
                <a:extLst>
                  <a:ext uri="{0D108BD9-81ED-4DB2-BD59-A6C34878D82A}">
                    <a16:rowId xmlns:a16="http://schemas.microsoft.com/office/drawing/2014/main" val="10019"/>
                  </a:ext>
                </a:extLst>
              </a:tr>
            </a:tbl>
          </a:graphicData>
        </a:graphic>
      </p:graphicFrame>
    </p:spTree>
    <p:extLst>
      <p:ext uri="{BB962C8B-B14F-4D97-AF65-F5344CB8AC3E}">
        <p14:creationId xmlns:p14="http://schemas.microsoft.com/office/powerpoint/2010/main" val="366633740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FF4F9-6AAF-7554-4111-A34591EB094E}"/>
            </a:ext>
          </a:extLst>
        </p:cNvPr>
        <p:cNvGrpSpPr/>
        <p:nvPr/>
      </p:nvGrpSpPr>
      <p:grpSpPr>
        <a:xfrm>
          <a:off x="0" y="0"/>
          <a:ext cx="0" cy="0"/>
          <a:chOff x="0" y="0"/>
          <a:chExt cx="0" cy="0"/>
        </a:xfrm>
      </p:grpSpPr>
      <p:sp>
        <p:nvSpPr>
          <p:cNvPr id="14" name="직사각형 13">
            <a:extLst>
              <a:ext uri="{FF2B5EF4-FFF2-40B4-BE49-F238E27FC236}">
                <a16:creationId xmlns:a16="http://schemas.microsoft.com/office/drawing/2014/main" id="{69828EAB-31D5-FB64-CD03-E7DBCA939015}"/>
              </a:ext>
            </a:extLst>
          </p:cNvPr>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7" name="직선 연결선 16">
            <a:extLst>
              <a:ext uri="{FF2B5EF4-FFF2-40B4-BE49-F238E27FC236}">
                <a16:creationId xmlns:a16="http://schemas.microsoft.com/office/drawing/2014/main" id="{160AF804-CD79-77BC-0E9A-9E93527BCDC7}"/>
              </a:ext>
            </a:extLst>
          </p:cNvPr>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24A0CC11-11C4-813C-CAD2-1123EDEDD38C}"/>
              </a:ext>
            </a:extLst>
          </p:cNvPr>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19" name="제목 12">
            <a:extLst>
              <a:ext uri="{FF2B5EF4-FFF2-40B4-BE49-F238E27FC236}">
                <a16:creationId xmlns:a16="http://schemas.microsoft.com/office/drawing/2014/main" id="{64DCD44B-05DB-520B-020D-D08622DE667C}"/>
              </a:ext>
            </a:extLst>
          </p:cNvPr>
          <p:cNvSpPr txBox="1">
            <a:spLocks/>
          </p:cNvSpPr>
          <p:nvPr/>
        </p:nvSpPr>
        <p:spPr>
          <a:xfrm>
            <a:off x="323528" y="692696"/>
            <a:ext cx="2808312"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a:ln>
                  <a:noFill/>
                </a:ln>
                <a:solidFill>
                  <a:schemeClr val="bg1"/>
                </a:solidFill>
                <a:effectLst/>
                <a:uLnTx/>
                <a:uFillTx/>
                <a:latin typeface="+mn-ea"/>
                <a:cs typeface="+mj-cs"/>
              </a:rPr>
              <a:t>| </a:t>
            </a:r>
            <a:r>
              <a:rPr lang="ko-KR" altLang="en-US" sz="1700" b="1">
                <a:solidFill>
                  <a:schemeClr val="bg1"/>
                </a:solidFill>
                <a:latin typeface="+mn-ea"/>
                <a:cs typeface="+mj-cs"/>
              </a:rPr>
              <a:t>프로그램 </a:t>
            </a:r>
            <a:r>
              <a:rPr lang="en-US" altLang="ko-KR" sz="1700" b="1">
                <a:solidFill>
                  <a:schemeClr val="bg1"/>
                </a:solidFill>
                <a:latin typeface="+mn-ea"/>
                <a:cs typeface="+mj-cs"/>
              </a:rPr>
              <a:t>- </a:t>
            </a:r>
            <a:r>
              <a:rPr kumimoji="0" lang="ko-KR" altLang="en-US" sz="1700" b="1" i="0" u="none" strike="noStrike" kern="1200" cap="none" spc="0" normalizeH="0" baseline="0" noProof="0" dirty="0">
                <a:ln>
                  <a:noFill/>
                </a:ln>
                <a:solidFill>
                  <a:schemeClr val="bg1"/>
                </a:solidFill>
                <a:effectLst/>
                <a:uLnTx/>
                <a:uFillTx/>
                <a:latin typeface="+mn-ea"/>
                <a:cs typeface="+mj-cs"/>
              </a:rPr>
              <a:t>목록</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1026" name="Picture 2">
            <a:extLst>
              <a:ext uri="{FF2B5EF4-FFF2-40B4-BE49-F238E27FC236}">
                <a16:creationId xmlns:a16="http://schemas.microsoft.com/office/drawing/2014/main" id="{CEB8B087-B5BA-4D5C-30DE-D787EADCDA64}"/>
              </a:ext>
            </a:extLst>
          </p:cNvPr>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5" name="막힌 원호 34">
            <a:extLst>
              <a:ext uri="{FF2B5EF4-FFF2-40B4-BE49-F238E27FC236}">
                <a16:creationId xmlns:a16="http://schemas.microsoft.com/office/drawing/2014/main" id="{C9B4314C-A4DB-0CEA-B094-87F5A3FDB537}"/>
              </a:ext>
            </a:extLst>
          </p:cNvPr>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그림 2">
            <a:extLst>
              <a:ext uri="{FF2B5EF4-FFF2-40B4-BE49-F238E27FC236}">
                <a16:creationId xmlns:a16="http://schemas.microsoft.com/office/drawing/2014/main" id="{58356BD7-3CD4-DB3D-8A72-CCDAFE923996}"/>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graphicFrame>
        <p:nvGraphicFramePr>
          <p:cNvPr id="1027" name="Table 1026"/>
          <p:cNvGraphicFramePr>
            <a:graphicFrameLocks noGrp="1"/>
          </p:cNvGraphicFramePr>
          <p:nvPr/>
        </p:nvGraphicFramePr>
        <p:xfrm>
          <a:off x="301752" y="1335024"/>
          <a:ext cx="4160519" cy="5230360"/>
        </p:xfrm>
        <a:graphic>
          <a:graphicData uri="http://schemas.openxmlformats.org/drawingml/2006/table">
            <a:tbl>
              <a:tblPr>
                <a:tableStyleId>{5C22544A-7EE6-4342-B048-85BDC9FD1C3A}</a:tableStyleId>
              </a:tblPr>
              <a:tblGrid>
                <a:gridCol w="655597">
                  <a:extLst>
                    <a:ext uri="{9D8B030D-6E8A-4147-A177-3AD203B41FA5}">
                      <a16:colId xmlns:a16="http://schemas.microsoft.com/office/drawing/2014/main" val="20000"/>
                    </a:ext>
                  </a:extLst>
                </a:gridCol>
                <a:gridCol w="868526">
                  <a:extLst>
                    <a:ext uri="{9D8B030D-6E8A-4147-A177-3AD203B41FA5}">
                      <a16:colId xmlns:a16="http://schemas.microsoft.com/office/drawing/2014/main" val="20001"/>
                    </a:ext>
                  </a:extLst>
                </a:gridCol>
                <a:gridCol w="1606306">
                  <a:extLst>
                    <a:ext uri="{9D8B030D-6E8A-4147-A177-3AD203B41FA5}">
                      <a16:colId xmlns:a16="http://schemas.microsoft.com/office/drawing/2014/main" val="20002"/>
                    </a:ext>
                  </a:extLst>
                </a:gridCol>
                <a:gridCol w="410915">
                  <a:extLst>
                    <a:ext uri="{9D8B030D-6E8A-4147-A177-3AD203B41FA5}">
                      <a16:colId xmlns:a16="http://schemas.microsoft.com/office/drawing/2014/main" val="20003"/>
                    </a:ext>
                  </a:extLst>
                </a:gridCol>
                <a:gridCol w="619175">
                  <a:extLst>
                    <a:ext uri="{9D8B030D-6E8A-4147-A177-3AD203B41FA5}">
                      <a16:colId xmlns:a16="http://schemas.microsoft.com/office/drawing/2014/main" val="20004"/>
                    </a:ext>
                  </a:extLst>
                </a:gridCol>
              </a:tblGrid>
              <a:tr h="261518">
                <a:tc>
                  <a:txBody>
                    <a:bodyPr/>
                    <a:lstStyle/>
                    <a:p>
                      <a:pPr algn="ctr"/>
                      <a:r>
                        <a:rPr sz="660" b="1">
                          <a:solidFill>
                            <a:srgbClr val="FFFFFF"/>
                          </a:solidFill>
                          <a:latin typeface="맑은 고딕"/>
                        </a:rPr>
                        <a:t>요구사항 ID</a:t>
                      </a:r>
                    </a:p>
                  </a:txBody>
                  <a:tcPr marL="27432" marR="27432" marT="4572" marB="4572" anchor="ctr">
                    <a:solidFill>
                      <a:srgbClr val="3B5AA8"/>
                    </a:solidFill>
                  </a:tcPr>
                </a:tc>
                <a:tc>
                  <a:txBody>
                    <a:bodyPr/>
                    <a:lstStyle/>
                    <a:p>
                      <a:pPr algn="ctr"/>
                      <a:r>
                        <a:rPr sz="660" b="1">
                          <a:solidFill>
                            <a:srgbClr val="FFFFFF"/>
                          </a:solidFill>
                          <a:latin typeface="맑은 고딕"/>
                        </a:rPr>
                        <a:t>요구사항명</a:t>
                      </a:r>
                    </a:p>
                  </a:txBody>
                  <a:tcPr marL="27432" marR="27432" marT="4572" marB="4572" anchor="ctr">
                    <a:solidFill>
                      <a:srgbClr val="3B5AA8"/>
                    </a:solidFill>
                  </a:tcPr>
                </a:tc>
                <a:tc>
                  <a:txBody>
                    <a:bodyPr/>
                    <a:lstStyle/>
                    <a:p>
                      <a:pPr algn="ctr"/>
                      <a:r>
                        <a:rPr sz="660" b="1">
                          <a:solidFill>
                            <a:srgbClr val="FFFFFF"/>
                          </a:solidFill>
                          <a:latin typeface="맑은 고딕"/>
                        </a:rPr>
                        <a:t>요구사항 상세설명</a:t>
                      </a:r>
                    </a:p>
                  </a:txBody>
                  <a:tcPr marL="27432" marR="27432" marT="4572" marB="4572" anchor="ctr">
                    <a:solidFill>
                      <a:srgbClr val="3B5AA8"/>
                    </a:solidFill>
                  </a:tcPr>
                </a:tc>
                <a:tc>
                  <a:txBody>
                    <a:bodyPr/>
                    <a:lstStyle/>
                    <a:p>
                      <a:pPr algn="ctr"/>
                      <a:r>
                        <a:rPr sz="660" b="1">
                          <a:solidFill>
                            <a:srgbClr val="FFFFFF"/>
                          </a:solidFill>
                          <a:latin typeface="맑은 고딕"/>
                        </a:rPr>
                        <a:t>중요도</a:t>
                      </a:r>
                    </a:p>
                  </a:txBody>
                  <a:tcPr marL="27432" marR="27432" marT="4572" marB="4572" anchor="ctr">
                    <a:solidFill>
                      <a:srgbClr val="3B5AA8"/>
                    </a:solidFill>
                  </a:tcPr>
                </a:tc>
                <a:tc>
                  <a:txBody>
                    <a:bodyPr/>
                    <a:lstStyle/>
                    <a:p>
                      <a:pPr algn="ctr"/>
                      <a:r>
                        <a:rPr sz="660" b="1">
                          <a:solidFill>
                            <a:srgbClr val="FFFFFF"/>
                          </a:solidFill>
                          <a:latin typeface="맑은 고딕"/>
                        </a:rPr>
                        <a:t>비고</a:t>
                      </a:r>
                    </a:p>
                  </a:txBody>
                  <a:tcPr marL="27432" marR="27432" marT="4572" marB="4572" anchor="ctr">
                    <a:solidFill>
                      <a:srgbClr val="3B5AA8"/>
                    </a:solidFill>
                  </a:tcPr>
                </a:tc>
                <a:extLst>
                  <a:ext uri="{0D108BD9-81ED-4DB2-BD59-A6C34878D82A}">
                    <a16:rowId xmlns:a16="http://schemas.microsoft.com/office/drawing/2014/main" val="10000"/>
                  </a:ext>
                </a:extLst>
              </a:tr>
              <a:tr h="261518">
                <a:tc>
                  <a:txBody>
                    <a:bodyPr/>
                    <a:lstStyle/>
                    <a:p>
                      <a:pPr algn="ctr"/>
                      <a:r>
                        <a:rPr sz="540" b="0">
                          <a:solidFill>
                            <a:srgbClr val="222222"/>
                          </a:solidFill>
                          <a:latin typeface="맑은 고딕"/>
                        </a:rPr>
                        <a:t>REQ-WEB-105</a:t>
                      </a:r>
                    </a:p>
                  </a:txBody>
                  <a:tcPr marL="27432" marR="27432" marT="4572" marB="4572" anchor="ctr">
                    <a:solidFill>
                      <a:srgbClr val="FFFFFF"/>
                    </a:solidFill>
                  </a:tcPr>
                </a:tc>
                <a:tc>
                  <a:txBody>
                    <a:bodyPr/>
                    <a:lstStyle/>
                    <a:p>
                      <a:pPr algn="l"/>
                      <a:r>
                        <a:rPr sz="540" b="0">
                          <a:solidFill>
                            <a:srgbClr val="222222"/>
                          </a:solidFill>
                          <a:latin typeface="맑은 고딕"/>
                        </a:rPr>
                        <a:t>최근 위험 배터리 확인</a:t>
                      </a:r>
                    </a:p>
                  </a:txBody>
                  <a:tcPr marL="27432" marR="27432" marT="4572" marB="4572" anchor="ctr">
                    <a:solidFill>
                      <a:srgbClr val="FFFFFF"/>
                    </a:solidFill>
                  </a:tcPr>
                </a:tc>
                <a:tc>
                  <a:txBody>
                    <a:bodyPr/>
                    <a:lstStyle/>
                    <a:p>
                      <a:pPr algn="l"/>
                      <a:r>
                        <a:rPr sz="540" b="0">
                          <a:solidFill>
                            <a:srgbClr val="222222"/>
                          </a:solidFill>
                          <a:latin typeface="맑은 고딕"/>
                        </a:rPr>
                        <a:t>관리자 대시보드에서 최근 위험 배터리 목록과 상태를 확인하고 배터리 상세로 이동한다.</a:t>
                      </a:r>
                    </a:p>
                  </a:txBody>
                  <a:tcPr marL="27432" marR="27432" marT="4572" marB="4572" anchor="ctr">
                    <a:solidFill>
                      <a:srgbClr val="FFFFFF"/>
                    </a:solidFill>
                  </a:tcPr>
                </a:tc>
                <a:tc>
                  <a:txBody>
                    <a:bodyPr/>
                    <a:lstStyle/>
                    <a:p>
                      <a:pPr algn="ctr"/>
                      <a:r>
                        <a:rPr sz="540" b="0">
                          <a:solidFill>
                            <a:srgbClr val="222222"/>
                          </a:solidFill>
                          <a:latin typeface="맑은 고딕"/>
                        </a:rPr>
                        <a:t>조회</a:t>
                      </a:r>
                    </a:p>
                  </a:txBody>
                  <a:tcPr marL="27432" marR="27432" marT="4572" marB="4572" anchor="ctr">
                    <a:solidFill>
                      <a:srgbClr val="FFFFFF"/>
                    </a:solidFill>
                  </a:tcPr>
                </a:tc>
                <a:tc>
                  <a:txBody>
                    <a:bodyPr/>
                    <a:lstStyle/>
                    <a:p>
                      <a:pPr algn="ctr"/>
                      <a:r>
                        <a:rPr sz="540" b="0">
                          <a:solidFill>
                            <a:srgbClr val="222222"/>
                          </a:solidFill>
                          <a:latin typeface="맑은 고딕"/>
                        </a:rPr>
                        <a:t>REQ-WEB-105</a:t>
                      </a:r>
                    </a:p>
                  </a:txBody>
                  <a:tcPr marL="27432" marR="27432" marT="4572" marB="4572" anchor="ctr">
                    <a:solidFill>
                      <a:srgbClr val="FFFFFF"/>
                    </a:solidFill>
                  </a:tcPr>
                </a:tc>
                <a:extLst>
                  <a:ext uri="{0D108BD9-81ED-4DB2-BD59-A6C34878D82A}">
                    <a16:rowId xmlns:a16="http://schemas.microsoft.com/office/drawing/2014/main" val="10001"/>
                  </a:ext>
                </a:extLst>
              </a:tr>
              <a:tr h="261518">
                <a:tc>
                  <a:txBody>
                    <a:bodyPr/>
                    <a:lstStyle/>
                    <a:p>
                      <a:pPr algn="ctr"/>
                      <a:r>
                        <a:rPr sz="540" b="0">
                          <a:solidFill>
                            <a:srgbClr val="222222"/>
                          </a:solidFill>
                          <a:latin typeface="맑은 고딕"/>
                        </a:rPr>
                        <a:t>REQ-WEB-106</a:t>
                      </a:r>
                    </a:p>
                  </a:txBody>
                  <a:tcPr marL="27432" marR="27432" marT="4572" marB="4572" anchor="ctr">
                    <a:solidFill>
                      <a:srgbClr val="EEF3FB"/>
                    </a:solidFill>
                  </a:tcPr>
                </a:tc>
                <a:tc>
                  <a:txBody>
                    <a:bodyPr/>
                    <a:lstStyle/>
                    <a:p>
                      <a:pPr algn="l"/>
                      <a:r>
                        <a:rPr sz="540" b="0">
                          <a:solidFill>
                            <a:srgbClr val="222222"/>
                          </a:solidFill>
                          <a:latin typeface="맑은 고딕"/>
                        </a:rPr>
                        <a:t>최근 관리자 조작 확인</a:t>
                      </a:r>
                    </a:p>
                  </a:txBody>
                  <a:tcPr marL="27432" marR="27432" marT="4572" marB="4572" anchor="ctr">
                    <a:solidFill>
                      <a:srgbClr val="EEF3FB"/>
                    </a:solidFill>
                  </a:tcPr>
                </a:tc>
                <a:tc>
                  <a:txBody>
                    <a:bodyPr/>
                    <a:lstStyle/>
                    <a:p>
                      <a:pPr algn="l"/>
                      <a:r>
                        <a:rPr sz="540" b="0">
                          <a:solidFill>
                            <a:srgbClr val="222222"/>
                          </a:solidFill>
                          <a:latin typeface="맑은 고딕"/>
                        </a:rPr>
                        <a:t>관리자 대시보드에서 최근 관리자 조작 로그를 확인하고 감사 로그로 이동한다.</a:t>
                      </a:r>
                    </a:p>
                  </a:txBody>
                  <a:tcPr marL="27432" marR="27432" marT="4572" marB="4572" anchor="ctr">
                    <a:solidFill>
                      <a:srgbClr val="EEF3FB"/>
                    </a:solidFill>
                  </a:tcPr>
                </a:tc>
                <a:tc>
                  <a:txBody>
                    <a:bodyPr/>
                    <a:lstStyle/>
                    <a:p>
                      <a:pPr algn="ctr"/>
                      <a:r>
                        <a:rPr sz="540" b="0">
                          <a:solidFill>
                            <a:srgbClr val="222222"/>
                          </a:solidFill>
                          <a:latin typeface="맑은 고딕"/>
                        </a:rPr>
                        <a:t>감사</a:t>
                      </a:r>
                    </a:p>
                  </a:txBody>
                  <a:tcPr marL="27432" marR="27432" marT="4572" marB="4572" anchor="ctr">
                    <a:solidFill>
                      <a:srgbClr val="EEF3FB"/>
                    </a:solidFill>
                  </a:tcPr>
                </a:tc>
                <a:tc>
                  <a:txBody>
                    <a:bodyPr/>
                    <a:lstStyle/>
                    <a:p>
                      <a:pPr algn="ctr"/>
                      <a:r>
                        <a:rPr sz="540" b="0">
                          <a:solidFill>
                            <a:srgbClr val="222222"/>
                          </a:solidFill>
                          <a:latin typeface="맑은 고딕"/>
                        </a:rPr>
                        <a:t>REQ-WEB-106</a:t>
                      </a:r>
                    </a:p>
                  </a:txBody>
                  <a:tcPr marL="27432" marR="27432" marT="4572" marB="4572" anchor="ctr">
                    <a:solidFill>
                      <a:srgbClr val="EEF3FB"/>
                    </a:solidFill>
                  </a:tcPr>
                </a:tc>
                <a:extLst>
                  <a:ext uri="{0D108BD9-81ED-4DB2-BD59-A6C34878D82A}">
                    <a16:rowId xmlns:a16="http://schemas.microsoft.com/office/drawing/2014/main" val="10002"/>
                  </a:ext>
                </a:extLst>
              </a:tr>
              <a:tr h="261518">
                <a:tc>
                  <a:txBody>
                    <a:bodyPr/>
                    <a:lstStyle/>
                    <a:p>
                      <a:pPr algn="ctr"/>
                      <a:r>
                        <a:rPr sz="540" b="0">
                          <a:solidFill>
                            <a:srgbClr val="222222"/>
                          </a:solidFill>
                          <a:latin typeface="맑은 고딕"/>
                        </a:rPr>
                        <a:t>REQ-WEB-107</a:t>
                      </a:r>
                    </a:p>
                  </a:txBody>
                  <a:tcPr marL="27432" marR="27432" marT="4572" marB="4572" anchor="ctr">
                    <a:solidFill>
                      <a:srgbClr val="FFFFFF"/>
                    </a:solidFill>
                  </a:tcPr>
                </a:tc>
                <a:tc>
                  <a:txBody>
                    <a:bodyPr/>
                    <a:lstStyle/>
                    <a:p>
                      <a:pPr algn="l"/>
                      <a:r>
                        <a:rPr sz="540" b="0">
                          <a:solidFill>
                            <a:srgbClr val="222222"/>
                          </a:solidFill>
                          <a:latin typeface="맑은 고딕"/>
                        </a:rPr>
                        <a:t>이벤트 추이 확인</a:t>
                      </a:r>
                    </a:p>
                  </a:txBody>
                  <a:tcPr marL="27432" marR="27432" marT="4572" marB="4572" anchor="ctr">
                    <a:solidFill>
                      <a:srgbClr val="FFFFFF"/>
                    </a:solidFill>
                  </a:tcPr>
                </a:tc>
                <a:tc>
                  <a:txBody>
                    <a:bodyPr/>
                    <a:lstStyle/>
                    <a:p>
                      <a:pPr algn="l"/>
                      <a:r>
                        <a:rPr sz="540" b="0">
                          <a:solidFill>
                            <a:srgbClr val="222222"/>
                          </a:solidFill>
                          <a:latin typeface="맑은 고딕"/>
                        </a:rPr>
                        <a:t>관리자 화면에서 최근 7일 등 기간별 이상 이벤트 발생 추이를 확인한다.</a:t>
                      </a:r>
                    </a:p>
                  </a:txBody>
                  <a:tcPr marL="27432" marR="27432" marT="4572" marB="4572" anchor="ctr">
                    <a:solidFill>
                      <a:srgbClr val="FFFFFF"/>
                    </a:solidFill>
                  </a:tcPr>
                </a:tc>
                <a:tc>
                  <a:txBody>
                    <a:bodyPr/>
                    <a:lstStyle/>
                    <a:p>
                      <a:pPr algn="ctr"/>
                      <a:r>
                        <a:rPr sz="540" b="0">
                          <a:solidFill>
                            <a:srgbClr val="222222"/>
                          </a:solidFill>
                          <a:latin typeface="맑은 고딕"/>
                        </a:rPr>
                        <a:t>차트</a:t>
                      </a:r>
                    </a:p>
                  </a:txBody>
                  <a:tcPr marL="27432" marR="27432" marT="4572" marB="4572" anchor="ctr">
                    <a:solidFill>
                      <a:srgbClr val="FFFFFF"/>
                    </a:solidFill>
                  </a:tcPr>
                </a:tc>
                <a:tc>
                  <a:txBody>
                    <a:bodyPr/>
                    <a:lstStyle/>
                    <a:p>
                      <a:pPr algn="ctr"/>
                      <a:r>
                        <a:rPr sz="540" b="0">
                          <a:solidFill>
                            <a:srgbClr val="222222"/>
                          </a:solidFill>
                          <a:latin typeface="맑은 고딕"/>
                        </a:rPr>
                        <a:t>REQ-WEB-107</a:t>
                      </a:r>
                    </a:p>
                  </a:txBody>
                  <a:tcPr marL="27432" marR="27432" marT="4572" marB="4572" anchor="ctr">
                    <a:solidFill>
                      <a:srgbClr val="FFFFFF"/>
                    </a:solidFill>
                  </a:tcPr>
                </a:tc>
                <a:extLst>
                  <a:ext uri="{0D108BD9-81ED-4DB2-BD59-A6C34878D82A}">
                    <a16:rowId xmlns:a16="http://schemas.microsoft.com/office/drawing/2014/main" val="10003"/>
                  </a:ext>
                </a:extLst>
              </a:tr>
              <a:tr h="261518">
                <a:tc>
                  <a:txBody>
                    <a:bodyPr/>
                    <a:lstStyle/>
                    <a:p>
                      <a:pPr algn="ctr"/>
                      <a:r>
                        <a:rPr sz="540" b="0">
                          <a:solidFill>
                            <a:srgbClr val="222222"/>
                          </a:solidFill>
                          <a:latin typeface="맑은 고딕"/>
                        </a:rPr>
                        <a:t>REQ-WEB-108</a:t>
                      </a:r>
                    </a:p>
                  </a:txBody>
                  <a:tcPr marL="27432" marR="27432" marT="4572" marB="4572" anchor="ctr">
                    <a:solidFill>
                      <a:srgbClr val="EEF3FB"/>
                    </a:solidFill>
                  </a:tcPr>
                </a:tc>
                <a:tc>
                  <a:txBody>
                    <a:bodyPr/>
                    <a:lstStyle/>
                    <a:p>
                      <a:pPr algn="l"/>
                      <a:r>
                        <a:rPr sz="540" b="0">
                          <a:solidFill>
                            <a:srgbClr val="222222"/>
                          </a:solidFill>
                          <a:latin typeface="맑은 고딕"/>
                        </a:rPr>
                        <a:t>이벤트 추이 기간 전환</a:t>
                      </a:r>
                    </a:p>
                  </a:txBody>
                  <a:tcPr marL="27432" marR="27432" marT="4572" marB="4572" anchor="ctr">
                    <a:solidFill>
                      <a:srgbClr val="EEF3FB"/>
                    </a:solidFill>
                  </a:tcPr>
                </a:tc>
                <a:tc>
                  <a:txBody>
                    <a:bodyPr/>
                    <a:lstStyle/>
                    <a:p>
                      <a:pPr algn="l"/>
                      <a:r>
                        <a:rPr sz="540" b="0">
                          <a:solidFill>
                            <a:srgbClr val="222222"/>
                          </a:solidFill>
                          <a:latin typeface="맑은 고딕"/>
                        </a:rPr>
                        <a:t>이벤트 추이 화면에서 24시간, 7일, 30일 기간 탭을 전환한다.</a:t>
                      </a:r>
                    </a:p>
                  </a:txBody>
                  <a:tcPr marL="27432" marR="27432" marT="4572" marB="4572" anchor="ctr">
                    <a:solidFill>
                      <a:srgbClr val="EEF3FB"/>
                    </a:solidFill>
                  </a:tcPr>
                </a:tc>
                <a:tc>
                  <a:txBody>
                    <a:bodyPr/>
                    <a:lstStyle/>
                    <a:p>
                      <a:pPr algn="ctr"/>
                      <a:r>
                        <a:rPr sz="540" b="0">
                          <a:solidFill>
                            <a:srgbClr val="222222"/>
                          </a:solidFill>
                          <a:latin typeface="맑은 고딕"/>
                        </a:rPr>
                        <a:t>차트</a:t>
                      </a:r>
                    </a:p>
                  </a:txBody>
                  <a:tcPr marL="27432" marR="27432" marT="4572" marB="4572" anchor="ctr">
                    <a:solidFill>
                      <a:srgbClr val="EEF3FB"/>
                    </a:solidFill>
                  </a:tcPr>
                </a:tc>
                <a:tc>
                  <a:txBody>
                    <a:bodyPr/>
                    <a:lstStyle/>
                    <a:p>
                      <a:pPr algn="ctr"/>
                      <a:r>
                        <a:rPr sz="540" b="0">
                          <a:solidFill>
                            <a:srgbClr val="222222"/>
                          </a:solidFill>
                          <a:latin typeface="맑은 고딕"/>
                        </a:rPr>
                        <a:t>REQ-WEB-108</a:t>
                      </a:r>
                    </a:p>
                  </a:txBody>
                  <a:tcPr marL="27432" marR="27432" marT="4572" marB="4572" anchor="ctr">
                    <a:solidFill>
                      <a:srgbClr val="EEF3FB"/>
                    </a:solidFill>
                  </a:tcPr>
                </a:tc>
                <a:extLst>
                  <a:ext uri="{0D108BD9-81ED-4DB2-BD59-A6C34878D82A}">
                    <a16:rowId xmlns:a16="http://schemas.microsoft.com/office/drawing/2014/main" val="10004"/>
                  </a:ext>
                </a:extLst>
              </a:tr>
              <a:tr h="261518">
                <a:tc>
                  <a:txBody>
                    <a:bodyPr/>
                    <a:lstStyle/>
                    <a:p>
                      <a:pPr algn="ctr"/>
                      <a:r>
                        <a:rPr sz="540" b="0">
                          <a:solidFill>
                            <a:srgbClr val="222222"/>
                          </a:solidFill>
                          <a:latin typeface="맑은 고딕"/>
                        </a:rPr>
                        <a:t>REQ-WEB-109</a:t>
                      </a:r>
                    </a:p>
                  </a:txBody>
                  <a:tcPr marL="27432" marR="27432" marT="4572" marB="4572" anchor="ctr">
                    <a:solidFill>
                      <a:srgbClr val="FFFFFF"/>
                    </a:solidFill>
                  </a:tcPr>
                </a:tc>
                <a:tc>
                  <a:txBody>
                    <a:bodyPr/>
                    <a:lstStyle/>
                    <a:p>
                      <a:pPr algn="l"/>
                      <a:r>
                        <a:rPr sz="540" b="0">
                          <a:solidFill>
                            <a:srgbClr val="222222"/>
                          </a:solidFill>
                          <a:latin typeface="맑은 고딕"/>
                        </a:rPr>
                        <a:t>이벤트 추이 상세 이동</a:t>
                      </a:r>
                    </a:p>
                  </a:txBody>
                  <a:tcPr marL="27432" marR="27432" marT="4572" marB="4572" anchor="ctr">
                    <a:solidFill>
                      <a:srgbClr val="FFFFFF"/>
                    </a:solidFill>
                  </a:tcPr>
                </a:tc>
                <a:tc>
                  <a:txBody>
                    <a:bodyPr/>
                    <a:lstStyle/>
                    <a:p>
                      <a:pPr algn="l"/>
                      <a:r>
                        <a:rPr sz="540" b="0">
                          <a:solidFill>
                            <a:srgbClr val="222222"/>
                          </a:solidFill>
                          <a:latin typeface="맑은 고딕"/>
                        </a:rPr>
                        <a:t>이벤트 추이 자세히 보기 동작으로 관리자 이벤트 추이 화면에 진입한다.</a:t>
                      </a:r>
                    </a:p>
                  </a:txBody>
                  <a:tcPr marL="27432" marR="27432" marT="4572" marB="4572" anchor="ctr">
                    <a:solidFill>
                      <a:srgbClr val="FFFFFF"/>
                    </a:solidFill>
                  </a:tcPr>
                </a:tc>
                <a:tc>
                  <a:txBody>
                    <a:bodyPr/>
                    <a:lstStyle/>
                    <a:p>
                      <a:pPr algn="ctr"/>
                      <a:r>
                        <a:rPr sz="540" b="0">
                          <a:solidFill>
                            <a:srgbClr val="222222"/>
                          </a:solidFill>
                          <a:latin typeface="맑은 고딕"/>
                        </a:rPr>
                        <a:t>이동</a:t>
                      </a:r>
                    </a:p>
                  </a:txBody>
                  <a:tcPr marL="27432" marR="27432" marT="4572" marB="4572" anchor="ctr">
                    <a:solidFill>
                      <a:srgbClr val="FFFFFF"/>
                    </a:solidFill>
                  </a:tcPr>
                </a:tc>
                <a:tc>
                  <a:txBody>
                    <a:bodyPr/>
                    <a:lstStyle/>
                    <a:p>
                      <a:pPr algn="ctr"/>
                      <a:r>
                        <a:rPr sz="540" b="0">
                          <a:solidFill>
                            <a:srgbClr val="222222"/>
                          </a:solidFill>
                          <a:latin typeface="맑은 고딕"/>
                        </a:rPr>
                        <a:t>REQ-WEB-109</a:t>
                      </a:r>
                    </a:p>
                  </a:txBody>
                  <a:tcPr marL="27432" marR="27432" marT="4572" marB="4572" anchor="ctr">
                    <a:solidFill>
                      <a:srgbClr val="FFFFFF"/>
                    </a:solidFill>
                  </a:tcPr>
                </a:tc>
                <a:extLst>
                  <a:ext uri="{0D108BD9-81ED-4DB2-BD59-A6C34878D82A}">
                    <a16:rowId xmlns:a16="http://schemas.microsoft.com/office/drawing/2014/main" val="10005"/>
                  </a:ext>
                </a:extLst>
              </a:tr>
              <a:tr h="261518">
                <a:tc>
                  <a:txBody>
                    <a:bodyPr/>
                    <a:lstStyle/>
                    <a:p>
                      <a:pPr algn="ctr"/>
                      <a:r>
                        <a:rPr sz="540" b="0">
                          <a:solidFill>
                            <a:srgbClr val="222222"/>
                          </a:solidFill>
                          <a:latin typeface="맑은 고딕"/>
                        </a:rPr>
                        <a:t>REQ-WEB-110</a:t>
                      </a:r>
                    </a:p>
                  </a:txBody>
                  <a:tcPr marL="27432" marR="27432" marT="4572" marB="4572" anchor="ctr">
                    <a:solidFill>
                      <a:srgbClr val="EEF3FB"/>
                    </a:solidFill>
                  </a:tcPr>
                </a:tc>
                <a:tc>
                  <a:txBody>
                    <a:bodyPr/>
                    <a:lstStyle/>
                    <a:p>
                      <a:pPr algn="l"/>
                      <a:r>
                        <a:rPr sz="540" b="0">
                          <a:solidFill>
                            <a:srgbClr val="222222"/>
                          </a:solidFill>
                          <a:latin typeface="맑은 고딕"/>
                        </a:rPr>
                        <a:t>유저 목록 확인</a:t>
                      </a:r>
                    </a:p>
                  </a:txBody>
                  <a:tcPr marL="27432" marR="27432" marT="4572" marB="4572" anchor="ctr">
                    <a:solidFill>
                      <a:srgbClr val="EEF3FB"/>
                    </a:solidFill>
                  </a:tcPr>
                </a:tc>
                <a:tc>
                  <a:txBody>
                    <a:bodyPr/>
                    <a:lstStyle/>
                    <a:p>
                      <a:pPr algn="l"/>
                      <a:r>
                        <a:rPr sz="540" b="0">
                          <a:solidFill>
                            <a:srgbClr val="222222"/>
                          </a:solidFill>
                          <a:latin typeface="맑은 고딕"/>
                        </a:rPr>
                        <a:t>유저 계정 관리 화면에서 이름, 이메일, 권한, 등록 배터리 수, 상태, 관리 동작을 확인한다.</a:t>
                      </a:r>
                    </a:p>
                  </a:txBody>
                  <a:tcPr marL="27432" marR="27432" marT="4572" marB="4572" anchor="ctr">
                    <a:solidFill>
                      <a:srgbClr val="EEF3FB"/>
                    </a:solidFill>
                  </a:tcPr>
                </a:tc>
                <a:tc>
                  <a:txBody>
                    <a:bodyPr/>
                    <a:lstStyle/>
                    <a:p>
                      <a:pPr algn="ctr"/>
                      <a:r>
                        <a:rPr sz="540" b="0">
                          <a:solidFill>
                            <a:srgbClr val="222222"/>
                          </a:solidFill>
                          <a:latin typeface="맑은 고딕"/>
                        </a:rPr>
                        <a:t>관리자</a:t>
                      </a:r>
                    </a:p>
                  </a:txBody>
                  <a:tcPr marL="27432" marR="27432" marT="4572" marB="4572" anchor="ctr">
                    <a:solidFill>
                      <a:srgbClr val="EEF3FB"/>
                    </a:solidFill>
                  </a:tcPr>
                </a:tc>
                <a:tc>
                  <a:txBody>
                    <a:bodyPr/>
                    <a:lstStyle/>
                    <a:p>
                      <a:pPr algn="ctr"/>
                      <a:r>
                        <a:rPr sz="540" b="0">
                          <a:solidFill>
                            <a:srgbClr val="222222"/>
                          </a:solidFill>
                          <a:latin typeface="맑은 고딕"/>
                        </a:rPr>
                        <a:t>REQ-WEB-110</a:t>
                      </a:r>
                    </a:p>
                  </a:txBody>
                  <a:tcPr marL="27432" marR="27432" marT="4572" marB="4572" anchor="ctr">
                    <a:solidFill>
                      <a:srgbClr val="EEF3FB"/>
                    </a:solidFill>
                  </a:tcPr>
                </a:tc>
                <a:extLst>
                  <a:ext uri="{0D108BD9-81ED-4DB2-BD59-A6C34878D82A}">
                    <a16:rowId xmlns:a16="http://schemas.microsoft.com/office/drawing/2014/main" val="10006"/>
                  </a:ext>
                </a:extLst>
              </a:tr>
              <a:tr h="261518">
                <a:tc>
                  <a:txBody>
                    <a:bodyPr/>
                    <a:lstStyle/>
                    <a:p>
                      <a:pPr algn="ctr"/>
                      <a:r>
                        <a:rPr sz="540" b="0">
                          <a:solidFill>
                            <a:srgbClr val="222222"/>
                          </a:solidFill>
                          <a:latin typeface="맑은 고딕"/>
                        </a:rPr>
                        <a:t>REQ-WEB-111</a:t>
                      </a:r>
                    </a:p>
                  </a:txBody>
                  <a:tcPr marL="27432" marR="27432" marT="4572" marB="4572" anchor="ctr">
                    <a:solidFill>
                      <a:srgbClr val="FFFFFF"/>
                    </a:solidFill>
                  </a:tcPr>
                </a:tc>
                <a:tc>
                  <a:txBody>
                    <a:bodyPr/>
                    <a:lstStyle/>
                    <a:p>
                      <a:pPr algn="l"/>
                      <a:r>
                        <a:rPr sz="540" b="0">
                          <a:solidFill>
                            <a:srgbClr val="222222"/>
                          </a:solidFill>
                          <a:latin typeface="맑은 고딕"/>
                        </a:rPr>
                        <a:t>유저 검색</a:t>
                      </a:r>
                    </a:p>
                  </a:txBody>
                  <a:tcPr marL="27432" marR="27432" marT="4572" marB="4572" anchor="ctr">
                    <a:solidFill>
                      <a:srgbClr val="FFFFFF"/>
                    </a:solidFill>
                  </a:tcPr>
                </a:tc>
                <a:tc>
                  <a:txBody>
                    <a:bodyPr/>
                    <a:lstStyle/>
                    <a:p>
                      <a:pPr algn="l"/>
                      <a:r>
                        <a:rPr sz="540" b="0">
                          <a:solidFill>
                            <a:srgbClr val="222222"/>
                          </a:solidFill>
                          <a:latin typeface="맑은 고딕"/>
                        </a:rPr>
                        <a:t>유저 계정 관리 화면에서 이름 또는 이메일로 유저 목록을 검색한다.</a:t>
                      </a:r>
                    </a:p>
                  </a:txBody>
                  <a:tcPr marL="27432" marR="27432" marT="4572" marB="4572" anchor="ctr">
                    <a:solidFill>
                      <a:srgbClr val="FFFFFF"/>
                    </a:solidFill>
                  </a:tcPr>
                </a:tc>
                <a:tc>
                  <a:txBody>
                    <a:bodyPr/>
                    <a:lstStyle/>
                    <a:p>
                      <a:pPr algn="ctr"/>
                      <a:r>
                        <a:rPr sz="540" b="0">
                          <a:solidFill>
                            <a:srgbClr val="222222"/>
                          </a:solidFill>
                          <a:latin typeface="맑은 고딕"/>
                        </a:rPr>
                        <a:t>검색</a:t>
                      </a:r>
                    </a:p>
                  </a:txBody>
                  <a:tcPr marL="27432" marR="27432" marT="4572" marB="4572" anchor="ctr">
                    <a:solidFill>
                      <a:srgbClr val="FFFFFF"/>
                    </a:solidFill>
                  </a:tcPr>
                </a:tc>
                <a:tc>
                  <a:txBody>
                    <a:bodyPr/>
                    <a:lstStyle/>
                    <a:p>
                      <a:pPr algn="ctr"/>
                      <a:r>
                        <a:rPr sz="540" b="0">
                          <a:solidFill>
                            <a:srgbClr val="222222"/>
                          </a:solidFill>
                          <a:latin typeface="맑은 고딕"/>
                        </a:rPr>
                        <a:t>REQ-WEB-111</a:t>
                      </a:r>
                    </a:p>
                  </a:txBody>
                  <a:tcPr marL="27432" marR="27432" marT="4572" marB="4572" anchor="ctr">
                    <a:solidFill>
                      <a:srgbClr val="FFFFFF"/>
                    </a:solidFill>
                  </a:tcPr>
                </a:tc>
                <a:extLst>
                  <a:ext uri="{0D108BD9-81ED-4DB2-BD59-A6C34878D82A}">
                    <a16:rowId xmlns:a16="http://schemas.microsoft.com/office/drawing/2014/main" val="10007"/>
                  </a:ext>
                </a:extLst>
              </a:tr>
              <a:tr h="261518">
                <a:tc>
                  <a:txBody>
                    <a:bodyPr/>
                    <a:lstStyle/>
                    <a:p>
                      <a:pPr algn="ctr"/>
                      <a:r>
                        <a:rPr sz="540" b="0">
                          <a:solidFill>
                            <a:srgbClr val="222222"/>
                          </a:solidFill>
                          <a:latin typeface="맑은 고딕"/>
                        </a:rPr>
                        <a:t>REQ-WEB-112</a:t>
                      </a:r>
                    </a:p>
                  </a:txBody>
                  <a:tcPr marL="27432" marR="27432" marT="4572" marB="4572" anchor="ctr">
                    <a:solidFill>
                      <a:srgbClr val="EEF3FB"/>
                    </a:solidFill>
                  </a:tcPr>
                </a:tc>
                <a:tc>
                  <a:txBody>
                    <a:bodyPr/>
                    <a:lstStyle/>
                    <a:p>
                      <a:pPr algn="l"/>
                      <a:r>
                        <a:rPr sz="540" b="0">
                          <a:solidFill>
                            <a:srgbClr val="222222"/>
                          </a:solidFill>
                          <a:latin typeface="맑은 고딕"/>
                        </a:rPr>
                        <a:t>유저 상태 필터</a:t>
                      </a:r>
                    </a:p>
                  </a:txBody>
                  <a:tcPr marL="27432" marR="27432" marT="4572" marB="4572" anchor="ctr">
                    <a:solidFill>
                      <a:srgbClr val="EEF3FB"/>
                    </a:solidFill>
                  </a:tcPr>
                </a:tc>
                <a:tc>
                  <a:txBody>
                    <a:bodyPr/>
                    <a:lstStyle/>
                    <a:p>
                      <a:pPr algn="l"/>
                      <a:r>
                        <a:rPr sz="540" b="0">
                          <a:solidFill>
                            <a:srgbClr val="222222"/>
                          </a:solidFill>
                          <a:latin typeface="맑은 고딕"/>
                        </a:rPr>
                        <a:t>유저 계정 관리 화면에서 전체, 활성, 정지 상태 기준으로 목록을 필터링한다.</a:t>
                      </a:r>
                    </a:p>
                  </a:txBody>
                  <a:tcPr marL="27432" marR="27432" marT="4572" marB="4572" anchor="ctr">
                    <a:solidFill>
                      <a:srgbClr val="EEF3FB"/>
                    </a:solidFill>
                  </a:tcPr>
                </a:tc>
                <a:tc>
                  <a:txBody>
                    <a:bodyPr/>
                    <a:lstStyle/>
                    <a:p>
                      <a:pPr algn="ctr"/>
                      <a:r>
                        <a:rPr sz="540" b="0">
                          <a:solidFill>
                            <a:srgbClr val="222222"/>
                          </a:solidFill>
                          <a:latin typeface="맑은 고딕"/>
                        </a:rPr>
                        <a:t>필터</a:t>
                      </a:r>
                    </a:p>
                  </a:txBody>
                  <a:tcPr marL="27432" marR="27432" marT="4572" marB="4572" anchor="ctr">
                    <a:solidFill>
                      <a:srgbClr val="EEF3FB"/>
                    </a:solidFill>
                  </a:tcPr>
                </a:tc>
                <a:tc>
                  <a:txBody>
                    <a:bodyPr/>
                    <a:lstStyle/>
                    <a:p>
                      <a:pPr algn="ctr"/>
                      <a:r>
                        <a:rPr sz="540" b="0">
                          <a:solidFill>
                            <a:srgbClr val="222222"/>
                          </a:solidFill>
                          <a:latin typeface="맑은 고딕"/>
                        </a:rPr>
                        <a:t>REQ-WEB-112</a:t>
                      </a:r>
                    </a:p>
                  </a:txBody>
                  <a:tcPr marL="27432" marR="27432" marT="4572" marB="4572" anchor="ctr">
                    <a:solidFill>
                      <a:srgbClr val="EEF3FB"/>
                    </a:solidFill>
                  </a:tcPr>
                </a:tc>
                <a:extLst>
                  <a:ext uri="{0D108BD9-81ED-4DB2-BD59-A6C34878D82A}">
                    <a16:rowId xmlns:a16="http://schemas.microsoft.com/office/drawing/2014/main" val="10008"/>
                  </a:ext>
                </a:extLst>
              </a:tr>
              <a:tr h="261518">
                <a:tc>
                  <a:txBody>
                    <a:bodyPr/>
                    <a:lstStyle/>
                    <a:p>
                      <a:pPr algn="ctr"/>
                      <a:r>
                        <a:rPr sz="540" b="0">
                          <a:solidFill>
                            <a:srgbClr val="222222"/>
                          </a:solidFill>
                          <a:latin typeface="맑은 고딕"/>
                        </a:rPr>
                        <a:t>REQ-WEB-113</a:t>
                      </a:r>
                    </a:p>
                  </a:txBody>
                  <a:tcPr marL="27432" marR="27432" marT="4572" marB="4572" anchor="ctr">
                    <a:solidFill>
                      <a:srgbClr val="FFFFFF"/>
                    </a:solidFill>
                  </a:tcPr>
                </a:tc>
                <a:tc>
                  <a:txBody>
                    <a:bodyPr/>
                    <a:lstStyle/>
                    <a:p>
                      <a:pPr algn="l"/>
                      <a:r>
                        <a:rPr sz="540" b="0">
                          <a:solidFill>
                            <a:srgbClr val="222222"/>
                          </a:solidFill>
                          <a:latin typeface="맑은 고딕"/>
                        </a:rPr>
                        <a:t>유저 권한 필터</a:t>
                      </a:r>
                    </a:p>
                  </a:txBody>
                  <a:tcPr marL="27432" marR="27432" marT="4572" marB="4572" anchor="ctr">
                    <a:solidFill>
                      <a:srgbClr val="FFFFFF"/>
                    </a:solidFill>
                  </a:tcPr>
                </a:tc>
                <a:tc>
                  <a:txBody>
                    <a:bodyPr/>
                    <a:lstStyle/>
                    <a:p>
                      <a:pPr algn="l"/>
                      <a:r>
                        <a:rPr sz="540" b="0">
                          <a:solidFill>
                            <a:srgbClr val="222222"/>
                          </a:solidFill>
                          <a:latin typeface="맑은 고딕"/>
                        </a:rPr>
                        <a:t>유저 계정 관리 화면에서 전체, 일반, 관리자 권한 기준으로 목록을 필터링한다.</a:t>
                      </a:r>
                    </a:p>
                  </a:txBody>
                  <a:tcPr marL="27432" marR="27432" marT="4572" marB="4572" anchor="ctr">
                    <a:solidFill>
                      <a:srgbClr val="FFFFFF"/>
                    </a:solidFill>
                  </a:tcPr>
                </a:tc>
                <a:tc>
                  <a:txBody>
                    <a:bodyPr/>
                    <a:lstStyle/>
                    <a:p>
                      <a:pPr algn="ctr"/>
                      <a:r>
                        <a:rPr sz="540" b="0">
                          <a:solidFill>
                            <a:srgbClr val="222222"/>
                          </a:solidFill>
                          <a:latin typeface="맑은 고딕"/>
                        </a:rPr>
                        <a:t>필터</a:t>
                      </a:r>
                    </a:p>
                  </a:txBody>
                  <a:tcPr marL="27432" marR="27432" marT="4572" marB="4572" anchor="ctr">
                    <a:solidFill>
                      <a:srgbClr val="FFFFFF"/>
                    </a:solidFill>
                  </a:tcPr>
                </a:tc>
                <a:tc>
                  <a:txBody>
                    <a:bodyPr/>
                    <a:lstStyle/>
                    <a:p>
                      <a:pPr algn="ctr"/>
                      <a:r>
                        <a:rPr sz="540" b="0">
                          <a:solidFill>
                            <a:srgbClr val="222222"/>
                          </a:solidFill>
                          <a:latin typeface="맑은 고딕"/>
                        </a:rPr>
                        <a:t>REQ-WEB-113</a:t>
                      </a:r>
                    </a:p>
                  </a:txBody>
                  <a:tcPr marL="27432" marR="27432" marT="4572" marB="4572" anchor="ctr">
                    <a:solidFill>
                      <a:srgbClr val="FFFFFF"/>
                    </a:solidFill>
                  </a:tcPr>
                </a:tc>
                <a:extLst>
                  <a:ext uri="{0D108BD9-81ED-4DB2-BD59-A6C34878D82A}">
                    <a16:rowId xmlns:a16="http://schemas.microsoft.com/office/drawing/2014/main" val="10009"/>
                  </a:ext>
                </a:extLst>
              </a:tr>
              <a:tr h="261518">
                <a:tc>
                  <a:txBody>
                    <a:bodyPr/>
                    <a:lstStyle/>
                    <a:p>
                      <a:pPr algn="ctr"/>
                      <a:r>
                        <a:rPr sz="540" b="0">
                          <a:solidFill>
                            <a:srgbClr val="222222"/>
                          </a:solidFill>
                          <a:latin typeface="맑은 고딕"/>
                        </a:rPr>
                        <a:t>REQ-WEB-114</a:t>
                      </a:r>
                    </a:p>
                  </a:txBody>
                  <a:tcPr marL="27432" marR="27432" marT="4572" marB="4572" anchor="ctr">
                    <a:solidFill>
                      <a:srgbClr val="EEF3FB"/>
                    </a:solidFill>
                  </a:tcPr>
                </a:tc>
                <a:tc>
                  <a:txBody>
                    <a:bodyPr/>
                    <a:lstStyle/>
                    <a:p>
                      <a:pPr algn="l"/>
                      <a:r>
                        <a:rPr sz="540" b="0">
                          <a:solidFill>
                            <a:srgbClr val="222222"/>
                          </a:solidFill>
                          <a:latin typeface="맑은 고딕"/>
                        </a:rPr>
                        <a:t>유저 상세 확인</a:t>
                      </a:r>
                    </a:p>
                  </a:txBody>
                  <a:tcPr marL="27432" marR="27432" marT="4572" marB="4572" anchor="ctr">
                    <a:solidFill>
                      <a:srgbClr val="EEF3FB"/>
                    </a:solidFill>
                  </a:tcPr>
                </a:tc>
                <a:tc>
                  <a:txBody>
                    <a:bodyPr/>
                    <a:lstStyle/>
                    <a:p>
                      <a:pPr algn="l"/>
                      <a:r>
                        <a:rPr sz="540" b="0">
                          <a:solidFill>
                            <a:srgbClr val="222222"/>
                          </a:solidFill>
                          <a:latin typeface="맑은 고딕"/>
                        </a:rPr>
                        <a:t>유저 행을 클릭해 기본 정보, 등록 배터리, 활동 로그를 확인한다.</a:t>
                      </a:r>
                    </a:p>
                  </a:txBody>
                  <a:tcPr marL="27432" marR="27432" marT="4572" marB="4572" anchor="ctr">
                    <a:solidFill>
                      <a:srgbClr val="EEF3FB"/>
                    </a:solidFill>
                  </a:tcPr>
                </a:tc>
                <a:tc>
                  <a:txBody>
                    <a:bodyPr/>
                    <a:lstStyle/>
                    <a:p>
                      <a:pPr algn="ctr"/>
                      <a:r>
                        <a:rPr sz="540" b="0">
                          <a:solidFill>
                            <a:srgbClr val="222222"/>
                          </a:solidFill>
                          <a:latin typeface="맑은 고딕"/>
                        </a:rPr>
                        <a:t>상세</a:t>
                      </a:r>
                    </a:p>
                  </a:txBody>
                  <a:tcPr marL="27432" marR="27432" marT="4572" marB="4572" anchor="ctr">
                    <a:solidFill>
                      <a:srgbClr val="EEF3FB"/>
                    </a:solidFill>
                  </a:tcPr>
                </a:tc>
                <a:tc>
                  <a:txBody>
                    <a:bodyPr/>
                    <a:lstStyle/>
                    <a:p>
                      <a:pPr algn="ctr"/>
                      <a:r>
                        <a:rPr sz="540" b="0">
                          <a:solidFill>
                            <a:srgbClr val="222222"/>
                          </a:solidFill>
                          <a:latin typeface="맑은 고딕"/>
                        </a:rPr>
                        <a:t>REQ-WEB-114</a:t>
                      </a:r>
                    </a:p>
                  </a:txBody>
                  <a:tcPr marL="27432" marR="27432" marT="4572" marB="4572" anchor="ctr">
                    <a:solidFill>
                      <a:srgbClr val="EEF3FB"/>
                    </a:solidFill>
                  </a:tcPr>
                </a:tc>
                <a:extLst>
                  <a:ext uri="{0D108BD9-81ED-4DB2-BD59-A6C34878D82A}">
                    <a16:rowId xmlns:a16="http://schemas.microsoft.com/office/drawing/2014/main" val="10010"/>
                  </a:ext>
                </a:extLst>
              </a:tr>
              <a:tr h="261518">
                <a:tc>
                  <a:txBody>
                    <a:bodyPr/>
                    <a:lstStyle/>
                    <a:p>
                      <a:pPr algn="ctr"/>
                      <a:r>
                        <a:rPr sz="540" b="0">
                          <a:solidFill>
                            <a:srgbClr val="222222"/>
                          </a:solidFill>
                          <a:latin typeface="맑은 고딕"/>
                        </a:rPr>
                        <a:t>REQ-WEB-115</a:t>
                      </a:r>
                    </a:p>
                  </a:txBody>
                  <a:tcPr marL="27432" marR="27432" marT="4572" marB="4572" anchor="ctr">
                    <a:solidFill>
                      <a:srgbClr val="FFFFFF"/>
                    </a:solidFill>
                  </a:tcPr>
                </a:tc>
                <a:tc>
                  <a:txBody>
                    <a:bodyPr/>
                    <a:lstStyle/>
                    <a:p>
                      <a:pPr algn="l"/>
                      <a:r>
                        <a:rPr sz="540" b="0">
                          <a:solidFill>
                            <a:srgbClr val="222222"/>
                          </a:solidFill>
                          <a:latin typeface="맑은 고딕"/>
                        </a:rPr>
                        <a:t>유저 정보 수정</a:t>
                      </a:r>
                    </a:p>
                  </a:txBody>
                  <a:tcPr marL="27432" marR="27432" marT="4572" marB="4572" anchor="ctr">
                    <a:solidFill>
                      <a:srgbClr val="FFFFFF"/>
                    </a:solidFill>
                  </a:tcPr>
                </a:tc>
                <a:tc>
                  <a:txBody>
                    <a:bodyPr/>
                    <a:lstStyle/>
                    <a:p>
                      <a:pPr algn="l"/>
                      <a:r>
                        <a:rPr sz="540" b="0">
                          <a:solidFill>
                            <a:srgbClr val="222222"/>
                          </a:solidFill>
                          <a:latin typeface="맑은 고딕"/>
                        </a:rPr>
                        <a:t>유저 수정 버튼으로 이름, ID, 전화번호, 등록 배터리 수, 권한, 상태를 수정하는 모달을 연다.</a:t>
                      </a:r>
                    </a:p>
                  </a:txBody>
                  <a:tcPr marL="27432" marR="27432" marT="4572" marB="4572" anchor="ctr">
                    <a:solidFill>
                      <a:srgbClr val="FFFFFF"/>
                    </a:solidFill>
                  </a:tcPr>
                </a:tc>
                <a:tc>
                  <a:txBody>
                    <a:bodyPr/>
                    <a:lstStyle/>
                    <a:p>
                      <a:pPr algn="ctr"/>
                      <a:r>
                        <a:rPr sz="540" b="0">
                          <a:solidFill>
                            <a:srgbClr val="222222"/>
                          </a:solidFill>
                          <a:latin typeface="맑은 고딕"/>
                        </a:rPr>
                        <a:t>수정</a:t>
                      </a:r>
                    </a:p>
                  </a:txBody>
                  <a:tcPr marL="27432" marR="27432" marT="4572" marB="4572" anchor="ctr">
                    <a:solidFill>
                      <a:srgbClr val="FFFFFF"/>
                    </a:solidFill>
                  </a:tcPr>
                </a:tc>
                <a:tc>
                  <a:txBody>
                    <a:bodyPr/>
                    <a:lstStyle/>
                    <a:p>
                      <a:pPr algn="ctr"/>
                      <a:r>
                        <a:rPr sz="540" b="0">
                          <a:solidFill>
                            <a:srgbClr val="222222"/>
                          </a:solidFill>
                          <a:latin typeface="맑은 고딕"/>
                        </a:rPr>
                        <a:t>REQ-WEB-115</a:t>
                      </a:r>
                    </a:p>
                  </a:txBody>
                  <a:tcPr marL="27432" marR="27432" marT="4572" marB="4572" anchor="ctr">
                    <a:solidFill>
                      <a:srgbClr val="FFFFFF"/>
                    </a:solidFill>
                  </a:tcPr>
                </a:tc>
                <a:extLst>
                  <a:ext uri="{0D108BD9-81ED-4DB2-BD59-A6C34878D82A}">
                    <a16:rowId xmlns:a16="http://schemas.microsoft.com/office/drawing/2014/main" val="10011"/>
                  </a:ext>
                </a:extLst>
              </a:tr>
              <a:tr h="261518">
                <a:tc>
                  <a:txBody>
                    <a:bodyPr/>
                    <a:lstStyle/>
                    <a:p>
                      <a:pPr algn="ctr"/>
                      <a:r>
                        <a:rPr sz="540" b="0">
                          <a:solidFill>
                            <a:srgbClr val="222222"/>
                          </a:solidFill>
                          <a:latin typeface="맑은 고딕"/>
                        </a:rPr>
                        <a:t>REQ-WEB-116</a:t>
                      </a:r>
                    </a:p>
                  </a:txBody>
                  <a:tcPr marL="27432" marR="27432" marT="4572" marB="4572" anchor="ctr">
                    <a:solidFill>
                      <a:srgbClr val="EEF3FB"/>
                    </a:solidFill>
                  </a:tcPr>
                </a:tc>
                <a:tc>
                  <a:txBody>
                    <a:bodyPr/>
                    <a:lstStyle/>
                    <a:p>
                      <a:pPr algn="l"/>
                      <a:r>
                        <a:rPr sz="540" b="0">
                          <a:solidFill>
                            <a:srgbClr val="222222"/>
                          </a:solidFill>
                          <a:latin typeface="맑은 고딕"/>
                        </a:rPr>
                        <a:t>관리자 비밀번호 재설정</a:t>
                      </a:r>
                    </a:p>
                  </a:txBody>
                  <a:tcPr marL="27432" marR="27432" marT="4572" marB="4572" anchor="ctr">
                    <a:solidFill>
                      <a:srgbClr val="EEF3FB"/>
                    </a:solidFill>
                  </a:tcPr>
                </a:tc>
                <a:tc>
                  <a:txBody>
                    <a:bodyPr/>
                    <a:lstStyle/>
                    <a:p>
                      <a:pPr algn="l"/>
                      <a:r>
                        <a:rPr sz="540" b="0">
                          <a:solidFill>
                            <a:srgbClr val="222222"/>
                          </a:solidFill>
                          <a:latin typeface="맑은 고딕"/>
                        </a:rPr>
                        <a:t>유저 수정 모달에서 새 비밀번호 입력으로 비밀번호 재설정 동작을 제공한다.</a:t>
                      </a:r>
                    </a:p>
                  </a:txBody>
                  <a:tcPr marL="27432" marR="27432" marT="4572" marB="4572" anchor="ctr">
                    <a:solidFill>
                      <a:srgbClr val="EEF3FB"/>
                    </a:solidFill>
                  </a:tcPr>
                </a:tc>
                <a:tc>
                  <a:txBody>
                    <a:bodyPr/>
                    <a:lstStyle/>
                    <a:p>
                      <a:pPr algn="ctr"/>
                      <a:r>
                        <a:rPr sz="540" b="0">
                          <a:solidFill>
                            <a:srgbClr val="222222"/>
                          </a:solidFill>
                          <a:latin typeface="맑은 고딕"/>
                        </a:rPr>
                        <a:t>관리자</a:t>
                      </a:r>
                    </a:p>
                  </a:txBody>
                  <a:tcPr marL="27432" marR="27432" marT="4572" marB="4572" anchor="ctr">
                    <a:solidFill>
                      <a:srgbClr val="EEF3FB"/>
                    </a:solidFill>
                  </a:tcPr>
                </a:tc>
                <a:tc>
                  <a:txBody>
                    <a:bodyPr/>
                    <a:lstStyle/>
                    <a:p>
                      <a:pPr algn="ctr"/>
                      <a:r>
                        <a:rPr sz="540" b="0">
                          <a:solidFill>
                            <a:srgbClr val="222222"/>
                          </a:solidFill>
                          <a:latin typeface="맑은 고딕"/>
                        </a:rPr>
                        <a:t>REQ-WEB-116</a:t>
                      </a:r>
                    </a:p>
                  </a:txBody>
                  <a:tcPr marL="27432" marR="27432" marT="4572" marB="4572" anchor="ctr">
                    <a:solidFill>
                      <a:srgbClr val="EEF3FB"/>
                    </a:solidFill>
                  </a:tcPr>
                </a:tc>
                <a:extLst>
                  <a:ext uri="{0D108BD9-81ED-4DB2-BD59-A6C34878D82A}">
                    <a16:rowId xmlns:a16="http://schemas.microsoft.com/office/drawing/2014/main" val="10012"/>
                  </a:ext>
                </a:extLst>
              </a:tr>
              <a:tr h="261518">
                <a:tc>
                  <a:txBody>
                    <a:bodyPr/>
                    <a:lstStyle/>
                    <a:p>
                      <a:pPr algn="ctr"/>
                      <a:r>
                        <a:rPr sz="540" b="0">
                          <a:solidFill>
                            <a:srgbClr val="222222"/>
                          </a:solidFill>
                          <a:latin typeface="맑은 고딕"/>
                        </a:rPr>
                        <a:t>REQ-WEB-117</a:t>
                      </a:r>
                    </a:p>
                  </a:txBody>
                  <a:tcPr marL="27432" marR="27432" marT="4572" marB="4572" anchor="ctr">
                    <a:solidFill>
                      <a:srgbClr val="FFFFFF"/>
                    </a:solidFill>
                  </a:tcPr>
                </a:tc>
                <a:tc>
                  <a:txBody>
                    <a:bodyPr/>
                    <a:lstStyle/>
                    <a:p>
                      <a:pPr algn="l"/>
                      <a:r>
                        <a:rPr sz="540" b="0">
                          <a:solidFill>
                            <a:srgbClr val="222222"/>
                          </a:solidFill>
                          <a:latin typeface="맑은 고딕"/>
                        </a:rPr>
                        <a:t>계정 정지/해제 확인</a:t>
                      </a:r>
                    </a:p>
                  </a:txBody>
                  <a:tcPr marL="27432" marR="27432" marT="4572" marB="4572" anchor="ctr">
                    <a:solidFill>
                      <a:srgbClr val="FFFFFF"/>
                    </a:solidFill>
                  </a:tcPr>
                </a:tc>
                <a:tc>
                  <a:txBody>
                    <a:bodyPr/>
                    <a:lstStyle/>
                    <a:p>
                      <a:pPr algn="l"/>
                      <a:r>
                        <a:rPr sz="540" b="0">
                          <a:solidFill>
                            <a:srgbClr val="222222"/>
                          </a:solidFill>
                          <a:latin typeface="맑은 고딕"/>
                        </a:rPr>
                        <a:t>정지 또는 해제 버튼으로 확인 모달을 열고 사유 입력 후 상태를 변경한다.</a:t>
                      </a:r>
                    </a:p>
                  </a:txBody>
                  <a:tcPr marL="27432" marR="27432" marT="4572" marB="4572" anchor="ctr">
                    <a:solidFill>
                      <a:srgbClr val="FFFFFF"/>
                    </a:solidFill>
                  </a:tcPr>
                </a:tc>
                <a:tc>
                  <a:txBody>
                    <a:bodyPr/>
                    <a:lstStyle/>
                    <a:p>
                      <a:pPr algn="ctr"/>
                      <a:r>
                        <a:rPr sz="540" b="0">
                          <a:solidFill>
                            <a:srgbClr val="222222"/>
                          </a:solidFill>
                          <a:latin typeface="맑은 고딕"/>
                        </a:rPr>
                        <a:t>상태변경</a:t>
                      </a:r>
                    </a:p>
                  </a:txBody>
                  <a:tcPr marL="27432" marR="27432" marT="4572" marB="4572" anchor="ctr">
                    <a:solidFill>
                      <a:srgbClr val="FFFFFF"/>
                    </a:solidFill>
                  </a:tcPr>
                </a:tc>
                <a:tc>
                  <a:txBody>
                    <a:bodyPr/>
                    <a:lstStyle/>
                    <a:p>
                      <a:pPr algn="ctr"/>
                      <a:r>
                        <a:rPr sz="540" b="0">
                          <a:solidFill>
                            <a:srgbClr val="222222"/>
                          </a:solidFill>
                          <a:latin typeface="맑은 고딕"/>
                        </a:rPr>
                        <a:t>REQ-WEB-117</a:t>
                      </a:r>
                    </a:p>
                  </a:txBody>
                  <a:tcPr marL="27432" marR="27432" marT="4572" marB="4572" anchor="ctr">
                    <a:solidFill>
                      <a:srgbClr val="FFFFFF"/>
                    </a:solidFill>
                  </a:tcPr>
                </a:tc>
                <a:extLst>
                  <a:ext uri="{0D108BD9-81ED-4DB2-BD59-A6C34878D82A}">
                    <a16:rowId xmlns:a16="http://schemas.microsoft.com/office/drawing/2014/main" val="10013"/>
                  </a:ext>
                </a:extLst>
              </a:tr>
              <a:tr h="261518">
                <a:tc>
                  <a:txBody>
                    <a:bodyPr/>
                    <a:lstStyle/>
                    <a:p>
                      <a:pPr algn="ctr"/>
                      <a:r>
                        <a:rPr sz="540" b="0">
                          <a:solidFill>
                            <a:srgbClr val="222222"/>
                          </a:solidFill>
                          <a:latin typeface="맑은 고딕"/>
                        </a:rPr>
                        <a:t>REQ-WEB-118</a:t>
                      </a:r>
                    </a:p>
                  </a:txBody>
                  <a:tcPr marL="27432" marR="27432" marT="4572" marB="4572" anchor="ctr">
                    <a:solidFill>
                      <a:srgbClr val="EEF3FB"/>
                    </a:solidFill>
                  </a:tcPr>
                </a:tc>
                <a:tc>
                  <a:txBody>
                    <a:bodyPr/>
                    <a:lstStyle/>
                    <a:p>
                      <a:pPr algn="l"/>
                      <a:r>
                        <a:rPr sz="540" b="0">
                          <a:solidFill>
                            <a:srgbClr val="222222"/>
                          </a:solidFill>
                          <a:latin typeface="맑은 고딕"/>
                        </a:rPr>
                        <a:t>유저 변경 감사 기록</a:t>
                      </a:r>
                    </a:p>
                  </a:txBody>
                  <a:tcPr marL="27432" marR="27432" marT="4572" marB="4572" anchor="ctr">
                    <a:solidFill>
                      <a:srgbClr val="EEF3FB"/>
                    </a:solidFill>
                  </a:tcPr>
                </a:tc>
                <a:tc>
                  <a:txBody>
                    <a:bodyPr/>
                    <a:lstStyle/>
                    <a:p>
                      <a:pPr algn="l"/>
                      <a:r>
                        <a:rPr sz="540" b="0">
                          <a:solidFill>
                            <a:srgbClr val="222222"/>
                          </a:solidFill>
                          <a:latin typeface="맑은 고딕"/>
                        </a:rPr>
                        <a:t>유저 상태 변경과 수정 동작을 감사 로그에 남기는 흐름을 제공한다.</a:t>
                      </a:r>
                    </a:p>
                  </a:txBody>
                  <a:tcPr marL="27432" marR="27432" marT="4572" marB="4572" anchor="ctr">
                    <a:solidFill>
                      <a:srgbClr val="EEF3FB"/>
                    </a:solidFill>
                  </a:tcPr>
                </a:tc>
                <a:tc>
                  <a:txBody>
                    <a:bodyPr/>
                    <a:lstStyle/>
                    <a:p>
                      <a:pPr algn="ctr"/>
                      <a:r>
                        <a:rPr sz="540" b="0">
                          <a:solidFill>
                            <a:srgbClr val="222222"/>
                          </a:solidFill>
                          <a:latin typeface="맑은 고딕"/>
                        </a:rPr>
                        <a:t>감사</a:t>
                      </a:r>
                    </a:p>
                  </a:txBody>
                  <a:tcPr marL="27432" marR="27432" marT="4572" marB="4572" anchor="ctr">
                    <a:solidFill>
                      <a:srgbClr val="EEF3FB"/>
                    </a:solidFill>
                  </a:tcPr>
                </a:tc>
                <a:tc>
                  <a:txBody>
                    <a:bodyPr/>
                    <a:lstStyle/>
                    <a:p>
                      <a:pPr algn="ctr"/>
                      <a:r>
                        <a:rPr sz="540" b="0">
                          <a:solidFill>
                            <a:srgbClr val="222222"/>
                          </a:solidFill>
                          <a:latin typeface="맑은 고딕"/>
                        </a:rPr>
                        <a:t>REQ-WEB-118</a:t>
                      </a:r>
                    </a:p>
                  </a:txBody>
                  <a:tcPr marL="27432" marR="27432" marT="4572" marB="4572" anchor="ctr">
                    <a:solidFill>
                      <a:srgbClr val="EEF3FB"/>
                    </a:solidFill>
                  </a:tcPr>
                </a:tc>
                <a:extLst>
                  <a:ext uri="{0D108BD9-81ED-4DB2-BD59-A6C34878D82A}">
                    <a16:rowId xmlns:a16="http://schemas.microsoft.com/office/drawing/2014/main" val="10014"/>
                  </a:ext>
                </a:extLst>
              </a:tr>
              <a:tr h="261518">
                <a:tc>
                  <a:txBody>
                    <a:bodyPr/>
                    <a:lstStyle/>
                    <a:p>
                      <a:pPr algn="ctr"/>
                      <a:r>
                        <a:rPr sz="540" b="0">
                          <a:solidFill>
                            <a:srgbClr val="222222"/>
                          </a:solidFill>
                          <a:latin typeface="맑은 고딕"/>
                        </a:rPr>
                        <a:t>REQ-WEB-119</a:t>
                      </a:r>
                    </a:p>
                  </a:txBody>
                  <a:tcPr marL="27432" marR="27432" marT="4572" marB="4572" anchor="ctr">
                    <a:solidFill>
                      <a:srgbClr val="FFFFFF"/>
                    </a:solidFill>
                  </a:tcPr>
                </a:tc>
                <a:tc>
                  <a:txBody>
                    <a:bodyPr/>
                    <a:lstStyle/>
                    <a:p>
                      <a:pPr algn="l"/>
                      <a:r>
                        <a:rPr sz="540" b="0">
                          <a:solidFill>
                            <a:srgbClr val="222222"/>
                          </a:solidFill>
                          <a:latin typeface="맑은 고딕"/>
                        </a:rPr>
                        <a:t>배터리 목록 확인</a:t>
                      </a:r>
                    </a:p>
                  </a:txBody>
                  <a:tcPr marL="27432" marR="27432" marT="4572" marB="4572" anchor="ctr">
                    <a:solidFill>
                      <a:srgbClr val="FFFFFF"/>
                    </a:solidFill>
                  </a:tcPr>
                </a:tc>
                <a:tc>
                  <a:txBody>
                    <a:bodyPr/>
                    <a:lstStyle/>
                    <a:p>
                      <a:pPr algn="l"/>
                      <a:r>
                        <a:rPr sz="540" b="0">
                          <a:solidFill>
                            <a:srgbClr val="222222"/>
                          </a:solidFill>
                          <a:latin typeface="맑은 고딕"/>
                        </a:rPr>
                        <a:t>배터리 운영 관리 화면에서 배터리명, 소유자, 모드, 상태, 최근 측정, 운영 상태를 확인한다.</a:t>
                      </a:r>
                    </a:p>
                  </a:txBody>
                  <a:tcPr marL="27432" marR="27432" marT="4572" marB="4572" anchor="ctr">
                    <a:solidFill>
                      <a:srgbClr val="FFFFFF"/>
                    </a:solidFill>
                  </a:tcPr>
                </a:tc>
                <a:tc>
                  <a:txBody>
                    <a:bodyPr/>
                    <a:lstStyle/>
                    <a:p>
                      <a:pPr algn="ctr"/>
                      <a:r>
                        <a:rPr sz="540" b="0">
                          <a:solidFill>
                            <a:srgbClr val="222222"/>
                          </a:solidFill>
                          <a:latin typeface="맑은 고딕"/>
                        </a:rPr>
                        <a:t>관리자</a:t>
                      </a:r>
                    </a:p>
                  </a:txBody>
                  <a:tcPr marL="27432" marR="27432" marT="4572" marB="4572" anchor="ctr">
                    <a:solidFill>
                      <a:srgbClr val="FFFFFF"/>
                    </a:solidFill>
                  </a:tcPr>
                </a:tc>
                <a:tc>
                  <a:txBody>
                    <a:bodyPr/>
                    <a:lstStyle/>
                    <a:p>
                      <a:pPr algn="ctr"/>
                      <a:r>
                        <a:rPr sz="540" b="0">
                          <a:solidFill>
                            <a:srgbClr val="222222"/>
                          </a:solidFill>
                          <a:latin typeface="맑은 고딕"/>
                        </a:rPr>
                        <a:t>REQ-WEB-119</a:t>
                      </a:r>
                    </a:p>
                  </a:txBody>
                  <a:tcPr marL="27432" marR="27432" marT="4572" marB="4572" anchor="ctr">
                    <a:solidFill>
                      <a:srgbClr val="FFFFFF"/>
                    </a:solidFill>
                  </a:tcPr>
                </a:tc>
                <a:extLst>
                  <a:ext uri="{0D108BD9-81ED-4DB2-BD59-A6C34878D82A}">
                    <a16:rowId xmlns:a16="http://schemas.microsoft.com/office/drawing/2014/main" val="10015"/>
                  </a:ext>
                </a:extLst>
              </a:tr>
              <a:tr h="261518">
                <a:tc>
                  <a:txBody>
                    <a:bodyPr/>
                    <a:lstStyle/>
                    <a:p>
                      <a:pPr algn="ctr"/>
                      <a:r>
                        <a:rPr sz="540" b="0">
                          <a:solidFill>
                            <a:srgbClr val="222222"/>
                          </a:solidFill>
                          <a:latin typeface="맑은 고딕"/>
                        </a:rPr>
                        <a:t>REQ-WEB-120</a:t>
                      </a:r>
                    </a:p>
                  </a:txBody>
                  <a:tcPr marL="27432" marR="27432" marT="4572" marB="4572" anchor="ctr">
                    <a:solidFill>
                      <a:srgbClr val="EEF3FB"/>
                    </a:solidFill>
                  </a:tcPr>
                </a:tc>
                <a:tc>
                  <a:txBody>
                    <a:bodyPr/>
                    <a:lstStyle/>
                    <a:p>
                      <a:pPr algn="l"/>
                      <a:r>
                        <a:rPr sz="540" b="0">
                          <a:solidFill>
                            <a:srgbClr val="222222"/>
                          </a:solidFill>
                          <a:latin typeface="맑은 고딕"/>
                        </a:rPr>
                        <a:t>배터리 검색</a:t>
                      </a:r>
                    </a:p>
                  </a:txBody>
                  <a:tcPr marL="27432" marR="27432" marT="4572" marB="4572" anchor="ctr">
                    <a:solidFill>
                      <a:srgbClr val="EEF3FB"/>
                    </a:solidFill>
                  </a:tcPr>
                </a:tc>
                <a:tc>
                  <a:txBody>
                    <a:bodyPr/>
                    <a:lstStyle/>
                    <a:p>
                      <a:pPr algn="l"/>
                      <a:r>
                        <a:rPr sz="540" b="0">
                          <a:solidFill>
                            <a:srgbClr val="222222"/>
                          </a:solidFill>
                          <a:latin typeface="맑은 고딕"/>
                        </a:rPr>
                        <a:t>배터리 운영 관리 화면에서 배터리명 또는 소유자로 목록을 검색한다.</a:t>
                      </a:r>
                    </a:p>
                  </a:txBody>
                  <a:tcPr marL="27432" marR="27432" marT="4572" marB="4572" anchor="ctr">
                    <a:solidFill>
                      <a:srgbClr val="EEF3FB"/>
                    </a:solidFill>
                  </a:tcPr>
                </a:tc>
                <a:tc>
                  <a:txBody>
                    <a:bodyPr/>
                    <a:lstStyle/>
                    <a:p>
                      <a:pPr algn="ctr"/>
                      <a:r>
                        <a:rPr sz="540" b="0">
                          <a:solidFill>
                            <a:srgbClr val="222222"/>
                          </a:solidFill>
                          <a:latin typeface="맑은 고딕"/>
                        </a:rPr>
                        <a:t>검색</a:t>
                      </a:r>
                    </a:p>
                  </a:txBody>
                  <a:tcPr marL="27432" marR="27432" marT="4572" marB="4572" anchor="ctr">
                    <a:solidFill>
                      <a:srgbClr val="EEF3FB"/>
                    </a:solidFill>
                  </a:tcPr>
                </a:tc>
                <a:tc>
                  <a:txBody>
                    <a:bodyPr/>
                    <a:lstStyle/>
                    <a:p>
                      <a:pPr algn="ctr"/>
                      <a:r>
                        <a:rPr sz="540" b="0">
                          <a:solidFill>
                            <a:srgbClr val="222222"/>
                          </a:solidFill>
                          <a:latin typeface="맑은 고딕"/>
                        </a:rPr>
                        <a:t>REQ-WEB-120</a:t>
                      </a:r>
                    </a:p>
                  </a:txBody>
                  <a:tcPr marL="27432" marR="27432" marT="4572" marB="4572" anchor="ctr">
                    <a:solidFill>
                      <a:srgbClr val="EEF3FB"/>
                    </a:solidFill>
                  </a:tcPr>
                </a:tc>
                <a:extLst>
                  <a:ext uri="{0D108BD9-81ED-4DB2-BD59-A6C34878D82A}">
                    <a16:rowId xmlns:a16="http://schemas.microsoft.com/office/drawing/2014/main" val="10016"/>
                  </a:ext>
                </a:extLst>
              </a:tr>
              <a:tr h="261518">
                <a:tc>
                  <a:txBody>
                    <a:bodyPr/>
                    <a:lstStyle/>
                    <a:p>
                      <a:pPr algn="ctr"/>
                      <a:r>
                        <a:rPr sz="540" b="0">
                          <a:solidFill>
                            <a:srgbClr val="222222"/>
                          </a:solidFill>
                          <a:latin typeface="맑은 고딕"/>
                        </a:rPr>
                        <a:t>REQ-WEB-121</a:t>
                      </a:r>
                    </a:p>
                  </a:txBody>
                  <a:tcPr marL="27432" marR="27432" marT="4572" marB="4572" anchor="ctr">
                    <a:solidFill>
                      <a:srgbClr val="FFFFFF"/>
                    </a:solidFill>
                  </a:tcPr>
                </a:tc>
                <a:tc>
                  <a:txBody>
                    <a:bodyPr/>
                    <a:lstStyle/>
                    <a:p>
                      <a:pPr algn="l"/>
                      <a:r>
                        <a:rPr sz="540" b="0">
                          <a:solidFill>
                            <a:srgbClr val="222222"/>
                          </a:solidFill>
                          <a:latin typeface="맑은 고딕"/>
                        </a:rPr>
                        <a:t>배터리 운영 상태 필터</a:t>
                      </a:r>
                    </a:p>
                  </a:txBody>
                  <a:tcPr marL="27432" marR="27432" marT="4572" marB="4572" anchor="ctr">
                    <a:solidFill>
                      <a:srgbClr val="FFFFFF"/>
                    </a:solidFill>
                  </a:tcPr>
                </a:tc>
                <a:tc>
                  <a:txBody>
                    <a:bodyPr/>
                    <a:lstStyle/>
                    <a:p>
                      <a:pPr algn="l"/>
                      <a:r>
                        <a:rPr sz="540" b="0">
                          <a:solidFill>
                            <a:srgbClr val="222222"/>
                          </a:solidFill>
                          <a:latin typeface="맑은 고딕"/>
                        </a:rPr>
                        <a:t>배터리 운영 관리 화면에서 전체, NORMAL, WATCH, BLOCKED 상태 기준으로 목록을 필터링한다.</a:t>
                      </a:r>
                    </a:p>
                  </a:txBody>
                  <a:tcPr marL="27432" marR="27432" marT="4572" marB="4572" anchor="ctr">
                    <a:solidFill>
                      <a:srgbClr val="FFFFFF"/>
                    </a:solidFill>
                  </a:tcPr>
                </a:tc>
                <a:tc>
                  <a:txBody>
                    <a:bodyPr/>
                    <a:lstStyle/>
                    <a:p>
                      <a:pPr algn="ctr"/>
                      <a:r>
                        <a:rPr sz="540" b="0">
                          <a:solidFill>
                            <a:srgbClr val="222222"/>
                          </a:solidFill>
                          <a:latin typeface="맑은 고딕"/>
                        </a:rPr>
                        <a:t>필터</a:t>
                      </a:r>
                    </a:p>
                  </a:txBody>
                  <a:tcPr marL="27432" marR="27432" marT="4572" marB="4572" anchor="ctr">
                    <a:solidFill>
                      <a:srgbClr val="FFFFFF"/>
                    </a:solidFill>
                  </a:tcPr>
                </a:tc>
                <a:tc>
                  <a:txBody>
                    <a:bodyPr/>
                    <a:lstStyle/>
                    <a:p>
                      <a:pPr algn="ctr"/>
                      <a:r>
                        <a:rPr sz="540" b="0">
                          <a:solidFill>
                            <a:srgbClr val="222222"/>
                          </a:solidFill>
                          <a:latin typeface="맑은 고딕"/>
                        </a:rPr>
                        <a:t>REQ-WEB-121</a:t>
                      </a:r>
                    </a:p>
                  </a:txBody>
                  <a:tcPr marL="27432" marR="27432" marT="4572" marB="4572" anchor="ctr">
                    <a:solidFill>
                      <a:srgbClr val="FFFFFF"/>
                    </a:solidFill>
                  </a:tcPr>
                </a:tc>
                <a:extLst>
                  <a:ext uri="{0D108BD9-81ED-4DB2-BD59-A6C34878D82A}">
                    <a16:rowId xmlns:a16="http://schemas.microsoft.com/office/drawing/2014/main" val="10017"/>
                  </a:ext>
                </a:extLst>
              </a:tr>
              <a:tr h="261518">
                <a:tc>
                  <a:txBody>
                    <a:bodyPr/>
                    <a:lstStyle/>
                    <a:p>
                      <a:pPr algn="ctr"/>
                      <a:r>
                        <a:rPr sz="540" b="0">
                          <a:solidFill>
                            <a:srgbClr val="222222"/>
                          </a:solidFill>
                          <a:latin typeface="맑은 고딕"/>
                        </a:rPr>
                        <a:t>REQ-WEB-122</a:t>
                      </a:r>
                    </a:p>
                  </a:txBody>
                  <a:tcPr marL="27432" marR="27432" marT="4572" marB="4572" anchor="ctr">
                    <a:solidFill>
                      <a:srgbClr val="EEF3FB"/>
                    </a:solidFill>
                  </a:tcPr>
                </a:tc>
                <a:tc>
                  <a:txBody>
                    <a:bodyPr/>
                    <a:lstStyle/>
                    <a:p>
                      <a:pPr algn="l"/>
                      <a:r>
                        <a:rPr sz="540" b="0">
                          <a:solidFill>
                            <a:srgbClr val="222222"/>
                          </a:solidFill>
                          <a:latin typeface="맑은 고딕"/>
                        </a:rPr>
                        <a:t>배터리 상세 확인</a:t>
                      </a:r>
                    </a:p>
                  </a:txBody>
                  <a:tcPr marL="27432" marR="27432" marT="4572" marB="4572" anchor="ctr">
                    <a:solidFill>
                      <a:srgbClr val="EEF3FB"/>
                    </a:solidFill>
                  </a:tcPr>
                </a:tc>
                <a:tc>
                  <a:txBody>
                    <a:bodyPr/>
                    <a:lstStyle/>
                    <a:p>
                      <a:pPr algn="l"/>
                      <a:r>
                        <a:rPr sz="540" b="0">
                          <a:solidFill>
                            <a:srgbClr val="222222"/>
                          </a:solidFill>
                          <a:latin typeface="맑은 고딕"/>
                        </a:rPr>
                        <a:t>배터리 행을 클릭해 상태 상세, 운영 로그, 최근 센서 요약을 확인한다.</a:t>
                      </a:r>
                    </a:p>
                  </a:txBody>
                  <a:tcPr marL="27432" marR="27432" marT="4572" marB="4572" anchor="ctr">
                    <a:solidFill>
                      <a:srgbClr val="EEF3FB"/>
                    </a:solidFill>
                  </a:tcPr>
                </a:tc>
                <a:tc>
                  <a:txBody>
                    <a:bodyPr/>
                    <a:lstStyle/>
                    <a:p>
                      <a:pPr algn="ctr"/>
                      <a:r>
                        <a:rPr sz="540" b="0">
                          <a:solidFill>
                            <a:srgbClr val="222222"/>
                          </a:solidFill>
                          <a:latin typeface="맑은 고딕"/>
                        </a:rPr>
                        <a:t>상세</a:t>
                      </a:r>
                    </a:p>
                  </a:txBody>
                  <a:tcPr marL="27432" marR="27432" marT="4572" marB="4572" anchor="ctr">
                    <a:solidFill>
                      <a:srgbClr val="EEF3FB"/>
                    </a:solidFill>
                  </a:tcPr>
                </a:tc>
                <a:tc>
                  <a:txBody>
                    <a:bodyPr/>
                    <a:lstStyle/>
                    <a:p>
                      <a:pPr algn="ctr"/>
                      <a:r>
                        <a:rPr sz="540" b="0">
                          <a:solidFill>
                            <a:srgbClr val="222222"/>
                          </a:solidFill>
                          <a:latin typeface="맑은 고딕"/>
                        </a:rPr>
                        <a:t>REQ-WEB-122</a:t>
                      </a:r>
                    </a:p>
                  </a:txBody>
                  <a:tcPr marL="27432" marR="27432" marT="4572" marB="4572" anchor="ctr">
                    <a:solidFill>
                      <a:srgbClr val="EEF3FB"/>
                    </a:solidFill>
                  </a:tcPr>
                </a:tc>
                <a:extLst>
                  <a:ext uri="{0D108BD9-81ED-4DB2-BD59-A6C34878D82A}">
                    <a16:rowId xmlns:a16="http://schemas.microsoft.com/office/drawing/2014/main" val="10018"/>
                  </a:ext>
                </a:extLst>
              </a:tr>
              <a:tr h="261518">
                <a:tc>
                  <a:txBody>
                    <a:bodyPr/>
                    <a:lstStyle/>
                    <a:p>
                      <a:pPr algn="ctr"/>
                      <a:r>
                        <a:rPr sz="540" b="0">
                          <a:solidFill>
                            <a:srgbClr val="222222"/>
                          </a:solidFill>
                          <a:latin typeface="맑은 고딕"/>
                        </a:rPr>
                        <a:t>REQ-WEB-123</a:t>
                      </a:r>
                    </a:p>
                  </a:txBody>
                  <a:tcPr marL="27432" marR="27432" marT="4572" marB="4572" anchor="ctr">
                    <a:solidFill>
                      <a:srgbClr val="FFFFFF"/>
                    </a:solidFill>
                  </a:tcPr>
                </a:tc>
                <a:tc>
                  <a:txBody>
                    <a:bodyPr/>
                    <a:lstStyle/>
                    <a:p>
                      <a:pPr algn="l"/>
                      <a:r>
                        <a:rPr sz="540" b="0">
                          <a:solidFill>
                            <a:srgbClr val="222222"/>
                          </a:solidFill>
                          <a:latin typeface="맑은 고딕"/>
                        </a:rPr>
                        <a:t>배터리 운영 상태 변경</a:t>
                      </a:r>
                    </a:p>
                  </a:txBody>
                  <a:tcPr marL="27432" marR="27432" marT="4572" marB="4572" anchor="ctr">
                    <a:solidFill>
                      <a:srgbClr val="FFFFFF"/>
                    </a:solidFill>
                  </a:tcPr>
                </a:tc>
                <a:tc>
                  <a:txBody>
                    <a:bodyPr/>
                    <a:lstStyle/>
                    <a:p>
                      <a:pPr algn="l"/>
                      <a:r>
                        <a:rPr sz="540" b="0">
                          <a:solidFill>
                            <a:srgbClr val="222222"/>
                          </a:solidFill>
                          <a:latin typeface="맑은 고딕"/>
                        </a:rPr>
                        <a:t>배터리 상세에서 NORMAL, WATCH, BLOCKED 운영 상태를 선택하고 저장한다.</a:t>
                      </a:r>
                    </a:p>
                  </a:txBody>
                  <a:tcPr marL="27432" marR="27432" marT="4572" marB="4572" anchor="ctr">
                    <a:solidFill>
                      <a:srgbClr val="FFFFFF"/>
                    </a:solidFill>
                  </a:tcPr>
                </a:tc>
                <a:tc>
                  <a:txBody>
                    <a:bodyPr/>
                    <a:lstStyle/>
                    <a:p>
                      <a:pPr algn="ctr"/>
                      <a:r>
                        <a:rPr sz="540" b="0">
                          <a:solidFill>
                            <a:srgbClr val="222222"/>
                          </a:solidFill>
                          <a:latin typeface="맑은 고딕"/>
                        </a:rPr>
                        <a:t>상태변경</a:t>
                      </a:r>
                    </a:p>
                  </a:txBody>
                  <a:tcPr marL="27432" marR="27432" marT="4572" marB="4572" anchor="ctr">
                    <a:solidFill>
                      <a:srgbClr val="FFFFFF"/>
                    </a:solidFill>
                  </a:tcPr>
                </a:tc>
                <a:tc>
                  <a:txBody>
                    <a:bodyPr/>
                    <a:lstStyle/>
                    <a:p>
                      <a:pPr algn="ctr"/>
                      <a:r>
                        <a:rPr sz="540" b="0">
                          <a:solidFill>
                            <a:srgbClr val="222222"/>
                          </a:solidFill>
                          <a:latin typeface="맑은 고딕"/>
                        </a:rPr>
                        <a:t>REQ-WEB-123</a:t>
                      </a:r>
                    </a:p>
                  </a:txBody>
                  <a:tcPr marL="27432" marR="27432" marT="4572" marB="4572" anchor="ctr">
                    <a:solidFill>
                      <a:srgbClr val="FFFFFF"/>
                    </a:solidFill>
                  </a:tcPr>
                </a:tc>
                <a:extLst>
                  <a:ext uri="{0D108BD9-81ED-4DB2-BD59-A6C34878D82A}">
                    <a16:rowId xmlns:a16="http://schemas.microsoft.com/office/drawing/2014/main" val="10019"/>
                  </a:ext>
                </a:extLst>
              </a:tr>
            </a:tbl>
          </a:graphicData>
        </a:graphic>
      </p:graphicFrame>
      <p:graphicFrame>
        <p:nvGraphicFramePr>
          <p:cNvPr id="1028" name="Table 1027"/>
          <p:cNvGraphicFramePr>
            <a:graphicFrameLocks noGrp="1"/>
          </p:cNvGraphicFramePr>
          <p:nvPr/>
        </p:nvGraphicFramePr>
        <p:xfrm>
          <a:off x="4681728" y="1335024"/>
          <a:ext cx="4160519" cy="3750866"/>
        </p:xfrm>
        <a:graphic>
          <a:graphicData uri="http://schemas.openxmlformats.org/drawingml/2006/table">
            <a:tbl>
              <a:tblPr>
                <a:tableStyleId>{5C22544A-7EE6-4342-B048-85BDC9FD1C3A}</a:tableStyleId>
              </a:tblPr>
              <a:tblGrid>
                <a:gridCol w="655597">
                  <a:extLst>
                    <a:ext uri="{9D8B030D-6E8A-4147-A177-3AD203B41FA5}">
                      <a16:colId xmlns:a16="http://schemas.microsoft.com/office/drawing/2014/main" val="20000"/>
                    </a:ext>
                  </a:extLst>
                </a:gridCol>
                <a:gridCol w="868526">
                  <a:extLst>
                    <a:ext uri="{9D8B030D-6E8A-4147-A177-3AD203B41FA5}">
                      <a16:colId xmlns:a16="http://schemas.microsoft.com/office/drawing/2014/main" val="20001"/>
                    </a:ext>
                  </a:extLst>
                </a:gridCol>
                <a:gridCol w="1606306">
                  <a:extLst>
                    <a:ext uri="{9D8B030D-6E8A-4147-A177-3AD203B41FA5}">
                      <a16:colId xmlns:a16="http://schemas.microsoft.com/office/drawing/2014/main" val="20002"/>
                    </a:ext>
                  </a:extLst>
                </a:gridCol>
                <a:gridCol w="410915">
                  <a:extLst>
                    <a:ext uri="{9D8B030D-6E8A-4147-A177-3AD203B41FA5}">
                      <a16:colId xmlns:a16="http://schemas.microsoft.com/office/drawing/2014/main" val="20003"/>
                    </a:ext>
                  </a:extLst>
                </a:gridCol>
                <a:gridCol w="619175">
                  <a:extLst>
                    <a:ext uri="{9D8B030D-6E8A-4147-A177-3AD203B41FA5}">
                      <a16:colId xmlns:a16="http://schemas.microsoft.com/office/drawing/2014/main" val="20004"/>
                    </a:ext>
                  </a:extLst>
                </a:gridCol>
              </a:tblGrid>
              <a:tr h="267919">
                <a:tc>
                  <a:txBody>
                    <a:bodyPr/>
                    <a:lstStyle/>
                    <a:p>
                      <a:pPr algn="ctr"/>
                      <a:r>
                        <a:rPr sz="660" b="1">
                          <a:solidFill>
                            <a:srgbClr val="FFFFFF"/>
                          </a:solidFill>
                          <a:latin typeface="맑은 고딕"/>
                        </a:rPr>
                        <a:t>요구사항 ID</a:t>
                      </a:r>
                    </a:p>
                  </a:txBody>
                  <a:tcPr marL="27432" marR="27432" marT="4572" marB="4572" anchor="ctr">
                    <a:solidFill>
                      <a:srgbClr val="3B5AA8"/>
                    </a:solidFill>
                  </a:tcPr>
                </a:tc>
                <a:tc>
                  <a:txBody>
                    <a:bodyPr/>
                    <a:lstStyle/>
                    <a:p>
                      <a:pPr algn="ctr"/>
                      <a:r>
                        <a:rPr sz="660" b="1">
                          <a:solidFill>
                            <a:srgbClr val="FFFFFF"/>
                          </a:solidFill>
                          <a:latin typeface="맑은 고딕"/>
                        </a:rPr>
                        <a:t>요구사항명</a:t>
                      </a:r>
                    </a:p>
                  </a:txBody>
                  <a:tcPr marL="27432" marR="27432" marT="4572" marB="4572" anchor="ctr">
                    <a:solidFill>
                      <a:srgbClr val="3B5AA8"/>
                    </a:solidFill>
                  </a:tcPr>
                </a:tc>
                <a:tc>
                  <a:txBody>
                    <a:bodyPr/>
                    <a:lstStyle/>
                    <a:p>
                      <a:pPr algn="ctr"/>
                      <a:r>
                        <a:rPr sz="660" b="1">
                          <a:solidFill>
                            <a:srgbClr val="FFFFFF"/>
                          </a:solidFill>
                          <a:latin typeface="맑은 고딕"/>
                        </a:rPr>
                        <a:t>요구사항 상세설명</a:t>
                      </a:r>
                    </a:p>
                  </a:txBody>
                  <a:tcPr marL="27432" marR="27432" marT="4572" marB="4572" anchor="ctr">
                    <a:solidFill>
                      <a:srgbClr val="3B5AA8"/>
                    </a:solidFill>
                  </a:tcPr>
                </a:tc>
                <a:tc>
                  <a:txBody>
                    <a:bodyPr/>
                    <a:lstStyle/>
                    <a:p>
                      <a:pPr algn="ctr"/>
                      <a:r>
                        <a:rPr sz="660" b="1">
                          <a:solidFill>
                            <a:srgbClr val="FFFFFF"/>
                          </a:solidFill>
                          <a:latin typeface="맑은 고딕"/>
                        </a:rPr>
                        <a:t>중요도</a:t>
                      </a:r>
                    </a:p>
                  </a:txBody>
                  <a:tcPr marL="27432" marR="27432" marT="4572" marB="4572" anchor="ctr">
                    <a:solidFill>
                      <a:srgbClr val="3B5AA8"/>
                    </a:solidFill>
                  </a:tcPr>
                </a:tc>
                <a:tc>
                  <a:txBody>
                    <a:bodyPr/>
                    <a:lstStyle/>
                    <a:p>
                      <a:pPr algn="ctr"/>
                      <a:r>
                        <a:rPr sz="660" b="1">
                          <a:solidFill>
                            <a:srgbClr val="FFFFFF"/>
                          </a:solidFill>
                          <a:latin typeface="맑은 고딕"/>
                        </a:rPr>
                        <a:t>비고</a:t>
                      </a:r>
                    </a:p>
                  </a:txBody>
                  <a:tcPr marL="27432" marR="27432" marT="4572" marB="4572" anchor="ctr">
                    <a:solidFill>
                      <a:srgbClr val="3B5AA8"/>
                    </a:solidFill>
                  </a:tcPr>
                </a:tc>
                <a:extLst>
                  <a:ext uri="{0D108BD9-81ED-4DB2-BD59-A6C34878D82A}">
                    <a16:rowId xmlns:a16="http://schemas.microsoft.com/office/drawing/2014/main" val="10000"/>
                  </a:ext>
                </a:extLst>
              </a:tr>
              <a:tr h="267919">
                <a:tc>
                  <a:txBody>
                    <a:bodyPr/>
                    <a:lstStyle/>
                    <a:p>
                      <a:pPr algn="ctr"/>
                      <a:r>
                        <a:rPr sz="540" b="0">
                          <a:solidFill>
                            <a:srgbClr val="222222"/>
                          </a:solidFill>
                          <a:latin typeface="맑은 고딕"/>
                        </a:rPr>
                        <a:t>REQ-WEB-124</a:t>
                      </a:r>
                    </a:p>
                  </a:txBody>
                  <a:tcPr marL="27432" marR="27432" marT="4572" marB="4572" anchor="ctr">
                    <a:solidFill>
                      <a:srgbClr val="FFFFFF"/>
                    </a:solidFill>
                  </a:tcPr>
                </a:tc>
                <a:tc>
                  <a:txBody>
                    <a:bodyPr/>
                    <a:lstStyle/>
                    <a:p>
                      <a:pPr algn="l"/>
                      <a:r>
                        <a:rPr sz="540" b="0">
                          <a:solidFill>
                            <a:srgbClr val="222222"/>
                          </a:solidFill>
                          <a:latin typeface="맑은 고딕"/>
                        </a:rPr>
                        <a:t>관리자 메모 입력</a:t>
                      </a:r>
                    </a:p>
                  </a:txBody>
                  <a:tcPr marL="27432" marR="27432" marT="4572" marB="4572" anchor="ctr">
                    <a:solidFill>
                      <a:srgbClr val="FFFFFF"/>
                    </a:solidFill>
                  </a:tcPr>
                </a:tc>
                <a:tc>
                  <a:txBody>
                    <a:bodyPr/>
                    <a:lstStyle/>
                    <a:p>
                      <a:pPr algn="l"/>
                      <a:r>
                        <a:rPr sz="540" b="0">
                          <a:solidFill>
                            <a:srgbClr val="222222"/>
                          </a:solidFill>
                          <a:latin typeface="맑은 고딕"/>
                        </a:rPr>
                        <a:t>배터리 상세에서 관리자 메모를 입력하고 저장한다.</a:t>
                      </a:r>
                    </a:p>
                  </a:txBody>
                  <a:tcPr marL="27432" marR="27432" marT="4572" marB="4572" anchor="ctr">
                    <a:solidFill>
                      <a:srgbClr val="FFFFFF"/>
                    </a:solidFill>
                  </a:tcPr>
                </a:tc>
                <a:tc>
                  <a:txBody>
                    <a:bodyPr/>
                    <a:lstStyle/>
                    <a:p>
                      <a:pPr algn="ctr"/>
                      <a:r>
                        <a:rPr sz="540" b="0">
                          <a:solidFill>
                            <a:srgbClr val="222222"/>
                          </a:solidFill>
                          <a:latin typeface="맑은 고딕"/>
                        </a:rPr>
                        <a:t>관리자</a:t>
                      </a:r>
                    </a:p>
                  </a:txBody>
                  <a:tcPr marL="27432" marR="27432" marT="4572" marB="4572" anchor="ctr">
                    <a:solidFill>
                      <a:srgbClr val="FFFFFF"/>
                    </a:solidFill>
                  </a:tcPr>
                </a:tc>
                <a:tc>
                  <a:txBody>
                    <a:bodyPr/>
                    <a:lstStyle/>
                    <a:p>
                      <a:pPr algn="ctr"/>
                      <a:r>
                        <a:rPr sz="540" b="0">
                          <a:solidFill>
                            <a:srgbClr val="222222"/>
                          </a:solidFill>
                          <a:latin typeface="맑은 고딕"/>
                        </a:rPr>
                        <a:t>REQ-WEB-124</a:t>
                      </a:r>
                    </a:p>
                  </a:txBody>
                  <a:tcPr marL="27432" marR="27432" marT="4572" marB="4572" anchor="ctr">
                    <a:solidFill>
                      <a:srgbClr val="FFFFFF"/>
                    </a:solidFill>
                  </a:tcPr>
                </a:tc>
                <a:extLst>
                  <a:ext uri="{0D108BD9-81ED-4DB2-BD59-A6C34878D82A}">
                    <a16:rowId xmlns:a16="http://schemas.microsoft.com/office/drawing/2014/main" val="10001"/>
                  </a:ext>
                </a:extLst>
              </a:tr>
              <a:tr h="267919">
                <a:tc>
                  <a:txBody>
                    <a:bodyPr/>
                    <a:lstStyle/>
                    <a:p>
                      <a:pPr algn="ctr"/>
                      <a:r>
                        <a:rPr sz="540" b="0">
                          <a:solidFill>
                            <a:srgbClr val="222222"/>
                          </a:solidFill>
                          <a:latin typeface="맑은 고딕"/>
                        </a:rPr>
                        <a:t>REQ-WEB-125</a:t>
                      </a:r>
                    </a:p>
                  </a:txBody>
                  <a:tcPr marL="27432" marR="27432" marT="4572" marB="4572" anchor="ctr">
                    <a:solidFill>
                      <a:srgbClr val="EEF3FB"/>
                    </a:solidFill>
                  </a:tcPr>
                </a:tc>
                <a:tc>
                  <a:txBody>
                    <a:bodyPr/>
                    <a:lstStyle/>
                    <a:p>
                      <a:pPr algn="l"/>
                      <a:r>
                        <a:rPr sz="540" b="0">
                          <a:solidFill>
                            <a:srgbClr val="222222"/>
                          </a:solidFill>
                          <a:latin typeface="맑은 고딕"/>
                        </a:rPr>
                        <a:t>BLOCKED 사유 입력</a:t>
                      </a:r>
                    </a:p>
                  </a:txBody>
                  <a:tcPr marL="27432" marR="27432" marT="4572" marB="4572" anchor="ctr">
                    <a:solidFill>
                      <a:srgbClr val="EEF3FB"/>
                    </a:solidFill>
                  </a:tcPr>
                </a:tc>
                <a:tc>
                  <a:txBody>
                    <a:bodyPr/>
                    <a:lstStyle/>
                    <a:p>
                      <a:pPr algn="l"/>
                      <a:r>
                        <a:rPr sz="540" b="0">
                          <a:solidFill>
                            <a:srgbClr val="222222"/>
                          </a:solidFill>
                          <a:latin typeface="맑은 고딕"/>
                        </a:rPr>
                        <a:t>배터리를 BLOCKED로 변경할 때 사유 입력을 요구한다.</a:t>
                      </a:r>
                    </a:p>
                  </a:txBody>
                  <a:tcPr marL="27432" marR="27432" marT="4572" marB="4572" anchor="ctr">
                    <a:solidFill>
                      <a:srgbClr val="EEF3FB"/>
                    </a:solidFill>
                  </a:tcPr>
                </a:tc>
                <a:tc>
                  <a:txBody>
                    <a:bodyPr/>
                    <a:lstStyle/>
                    <a:p>
                      <a:pPr algn="ctr"/>
                      <a:r>
                        <a:rPr sz="540" b="0">
                          <a:solidFill>
                            <a:srgbClr val="222222"/>
                          </a:solidFill>
                          <a:latin typeface="맑은 고딕"/>
                        </a:rPr>
                        <a:t>상태변경</a:t>
                      </a:r>
                    </a:p>
                  </a:txBody>
                  <a:tcPr marL="27432" marR="27432" marT="4572" marB="4572" anchor="ctr">
                    <a:solidFill>
                      <a:srgbClr val="EEF3FB"/>
                    </a:solidFill>
                  </a:tcPr>
                </a:tc>
                <a:tc>
                  <a:txBody>
                    <a:bodyPr/>
                    <a:lstStyle/>
                    <a:p>
                      <a:pPr algn="ctr"/>
                      <a:r>
                        <a:rPr sz="540" b="0">
                          <a:solidFill>
                            <a:srgbClr val="222222"/>
                          </a:solidFill>
                          <a:latin typeface="맑은 고딕"/>
                        </a:rPr>
                        <a:t>REQ-WEB-125</a:t>
                      </a:r>
                    </a:p>
                  </a:txBody>
                  <a:tcPr marL="27432" marR="27432" marT="4572" marB="4572" anchor="ctr">
                    <a:solidFill>
                      <a:srgbClr val="EEF3FB"/>
                    </a:solidFill>
                  </a:tcPr>
                </a:tc>
                <a:extLst>
                  <a:ext uri="{0D108BD9-81ED-4DB2-BD59-A6C34878D82A}">
                    <a16:rowId xmlns:a16="http://schemas.microsoft.com/office/drawing/2014/main" val="10002"/>
                  </a:ext>
                </a:extLst>
              </a:tr>
              <a:tr h="267919">
                <a:tc>
                  <a:txBody>
                    <a:bodyPr/>
                    <a:lstStyle/>
                    <a:p>
                      <a:pPr algn="ctr"/>
                      <a:r>
                        <a:rPr sz="540" b="0">
                          <a:solidFill>
                            <a:srgbClr val="222222"/>
                          </a:solidFill>
                          <a:latin typeface="맑은 고딕"/>
                        </a:rPr>
                        <a:t>REQ-WEB-126</a:t>
                      </a:r>
                    </a:p>
                  </a:txBody>
                  <a:tcPr marL="27432" marR="27432" marT="4572" marB="4572" anchor="ctr">
                    <a:solidFill>
                      <a:srgbClr val="FFFFFF"/>
                    </a:solidFill>
                  </a:tcPr>
                </a:tc>
                <a:tc>
                  <a:txBody>
                    <a:bodyPr/>
                    <a:lstStyle/>
                    <a:p>
                      <a:pPr algn="l"/>
                      <a:r>
                        <a:rPr sz="540" b="0">
                          <a:solidFill>
                            <a:srgbClr val="222222"/>
                          </a:solidFill>
                          <a:latin typeface="맑은 고딕"/>
                        </a:rPr>
                        <a:t>배터리 변경 감사 기록</a:t>
                      </a:r>
                    </a:p>
                  </a:txBody>
                  <a:tcPr marL="27432" marR="27432" marT="4572" marB="4572" anchor="ctr">
                    <a:solidFill>
                      <a:srgbClr val="FFFFFF"/>
                    </a:solidFill>
                  </a:tcPr>
                </a:tc>
                <a:tc>
                  <a:txBody>
                    <a:bodyPr/>
                    <a:lstStyle/>
                    <a:p>
                      <a:pPr algn="l"/>
                      <a:r>
                        <a:rPr sz="540" b="0">
                          <a:solidFill>
                            <a:srgbClr val="222222"/>
                          </a:solidFill>
                          <a:latin typeface="맑은 고딕"/>
                        </a:rPr>
                        <a:t>배터리 운영 상태와 관리자 메모 변경 이력을 감사 로그에 기록한다.</a:t>
                      </a:r>
                    </a:p>
                  </a:txBody>
                  <a:tcPr marL="27432" marR="27432" marT="4572" marB="4572" anchor="ctr">
                    <a:solidFill>
                      <a:srgbClr val="FFFFFF"/>
                    </a:solidFill>
                  </a:tcPr>
                </a:tc>
                <a:tc>
                  <a:txBody>
                    <a:bodyPr/>
                    <a:lstStyle/>
                    <a:p>
                      <a:pPr algn="ctr"/>
                      <a:r>
                        <a:rPr sz="540" b="0">
                          <a:solidFill>
                            <a:srgbClr val="222222"/>
                          </a:solidFill>
                          <a:latin typeface="맑은 고딕"/>
                        </a:rPr>
                        <a:t>감사</a:t>
                      </a:r>
                    </a:p>
                  </a:txBody>
                  <a:tcPr marL="27432" marR="27432" marT="4572" marB="4572" anchor="ctr">
                    <a:solidFill>
                      <a:srgbClr val="FFFFFF"/>
                    </a:solidFill>
                  </a:tcPr>
                </a:tc>
                <a:tc>
                  <a:txBody>
                    <a:bodyPr/>
                    <a:lstStyle/>
                    <a:p>
                      <a:pPr algn="ctr"/>
                      <a:r>
                        <a:rPr sz="540" b="0">
                          <a:solidFill>
                            <a:srgbClr val="222222"/>
                          </a:solidFill>
                          <a:latin typeface="맑은 고딕"/>
                        </a:rPr>
                        <a:t>REQ-WEB-126</a:t>
                      </a:r>
                    </a:p>
                  </a:txBody>
                  <a:tcPr marL="27432" marR="27432" marT="4572" marB="4572" anchor="ctr">
                    <a:solidFill>
                      <a:srgbClr val="FFFFFF"/>
                    </a:solidFill>
                  </a:tcPr>
                </a:tc>
                <a:extLst>
                  <a:ext uri="{0D108BD9-81ED-4DB2-BD59-A6C34878D82A}">
                    <a16:rowId xmlns:a16="http://schemas.microsoft.com/office/drawing/2014/main" val="10003"/>
                  </a:ext>
                </a:extLst>
              </a:tr>
              <a:tr h="267919">
                <a:tc>
                  <a:txBody>
                    <a:bodyPr/>
                    <a:lstStyle/>
                    <a:p>
                      <a:pPr algn="ctr"/>
                      <a:r>
                        <a:rPr sz="540" b="0">
                          <a:solidFill>
                            <a:srgbClr val="222222"/>
                          </a:solidFill>
                          <a:latin typeface="맑은 고딕"/>
                        </a:rPr>
                        <a:t>REQ-WEB-127</a:t>
                      </a:r>
                    </a:p>
                  </a:txBody>
                  <a:tcPr marL="27432" marR="27432" marT="4572" marB="4572" anchor="ctr">
                    <a:solidFill>
                      <a:srgbClr val="EEF3FB"/>
                    </a:solidFill>
                  </a:tcPr>
                </a:tc>
                <a:tc>
                  <a:txBody>
                    <a:bodyPr/>
                    <a:lstStyle/>
                    <a:p>
                      <a:pPr algn="l"/>
                      <a:r>
                        <a:rPr sz="540" b="0">
                          <a:solidFill>
                            <a:srgbClr val="222222"/>
                          </a:solidFill>
                          <a:latin typeface="맑은 고딕"/>
                        </a:rPr>
                        <a:t>공지사항 목록 관리</a:t>
                      </a:r>
                    </a:p>
                  </a:txBody>
                  <a:tcPr marL="27432" marR="27432" marT="4572" marB="4572" anchor="ctr">
                    <a:solidFill>
                      <a:srgbClr val="EEF3FB"/>
                    </a:solidFill>
                  </a:tcPr>
                </a:tc>
                <a:tc>
                  <a:txBody>
                    <a:bodyPr/>
                    <a:lstStyle/>
                    <a:p>
                      <a:pPr algn="l"/>
                      <a:r>
                        <a:rPr sz="540" b="0">
                          <a:solidFill>
                            <a:srgbClr val="222222"/>
                          </a:solidFill>
                          <a:latin typeface="맑은 고딕"/>
                        </a:rPr>
                        <a:t>공지사항 관리 화면에서 공지 제목, 카테고리, 게시 상태, 관리 동작을 확인한다.</a:t>
                      </a:r>
                    </a:p>
                  </a:txBody>
                  <a:tcPr marL="27432" marR="27432" marT="4572" marB="4572" anchor="ctr">
                    <a:solidFill>
                      <a:srgbClr val="EEF3FB"/>
                    </a:solidFill>
                  </a:tcPr>
                </a:tc>
                <a:tc>
                  <a:txBody>
                    <a:bodyPr/>
                    <a:lstStyle/>
                    <a:p>
                      <a:pPr algn="ctr"/>
                      <a:r>
                        <a:rPr sz="540" b="0">
                          <a:solidFill>
                            <a:srgbClr val="222222"/>
                          </a:solidFill>
                          <a:latin typeface="맑은 고딕"/>
                        </a:rPr>
                        <a:t>관리자</a:t>
                      </a:r>
                    </a:p>
                  </a:txBody>
                  <a:tcPr marL="27432" marR="27432" marT="4572" marB="4572" anchor="ctr">
                    <a:solidFill>
                      <a:srgbClr val="EEF3FB"/>
                    </a:solidFill>
                  </a:tcPr>
                </a:tc>
                <a:tc>
                  <a:txBody>
                    <a:bodyPr/>
                    <a:lstStyle/>
                    <a:p>
                      <a:pPr algn="ctr"/>
                      <a:r>
                        <a:rPr sz="540" b="0">
                          <a:solidFill>
                            <a:srgbClr val="222222"/>
                          </a:solidFill>
                          <a:latin typeface="맑은 고딕"/>
                        </a:rPr>
                        <a:t>REQ-WEB-127</a:t>
                      </a:r>
                    </a:p>
                  </a:txBody>
                  <a:tcPr marL="27432" marR="27432" marT="4572" marB="4572" anchor="ctr">
                    <a:solidFill>
                      <a:srgbClr val="EEF3FB"/>
                    </a:solidFill>
                  </a:tcPr>
                </a:tc>
                <a:extLst>
                  <a:ext uri="{0D108BD9-81ED-4DB2-BD59-A6C34878D82A}">
                    <a16:rowId xmlns:a16="http://schemas.microsoft.com/office/drawing/2014/main" val="10004"/>
                  </a:ext>
                </a:extLst>
              </a:tr>
              <a:tr h="267919">
                <a:tc>
                  <a:txBody>
                    <a:bodyPr/>
                    <a:lstStyle/>
                    <a:p>
                      <a:pPr algn="ctr"/>
                      <a:r>
                        <a:rPr sz="540" b="0">
                          <a:solidFill>
                            <a:srgbClr val="222222"/>
                          </a:solidFill>
                          <a:latin typeface="맑은 고딕"/>
                        </a:rPr>
                        <a:t>REQ-WEB-128</a:t>
                      </a:r>
                    </a:p>
                  </a:txBody>
                  <a:tcPr marL="27432" marR="27432" marT="4572" marB="4572" anchor="ctr">
                    <a:solidFill>
                      <a:srgbClr val="FFFFFF"/>
                    </a:solidFill>
                  </a:tcPr>
                </a:tc>
                <a:tc>
                  <a:txBody>
                    <a:bodyPr/>
                    <a:lstStyle/>
                    <a:p>
                      <a:pPr algn="l"/>
                      <a:r>
                        <a:rPr sz="540" b="0">
                          <a:solidFill>
                            <a:srgbClr val="222222"/>
                          </a:solidFill>
                          <a:latin typeface="맑은 고딕"/>
                        </a:rPr>
                        <a:t>공지 작성</a:t>
                      </a:r>
                    </a:p>
                  </a:txBody>
                  <a:tcPr marL="27432" marR="27432" marT="4572" marB="4572" anchor="ctr">
                    <a:solidFill>
                      <a:srgbClr val="FFFFFF"/>
                    </a:solidFill>
                  </a:tcPr>
                </a:tc>
                <a:tc>
                  <a:txBody>
                    <a:bodyPr/>
                    <a:lstStyle/>
                    <a:p>
                      <a:pPr algn="l"/>
                      <a:r>
                        <a:rPr sz="540" b="0">
                          <a:solidFill>
                            <a:srgbClr val="222222"/>
                          </a:solidFill>
                          <a:latin typeface="맑은 고딕"/>
                        </a:rPr>
                        <a:t>새 공지 버튼으로 공지 작성 모달을 열고 카테고리, 공개 범위, 제목, 내용을 입력한다.</a:t>
                      </a:r>
                    </a:p>
                  </a:txBody>
                  <a:tcPr marL="27432" marR="27432" marT="4572" marB="4572" anchor="ctr">
                    <a:solidFill>
                      <a:srgbClr val="FFFFFF"/>
                    </a:solidFill>
                  </a:tcPr>
                </a:tc>
                <a:tc>
                  <a:txBody>
                    <a:bodyPr/>
                    <a:lstStyle/>
                    <a:p>
                      <a:pPr algn="ctr"/>
                      <a:r>
                        <a:rPr sz="540" b="0">
                          <a:solidFill>
                            <a:srgbClr val="222222"/>
                          </a:solidFill>
                          <a:latin typeface="맑은 고딕"/>
                        </a:rPr>
                        <a:t>등록</a:t>
                      </a:r>
                    </a:p>
                  </a:txBody>
                  <a:tcPr marL="27432" marR="27432" marT="4572" marB="4572" anchor="ctr">
                    <a:solidFill>
                      <a:srgbClr val="FFFFFF"/>
                    </a:solidFill>
                  </a:tcPr>
                </a:tc>
                <a:tc>
                  <a:txBody>
                    <a:bodyPr/>
                    <a:lstStyle/>
                    <a:p>
                      <a:pPr algn="ctr"/>
                      <a:r>
                        <a:rPr sz="540" b="0">
                          <a:solidFill>
                            <a:srgbClr val="222222"/>
                          </a:solidFill>
                          <a:latin typeface="맑은 고딕"/>
                        </a:rPr>
                        <a:t>REQ-WEB-128</a:t>
                      </a:r>
                    </a:p>
                  </a:txBody>
                  <a:tcPr marL="27432" marR="27432" marT="4572" marB="4572" anchor="ctr">
                    <a:solidFill>
                      <a:srgbClr val="FFFFFF"/>
                    </a:solidFill>
                  </a:tcPr>
                </a:tc>
                <a:extLst>
                  <a:ext uri="{0D108BD9-81ED-4DB2-BD59-A6C34878D82A}">
                    <a16:rowId xmlns:a16="http://schemas.microsoft.com/office/drawing/2014/main" val="10005"/>
                  </a:ext>
                </a:extLst>
              </a:tr>
              <a:tr h="267919">
                <a:tc>
                  <a:txBody>
                    <a:bodyPr/>
                    <a:lstStyle/>
                    <a:p>
                      <a:pPr algn="ctr"/>
                      <a:r>
                        <a:rPr sz="540" b="0">
                          <a:solidFill>
                            <a:srgbClr val="222222"/>
                          </a:solidFill>
                          <a:latin typeface="맑은 고딕"/>
                        </a:rPr>
                        <a:t>REQ-WEB-129</a:t>
                      </a:r>
                    </a:p>
                  </a:txBody>
                  <a:tcPr marL="27432" marR="27432" marT="4572" marB="4572" anchor="ctr">
                    <a:solidFill>
                      <a:srgbClr val="EEF3FB"/>
                    </a:solidFill>
                  </a:tcPr>
                </a:tc>
                <a:tc>
                  <a:txBody>
                    <a:bodyPr/>
                    <a:lstStyle/>
                    <a:p>
                      <a:pPr algn="l"/>
                      <a:r>
                        <a:rPr sz="540" b="0">
                          <a:solidFill>
                            <a:srgbClr val="222222"/>
                          </a:solidFill>
                          <a:latin typeface="맑은 고딕"/>
                        </a:rPr>
                        <a:t>공지 수정</a:t>
                      </a:r>
                    </a:p>
                  </a:txBody>
                  <a:tcPr marL="27432" marR="27432" marT="4572" marB="4572" anchor="ctr">
                    <a:solidFill>
                      <a:srgbClr val="EEF3FB"/>
                    </a:solidFill>
                  </a:tcPr>
                </a:tc>
                <a:tc>
                  <a:txBody>
                    <a:bodyPr/>
                    <a:lstStyle/>
                    <a:p>
                      <a:pPr algn="l"/>
                      <a:r>
                        <a:rPr sz="540" b="0">
                          <a:solidFill>
                            <a:srgbClr val="222222"/>
                          </a:solidFill>
                          <a:latin typeface="맑은 고딕"/>
                        </a:rPr>
                        <a:t>공지 목록의 수정 버튼으로 기존 공지를 편집한다.</a:t>
                      </a:r>
                    </a:p>
                  </a:txBody>
                  <a:tcPr marL="27432" marR="27432" marT="4572" marB="4572" anchor="ctr">
                    <a:solidFill>
                      <a:srgbClr val="EEF3FB"/>
                    </a:solidFill>
                  </a:tcPr>
                </a:tc>
                <a:tc>
                  <a:txBody>
                    <a:bodyPr/>
                    <a:lstStyle/>
                    <a:p>
                      <a:pPr algn="ctr"/>
                      <a:r>
                        <a:rPr sz="540" b="0">
                          <a:solidFill>
                            <a:srgbClr val="222222"/>
                          </a:solidFill>
                          <a:latin typeface="맑은 고딕"/>
                        </a:rPr>
                        <a:t>수정</a:t>
                      </a:r>
                    </a:p>
                  </a:txBody>
                  <a:tcPr marL="27432" marR="27432" marT="4572" marB="4572" anchor="ctr">
                    <a:solidFill>
                      <a:srgbClr val="EEF3FB"/>
                    </a:solidFill>
                  </a:tcPr>
                </a:tc>
                <a:tc>
                  <a:txBody>
                    <a:bodyPr/>
                    <a:lstStyle/>
                    <a:p>
                      <a:pPr algn="ctr"/>
                      <a:r>
                        <a:rPr sz="540" b="0">
                          <a:solidFill>
                            <a:srgbClr val="222222"/>
                          </a:solidFill>
                          <a:latin typeface="맑은 고딕"/>
                        </a:rPr>
                        <a:t>REQ-WEB-129</a:t>
                      </a:r>
                    </a:p>
                  </a:txBody>
                  <a:tcPr marL="27432" marR="27432" marT="4572" marB="4572" anchor="ctr">
                    <a:solidFill>
                      <a:srgbClr val="EEF3FB"/>
                    </a:solidFill>
                  </a:tcPr>
                </a:tc>
                <a:extLst>
                  <a:ext uri="{0D108BD9-81ED-4DB2-BD59-A6C34878D82A}">
                    <a16:rowId xmlns:a16="http://schemas.microsoft.com/office/drawing/2014/main" val="10006"/>
                  </a:ext>
                </a:extLst>
              </a:tr>
              <a:tr h="267919">
                <a:tc>
                  <a:txBody>
                    <a:bodyPr/>
                    <a:lstStyle/>
                    <a:p>
                      <a:pPr algn="ctr"/>
                      <a:r>
                        <a:rPr sz="540" b="0">
                          <a:solidFill>
                            <a:srgbClr val="222222"/>
                          </a:solidFill>
                          <a:latin typeface="맑은 고딕"/>
                        </a:rPr>
                        <a:t>REQ-WEB-130</a:t>
                      </a:r>
                    </a:p>
                  </a:txBody>
                  <a:tcPr marL="27432" marR="27432" marT="4572" marB="4572" anchor="ctr">
                    <a:solidFill>
                      <a:srgbClr val="FFFFFF"/>
                    </a:solidFill>
                  </a:tcPr>
                </a:tc>
                <a:tc>
                  <a:txBody>
                    <a:bodyPr/>
                    <a:lstStyle/>
                    <a:p>
                      <a:pPr algn="l"/>
                      <a:r>
                        <a:rPr sz="540" b="0">
                          <a:solidFill>
                            <a:srgbClr val="222222"/>
                          </a:solidFill>
                          <a:latin typeface="맑은 고딕"/>
                        </a:rPr>
                        <a:t>공지 게시 알림 선택</a:t>
                      </a:r>
                    </a:p>
                  </a:txBody>
                  <a:tcPr marL="27432" marR="27432" marT="4572" marB="4572" anchor="ctr">
                    <a:solidFill>
                      <a:srgbClr val="FFFFFF"/>
                    </a:solidFill>
                  </a:tcPr>
                </a:tc>
                <a:tc>
                  <a:txBody>
                    <a:bodyPr/>
                    <a:lstStyle/>
                    <a:p>
                      <a:pPr algn="l"/>
                      <a:r>
                        <a:rPr sz="540" b="0">
                          <a:solidFill>
                            <a:srgbClr val="222222"/>
                          </a:solidFill>
                          <a:latin typeface="맑은 고딕"/>
                        </a:rPr>
                        <a:t>공지 작성/수정 모달에서 게시와 동시에 웹푸시·카카오 알림 발송 여부를 선택한다.</a:t>
                      </a:r>
                    </a:p>
                  </a:txBody>
                  <a:tcPr marL="27432" marR="27432" marT="4572" marB="4572" anchor="ctr">
                    <a:solidFill>
                      <a:srgbClr val="FFFFFF"/>
                    </a:solidFill>
                  </a:tcPr>
                </a:tc>
                <a:tc>
                  <a:txBody>
                    <a:bodyPr/>
                    <a:lstStyle/>
                    <a:p>
                      <a:pPr algn="ctr"/>
                      <a:r>
                        <a:rPr sz="540" b="0">
                          <a:solidFill>
                            <a:srgbClr val="222222"/>
                          </a:solidFill>
                          <a:latin typeface="맑은 고딕"/>
                        </a:rPr>
                        <a:t>알림</a:t>
                      </a:r>
                    </a:p>
                  </a:txBody>
                  <a:tcPr marL="27432" marR="27432" marT="4572" marB="4572" anchor="ctr">
                    <a:solidFill>
                      <a:srgbClr val="FFFFFF"/>
                    </a:solidFill>
                  </a:tcPr>
                </a:tc>
                <a:tc>
                  <a:txBody>
                    <a:bodyPr/>
                    <a:lstStyle/>
                    <a:p>
                      <a:pPr algn="ctr"/>
                      <a:r>
                        <a:rPr sz="540" b="0">
                          <a:solidFill>
                            <a:srgbClr val="222222"/>
                          </a:solidFill>
                          <a:latin typeface="맑은 고딕"/>
                        </a:rPr>
                        <a:t>REQ-WEB-130</a:t>
                      </a:r>
                    </a:p>
                  </a:txBody>
                  <a:tcPr marL="27432" marR="27432" marT="4572" marB="4572" anchor="ctr">
                    <a:solidFill>
                      <a:srgbClr val="FFFFFF"/>
                    </a:solidFill>
                  </a:tcPr>
                </a:tc>
                <a:extLst>
                  <a:ext uri="{0D108BD9-81ED-4DB2-BD59-A6C34878D82A}">
                    <a16:rowId xmlns:a16="http://schemas.microsoft.com/office/drawing/2014/main" val="10007"/>
                  </a:ext>
                </a:extLst>
              </a:tr>
              <a:tr h="267919">
                <a:tc>
                  <a:txBody>
                    <a:bodyPr/>
                    <a:lstStyle/>
                    <a:p>
                      <a:pPr algn="ctr"/>
                      <a:r>
                        <a:rPr sz="540" b="0">
                          <a:solidFill>
                            <a:srgbClr val="222222"/>
                          </a:solidFill>
                          <a:latin typeface="맑은 고딕"/>
                        </a:rPr>
                        <a:t>REQ-WEB-131</a:t>
                      </a:r>
                    </a:p>
                  </a:txBody>
                  <a:tcPr marL="27432" marR="27432" marT="4572" marB="4572" anchor="ctr">
                    <a:solidFill>
                      <a:srgbClr val="EEF3FB"/>
                    </a:solidFill>
                  </a:tcPr>
                </a:tc>
                <a:tc>
                  <a:txBody>
                    <a:bodyPr/>
                    <a:lstStyle/>
                    <a:p>
                      <a:pPr algn="l"/>
                      <a:r>
                        <a:rPr sz="540" b="0">
                          <a:solidFill>
                            <a:srgbClr val="222222"/>
                          </a:solidFill>
                          <a:latin typeface="맑은 고딕"/>
                        </a:rPr>
                        <a:t>공지 임시 저장</a:t>
                      </a:r>
                    </a:p>
                  </a:txBody>
                  <a:tcPr marL="27432" marR="27432" marT="4572" marB="4572" anchor="ctr">
                    <a:solidFill>
                      <a:srgbClr val="EEF3FB"/>
                    </a:solidFill>
                  </a:tcPr>
                </a:tc>
                <a:tc>
                  <a:txBody>
                    <a:bodyPr/>
                    <a:lstStyle/>
                    <a:p>
                      <a:pPr algn="l"/>
                      <a:r>
                        <a:rPr sz="540" b="0">
                          <a:solidFill>
                            <a:srgbClr val="222222"/>
                          </a:solidFill>
                          <a:latin typeface="맑은 고딕"/>
                        </a:rPr>
                        <a:t>공지 작성/수정 모달에서 임시 저장을 수행한다.</a:t>
                      </a:r>
                    </a:p>
                  </a:txBody>
                  <a:tcPr marL="27432" marR="27432" marT="4572" marB="4572" anchor="ctr">
                    <a:solidFill>
                      <a:srgbClr val="EEF3FB"/>
                    </a:solidFill>
                  </a:tcPr>
                </a:tc>
                <a:tc>
                  <a:txBody>
                    <a:bodyPr/>
                    <a:lstStyle/>
                    <a:p>
                      <a:pPr algn="ctr"/>
                      <a:r>
                        <a:rPr sz="540" b="0">
                          <a:solidFill>
                            <a:srgbClr val="222222"/>
                          </a:solidFill>
                          <a:latin typeface="맑은 고딕"/>
                        </a:rPr>
                        <a:t>저장</a:t>
                      </a:r>
                    </a:p>
                  </a:txBody>
                  <a:tcPr marL="27432" marR="27432" marT="4572" marB="4572" anchor="ctr">
                    <a:solidFill>
                      <a:srgbClr val="EEF3FB"/>
                    </a:solidFill>
                  </a:tcPr>
                </a:tc>
                <a:tc>
                  <a:txBody>
                    <a:bodyPr/>
                    <a:lstStyle/>
                    <a:p>
                      <a:pPr algn="ctr"/>
                      <a:r>
                        <a:rPr sz="540" b="0">
                          <a:solidFill>
                            <a:srgbClr val="222222"/>
                          </a:solidFill>
                          <a:latin typeface="맑은 고딕"/>
                        </a:rPr>
                        <a:t>REQ-WEB-131</a:t>
                      </a:r>
                    </a:p>
                  </a:txBody>
                  <a:tcPr marL="27432" marR="27432" marT="4572" marB="4572" anchor="ctr">
                    <a:solidFill>
                      <a:srgbClr val="EEF3FB"/>
                    </a:solidFill>
                  </a:tcPr>
                </a:tc>
                <a:extLst>
                  <a:ext uri="{0D108BD9-81ED-4DB2-BD59-A6C34878D82A}">
                    <a16:rowId xmlns:a16="http://schemas.microsoft.com/office/drawing/2014/main" val="10008"/>
                  </a:ext>
                </a:extLst>
              </a:tr>
              <a:tr h="267919">
                <a:tc>
                  <a:txBody>
                    <a:bodyPr/>
                    <a:lstStyle/>
                    <a:p>
                      <a:pPr algn="ctr"/>
                      <a:r>
                        <a:rPr sz="540" b="0">
                          <a:solidFill>
                            <a:srgbClr val="222222"/>
                          </a:solidFill>
                          <a:latin typeface="맑은 고딕"/>
                        </a:rPr>
                        <a:t>REQ-WEB-132</a:t>
                      </a:r>
                    </a:p>
                  </a:txBody>
                  <a:tcPr marL="27432" marR="27432" marT="4572" marB="4572" anchor="ctr">
                    <a:solidFill>
                      <a:srgbClr val="FFFFFF"/>
                    </a:solidFill>
                  </a:tcPr>
                </a:tc>
                <a:tc>
                  <a:txBody>
                    <a:bodyPr/>
                    <a:lstStyle/>
                    <a:p>
                      <a:pPr algn="l"/>
                      <a:r>
                        <a:rPr sz="540" b="0">
                          <a:solidFill>
                            <a:srgbClr val="222222"/>
                          </a:solidFill>
                          <a:latin typeface="맑은 고딕"/>
                        </a:rPr>
                        <a:t>공지 보관/삭제 확인</a:t>
                      </a:r>
                    </a:p>
                  </a:txBody>
                  <a:tcPr marL="27432" marR="27432" marT="4572" marB="4572" anchor="ctr">
                    <a:solidFill>
                      <a:srgbClr val="FFFFFF"/>
                    </a:solidFill>
                  </a:tcPr>
                </a:tc>
                <a:tc>
                  <a:txBody>
                    <a:bodyPr/>
                    <a:lstStyle/>
                    <a:p>
                      <a:pPr algn="l"/>
                      <a:r>
                        <a:rPr sz="540" b="0">
                          <a:solidFill>
                            <a:srgbClr val="222222"/>
                          </a:solidFill>
                          <a:latin typeface="맑은 고딕"/>
                        </a:rPr>
                        <a:t>공지 목록의 보관 또는 삭제 동작에서 확인 모달을 표시한다.</a:t>
                      </a:r>
                    </a:p>
                  </a:txBody>
                  <a:tcPr marL="27432" marR="27432" marT="4572" marB="4572" anchor="ctr">
                    <a:solidFill>
                      <a:srgbClr val="FFFFFF"/>
                    </a:solidFill>
                  </a:tcPr>
                </a:tc>
                <a:tc>
                  <a:txBody>
                    <a:bodyPr/>
                    <a:lstStyle/>
                    <a:p>
                      <a:pPr algn="ctr"/>
                      <a:r>
                        <a:rPr sz="540" b="0">
                          <a:solidFill>
                            <a:srgbClr val="222222"/>
                          </a:solidFill>
                          <a:latin typeface="맑은 고딕"/>
                        </a:rPr>
                        <a:t>삭제</a:t>
                      </a:r>
                    </a:p>
                  </a:txBody>
                  <a:tcPr marL="27432" marR="27432" marT="4572" marB="4572" anchor="ctr">
                    <a:solidFill>
                      <a:srgbClr val="FFFFFF"/>
                    </a:solidFill>
                  </a:tcPr>
                </a:tc>
                <a:tc>
                  <a:txBody>
                    <a:bodyPr/>
                    <a:lstStyle/>
                    <a:p>
                      <a:pPr algn="ctr"/>
                      <a:r>
                        <a:rPr sz="540" b="0">
                          <a:solidFill>
                            <a:srgbClr val="222222"/>
                          </a:solidFill>
                          <a:latin typeface="맑은 고딕"/>
                        </a:rPr>
                        <a:t>REQ-WEB-132</a:t>
                      </a:r>
                    </a:p>
                  </a:txBody>
                  <a:tcPr marL="27432" marR="27432" marT="4572" marB="4572" anchor="ctr">
                    <a:solidFill>
                      <a:srgbClr val="FFFFFF"/>
                    </a:solidFill>
                  </a:tcPr>
                </a:tc>
                <a:extLst>
                  <a:ext uri="{0D108BD9-81ED-4DB2-BD59-A6C34878D82A}">
                    <a16:rowId xmlns:a16="http://schemas.microsoft.com/office/drawing/2014/main" val="10009"/>
                  </a:ext>
                </a:extLst>
              </a:tr>
              <a:tr h="267919">
                <a:tc>
                  <a:txBody>
                    <a:bodyPr/>
                    <a:lstStyle/>
                    <a:p>
                      <a:pPr algn="ctr"/>
                      <a:r>
                        <a:rPr sz="540" b="0">
                          <a:solidFill>
                            <a:srgbClr val="222222"/>
                          </a:solidFill>
                          <a:latin typeface="맑은 고딕"/>
                        </a:rPr>
                        <a:t>REQ-WEB-133</a:t>
                      </a:r>
                    </a:p>
                  </a:txBody>
                  <a:tcPr marL="27432" marR="27432" marT="4572" marB="4572" anchor="ctr">
                    <a:solidFill>
                      <a:srgbClr val="EEF3FB"/>
                    </a:solidFill>
                  </a:tcPr>
                </a:tc>
                <a:tc>
                  <a:txBody>
                    <a:bodyPr/>
                    <a:lstStyle/>
                    <a:p>
                      <a:pPr algn="l"/>
                      <a:r>
                        <a:rPr sz="540" b="0">
                          <a:solidFill>
                            <a:srgbClr val="222222"/>
                          </a:solidFill>
                          <a:latin typeface="맑은 고딕"/>
                        </a:rPr>
                        <a:t>감사 로그 목록 확인</a:t>
                      </a:r>
                    </a:p>
                  </a:txBody>
                  <a:tcPr marL="27432" marR="27432" marT="4572" marB="4572" anchor="ctr">
                    <a:solidFill>
                      <a:srgbClr val="EEF3FB"/>
                    </a:solidFill>
                  </a:tcPr>
                </a:tc>
                <a:tc>
                  <a:txBody>
                    <a:bodyPr/>
                    <a:lstStyle/>
                    <a:p>
                      <a:pPr algn="l"/>
                      <a:r>
                        <a:rPr sz="540" b="0">
                          <a:solidFill>
                            <a:srgbClr val="222222"/>
                          </a:solidFill>
                          <a:latin typeface="맑은 고딕"/>
                        </a:rPr>
                        <a:t>감사 로그 화면에서 시간, 관리자, 행위, 대상, 변경 내용을 확인한다.</a:t>
                      </a:r>
                    </a:p>
                  </a:txBody>
                  <a:tcPr marL="27432" marR="27432" marT="4572" marB="4572" anchor="ctr">
                    <a:solidFill>
                      <a:srgbClr val="EEF3FB"/>
                    </a:solidFill>
                  </a:tcPr>
                </a:tc>
                <a:tc>
                  <a:txBody>
                    <a:bodyPr/>
                    <a:lstStyle/>
                    <a:p>
                      <a:pPr algn="ctr"/>
                      <a:r>
                        <a:rPr sz="540" b="0">
                          <a:solidFill>
                            <a:srgbClr val="222222"/>
                          </a:solidFill>
                          <a:latin typeface="맑은 고딕"/>
                        </a:rPr>
                        <a:t>감사</a:t>
                      </a:r>
                    </a:p>
                  </a:txBody>
                  <a:tcPr marL="27432" marR="27432" marT="4572" marB="4572" anchor="ctr">
                    <a:solidFill>
                      <a:srgbClr val="EEF3FB"/>
                    </a:solidFill>
                  </a:tcPr>
                </a:tc>
                <a:tc>
                  <a:txBody>
                    <a:bodyPr/>
                    <a:lstStyle/>
                    <a:p>
                      <a:pPr algn="ctr"/>
                      <a:r>
                        <a:rPr sz="540" b="0">
                          <a:solidFill>
                            <a:srgbClr val="222222"/>
                          </a:solidFill>
                          <a:latin typeface="맑은 고딕"/>
                        </a:rPr>
                        <a:t>REQ-WEB-133</a:t>
                      </a:r>
                    </a:p>
                  </a:txBody>
                  <a:tcPr marL="27432" marR="27432" marT="4572" marB="4572" anchor="ctr">
                    <a:solidFill>
                      <a:srgbClr val="EEF3FB"/>
                    </a:solidFill>
                  </a:tcPr>
                </a:tc>
                <a:extLst>
                  <a:ext uri="{0D108BD9-81ED-4DB2-BD59-A6C34878D82A}">
                    <a16:rowId xmlns:a16="http://schemas.microsoft.com/office/drawing/2014/main" val="10010"/>
                  </a:ext>
                </a:extLst>
              </a:tr>
              <a:tr h="267919">
                <a:tc>
                  <a:txBody>
                    <a:bodyPr/>
                    <a:lstStyle/>
                    <a:p>
                      <a:pPr algn="ctr"/>
                      <a:r>
                        <a:rPr sz="540" b="0">
                          <a:solidFill>
                            <a:srgbClr val="222222"/>
                          </a:solidFill>
                          <a:latin typeface="맑은 고딕"/>
                        </a:rPr>
                        <a:t>REQ-WEB-134</a:t>
                      </a:r>
                    </a:p>
                  </a:txBody>
                  <a:tcPr marL="27432" marR="27432" marT="4572" marB="4572" anchor="ctr">
                    <a:solidFill>
                      <a:srgbClr val="FFFFFF"/>
                    </a:solidFill>
                  </a:tcPr>
                </a:tc>
                <a:tc>
                  <a:txBody>
                    <a:bodyPr/>
                    <a:lstStyle/>
                    <a:p>
                      <a:pPr algn="l"/>
                      <a:r>
                        <a:rPr sz="540" b="0">
                          <a:solidFill>
                            <a:srgbClr val="222222"/>
                          </a:solidFill>
                          <a:latin typeface="맑은 고딕"/>
                        </a:rPr>
                        <a:t>감사 로그 필터</a:t>
                      </a:r>
                    </a:p>
                  </a:txBody>
                  <a:tcPr marL="27432" marR="27432" marT="4572" marB="4572" anchor="ctr">
                    <a:solidFill>
                      <a:srgbClr val="FFFFFF"/>
                    </a:solidFill>
                  </a:tcPr>
                </a:tc>
                <a:tc>
                  <a:txBody>
                    <a:bodyPr/>
                    <a:lstStyle/>
                    <a:p>
                      <a:pPr algn="l"/>
                      <a:r>
                        <a:rPr sz="540" b="0">
                          <a:solidFill>
                            <a:srgbClr val="222222"/>
                          </a:solidFill>
                          <a:latin typeface="맑은 고딕"/>
                        </a:rPr>
                        <a:t>감사 로그 화면에서 기간, 행위, 대상 기준 필터를 선택한다.</a:t>
                      </a:r>
                    </a:p>
                  </a:txBody>
                  <a:tcPr marL="27432" marR="27432" marT="4572" marB="4572" anchor="ctr">
                    <a:solidFill>
                      <a:srgbClr val="FFFFFF"/>
                    </a:solidFill>
                  </a:tcPr>
                </a:tc>
                <a:tc>
                  <a:txBody>
                    <a:bodyPr/>
                    <a:lstStyle/>
                    <a:p>
                      <a:pPr algn="ctr"/>
                      <a:r>
                        <a:rPr sz="540" b="0">
                          <a:solidFill>
                            <a:srgbClr val="222222"/>
                          </a:solidFill>
                          <a:latin typeface="맑은 고딕"/>
                        </a:rPr>
                        <a:t>필터</a:t>
                      </a:r>
                    </a:p>
                  </a:txBody>
                  <a:tcPr marL="27432" marR="27432" marT="4572" marB="4572" anchor="ctr">
                    <a:solidFill>
                      <a:srgbClr val="FFFFFF"/>
                    </a:solidFill>
                  </a:tcPr>
                </a:tc>
                <a:tc>
                  <a:txBody>
                    <a:bodyPr/>
                    <a:lstStyle/>
                    <a:p>
                      <a:pPr algn="ctr"/>
                      <a:r>
                        <a:rPr sz="540" b="0">
                          <a:solidFill>
                            <a:srgbClr val="222222"/>
                          </a:solidFill>
                          <a:latin typeface="맑은 고딕"/>
                        </a:rPr>
                        <a:t>REQ-WEB-134</a:t>
                      </a:r>
                    </a:p>
                  </a:txBody>
                  <a:tcPr marL="27432" marR="27432" marT="4572" marB="4572" anchor="ctr">
                    <a:solidFill>
                      <a:srgbClr val="FFFFFF"/>
                    </a:solidFill>
                  </a:tcPr>
                </a:tc>
                <a:extLst>
                  <a:ext uri="{0D108BD9-81ED-4DB2-BD59-A6C34878D82A}">
                    <a16:rowId xmlns:a16="http://schemas.microsoft.com/office/drawing/2014/main" val="10011"/>
                  </a:ext>
                </a:extLst>
              </a:tr>
              <a:tr h="267919">
                <a:tc>
                  <a:txBody>
                    <a:bodyPr/>
                    <a:lstStyle/>
                    <a:p>
                      <a:pPr algn="ctr"/>
                      <a:r>
                        <a:rPr sz="540" b="0">
                          <a:solidFill>
                            <a:srgbClr val="222222"/>
                          </a:solidFill>
                          <a:latin typeface="맑은 고딕"/>
                        </a:rPr>
                        <a:t>REQ-WEB-135</a:t>
                      </a:r>
                    </a:p>
                  </a:txBody>
                  <a:tcPr marL="27432" marR="27432" marT="4572" marB="4572" anchor="ctr">
                    <a:solidFill>
                      <a:srgbClr val="EEF3FB"/>
                    </a:solidFill>
                  </a:tcPr>
                </a:tc>
                <a:tc>
                  <a:txBody>
                    <a:bodyPr/>
                    <a:lstStyle/>
                    <a:p>
                      <a:pPr algn="l"/>
                      <a:r>
                        <a:rPr sz="540" b="0">
                          <a:solidFill>
                            <a:srgbClr val="222222"/>
                          </a:solidFill>
                          <a:latin typeface="맑은 고딕"/>
                        </a:rPr>
                        <a:t>감사 로그 상세 확인</a:t>
                      </a:r>
                    </a:p>
                  </a:txBody>
                  <a:tcPr marL="27432" marR="27432" marT="4572" marB="4572" anchor="ctr">
                    <a:solidFill>
                      <a:srgbClr val="EEF3FB"/>
                    </a:solidFill>
                  </a:tcPr>
                </a:tc>
                <a:tc>
                  <a:txBody>
                    <a:bodyPr/>
                    <a:lstStyle/>
                    <a:p>
                      <a:pPr algn="l"/>
                      <a:r>
                        <a:rPr sz="540" b="0">
                          <a:solidFill>
                            <a:srgbClr val="222222"/>
                          </a:solidFill>
                          <a:latin typeface="맑은 고딕"/>
                        </a:rPr>
                        <a:t>감사 로그 행을 클릭해 변경 전후 값과 사유를 확인한다.</a:t>
                      </a:r>
                    </a:p>
                  </a:txBody>
                  <a:tcPr marL="27432" marR="27432" marT="4572" marB="4572" anchor="ctr">
                    <a:solidFill>
                      <a:srgbClr val="EEF3FB"/>
                    </a:solidFill>
                  </a:tcPr>
                </a:tc>
                <a:tc>
                  <a:txBody>
                    <a:bodyPr/>
                    <a:lstStyle/>
                    <a:p>
                      <a:pPr algn="ctr"/>
                      <a:r>
                        <a:rPr sz="540" b="0">
                          <a:solidFill>
                            <a:srgbClr val="222222"/>
                          </a:solidFill>
                          <a:latin typeface="맑은 고딕"/>
                        </a:rPr>
                        <a:t>상세</a:t>
                      </a:r>
                    </a:p>
                  </a:txBody>
                  <a:tcPr marL="27432" marR="27432" marT="4572" marB="4572" anchor="ctr">
                    <a:solidFill>
                      <a:srgbClr val="EEF3FB"/>
                    </a:solidFill>
                  </a:tcPr>
                </a:tc>
                <a:tc>
                  <a:txBody>
                    <a:bodyPr/>
                    <a:lstStyle/>
                    <a:p>
                      <a:pPr algn="ctr"/>
                      <a:r>
                        <a:rPr sz="540" b="0">
                          <a:solidFill>
                            <a:srgbClr val="222222"/>
                          </a:solidFill>
                          <a:latin typeface="맑은 고딕"/>
                        </a:rPr>
                        <a:t>REQ-WEB-135</a:t>
                      </a:r>
                    </a:p>
                  </a:txBody>
                  <a:tcPr marL="27432" marR="27432" marT="4572" marB="4572" anchor="ctr">
                    <a:solidFill>
                      <a:srgbClr val="EEF3FB"/>
                    </a:solidFill>
                  </a:tcPr>
                </a:tc>
                <a:extLst>
                  <a:ext uri="{0D108BD9-81ED-4DB2-BD59-A6C34878D82A}">
                    <a16:rowId xmlns:a16="http://schemas.microsoft.com/office/drawing/2014/main" val="10012"/>
                  </a:ext>
                </a:extLst>
              </a:tr>
              <a:tr h="267919">
                <a:tc>
                  <a:txBody>
                    <a:bodyPr/>
                    <a:lstStyle/>
                    <a:p>
                      <a:pPr algn="ctr"/>
                      <a:r>
                        <a:rPr sz="540" b="0">
                          <a:solidFill>
                            <a:srgbClr val="222222"/>
                          </a:solidFill>
                          <a:latin typeface="맑은 고딕"/>
                        </a:rPr>
                        <a:t>REQ-WEB-136</a:t>
                      </a:r>
                    </a:p>
                  </a:txBody>
                  <a:tcPr marL="27432" marR="27432" marT="4572" marB="4572" anchor="ctr">
                    <a:solidFill>
                      <a:srgbClr val="FFFFFF"/>
                    </a:solidFill>
                  </a:tcPr>
                </a:tc>
                <a:tc>
                  <a:txBody>
                    <a:bodyPr/>
                    <a:lstStyle/>
                    <a:p>
                      <a:pPr algn="l"/>
                      <a:r>
                        <a:rPr sz="540" b="0">
                          <a:solidFill>
                            <a:srgbClr val="222222"/>
                          </a:solidFill>
                          <a:latin typeface="맑은 고딕"/>
                        </a:rPr>
                        <a:t>감사 로그 수정/삭제 차단</a:t>
                      </a:r>
                    </a:p>
                  </a:txBody>
                  <a:tcPr marL="27432" marR="27432" marT="4572" marB="4572" anchor="ctr">
                    <a:solidFill>
                      <a:srgbClr val="FFFFFF"/>
                    </a:solidFill>
                  </a:tcPr>
                </a:tc>
                <a:tc>
                  <a:txBody>
                    <a:bodyPr/>
                    <a:lstStyle/>
                    <a:p>
                      <a:pPr algn="l"/>
                      <a:r>
                        <a:rPr sz="540" b="0">
                          <a:solidFill>
                            <a:srgbClr val="222222"/>
                          </a:solidFill>
                          <a:latin typeface="맑은 고딕"/>
                        </a:rPr>
                        <a:t>감사 로그 상세에서 수정·삭제 불가 상태와 보존 안내를 확인한다.</a:t>
                      </a:r>
                    </a:p>
                  </a:txBody>
                  <a:tcPr marL="27432" marR="27432" marT="4572" marB="4572" anchor="ctr">
                    <a:solidFill>
                      <a:srgbClr val="FFFFFF"/>
                    </a:solidFill>
                  </a:tcPr>
                </a:tc>
                <a:tc>
                  <a:txBody>
                    <a:bodyPr/>
                    <a:lstStyle/>
                    <a:p>
                      <a:pPr algn="ctr"/>
                      <a:r>
                        <a:rPr sz="540" b="0">
                          <a:solidFill>
                            <a:srgbClr val="222222"/>
                          </a:solidFill>
                          <a:latin typeface="맑은 고딕"/>
                        </a:rPr>
                        <a:t>감사</a:t>
                      </a:r>
                    </a:p>
                  </a:txBody>
                  <a:tcPr marL="27432" marR="27432" marT="4572" marB="4572" anchor="ctr">
                    <a:solidFill>
                      <a:srgbClr val="FFFFFF"/>
                    </a:solidFill>
                  </a:tcPr>
                </a:tc>
                <a:tc>
                  <a:txBody>
                    <a:bodyPr/>
                    <a:lstStyle/>
                    <a:p>
                      <a:pPr algn="ctr"/>
                      <a:r>
                        <a:rPr sz="540" b="0">
                          <a:solidFill>
                            <a:srgbClr val="222222"/>
                          </a:solidFill>
                          <a:latin typeface="맑은 고딕"/>
                        </a:rPr>
                        <a:t>REQ-WEB-136</a:t>
                      </a:r>
                    </a:p>
                  </a:txBody>
                  <a:tcPr marL="27432" marR="27432" marT="4572" marB="4572" anchor="ctr">
                    <a:solidFill>
                      <a:srgbClr val="FFFFFF"/>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75656149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직사각형 16"/>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직선 연결선 17"/>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 name="직선 연결선 22"/>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4"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None/>
            </a:pPr>
            <a:r>
              <a:rPr lang="en-US" altLang="ko-KR" sz="1700" b="1" dirty="0">
                <a:solidFill>
                  <a:schemeClr val="bg1"/>
                </a:solidFill>
                <a:latin typeface="+mn-ea"/>
                <a:cs typeface="+mj-cs"/>
              </a:rPr>
              <a:t>| </a:t>
            </a:r>
            <a:r>
              <a:rPr lang="ko-KR" altLang="en-US" sz="1700" b="1" dirty="0">
                <a:solidFill>
                  <a:schemeClr val="bg1"/>
                </a:solidFill>
                <a:latin typeface="+mn-ea"/>
                <a:cs typeface="+mj-cs"/>
              </a:rPr>
              <a:t>테이블 정의서</a:t>
            </a:r>
          </a:p>
        </p:txBody>
      </p:sp>
      <p:pic>
        <p:nvPicPr>
          <p:cNvPr id="29"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0" name="막힌 원호 29"/>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2" name="그림 1">
            <a:extLst>
              <a:ext uri="{FF2B5EF4-FFF2-40B4-BE49-F238E27FC236}">
                <a16:creationId xmlns:a16="http://schemas.microsoft.com/office/drawing/2014/main" id="{AE311E42-8094-1ED2-BF9F-D52B09934D67}"/>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501" name="TB501"/>
          <p:cNvSpPr txBox="1"/>
          <p:nvPr/>
        </p:nvSpPr>
        <p:spPr>
          <a:xfrm>
            <a:off x="402336" y="1463040"/>
            <a:ext cx="8229600" cy="292608"/>
          </a:xfrm>
          <a:prstGeom prst="rect">
            <a:avLst/>
          </a:prstGeom>
          <a:noFill/>
          <a:ln>
            <a:noFill/>
          </a:ln>
        </p:spPr>
        <p:txBody>
          <a:bodyPr wrap="square" lIns="0" tIns="0" rIns="0" bIns="0" anchor="ctr">
            <a:noAutofit/>
          </a:bodyPr>
          <a:lstStyle/>
          <a:p>
            <a:pPr algn="l"/>
            <a:r>
              <a:rPr lang="ko-KR" altLang="en-US" sz="1300" dirty="0">
                <a:solidFill>
                  <a:srgbClr val="2563EB"/>
                </a:solidFill>
                <a:latin typeface="맑은 고딕"/>
                <a:ea typeface="맑은 고딕"/>
              </a:rPr>
              <a:t>▍ </a:t>
            </a:r>
            <a:r>
              <a:rPr lang="ko-KR" altLang="en-US" sz="1300" b="1" dirty="0">
                <a:solidFill>
                  <a:srgbClr val="2A2A2A"/>
                </a:solidFill>
                <a:latin typeface="맑은 고딕"/>
                <a:ea typeface="맑은 고딕"/>
              </a:rPr>
              <a:t>① user_info / device_info</a:t>
            </a:r>
          </a:p>
        </p:txBody>
      </p:sp>
      <p:sp>
        <p:nvSpPr>
          <p:cNvPr id="502" name="TB502"/>
          <p:cNvSpPr txBox="1"/>
          <p:nvPr/>
        </p:nvSpPr>
        <p:spPr>
          <a:xfrm>
            <a:off x="222199" y="1847088"/>
            <a:ext cx="4291279" cy="237744"/>
          </a:xfrm>
          <a:prstGeom prst="rect">
            <a:avLst/>
          </a:prstGeom>
          <a:noFill/>
          <a:ln>
            <a:noFill/>
          </a:ln>
        </p:spPr>
        <p:txBody>
          <a:bodyPr wrap="square" lIns="0" tIns="0" rIns="0" bIns="0" anchor="b">
            <a:noAutofit/>
          </a:bodyPr>
          <a:lstStyle/>
          <a:p>
            <a:pPr algn="l"/>
            <a:r>
              <a:rPr lang="ko-KR" altLang="en-US" sz="1200" b="1" dirty="0">
                <a:solidFill>
                  <a:srgbClr val="3B5AA8"/>
                </a:solidFill>
                <a:latin typeface="맑은 고딕"/>
                <a:ea typeface="맑은 고딕"/>
              </a:rPr>
              <a:t>user_info (사용자 계정)</a:t>
            </a:r>
          </a:p>
        </p:txBody>
      </p:sp>
      <p:graphicFrame>
        <p:nvGraphicFramePr>
          <p:cNvPr id="503" name="Tbl503"/>
          <p:cNvGraphicFramePr>
            <a:graphicFrameLocks noGrp="1"/>
          </p:cNvGraphicFramePr>
          <p:nvPr/>
        </p:nvGraphicFramePr>
        <p:xfrm>
          <a:off x="222199" y="2121408"/>
          <a:ext cx="4291280" cy="3179520"/>
        </p:xfrm>
        <a:graphic>
          <a:graphicData uri="http://schemas.openxmlformats.org/drawingml/2006/table">
            <a:tbl>
              <a:tblPr firstRow="1"/>
              <a:tblGrid>
                <a:gridCol w="1117635">
                  <a:extLst>
                    <a:ext uri="{9D8B030D-6E8A-4147-A177-3AD203B41FA5}">
                      <a16:colId xmlns:a16="http://schemas.microsoft.com/office/drawing/2014/main" val="20000"/>
                    </a:ext>
                  </a:extLst>
                </a:gridCol>
                <a:gridCol w="974044">
                  <a:extLst>
                    <a:ext uri="{9D8B030D-6E8A-4147-A177-3AD203B41FA5}">
                      <a16:colId xmlns:a16="http://schemas.microsoft.com/office/drawing/2014/main" val="20001"/>
                    </a:ext>
                  </a:extLst>
                </a:gridCol>
                <a:gridCol w="469187">
                  <a:extLst>
                    <a:ext uri="{9D8B030D-6E8A-4147-A177-3AD203B41FA5}">
                      <a16:colId xmlns:a16="http://schemas.microsoft.com/office/drawing/2014/main" val="20002"/>
                    </a:ext>
                  </a:extLst>
                </a:gridCol>
                <a:gridCol w="612779">
                  <a:extLst>
                    <a:ext uri="{9D8B030D-6E8A-4147-A177-3AD203B41FA5}">
                      <a16:colId xmlns:a16="http://schemas.microsoft.com/office/drawing/2014/main" val="20003"/>
                    </a:ext>
                  </a:extLst>
                </a:gridCol>
                <a:gridCol w="1117635">
                  <a:extLst>
                    <a:ext uri="{9D8B030D-6E8A-4147-A177-3AD203B41FA5}">
                      <a16:colId xmlns:a16="http://schemas.microsoft.com/office/drawing/2014/main" val="20004"/>
                    </a:ext>
                  </a:extLst>
                </a:gridCol>
              </a:tblGrid>
              <a:tr h="274320">
                <a:tc>
                  <a:txBody>
                    <a:bodyPr/>
                    <a:lstStyle/>
                    <a:p>
                      <a:pPr algn="ctr"/>
                      <a:r>
                        <a:rPr lang="ko-KR" altLang="en-US" sz="900" b="1">
                          <a:solidFill>
                            <a:srgbClr val="FFFFFF"/>
                          </a:solidFill>
                          <a:latin typeface="맑은 고딕"/>
                        </a:rPr>
                        <a:t>항목명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Type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PK/FK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필수/선택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설명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extLst>
                  <a:ext uri="{0D108BD9-81ED-4DB2-BD59-A6C34878D82A}">
                    <a16:rowId xmlns:a16="http://schemas.microsoft.com/office/drawing/2014/main" val="10000"/>
                  </a:ext>
                </a:extLst>
              </a:tr>
              <a:tr h="274320">
                <a:tc>
                  <a:txBody>
                    <a:bodyPr/>
                    <a:lstStyle/>
                    <a:p>
                      <a:pPr algn="ctr"/>
                      <a:r>
                        <a:rPr lang="ko-KR" altLang="en-US" sz="850" b="0">
                          <a:solidFill>
                            <a:srgbClr val="222222"/>
                          </a:solidFill>
                          <a:latin typeface="맑은 고딕"/>
                        </a:rPr>
                        <a:t>user_id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INT(11)</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PK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사용자 고유 식별자</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1"/>
                  </a:ext>
                </a:extLst>
              </a:tr>
              <a:tr h="274320">
                <a:tc>
                  <a:txBody>
                    <a:bodyPr/>
                    <a:lstStyle/>
                    <a:p>
                      <a:pPr algn="ctr"/>
                      <a:r>
                        <a:rPr lang="ko-KR" altLang="en-US" sz="850" b="0">
                          <a:solidFill>
                            <a:srgbClr val="222222"/>
                          </a:solidFill>
                          <a:latin typeface="맑은 고딕"/>
                        </a:rPr>
                        <a:t>user_email</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VARCHAR(100)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로그인 이메일(중복 불가)</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2"/>
                  </a:ext>
                </a:extLst>
              </a:tr>
              <a:tr h="274320">
                <a:tc>
                  <a:txBody>
                    <a:bodyPr/>
                    <a:lstStyle/>
                    <a:p>
                      <a:pPr algn="ctr"/>
                      <a:r>
                        <a:rPr lang="ko-KR" altLang="en-US" sz="850" b="0">
                          <a:solidFill>
                            <a:srgbClr val="222222"/>
                          </a:solidFill>
                          <a:latin typeface="맑은 고딕"/>
                        </a:rPr>
                        <a:t>user_pwd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VARCHAR(200)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비밀번호 해시값</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3"/>
                  </a:ext>
                </a:extLst>
              </a:tr>
              <a:tr h="274320">
                <a:tc>
                  <a:txBody>
                    <a:bodyPr/>
                    <a:lstStyle/>
                    <a:p>
                      <a:pPr algn="ctr"/>
                      <a:r>
                        <a:rPr lang="ko-KR" altLang="en-US" sz="850" b="0">
                          <a:solidFill>
                            <a:srgbClr val="222222"/>
                          </a:solidFill>
                          <a:latin typeface="맑은 고딕"/>
                        </a:rPr>
                        <a:t>user_name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VARCHAR(30)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사용자 이름</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4"/>
                  </a:ext>
                </a:extLst>
              </a:tr>
              <a:tr h="274320">
                <a:tc>
                  <a:txBody>
                    <a:bodyPr/>
                    <a:lstStyle/>
                    <a:p>
                      <a:pPr algn="ctr"/>
                      <a:r>
                        <a:rPr lang="ko-KR" altLang="en-US" sz="850" b="0">
                          <a:solidFill>
                            <a:srgbClr val="222222"/>
                          </a:solidFill>
                          <a:latin typeface="맑은 고딕"/>
                        </a:rPr>
                        <a:t>user_phone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VARCHAR(20)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연락처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5"/>
                  </a:ext>
                </a:extLst>
              </a:tr>
              <a:tr h="274320">
                <a:tc>
                  <a:txBody>
                    <a:bodyPr/>
                    <a:lstStyle/>
                    <a:p>
                      <a:pPr algn="ctr"/>
                      <a:r>
                        <a:rPr lang="ko-KR" altLang="en-US" sz="850" b="0">
                          <a:solidFill>
                            <a:srgbClr val="222222"/>
                          </a:solidFill>
                          <a:latin typeface="맑은 고딕"/>
                        </a:rPr>
                        <a:t>user_role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VARCHAR(10)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USER/ADMIN 권한 구분</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6"/>
                  </a:ext>
                </a:extLst>
              </a:tr>
              <a:tr h="274320">
                <a:tc>
                  <a:txBody>
                    <a:bodyPr/>
                    <a:lstStyle/>
                    <a:p>
                      <a:pPr algn="ctr"/>
                      <a:r>
                        <a:rPr lang="ko-KR" altLang="en-US" sz="850" b="0">
                          <a:solidFill>
                            <a:srgbClr val="222222"/>
                          </a:solidFill>
                          <a:latin typeface="맑은 고딕"/>
                        </a:rPr>
                        <a:t>login_api_type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VARCHAR(10)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LOCAL/GOOGLE 로그인 방식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7"/>
                  </a:ext>
                </a:extLst>
              </a:tr>
              <a:tr h="274320">
                <a:tc>
                  <a:txBody>
                    <a:bodyPr/>
                    <a:lstStyle/>
                    <a:p>
                      <a:pPr algn="ctr"/>
                      <a:r>
                        <a:rPr lang="ko-KR" altLang="en-US" sz="850" b="0">
                          <a:solidFill>
                            <a:srgbClr val="222222"/>
                          </a:solidFill>
                          <a:latin typeface="맑은 고딕"/>
                        </a:rPr>
                        <a:t>status</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VARCHAR(10)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ACTIVE/SUSPENDED 상태</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8"/>
                  </a:ext>
                </a:extLst>
              </a:tr>
              <a:tr h="274320">
                <a:tc>
                  <a:txBody>
                    <a:bodyPr/>
                    <a:lstStyle/>
                    <a:p>
                      <a:pPr algn="ctr"/>
                      <a:r>
                        <a:rPr lang="ko-KR" altLang="en-US" sz="850" b="0">
                          <a:solidFill>
                            <a:srgbClr val="222222"/>
                          </a:solidFill>
                          <a:latin typeface="맑은 고딕"/>
                        </a:rPr>
                        <a:t>created_at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DATETIME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가입 일시</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9"/>
                  </a:ext>
                </a:extLst>
              </a:tr>
              <a:tr h="274320">
                <a:tc>
                  <a:txBody>
                    <a:bodyPr/>
                    <a:lstStyle/>
                    <a:p>
                      <a:pPr algn="ctr"/>
                      <a:r>
                        <a:rPr lang="ko-KR" altLang="en-US" sz="850" b="0">
                          <a:solidFill>
                            <a:srgbClr val="222222"/>
                          </a:solidFill>
                          <a:latin typeface="맑은 고딕"/>
                        </a:rPr>
                        <a:t>last_login_at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DATETIME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최근 로그인 일시</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10"/>
                  </a:ext>
                </a:extLst>
              </a:tr>
            </a:tbl>
          </a:graphicData>
        </a:graphic>
      </p:graphicFrame>
      <p:sp>
        <p:nvSpPr>
          <p:cNvPr id="504" name="TB504"/>
          <p:cNvSpPr txBox="1"/>
          <p:nvPr/>
        </p:nvSpPr>
        <p:spPr>
          <a:xfrm>
            <a:off x="4572000" y="1847088"/>
            <a:ext cx="4291279" cy="237744"/>
          </a:xfrm>
          <a:prstGeom prst="rect">
            <a:avLst/>
          </a:prstGeom>
          <a:noFill/>
          <a:ln>
            <a:noFill/>
          </a:ln>
        </p:spPr>
        <p:txBody>
          <a:bodyPr wrap="square" lIns="0" tIns="0" rIns="0" bIns="0" anchor="b">
            <a:noAutofit/>
          </a:bodyPr>
          <a:lstStyle/>
          <a:p>
            <a:pPr algn="l"/>
            <a:r>
              <a:rPr lang="ko-KR" altLang="en-US" sz="1200" b="1" dirty="0">
                <a:solidFill>
                  <a:srgbClr val="3B5AA8"/>
                </a:solidFill>
                <a:latin typeface="맑은 고딕"/>
                <a:ea typeface="맑은 고딕"/>
              </a:rPr>
              <a:t>device_info (디바이스)</a:t>
            </a:r>
          </a:p>
        </p:txBody>
      </p:sp>
      <p:graphicFrame>
        <p:nvGraphicFramePr>
          <p:cNvPr id="505" name="Tbl505"/>
          <p:cNvGraphicFramePr>
            <a:graphicFrameLocks noGrp="1"/>
          </p:cNvGraphicFramePr>
          <p:nvPr/>
        </p:nvGraphicFramePr>
        <p:xfrm>
          <a:off x="4572000" y="2121408"/>
          <a:ext cx="4291280" cy="2582400"/>
        </p:xfrm>
        <a:graphic>
          <a:graphicData uri="http://schemas.openxmlformats.org/drawingml/2006/table">
            <a:tbl>
              <a:tblPr firstRow="1"/>
              <a:tblGrid>
                <a:gridCol w="1117635">
                  <a:extLst>
                    <a:ext uri="{9D8B030D-6E8A-4147-A177-3AD203B41FA5}">
                      <a16:colId xmlns:a16="http://schemas.microsoft.com/office/drawing/2014/main" val="20000"/>
                    </a:ext>
                  </a:extLst>
                </a:gridCol>
                <a:gridCol w="974044">
                  <a:extLst>
                    <a:ext uri="{9D8B030D-6E8A-4147-A177-3AD203B41FA5}">
                      <a16:colId xmlns:a16="http://schemas.microsoft.com/office/drawing/2014/main" val="20001"/>
                    </a:ext>
                  </a:extLst>
                </a:gridCol>
                <a:gridCol w="469187">
                  <a:extLst>
                    <a:ext uri="{9D8B030D-6E8A-4147-A177-3AD203B41FA5}">
                      <a16:colId xmlns:a16="http://schemas.microsoft.com/office/drawing/2014/main" val="20002"/>
                    </a:ext>
                  </a:extLst>
                </a:gridCol>
                <a:gridCol w="612779">
                  <a:extLst>
                    <a:ext uri="{9D8B030D-6E8A-4147-A177-3AD203B41FA5}">
                      <a16:colId xmlns:a16="http://schemas.microsoft.com/office/drawing/2014/main" val="20003"/>
                    </a:ext>
                  </a:extLst>
                </a:gridCol>
                <a:gridCol w="1117635">
                  <a:extLst>
                    <a:ext uri="{9D8B030D-6E8A-4147-A177-3AD203B41FA5}">
                      <a16:colId xmlns:a16="http://schemas.microsoft.com/office/drawing/2014/main" val="20004"/>
                    </a:ext>
                  </a:extLst>
                </a:gridCol>
              </a:tblGrid>
              <a:tr h="274320">
                <a:tc>
                  <a:txBody>
                    <a:bodyPr/>
                    <a:lstStyle/>
                    <a:p>
                      <a:pPr algn="ctr"/>
                      <a:r>
                        <a:rPr lang="ko-KR" altLang="en-US" sz="900" b="1">
                          <a:solidFill>
                            <a:srgbClr val="FFFFFF"/>
                          </a:solidFill>
                          <a:latin typeface="맑은 고딕"/>
                        </a:rPr>
                        <a:t>항목명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Type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PK/FK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필수/선택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설명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extLst>
                  <a:ext uri="{0D108BD9-81ED-4DB2-BD59-A6C34878D82A}">
                    <a16:rowId xmlns:a16="http://schemas.microsoft.com/office/drawing/2014/main" val="10000"/>
                  </a:ext>
                </a:extLst>
              </a:tr>
              <a:tr h="274320">
                <a:tc>
                  <a:txBody>
                    <a:bodyPr/>
                    <a:lstStyle/>
                    <a:p>
                      <a:pPr algn="ctr"/>
                      <a:r>
                        <a:rPr lang="ko-KR" altLang="en-US" sz="850" b="0">
                          <a:solidFill>
                            <a:srgbClr val="222222"/>
                          </a:solidFill>
                          <a:latin typeface="맑은 고딕"/>
                        </a:rPr>
                        <a:t>device_id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VARCHAR(40)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PK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디바이스(라즈베리파이) 고유 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1"/>
                  </a:ext>
                </a:extLst>
              </a:tr>
              <a:tr h="274320">
                <a:tc>
                  <a:txBody>
                    <a:bodyPr/>
                    <a:lstStyle/>
                    <a:p>
                      <a:pPr algn="ctr"/>
                      <a:r>
                        <a:rPr lang="ko-KR" altLang="en-US" sz="850" b="0">
                          <a:solidFill>
                            <a:srgbClr val="222222"/>
                          </a:solidFill>
                          <a:latin typeface="맑은 고딕"/>
                        </a:rPr>
                        <a:t>owner_id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INT(11)</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user_info.user_id 참조</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2"/>
                  </a:ext>
                </a:extLst>
              </a:tr>
              <a:tr h="274320">
                <a:tc>
                  <a:txBody>
                    <a:bodyPr/>
                    <a:lstStyle/>
                    <a:p>
                      <a:pPr algn="ctr"/>
                      <a:r>
                        <a:rPr lang="ko-KR" altLang="en-US" sz="850" b="0">
                          <a:solidFill>
                            <a:srgbClr val="222222"/>
                          </a:solidFill>
                          <a:latin typeface="맑은 고딕"/>
                        </a:rPr>
                        <a:t>device_name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VARCHAR(50)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디바이스 표시 이름</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3"/>
                  </a:ext>
                </a:extLst>
              </a:tr>
              <a:tr h="274320">
                <a:tc>
                  <a:txBody>
                    <a:bodyPr/>
                    <a:lstStyle/>
                    <a:p>
                      <a:pPr algn="ctr"/>
                      <a:r>
                        <a:rPr lang="ko-KR" altLang="en-US" sz="850" b="0">
                          <a:solidFill>
                            <a:srgbClr val="222222"/>
                          </a:solidFill>
                          <a:latin typeface="맑은 고딕"/>
                        </a:rPr>
                        <a:t>install_location</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VARCHAR(100)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설치 위치 메모</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4"/>
                  </a:ext>
                </a:extLst>
              </a:tr>
              <a:tr h="274320">
                <a:tc>
                  <a:txBody>
                    <a:bodyPr/>
                    <a:lstStyle/>
                    <a:p>
                      <a:pPr algn="ctr"/>
                      <a:r>
                        <a:rPr lang="ko-KR" altLang="en-US" sz="850" b="0">
                          <a:solidFill>
                            <a:srgbClr val="222222"/>
                          </a:solidFill>
                          <a:latin typeface="맑은 고딕"/>
                        </a:rPr>
                        <a:t>status</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VARCHAR(10)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ONLINE/DELAYED/OFFLINE/UNKNOWN</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5"/>
                  </a:ext>
                </a:extLst>
              </a:tr>
              <a:tr h="274320">
                <a:tc>
                  <a:txBody>
                    <a:bodyPr/>
                    <a:lstStyle/>
                    <a:p>
                      <a:pPr algn="ctr"/>
                      <a:r>
                        <a:rPr lang="ko-KR" altLang="en-US" sz="850" b="0">
                          <a:solidFill>
                            <a:srgbClr val="222222"/>
                          </a:solidFill>
                          <a:latin typeface="맑은 고딕"/>
                        </a:rPr>
                        <a:t>last_received_at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DATETIME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최근 데이터 수신 시각</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6"/>
                  </a:ext>
                </a:extLst>
              </a:tr>
              <a:tr h="274320">
                <a:tc>
                  <a:txBody>
                    <a:bodyPr/>
                    <a:lstStyle/>
                    <a:p>
                      <a:pPr algn="ctr"/>
                      <a:r>
                        <a:rPr lang="ko-KR" altLang="en-US" sz="850" b="0">
                          <a:solidFill>
                            <a:srgbClr val="222222"/>
                          </a:solidFill>
                          <a:latin typeface="맑은 고딕"/>
                        </a:rPr>
                        <a:t>sensor_config</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VARCHAR(200)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센서 구성 메모</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7"/>
                  </a:ext>
                </a:extLst>
              </a:tr>
              <a:tr h="274320">
                <a:tc>
                  <a:txBody>
                    <a:bodyPr/>
                    <a:lstStyle/>
                    <a:p>
                      <a:pPr algn="ctr"/>
                      <a:r>
                        <a:rPr lang="ko-KR" altLang="en-US" sz="850" b="0">
                          <a:solidFill>
                            <a:srgbClr val="222222"/>
                          </a:solidFill>
                          <a:latin typeface="맑은 고딕"/>
                        </a:rPr>
                        <a:t>created_at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DATETIME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등록 일시</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18024836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직사각형 16"/>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직선 연결선 17"/>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 name="직선 연결선 22"/>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4"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None/>
            </a:pPr>
            <a:r>
              <a:rPr lang="en-US" altLang="ko-KR" sz="1700" b="1" dirty="0">
                <a:solidFill>
                  <a:schemeClr val="bg1"/>
                </a:solidFill>
                <a:latin typeface="+mn-ea"/>
                <a:cs typeface="+mj-cs"/>
              </a:rPr>
              <a:t>| </a:t>
            </a:r>
            <a:r>
              <a:rPr lang="ko-KR" altLang="en-US" sz="1700" b="1" dirty="0">
                <a:solidFill>
                  <a:schemeClr val="bg1"/>
                </a:solidFill>
                <a:latin typeface="+mn-ea"/>
                <a:cs typeface="+mj-cs"/>
              </a:rPr>
              <a:t>테이블 정의서</a:t>
            </a:r>
          </a:p>
        </p:txBody>
      </p:sp>
      <p:pic>
        <p:nvPicPr>
          <p:cNvPr id="29"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0" name="막힌 원호 29"/>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2" name="그림 1">
            <a:extLst>
              <a:ext uri="{FF2B5EF4-FFF2-40B4-BE49-F238E27FC236}">
                <a16:creationId xmlns:a16="http://schemas.microsoft.com/office/drawing/2014/main" id="{AE311E42-8094-1ED2-BF9F-D52B09934D67}"/>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501" name="TB501"/>
          <p:cNvSpPr txBox="1"/>
          <p:nvPr/>
        </p:nvSpPr>
        <p:spPr>
          <a:xfrm>
            <a:off x="402336" y="1463040"/>
            <a:ext cx="8229600" cy="292608"/>
          </a:xfrm>
          <a:prstGeom prst="rect">
            <a:avLst/>
          </a:prstGeom>
          <a:noFill/>
          <a:ln>
            <a:noFill/>
          </a:ln>
        </p:spPr>
        <p:txBody>
          <a:bodyPr wrap="square" lIns="0" tIns="0" rIns="0" bIns="0" anchor="ctr">
            <a:noAutofit/>
          </a:bodyPr>
          <a:lstStyle/>
          <a:p>
            <a:pPr algn="l"/>
            <a:r>
              <a:rPr lang="ko-KR" altLang="en-US" sz="1300" dirty="0">
                <a:solidFill>
                  <a:srgbClr val="2563EB"/>
                </a:solidFill>
                <a:latin typeface="맑은 고딕"/>
                <a:ea typeface="맑은 고딕"/>
              </a:rPr>
              <a:t>▍ </a:t>
            </a:r>
            <a:r>
              <a:rPr lang="ko-KR" altLang="en-US" sz="1300" b="1" dirty="0">
                <a:solidFill>
                  <a:srgbClr val="2A2A2A"/>
                </a:solidFill>
                <a:latin typeface="맑은 고딕"/>
                <a:ea typeface="맑은 고딕"/>
              </a:rPr>
              <a:t>② battery_asset / measurement_session</a:t>
            </a:r>
          </a:p>
        </p:txBody>
      </p:sp>
      <p:sp>
        <p:nvSpPr>
          <p:cNvPr id="502" name="TB502"/>
          <p:cNvSpPr txBox="1"/>
          <p:nvPr/>
        </p:nvSpPr>
        <p:spPr>
          <a:xfrm>
            <a:off x="222199" y="1847088"/>
            <a:ext cx="4291279" cy="237744"/>
          </a:xfrm>
          <a:prstGeom prst="rect">
            <a:avLst/>
          </a:prstGeom>
          <a:noFill/>
          <a:ln>
            <a:noFill/>
          </a:ln>
        </p:spPr>
        <p:txBody>
          <a:bodyPr wrap="square" lIns="0" tIns="0" rIns="0" bIns="0" anchor="b">
            <a:noAutofit/>
          </a:bodyPr>
          <a:lstStyle/>
          <a:p>
            <a:pPr algn="l"/>
            <a:r>
              <a:rPr lang="ko-KR" altLang="en-US" sz="1200" b="1" dirty="0">
                <a:solidFill>
                  <a:srgbClr val="3B5AA8"/>
                </a:solidFill>
                <a:latin typeface="맑은 고딕"/>
                <a:ea typeface="맑은 고딕"/>
              </a:rPr>
              <a:t>battery_asset (배터리 자산)</a:t>
            </a:r>
          </a:p>
        </p:txBody>
      </p:sp>
      <p:graphicFrame>
        <p:nvGraphicFramePr>
          <p:cNvPr id="503" name="Tbl503"/>
          <p:cNvGraphicFramePr>
            <a:graphicFrameLocks noGrp="1"/>
          </p:cNvGraphicFramePr>
          <p:nvPr/>
        </p:nvGraphicFramePr>
        <p:xfrm>
          <a:off x="222199" y="2121408"/>
          <a:ext cx="4291280" cy="4044000"/>
        </p:xfrm>
        <a:graphic>
          <a:graphicData uri="http://schemas.openxmlformats.org/drawingml/2006/table">
            <a:tbl>
              <a:tblPr firstRow="1"/>
              <a:tblGrid>
                <a:gridCol w="1117635">
                  <a:extLst>
                    <a:ext uri="{9D8B030D-6E8A-4147-A177-3AD203B41FA5}">
                      <a16:colId xmlns:a16="http://schemas.microsoft.com/office/drawing/2014/main" val="20000"/>
                    </a:ext>
                  </a:extLst>
                </a:gridCol>
                <a:gridCol w="974044">
                  <a:extLst>
                    <a:ext uri="{9D8B030D-6E8A-4147-A177-3AD203B41FA5}">
                      <a16:colId xmlns:a16="http://schemas.microsoft.com/office/drawing/2014/main" val="20001"/>
                    </a:ext>
                  </a:extLst>
                </a:gridCol>
                <a:gridCol w="469187">
                  <a:extLst>
                    <a:ext uri="{9D8B030D-6E8A-4147-A177-3AD203B41FA5}">
                      <a16:colId xmlns:a16="http://schemas.microsoft.com/office/drawing/2014/main" val="20002"/>
                    </a:ext>
                  </a:extLst>
                </a:gridCol>
                <a:gridCol w="612779">
                  <a:extLst>
                    <a:ext uri="{9D8B030D-6E8A-4147-A177-3AD203B41FA5}">
                      <a16:colId xmlns:a16="http://schemas.microsoft.com/office/drawing/2014/main" val="20003"/>
                    </a:ext>
                  </a:extLst>
                </a:gridCol>
                <a:gridCol w="1117635">
                  <a:extLst>
                    <a:ext uri="{9D8B030D-6E8A-4147-A177-3AD203B41FA5}">
                      <a16:colId xmlns:a16="http://schemas.microsoft.com/office/drawing/2014/main" val="20004"/>
                    </a:ext>
                  </a:extLst>
                </a:gridCol>
              </a:tblGrid>
              <a:tr h="274320">
                <a:tc>
                  <a:txBody>
                    <a:bodyPr/>
                    <a:lstStyle/>
                    <a:p>
                      <a:pPr algn="ctr"/>
                      <a:r>
                        <a:rPr lang="ko-KR" altLang="en-US" sz="900" b="1">
                          <a:solidFill>
                            <a:srgbClr val="FFFFFF"/>
                          </a:solidFill>
                          <a:latin typeface="맑은 고딕"/>
                        </a:rPr>
                        <a:t>항목명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Type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PK/FK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필수/선택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설명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extLst>
                  <a:ext uri="{0D108BD9-81ED-4DB2-BD59-A6C34878D82A}">
                    <a16:rowId xmlns:a16="http://schemas.microsoft.com/office/drawing/2014/main" val="10000"/>
                  </a:ext>
                </a:extLst>
              </a:tr>
              <a:tr h="274320">
                <a:tc>
                  <a:txBody>
                    <a:bodyPr/>
                    <a:lstStyle/>
                    <a:p>
                      <a:pPr algn="ctr"/>
                      <a:r>
                        <a:rPr lang="ko-KR" altLang="en-US" sz="850" b="0">
                          <a:solidFill>
                            <a:srgbClr val="222222"/>
                          </a:solidFill>
                          <a:latin typeface="맑은 고딕"/>
                        </a:rPr>
                        <a:t>battery_id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CHAR(36)</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PK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시스템 발급 UUID(매칭 키)</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1"/>
                  </a:ext>
                </a:extLst>
              </a:tr>
              <a:tr h="274320">
                <a:tc>
                  <a:txBody>
                    <a:bodyPr/>
                    <a:lstStyle/>
                    <a:p>
                      <a:pPr algn="ctr"/>
                      <a:r>
                        <a:rPr lang="ko-KR" altLang="en-US" sz="850" b="0">
                          <a:solidFill>
                            <a:srgbClr val="222222"/>
                          </a:solidFill>
                          <a:latin typeface="맑은 고딕"/>
                        </a:rPr>
                        <a:t>owner_id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INT(11)</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user_info.user_id 참조</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2"/>
                  </a:ext>
                </a:extLst>
              </a:tr>
              <a:tr h="274320">
                <a:tc>
                  <a:txBody>
                    <a:bodyPr/>
                    <a:lstStyle/>
                    <a:p>
                      <a:pPr algn="ctr"/>
                      <a:r>
                        <a:rPr lang="ko-KR" altLang="en-US" sz="850" b="0">
                          <a:solidFill>
                            <a:srgbClr val="222222"/>
                          </a:solidFill>
                          <a:latin typeface="맑은 고딕"/>
                        </a:rPr>
                        <a:t>name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VARCHAR(50)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사용자 라벨(중복 허용)</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3"/>
                  </a:ext>
                </a:extLst>
              </a:tr>
              <a:tr h="274320">
                <a:tc>
                  <a:txBody>
                    <a:bodyPr/>
                    <a:lstStyle/>
                    <a:p>
                      <a:pPr algn="ctr"/>
                      <a:r>
                        <a:rPr lang="ko-KR" altLang="en-US" sz="850" b="0">
                          <a:solidFill>
                            <a:srgbClr val="222222"/>
                          </a:solidFill>
                          <a:latin typeface="맑은 고딕"/>
                        </a:rPr>
                        <a:t>target_mode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INT(1)</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고정 측정 모드(1/2/3)</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4"/>
                  </a:ext>
                </a:extLst>
              </a:tr>
              <a:tr h="274320">
                <a:tc>
                  <a:txBody>
                    <a:bodyPr/>
                    <a:lstStyle/>
                    <a:p>
                      <a:pPr algn="ctr"/>
                      <a:r>
                        <a:rPr lang="ko-KR" altLang="en-US" sz="850" b="0">
                          <a:solidFill>
                            <a:srgbClr val="222222"/>
                          </a:solidFill>
                          <a:latin typeface="맑은 고딕"/>
                        </a:rPr>
                        <a:t>chemistry</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VARCHAR(10)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li_ion/li_po</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5"/>
                  </a:ext>
                </a:extLst>
              </a:tr>
              <a:tr h="274320">
                <a:tc>
                  <a:txBody>
                    <a:bodyPr/>
                    <a:lstStyle/>
                    <a:p>
                      <a:pPr algn="ctr"/>
                      <a:r>
                        <a:rPr lang="ko-KR" altLang="en-US" sz="850" b="0">
                          <a:solidFill>
                            <a:srgbClr val="222222"/>
                          </a:solidFill>
                          <a:latin typeface="맑은 고딕"/>
                        </a:rPr>
                        <a:t>series_count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INT(3)</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직렬 셀 수(S)</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6"/>
                  </a:ext>
                </a:extLst>
              </a:tr>
              <a:tr h="274320">
                <a:tc>
                  <a:txBody>
                    <a:bodyPr/>
                    <a:lstStyle/>
                    <a:p>
                      <a:pPr algn="ctr"/>
                      <a:r>
                        <a:rPr lang="ko-KR" altLang="en-US" sz="850" b="0">
                          <a:solidFill>
                            <a:srgbClr val="222222"/>
                          </a:solidFill>
                          <a:latin typeface="맑은 고딕"/>
                        </a:rPr>
                        <a:t>capacity_mah</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INT(8)</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정격 용량(mAh)</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7"/>
                  </a:ext>
                </a:extLst>
              </a:tr>
              <a:tr h="274320">
                <a:tc>
                  <a:txBody>
                    <a:bodyPr/>
                    <a:lstStyle/>
                    <a:p>
                      <a:pPr algn="ctr"/>
                      <a:r>
                        <a:rPr lang="ko-KR" altLang="en-US" sz="850" b="0">
                          <a:solidFill>
                            <a:srgbClr val="222222"/>
                          </a:solidFill>
                          <a:latin typeface="맑은 고딕"/>
                        </a:rPr>
                        <a:t>capacity_wh</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DECIMAL(6,2)</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정격 용량(Wh)</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8"/>
                  </a:ext>
                </a:extLst>
              </a:tr>
              <a:tr h="274320">
                <a:tc>
                  <a:txBody>
                    <a:bodyPr/>
                    <a:lstStyle/>
                    <a:p>
                      <a:pPr algn="ctr"/>
                      <a:r>
                        <a:rPr lang="ko-KR" altLang="en-US" sz="850" b="0">
                          <a:solidFill>
                            <a:srgbClr val="222222"/>
                          </a:solidFill>
                          <a:latin typeface="맑은 고딕"/>
                        </a:rPr>
                        <a:t>manufacturer</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VARCHAR(50)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제조사</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9"/>
                  </a:ext>
                </a:extLst>
              </a:tr>
              <a:tr h="274320">
                <a:tc>
                  <a:txBody>
                    <a:bodyPr/>
                    <a:lstStyle/>
                    <a:p>
                      <a:pPr algn="ctr"/>
                      <a:r>
                        <a:rPr lang="ko-KR" altLang="en-US" sz="850" b="0">
                          <a:solidFill>
                            <a:srgbClr val="222222"/>
                          </a:solidFill>
                          <a:latin typeface="맑은 고딕"/>
                        </a:rPr>
                        <a:t>model</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VARCHAR(50)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모델명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10"/>
                  </a:ext>
                </a:extLst>
              </a:tr>
              <a:tr h="274320">
                <a:tc>
                  <a:txBody>
                    <a:bodyPr/>
                    <a:lstStyle/>
                    <a:p>
                      <a:pPr algn="ctr"/>
                      <a:r>
                        <a:rPr lang="ko-KR" altLang="en-US" sz="850" b="0">
                          <a:solidFill>
                            <a:srgbClr val="222222"/>
                          </a:solidFill>
                          <a:latin typeface="맑은 고딕"/>
                        </a:rPr>
                        <a:t>memo</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VARCHAR(200)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관리 메모</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11"/>
                  </a:ext>
                </a:extLst>
              </a:tr>
              <a:tr h="274320">
                <a:tc>
                  <a:txBody>
                    <a:bodyPr/>
                    <a:lstStyle/>
                    <a:p>
                      <a:pPr algn="ctr"/>
                      <a:r>
                        <a:rPr lang="ko-KR" altLang="en-US" sz="850" b="0">
                          <a:solidFill>
                            <a:srgbClr val="222222"/>
                          </a:solidFill>
                          <a:latin typeface="맑은 고딕"/>
                        </a:rPr>
                        <a:t>created_at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DATETIME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등록 일시</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12"/>
                  </a:ext>
                </a:extLst>
              </a:tr>
              <a:tr h="274320">
                <a:tc>
                  <a:txBody>
                    <a:bodyPr/>
                    <a:lstStyle/>
                    <a:p>
                      <a:pPr algn="ctr"/>
                      <a:r>
                        <a:rPr lang="ko-KR" altLang="en-US" sz="850" b="0">
                          <a:solidFill>
                            <a:srgbClr val="222222"/>
                          </a:solidFill>
                          <a:latin typeface="맑은 고딕"/>
                        </a:rPr>
                        <a:t>last_measured_at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DATETIME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최근 측정 일시</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13"/>
                  </a:ext>
                </a:extLst>
              </a:tr>
            </a:tbl>
          </a:graphicData>
        </a:graphic>
      </p:graphicFrame>
      <p:sp>
        <p:nvSpPr>
          <p:cNvPr id="504" name="TB504"/>
          <p:cNvSpPr txBox="1"/>
          <p:nvPr/>
        </p:nvSpPr>
        <p:spPr>
          <a:xfrm>
            <a:off x="4572000" y="1847088"/>
            <a:ext cx="4291279" cy="237744"/>
          </a:xfrm>
          <a:prstGeom prst="rect">
            <a:avLst/>
          </a:prstGeom>
          <a:noFill/>
          <a:ln>
            <a:noFill/>
          </a:ln>
        </p:spPr>
        <p:txBody>
          <a:bodyPr wrap="square" lIns="0" tIns="0" rIns="0" bIns="0" anchor="b">
            <a:noAutofit/>
          </a:bodyPr>
          <a:lstStyle/>
          <a:p>
            <a:pPr algn="l"/>
            <a:r>
              <a:rPr lang="ko-KR" altLang="en-US" sz="1200" b="1" dirty="0">
                <a:solidFill>
                  <a:srgbClr val="3B5AA8"/>
                </a:solidFill>
                <a:latin typeface="맑은 고딕"/>
                <a:ea typeface="맑은 고딕"/>
              </a:rPr>
              <a:t>measurement_session (측정 세션)</a:t>
            </a:r>
          </a:p>
        </p:txBody>
      </p:sp>
      <p:graphicFrame>
        <p:nvGraphicFramePr>
          <p:cNvPr id="505" name="Tbl505"/>
          <p:cNvGraphicFramePr>
            <a:graphicFrameLocks noGrp="1"/>
          </p:cNvGraphicFramePr>
          <p:nvPr/>
        </p:nvGraphicFramePr>
        <p:xfrm>
          <a:off x="4572000" y="2121408"/>
          <a:ext cx="4291280" cy="1979760"/>
        </p:xfrm>
        <a:graphic>
          <a:graphicData uri="http://schemas.openxmlformats.org/drawingml/2006/table">
            <a:tbl>
              <a:tblPr firstRow="1"/>
              <a:tblGrid>
                <a:gridCol w="1117635">
                  <a:extLst>
                    <a:ext uri="{9D8B030D-6E8A-4147-A177-3AD203B41FA5}">
                      <a16:colId xmlns:a16="http://schemas.microsoft.com/office/drawing/2014/main" val="20000"/>
                    </a:ext>
                  </a:extLst>
                </a:gridCol>
                <a:gridCol w="974044">
                  <a:extLst>
                    <a:ext uri="{9D8B030D-6E8A-4147-A177-3AD203B41FA5}">
                      <a16:colId xmlns:a16="http://schemas.microsoft.com/office/drawing/2014/main" val="20001"/>
                    </a:ext>
                  </a:extLst>
                </a:gridCol>
                <a:gridCol w="469187">
                  <a:extLst>
                    <a:ext uri="{9D8B030D-6E8A-4147-A177-3AD203B41FA5}">
                      <a16:colId xmlns:a16="http://schemas.microsoft.com/office/drawing/2014/main" val="20002"/>
                    </a:ext>
                  </a:extLst>
                </a:gridCol>
                <a:gridCol w="612779">
                  <a:extLst>
                    <a:ext uri="{9D8B030D-6E8A-4147-A177-3AD203B41FA5}">
                      <a16:colId xmlns:a16="http://schemas.microsoft.com/office/drawing/2014/main" val="20003"/>
                    </a:ext>
                  </a:extLst>
                </a:gridCol>
                <a:gridCol w="1117635">
                  <a:extLst>
                    <a:ext uri="{9D8B030D-6E8A-4147-A177-3AD203B41FA5}">
                      <a16:colId xmlns:a16="http://schemas.microsoft.com/office/drawing/2014/main" val="20004"/>
                    </a:ext>
                  </a:extLst>
                </a:gridCol>
              </a:tblGrid>
              <a:tr h="274320">
                <a:tc>
                  <a:txBody>
                    <a:bodyPr/>
                    <a:lstStyle/>
                    <a:p>
                      <a:pPr algn="ctr"/>
                      <a:r>
                        <a:rPr lang="ko-KR" altLang="en-US" sz="900" b="1">
                          <a:solidFill>
                            <a:srgbClr val="FFFFFF"/>
                          </a:solidFill>
                          <a:latin typeface="맑은 고딕"/>
                        </a:rPr>
                        <a:t>항목명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Type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PK/FK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필수/선택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설명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extLst>
                  <a:ext uri="{0D108BD9-81ED-4DB2-BD59-A6C34878D82A}">
                    <a16:rowId xmlns:a16="http://schemas.microsoft.com/office/drawing/2014/main" val="10000"/>
                  </a:ext>
                </a:extLst>
              </a:tr>
              <a:tr h="274320">
                <a:tc>
                  <a:txBody>
                    <a:bodyPr/>
                    <a:lstStyle/>
                    <a:p>
                      <a:pPr algn="ctr"/>
                      <a:r>
                        <a:rPr lang="ko-KR" altLang="en-US" sz="850" b="0">
                          <a:solidFill>
                            <a:srgbClr val="222222"/>
                          </a:solidFill>
                          <a:latin typeface="맑은 고딕"/>
                        </a:rPr>
                        <a:t>session_id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BIGINT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PK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측정 세션 일련번호</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1"/>
                  </a:ext>
                </a:extLst>
              </a:tr>
              <a:tr h="274320">
                <a:tc>
                  <a:txBody>
                    <a:bodyPr/>
                    <a:lstStyle/>
                    <a:p>
                      <a:pPr algn="ctr"/>
                      <a:r>
                        <a:rPr lang="ko-KR" altLang="en-US" sz="850" b="0">
                          <a:solidFill>
                            <a:srgbClr val="222222"/>
                          </a:solidFill>
                          <a:latin typeface="맑은 고딕"/>
                        </a:rPr>
                        <a:t>device_id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VARCHAR(40)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device_info.device_id 참조</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2"/>
                  </a:ext>
                </a:extLst>
              </a:tr>
              <a:tr h="274320">
                <a:tc>
                  <a:txBody>
                    <a:bodyPr/>
                    <a:lstStyle/>
                    <a:p>
                      <a:pPr algn="ctr"/>
                      <a:r>
                        <a:rPr lang="ko-KR" altLang="en-US" sz="850" b="0">
                          <a:solidFill>
                            <a:srgbClr val="222222"/>
                          </a:solidFill>
                          <a:latin typeface="맑은 고딕"/>
                        </a:rPr>
                        <a:t>battery_id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CHAR(36)</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battery_asset.battery_id 참조</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3"/>
                  </a:ext>
                </a:extLst>
              </a:tr>
              <a:tr h="274320">
                <a:tc>
                  <a:txBody>
                    <a:bodyPr/>
                    <a:lstStyle/>
                    <a:p>
                      <a:pPr algn="ctr"/>
                      <a:r>
                        <a:rPr lang="ko-KR" altLang="en-US" sz="850" b="0">
                          <a:solidFill>
                            <a:srgbClr val="222222"/>
                          </a:solidFill>
                          <a:latin typeface="맑은 고딕"/>
                        </a:rPr>
                        <a:t>mode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INT(1)</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측정 모드(1/2/3)</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4"/>
                  </a:ext>
                </a:extLst>
              </a:tr>
              <a:tr h="274320">
                <a:tc>
                  <a:txBody>
                    <a:bodyPr/>
                    <a:lstStyle/>
                    <a:p>
                      <a:pPr algn="ctr"/>
                      <a:r>
                        <a:rPr lang="ko-KR" altLang="en-US" sz="850" b="0">
                          <a:solidFill>
                            <a:srgbClr val="222222"/>
                          </a:solidFill>
                          <a:latin typeface="맑은 고딕"/>
                        </a:rPr>
                        <a:t>started_at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DATETIME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세션 시작 시각</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5"/>
                  </a:ext>
                </a:extLst>
              </a:tr>
              <a:tr h="274320">
                <a:tc>
                  <a:txBody>
                    <a:bodyPr/>
                    <a:lstStyle/>
                    <a:p>
                      <a:pPr algn="ctr"/>
                      <a:r>
                        <a:rPr lang="ko-KR" altLang="en-US" sz="850" b="0">
                          <a:solidFill>
                            <a:srgbClr val="222222"/>
                          </a:solidFill>
                          <a:latin typeface="맑은 고딕"/>
                        </a:rPr>
                        <a:t>ended_at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DATETIME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세션 종료 시각(NULL=진행중)</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46230799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직사각형 16"/>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직선 연결선 17"/>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 name="직선 연결선 22"/>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4"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None/>
            </a:pPr>
            <a:r>
              <a:rPr lang="en-US" altLang="ko-KR" sz="1700" b="1" dirty="0">
                <a:solidFill>
                  <a:schemeClr val="bg1"/>
                </a:solidFill>
                <a:latin typeface="+mn-ea"/>
                <a:cs typeface="+mj-cs"/>
              </a:rPr>
              <a:t>| </a:t>
            </a:r>
            <a:r>
              <a:rPr lang="ko-KR" altLang="en-US" sz="1700" b="1" dirty="0">
                <a:solidFill>
                  <a:schemeClr val="bg1"/>
                </a:solidFill>
                <a:latin typeface="+mn-ea"/>
                <a:cs typeface="+mj-cs"/>
              </a:rPr>
              <a:t>테이블 정의서</a:t>
            </a:r>
          </a:p>
        </p:txBody>
      </p:sp>
      <p:pic>
        <p:nvPicPr>
          <p:cNvPr id="29"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0" name="막힌 원호 29"/>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2" name="그림 1">
            <a:extLst>
              <a:ext uri="{FF2B5EF4-FFF2-40B4-BE49-F238E27FC236}">
                <a16:creationId xmlns:a16="http://schemas.microsoft.com/office/drawing/2014/main" id="{AE311E42-8094-1ED2-BF9F-D52B09934D67}"/>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501" name="TB501"/>
          <p:cNvSpPr txBox="1"/>
          <p:nvPr/>
        </p:nvSpPr>
        <p:spPr>
          <a:xfrm>
            <a:off x="402336" y="1463040"/>
            <a:ext cx="8229600" cy="292608"/>
          </a:xfrm>
          <a:prstGeom prst="rect">
            <a:avLst/>
          </a:prstGeom>
          <a:noFill/>
          <a:ln>
            <a:noFill/>
          </a:ln>
        </p:spPr>
        <p:txBody>
          <a:bodyPr wrap="square" lIns="0" tIns="0" rIns="0" bIns="0" anchor="ctr">
            <a:noAutofit/>
          </a:bodyPr>
          <a:lstStyle/>
          <a:p>
            <a:pPr algn="l"/>
            <a:r>
              <a:rPr lang="ko-KR" altLang="en-US" sz="1300" dirty="0">
                <a:solidFill>
                  <a:srgbClr val="2563EB"/>
                </a:solidFill>
                <a:latin typeface="맑은 고딕"/>
                <a:ea typeface="맑은 고딕"/>
              </a:rPr>
              <a:t>▍ </a:t>
            </a:r>
            <a:r>
              <a:rPr lang="ko-KR" altLang="en-US" sz="1300" b="1" dirty="0">
                <a:solidFill>
                  <a:srgbClr val="2A2A2A"/>
                </a:solidFill>
                <a:latin typeface="맑은 고딕"/>
                <a:ea typeface="맑은 고딕"/>
              </a:rPr>
              <a:t>③ sensor_metric / anomaly_event</a:t>
            </a:r>
          </a:p>
        </p:txBody>
      </p:sp>
      <p:sp>
        <p:nvSpPr>
          <p:cNvPr id="502" name="TB502"/>
          <p:cNvSpPr txBox="1"/>
          <p:nvPr/>
        </p:nvSpPr>
        <p:spPr>
          <a:xfrm>
            <a:off x="222199" y="1847088"/>
            <a:ext cx="4291279" cy="237744"/>
          </a:xfrm>
          <a:prstGeom prst="rect">
            <a:avLst/>
          </a:prstGeom>
          <a:noFill/>
          <a:ln>
            <a:noFill/>
          </a:ln>
        </p:spPr>
        <p:txBody>
          <a:bodyPr wrap="square" lIns="0" tIns="0" rIns="0" bIns="0" anchor="b">
            <a:noAutofit/>
          </a:bodyPr>
          <a:lstStyle/>
          <a:p>
            <a:pPr algn="l"/>
            <a:r>
              <a:rPr lang="ko-KR" altLang="en-US" sz="1200" b="1" dirty="0">
                <a:solidFill>
                  <a:srgbClr val="3B5AA8"/>
                </a:solidFill>
                <a:latin typeface="맑은 고딕"/>
                <a:ea typeface="맑은 고딕"/>
              </a:rPr>
              <a:t>sensor_metric (센서 원시 시계열)</a:t>
            </a:r>
          </a:p>
        </p:txBody>
      </p:sp>
      <p:graphicFrame>
        <p:nvGraphicFramePr>
          <p:cNvPr id="503" name="Tbl503"/>
          <p:cNvGraphicFramePr>
            <a:graphicFrameLocks noGrp="1"/>
          </p:cNvGraphicFramePr>
          <p:nvPr/>
        </p:nvGraphicFramePr>
        <p:xfrm>
          <a:off x="222199" y="2121408"/>
          <a:ext cx="4291280" cy="4026000"/>
        </p:xfrm>
        <a:graphic>
          <a:graphicData uri="http://schemas.openxmlformats.org/drawingml/2006/table">
            <a:tbl>
              <a:tblPr firstRow="1"/>
              <a:tblGrid>
                <a:gridCol w="1117635">
                  <a:extLst>
                    <a:ext uri="{9D8B030D-6E8A-4147-A177-3AD203B41FA5}">
                      <a16:colId xmlns:a16="http://schemas.microsoft.com/office/drawing/2014/main" val="20000"/>
                    </a:ext>
                  </a:extLst>
                </a:gridCol>
                <a:gridCol w="974044">
                  <a:extLst>
                    <a:ext uri="{9D8B030D-6E8A-4147-A177-3AD203B41FA5}">
                      <a16:colId xmlns:a16="http://schemas.microsoft.com/office/drawing/2014/main" val="20001"/>
                    </a:ext>
                  </a:extLst>
                </a:gridCol>
                <a:gridCol w="469187">
                  <a:extLst>
                    <a:ext uri="{9D8B030D-6E8A-4147-A177-3AD203B41FA5}">
                      <a16:colId xmlns:a16="http://schemas.microsoft.com/office/drawing/2014/main" val="20002"/>
                    </a:ext>
                  </a:extLst>
                </a:gridCol>
                <a:gridCol w="612779">
                  <a:extLst>
                    <a:ext uri="{9D8B030D-6E8A-4147-A177-3AD203B41FA5}">
                      <a16:colId xmlns:a16="http://schemas.microsoft.com/office/drawing/2014/main" val="20003"/>
                    </a:ext>
                  </a:extLst>
                </a:gridCol>
                <a:gridCol w="1117635">
                  <a:extLst>
                    <a:ext uri="{9D8B030D-6E8A-4147-A177-3AD203B41FA5}">
                      <a16:colId xmlns:a16="http://schemas.microsoft.com/office/drawing/2014/main" val="20004"/>
                    </a:ext>
                  </a:extLst>
                </a:gridCol>
              </a:tblGrid>
              <a:tr h="274320">
                <a:tc>
                  <a:txBody>
                    <a:bodyPr/>
                    <a:lstStyle/>
                    <a:p>
                      <a:pPr algn="ctr"/>
                      <a:r>
                        <a:rPr lang="ko-KR" altLang="en-US" sz="900" b="1">
                          <a:solidFill>
                            <a:srgbClr val="FFFFFF"/>
                          </a:solidFill>
                          <a:latin typeface="맑은 고딕"/>
                        </a:rPr>
                        <a:t>항목명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Type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PK/FK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필수/선택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설명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extLst>
                  <a:ext uri="{0D108BD9-81ED-4DB2-BD59-A6C34878D82A}">
                    <a16:rowId xmlns:a16="http://schemas.microsoft.com/office/drawing/2014/main" val="10000"/>
                  </a:ext>
                </a:extLst>
              </a:tr>
              <a:tr h="274320">
                <a:tc>
                  <a:txBody>
                    <a:bodyPr/>
                    <a:lstStyle/>
                    <a:p>
                      <a:pPr algn="ctr"/>
                      <a:r>
                        <a:rPr lang="ko-KR" altLang="en-US" sz="850" b="0">
                          <a:solidFill>
                            <a:srgbClr val="222222"/>
                          </a:solidFill>
                          <a:latin typeface="맑은 고딕"/>
                        </a:rPr>
                        <a:t>time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TIMESTAMPTZ</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PK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측정 시각(파티션 키)</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1"/>
                  </a:ext>
                </a:extLst>
              </a:tr>
              <a:tr h="274320">
                <a:tc>
                  <a:txBody>
                    <a:bodyPr/>
                    <a:lstStyle/>
                    <a:p>
                      <a:pPr algn="ctr"/>
                      <a:r>
                        <a:rPr lang="ko-KR" altLang="en-US" sz="850" b="0">
                          <a:solidFill>
                            <a:srgbClr val="222222"/>
                          </a:solidFill>
                          <a:latin typeface="맑은 고딕"/>
                        </a:rPr>
                        <a:t>device_id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VARCHAR(40)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device_info.device_id 참조</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2"/>
                  </a:ext>
                </a:extLst>
              </a:tr>
              <a:tr h="274320">
                <a:tc>
                  <a:txBody>
                    <a:bodyPr/>
                    <a:lstStyle/>
                    <a:p>
                      <a:pPr algn="ctr"/>
                      <a:r>
                        <a:rPr lang="ko-KR" altLang="en-US" sz="850" b="0">
                          <a:solidFill>
                            <a:srgbClr val="222222"/>
                          </a:solidFill>
                          <a:latin typeface="맑은 고딕"/>
                        </a:rPr>
                        <a:t>battery_id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CHAR(36)</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battery_asset 참조(미배정 시 NULL)</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3"/>
                  </a:ext>
                </a:extLst>
              </a:tr>
              <a:tr h="274320">
                <a:tc>
                  <a:txBody>
                    <a:bodyPr/>
                    <a:lstStyle/>
                    <a:p>
                      <a:pPr algn="ctr"/>
                      <a:r>
                        <a:rPr lang="ko-KR" altLang="en-US" sz="850" b="0">
                          <a:solidFill>
                            <a:srgbClr val="222222"/>
                          </a:solidFill>
                          <a:latin typeface="맑은 고딕"/>
                        </a:rPr>
                        <a:t>voltage_v</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FLOAT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전압(V)</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4"/>
                  </a:ext>
                </a:extLst>
              </a:tr>
              <a:tr h="274320">
                <a:tc>
                  <a:txBody>
                    <a:bodyPr/>
                    <a:lstStyle/>
                    <a:p>
                      <a:pPr algn="ctr"/>
                      <a:r>
                        <a:rPr lang="ko-KR" altLang="en-US" sz="850" b="0">
                          <a:solidFill>
                            <a:srgbClr val="222222"/>
                          </a:solidFill>
                          <a:latin typeface="맑은 고딕"/>
                        </a:rPr>
                        <a:t>current_a</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FLOAT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전류(A)</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5"/>
                  </a:ext>
                </a:extLst>
              </a:tr>
              <a:tr h="274320">
                <a:tc>
                  <a:txBody>
                    <a:bodyPr/>
                    <a:lstStyle/>
                    <a:p>
                      <a:pPr algn="ctr"/>
                      <a:r>
                        <a:rPr lang="ko-KR" altLang="en-US" sz="850" b="0">
                          <a:solidFill>
                            <a:srgbClr val="222222"/>
                          </a:solidFill>
                          <a:latin typeface="맑은 고딕"/>
                        </a:rPr>
                        <a:t>power_w</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FLOAT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전력(W)</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6"/>
                  </a:ext>
                </a:extLst>
              </a:tr>
              <a:tr h="274320">
                <a:tc>
                  <a:txBody>
                    <a:bodyPr/>
                    <a:lstStyle/>
                    <a:p>
                      <a:pPr algn="ctr"/>
                      <a:r>
                        <a:rPr lang="ko-KR" altLang="en-US" sz="850" b="0">
                          <a:solidFill>
                            <a:srgbClr val="222222"/>
                          </a:solidFill>
                          <a:latin typeface="맑은 고딕"/>
                        </a:rPr>
                        <a:t>soc_pct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FLOAT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충전 잔량(%)</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7"/>
                  </a:ext>
                </a:extLst>
              </a:tr>
              <a:tr h="274320">
                <a:tc>
                  <a:txBody>
                    <a:bodyPr/>
                    <a:lstStyle/>
                    <a:p>
                      <a:pPr algn="ctr"/>
                      <a:r>
                        <a:rPr lang="ko-KR" altLang="en-US" sz="850" b="0">
                          <a:solidFill>
                            <a:srgbClr val="222222"/>
                          </a:solidFill>
                          <a:latin typeface="맑은 고딕"/>
                        </a:rPr>
                        <a:t>temp_contact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FLOAT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접촉식 표면 온도(모드1·2)</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8"/>
                  </a:ext>
                </a:extLst>
              </a:tr>
              <a:tr h="274320">
                <a:tc>
                  <a:txBody>
                    <a:bodyPr/>
                    <a:lstStyle/>
                    <a:p>
                      <a:pPr algn="ctr"/>
                      <a:r>
                        <a:rPr lang="ko-KR" altLang="en-US" sz="850" b="0">
                          <a:solidFill>
                            <a:srgbClr val="222222"/>
                          </a:solidFill>
                          <a:latin typeface="맑은 고딕"/>
                        </a:rPr>
                        <a:t>temp_ir_surface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FLOAT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IR 표면 온도</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9"/>
                  </a:ext>
                </a:extLst>
              </a:tr>
              <a:tr h="274320">
                <a:tc>
                  <a:txBody>
                    <a:bodyPr/>
                    <a:lstStyle/>
                    <a:p>
                      <a:pPr algn="ctr"/>
                      <a:r>
                        <a:rPr lang="ko-KR" altLang="en-US" sz="850" b="0">
                          <a:solidFill>
                            <a:srgbClr val="222222"/>
                          </a:solidFill>
                          <a:latin typeface="맑은 고딕"/>
                        </a:rPr>
                        <a:t>temp_ambient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FLOAT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주변 온도(모드3)</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10"/>
                  </a:ext>
                </a:extLst>
              </a:tr>
              <a:tr h="274320">
                <a:tc>
                  <a:txBody>
                    <a:bodyPr/>
                    <a:lstStyle/>
                    <a:p>
                      <a:pPr algn="ctr"/>
                      <a:r>
                        <a:rPr lang="ko-KR" altLang="en-US" sz="850" b="0">
                          <a:solidFill>
                            <a:srgbClr val="222222"/>
                          </a:solidFill>
                          <a:latin typeface="맑은 고딕"/>
                        </a:rPr>
                        <a:t>gas_raw</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INT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오프가스 센서 원시값</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11"/>
                  </a:ext>
                </a:extLst>
              </a:tr>
              <a:tr h="274320">
                <a:tc>
                  <a:txBody>
                    <a:bodyPr/>
                    <a:lstStyle/>
                    <a:p>
                      <a:pPr algn="ctr"/>
                      <a:r>
                        <a:rPr lang="ko-KR" altLang="en-US" sz="850" b="0">
                          <a:solidFill>
                            <a:srgbClr val="222222"/>
                          </a:solidFill>
                          <a:latin typeface="맑은 고딕"/>
                        </a:rPr>
                        <a:t>pressure_raw</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INT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압력(스웰링) 원시값(모드1·2)</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12"/>
                  </a:ext>
                </a:extLst>
              </a:tr>
              <a:tr h="274320">
                <a:tc>
                  <a:txBody>
                    <a:bodyPr/>
                    <a:lstStyle/>
                    <a:p>
                      <a:pPr algn="ctr"/>
                      <a:r>
                        <a:rPr lang="ko-KR" altLang="en-US" sz="850" b="0">
                          <a:solidFill>
                            <a:srgbClr val="222222"/>
                          </a:solidFill>
                          <a:latin typeface="맑은 고딕"/>
                        </a:rPr>
                        <a:t>acoustic_raw</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INT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음향 센서 원시값(모드1·2)</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13"/>
                  </a:ext>
                </a:extLst>
              </a:tr>
            </a:tbl>
          </a:graphicData>
        </a:graphic>
      </p:graphicFrame>
      <p:sp>
        <p:nvSpPr>
          <p:cNvPr id="504" name="TB504"/>
          <p:cNvSpPr txBox="1"/>
          <p:nvPr/>
        </p:nvSpPr>
        <p:spPr>
          <a:xfrm>
            <a:off x="4572000" y="1847088"/>
            <a:ext cx="4291279" cy="237744"/>
          </a:xfrm>
          <a:prstGeom prst="rect">
            <a:avLst/>
          </a:prstGeom>
          <a:noFill/>
          <a:ln>
            <a:noFill/>
          </a:ln>
        </p:spPr>
        <p:txBody>
          <a:bodyPr wrap="square" lIns="0" tIns="0" rIns="0" bIns="0" anchor="b">
            <a:noAutofit/>
          </a:bodyPr>
          <a:lstStyle/>
          <a:p>
            <a:pPr algn="l"/>
            <a:r>
              <a:rPr lang="ko-KR" altLang="en-US" sz="1200" b="1" dirty="0">
                <a:solidFill>
                  <a:srgbClr val="3B5AA8"/>
                </a:solidFill>
                <a:latin typeface="맑은 고딕"/>
                <a:ea typeface="맑은 고딕"/>
              </a:rPr>
              <a:t>anomaly_event (이상 이벤트)</a:t>
            </a:r>
          </a:p>
        </p:txBody>
      </p:sp>
      <p:graphicFrame>
        <p:nvGraphicFramePr>
          <p:cNvPr id="505" name="Tbl505"/>
          <p:cNvGraphicFramePr>
            <a:graphicFrameLocks noGrp="1"/>
          </p:cNvGraphicFramePr>
          <p:nvPr/>
        </p:nvGraphicFramePr>
        <p:xfrm>
          <a:off x="4572000" y="2121408"/>
          <a:ext cx="4291280" cy="3413640"/>
        </p:xfrm>
        <a:graphic>
          <a:graphicData uri="http://schemas.openxmlformats.org/drawingml/2006/table">
            <a:tbl>
              <a:tblPr firstRow="1"/>
              <a:tblGrid>
                <a:gridCol w="1117635">
                  <a:extLst>
                    <a:ext uri="{9D8B030D-6E8A-4147-A177-3AD203B41FA5}">
                      <a16:colId xmlns:a16="http://schemas.microsoft.com/office/drawing/2014/main" val="20000"/>
                    </a:ext>
                  </a:extLst>
                </a:gridCol>
                <a:gridCol w="974044">
                  <a:extLst>
                    <a:ext uri="{9D8B030D-6E8A-4147-A177-3AD203B41FA5}">
                      <a16:colId xmlns:a16="http://schemas.microsoft.com/office/drawing/2014/main" val="20001"/>
                    </a:ext>
                  </a:extLst>
                </a:gridCol>
                <a:gridCol w="469187">
                  <a:extLst>
                    <a:ext uri="{9D8B030D-6E8A-4147-A177-3AD203B41FA5}">
                      <a16:colId xmlns:a16="http://schemas.microsoft.com/office/drawing/2014/main" val="20002"/>
                    </a:ext>
                  </a:extLst>
                </a:gridCol>
                <a:gridCol w="612779">
                  <a:extLst>
                    <a:ext uri="{9D8B030D-6E8A-4147-A177-3AD203B41FA5}">
                      <a16:colId xmlns:a16="http://schemas.microsoft.com/office/drawing/2014/main" val="20003"/>
                    </a:ext>
                  </a:extLst>
                </a:gridCol>
                <a:gridCol w="1117635">
                  <a:extLst>
                    <a:ext uri="{9D8B030D-6E8A-4147-A177-3AD203B41FA5}">
                      <a16:colId xmlns:a16="http://schemas.microsoft.com/office/drawing/2014/main" val="20004"/>
                    </a:ext>
                  </a:extLst>
                </a:gridCol>
              </a:tblGrid>
              <a:tr h="274320">
                <a:tc>
                  <a:txBody>
                    <a:bodyPr/>
                    <a:lstStyle/>
                    <a:p>
                      <a:pPr algn="ctr"/>
                      <a:r>
                        <a:rPr lang="ko-KR" altLang="en-US" sz="900" b="1">
                          <a:solidFill>
                            <a:srgbClr val="FFFFFF"/>
                          </a:solidFill>
                          <a:latin typeface="맑은 고딕"/>
                        </a:rPr>
                        <a:t>항목명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Type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PK/FK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필수/선택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설명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extLst>
                  <a:ext uri="{0D108BD9-81ED-4DB2-BD59-A6C34878D82A}">
                    <a16:rowId xmlns:a16="http://schemas.microsoft.com/office/drawing/2014/main" val="10000"/>
                  </a:ext>
                </a:extLst>
              </a:tr>
              <a:tr h="274320">
                <a:tc>
                  <a:txBody>
                    <a:bodyPr/>
                    <a:lstStyle/>
                    <a:p>
                      <a:pPr algn="ctr"/>
                      <a:r>
                        <a:rPr lang="ko-KR" altLang="en-US" sz="850" b="0">
                          <a:solidFill>
                            <a:srgbClr val="222222"/>
                          </a:solidFill>
                          <a:latin typeface="맑은 고딕"/>
                        </a:rPr>
                        <a:t>event_id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BIGINT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PK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이상 이벤트 일련번호</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1"/>
                  </a:ext>
                </a:extLst>
              </a:tr>
              <a:tr h="274320">
                <a:tc>
                  <a:txBody>
                    <a:bodyPr/>
                    <a:lstStyle/>
                    <a:p>
                      <a:pPr algn="ctr"/>
                      <a:r>
                        <a:rPr lang="ko-KR" altLang="en-US" sz="850" b="0">
                          <a:solidFill>
                            <a:srgbClr val="222222"/>
                          </a:solidFill>
                          <a:latin typeface="맑은 고딕"/>
                        </a:rPr>
                        <a:t>session_id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BIGINT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measurement_session 참조</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2"/>
                  </a:ext>
                </a:extLst>
              </a:tr>
              <a:tr h="274320">
                <a:tc>
                  <a:txBody>
                    <a:bodyPr/>
                    <a:lstStyle/>
                    <a:p>
                      <a:pPr algn="ctr"/>
                      <a:r>
                        <a:rPr lang="ko-KR" altLang="en-US" sz="850" b="0">
                          <a:solidFill>
                            <a:srgbClr val="222222"/>
                          </a:solidFill>
                          <a:latin typeface="맑은 고딕"/>
                        </a:rPr>
                        <a:t>battery_id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CHAR(36)</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battery_asset.battery_id 참조</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3"/>
                  </a:ext>
                </a:extLst>
              </a:tr>
              <a:tr h="274320">
                <a:tc>
                  <a:txBody>
                    <a:bodyPr/>
                    <a:lstStyle/>
                    <a:p>
                      <a:pPr algn="ctr"/>
                      <a:r>
                        <a:rPr lang="ko-KR" altLang="en-US" sz="850" b="0">
                          <a:solidFill>
                            <a:srgbClr val="222222"/>
                          </a:solidFill>
                          <a:latin typeface="맑은 고딕"/>
                        </a:rPr>
                        <a:t>device_id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VARCHAR(40)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device_info.device_id 참조</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4"/>
                  </a:ext>
                </a:extLst>
              </a:tr>
              <a:tr h="274320">
                <a:tc>
                  <a:txBody>
                    <a:bodyPr/>
                    <a:lstStyle/>
                    <a:p>
                      <a:pPr algn="ctr"/>
                      <a:r>
                        <a:rPr lang="ko-KR" altLang="en-US" sz="850" b="0">
                          <a:solidFill>
                            <a:srgbClr val="222222"/>
                          </a:solidFill>
                          <a:latin typeface="맑은 고딕"/>
                        </a:rPr>
                        <a:t>anomaly_score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FLOAT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이상점수(0.0~1.0)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5"/>
                  </a:ext>
                </a:extLst>
              </a:tr>
              <a:tr h="274320">
                <a:tc>
                  <a:txBody>
                    <a:bodyPr/>
                    <a:lstStyle/>
                    <a:p>
                      <a:pPr algn="ctr"/>
                      <a:r>
                        <a:rPr lang="ko-KR" altLang="en-US" sz="850" b="0">
                          <a:solidFill>
                            <a:srgbClr val="222222"/>
                          </a:solidFill>
                          <a:latin typeface="맑은 고딕"/>
                        </a:rPr>
                        <a:t>status_grade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VARCHAR(10)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정상/주의/경고/위험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6"/>
                  </a:ext>
                </a:extLst>
              </a:tr>
              <a:tr h="274320">
                <a:tc>
                  <a:txBody>
                    <a:bodyPr/>
                    <a:lstStyle/>
                    <a:p>
                      <a:pPr algn="ctr"/>
                      <a:r>
                        <a:rPr lang="ko-KR" altLang="en-US" sz="850" b="0">
                          <a:solidFill>
                            <a:srgbClr val="222222"/>
                          </a:solidFill>
                          <a:latin typeface="맑은 고딕"/>
                        </a:rPr>
                        <a:t>contributing_factors</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JSON</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XAI 기여 요인(V_drop 등)</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7"/>
                  </a:ext>
                </a:extLst>
              </a:tr>
              <a:tr h="274320">
                <a:tc>
                  <a:txBody>
                    <a:bodyPr/>
                    <a:lstStyle/>
                    <a:p>
                      <a:pPr algn="ctr"/>
                      <a:r>
                        <a:rPr lang="ko-KR" altLang="en-US" sz="850" b="0">
                          <a:solidFill>
                            <a:srgbClr val="222222"/>
                          </a:solidFill>
                          <a:latin typeface="맑은 고딕"/>
                        </a:rPr>
                        <a:t>occurred_at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DATETIME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이상 발생 시각</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8"/>
                  </a:ext>
                </a:extLst>
              </a:tr>
              <a:tr h="274320">
                <a:tc>
                  <a:txBody>
                    <a:bodyPr/>
                    <a:lstStyle/>
                    <a:p>
                      <a:pPr algn="ctr"/>
                      <a:r>
                        <a:rPr lang="ko-KR" altLang="en-US" sz="850" b="0">
                          <a:solidFill>
                            <a:srgbClr val="222222"/>
                          </a:solidFill>
                          <a:latin typeface="맑은 고딕"/>
                        </a:rPr>
                        <a:t>ack_status</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VARCHAR(10)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확인 여부(Ack)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9"/>
                  </a:ext>
                </a:extLst>
              </a:tr>
              <a:tr h="274320">
                <a:tc>
                  <a:txBody>
                    <a:bodyPr/>
                    <a:lstStyle/>
                    <a:p>
                      <a:pPr algn="ctr"/>
                      <a:r>
                        <a:rPr lang="ko-KR" altLang="en-US" sz="850" b="0">
                          <a:solidFill>
                            <a:srgbClr val="222222"/>
                          </a:solidFill>
                          <a:latin typeface="맑은 고딕"/>
                        </a:rPr>
                        <a:t>ack_by</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INT(11)</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user_info.user_id 참조</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10"/>
                  </a:ext>
                </a:extLst>
              </a:tr>
              <a:tr h="274320">
                <a:tc>
                  <a:txBody>
                    <a:bodyPr/>
                    <a:lstStyle/>
                    <a:p>
                      <a:pPr algn="ctr"/>
                      <a:r>
                        <a:rPr lang="ko-KR" altLang="en-US" sz="850" b="0">
                          <a:solidFill>
                            <a:srgbClr val="222222"/>
                          </a:solidFill>
                          <a:latin typeface="맑은 고딕"/>
                        </a:rPr>
                        <a:t>ack_at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DATETIME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확인 처리 시각</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58712460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직사각형 16"/>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직선 연결선 17"/>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 name="직선 연결선 22"/>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4"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None/>
            </a:pPr>
            <a:r>
              <a:rPr lang="en-US" altLang="ko-KR" sz="1700" b="1" dirty="0">
                <a:solidFill>
                  <a:schemeClr val="bg1"/>
                </a:solidFill>
                <a:latin typeface="+mn-ea"/>
                <a:cs typeface="+mj-cs"/>
              </a:rPr>
              <a:t>| </a:t>
            </a:r>
            <a:r>
              <a:rPr lang="ko-KR" altLang="en-US" sz="1700" b="1" dirty="0">
                <a:solidFill>
                  <a:schemeClr val="bg1"/>
                </a:solidFill>
                <a:latin typeface="+mn-ea"/>
                <a:cs typeface="+mj-cs"/>
              </a:rPr>
              <a:t>테이블 정의서</a:t>
            </a:r>
          </a:p>
        </p:txBody>
      </p:sp>
      <p:pic>
        <p:nvPicPr>
          <p:cNvPr id="29"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0" name="막힌 원호 29"/>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2" name="그림 1">
            <a:extLst>
              <a:ext uri="{FF2B5EF4-FFF2-40B4-BE49-F238E27FC236}">
                <a16:creationId xmlns:a16="http://schemas.microsoft.com/office/drawing/2014/main" id="{AE311E42-8094-1ED2-BF9F-D52B09934D67}"/>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501" name="TB501"/>
          <p:cNvSpPr txBox="1"/>
          <p:nvPr/>
        </p:nvSpPr>
        <p:spPr>
          <a:xfrm>
            <a:off x="402336" y="1463040"/>
            <a:ext cx="8229600" cy="292608"/>
          </a:xfrm>
          <a:prstGeom prst="rect">
            <a:avLst/>
          </a:prstGeom>
          <a:noFill/>
          <a:ln>
            <a:noFill/>
          </a:ln>
        </p:spPr>
        <p:txBody>
          <a:bodyPr wrap="square" lIns="0" tIns="0" rIns="0" bIns="0" anchor="ctr">
            <a:noAutofit/>
          </a:bodyPr>
          <a:lstStyle/>
          <a:p>
            <a:pPr algn="l"/>
            <a:r>
              <a:rPr lang="ko-KR" altLang="en-US" sz="1300" dirty="0">
                <a:solidFill>
                  <a:srgbClr val="2563EB"/>
                </a:solidFill>
                <a:latin typeface="맑은 고딕"/>
                <a:ea typeface="맑은 고딕"/>
              </a:rPr>
              <a:t>▍ </a:t>
            </a:r>
            <a:r>
              <a:rPr lang="ko-KR" altLang="en-US" sz="1300" b="1" dirty="0">
                <a:solidFill>
                  <a:srgbClr val="2A2A2A"/>
                </a:solidFill>
                <a:latin typeface="맑은 고딕"/>
                <a:ea typeface="맑은 고딕"/>
              </a:rPr>
              <a:t>④ notification / threshold_setting</a:t>
            </a:r>
          </a:p>
        </p:txBody>
      </p:sp>
      <p:sp>
        <p:nvSpPr>
          <p:cNvPr id="502" name="TB502"/>
          <p:cNvSpPr txBox="1"/>
          <p:nvPr/>
        </p:nvSpPr>
        <p:spPr>
          <a:xfrm>
            <a:off x="222199" y="1847088"/>
            <a:ext cx="4291279" cy="237744"/>
          </a:xfrm>
          <a:prstGeom prst="rect">
            <a:avLst/>
          </a:prstGeom>
          <a:noFill/>
          <a:ln>
            <a:noFill/>
          </a:ln>
        </p:spPr>
        <p:txBody>
          <a:bodyPr wrap="square" lIns="0" tIns="0" rIns="0" bIns="0" anchor="b">
            <a:noAutofit/>
          </a:bodyPr>
          <a:lstStyle/>
          <a:p>
            <a:pPr algn="l"/>
            <a:r>
              <a:rPr lang="ko-KR" altLang="en-US" sz="1200" b="1" dirty="0">
                <a:solidFill>
                  <a:srgbClr val="3B5AA8"/>
                </a:solidFill>
                <a:latin typeface="맑은 고딕"/>
                <a:ea typeface="맑은 고딕"/>
              </a:rPr>
              <a:t>notification (알림 발송 이력)</a:t>
            </a:r>
          </a:p>
        </p:txBody>
      </p:sp>
      <p:graphicFrame>
        <p:nvGraphicFramePr>
          <p:cNvPr id="503" name="Tbl503"/>
          <p:cNvGraphicFramePr>
            <a:graphicFrameLocks noGrp="1"/>
          </p:cNvGraphicFramePr>
          <p:nvPr/>
        </p:nvGraphicFramePr>
        <p:xfrm>
          <a:off x="222199" y="2121408"/>
          <a:ext cx="4291280" cy="2272080"/>
        </p:xfrm>
        <a:graphic>
          <a:graphicData uri="http://schemas.openxmlformats.org/drawingml/2006/table">
            <a:tbl>
              <a:tblPr firstRow="1"/>
              <a:tblGrid>
                <a:gridCol w="1117635">
                  <a:extLst>
                    <a:ext uri="{9D8B030D-6E8A-4147-A177-3AD203B41FA5}">
                      <a16:colId xmlns:a16="http://schemas.microsoft.com/office/drawing/2014/main" val="20000"/>
                    </a:ext>
                  </a:extLst>
                </a:gridCol>
                <a:gridCol w="974044">
                  <a:extLst>
                    <a:ext uri="{9D8B030D-6E8A-4147-A177-3AD203B41FA5}">
                      <a16:colId xmlns:a16="http://schemas.microsoft.com/office/drawing/2014/main" val="20001"/>
                    </a:ext>
                  </a:extLst>
                </a:gridCol>
                <a:gridCol w="469187">
                  <a:extLst>
                    <a:ext uri="{9D8B030D-6E8A-4147-A177-3AD203B41FA5}">
                      <a16:colId xmlns:a16="http://schemas.microsoft.com/office/drawing/2014/main" val="20002"/>
                    </a:ext>
                  </a:extLst>
                </a:gridCol>
                <a:gridCol w="612779">
                  <a:extLst>
                    <a:ext uri="{9D8B030D-6E8A-4147-A177-3AD203B41FA5}">
                      <a16:colId xmlns:a16="http://schemas.microsoft.com/office/drawing/2014/main" val="20003"/>
                    </a:ext>
                  </a:extLst>
                </a:gridCol>
                <a:gridCol w="1117635">
                  <a:extLst>
                    <a:ext uri="{9D8B030D-6E8A-4147-A177-3AD203B41FA5}">
                      <a16:colId xmlns:a16="http://schemas.microsoft.com/office/drawing/2014/main" val="20004"/>
                    </a:ext>
                  </a:extLst>
                </a:gridCol>
              </a:tblGrid>
              <a:tr h="274320">
                <a:tc>
                  <a:txBody>
                    <a:bodyPr/>
                    <a:lstStyle/>
                    <a:p>
                      <a:pPr algn="ctr"/>
                      <a:r>
                        <a:rPr lang="ko-KR" altLang="en-US" sz="900" b="1">
                          <a:solidFill>
                            <a:srgbClr val="FFFFFF"/>
                          </a:solidFill>
                          <a:latin typeface="맑은 고딕"/>
                        </a:rPr>
                        <a:t>항목명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Type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PK/FK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필수/선택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설명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extLst>
                  <a:ext uri="{0D108BD9-81ED-4DB2-BD59-A6C34878D82A}">
                    <a16:rowId xmlns:a16="http://schemas.microsoft.com/office/drawing/2014/main" val="10000"/>
                  </a:ext>
                </a:extLst>
              </a:tr>
              <a:tr h="274320">
                <a:tc>
                  <a:txBody>
                    <a:bodyPr/>
                    <a:lstStyle/>
                    <a:p>
                      <a:pPr algn="ctr"/>
                      <a:r>
                        <a:rPr lang="ko-KR" altLang="en-US" sz="850" b="0">
                          <a:solidFill>
                            <a:srgbClr val="222222"/>
                          </a:solidFill>
                          <a:latin typeface="맑은 고딕"/>
                        </a:rPr>
                        <a:t>notification_id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BIGINT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PK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알림 발송 일련번호</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1"/>
                  </a:ext>
                </a:extLst>
              </a:tr>
              <a:tr h="274320">
                <a:tc>
                  <a:txBody>
                    <a:bodyPr/>
                    <a:lstStyle/>
                    <a:p>
                      <a:pPr algn="ctr"/>
                      <a:r>
                        <a:rPr lang="ko-KR" altLang="en-US" sz="850" b="0">
                          <a:solidFill>
                            <a:srgbClr val="222222"/>
                          </a:solidFill>
                          <a:latin typeface="맑은 고딕"/>
                        </a:rPr>
                        <a:t>user_id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INT(11)</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user_info.user_id 참조</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2"/>
                  </a:ext>
                </a:extLst>
              </a:tr>
              <a:tr h="274320">
                <a:tc>
                  <a:txBody>
                    <a:bodyPr/>
                    <a:lstStyle/>
                    <a:p>
                      <a:pPr algn="ctr"/>
                      <a:r>
                        <a:rPr lang="ko-KR" altLang="en-US" sz="850" b="0">
                          <a:solidFill>
                            <a:srgbClr val="222222"/>
                          </a:solidFill>
                          <a:latin typeface="맑은 고딕"/>
                        </a:rPr>
                        <a:t>event_id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BIGINT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anomaly_event.event_id 참조</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3"/>
                  </a:ext>
                </a:extLst>
              </a:tr>
              <a:tr h="274320">
                <a:tc>
                  <a:txBody>
                    <a:bodyPr/>
                    <a:lstStyle/>
                    <a:p>
                      <a:pPr algn="ctr"/>
                      <a:r>
                        <a:rPr lang="ko-KR" altLang="en-US" sz="850" b="0">
                          <a:solidFill>
                            <a:srgbClr val="222222"/>
                          </a:solidFill>
                          <a:latin typeface="맑은 고딕"/>
                        </a:rPr>
                        <a:t>channel</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VARCHAR(10)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KAKAO/EMAIL/SMS/WEBPUSH/인앱</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4"/>
                  </a:ext>
                </a:extLst>
              </a:tr>
              <a:tr h="274320">
                <a:tc>
                  <a:txBody>
                    <a:bodyPr/>
                    <a:lstStyle/>
                    <a:p>
                      <a:pPr algn="ctr"/>
                      <a:r>
                        <a:rPr lang="ko-KR" altLang="en-US" sz="850" b="0">
                          <a:solidFill>
                            <a:srgbClr val="222222"/>
                          </a:solidFill>
                          <a:latin typeface="맑은 고딕"/>
                        </a:rPr>
                        <a:t>status</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VARCHAR(10)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SENT/FAILED/READ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5"/>
                  </a:ext>
                </a:extLst>
              </a:tr>
              <a:tr h="274320">
                <a:tc>
                  <a:txBody>
                    <a:bodyPr/>
                    <a:lstStyle/>
                    <a:p>
                      <a:pPr algn="ctr"/>
                      <a:r>
                        <a:rPr lang="ko-KR" altLang="en-US" sz="850" b="0">
                          <a:solidFill>
                            <a:srgbClr val="222222"/>
                          </a:solidFill>
                          <a:latin typeface="맑은 고딕"/>
                        </a:rPr>
                        <a:t>sent_at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DATETIME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발송 시각</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6"/>
                  </a:ext>
                </a:extLst>
              </a:tr>
              <a:tr h="274320">
                <a:tc>
                  <a:txBody>
                    <a:bodyPr/>
                    <a:lstStyle/>
                    <a:p>
                      <a:pPr algn="ctr"/>
                      <a:r>
                        <a:rPr lang="ko-KR" altLang="en-US" sz="850" b="0">
                          <a:solidFill>
                            <a:srgbClr val="222222"/>
                          </a:solidFill>
                          <a:latin typeface="맑은 고딕"/>
                        </a:rPr>
                        <a:t>ack_at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DATETIME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사용자 확인 시각</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7"/>
                  </a:ext>
                </a:extLst>
              </a:tr>
            </a:tbl>
          </a:graphicData>
        </a:graphic>
      </p:graphicFrame>
      <p:sp>
        <p:nvSpPr>
          <p:cNvPr id="504" name="TB504"/>
          <p:cNvSpPr txBox="1"/>
          <p:nvPr/>
        </p:nvSpPr>
        <p:spPr>
          <a:xfrm>
            <a:off x="4572000" y="1847088"/>
            <a:ext cx="4291279" cy="237744"/>
          </a:xfrm>
          <a:prstGeom prst="rect">
            <a:avLst/>
          </a:prstGeom>
          <a:noFill/>
          <a:ln>
            <a:noFill/>
          </a:ln>
        </p:spPr>
        <p:txBody>
          <a:bodyPr wrap="square" lIns="0" tIns="0" rIns="0" bIns="0" anchor="b">
            <a:noAutofit/>
          </a:bodyPr>
          <a:lstStyle/>
          <a:p>
            <a:pPr algn="l"/>
            <a:r>
              <a:rPr lang="ko-KR" altLang="en-US" sz="1200" b="1" dirty="0">
                <a:solidFill>
                  <a:srgbClr val="3B5AA8"/>
                </a:solidFill>
                <a:latin typeface="맑은 고딕"/>
                <a:ea typeface="맑은 고딕"/>
              </a:rPr>
              <a:t>threshold_setting (임계치 설정)</a:t>
            </a:r>
          </a:p>
        </p:txBody>
      </p:sp>
      <p:graphicFrame>
        <p:nvGraphicFramePr>
          <p:cNvPr id="505" name="Tbl505"/>
          <p:cNvGraphicFramePr>
            <a:graphicFrameLocks noGrp="1"/>
          </p:cNvGraphicFramePr>
          <p:nvPr/>
        </p:nvGraphicFramePr>
        <p:xfrm>
          <a:off x="4572000" y="2121408"/>
          <a:ext cx="4291280" cy="2287320"/>
        </p:xfrm>
        <a:graphic>
          <a:graphicData uri="http://schemas.openxmlformats.org/drawingml/2006/table">
            <a:tbl>
              <a:tblPr firstRow="1"/>
              <a:tblGrid>
                <a:gridCol w="1117635">
                  <a:extLst>
                    <a:ext uri="{9D8B030D-6E8A-4147-A177-3AD203B41FA5}">
                      <a16:colId xmlns:a16="http://schemas.microsoft.com/office/drawing/2014/main" val="20000"/>
                    </a:ext>
                  </a:extLst>
                </a:gridCol>
                <a:gridCol w="974044">
                  <a:extLst>
                    <a:ext uri="{9D8B030D-6E8A-4147-A177-3AD203B41FA5}">
                      <a16:colId xmlns:a16="http://schemas.microsoft.com/office/drawing/2014/main" val="20001"/>
                    </a:ext>
                  </a:extLst>
                </a:gridCol>
                <a:gridCol w="469187">
                  <a:extLst>
                    <a:ext uri="{9D8B030D-6E8A-4147-A177-3AD203B41FA5}">
                      <a16:colId xmlns:a16="http://schemas.microsoft.com/office/drawing/2014/main" val="20002"/>
                    </a:ext>
                  </a:extLst>
                </a:gridCol>
                <a:gridCol w="612779">
                  <a:extLst>
                    <a:ext uri="{9D8B030D-6E8A-4147-A177-3AD203B41FA5}">
                      <a16:colId xmlns:a16="http://schemas.microsoft.com/office/drawing/2014/main" val="20003"/>
                    </a:ext>
                  </a:extLst>
                </a:gridCol>
                <a:gridCol w="1117635">
                  <a:extLst>
                    <a:ext uri="{9D8B030D-6E8A-4147-A177-3AD203B41FA5}">
                      <a16:colId xmlns:a16="http://schemas.microsoft.com/office/drawing/2014/main" val="20004"/>
                    </a:ext>
                  </a:extLst>
                </a:gridCol>
              </a:tblGrid>
              <a:tr h="274320">
                <a:tc>
                  <a:txBody>
                    <a:bodyPr/>
                    <a:lstStyle/>
                    <a:p>
                      <a:pPr algn="ctr"/>
                      <a:r>
                        <a:rPr lang="ko-KR" altLang="en-US" sz="900" b="1">
                          <a:solidFill>
                            <a:srgbClr val="FFFFFF"/>
                          </a:solidFill>
                          <a:latin typeface="맑은 고딕"/>
                        </a:rPr>
                        <a:t>항목명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Type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PK/FK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필수/선택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설명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extLst>
                  <a:ext uri="{0D108BD9-81ED-4DB2-BD59-A6C34878D82A}">
                    <a16:rowId xmlns:a16="http://schemas.microsoft.com/office/drawing/2014/main" val="10000"/>
                  </a:ext>
                </a:extLst>
              </a:tr>
              <a:tr h="274320">
                <a:tc>
                  <a:txBody>
                    <a:bodyPr/>
                    <a:lstStyle/>
                    <a:p>
                      <a:pPr algn="ctr"/>
                      <a:r>
                        <a:rPr lang="ko-KR" altLang="en-US" sz="850" b="0">
                          <a:solidFill>
                            <a:srgbClr val="222222"/>
                          </a:solidFill>
                          <a:latin typeface="맑은 고딕"/>
                        </a:rPr>
                        <a:t>setting_id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INT(11)</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PK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설정 일련번호</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1"/>
                  </a:ext>
                </a:extLst>
              </a:tr>
              <a:tr h="274320">
                <a:tc>
                  <a:txBody>
                    <a:bodyPr/>
                    <a:lstStyle/>
                    <a:p>
                      <a:pPr algn="ctr"/>
                      <a:r>
                        <a:rPr lang="ko-KR" altLang="en-US" sz="850" b="0">
                          <a:solidFill>
                            <a:srgbClr val="222222"/>
                          </a:solidFill>
                          <a:latin typeface="맑은 고딕"/>
                        </a:rPr>
                        <a:t>user_id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INT(11)</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user_info.user_id 참조</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2"/>
                  </a:ext>
                </a:extLst>
              </a:tr>
              <a:tr h="274320">
                <a:tc>
                  <a:txBody>
                    <a:bodyPr/>
                    <a:lstStyle/>
                    <a:p>
                      <a:pPr algn="ctr"/>
                      <a:r>
                        <a:rPr lang="ko-KR" altLang="en-US" sz="850" b="0">
                          <a:solidFill>
                            <a:srgbClr val="222222"/>
                          </a:solidFill>
                          <a:latin typeface="맑은 고딕"/>
                        </a:rPr>
                        <a:t>temp_threshold_c</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DECIMAL(5,2)</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온도 상한 임계치(℃)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3"/>
                  </a:ext>
                </a:extLst>
              </a:tr>
              <a:tr h="274320">
                <a:tc>
                  <a:txBody>
                    <a:bodyPr/>
                    <a:lstStyle/>
                    <a:p>
                      <a:pPr algn="ctr"/>
                      <a:r>
                        <a:rPr lang="ko-KR" altLang="en-US" sz="850" b="0">
                          <a:solidFill>
                            <a:srgbClr val="222222"/>
                          </a:solidFill>
                          <a:latin typeface="맑은 고딕"/>
                        </a:rPr>
                        <a:t>anomaly_grade_thresholds</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JSON</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등급별 이상점수 구간</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4"/>
                  </a:ext>
                </a:extLst>
              </a:tr>
              <a:tr h="274320">
                <a:tc>
                  <a:txBody>
                    <a:bodyPr/>
                    <a:lstStyle/>
                    <a:p>
                      <a:pPr algn="ctr"/>
                      <a:r>
                        <a:rPr lang="ko-KR" altLang="en-US" sz="850" b="0">
                          <a:solidFill>
                            <a:srgbClr val="222222"/>
                          </a:solidFill>
                          <a:latin typeface="맑은 고딕"/>
                        </a:rPr>
                        <a:t>interlock_condition</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VARCHAR(200)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인터락 조건 설정</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5"/>
                  </a:ext>
                </a:extLst>
              </a:tr>
              <a:tr h="274320">
                <a:tc>
                  <a:txBody>
                    <a:bodyPr/>
                    <a:lstStyle/>
                    <a:p>
                      <a:pPr algn="ctr"/>
                      <a:r>
                        <a:rPr lang="ko-KR" altLang="en-US" sz="850" b="0">
                          <a:solidFill>
                            <a:srgbClr val="222222"/>
                          </a:solidFill>
                          <a:latin typeface="맑은 고딕"/>
                        </a:rPr>
                        <a:t>dedup_suppress_sec</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INT(6)</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중복 알림 억제 시간(초)</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6"/>
                  </a:ext>
                </a:extLst>
              </a:tr>
              <a:tr h="274320">
                <a:tc>
                  <a:txBody>
                    <a:bodyPr/>
                    <a:lstStyle/>
                    <a:p>
                      <a:pPr algn="ctr"/>
                      <a:r>
                        <a:rPr lang="ko-KR" altLang="en-US" sz="850" b="0">
                          <a:solidFill>
                            <a:srgbClr val="222222"/>
                          </a:solidFill>
                          <a:latin typeface="맑은 고딕"/>
                        </a:rPr>
                        <a:t>updated_at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DATETIME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최근 수정 일시</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71590783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직사각형 16"/>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직선 연결선 17"/>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 name="직선 연결선 22"/>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4"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None/>
            </a:pPr>
            <a:r>
              <a:rPr lang="en-US" altLang="ko-KR" sz="1700" b="1" dirty="0">
                <a:solidFill>
                  <a:schemeClr val="bg1"/>
                </a:solidFill>
                <a:latin typeface="+mn-ea"/>
                <a:cs typeface="+mj-cs"/>
              </a:rPr>
              <a:t>| </a:t>
            </a:r>
            <a:r>
              <a:rPr lang="ko-KR" altLang="en-US" sz="1700" b="1" dirty="0">
                <a:solidFill>
                  <a:schemeClr val="bg1"/>
                </a:solidFill>
                <a:latin typeface="+mn-ea"/>
                <a:cs typeface="+mj-cs"/>
              </a:rPr>
              <a:t>테이블 정의서</a:t>
            </a:r>
          </a:p>
        </p:txBody>
      </p:sp>
      <p:pic>
        <p:nvPicPr>
          <p:cNvPr id="29"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0" name="막힌 원호 29"/>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2" name="그림 1">
            <a:extLst>
              <a:ext uri="{FF2B5EF4-FFF2-40B4-BE49-F238E27FC236}">
                <a16:creationId xmlns:a16="http://schemas.microsoft.com/office/drawing/2014/main" id="{AE311E42-8094-1ED2-BF9F-D52B09934D67}"/>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501" name="TB501"/>
          <p:cNvSpPr txBox="1"/>
          <p:nvPr/>
        </p:nvSpPr>
        <p:spPr>
          <a:xfrm>
            <a:off x="402336" y="1463040"/>
            <a:ext cx="8229600" cy="292608"/>
          </a:xfrm>
          <a:prstGeom prst="rect">
            <a:avLst/>
          </a:prstGeom>
          <a:noFill/>
          <a:ln>
            <a:noFill/>
          </a:ln>
        </p:spPr>
        <p:txBody>
          <a:bodyPr wrap="square" lIns="0" tIns="0" rIns="0" bIns="0" anchor="ctr">
            <a:noAutofit/>
          </a:bodyPr>
          <a:lstStyle/>
          <a:p>
            <a:pPr algn="l"/>
            <a:r>
              <a:rPr lang="ko-KR" altLang="en-US" sz="1300" dirty="0">
                <a:solidFill>
                  <a:srgbClr val="2563EB"/>
                </a:solidFill>
                <a:latin typeface="맑은 고딕"/>
                <a:ea typeface="맑은 고딕"/>
              </a:rPr>
              <a:t>▍ </a:t>
            </a:r>
            <a:r>
              <a:rPr lang="ko-KR" altLang="en-US" sz="1300" b="1" dirty="0">
                <a:solidFill>
                  <a:srgbClr val="2A2A2A"/>
                </a:solidFill>
                <a:latin typeface="맑은 고딕"/>
                <a:ea typeface="맑은 고딕"/>
              </a:rPr>
              <a:t>⑤ relay_control_log / notice</a:t>
            </a:r>
          </a:p>
        </p:txBody>
      </p:sp>
      <p:sp>
        <p:nvSpPr>
          <p:cNvPr id="502" name="TB502"/>
          <p:cNvSpPr txBox="1"/>
          <p:nvPr/>
        </p:nvSpPr>
        <p:spPr>
          <a:xfrm>
            <a:off x="222199" y="1847088"/>
            <a:ext cx="4291279" cy="237744"/>
          </a:xfrm>
          <a:prstGeom prst="rect">
            <a:avLst/>
          </a:prstGeom>
          <a:noFill/>
          <a:ln>
            <a:noFill/>
          </a:ln>
        </p:spPr>
        <p:txBody>
          <a:bodyPr wrap="square" lIns="0" tIns="0" rIns="0" bIns="0" anchor="b">
            <a:noAutofit/>
          </a:bodyPr>
          <a:lstStyle/>
          <a:p>
            <a:pPr algn="l"/>
            <a:r>
              <a:rPr lang="ko-KR" altLang="en-US" sz="1200" b="1" dirty="0">
                <a:solidFill>
                  <a:srgbClr val="3B5AA8"/>
                </a:solidFill>
                <a:latin typeface="맑은 고딕"/>
                <a:ea typeface="맑은 고딕"/>
              </a:rPr>
              <a:t>relay_control_log (릴레이 제어 이력)</a:t>
            </a:r>
          </a:p>
        </p:txBody>
      </p:sp>
      <p:graphicFrame>
        <p:nvGraphicFramePr>
          <p:cNvPr id="503" name="Tbl503"/>
          <p:cNvGraphicFramePr>
            <a:graphicFrameLocks noGrp="1"/>
          </p:cNvGraphicFramePr>
          <p:nvPr/>
        </p:nvGraphicFramePr>
        <p:xfrm>
          <a:off x="222199" y="2121408"/>
          <a:ext cx="4291280" cy="2274840"/>
        </p:xfrm>
        <a:graphic>
          <a:graphicData uri="http://schemas.openxmlformats.org/drawingml/2006/table">
            <a:tbl>
              <a:tblPr firstRow="1"/>
              <a:tblGrid>
                <a:gridCol w="1117635">
                  <a:extLst>
                    <a:ext uri="{9D8B030D-6E8A-4147-A177-3AD203B41FA5}">
                      <a16:colId xmlns:a16="http://schemas.microsoft.com/office/drawing/2014/main" val="20000"/>
                    </a:ext>
                  </a:extLst>
                </a:gridCol>
                <a:gridCol w="974044">
                  <a:extLst>
                    <a:ext uri="{9D8B030D-6E8A-4147-A177-3AD203B41FA5}">
                      <a16:colId xmlns:a16="http://schemas.microsoft.com/office/drawing/2014/main" val="20001"/>
                    </a:ext>
                  </a:extLst>
                </a:gridCol>
                <a:gridCol w="469187">
                  <a:extLst>
                    <a:ext uri="{9D8B030D-6E8A-4147-A177-3AD203B41FA5}">
                      <a16:colId xmlns:a16="http://schemas.microsoft.com/office/drawing/2014/main" val="20002"/>
                    </a:ext>
                  </a:extLst>
                </a:gridCol>
                <a:gridCol w="612779">
                  <a:extLst>
                    <a:ext uri="{9D8B030D-6E8A-4147-A177-3AD203B41FA5}">
                      <a16:colId xmlns:a16="http://schemas.microsoft.com/office/drawing/2014/main" val="20003"/>
                    </a:ext>
                  </a:extLst>
                </a:gridCol>
                <a:gridCol w="1117635">
                  <a:extLst>
                    <a:ext uri="{9D8B030D-6E8A-4147-A177-3AD203B41FA5}">
                      <a16:colId xmlns:a16="http://schemas.microsoft.com/office/drawing/2014/main" val="20004"/>
                    </a:ext>
                  </a:extLst>
                </a:gridCol>
              </a:tblGrid>
              <a:tr h="274320">
                <a:tc>
                  <a:txBody>
                    <a:bodyPr/>
                    <a:lstStyle/>
                    <a:p>
                      <a:pPr algn="ctr"/>
                      <a:r>
                        <a:rPr lang="ko-KR" altLang="en-US" sz="900" b="1">
                          <a:solidFill>
                            <a:srgbClr val="FFFFFF"/>
                          </a:solidFill>
                          <a:latin typeface="맑은 고딕"/>
                        </a:rPr>
                        <a:t>항목명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Type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PK/FK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필수/선택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설명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extLst>
                  <a:ext uri="{0D108BD9-81ED-4DB2-BD59-A6C34878D82A}">
                    <a16:rowId xmlns:a16="http://schemas.microsoft.com/office/drawing/2014/main" val="10000"/>
                  </a:ext>
                </a:extLst>
              </a:tr>
              <a:tr h="274320">
                <a:tc>
                  <a:txBody>
                    <a:bodyPr/>
                    <a:lstStyle/>
                    <a:p>
                      <a:pPr algn="ctr"/>
                      <a:r>
                        <a:rPr lang="ko-KR" altLang="en-US" sz="850" b="0">
                          <a:solidFill>
                            <a:srgbClr val="222222"/>
                          </a:solidFill>
                          <a:latin typeface="맑은 고딕"/>
                        </a:rPr>
                        <a:t>log_id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BIGINT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PK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릴레이 제어 로그 일련번호</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1"/>
                  </a:ext>
                </a:extLst>
              </a:tr>
              <a:tr h="274320">
                <a:tc>
                  <a:txBody>
                    <a:bodyPr/>
                    <a:lstStyle/>
                    <a:p>
                      <a:pPr algn="ctr"/>
                      <a:r>
                        <a:rPr lang="ko-KR" altLang="en-US" sz="850" b="0">
                          <a:solidFill>
                            <a:srgbClr val="222222"/>
                          </a:solidFill>
                          <a:latin typeface="맑은 고딕"/>
                        </a:rPr>
                        <a:t>device_id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VARCHAR(40)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device_info.device_id 참조</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2"/>
                  </a:ext>
                </a:extLst>
              </a:tr>
              <a:tr h="274320">
                <a:tc>
                  <a:txBody>
                    <a:bodyPr/>
                    <a:lstStyle/>
                    <a:p>
                      <a:pPr algn="ctr"/>
                      <a:r>
                        <a:rPr lang="ko-KR" altLang="en-US" sz="850" b="0">
                          <a:solidFill>
                            <a:srgbClr val="222222"/>
                          </a:solidFill>
                          <a:latin typeface="맑은 고딕"/>
                        </a:rPr>
                        <a:t>action</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VARCHAR(10)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BLOCK/RESTORE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3"/>
                  </a:ext>
                </a:extLst>
              </a:tr>
              <a:tr h="274320">
                <a:tc>
                  <a:txBody>
                    <a:bodyPr/>
                    <a:lstStyle/>
                    <a:p>
                      <a:pPr algn="ctr"/>
                      <a:r>
                        <a:rPr lang="ko-KR" altLang="en-US" sz="850" b="0">
                          <a:solidFill>
                            <a:srgbClr val="222222"/>
                          </a:solidFill>
                          <a:latin typeface="맑은 고딕"/>
                        </a:rPr>
                        <a:t>reason</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VARCHAR(200)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차단·복구 사유</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4"/>
                  </a:ext>
                </a:extLst>
              </a:tr>
              <a:tr h="274320">
                <a:tc>
                  <a:txBody>
                    <a:bodyPr/>
                    <a:lstStyle/>
                    <a:p>
                      <a:pPr algn="ctr"/>
                      <a:r>
                        <a:rPr lang="ko-KR" altLang="en-US" sz="850" b="0">
                          <a:solidFill>
                            <a:srgbClr val="222222"/>
                          </a:solidFill>
                          <a:latin typeface="맑은 고딕"/>
                        </a:rPr>
                        <a:t>approved_by</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INT(11)</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user_info 참조(자동 Fail-Safe는 NULL)</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5"/>
                  </a:ext>
                </a:extLst>
              </a:tr>
              <a:tr h="274320">
                <a:tc>
                  <a:txBody>
                    <a:bodyPr/>
                    <a:lstStyle/>
                    <a:p>
                      <a:pPr algn="ctr"/>
                      <a:r>
                        <a:rPr lang="ko-KR" altLang="en-US" sz="850" b="0">
                          <a:solidFill>
                            <a:srgbClr val="222222"/>
                          </a:solidFill>
                          <a:latin typeface="맑은 고딕"/>
                        </a:rPr>
                        <a:t>reauth_verified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VARCHAR(1)</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재인증 확인 여부(Y/N)</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6"/>
                  </a:ext>
                </a:extLst>
              </a:tr>
              <a:tr h="274320">
                <a:tc>
                  <a:txBody>
                    <a:bodyPr/>
                    <a:lstStyle/>
                    <a:p>
                      <a:pPr algn="ctr"/>
                      <a:r>
                        <a:rPr lang="ko-KR" altLang="en-US" sz="850" b="0">
                          <a:solidFill>
                            <a:srgbClr val="222222"/>
                          </a:solidFill>
                          <a:latin typeface="맑은 고딕"/>
                        </a:rPr>
                        <a:t>created_at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DATETIME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조작 발생 일시</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7"/>
                  </a:ext>
                </a:extLst>
              </a:tr>
            </a:tbl>
          </a:graphicData>
        </a:graphic>
      </p:graphicFrame>
      <p:sp>
        <p:nvSpPr>
          <p:cNvPr id="504" name="TB504"/>
          <p:cNvSpPr txBox="1"/>
          <p:nvPr/>
        </p:nvSpPr>
        <p:spPr>
          <a:xfrm>
            <a:off x="4572000" y="1847088"/>
            <a:ext cx="4291279" cy="237744"/>
          </a:xfrm>
          <a:prstGeom prst="rect">
            <a:avLst/>
          </a:prstGeom>
          <a:noFill/>
          <a:ln>
            <a:noFill/>
          </a:ln>
        </p:spPr>
        <p:txBody>
          <a:bodyPr wrap="square" lIns="0" tIns="0" rIns="0" bIns="0" anchor="b">
            <a:noAutofit/>
          </a:bodyPr>
          <a:lstStyle/>
          <a:p>
            <a:pPr algn="l"/>
            <a:r>
              <a:rPr lang="ko-KR" altLang="en-US" sz="1200" b="1" dirty="0">
                <a:solidFill>
                  <a:srgbClr val="3B5AA8"/>
                </a:solidFill>
                <a:latin typeface="맑은 고딕"/>
                <a:ea typeface="맑은 고딕"/>
              </a:rPr>
              <a:t>notice (공지사항)</a:t>
            </a:r>
          </a:p>
        </p:txBody>
      </p:sp>
      <p:graphicFrame>
        <p:nvGraphicFramePr>
          <p:cNvPr id="505" name="Tbl505"/>
          <p:cNvGraphicFramePr>
            <a:graphicFrameLocks noGrp="1"/>
          </p:cNvGraphicFramePr>
          <p:nvPr/>
        </p:nvGraphicFramePr>
        <p:xfrm>
          <a:off x="4572000" y="2121408"/>
          <a:ext cx="4291280" cy="3456600"/>
        </p:xfrm>
        <a:graphic>
          <a:graphicData uri="http://schemas.openxmlformats.org/drawingml/2006/table">
            <a:tbl>
              <a:tblPr firstRow="1"/>
              <a:tblGrid>
                <a:gridCol w="1117635">
                  <a:extLst>
                    <a:ext uri="{9D8B030D-6E8A-4147-A177-3AD203B41FA5}">
                      <a16:colId xmlns:a16="http://schemas.microsoft.com/office/drawing/2014/main" val="20000"/>
                    </a:ext>
                  </a:extLst>
                </a:gridCol>
                <a:gridCol w="974044">
                  <a:extLst>
                    <a:ext uri="{9D8B030D-6E8A-4147-A177-3AD203B41FA5}">
                      <a16:colId xmlns:a16="http://schemas.microsoft.com/office/drawing/2014/main" val="20001"/>
                    </a:ext>
                  </a:extLst>
                </a:gridCol>
                <a:gridCol w="469187">
                  <a:extLst>
                    <a:ext uri="{9D8B030D-6E8A-4147-A177-3AD203B41FA5}">
                      <a16:colId xmlns:a16="http://schemas.microsoft.com/office/drawing/2014/main" val="20002"/>
                    </a:ext>
                  </a:extLst>
                </a:gridCol>
                <a:gridCol w="612779">
                  <a:extLst>
                    <a:ext uri="{9D8B030D-6E8A-4147-A177-3AD203B41FA5}">
                      <a16:colId xmlns:a16="http://schemas.microsoft.com/office/drawing/2014/main" val="20003"/>
                    </a:ext>
                  </a:extLst>
                </a:gridCol>
                <a:gridCol w="1117635">
                  <a:extLst>
                    <a:ext uri="{9D8B030D-6E8A-4147-A177-3AD203B41FA5}">
                      <a16:colId xmlns:a16="http://schemas.microsoft.com/office/drawing/2014/main" val="20004"/>
                    </a:ext>
                  </a:extLst>
                </a:gridCol>
              </a:tblGrid>
              <a:tr h="274320">
                <a:tc>
                  <a:txBody>
                    <a:bodyPr/>
                    <a:lstStyle/>
                    <a:p>
                      <a:pPr algn="ctr"/>
                      <a:r>
                        <a:rPr lang="ko-KR" altLang="en-US" sz="900" b="1">
                          <a:solidFill>
                            <a:srgbClr val="FFFFFF"/>
                          </a:solidFill>
                          <a:latin typeface="맑은 고딕"/>
                        </a:rPr>
                        <a:t>항목명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Type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PK/FK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필수/선택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설명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extLst>
                  <a:ext uri="{0D108BD9-81ED-4DB2-BD59-A6C34878D82A}">
                    <a16:rowId xmlns:a16="http://schemas.microsoft.com/office/drawing/2014/main" val="10000"/>
                  </a:ext>
                </a:extLst>
              </a:tr>
              <a:tr h="274320">
                <a:tc>
                  <a:txBody>
                    <a:bodyPr/>
                    <a:lstStyle/>
                    <a:p>
                      <a:pPr algn="ctr"/>
                      <a:r>
                        <a:rPr lang="ko-KR" altLang="en-US" sz="850" b="0">
                          <a:solidFill>
                            <a:srgbClr val="222222"/>
                          </a:solidFill>
                          <a:latin typeface="맑은 고딕"/>
                        </a:rPr>
                        <a:t>notice_id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INT(11)</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PK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공지 일련번호</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1"/>
                  </a:ext>
                </a:extLst>
              </a:tr>
              <a:tr h="274320">
                <a:tc>
                  <a:txBody>
                    <a:bodyPr/>
                    <a:lstStyle/>
                    <a:p>
                      <a:pPr algn="ctr"/>
                      <a:r>
                        <a:rPr lang="ko-KR" altLang="en-US" sz="850" b="0">
                          <a:solidFill>
                            <a:srgbClr val="222222"/>
                          </a:solidFill>
                          <a:latin typeface="맑은 고딕"/>
                        </a:rPr>
                        <a:t>admin_id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INT(11)</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user_info 참조(작성자)</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2"/>
                  </a:ext>
                </a:extLst>
              </a:tr>
              <a:tr h="274320">
                <a:tc>
                  <a:txBody>
                    <a:bodyPr/>
                    <a:lstStyle/>
                    <a:p>
                      <a:pPr algn="ctr"/>
                      <a:r>
                        <a:rPr lang="ko-KR" altLang="en-US" sz="850" b="0">
                          <a:solidFill>
                            <a:srgbClr val="222222"/>
                          </a:solidFill>
                          <a:latin typeface="맑은 고딕"/>
                        </a:rPr>
                        <a:t>category</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VARCHAR(20)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업데이트/점검/기타</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3"/>
                  </a:ext>
                </a:extLst>
              </a:tr>
              <a:tr h="274320">
                <a:tc>
                  <a:txBody>
                    <a:bodyPr/>
                    <a:lstStyle/>
                    <a:p>
                      <a:pPr algn="ctr"/>
                      <a:r>
                        <a:rPr lang="ko-KR" altLang="en-US" sz="850" b="0">
                          <a:solidFill>
                            <a:srgbClr val="222222"/>
                          </a:solidFill>
                          <a:latin typeface="맑은 고딕"/>
                        </a:rPr>
                        <a:t>title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VARCHAR(100)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공지 제목</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4"/>
                  </a:ext>
                </a:extLst>
              </a:tr>
              <a:tr h="274320">
                <a:tc>
                  <a:txBody>
                    <a:bodyPr/>
                    <a:lstStyle/>
                    <a:p>
                      <a:pPr algn="ctr"/>
                      <a:r>
                        <a:rPr lang="ko-KR" altLang="en-US" sz="850" b="0">
                          <a:solidFill>
                            <a:srgbClr val="222222"/>
                          </a:solidFill>
                          <a:latin typeface="맑은 고딕"/>
                        </a:rPr>
                        <a:t>content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TEXT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공지 본문</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5"/>
                  </a:ext>
                </a:extLst>
              </a:tr>
              <a:tr h="274320">
                <a:tc>
                  <a:txBody>
                    <a:bodyPr/>
                    <a:lstStyle/>
                    <a:p>
                      <a:pPr algn="ctr"/>
                      <a:r>
                        <a:rPr lang="ko-KR" altLang="en-US" sz="850" b="0">
                          <a:solidFill>
                            <a:srgbClr val="222222"/>
                          </a:solidFill>
                          <a:latin typeface="맑은 고딕"/>
                        </a:rPr>
                        <a:t>scope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VARCHAR(20)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공개 범위(전체/특정그룹)</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6"/>
                  </a:ext>
                </a:extLst>
              </a:tr>
              <a:tr h="274320">
                <a:tc>
                  <a:txBody>
                    <a:bodyPr/>
                    <a:lstStyle/>
                    <a:p>
                      <a:pPr algn="ctr"/>
                      <a:r>
                        <a:rPr lang="ko-KR" altLang="en-US" sz="850" b="0">
                          <a:solidFill>
                            <a:srgbClr val="222222"/>
                          </a:solidFill>
                          <a:latin typeface="맑은 고딕"/>
                        </a:rPr>
                        <a:t>push_notify</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VARCHAR(1)</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웹푸시 발송 여부(Y/N)</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7"/>
                  </a:ext>
                </a:extLst>
              </a:tr>
              <a:tr h="274320">
                <a:tc>
                  <a:txBody>
                    <a:bodyPr/>
                    <a:lstStyle/>
                    <a:p>
                      <a:pPr algn="ctr"/>
                      <a:r>
                        <a:rPr lang="ko-KR" altLang="en-US" sz="850" b="0">
                          <a:solidFill>
                            <a:srgbClr val="222222"/>
                          </a:solidFill>
                          <a:latin typeface="맑은 고딕"/>
                        </a:rPr>
                        <a:t>kakao_notify</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VARCHAR(1)</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카카오 발송 여부(Y/N)</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8"/>
                  </a:ext>
                </a:extLst>
              </a:tr>
              <a:tr h="274320">
                <a:tc>
                  <a:txBody>
                    <a:bodyPr/>
                    <a:lstStyle/>
                    <a:p>
                      <a:pPr algn="ctr"/>
                      <a:r>
                        <a:rPr lang="ko-KR" altLang="en-US" sz="850" b="0">
                          <a:solidFill>
                            <a:srgbClr val="222222"/>
                          </a:solidFill>
                          <a:latin typeface="맑은 고딕"/>
                        </a:rPr>
                        <a:t>status</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VARCHAR(10)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DRAFT/PUBLISHED/ARCHIVED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9"/>
                  </a:ext>
                </a:extLst>
              </a:tr>
              <a:tr h="274320">
                <a:tc>
                  <a:txBody>
                    <a:bodyPr/>
                    <a:lstStyle/>
                    <a:p>
                      <a:pPr algn="ctr"/>
                      <a:r>
                        <a:rPr lang="ko-KR" altLang="en-US" sz="850" b="0">
                          <a:solidFill>
                            <a:srgbClr val="222222"/>
                          </a:solidFill>
                          <a:latin typeface="맑은 고딕"/>
                        </a:rPr>
                        <a:t>created_at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DATETIME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작성 일시</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10"/>
                  </a:ext>
                </a:extLst>
              </a:tr>
              <a:tr h="274320">
                <a:tc>
                  <a:txBody>
                    <a:bodyPr/>
                    <a:lstStyle/>
                    <a:p>
                      <a:pPr algn="ctr"/>
                      <a:r>
                        <a:rPr lang="ko-KR" altLang="en-US" sz="850" b="0">
                          <a:solidFill>
                            <a:srgbClr val="222222"/>
                          </a:solidFill>
                          <a:latin typeface="맑은 고딕"/>
                        </a:rPr>
                        <a:t>published_at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DATETIME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게시 일시</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7144692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직사각형 16"/>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직선 연결선 17"/>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 name="직선 연결선 22"/>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4"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None/>
            </a:pPr>
            <a:r>
              <a:rPr lang="en-US" altLang="ko-KR" sz="1700" b="1" dirty="0">
                <a:solidFill>
                  <a:schemeClr val="bg1"/>
                </a:solidFill>
                <a:latin typeface="+mn-ea"/>
                <a:cs typeface="+mj-cs"/>
              </a:rPr>
              <a:t>| </a:t>
            </a:r>
            <a:r>
              <a:rPr lang="ko-KR" altLang="en-US" sz="1700" b="1" dirty="0">
                <a:solidFill>
                  <a:schemeClr val="bg1"/>
                </a:solidFill>
                <a:latin typeface="+mn-ea"/>
                <a:cs typeface="+mj-cs"/>
              </a:rPr>
              <a:t>테이블 정의서</a:t>
            </a:r>
          </a:p>
        </p:txBody>
      </p:sp>
      <p:pic>
        <p:nvPicPr>
          <p:cNvPr id="29"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0" name="막힌 원호 29"/>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2" name="그림 1">
            <a:extLst>
              <a:ext uri="{FF2B5EF4-FFF2-40B4-BE49-F238E27FC236}">
                <a16:creationId xmlns:a16="http://schemas.microsoft.com/office/drawing/2014/main" id="{AE311E42-8094-1ED2-BF9F-D52B09934D67}"/>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501" name="TB501"/>
          <p:cNvSpPr txBox="1"/>
          <p:nvPr/>
        </p:nvSpPr>
        <p:spPr>
          <a:xfrm>
            <a:off x="402336" y="1463040"/>
            <a:ext cx="8229600" cy="292608"/>
          </a:xfrm>
          <a:prstGeom prst="rect">
            <a:avLst/>
          </a:prstGeom>
          <a:noFill/>
          <a:ln>
            <a:noFill/>
          </a:ln>
        </p:spPr>
        <p:txBody>
          <a:bodyPr wrap="square" lIns="0" tIns="0" rIns="0" bIns="0" anchor="ctr">
            <a:noAutofit/>
          </a:bodyPr>
          <a:lstStyle/>
          <a:p>
            <a:pPr algn="l"/>
            <a:r>
              <a:rPr lang="ko-KR" altLang="en-US" sz="1300" dirty="0">
                <a:solidFill>
                  <a:srgbClr val="2563EB"/>
                </a:solidFill>
                <a:latin typeface="맑은 고딕"/>
                <a:ea typeface="맑은 고딕"/>
              </a:rPr>
              <a:t>▍ </a:t>
            </a:r>
            <a:r>
              <a:rPr lang="ko-KR" altLang="en-US" sz="1300" b="1" dirty="0">
                <a:solidFill>
                  <a:srgbClr val="2A2A2A"/>
                </a:solidFill>
                <a:latin typeface="맑은 고딕"/>
                <a:ea typeface="맑은 고딕"/>
              </a:rPr>
              <a:t>⑥ audit_log / calibration_history</a:t>
            </a:r>
          </a:p>
        </p:txBody>
      </p:sp>
      <p:sp>
        <p:nvSpPr>
          <p:cNvPr id="502" name="TB502"/>
          <p:cNvSpPr txBox="1"/>
          <p:nvPr/>
        </p:nvSpPr>
        <p:spPr>
          <a:xfrm>
            <a:off x="222199" y="1847088"/>
            <a:ext cx="4291279" cy="237744"/>
          </a:xfrm>
          <a:prstGeom prst="rect">
            <a:avLst/>
          </a:prstGeom>
          <a:noFill/>
          <a:ln>
            <a:noFill/>
          </a:ln>
        </p:spPr>
        <p:txBody>
          <a:bodyPr wrap="square" lIns="0" tIns="0" rIns="0" bIns="0" anchor="b">
            <a:noAutofit/>
          </a:bodyPr>
          <a:lstStyle/>
          <a:p>
            <a:pPr algn="l"/>
            <a:r>
              <a:rPr lang="ko-KR" altLang="en-US" sz="1200" b="1" dirty="0">
                <a:solidFill>
                  <a:srgbClr val="3B5AA8"/>
                </a:solidFill>
                <a:latin typeface="맑은 고딕"/>
                <a:ea typeface="맑은 고딕"/>
              </a:rPr>
              <a:t>audit_log (관리자 감사 로그)</a:t>
            </a:r>
          </a:p>
        </p:txBody>
      </p:sp>
      <p:graphicFrame>
        <p:nvGraphicFramePr>
          <p:cNvPr id="503" name="Tbl503"/>
          <p:cNvGraphicFramePr>
            <a:graphicFrameLocks noGrp="1"/>
          </p:cNvGraphicFramePr>
          <p:nvPr/>
        </p:nvGraphicFramePr>
        <p:xfrm>
          <a:off x="222199" y="2121408"/>
          <a:ext cx="4291280" cy="2986260"/>
        </p:xfrm>
        <a:graphic>
          <a:graphicData uri="http://schemas.openxmlformats.org/drawingml/2006/table">
            <a:tbl>
              <a:tblPr firstRow="1"/>
              <a:tblGrid>
                <a:gridCol w="1117635">
                  <a:extLst>
                    <a:ext uri="{9D8B030D-6E8A-4147-A177-3AD203B41FA5}">
                      <a16:colId xmlns:a16="http://schemas.microsoft.com/office/drawing/2014/main" val="20000"/>
                    </a:ext>
                  </a:extLst>
                </a:gridCol>
                <a:gridCol w="974044">
                  <a:extLst>
                    <a:ext uri="{9D8B030D-6E8A-4147-A177-3AD203B41FA5}">
                      <a16:colId xmlns:a16="http://schemas.microsoft.com/office/drawing/2014/main" val="20001"/>
                    </a:ext>
                  </a:extLst>
                </a:gridCol>
                <a:gridCol w="469187">
                  <a:extLst>
                    <a:ext uri="{9D8B030D-6E8A-4147-A177-3AD203B41FA5}">
                      <a16:colId xmlns:a16="http://schemas.microsoft.com/office/drawing/2014/main" val="20002"/>
                    </a:ext>
                  </a:extLst>
                </a:gridCol>
                <a:gridCol w="612779">
                  <a:extLst>
                    <a:ext uri="{9D8B030D-6E8A-4147-A177-3AD203B41FA5}">
                      <a16:colId xmlns:a16="http://schemas.microsoft.com/office/drawing/2014/main" val="20003"/>
                    </a:ext>
                  </a:extLst>
                </a:gridCol>
                <a:gridCol w="1117635">
                  <a:extLst>
                    <a:ext uri="{9D8B030D-6E8A-4147-A177-3AD203B41FA5}">
                      <a16:colId xmlns:a16="http://schemas.microsoft.com/office/drawing/2014/main" val="20004"/>
                    </a:ext>
                  </a:extLst>
                </a:gridCol>
              </a:tblGrid>
              <a:tr h="274320">
                <a:tc>
                  <a:txBody>
                    <a:bodyPr/>
                    <a:lstStyle/>
                    <a:p>
                      <a:pPr algn="ctr"/>
                      <a:r>
                        <a:rPr lang="ko-KR" altLang="en-US" sz="900" b="1">
                          <a:solidFill>
                            <a:srgbClr val="FFFFFF"/>
                          </a:solidFill>
                          <a:latin typeface="맑은 고딕"/>
                        </a:rPr>
                        <a:t>항목명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Type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PK/FK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필수/선택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설명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extLst>
                  <a:ext uri="{0D108BD9-81ED-4DB2-BD59-A6C34878D82A}">
                    <a16:rowId xmlns:a16="http://schemas.microsoft.com/office/drawing/2014/main" val="10000"/>
                  </a:ext>
                </a:extLst>
              </a:tr>
              <a:tr h="274320">
                <a:tc>
                  <a:txBody>
                    <a:bodyPr/>
                    <a:lstStyle/>
                    <a:p>
                      <a:pPr algn="ctr"/>
                      <a:r>
                        <a:rPr lang="ko-KR" altLang="en-US" sz="850" b="0">
                          <a:solidFill>
                            <a:srgbClr val="222222"/>
                          </a:solidFill>
                          <a:latin typeface="맑은 고딕"/>
                        </a:rPr>
                        <a:t>log_id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BIGINT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PK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감사 로그 일련번호</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1"/>
                  </a:ext>
                </a:extLst>
              </a:tr>
              <a:tr h="274320">
                <a:tc>
                  <a:txBody>
                    <a:bodyPr/>
                    <a:lstStyle/>
                    <a:p>
                      <a:pPr algn="ctr"/>
                      <a:r>
                        <a:rPr lang="ko-KR" altLang="en-US" sz="850" b="0">
                          <a:solidFill>
                            <a:srgbClr val="222222"/>
                          </a:solidFill>
                          <a:latin typeface="맑은 고딕"/>
                        </a:rPr>
                        <a:t>admin_id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INT(11)</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user_info.user_id 참조</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2"/>
                  </a:ext>
                </a:extLst>
              </a:tr>
              <a:tr h="274320">
                <a:tc>
                  <a:txBody>
                    <a:bodyPr/>
                    <a:lstStyle/>
                    <a:p>
                      <a:pPr algn="ctr"/>
                      <a:r>
                        <a:rPr lang="ko-KR" altLang="en-US" sz="850" b="0">
                          <a:solidFill>
                            <a:srgbClr val="222222"/>
                          </a:solidFill>
                          <a:latin typeface="맑은 고딕"/>
                        </a:rPr>
                        <a:t>action</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VARCHAR(30)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수행 행위(로그인/상태변경 등)</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3"/>
                  </a:ext>
                </a:extLst>
              </a:tr>
              <a:tr h="274320">
                <a:tc>
                  <a:txBody>
                    <a:bodyPr/>
                    <a:lstStyle/>
                    <a:p>
                      <a:pPr algn="ctr"/>
                      <a:r>
                        <a:rPr lang="ko-KR" altLang="en-US" sz="850" b="0">
                          <a:solidFill>
                            <a:srgbClr val="222222"/>
                          </a:solidFill>
                          <a:latin typeface="맑은 고딕"/>
                        </a:rPr>
                        <a:t>target_type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VARCHAR(20)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대상 유형(USER/BATTERY/NOTICE)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4"/>
                  </a:ext>
                </a:extLst>
              </a:tr>
              <a:tr h="274320">
                <a:tc>
                  <a:txBody>
                    <a:bodyPr/>
                    <a:lstStyle/>
                    <a:p>
                      <a:pPr algn="ctr"/>
                      <a:r>
                        <a:rPr lang="ko-KR" altLang="en-US" sz="850" b="0">
                          <a:solidFill>
                            <a:srgbClr val="222222"/>
                          </a:solidFill>
                          <a:latin typeface="맑은 고딕"/>
                        </a:rPr>
                        <a:t>target_id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VARCHAR(40)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대상 식별자</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5"/>
                  </a:ext>
                </a:extLst>
              </a:tr>
              <a:tr h="274320">
                <a:tc>
                  <a:txBody>
                    <a:bodyPr/>
                    <a:lstStyle/>
                    <a:p>
                      <a:pPr algn="ctr"/>
                      <a:r>
                        <a:rPr lang="ko-KR" altLang="en-US" sz="850" b="0">
                          <a:solidFill>
                            <a:srgbClr val="222222"/>
                          </a:solidFill>
                          <a:latin typeface="맑은 고딕"/>
                        </a:rPr>
                        <a:t>before_value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TEXT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변경 전 값</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6"/>
                  </a:ext>
                </a:extLst>
              </a:tr>
              <a:tr h="274320">
                <a:tc>
                  <a:txBody>
                    <a:bodyPr/>
                    <a:lstStyle/>
                    <a:p>
                      <a:pPr algn="ctr"/>
                      <a:r>
                        <a:rPr lang="ko-KR" altLang="en-US" sz="850" b="0">
                          <a:solidFill>
                            <a:srgbClr val="222222"/>
                          </a:solidFill>
                          <a:latin typeface="맑은 고딕"/>
                        </a:rPr>
                        <a:t>after_value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TEXT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변경 후 값</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7"/>
                  </a:ext>
                </a:extLst>
              </a:tr>
              <a:tr h="274320">
                <a:tc>
                  <a:txBody>
                    <a:bodyPr/>
                    <a:lstStyle/>
                    <a:p>
                      <a:pPr algn="ctr"/>
                      <a:r>
                        <a:rPr lang="ko-KR" altLang="en-US" sz="850" b="0">
                          <a:solidFill>
                            <a:srgbClr val="222222"/>
                          </a:solidFill>
                          <a:latin typeface="맑은 고딕"/>
                        </a:rPr>
                        <a:t>reason</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VARCHAR(200)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변경 사유</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8"/>
                  </a:ext>
                </a:extLst>
              </a:tr>
              <a:tr h="274320">
                <a:tc>
                  <a:txBody>
                    <a:bodyPr/>
                    <a:lstStyle/>
                    <a:p>
                      <a:pPr algn="ctr"/>
                      <a:r>
                        <a:rPr lang="ko-KR" altLang="en-US" sz="850" b="0">
                          <a:solidFill>
                            <a:srgbClr val="222222"/>
                          </a:solidFill>
                          <a:latin typeface="맑은 고딕"/>
                        </a:rPr>
                        <a:t>created_at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DATETIME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기록 일시(수정·삭제 불가)</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9"/>
                  </a:ext>
                </a:extLst>
              </a:tr>
            </a:tbl>
          </a:graphicData>
        </a:graphic>
      </p:graphicFrame>
      <p:sp>
        <p:nvSpPr>
          <p:cNvPr id="504" name="TB504"/>
          <p:cNvSpPr txBox="1"/>
          <p:nvPr/>
        </p:nvSpPr>
        <p:spPr>
          <a:xfrm>
            <a:off x="4572000" y="1847088"/>
            <a:ext cx="4291279" cy="237744"/>
          </a:xfrm>
          <a:prstGeom prst="rect">
            <a:avLst/>
          </a:prstGeom>
          <a:noFill/>
          <a:ln>
            <a:noFill/>
          </a:ln>
        </p:spPr>
        <p:txBody>
          <a:bodyPr wrap="square" lIns="0" tIns="0" rIns="0" bIns="0" anchor="b">
            <a:noAutofit/>
          </a:bodyPr>
          <a:lstStyle/>
          <a:p>
            <a:pPr algn="l"/>
            <a:r>
              <a:rPr lang="ko-KR" altLang="en-US" sz="1200" b="1" dirty="0">
                <a:solidFill>
                  <a:srgbClr val="3B5AA8"/>
                </a:solidFill>
                <a:latin typeface="맑은 고딕"/>
                <a:ea typeface="맑은 고딕"/>
              </a:rPr>
              <a:t>calibration_history (캘리브레이션 이력)</a:t>
            </a:r>
          </a:p>
        </p:txBody>
      </p:sp>
      <p:graphicFrame>
        <p:nvGraphicFramePr>
          <p:cNvPr id="505" name="Tbl505"/>
          <p:cNvGraphicFramePr>
            <a:graphicFrameLocks noGrp="1"/>
          </p:cNvGraphicFramePr>
          <p:nvPr/>
        </p:nvGraphicFramePr>
        <p:xfrm>
          <a:off x="4572000" y="2121408"/>
          <a:ext cx="4291280" cy="2290080"/>
        </p:xfrm>
        <a:graphic>
          <a:graphicData uri="http://schemas.openxmlformats.org/drawingml/2006/table">
            <a:tbl>
              <a:tblPr firstRow="1"/>
              <a:tblGrid>
                <a:gridCol w="1117635">
                  <a:extLst>
                    <a:ext uri="{9D8B030D-6E8A-4147-A177-3AD203B41FA5}">
                      <a16:colId xmlns:a16="http://schemas.microsoft.com/office/drawing/2014/main" val="20000"/>
                    </a:ext>
                  </a:extLst>
                </a:gridCol>
                <a:gridCol w="974044">
                  <a:extLst>
                    <a:ext uri="{9D8B030D-6E8A-4147-A177-3AD203B41FA5}">
                      <a16:colId xmlns:a16="http://schemas.microsoft.com/office/drawing/2014/main" val="20001"/>
                    </a:ext>
                  </a:extLst>
                </a:gridCol>
                <a:gridCol w="469187">
                  <a:extLst>
                    <a:ext uri="{9D8B030D-6E8A-4147-A177-3AD203B41FA5}">
                      <a16:colId xmlns:a16="http://schemas.microsoft.com/office/drawing/2014/main" val="20002"/>
                    </a:ext>
                  </a:extLst>
                </a:gridCol>
                <a:gridCol w="612779">
                  <a:extLst>
                    <a:ext uri="{9D8B030D-6E8A-4147-A177-3AD203B41FA5}">
                      <a16:colId xmlns:a16="http://schemas.microsoft.com/office/drawing/2014/main" val="20003"/>
                    </a:ext>
                  </a:extLst>
                </a:gridCol>
                <a:gridCol w="1117635">
                  <a:extLst>
                    <a:ext uri="{9D8B030D-6E8A-4147-A177-3AD203B41FA5}">
                      <a16:colId xmlns:a16="http://schemas.microsoft.com/office/drawing/2014/main" val="20004"/>
                    </a:ext>
                  </a:extLst>
                </a:gridCol>
              </a:tblGrid>
              <a:tr h="274320">
                <a:tc>
                  <a:txBody>
                    <a:bodyPr/>
                    <a:lstStyle/>
                    <a:p>
                      <a:pPr algn="ctr"/>
                      <a:r>
                        <a:rPr lang="ko-KR" altLang="en-US" sz="900" b="1">
                          <a:solidFill>
                            <a:srgbClr val="FFFFFF"/>
                          </a:solidFill>
                          <a:latin typeface="맑은 고딕"/>
                        </a:rPr>
                        <a:t>항목명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Type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PK/FK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필수/선택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tc>
                  <a:txBody>
                    <a:bodyPr/>
                    <a:lstStyle/>
                    <a:p>
                      <a:pPr algn="ctr"/>
                      <a:r>
                        <a:rPr lang="ko-KR" altLang="en-US" sz="900" b="1">
                          <a:solidFill>
                            <a:srgbClr val="FFFFFF"/>
                          </a:solidFill>
                          <a:latin typeface="맑은 고딕"/>
                        </a:rPr>
                        <a:t>설명</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3B5AA8"/>
                    </a:solidFill>
                  </a:tcPr>
                </a:tc>
                <a:extLst>
                  <a:ext uri="{0D108BD9-81ED-4DB2-BD59-A6C34878D82A}">
                    <a16:rowId xmlns:a16="http://schemas.microsoft.com/office/drawing/2014/main" val="10000"/>
                  </a:ext>
                </a:extLst>
              </a:tr>
              <a:tr h="274320">
                <a:tc>
                  <a:txBody>
                    <a:bodyPr/>
                    <a:lstStyle/>
                    <a:p>
                      <a:pPr algn="ctr"/>
                      <a:r>
                        <a:rPr lang="ko-KR" altLang="en-US" sz="850" b="0">
                          <a:solidFill>
                            <a:srgbClr val="222222"/>
                          </a:solidFill>
                          <a:latin typeface="맑은 고딕"/>
                        </a:rPr>
                        <a:t>calibration_id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INT(11)</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PK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캘리브레이션 이력 일련번호</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1"/>
                  </a:ext>
                </a:extLst>
              </a:tr>
              <a:tr h="274320">
                <a:tc>
                  <a:txBody>
                    <a:bodyPr/>
                    <a:lstStyle/>
                    <a:p>
                      <a:pPr algn="ctr"/>
                      <a:r>
                        <a:rPr lang="ko-KR" altLang="en-US" sz="850" b="0">
                          <a:solidFill>
                            <a:srgbClr val="222222"/>
                          </a:solidFill>
                          <a:latin typeface="맑은 고딕"/>
                        </a:rPr>
                        <a:t>device_id</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VARCHAR(40)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FK</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device_info.device_id 참조</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2"/>
                  </a:ext>
                </a:extLst>
              </a:tr>
              <a:tr h="274320">
                <a:tc>
                  <a:txBody>
                    <a:bodyPr/>
                    <a:lstStyle/>
                    <a:p>
                      <a:pPr algn="ctr"/>
                      <a:r>
                        <a:rPr lang="ko-KR" altLang="en-US" sz="850" b="0">
                          <a:solidFill>
                            <a:srgbClr val="222222"/>
                          </a:solidFill>
                          <a:latin typeface="맑은 고딕"/>
                        </a:rPr>
                        <a:t>sensor_type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VARCHAR(30)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보정 대상 센서</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3"/>
                  </a:ext>
                </a:extLst>
              </a:tr>
              <a:tr h="274320">
                <a:tc>
                  <a:txBody>
                    <a:bodyPr/>
                    <a:lstStyle/>
                    <a:p>
                      <a:pPr algn="ctr"/>
                      <a:r>
                        <a:rPr lang="ko-KR" altLang="en-US" sz="850" b="0">
                          <a:solidFill>
                            <a:srgbClr val="222222"/>
                          </a:solidFill>
                          <a:latin typeface="맑은 고딕"/>
                        </a:rPr>
                        <a:t>calibrated_at</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DATE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보정 수행일</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4"/>
                  </a:ext>
                </a:extLst>
              </a:tr>
              <a:tr h="274320">
                <a:tc>
                  <a:txBody>
                    <a:bodyPr/>
                    <a:lstStyle/>
                    <a:p>
                      <a:pPr algn="ctr"/>
                      <a:r>
                        <a:rPr lang="ko-KR" altLang="en-US" sz="850" b="0">
                          <a:solidFill>
                            <a:srgbClr val="222222"/>
                          </a:solidFill>
                          <a:latin typeface="맑은 고딕"/>
                        </a:rPr>
                        <a:t>calibrated_by</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VARCHAR(50)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선택</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보정 담당자</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5"/>
                  </a:ext>
                </a:extLst>
              </a:tr>
              <a:tr h="274320">
                <a:tc>
                  <a:txBody>
                    <a:bodyPr/>
                    <a:lstStyle/>
                    <a:p>
                      <a:pPr algn="ctr"/>
                      <a:r>
                        <a:rPr lang="ko-KR" altLang="en-US" sz="850" b="0">
                          <a:solidFill>
                            <a:srgbClr val="222222"/>
                          </a:solidFill>
                          <a:latin typeface="맑은 고딕"/>
                        </a:rPr>
                        <a:t>valid_until</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DATE</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유효기간 만료일</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6"/>
                  </a:ext>
                </a:extLst>
              </a:tr>
              <a:tr h="274320">
                <a:tc>
                  <a:txBody>
                    <a:bodyPr/>
                    <a:lstStyle/>
                    <a:p>
                      <a:pPr algn="ctr"/>
                      <a:r>
                        <a:rPr lang="ko-KR" altLang="en-US" sz="850" b="0">
                          <a:solidFill>
                            <a:srgbClr val="222222"/>
                          </a:solidFill>
                          <a:latin typeface="맑은 고딕"/>
                        </a:rPr>
                        <a:t>status</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VARCHAR(10)</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endParaRP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필수</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tc>
                  <a:txBody>
                    <a:bodyPr/>
                    <a:lstStyle/>
                    <a:p>
                      <a:pPr algn="ctr"/>
                      <a:r>
                        <a:rPr lang="ko-KR" altLang="en-US" sz="850" b="0">
                          <a:solidFill>
                            <a:srgbClr val="222222"/>
                          </a:solidFill>
                          <a:latin typeface="맑은 고딕"/>
                        </a:rPr>
                        <a:t>유효/만료임박/만료</a:t>
                      </a:r>
                    </a:p>
                  </a:txBody>
                  <a:tcPr marL="36000" marR="36000" marT="9000" marB="9000" anchor="ctr">
                    <a:lnL w="6350">
                      <a:solidFill>
                        <a:srgbClr val="D9DCE3"/>
                      </a:solidFill>
                    </a:lnL>
                    <a:lnR w="6350">
                      <a:solidFill>
                        <a:srgbClr val="D9DCE3"/>
                      </a:solidFill>
                    </a:lnR>
                    <a:lnT w="6350">
                      <a:solidFill>
                        <a:srgbClr val="D9DCE3"/>
                      </a:solidFill>
                    </a:lnT>
                    <a:lnB w="6350">
                      <a:solidFill>
                        <a:srgbClr val="D9DCE3"/>
                      </a:solidFill>
                    </a:lnB>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08986555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직사각형 20"/>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2" name="직선 연결선 21"/>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직선 연결선 24"/>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8" name="제목 12"/>
          <p:cNvSpPr txBox="1">
            <a:spLocks/>
          </p:cNvSpPr>
          <p:nvPr/>
        </p:nvSpPr>
        <p:spPr>
          <a:xfrm>
            <a:off x="323528" y="692697"/>
            <a:ext cx="2952328" cy="272474"/>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a:t>
            </a:r>
            <a:r>
              <a:rPr kumimoji="0" lang="ko-KR" altLang="en-US" sz="1700" b="1" i="0" u="none" strike="noStrike" kern="1200" cap="none" spc="0" normalizeH="0" baseline="0" noProof="0" dirty="0">
                <a:ln>
                  <a:noFill/>
                </a:ln>
                <a:solidFill>
                  <a:schemeClr val="bg1"/>
                </a:solidFill>
                <a:effectLst/>
                <a:uLnTx/>
                <a:uFillTx/>
                <a:latin typeface="+mn-ea"/>
                <a:cs typeface="+mj-cs"/>
              </a:rPr>
              <a:t>핵심 소스코드</a:t>
            </a:r>
            <a:r>
              <a:rPr kumimoji="0" lang="en-US" altLang="ko-KR" sz="1700" b="1" i="0" u="none" strike="noStrike" kern="1200" cap="none" spc="0" normalizeH="0" baseline="0" noProof="0" dirty="0">
                <a:ln>
                  <a:noFill/>
                </a:ln>
                <a:solidFill>
                  <a:schemeClr val="bg1"/>
                </a:solidFill>
                <a:effectLst/>
                <a:uLnTx/>
                <a:uFillTx/>
                <a:latin typeface="+mn-ea"/>
                <a:cs typeface="+mj-cs"/>
              </a:rPr>
              <a:t>(1)</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30"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2" name="막힌 원호 31"/>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2" name="그림 1">
            <a:extLst>
              <a:ext uri="{FF2B5EF4-FFF2-40B4-BE49-F238E27FC236}">
                <a16:creationId xmlns:a16="http://schemas.microsoft.com/office/drawing/2014/main" id="{FF8B2554-4982-E7CB-6CA8-D35BFBB015EA}"/>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101" name="Realtime code panel left"/>
          <p:cNvSpPr/>
          <p:nvPr/>
        </p:nvSpPr>
        <p:spPr>
          <a:xfrm>
            <a:off x="322406" y="2279860"/>
            <a:ext cx="4035000" cy="3910000"/>
          </a:xfrm>
          <a:prstGeom prst="roundRect">
            <a:avLst/>
          </a:prstGeom>
          <a:solidFill>
            <a:srgbClr val="FFFFFF"/>
          </a:solidFill>
          <a:ln w="12700">
            <a:solidFill>
              <a:srgbClr val="3F5FA9"/>
            </a:solidFill>
          </a:ln>
        </p:spPr>
        <p:txBody>
          <a:bodyPr wrap="square" lIns="90000" tIns="70000" rIns="90000" bIns="70000" anchor="t"/>
          <a:lstStyle/>
          <a:p>
            <a:endParaRPr/>
          </a:p>
        </p:txBody>
      </p:sp>
      <p:sp>
        <p:nvSpPr>
          <p:cNvPr id="102" name="Realtime code panel right"/>
          <p:cNvSpPr/>
          <p:nvPr/>
        </p:nvSpPr>
        <p:spPr>
          <a:xfrm>
            <a:off x="4641456" y="2279860"/>
            <a:ext cx="4035000" cy="3910000"/>
          </a:xfrm>
          <a:prstGeom prst="roundRect">
            <a:avLst/>
          </a:prstGeom>
          <a:solidFill>
            <a:srgbClr val="FFFFFF"/>
          </a:solidFill>
          <a:ln w="12700">
            <a:solidFill>
              <a:srgbClr val="3F5FA9"/>
            </a:solidFill>
          </a:ln>
        </p:spPr>
        <p:txBody>
          <a:bodyPr wrap="square" lIns="90000" tIns="70000" rIns="90000" bIns="70000" anchor="t"/>
          <a:lstStyle/>
          <a:p>
            <a:endParaRPr/>
          </a:p>
        </p:txBody>
      </p:sp>
      <p:sp>
        <p:nvSpPr>
          <p:cNvPr id="103" name="Realtime code heading left"/>
          <p:cNvSpPr/>
          <p:nvPr/>
        </p:nvSpPr>
        <p:spPr>
          <a:xfrm>
            <a:off x="322406" y="2279860"/>
            <a:ext cx="4035000" cy="360000"/>
          </a:xfrm>
          <a:prstGeom prst="roundRect">
            <a:avLst/>
          </a:prstGeom>
          <a:solidFill>
            <a:srgbClr val="3F5FA9"/>
          </a:solidFill>
          <a:ln>
            <a:noFill/>
          </a:ln>
        </p:spPr>
        <p:txBody>
          <a:bodyPr wrap="square" lIns="120000" tIns="45000" rIns="90000" bIns="45000" anchor="ctr"/>
          <a:lstStyle/>
          <a:p>
            <a:r>
              <a:rPr lang="ko-KR" sz="1500" b="1">
                <a:solidFill>
                  <a:srgbClr val="FFFFFF"/>
                </a:solidFill>
                <a:latin typeface="맑은 고딕"/>
                <a:ea typeface="맑은 고딕"/>
                <a:cs typeface="맑은 고딕"/>
              </a:rPr>
              <a:t>1. WebSocket 수신 및 상태관리</a:t>
            </a:r>
          </a:p>
        </p:txBody>
      </p:sp>
      <p:sp>
        <p:nvSpPr>
          <p:cNvPr id="104" name="Realtime code heading right"/>
          <p:cNvSpPr/>
          <p:nvPr/>
        </p:nvSpPr>
        <p:spPr>
          <a:xfrm>
            <a:off x="4641456" y="2279860"/>
            <a:ext cx="4035000" cy="360000"/>
          </a:xfrm>
          <a:prstGeom prst="roundRect">
            <a:avLst/>
          </a:prstGeom>
          <a:solidFill>
            <a:srgbClr val="3F5FA9"/>
          </a:solidFill>
          <a:ln>
            <a:noFill/>
          </a:ln>
        </p:spPr>
        <p:txBody>
          <a:bodyPr wrap="square" lIns="120000" tIns="45000" rIns="90000" bIns="45000" anchor="ctr"/>
          <a:lstStyle/>
          <a:p>
            <a:r>
              <a:rPr lang="ko-KR" sz="1500" b="1">
                <a:solidFill>
                  <a:srgbClr val="FFFFFF"/>
                </a:solidFill>
                <a:latin typeface="맑은 고딕"/>
                <a:ea typeface="맑은 고딕"/>
                <a:cs typeface="맑은 고딕"/>
              </a:rPr>
              <a:t>2. 이상점수 등급화 및 화면 렌더링</a:t>
            </a:r>
          </a:p>
        </p:txBody>
      </p:sp>
      <p:sp>
        <p:nvSpPr>
          <p:cNvPr id="105" name="Realtime websocket code"/>
          <p:cNvSpPr/>
          <p:nvPr/>
        </p:nvSpPr>
        <p:spPr>
          <a:xfrm>
            <a:off x="396456" y="2709860"/>
            <a:ext cx="3885000" cy="3300000"/>
          </a:xfrm>
          <a:prstGeom prst="roundRect">
            <a:avLst/>
          </a:prstGeom>
          <a:solidFill>
            <a:schemeClr val="bg1"/>
          </a:solidFill>
          <a:ln>
            <a:noFill/>
          </a:ln>
        </p:spPr>
        <p:txBody>
          <a:bodyPr wrap="square" lIns="85000" tIns="65000" rIns="70000" bIns="65000" anchor="t"/>
          <a:lstStyle/>
          <a:p>
            <a:r>
              <a:rPr lang="ko-KR" sz="720" dirty="0" err="1">
                <a:solidFill>
                  <a:srgbClr val="1F2937"/>
                </a:solidFill>
                <a:latin typeface="Consolas"/>
                <a:ea typeface="Consolas"/>
                <a:cs typeface="Consolas"/>
              </a:rPr>
              <a:t>useEffect</a:t>
            </a:r>
            <a:r>
              <a:rPr lang="ko-KR" sz="720" dirty="0">
                <a:solidFill>
                  <a:srgbClr val="1F2937"/>
                </a:solidFill>
                <a:latin typeface="Consolas"/>
                <a:ea typeface="Consolas"/>
                <a:cs typeface="Consolas"/>
              </a:rPr>
              <a:t>(() =&gt; {</a:t>
            </a:r>
          </a:p>
          <a:p>
            <a:r>
              <a:rPr lang="ko-KR" sz="720" dirty="0">
                <a:solidFill>
                  <a:srgbClr val="1F2937"/>
                </a:solidFill>
                <a:latin typeface="Consolas"/>
                <a:ea typeface="Consolas"/>
                <a:cs typeface="Consolas"/>
              </a:rPr>
              <a:t>  </a:t>
            </a:r>
            <a:r>
              <a:rPr lang="ko-KR" sz="720" dirty="0" err="1">
                <a:solidFill>
                  <a:srgbClr val="1F2937"/>
                </a:solidFill>
                <a:latin typeface="Consolas"/>
                <a:ea typeface="Consolas"/>
                <a:cs typeface="Consolas"/>
              </a:rPr>
              <a:t>let</a:t>
            </a:r>
            <a:r>
              <a:rPr lang="ko-KR" sz="720" dirty="0">
                <a:solidFill>
                  <a:srgbClr val="1F2937"/>
                </a:solidFill>
                <a:latin typeface="Consolas"/>
                <a:ea typeface="Consolas"/>
                <a:cs typeface="Consolas"/>
              </a:rPr>
              <a:t> </a:t>
            </a:r>
            <a:r>
              <a:rPr lang="ko-KR" sz="720" dirty="0" err="1">
                <a:solidFill>
                  <a:srgbClr val="1F2937"/>
                </a:solidFill>
                <a:latin typeface="Consolas"/>
                <a:ea typeface="Consolas"/>
                <a:cs typeface="Consolas"/>
              </a:rPr>
              <a:t>ws</a:t>
            </a:r>
            <a:r>
              <a:rPr lang="ko-KR" sz="720" dirty="0">
                <a:solidFill>
                  <a:srgbClr val="1F2937"/>
                </a:solidFill>
                <a:latin typeface="Consolas"/>
                <a:ea typeface="Consolas"/>
                <a:cs typeface="Consolas"/>
              </a:rPr>
              <a:t>, </a:t>
            </a:r>
            <a:r>
              <a:rPr lang="ko-KR" sz="720" dirty="0" err="1">
                <a:solidFill>
                  <a:srgbClr val="1F2937"/>
                </a:solidFill>
                <a:latin typeface="Consolas"/>
                <a:ea typeface="Consolas"/>
                <a:cs typeface="Consolas"/>
              </a:rPr>
              <a:t>retry</a:t>
            </a:r>
            <a:r>
              <a:rPr lang="ko-KR" sz="720" dirty="0">
                <a:solidFill>
                  <a:srgbClr val="1F2937"/>
                </a:solidFill>
                <a:latin typeface="Consolas"/>
                <a:ea typeface="Consolas"/>
                <a:cs typeface="Consolas"/>
              </a:rPr>
              <a:t>;</a:t>
            </a:r>
          </a:p>
          <a:p>
            <a:endParaRPr lang="ko-KR" sz="720" dirty="0">
              <a:solidFill>
                <a:srgbClr val="1F2937"/>
              </a:solidFill>
              <a:latin typeface="Consolas"/>
              <a:ea typeface="Consolas"/>
              <a:cs typeface="Consolas"/>
            </a:endParaRPr>
          </a:p>
          <a:p>
            <a:r>
              <a:rPr lang="ko-KR" sz="720" dirty="0">
                <a:solidFill>
                  <a:srgbClr val="1F2937"/>
                </a:solidFill>
                <a:latin typeface="Consolas"/>
                <a:ea typeface="Consolas"/>
                <a:cs typeface="Consolas"/>
              </a:rPr>
              <a:t>  </a:t>
            </a:r>
            <a:r>
              <a:rPr lang="ko-KR" sz="720" dirty="0" err="1">
                <a:solidFill>
                  <a:srgbClr val="1F2937"/>
                </a:solidFill>
                <a:latin typeface="Consolas"/>
                <a:ea typeface="Consolas"/>
                <a:cs typeface="Consolas"/>
              </a:rPr>
              <a:t>const</a:t>
            </a:r>
            <a:r>
              <a:rPr lang="ko-KR" sz="720" dirty="0">
                <a:solidFill>
                  <a:srgbClr val="1F2937"/>
                </a:solidFill>
                <a:latin typeface="Consolas"/>
                <a:ea typeface="Consolas"/>
                <a:cs typeface="Consolas"/>
              </a:rPr>
              <a:t> </a:t>
            </a:r>
            <a:r>
              <a:rPr lang="ko-KR" sz="720" dirty="0" err="1">
                <a:solidFill>
                  <a:srgbClr val="1F2937"/>
                </a:solidFill>
                <a:latin typeface="Consolas"/>
                <a:ea typeface="Consolas"/>
                <a:cs typeface="Consolas"/>
              </a:rPr>
              <a:t>connect</a:t>
            </a:r>
            <a:r>
              <a:rPr lang="ko-KR" sz="720" dirty="0">
                <a:solidFill>
                  <a:srgbClr val="1F2937"/>
                </a:solidFill>
                <a:latin typeface="Consolas"/>
                <a:ea typeface="Consolas"/>
                <a:cs typeface="Consolas"/>
              </a:rPr>
              <a:t> = () =&gt; {</a:t>
            </a:r>
          </a:p>
          <a:p>
            <a:r>
              <a:rPr lang="ko-KR" sz="720" dirty="0">
                <a:solidFill>
                  <a:srgbClr val="1F2937"/>
                </a:solidFill>
                <a:latin typeface="Consolas"/>
                <a:ea typeface="Consolas"/>
                <a:cs typeface="Consolas"/>
              </a:rPr>
              <a:t>    </a:t>
            </a:r>
            <a:r>
              <a:rPr lang="ko-KR" sz="720" dirty="0" err="1">
                <a:solidFill>
                  <a:srgbClr val="1F2937"/>
                </a:solidFill>
                <a:latin typeface="Consolas"/>
                <a:ea typeface="Consolas"/>
                <a:cs typeface="Consolas"/>
              </a:rPr>
              <a:t>const</a:t>
            </a:r>
            <a:r>
              <a:rPr lang="ko-KR" sz="720" dirty="0">
                <a:solidFill>
                  <a:srgbClr val="1F2937"/>
                </a:solidFill>
                <a:latin typeface="Consolas"/>
                <a:ea typeface="Consolas"/>
                <a:cs typeface="Consolas"/>
              </a:rPr>
              <a:t> </a:t>
            </a:r>
            <a:r>
              <a:rPr lang="ko-KR" sz="720" dirty="0" err="1">
                <a:solidFill>
                  <a:srgbClr val="1F2937"/>
                </a:solidFill>
                <a:latin typeface="Consolas"/>
                <a:ea typeface="Consolas"/>
                <a:cs typeface="Consolas"/>
              </a:rPr>
              <a:t>url</a:t>
            </a:r>
            <a:r>
              <a:rPr lang="ko-KR" sz="720" dirty="0">
                <a:solidFill>
                  <a:srgbClr val="1F2937"/>
                </a:solidFill>
                <a:latin typeface="Consolas"/>
                <a:ea typeface="Consolas"/>
                <a:cs typeface="Consolas"/>
              </a:rPr>
              <a:t> = `${WS_BASE}/</a:t>
            </a:r>
            <a:r>
              <a:rPr lang="ko-KR" sz="720" dirty="0" err="1">
                <a:solidFill>
                  <a:srgbClr val="1F2937"/>
                </a:solidFill>
                <a:latin typeface="Consolas"/>
                <a:ea typeface="Consolas"/>
                <a:cs typeface="Consolas"/>
              </a:rPr>
              <a:t>ws</a:t>
            </a:r>
            <a:r>
              <a:rPr lang="ko-KR" sz="720" dirty="0">
                <a:solidFill>
                  <a:srgbClr val="1F2937"/>
                </a:solidFill>
                <a:latin typeface="Consolas"/>
                <a:ea typeface="Consolas"/>
                <a:cs typeface="Consolas"/>
              </a:rPr>
              <a:t>/</a:t>
            </a:r>
            <a:r>
              <a:rPr lang="ko-KR" sz="720" dirty="0" err="1">
                <a:solidFill>
                  <a:srgbClr val="1F2937"/>
                </a:solidFill>
                <a:latin typeface="Consolas"/>
                <a:ea typeface="Consolas"/>
                <a:cs typeface="Consolas"/>
              </a:rPr>
              <a:t>telemetry</a:t>
            </a:r>
            <a:r>
              <a:rPr lang="ko-KR" sz="720" dirty="0">
                <a:solidFill>
                  <a:srgbClr val="1F2937"/>
                </a:solidFill>
                <a:latin typeface="Consolas"/>
                <a:ea typeface="Consolas"/>
                <a:cs typeface="Consolas"/>
              </a:rPr>
              <a:t>`;</a:t>
            </a:r>
          </a:p>
          <a:p>
            <a:r>
              <a:rPr lang="ko-KR" sz="720" dirty="0">
                <a:solidFill>
                  <a:srgbClr val="1F2937"/>
                </a:solidFill>
                <a:latin typeface="Consolas"/>
                <a:ea typeface="Consolas"/>
                <a:cs typeface="Consolas"/>
              </a:rPr>
              <a:t>    </a:t>
            </a:r>
            <a:r>
              <a:rPr lang="ko-KR" sz="720" dirty="0" err="1">
                <a:solidFill>
                  <a:srgbClr val="1F2937"/>
                </a:solidFill>
                <a:latin typeface="Consolas"/>
                <a:ea typeface="Consolas"/>
                <a:cs typeface="Consolas"/>
              </a:rPr>
              <a:t>ws</a:t>
            </a:r>
            <a:r>
              <a:rPr lang="ko-KR" sz="720" dirty="0">
                <a:solidFill>
                  <a:srgbClr val="1F2937"/>
                </a:solidFill>
                <a:latin typeface="Consolas"/>
                <a:ea typeface="Consolas"/>
                <a:cs typeface="Consolas"/>
              </a:rPr>
              <a:t> = </a:t>
            </a:r>
            <a:r>
              <a:rPr lang="ko-KR" sz="720" dirty="0" err="1">
                <a:solidFill>
                  <a:srgbClr val="1F2937"/>
                </a:solidFill>
                <a:latin typeface="Consolas"/>
                <a:ea typeface="Consolas"/>
                <a:cs typeface="Consolas"/>
              </a:rPr>
              <a:t>new</a:t>
            </a:r>
            <a:r>
              <a:rPr lang="ko-KR" sz="720" dirty="0">
                <a:solidFill>
                  <a:srgbClr val="1F2937"/>
                </a:solidFill>
                <a:latin typeface="Consolas"/>
                <a:ea typeface="Consolas"/>
                <a:cs typeface="Consolas"/>
              </a:rPr>
              <a:t> </a:t>
            </a:r>
            <a:r>
              <a:rPr lang="ko-KR" sz="720" dirty="0" err="1">
                <a:solidFill>
                  <a:srgbClr val="1F2937"/>
                </a:solidFill>
                <a:latin typeface="Consolas"/>
                <a:ea typeface="Consolas"/>
                <a:cs typeface="Consolas"/>
              </a:rPr>
              <a:t>WebSocket</a:t>
            </a:r>
            <a:r>
              <a:rPr lang="ko-KR" sz="720" dirty="0">
                <a:solidFill>
                  <a:srgbClr val="1F2937"/>
                </a:solidFill>
                <a:latin typeface="Consolas"/>
                <a:ea typeface="Consolas"/>
                <a:cs typeface="Consolas"/>
              </a:rPr>
              <a:t>(</a:t>
            </a:r>
          </a:p>
          <a:p>
            <a:r>
              <a:rPr lang="ko-KR" sz="720" dirty="0">
                <a:solidFill>
                  <a:srgbClr val="1F2937"/>
                </a:solidFill>
                <a:latin typeface="Consolas"/>
                <a:ea typeface="Consolas"/>
                <a:cs typeface="Consolas"/>
              </a:rPr>
              <a:t>      `${</a:t>
            </a:r>
            <a:r>
              <a:rPr lang="ko-KR" sz="720" dirty="0" err="1">
                <a:solidFill>
                  <a:srgbClr val="1F2937"/>
                </a:solidFill>
                <a:latin typeface="Consolas"/>
                <a:ea typeface="Consolas"/>
                <a:cs typeface="Consolas"/>
              </a:rPr>
              <a:t>url</a:t>
            </a:r>
            <a:r>
              <a:rPr lang="ko-KR" sz="720" dirty="0">
                <a:solidFill>
                  <a:srgbClr val="1F2937"/>
                </a:solidFill>
                <a:latin typeface="Consolas"/>
                <a:ea typeface="Consolas"/>
                <a:cs typeface="Consolas"/>
              </a:rPr>
              <a:t>}?</a:t>
            </a:r>
            <a:r>
              <a:rPr lang="ko-KR" sz="720" dirty="0" err="1">
                <a:solidFill>
                  <a:srgbClr val="1F2937"/>
                </a:solidFill>
                <a:latin typeface="Consolas"/>
                <a:ea typeface="Consolas"/>
                <a:cs typeface="Consolas"/>
              </a:rPr>
              <a:t>batteryId</a:t>
            </a:r>
            <a:r>
              <a:rPr lang="ko-KR" sz="720" dirty="0">
                <a:solidFill>
                  <a:srgbClr val="1F2937"/>
                </a:solidFill>
                <a:latin typeface="Consolas"/>
                <a:ea typeface="Consolas"/>
                <a:cs typeface="Consolas"/>
              </a:rPr>
              <a:t>=${</a:t>
            </a:r>
            <a:r>
              <a:rPr lang="ko-KR" sz="720" dirty="0" err="1">
                <a:solidFill>
                  <a:srgbClr val="1F2937"/>
                </a:solidFill>
                <a:latin typeface="Consolas"/>
                <a:ea typeface="Consolas"/>
                <a:cs typeface="Consolas"/>
              </a:rPr>
              <a:t>batteryId</a:t>
            </a:r>
            <a:r>
              <a:rPr lang="ko-KR" sz="720" dirty="0">
                <a:solidFill>
                  <a:srgbClr val="1F2937"/>
                </a:solidFill>
                <a:latin typeface="Consolas"/>
                <a:ea typeface="Consolas"/>
                <a:cs typeface="Consolas"/>
              </a:rPr>
              <a:t>}`</a:t>
            </a:r>
          </a:p>
          <a:p>
            <a:r>
              <a:rPr lang="ko-KR" sz="720" dirty="0">
                <a:solidFill>
                  <a:srgbClr val="1F2937"/>
                </a:solidFill>
                <a:latin typeface="Consolas"/>
                <a:ea typeface="Consolas"/>
                <a:cs typeface="Consolas"/>
              </a:rPr>
              <a:t>    );</a:t>
            </a:r>
          </a:p>
          <a:p>
            <a:endParaRPr lang="ko-KR" sz="720" dirty="0">
              <a:solidFill>
                <a:srgbClr val="1F2937"/>
              </a:solidFill>
              <a:latin typeface="Consolas"/>
              <a:ea typeface="Consolas"/>
              <a:cs typeface="Consolas"/>
            </a:endParaRPr>
          </a:p>
          <a:p>
            <a:r>
              <a:rPr lang="ko-KR" sz="720" dirty="0">
                <a:solidFill>
                  <a:srgbClr val="1F2937"/>
                </a:solidFill>
                <a:latin typeface="Consolas"/>
                <a:ea typeface="Consolas"/>
                <a:cs typeface="Consolas"/>
              </a:rPr>
              <a:t>    </a:t>
            </a:r>
            <a:r>
              <a:rPr lang="ko-KR" sz="720" dirty="0" err="1">
                <a:solidFill>
                  <a:srgbClr val="1F2937"/>
                </a:solidFill>
                <a:latin typeface="Consolas"/>
                <a:ea typeface="Consolas"/>
                <a:cs typeface="Consolas"/>
              </a:rPr>
              <a:t>ws.onopen</a:t>
            </a:r>
            <a:r>
              <a:rPr lang="ko-KR" sz="720" dirty="0">
                <a:solidFill>
                  <a:srgbClr val="1F2937"/>
                </a:solidFill>
                <a:latin typeface="Consolas"/>
                <a:ea typeface="Consolas"/>
                <a:cs typeface="Consolas"/>
              </a:rPr>
              <a:t> = () =&gt; </a:t>
            </a:r>
            <a:r>
              <a:rPr lang="ko-KR" sz="720" dirty="0" err="1">
                <a:solidFill>
                  <a:srgbClr val="1F2937"/>
                </a:solidFill>
                <a:latin typeface="Consolas"/>
                <a:ea typeface="Consolas"/>
                <a:cs typeface="Consolas"/>
              </a:rPr>
              <a:t>setConnected</a:t>
            </a:r>
            <a:r>
              <a:rPr lang="ko-KR" sz="720" dirty="0">
                <a:solidFill>
                  <a:srgbClr val="1F2937"/>
                </a:solidFill>
                <a:latin typeface="Consolas"/>
                <a:ea typeface="Consolas"/>
                <a:cs typeface="Consolas"/>
              </a:rPr>
              <a:t>(</a:t>
            </a:r>
            <a:r>
              <a:rPr lang="ko-KR" sz="720" dirty="0" err="1">
                <a:solidFill>
                  <a:srgbClr val="1F2937"/>
                </a:solidFill>
                <a:latin typeface="Consolas"/>
                <a:ea typeface="Consolas"/>
                <a:cs typeface="Consolas"/>
              </a:rPr>
              <a:t>true</a:t>
            </a:r>
            <a:r>
              <a:rPr lang="ko-KR" sz="720" dirty="0">
                <a:solidFill>
                  <a:srgbClr val="1F2937"/>
                </a:solidFill>
                <a:latin typeface="Consolas"/>
                <a:ea typeface="Consolas"/>
                <a:cs typeface="Consolas"/>
              </a:rPr>
              <a:t>);</a:t>
            </a:r>
          </a:p>
          <a:p>
            <a:r>
              <a:rPr lang="ko-KR" sz="720" dirty="0">
                <a:solidFill>
                  <a:srgbClr val="1F2937"/>
                </a:solidFill>
                <a:latin typeface="Consolas"/>
                <a:ea typeface="Consolas"/>
                <a:cs typeface="Consolas"/>
              </a:rPr>
              <a:t>    </a:t>
            </a:r>
            <a:r>
              <a:rPr lang="ko-KR" sz="720" dirty="0" err="1">
                <a:solidFill>
                  <a:srgbClr val="1F2937"/>
                </a:solidFill>
                <a:latin typeface="Consolas"/>
                <a:ea typeface="Consolas"/>
                <a:cs typeface="Consolas"/>
              </a:rPr>
              <a:t>ws.onclose</a:t>
            </a:r>
            <a:r>
              <a:rPr lang="ko-KR" sz="720" dirty="0">
                <a:solidFill>
                  <a:srgbClr val="1F2937"/>
                </a:solidFill>
                <a:latin typeface="Consolas"/>
                <a:ea typeface="Consolas"/>
                <a:cs typeface="Consolas"/>
              </a:rPr>
              <a:t> = () =&gt; {</a:t>
            </a:r>
          </a:p>
          <a:p>
            <a:r>
              <a:rPr lang="ko-KR" sz="720" dirty="0">
                <a:solidFill>
                  <a:srgbClr val="1F2937"/>
                </a:solidFill>
                <a:latin typeface="Consolas"/>
                <a:ea typeface="Consolas"/>
                <a:cs typeface="Consolas"/>
              </a:rPr>
              <a:t>      </a:t>
            </a:r>
            <a:r>
              <a:rPr lang="ko-KR" sz="720" dirty="0" err="1">
                <a:solidFill>
                  <a:srgbClr val="1F2937"/>
                </a:solidFill>
                <a:latin typeface="Consolas"/>
                <a:ea typeface="Consolas"/>
                <a:cs typeface="Consolas"/>
              </a:rPr>
              <a:t>setConnected</a:t>
            </a:r>
            <a:r>
              <a:rPr lang="ko-KR" sz="720" dirty="0">
                <a:solidFill>
                  <a:srgbClr val="1F2937"/>
                </a:solidFill>
                <a:latin typeface="Consolas"/>
                <a:ea typeface="Consolas"/>
                <a:cs typeface="Consolas"/>
              </a:rPr>
              <a:t>(</a:t>
            </a:r>
            <a:r>
              <a:rPr lang="ko-KR" sz="720" dirty="0" err="1">
                <a:solidFill>
                  <a:srgbClr val="1F2937"/>
                </a:solidFill>
                <a:latin typeface="Consolas"/>
                <a:ea typeface="Consolas"/>
                <a:cs typeface="Consolas"/>
              </a:rPr>
              <a:t>false</a:t>
            </a:r>
            <a:r>
              <a:rPr lang="ko-KR" sz="720" dirty="0">
                <a:solidFill>
                  <a:srgbClr val="1F2937"/>
                </a:solidFill>
                <a:latin typeface="Consolas"/>
                <a:ea typeface="Consolas"/>
                <a:cs typeface="Consolas"/>
              </a:rPr>
              <a:t>);</a:t>
            </a:r>
          </a:p>
          <a:p>
            <a:r>
              <a:rPr lang="ko-KR" sz="720" dirty="0">
                <a:solidFill>
                  <a:srgbClr val="1F2937"/>
                </a:solidFill>
                <a:latin typeface="Consolas"/>
                <a:ea typeface="Consolas"/>
                <a:cs typeface="Consolas"/>
              </a:rPr>
              <a:t>      </a:t>
            </a:r>
            <a:r>
              <a:rPr lang="ko-KR" sz="720" dirty="0" err="1">
                <a:solidFill>
                  <a:srgbClr val="1F2937"/>
                </a:solidFill>
                <a:latin typeface="Consolas"/>
                <a:ea typeface="Consolas"/>
                <a:cs typeface="Consolas"/>
              </a:rPr>
              <a:t>retry</a:t>
            </a:r>
            <a:r>
              <a:rPr lang="ko-KR" sz="720" dirty="0">
                <a:solidFill>
                  <a:srgbClr val="1F2937"/>
                </a:solidFill>
                <a:latin typeface="Consolas"/>
                <a:ea typeface="Consolas"/>
                <a:cs typeface="Consolas"/>
              </a:rPr>
              <a:t> = </a:t>
            </a:r>
            <a:r>
              <a:rPr lang="ko-KR" sz="720" dirty="0" err="1">
                <a:solidFill>
                  <a:srgbClr val="1F2937"/>
                </a:solidFill>
                <a:latin typeface="Consolas"/>
                <a:ea typeface="Consolas"/>
                <a:cs typeface="Consolas"/>
              </a:rPr>
              <a:t>setTimeout</a:t>
            </a:r>
            <a:r>
              <a:rPr lang="ko-KR" sz="720" dirty="0">
                <a:solidFill>
                  <a:srgbClr val="1F2937"/>
                </a:solidFill>
                <a:latin typeface="Consolas"/>
                <a:ea typeface="Consolas"/>
                <a:cs typeface="Consolas"/>
              </a:rPr>
              <a:t>(</a:t>
            </a:r>
            <a:r>
              <a:rPr lang="ko-KR" sz="720" dirty="0" err="1">
                <a:solidFill>
                  <a:srgbClr val="1F2937"/>
                </a:solidFill>
                <a:latin typeface="Consolas"/>
                <a:ea typeface="Consolas"/>
                <a:cs typeface="Consolas"/>
              </a:rPr>
              <a:t>connect</a:t>
            </a:r>
            <a:r>
              <a:rPr lang="ko-KR" sz="720" dirty="0">
                <a:solidFill>
                  <a:srgbClr val="1F2937"/>
                </a:solidFill>
                <a:latin typeface="Consolas"/>
                <a:ea typeface="Consolas"/>
                <a:cs typeface="Consolas"/>
              </a:rPr>
              <a:t>, 2000);</a:t>
            </a:r>
          </a:p>
          <a:p>
            <a:r>
              <a:rPr lang="ko-KR" sz="720" dirty="0">
                <a:solidFill>
                  <a:srgbClr val="1F2937"/>
                </a:solidFill>
                <a:latin typeface="Consolas"/>
                <a:ea typeface="Consolas"/>
                <a:cs typeface="Consolas"/>
              </a:rPr>
              <a:t>    };</a:t>
            </a:r>
          </a:p>
          <a:p>
            <a:endParaRPr lang="ko-KR" sz="720" dirty="0">
              <a:solidFill>
                <a:srgbClr val="1F2937"/>
              </a:solidFill>
              <a:latin typeface="Consolas"/>
              <a:ea typeface="Consolas"/>
              <a:cs typeface="Consolas"/>
            </a:endParaRPr>
          </a:p>
          <a:p>
            <a:r>
              <a:rPr lang="ko-KR" sz="720" dirty="0">
                <a:solidFill>
                  <a:srgbClr val="1F2937"/>
                </a:solidFill>
                <a:latin typeface="Consolas"/>
                <a:ea typeface="Consolas"/>
                <a:cs typeface="Consolas"/>
              </a:rPr>
              <a:t>    </a:t>
            </a:r>
            <a:r>
              <a:rPr lang="ko-KR" sz="720" dirty="0" err="1">
                <a:solidFill>
                  <a:srgbClr val="1F2937"/>
                </a:solidFill>
                <a:latin typeface="Consolas"/>
                <a:ea typeface="Consolas"/>
                <a:cs typeface="Consolas"/>
              </a:rPr>
              <a:t>ws.onmessage</a:t>
            </a:r>
            <a:r>
              <a:rPr lang="ko-KR" sz="720" dirty="0">
                <a:solidFill>
                  <a:srgbClr val="1F2937"/>
                </a:solidFill>
                <a:latin typeface="Consolas"/>
                <a:ea typeface="Consolas"/>
                <a:cs typeface="Consolas"/>
              </a:rPr>
              <a:t> = ({ </a:t>
            </a:r>
            <a:r>
              <a:rPr lang="ko-KR" sz="720" dirty="0" err="1">
                <a:solidFill>
                  <a:srgbClr val="1F2937"/>
                </a:solidFill>
                <a:latin typeface="Consolas"/>
                <a:ea typeface="Consolas"/>
                <a:cs typeface="Consolas"/>
              </a:rPr>
              <a:t>data</a:t>
            </a:r>
            <a:r>
              <a:rPr lang="ko-KR" sz="720" dirty="0">
                <a:solidFill>
                  <a:srgbClr val="1F2937"/>
                </a:solidFill>
                <a:latin typeface="Consolas"/>
                <a:ea typeface="Consolas"/>
                <a:cs typeface="Consolas"/>
              </a:rPr>
              <a:t> }) =&gt; {</a:t>
            </a:r>
          </a:p>
          <a:p>
            <a:r>
              <a:rPr lang="ko-KR" sz="720" dirty="0">
                <a:solidFill>
                  <a:srgbClr val="1F2937"/>
                </a:solidFill>
                <a:latin typeface="Consolas"/>
                <a:ea typeface="Consolas"/>
                <a:cs typeface="Consolas"/>
              </a:rPr>
              <a:t>      </a:t>
            </a:r>
            <a:r>
              <a:rPr lang="ko-KR" sz="720" dirty="0" err="1">
                <a:solidFill>
                  <a:srgbClr val="1F2937"/>
                </a:solidFill>
                <a:latin typeface="Consolas"/>
                <a:ea typeface="Consolas"/>
                <a:cs typeface="Consolas"/>
              </a:rPr>
              <a:t>const</a:t>
            </a:r>
            <a:r>
              <a:rPr lang="ko-KR" sz="720" dirty="0">
                <a:solidFill>
                  <a:srgbClr val="1F2937"/>
                </a:solidFill>
                <a:latin typeface="Consolas"/>
                <a:ea typeface="Consolas"/>
                <a:cs typeface="Consolas"/>
              </a:rPr>
              <a:t> </a:t>
            </a:r>
            <a:r>
              <a:rPr lang="ko-KR" sz="720" dirty="0" err="1">
                <a:solidFill>
                  <a:srgbClr val="1F2937"/>
                </a:solidFill>
                <a:latin typeface="Consolas"/>
                <a:ea typeface="Consolas"/>
                <a:cs typeface="Consolas"/>
              </a:rPr>
              <a:t>msg</a:t>
            </a:r>
            <a:r>
              <a:rPr lang="ko-KR" sz="720" dirty="0">
                <a:solidFill>
                  <a:srgbClr val="1F2937"/>
                </a:solidFill>
                <a:latin typeface="Consolas"/>
                <a:ea typeface="Consolas"/>
                <a:cs typeface="Consolas"/>
              </a:rPr>
              <a:t> = </a:t>
            </a:r>
            <a:r>
              <a:rPr lang="ko-KR" sz="720" dirty="0" err="1">
                <a:solidFill>
                  <a:srgbClr val="1F2937"/>
                </a:solidFill>
                <a:latin typeface="Consolas"/>
                <a:ea typeface="Consolas"/>
                <a:cs typeface="Consolas"/>
              </a:rPr>
              <a:t>JSON.parse</a:t>
            </a:r>
            <a:r>
              <a:rPr lang="ko-KR" sz="720" dirty="0">
                <a:solidFill>
                  <a:srgbClr val="1F2937"/>
                </a:solidFill>
                <a:latin typeface="Consolas"/>
                <a:ea typeface="Consolas"/>
                <a:cs typeface="Consolas"/>
              </a:rPr>
              <a:t>(</a:t>
            </a:r>
            <a:r>
              <a:rPr lang="ko-KR" sz="720" dirty="0" err="1">
                <a:solidFill>
                  <a:srgbClr val="1F2937"/>
                </a:solidFill>
                <a:latin typeface="Consolas"/>
                <a:ea typeface="Consolas"/>
                <a:cs typeface="Consolas"/>
              </a:rPr>
              <a:t>data</a:t>
            </a:r>
            <a:r>
              <a:rPr lang="ko-KR" sz="720" dirty="0">
                <a:solidFill>
                  <a:srgbClr val="1F2937"/>
                </a:solidFill>
                <a:latin typeface="Consolas"/>
                <a:ea typeface="Consolas"/>
                <a:cs typeface="Consolas"/>
              </a:rPr>
              <a:t>);</a:t>
            </a:r>
          </a:p>
          <a:p>
            <a:r>
              <a:rPr lang="ko-KR" sz="720" dirty="0">
                <a:solidFill>
                  <a:srgbClr val="1F2937"/>
                </a:solidFill>
                <a:latin typeface="Consolas"/>
                <a:ea typeface="Consolas"/>
                <a:cs typeface="Consolas"/>
              </a:rPr>
              <a:t>      </a:t>
            </a:r>
            <a:r>
              <a:rPr lang="ko-KR" sz="720" dirty="0" err="1">
                <a:solidFill>
                  <a:srgbClr val="1F2937"/>
                </a:solidFill>
                <a:latin typeface="Consolas"/>
                <a:ea typeface="Consolas"/>
                <a:cs typeface="Consolas"/>
              </a:rPr>
              <a:t>setMetrics</a:t>
            </a:r>
            <a:r>
              <a:rPr lang="ko-KR" sz="720" dirty="0">
                <a:solidFill>
                  <a:srgbClr val="1F2937"/>
                </a:solidFill>
                <a:latin typeface="Consolas"/>
                <a:ea typeface="Consolas"/>
                <a:cs typeface="Consolas"/>
              </a:rPr>
              <a:t>(</a:t>
            </a:r>
            <a:r>
              <a:rPr lang="ko-KR" sz="720" dirty="0" err="1">
                <a:solidFill>
                  <a:srgbClr val="1F2937"/>
                </a:solidFill>
                <a:latin typeface="Consolas"/>
                <a:ea typeface="Consolas"/>
                <a:cs typeface="Consolas"/>
              </a:rPr>
              <a:t>msg.metrics</a:t>
            </a:r>
            <a:r>
              <a:rPr lang="ko-KR" sz="720" dirty="0">
                <a:solidFill>
                  <a:srgbClr val="1F2937"/>
                </a:solidFill>
                <a:latin typeface="Consolas"/>
                <a:ea typeface="Consolas"/>
                <a:cs typeface="Consolas"/>
              </a:rPr>
              <a:t>);</a:t>
            </a:r>
          </a:p>
          <a:p>
            <a:r>
              <a:rPr lang="ko-KR" sz="720" dirty="0">
                <a:solidFill>
                  <a:srgbClr val="1F2937"/>
                </a:solidFill>
                <a:latin typeface="Consolas"/>
                <a:ea typeface="Consolas"/>
                <a:cs typeface="Consolas"/>
              </a:rPr>
              <a:t>      </a:t>
            </a:r>
            <a:r>
              <a:rPr lang="ko-KR" sz="720" dirty="0" err="1">
                <a:solidFill>
                  <a:srgbClr val="1F2937"/>
                </a:solidFill>
                <a:latin typeface="Consolas"/>
                <a:ea typeface="Consolas"/>
                <a:cs typeface="Consolas"/>
              </a:rPr>
              <a:t>setScore</a:t>
            </a:r>
            <a:r>
              <a:rPr lang="ko-KR" sz="720" dirty="0">
                <a:solidFill>
                  <a:srgbClr val="1F2937"/>
                </a:solidFill>
                <a:latin typeface="Consolas"/>
                <a:ea typeface="Consolas"/>
                <a:cs typeface="Consolas"/>
              </a:rPr>
              <a:t>(</a:t>
            </a:r>
            <a:r>
              <a:rPr lang="ko-KR" sz="720" dirty="0" err="1">
                <a:solidFill>
                  <a:srgbClr val="1F2937"/>
                </a:solidFill>
                <a:latin typeface="Consolas"/>
                <a:ea typeface="Consolas"/>
                <a:cs typeface="Consolas"/>
              </a:rPr>
              <a:t>msg.anomaly_score</a:t>
            </a:r>
            <a:r>
              <a:rPr lang="ko-KR" sz="720" dirty="0">
                <a:solidFill>
                  <a:srgbClr val="1F2937"/>
                </a:solidFill>
                <a:latin typeface="Consolas"/>
                <a:ea typeface="Consolas"/>
                <a:cs typeface="Consolas"/>
              </a:rPr>
              <a:t>);</a:t>
            </a:r>
          </a:p>
          <a:p>
            <a:r>
              <a:rPr lang="ko-KR" sz="720" dirty="0">
                <a:solidFill>
                  <a:srgbClr val="1F2937"/>
                </a:solidFill>
                <a:latin typeface="Consolas"/>
                <a:ea typeface="Consolas"/>
                <a:cs typeface="Consolas"/>
              </a:rPr>
              <a:t>    };</a:t>
            </a:r>
          </a:p>
          <a:p>
            <a:r>
              <a:rPr lang="ko-KR" sz="720" dirty="0">
                <a:solidFill>
                  <a:srgbClr val="1F2937"/>
                </a:solidFill>
                <a:latin typeface="Consolas"/>
                <a:ea typeface="Consolas"/>
                <a:cs typeface="Consolas"/>
              </a:rPr>
              <a:t>  };</a:t>
            </a:r>
          </a:p>
          <a:p>
            <a:endParaRPr lang="ko-KR" sz="720" dirty="0">
              <a:solidFill>
                <a:srgbClr val="1F2937"/>
              </a:solidFill>
              <a:latin typeface="Consolas"/>
              <a:ea typeface="Consolas"/>
              <a:cs typeface="Consolas"/>
            </a:endParaRPr>
          </a:p>
          <a:p>
            <a:r>
              <a:rPr lang="ko-KR" sz="720" dirty="0">
                <a:solidFill>
                  <a:srgbClr val="1F2937"/>
                </a:solidFill>
                <a:latin typeface="Consolas"/>
                <a:ea typeface="Consolas"/>
                <a:cs typeface="Consolas"/>
              </a:rPr>
              <a:t>  </a:t>
            </a:r>
            <a:r>
              <a:rPr lang="ko-KR" sz="720" dirty="0" err="1">
                <a:solidFill>
                  <a:srgbClr val="1F2937"/>
                </a:solidFill>
                <a:latin typeface="Consolas"/>
                <a:ea typeface="Consolas"/>
                <a:cs typeface="Consolas"/>
              </a:rPr>
              <a:t>connect</a:t>
            </a:r>
            <a:r>
              <a:rPr lang="ko-KR" sz="720" dirty="0">
                <a:solidFill>
                  <a:srgbClr val="1F2937"/>
                </a:solidFill>
                <a:latin typeface="Consolas"/>
                <a:ea typeface="Consolas"/>
                <a:cs typeface="Consolas"/>
              </a:rPr>
              <a:t>();</a:t>
            </a:r>
          </a:p>
          <a:p>
            <a:r>
              <a:rPr lang="ko-KR" sz="720" dirty="0">
                <a:solidFill>
                  <a:srgbClr val="1F2937"/>
                </a:solidFill>
                <a:latin typeface="Consolas"/>
                <a:ea typeface="Consolas"/>
                <a:cs typeface="Consolas"/>
              </a:rPr>
              <a:t>  </a:t>
            </a:r>
            <a:r>
              <a:rPr lang="ko-KR" sz="720" dirty="0" err="1">
                <a:solidFill>
                  <a:srgbClr val="1F2937"/>
                </a:solidFill>
                <a:latin typeface="Consolas"/>
                <a:ea typeface="Consolas"/>
                <a:cs typeface="Consolas"/>
              </a:rPr>
              <a:t>return</a:t>
            </a:r>
            <a:r>
              <a:rPr lang="ko-KR" sz="720" dirty="0">
                <a:solidFill>
                  <a:srgbClr val="1F2937"/>
                </a:solidFill>
                <a:latin typeface="Consolas"/>
                <a:ea typeface="Consolas"/>
                <a:cs typeface="Consolas"/>
              </a:rPr>
              <a:t> () =&gt; {</a:t>
            </a:r>
          </a:p>
          <a:p>
            <a:r>
              <a:rPr lang="ko-KR" sz="720" dirty="0">
                <a:solidFill>
                  <a:srgbClr val="1F2937"/>
                </a:solidFill>
                <a:latin typeface="Consolas"/>
                <a:ea typeface="Consolas"/>
                <a:cs typeface="Consolas"/>
              </a:rPr>
              <a:t>    </a:t>
            </a:r>
            <a:r>
              <a:rPr lang="ko-KR" sz="720" dirty="0" err="1">
                <a:solidFill>
                  <a:srgbClr val="1F2937"/>
                </a:solidFill>
                <a:latin typeface="Consolas"/>
                <a:ea typeface="Consolas"/>
                <a:cs typeface="Consolas"/>
              </a:rPr>
              <a:t>clearTimeout</a:t>
            </a:r>
            <a:r>
              <a:rPr lang="ko-KR" sz="720" dirty="0">
                <a:solidFill>
                  <a:srgbClr val="1F2937"/>
                </a:solidFill>
                <a:latin typeface="Consolas"/>
                <a:ea typeface="Consolas"/>
                <a:cs typeface="Consolas"/>
              </a:rPr>
              <a:t>(</a:t>
            </a:r>
            <a:r>
              <a:rPr lang="ko-KR" sz="720" dirty="0" err="1">
                <a:solidFill>
                  <a:srgbClr val="1F2937"/>
                </a:solidFill>
                <a:latin typeface="Consolas"/>
                <a:ea typeface="Consolas"/>
                <a:cs typeface="Consolas"/>
              </a:rPr>
              <a:t>retry</a:t>
            </a:r>
            <a:r>
              <a:rPr lang="ko-KR" sz="720" dirty="0">
                <a:solidFill>
                  <a:srgbClr val="1F2937"/>
                </a:solidFill>
                <a:latin typeface="Consolas"/>
                <a:ea typeface="Consolas"/>
                <a:cs typeface="Consolas"/>
              </a:rPr>
              <a:t>);</a:t>
            </a:r>
          </a:p>
          <a:p>
            <a:r>
              <a:rPr lang="ko-KR" sz="720" dirty="0">
                <a:solidFill>
                  <a:srgbClr val="1F2937"/>
                </a:solidFill>
                <a:latin typeface="Consolas"/>
                <a:ea typeface="Consolas"/>
                <a:cs typeface="Consolas"/>
              </a:rPr>
              <a:t>    </a:t>
            </a:r>
            <a:r>
              <a:rPr lang="ko-KR" sz="720" dirty="0" err="1">
                <a:solidFill>
                  <a:srgbClr val="1F2937"/>
                </a:solidFill>
                <a:latin typeface="Consolas"/>
                <a:ea typeface="Consolas"/>
                <a:cs typeface="Consolas"/>
              </a:rPr>
              <a:t>ws</a:t>
            </a:r>
            <a:r>
              <a:rPr lang="ko-KR" sz="720" dirty="0">
                <a:solidFill>
                  <a:srgbClr val="1F2937"/>
                </a:solidFill>
                <a:latin typeface="Consolas"/>
                <a:ea typeface="Consolas"/>
                <a:cs typeface="Consolas"/>
              </a:rPr>
              <a:t>?.</a:t>
            </a:r>
            <a:r>
              <a:rPr lang="ko-KR" sz="720" dirty="0" err="1">
                <a:solidFill>
                  <a:srgbClr val="1F2937"/>
                </a:solidFill>
                <a:latin typeface="Consolas"/>
                <a:ea typeface="Consolas"/>
                <a:cs typeface="Consolas"/>
              </a:rPr>
              <a:t>close</a:t>
            </a:r>
            <a:r>
              <a:rPr lang="ko-KR" sz="720" dirty="0">
                <a:solidFill>
                  <a:srgbClr val="1F2937"/>
                </a:solidFill>
                <a:latin typeface="Consolas"/>
                <a:ea typeface="Consolas"/>
                <a:cs typeface="Consolas"/>
              </a:rPr>
              <a:t>();</a:t>
            </a:r>
          </a:p>
          <a:p>
            <a:r>
              <a:rPr lang="ko-KR" sz="720" dirty="0">
                <a:solidFill>
                  <a:srgbClr val="1F2937"/>
                </a:solidFill>
                <a:latin typeface="Consolas"/>
                <a:ea typeface="Consolas"/>
                <a:cs typeface="Consolas"/>
              </a:rPr>
              <a:t>  };</a:t>
            </a:r>
          </a:p>
          <a:p>
            <a:r>
              <a:rPr lang="ko-KR" sz="720" dirty="0">
                <a:solidFill>
                  <a:srgbClr val="1F2937"/>
                </a:solidFill>
                <a:latin typeface="Consolas"/>
                <a:ea typeface="Consolas"/>
                <a:cs typeface="Consolas"/>
              </a:rPr>
              <a:t>}, [</a:t>
            </a:r>
            <a:r>
              <a:rPr lang="ko-KR" sz="720" dirty="0" err="1">
                <a:solidFill>
                  <a:srgbClr val="1F2937"/>
                </a:solidFill>
                <a:latin typeface="Consolas"/>
                <a:ea typeface="Consolas"/>
                <a:cs typeface="Consolas"/>
              </a:rPr>
              <a:t>batteryId</a:t>
            </a:r>
            <a:r>
              <a:rPr lang="ko-KR" sz="720" dirty="0">
                <a:solidFill>
                  <a:srgbClr val="1F2937"/>
                </a:solidFill>
                <a:latin typeface="Consolas"/>
                <a:ea typeface="Consolas"/>
                <a:cs typeface="Consolas"/>
              </a:rPr>
              <a:t>]);</a:t>
            </a:r>
          </a:p>
        </p:txBody>
      </p:sp>
      <p:sp>
        <p:nvSpPr>
          <p:cNvPr id="106" name="Realtime grade ui code"/>
          <p:cNvSpPr/>
          <p:nvPr/>
        </p:nvSpPr>
        <p:spPr>
          <a:xfrm>
            <a:off x="4716456" y="2709860"/>
            <a:ext cx="3885000" cy="3150000"/>
          </a:xfrm>
          <a:prstGeom prst="roundRect">
            <a:avLst/>
          </a:prstGeom>
          <a:solidFill>
            <a:schemeClr val="bg1"/>
          </a:solidFill>
          <a:ln>
            <a:noFill/>
          </a:ln>
        </p:spPr>
        <p:txBody>
          <a:bodyPr wrap="square" lIns="85000" tIns="65000" rIns="70000" bIns="65000" anchor="t"/>
          <a:lstStyle/>
          <a:p>
            <a:r>
              <a:rPr lang="ko-KR" sz="680">
                <a:solidFill>
                  <a:srgbClr val="1F2937"/>
                </a:solidFill>
                <a:latin typeface="Consolas"/>
                <a:ea typeface="Consolas"/>
                <a:cs typeface="Consolas"/>
              </a:rPr>
              <a:t>const GRADES = [</a:t>
            </a:r>
          </a:p>
          <a:p>
            <a:r>
              <a:rPr lang="ko-KR" sz="680">
                <a:solidFill>
                  <a:srgbClr val="1F2937"/>
                </a:solidFill>
                <a:latin typeface="Consolas"/>
                <a:ea typeface="Consolas"/>
                <a:cs typeface="Consolas"/>
              </a:rPr>
              <a:t>  { max: 0.3, label: "정상" },</a:t>
            </a:r>
          </a:p>
          <a:p>
            <a:r>
              <a:rPr lang="ko-KR" sz="680">
                <a:solidFill>
                  <a:srgbClr val="1F2937"/>
                </a:solidFill>
                <a:latin typeface="Consolas"/>
                <a:ea typeface="Consolas"/>
                <a:cs typeface="Consolas"/>
              </a:rPr>
              <a:t>  { max: 0.6, label: "주의" },</a:t>
            </a:r>
          </a:p>
          <a:p>
            <a:r>
              <a:rPr lang="ko-KR" sz="680">
                <a:solidFill>
                  <a:srgbClr val="1F2937"/>
                </a:solidFill>
                <a:latin typeface="Consolas"/>
                <a:ea typeface="Consolas"/>
                <a:cs typeface="Consolas"/>
              </a:rPr>
              <a:t>  { max: 0.8, label: "경고" },</a:t>
            </a:r>
          </a:p>
          <a:p>
            <a:r>
              <a:rPr lang="ko-KR" sz="680">
                <a:solidFill>
                  <a:srgbClr val="1F2937"/>
                </a:solidFill>
                <a:latin typeface="Consolas"/>
                <a:ea typeface="Consolas"/>
                <a:cs typeface="Consolas"/>
              </a:rPr>
              <a:t>  { max: 1.0, label: "위험" },</a:t>
            </a:r>
          </a:p>
          <a:p>
            <a:r>
              <a:rPr lang="ko-KR" sz="680">
                <a:solidFill>
                  <a:srgbClr val="1F2937"/>
                </a:solidFill>
                <a:latin typeface="Consolas"/>
                <a:ea typeface="Consolas"/>
                <a:cs typeface="Consolas"/>
              </a:rPr>
              <a:t>];</a:t>
            </a:r>
          </a:p>
          <a:p>
            <a:r>
              <a:rPr lang="ko-KR" sz="680">
                <a:solidFill>
                  <a:srgbClr val="1F2937"/>
                </a:solidFill>
                <a:latin typeface="Consolas"/>
                <a:ea typeface="Consolas"/>
                <a:cs typeface="Consolas"/>
              </a:rPr>
              <a:t>const grade = gradeOf(score);</a:t>
            </a:r>
          </a:p>
          <a:p>
            <a:r>
              <a:rPr lang="ko-KR" sz="680">
                <a:solidFill>
                  <a:srgbClr val="1F2937"/>
                </a:solidFill>
                <a:latin typeface="Consolas"/>
                <a:ea typeface="Consolas"/>
                <a:cs typeface="Consolas"/>
              </a:rPr>
              <a:t>const dash = `${(score * ARC).toFixed(1)} ${ARC}`;</a:t>
            </a:r>
          </a:p>
          <a:p>
            <a:endParaRPr lang="ko-KR" sz="680">
              <a:solidFill>
                <a:srgbClr val="1F2937"/>
              </a:solidFill>
              <a:latin typeface="Consolas"/>
              <a:ea typeface="Consolas"/>
              <a:cs typeface="Consolas"/>
            </a:endParaRPr>
          </a:p>
          <a:p>
            <a:r>
              <a:rPr lang="ko-KR" sz="680">
                <a:solidFill>
                  <a:srgbClr val="1F2937"/>
                </a:solidFill>
                <a:latin typeface="Consolas"/>
                <a:ea typeface="Consolas"/>
                <a:cs typeface="Consolas"/>
              </a:rPr>
              <a:t>&lt;section className="gauge-card"</a:t>
            </a:r>
          </a:p>
          <a:p>
            <a:r>
              <a:rPr lang="ko-KR" sz="680">
                <a:solidFill>
                  <a:srgbClr val="1F2937"/>
                </a:solidFill>
                <a:latin typeface="Consolas"/>
                <a:ea typeface="Consolas"/>
                <a:cs typeface="Consolas"/>
              </a:rPr>
              <a:t>  style={{ background: grade.bg }}&gt;</a:t>
            </a:r>
          </a:p>
          <a:p>
            <a:r>
              <a:rPr lang="ko-KR" sz="680">
                <a:solidFill>
                  <a:srgbClr val="1F2937"/>
                </a:solidFill>
                <a:latin typeface="Consolas"/>
                <a:ea typeface="Consolas"/>
                <a:cs typeface="Consolas"/>
              </a:rPr>
              <a:t>  &lt;path stroke={grade.color}</a:t>
            </a:r>
          </a:p>
          <a:p>
            <a:r>
              <a:rPr lang="ko-KR" sz="680">
                <a:solidFill>
                  <a:srgbClr val="1F2937"/>
                </a:solidFill>
                <a:latin typeface="Consolas"/>
                <a:ea typeface="Consolas"/>
                <a:cs typeface="Consolas"/>
              </a:rPr>
              <a:t>    strokeDasharray={dash} /&gt;</a:t>
            </a:r>
          </a:p>
          <a:p>
            <a:r>
              <a:rPr lang="ko-KR" sz="680">
                <a:solidFill>
                  <a:srgbClr val="1F2937"/>
                </a:solidFill>
                <a:latin typeface="Consolas"/>
                <a:ea typeface="Consolas"/>
                <a:cs typeface="Consolas"/>
              </a:rPr>
              <a:t>  &lt;strong&gt;{Math.round(score * 100)}&lt;/strong&gt;</a:t>
            </a:r>
          </a:p>
          <a:p>
            <a:r>
              <a:rPr lang="ko-KR" sz="680">
                <a:solidFill>
                  <a:srgbClr val="1F2937"/>
                </a:solidFill>
                <a:latin typeface="Consolas"/>
                <a:ea typeface="Consolas"/>
                <a:cs typeface="Consolas"/>
              </a:rPr>
              <a:t>  &lt;span&gt;{grade.label}&lt;/span&gt;</a:t>
            </a:r>
          </a:p>
          <a:p>
            <a:r>
              <a:rPr lang="ko-KR" sz="680">
                <a:solidFill>
                  <a:srgbClr val="1F2937"/>
                </a:solidFill>
                <a:latin typeface="Consolas"/>
                <a:ea typeface="Consolas"/>
                <a:cs typeface="Consolas"/>
              </a:rPr>
              <a:t>&lt;/section&gt;</a:t>
            </a:r>
          </a:p>
          <a:p>
            <a:endParaRPr lang="ko-KR" sz="680">
              <a:solidFill>
                <a:srgbClr val="1F2937"/>
              </a:solidFill>
              <a:latin typeface="Consolas"/>
              <a:ea typeface="Consolas"/>
              <a:cs typeface="Consolas"/>
            </a:endParaRPr>
          </a:p>
          <a:p>
            <a:r>
              <a:rPr lang="ko-KR" sz="680">
                <a:solidFill>
                  <a:srgbClr val="1F2937"/>
                </a:solidFill>
                <a:latin typeface="Consolas"/>
                <a:ea typeface="Consolas"/>
                <a:cs typeface="Consolas"/>
              </a:rPr>
              <a:t>{METRICS.map((m) =&gt; (</a:t>
            </a:r>
          </a:p>
          <a:p>
            <a:r>
              <a:rPr lang="ko-KR" sz="680">
                <a:solidFill>
                  <a:srgbClr val="1F2937"/>
                </a:solidFill>
                <a:latin typeface="Consolas"/>
                <a:ea typeface="Consolas"/>
                <a:cs typeface="Consolas"/>
              </a:rPr>
              <a:t>  &lt;div key={m.key} className="metric-card"&gt;</a:t>
            </a:r>
          </a:p>
          <a:p>
            <a:r>
              <a:rPr lang="ko-KR" sz="680">
                <a:solidFill>
                  <a:srgbClr val="1F2937"/>
                </a:solidFill>
                <a:latin typeface="Consolas"/>
                <a:ea typeface="Consolas"/>
                <a:cs typeface="Consolas"/>
              </a:rPr>
              <a:t>    {metrics ? metrics[m.key] : "--"}{m.unit}</a:t>
            </a:r>
          </a:p>
          <a:p>
            <a:r>
              <a:rPr lang="ko-KR" sz="680">
                <a:solidFill>
                  <a:srgbClr val="1F2937"/>
                </a:solidFill>
                <a:latin typeface="Consolas"/>
                <a:ea typeface="Consolas"/>
                <a:cs typeface="Consolas"/>
              </a:rPr>
              <a:t>  &lt;/div&gt;</a:t>
            </a:r>
          </a:p>
          <a:p>
            <a:r>
              <a:rPr lang="ko-KR" sz="680">
                <a:solidFill>
                  <a:srgbClr val="1F2937"/>
                </a:solidFill>
                <a:latin typeface="Consolas"/>
                <a:ea typeface="Consolas"/>
                <a:cs typeface="Consolas"/>
              </a:rPr>
              <a:t>))}</a:t>
            </a:r>
          </a:p>
        </p:txBody>
      </p:sp>
      <p:sp>
        <p:nvSpPr>
          <p:cNvPr id="107" name="Realtime dashboard explanation"/>
          <p:cNvSpPr/>
          <p:nvPr/>
        </p:nvSpPr>
        <p:spPr>
          <a:xfrm>
            <a:off x="322406" y="1304510"/>
            <a:ext cx="8252100" cy="792072"/>
          </a:xfrm>
          <a:prstGeom prst="roundRect">
            <a:avLst/>
          </a:prstGeom>
          <a:solidFill>
            <a:srgbClr val="EEF3FF"/>
          </a:solidFill>
          <a:ln w="12700">
            <a:solidFill>
              <a:srgbClr val="3F5FA9"/>
            </a:solidFill>
          </a:ln>
        </p:spPr>
        <p:txBody>
          <a:bodyPr wrap="square" lIns="150000" tIns="90000" rIns="150000" bIns="70000" anchor="t"/>
          <a:lstStyle/>
          <a:p>
            <a:r>
              <a:rPr lang="ko-KR" sz="1320" dirty="0">
                <a:solidFill>
                  <a:srgbClr val="1F2937"/>
                </a:solidFill>
                <a:latin typeface="맑은 고딕"/>
                <a:ea typeface="맑은 고딕"/>
                <a:cs typeface="맑은 고딕"/>
              </a:rPr>
              <a:t>실시간 관제 화면은 </a:t>
            </a:r>
            <a:r>
              <a:rPr lang="ko-KR" sz="1320" dirty="0" err="1">
                <a:solidFill>
                  <a:srgbClr val="1F2937"/>
                </a:solidFill>
                <a:latin typeface="맑은 고딕"/>
                <a:ea typeface="맑은 고딕"/>
                <a:cs typeface="맑은 고딕"/>
              </a:rPr>
              <a:t>WebSocket으로</a:t>
            </a:r>
            <a:r>
              <a:rPr lang="ko-KR" sz="1320" dirty="0">
                <a:solidFill>
                  <a:srgbClr val="1F2937"/>
                </a:solidFill>
                <a:latin typeface="맑은 고딕"/>
                <a:ea typeface="맑은 고딕"/>
                <a:cs typeface="맑은 고딕"/>
              </a:rPr>
              <a:t> 배터리 </a:t>
            </a:r>
            <a:r>
              <a:rPr lang="ko-KR" sz="1320" dirty="0" err="1">
                <a:solidFill>
                  <a:srgbClr val="1F2937"/>
                </a:solidFill>
                <a:latin typeface="맑은 고딕"/>
                <a:ea typeface="맑은 고딕"/>
                <a:cs typeface="맑은 고딕"/>
              </a:rPr>
              <a:t>telemetry를</a:t>
            </a:r>
            <a:r>
              <a:rPr lang="ko-KR" sz="1320" dirty="0">
                <a:solidFill>
                  <a:srgbClr val="1F2937"/>
                </a:solidFill>
                <a:latin typeface="맑은 고딕"/>
                <a:ea typeface="맑은 고딕"/>
                <a:cs typeface="맑은 고딕"/>
              </a:rPr>
              <a:t> 구독하고, 연결 종료 시 2초 후 자동 </a:t>
            </a:r>
            <a:r>
              <a:rPr lang="ko-KR" sz="1320" dirty="0" err="1">
                <a:solidFill>
                  <a:srgbClr val="1F2937"/>
                </a:solidFill>
                <a:latin typeface="맑은 고딕"/>
                <a:ea typeface="맑은 고딕"/>
                <a:cs typeface="맑은 고딕"/>
              </a:rPr>
              <a:t>재연결한다</a:t>
            </a:r>
            <a:r>
              <a:rPr lang="ko-KR" sz="1320" dirty="0">
                <a:solidFill>
                  <a:srgbClr val="1F2937"/>
                </a:solidFill>
                <a:latin typeface="맑은 고딕"/>
                <a:ea typeface="맑은 고딕"/>
                <a:cs typeface="맑은 고딕"/>
              </a:rPr>
              <a:t>. 수신한 </a:t>
            </a:r>
            <a:r>
              <a:rPr lang="ko-KR" sz="1320" dirty="0" err="1">
                <a:solidFill>
                  <a:srgbClr val="1F2937"/>
                </a:solidFill>
                <a:latin typeface="맑은 고딕"/>
                <a:ea typeface="맑은 고딕"/>
                <a:cs typeface="맑은 고딕"/>
              </a:rPr>
              <a:t>anomaly_score는</a:t>
            </a:r>
            <a:r>
              <a:rPr lang="ko-KR" sz="1320" dirty="0">
                <a:solidFill>
                  <a:srgbClr val="1F2937"/>
                </a:solidFill>
                <a:latin typeface="맑은 고딕"/>
                <a:ea typeface="맑은 고딕"/>
                <a:cs typeface="맑은 고딕"/>
              </a:rPr>
              <a:t> </a:t>
            </a:r>
            <a:r>
              <a:rPr lang="ko-KR" sz="1320" dirty="0" err="1">
                <a:solidFill>
                  <a:srgbClr val="1F2937"/>
                </a:solidFill>
                <a:latin typeface="맑은 고딕"/>
                <a:ea typeface="맑은 고딕"/>
                <a:cs typeface="맑은 고딕"/>
              </a:rPr>
              <a:t>정상·주의·경고·위험</a:t>
            </a:r>
            <a:r>
              <a:rPr lang="ko-KR" sz="1320" dirty="0">
                <a:solidFill>
                  <a:srgbClr val="1F2937"/>
                </a:solidFill>
                <a:latin typeface="맑은 고딕"/>
                <a:ea typeface="맑은 고딕"/>
                <a:cs typeface="맑은 고딕"/>
              </a:rPr>
              <a:t> 4단계로 변환되어 반원 게이지 색상과 </a:t>
            </a:r>
            <a:r>
              <a:rPr lang="ko-KR" sz="1320" dirty="0" err="1">
                <a:solidFill>
                  <a:srgbClr val="1F2937"/>
                </a:solidFill>
                <a:latin typeface="맑은 고딕"/>
                <a:ea typeface="맑은 고딕"/>
                <a:cs typeface="맑은 고딕"/>
              </a:rPr>
              <a:t>V</a:t>
            </a:r>
            <a:r>
              <a:rPr lang="ko-KR" sz="1320" dirty="0">
                <a:solidFill>
                  <a:srgbClr val="1F2937"/>
                </a:solidFill>
                <a:latin typeface="맑은 고딕"/>
                <a:ea typeface="맑은 고딕"/>
                <a:cs typeface="맑은 고딕"/>
              </a:rPr>
              <a:t>/</a:t>
            </a:r>
            <a:r>
              <a:rPr lang="ko-KR" sz="1320" dirty="0" err="1">
                <a:solidFill>
                  <a:srgbClr val="1F2937"/>
                </a:solidFill>
                <a:latin typeface="맑은 고딕"/>
                <a:ea typeface="맑은 고딕"/>
                <a:cs typeface="맑은 고딕"/>
              </a:rPr>
              <a:t>I</a:t>
            </a:r>
            <a:r>
              <a:rPr lang="ko-KR" sz="1320" dirty="0">
                <a:solidFill>
                  <a:srgbClr val="1F2937"/>
                </a:solidFill>
                <a:latin typeface="맑은 고딕"/>
                <a:ea typeface="맑은 고딕"/>
                <a:cs typeface="맑은 고딕"/>
              </a:rPr>
              <a:t>/</a:t>
            </a:r>
            <a:r>
              <a:rPr lang="ko-KR" sz="1320" dirty="0" err="1">
                <a:solidFill>
                  <a:srgbClr val="1F2937"/>
                </a:solidFill>
                <a:latin typeface="맑은 고딕"/>
                <a:ea typeface="맑은 고딕"/>
                <a:cs typeface="맑은 고딕"/>
              </a:rPr>
              <a:t>T</a:t>
            </a:r>
            <a:r>
              <a:rPr lang="ko-KR" sz="1320" dirty="0">
                <a:solidFill>
                  <a:srgbClr val="1F2937"/>
                </a:solidFill>
                <a:latin typeface="맑은 고딕"/>
                <a:ea typeface="맑은 고딕"/>
                <a:cs typeface="맑은 고딕"/>
              </a:rPr>
              <a:t>/SOC 카드에 즉시 반영된다.</a:t>
            </a:r>
          </a:p>
        </p:txBody>
      </p:sp>
    </p:spTree>
    <p:extLst>
      <p:ext uri="{BB962C8B-B14F-4D97-AF65-F5344CB8AC3E}">
        <p14:creationId xmlns:p14="http://schemas.microsoft.com/office/powerpoint/2010/main" val="64245901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직사각형 16"/>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직선 연결선 17"/>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 name="직선 연결선 22"/>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4"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None/>
            </a:pPr>
            <a:r>
              <a:rPr lang="en-US" altLang="ko-KR" sz="1700" b="1" dirty="0">
                <a:solidFill>
                  <a:schemeClr val="bg1"/>
                </a:solidFill>
                <a:latin typeface="+mn-ea"/>
                <a:cs typeface="+mj-cs"/>
              </a:rPr>
              <a:t>| </a:t>
            </a:r>
            <a:r>
              <a:rPr lang="ko-KR" altLang="en-US" sz="1700" b="1" dirty="0">
                <a:solidFill>
                  <a:schemeClr val="bg1"/>
                </a:solidFill>
                <a:latin typeface="+mn-ea"/>
                <a:cs typeface="+mj-cs"/>
              </a:rPr>
              <a:t>핵심 소스코드</a:t>
            </a:r>
          </a:p>
        </p:txBody>
      </p:sp>
      <p:pic>
        <p:nvPicPr>
          <p:cNvPr id="29"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0" name="막힌 원호 29"/>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2" name="그림 1">
            <a:extLst>
              <a:ext uri="{FF2B5EF4-FFF2-40B4-BE49-F238E27FC236}">
                <a16:creationId xmlns:a16="http://schemas.microsoft.com/office/drawing/2014/main" id="{AE311E42-8094-1ED2-BF9F-D52B09934D67}"/>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501" name="TB501"/>
          <p:cNvSpPr txBox="1"/>
          <p:nvPr/>
        </p:nvSpPr>
        <p:spPr>
          <a:xfrm>
            <a:off x="402336" y="1463040"/>
            <a:ext cx="8229600" cy="292608"/>
          </a:xfrm>
          <a:prstGeom prst="rect">
            <a:avLst/>
          </a:prstGeom>
          <a:noFill/>
          <a:ln>
            <a:noFill/>
          </a:ln>
        </p:spPr>
        <p:txBody>
          <a:bodyPr wrap="square" lIns="0" tIns="0" rIns="0" bIns="0" anchor="ctr">
            <a:noAutofit/>
          </a:bodyPr>
          <a:lstStyle/>
          <a:p>
            <a:pPr algn="l"/>
            <a:r>
              <a:rPr lang="ko-KR" altLang="en-US" sz="1300" dirty="0">
                <a:solidFill>
                  <a:srgbClr val="2563EB"/>
                </a:solidFill>
                <a:latin typeface="맑은 고딕"/>
                <a:ea typeface="맑은 고딕"/>
              </a:rPr>
              <a:t>▍ </a:t>
            </a:r>
            <a:r>
              <a:rPr lang="ko-KR" altLang="en-US" sz="1300" b="1" dirty="0">
                <a:solidFill>
                  <a:srgbClr val="2A2A2A"/>
                </a:solidFill>
                <a:latin typeface="맑은 고딕"/>
                <a:ea typeface="맑은 고딕"/>
              </a:rPr>
              <a:t>실제 센서 리드 코드 ① — I2C·1-Wire</a:t>
            </a:r>
          </a:p>
        </p:txBody>
      </p:sp>
      <p:sp>
        <p:nvSpPr>
          <p:cNvPr id="502" name="Code502"/>
          <p:cNvSpPr/>
          <p:nvPr/>
        </p:nvSpPr>
        <p:spPr>
          <a:xfrm>
            <a:off x="402336" y="1847088"/>
            <a:ext cx="8339328" cy="3310128"/>
          </a:xfrm>
          <a:prstGeom prst="rect">
            <a:avLst/>
          </a:prstGeom>
          <a:solidFill>
            <a:srgbClr val="F7F7F5"/>
          </a:solidFill>
          <a:ln w="9525">
            <a:solidFill>
              <a:srgbClr val="D9DCE3"/>
            </a:solidFill>
          </a:ln>
        </p:spPr>
        <p:txBody>
          <a:bodyPr wrap="square" lIns="54000" tIns="36000" rIns="36000" bIns="36000" anchor="t">
            <a:noAutofit/>
          </a:bodyPr>
          <a:lstStyle/>
          <a:p>
            <a:pPr algn="l"/>
            <a:r>
              <a:rPr lang="en-US" sz="930" dirty="0">
                <a:solidFill>
                  <a:srgbClr val="222222"/>
                </a:solidFill>
                <a:latin typeface="Courier New"/>
                <a:cs typeface="Courier New"/>
              </a:rPr>
              <a:t>import smbus2, time</a:t>
            </a:r>
          </a:p>
          <a:p>
            <a:pPr algn="l"/>
            <a:r>
              <a:rPr lang="en-US" sz="930" dirty="0">
                <a:solidFill>
                  <a:srgbClr val="222222"/>
                </a:solidFill>
                <a:latin typeface="Courier New"/>
                <a:cs typeface="Courier New"/>
              </a:rPr>
              <a:t>from w1thermsensor import W1ThermSensor</a:t>
            </a:r>
          </a:p>
          <a:p>
            <a:pPr algn="l"/>
            <a:r>
              <a:rPr lang="en-US" sz="930" dirty="0">
                <a:solidFill>
                  <a:srgbClr val="222222"/>
                </a:solidFill>
                <a:latin typeface="Courier New"/>
                <a:cs typeface="Courier New"/>
              </a:rPr>
              <a:t> </a:t>
            </a:r>
          </a:p>
          <a:p>
            <a:pPr algn="l"/>
            <a:r>
              <a:rPr lang="en-US" sz="930" dirty="0">
                <a:solidFill>
                  <a:srgbClr val="222222"/>
                </a:solidFill>
                <a:latin typeface="Courier New"/>
                <a:cs typeface="Courier New"/>
              </a:rPr>
              <a:t>bus = smbus2.SMBus(1)</a:t>
            </a:r>
          </a:p>
          <a:p>
            <a:pPr algn="l"/>
            <a:r>
              <a:rPr lang="en-US" sz="930" dirty="0">
                <a:solidFill>
                  <a:srgbClr val="222222"/>
                </a:solidFill>
                <a:latin typeface="Courier New"/>
                <a:cs typeface="Courier New"/>
              </a:rPr>
              <a:t>ds18b20 = W1ThermSensor()</a:t>
            </a:r>
          </a:p>
          <a:p>
            <a:pPr algn="l"/>
            <a:r>
              <a:rPr lang="en-US" sz="930" dirty="0">
                <a:solidFill>
                  <a:srgbClr val="222222"/>
                </a:solidFill>
                <a:latin typeface="Courier New"/>
                <a:cs typeface="Courier New"/>
              </a:rPr>
              <a:t> </a:t>
            </a:r>
          </a:p>
          <a:p>
            <a:pPr algn="l"/>
            <a:r>
              <a:rPr lang="en-US" sz="930" dirty="0">
                <a:solidFill>
                  <a:srgbClr val="222222"/>
                </a:solidFill>
                <a:latin typeface="Courier New"/>
                <a:cs typeface="Courier New"/>
              </a:rPr>
              <a:t>def read_ina226():</a:t>
            </a:r>
          </a:p>
          <a:p>
            <a:pPr algn="l"/>
            <a:r>
              <a:rPr lang="en-US" sz="930" dirty="0">
                <a:solidFill>
                  <a:srgbClr val="222222"/>
                </a:solidFill>
                <a:latin typeface="Courier New"/>
                <a:cs typeface="Courier New"/>
              </a:rPr>
              <a:t>    raw_v = bus.read_word_data(0x40, 0x02)</a:t>
            </a:r>
          </a:p>
          <a:p>
            <a:pPr algn="l"/>
            <a:r>
              <a:rPr lang="en-US" sz="930" dirty="0">
                <a:solidFill>
                  <a:srgbClr val="222222"/>
                </a:solidFill>
                <a:latin typeface="Courier New"/>
                <a:cs typeface="Courier New"/>
              </a:rPr>
              <a:t>    voltage = (raw_v &gt;&gt; 3) * 0.004</a:t>
            </a:r>
          </a:p>
          <a:p>
            <a:pPr algn="l"/>
            <a:r>
              <a:rPr lang="en-US" sz="930" dirty="0">
                <a:solidFill>
                  <a:srgbClr val="222222"/>
                </a:solidFill>
                <a:latin typeface="Courier New"/>
                <a:cs typeface="Courier New"/>
              </a:rPr>
              <a:t>    raw_i = bus.read_word_data(0x40, 0x04)</a:t>
            </a:r>
          </a:p>
          <a:p>
            <a:pPr algn="l"/>
            <a:r>
              <a:rPr lang="en-US" sz="930" dirty="0">
                <a:solidFill>
                  <a:srgbClr val="222222"/>
                </a:solidFill>
                <a:latin typeface="Courier New"/>
                <a:cs typeface="Courier New"/>
              </a:rPr>
              <a:t>    current = raw_i * CURRENT_LSB</a:t>
            </a:r>
          </a:p>
          <a:p>
            <a:pPr algn="l"/>
            <a:r>
              <a:rPr lang="en-US" sz="930" dirty="0">
                <a:solidFill>
                  <a:srgbClr val="222222"/>
                </a:solidFill>
                <a:latin typeface="Courier New"/>
                <a:cs typeface="Courier New"/>
              </a:rPr>
              <a:t>    return round(voltage, 3), round(current, 3)</a:t>
            </a:r>
          </a:p>
          <a:p>
            <a:pPr algn="l"/>
            <a:r>
              <a:rPr lang="en-US" sz="930" dirty="0">
                <a:solidFill>
                  <a:srgbClr val="222222"/>
                </a:solidFill>
                <a:latin typeface="Courier New"/>
                <a:cs typeface="Courier New"/>
              </a:rPr>
              <a:t> </a:t>
            </a:r>
          </a:p>
          <a:p>
            <a:pPr algn="l"/>
            <a:r>
              <a:rPr lang="en-US" sz="930" dirty="0">
                <a:solidFill>
                  <a:srgbClr val="222222"/>
                </a:solidFill>
                <a:latin typeface="Courier New"/>
                <a:cs typeface="Courier New"/>
              </a:rPr>
              <a:t>def read_soc():</a:t>
            </a:r>
          </a:p>
          <a:p>
            <a:pPr algn="l"/>
            <a:r>
              <a:rPr lang="en-US" sz="930" dirty="0">
                <a:solidFill>
                  <a:srgbClr val="222222"/>
                </a:solidFill>
                <a:latin typeface="Courier New"/>
                <a:cs typeface="Courier New"/>
              </a:rPr>
              <a:t>    raw = bus.read_word_data(0x55, 0x1C)   # SOC reg</a:t>
            </a:r>
          </a:p>
          <a:p>
            <a:pPr algn="l"/>
            <a:r>
              <a:rPr lang="en-US" sz="930" dirty="0">
                <a:solidFill>
                  <a:srgbClr val="222222"/>
                </a:solidFill>
                <a:latin typeface="Courier New"/>
                <a:cs typeface="Courier New"/>
              </a:rPr>
              <a:t>    return round(raw &amp; 0xFF, 1)</a:t>
            </a:r>
          </a:p>
          <a:p>
            <a:pPr algn="l"/>
            <a:r>
              <a:rPr lang="en-US" sz="930" dirty="0">
                <a:solidFill>
                  <a:srgbClr val="222222"/>
                </a:solidFill>
                <a:latin typeface="Courier New"/>
                <a:cs typeface="Courier New"/>
              </a:rPr>
              <a:t> </a:t>
            </a:r>
          </a:p>
          <a:p>
            <a:pPr algn="l"/>
            <a:r>
              <a:rPr lang="en-US" sz="930" dirty="0">
                <a:solidFill>
                  <a:srgbClr val="222222"/>
                </a:solidFill>
                <a:latin typeface="Courier New"/>
                <a:cs typeface="Courier New"/>
              </a:rPr>
              <a:t>def read_temperature():</a:t>
            </a:r>
          </a:p>
          <a:p>
            <a:pPr algn="l"/>
            <a:r>
              <a:rPr lang="en-US" sz="930" dirty="0">
                <a:solidFill>
                  <a:srgbClr val="222222"/>
                </a:solidFill>
                <a:latin typeface="Courier New"/>
                <a:cs typeface="Courier New"/>
              </a:rPr>
              <a:t>    raw = bus.read_word_data(0x5A, 0x07)   # Tobj1</a:t>
            </a:r>
          </a:p>
          <a:p>
            <a:pPr algn="l"/>
            <a:r>
              <a:rPr lang="en-US" sz="930" dirty="0">
                <a:solidFill>
                  <a:srgbClr val="222222"/>
                </a:solidFill>
                <a:latin typeface="Courier New"/>
                <a:cs typeface="Courier New"/>
              </a:rPr>
              <a:t>    ir_t = raw * 0.02 - 273.15</a:t>
            </a:r>
          </a:p>
          <a:p>
            <a:pPr algn="l"/>
            <a:r>
              <a:rPr lang="en-US" sz="930" dirty="0">
                <a:solidFill>
                  <a:srgbClr val="222222"/>
                </a:solidFill>
                <a:latin typeface="Courier New"/>
                <a:cs typeface="Courier New"/>
              </a:rPr>
              <a:t>    contact_t = ds18b20.get_temperature()</a:t>
            </a:r>
          </a:p>
          <a:p>
            <a:pPr algn="l"/>
            <a:r>
              <a:rPr lang="en-US" sz="930" dirty="0">
                <a:solidFill>
                  <a:srgbClr val="222222"/>
                </a:solidFill>
                <a:latin typeface="Courier New"/>
                <a:cs typeface="Courier New"/>
              </a:rPr>
              <a:t>    return round((ir_t + contact_t) / 2, 2)</a:t>
            </a:r>
          </a:p>
        </p:txBody>
      </p:sp>
      <p:sp>
        <p:nvSpPr>
          <p:cNvPr id="503" name="TB503"/>
          <p:cNvSpPr txBox="1"/>
          <p:nvPr/>
        </p:nvSpPr>
        <p:spPr>
          <a:xfrm>
            <a:off x="402336" y="5340096"/>
            <a:ext cx="8339328" cy="1097280"/>
          </a:xfrm>
          <a:prstGeom prst="rect">
            <a:avLst/>
          </a:prstGeom>
          <a:noFill/>
          <a:ln>
            <a:noFill/>
          </a:ln>
        </p:spPr>
        <p:txBody>
          <a:bodyPr wrap="square" lIns="0" tIns="0" rIns="0" bIns="0" anchor="t">
            <a:noAutofit/>
          </a:bodyPr>
          <a:lstStyle/>
          <a:p>
            <a:pPr algn="l"/>
            <a:r>
              <a:rPr lang="ko-KR" altLang="en-US" sz="950" dirty="0">
                <a:solidFill>
                  <a:srgbClr val="222222"/>
                </a:solidFill>
                <a:latin typeface="맑은 고딕"/>
                <a:ea typeface="맑은 고딕"/>
              </a:rPr>
              <a:t>●  I2C 공유 버스 — INA226(0x40)·BQ27441(0x55)·MLX90614(0x5A) 동일 SDA/SCL 버스를 주소로 구분</a:t>
            </a:r>
            <a:endParaRPr lang="en-US" altLang="ko-KR" sz="950" dirty="0">
              <a:solidFill>
                <a:srgbClr val="222222"/>
              </a:solidFill>
              <a:latin typeface="맑은 고딕"/>
              <a:ea typeface="맑은 고딕"/>
            </a:endParaRPr>
          </a:p>
          <a:p>
            <a:pPr algn="l"/>
            <a:endParaRPr lang="ko-KR" altLang="en-US" sz="950" dirty="0">
              <a:solidFill>
                <a:srgbClr val="222222"/>
              </a:solidFill>
              <a:latin typeface="맑은 고딕"/>
              <a:ea typeface="맑은 고딕"/>
            </a:endParaRPr>
          </a:p>
          <a:p>
            <a:pPr algn="l"/>
            <a:r>
              <a:rPr lang="ko-KR" altLang="en-US" sz="950" dirty="0">
                <a:solidFill>
                  <a:srgbClr val="222222"/>
                </a:solidFill>
                <a:latin typeface="맑은 고딕"/>
                <a:ea typeface="맑은 고딕"/>
              </a:rPr>
              <a:t>●  1-Wire 별도 — DS18B20은 GPIO8 단일 와이어, w1thermsensor 라이브러리로 접촉온도 획득</a:t>
            </a:r>
            <a:endParaRPr lang="en-US" altLang="ko-KR" sz="950" dirty="0">
              <a:solidFill>
                <a:srgbClr val="222222"/>
              </a:solidFill>
              <a:latin typeface="맑은 고딕"/>
              <a:ea typeface="맑은 고딕"/>
            </a:endParaRPr>
          </a:p>
          <a:p>
            <a:pPr algn="l"/>
            <a:endParaRPr lang="ko-KR" altLang="en-US" sz="950" dirty="0">
              <a:solidFill>
                <a:srgbClr val="222222"/>
              </a:solidFill>
              <a:latin typeface="맑은 고딕"/>
              <a:ea typeface="맑은 고딕"/>
            </a:endParaRPr>
          </a:p>
          <a:p>
            <a:pPr algn="l"/>
            <a:r>
              <a:rPr lang="ko-KR" altLang="en-US" sz="950" dirty="0">
                <a:solidFill>
                  <a:srgbClr val="222222"/>
                </a:solidFill>
                <a:latin typeface="맑은 고딕"/>
                <a:ea typeface="맑은 고딕"/>
              </a:rPr>
              <a:t>●  이중 온도 융합 — IR(비접촉) + 접촉식 평균으로 노이즈에 강건한 </a:t>
            </a:r>
            <a:r>
              <a:rPr lang="ko-KR" altLang="en-US" sz="950" dirty="0" err="1">
                <a:solidFill>
                  <a:srgbClr val="222222"/>
                </a:solidFill>
                <a:latin typeface="맑은 고딕"/>
                <a:ea typeface="맑은 고딕"/>
              </a:rPr>
              <a:t>temperature</a:t>
            </a:r>
            <a:r>
              <a:rPr lang="ko-KR" altLang="en-US" sz="950" dirty="0">
                <a:solidFill>
                  <a:srgbClr val="222222"/>
                </a:solidFill>
                <a:latin typeface="맑은 고딕"/>
                <a:ea typeface="맑은 고딕"/>
              </a:rPr>
              <a:t> 산출</a:t>
            </a:r>
          </a:p>
        </p:txBody>
      </p:sp>
    </p:spTree>
    <p:extLst>
      <p:ext uri="{BB962C8B-B14F-4D97-AF65-F5344CB8AC3E}">
        <p14:creationId xmlns:p14="http://schemas.microsoft.com/office/powerpoint/2010/main" val="170035826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직사각형 16"/>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직선 연결선 17"/>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 name="직선 연결선 22"/>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4" name="제목 12"/>
          <p:cNvSpPr txBox="1">
            <a:spLocks/>
          </p:cNvSpPr>
          <p:nvPr/>
        </p:nvSpPr>
        <p:spPr>
          <a:xfrm>
            <a:off x="323528" y="692696"/>
            <a:ext cx="2880320"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None/>
            </a:pPr>
            <a:r>
              <a:rPr lang="en-US" altLang="ko-KR" sz="1700" b="1" dirty="0">
                <a:solidFill>
                  <a:schemeClr val="bg1"/>
                </a:solidFill>
                <a:latin typeface="+mn-ea"/>
                <a:cs typeface="+mj-cs"/>
              </a:rPr>
              <a:t>| </a:t>
            </a:r>
            <a:r>
              <a:rPr lang="ko-KR" altLang="en-US" sz="1700" b="1" dirty="0">
                <a:solidFill>
                  <a:schemeClr val="bg1"/>
                </a:solidFill>
                <a:latin typeface="+mn-ea"/>
                <a:cs typeface="+mj-cs"/>
              </a:rPr>
              <a:t>핵심 소스코드</a:t>
            </a:r>
          </a:p>
        </p:txBody>
      </p:sp>
      <p:pic>
        <p:nvPicPr>
          <p:cNvPr id="29"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0" name="막힌 원호 29"/>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2" name="그림 1">
            <a:extLst>
              <a:ext uri="{FF2B5EF4-FFF2-40B4-BE49-F238E27FC236}">
                <a16:creationId xmlns:a16="http://schemas.microsoft.com/office/drawing/2014/main" id="{AE311E42-8094-1ED2-BF9F-D52B09934D67}"/>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
        <p:nvSpPr>
          <p:cNvPr id="501" name="TB501"/>
          <p:cNvSpPr txBox="1"/>
          <p:nvPr/>
        </p:nvSpPr>
        <p:spPr>
          <a:xfrm>
            <a:off x="402336" y="1463040"/>
            <a:ext cx="8229600" cy="292608"/>
          </a:xfrm>
          <a:prstGeom prst="rect">
            <a:avLst/>
          </a:prstGeom>
          <a:noFill/>
          <a:ln>
            <a:noFill/>
          </a:ln>
        </p:spPr>
        <p:txBody>
          <a:bodyPr wrap="square" lIns="0" tIns="0" rIns="0" bIns="0" anchor="ctr">
            <a:noAutofit/>
          </a:bodyPr>
          <a:lstStyle/>
          <a:p>
            <a:pPr algn="l"/>
            <a:r>
              <a:rPr lang="ko-KR" altLang="en-US" sz="1300" dirty="0">
                <a:solidFill>
                  <a:srgbClr val="2563EB"/>
                </a:solidFill>
                <a:latin typeface="맑은 고딕"/>
                <a:ea typeface="맑은 고딕"/>
              </a:rPr>
              <a:t>▍ </a:t>
            </a:r>
            <a:r>
              <a:rPr lang="ko-KR" altLang="en-US" sz="1300" b="1" dirty="0">
                <a:solidFill>
                  <a:srgbClr val="2A2A2A"/>
                </a:solidFill>
                <a:latin typeface="맑은 고딕"/>
                <a:ea typeface="맑은 고딕"/>
              </a:rPr>
              <a:t>실제 센서 리드 코드 ② — ADS1115 아날로그 · 릴레이 모드 전환</a:t>
            </a:r>
          </a:p>
        </p:txBody>
      </p:sp>
      <p:sp>
        <p:nvSpPr>
          <p:cNvPr id="502" name="Code502"/>
          <p:cNvSpPr/>
          <p:nvPr/>
        </p:nvSpPr>
        <p:spPr>
          <a:xfrm>
            <a:off x="402336" y="1847088"/>
            <a:ext cx="8339328" cy="3310128"/>
          </a:xfrm>
          <a:prstGeom prst="rect">
            <a:avLst/>
          </a:prstGeom>
          <a:solidFill>
            <a:srgbClr val="F7F7F5"/>
          </a:solidFill>
          <a:ln w="9525">
            <a:solidFill>
              <a:srgbClr val="D9DCE3"/>
            </a:solidFill>
          </a:ln>
        </p:spPr>
        <p:txBody>
          <a:bodyPr wrap="square" lIns="54000" tIns="36000" rIns="36000" bIns="36000" anchor="t">
            <a:noAutofit/>
          </a:bodyPr>
          <a:lstStyle/>
          <a:p>
            <a:pPr algn="l"/>
            <a:r>
              <a:rPr lang="en-US" sz="930" dirty="0">
                <a:solidFill>
                  <a:srgbClr val="222222"/>
                </a:solidFill>
                <a:latin typeface="Courier New"/>
                <a:cs typeface="Courier New"/>
              </a:rPr>
              <a:t>import board, busio</a:t>
            </a:r>
          </a:p>
          <a:p>
            <a:pPr algn="l"/>
            <a:r>
              <a:rPr lang="en-US" sz="930" dirty="0">
                <a:solidFill>
                  <a:srgbClr val="222222"/>
                </a:solidFill>
                <a:latin typeface="Courier New"/>
                <a:cs typeface="Courier New"/>
              </a:rPr>
              <a:t>import adafruit_ads1x15.ads1115 as ADS</a:t>
            </a:r>
          </a:p>
          <a:p>
            <a:pPr algn="l"/>
            <a:r>
              <a:rPr lang="en-US" sz="930" dirty="0">
                <a:solidFill>
                  <a:srgbClr val="222222"/>
                </a:solidFill>
                <a:latin typeface="Courier New"/>
                <a:cs typeface="Courier New"/>
              </a:rPr>
              <a:t>from adafruit_ads1x15.analog_in import AnalogIn</a:t>
            </a:r>
          </a:p>
          <a:p>
            <a:pPr algn="l"/>
            <a:r>
              <a:rPr lang="en-US" sz="930" dirty="0">
                <a:solidFill>
                  <a:srgbClr val="222222"/>
                </a:solidFill>
                <a:latin typeface="Courier New"/>
                <a:cs typeface="Courier New"/>
              </a:rPr>
              <a:t>from gpiozero import OutputDevice</a:t>
            </a:r>
          </a:p>
          <a:p>
            <a:pPr algn="l"/>
            <a:r>
              <a:rPr lang="en-US" sz="930" dirty="0">
                <a:solidFill>
                  <a:srgbClr val="222222"/>
                </a:solidFill>
                <a:latin typeface="Courier New"/>
                <a:cs typeface="Courier New"/>
              </a:rPr>
              <a:t> </a:t>
            </a:r>
          </a:p>
          <a:p>
            <a:pPr algn="l"/>
            <a:r>
              <a:rPr lang="en-US" sz="930" dirty="0">
                <a:solidFill>
                  <a:srgbClr val="222222"/>
                </a:solidFill>
                <a:latin typeface="Courier New"/>
                <a:cs typeface="Courier New"/>
              </a:rPr>
              <a:t>i2c = busio.I2C(board.SCL, board.SDA)</a:t>
            </a:r>
          </a:p>
          <a:p>
            <a:pPr algn="l"/>
            <a:r>
              <a:rPr lang="en-US" sz="930" dirty="0">
                <a:solidFill>
                  <a:srgbClr val="222222"/>
                </a:solidFill>
                <a:latin typeface="Courier New"/>
                <a:cs typeface="Courier New"/>
              </a:rPr>
              <a:t>ads = ADS.ADS1115(i2c, address=0x48)</a:t>
            </a:r>
          </a:p>
          <a:p>
            <a:pPr algn="l"/>
            <a:r>
              <a:rPr lang="en-US" sz="930" dirty="0">
                <a:solidFill>
                  <a:srgbClr val="222222"/>
                </a:solidFill>
                <a:latin typeface="Courier New"/>
                <a:cs typeface="Courier New"/>
              </a:rPr>
              <a:t>ch_gas, ch_pressure, ch_acoustic = (</a:t>
            </a:r>
          </a:p>
          <a:p>
            <a:pPr algn="l"/>
            <a:r>
              <a:rPr lang="en-US" sz="930" dirty="0">
                <a:solidFill>
                  <a:srgbClr val="222222"/>
                </a:solidFill>
                <a:latin typeface="Courier New"/>
                <a:cs typeface="Courier New"/>
              </a:rPr>
              <a:t>    AnalogIn(ads, ADS.P0), AnalogIn(ads, ADS.P1),</a:t>
            </a:r>
          </a:p>
          <a:p>
            <a:pPr algn="l"/>
            <a:r>
              <a:rPr lang="en-US" sz="930" dirty="0">
                <a:solidFill>
                  <a:srgbClr val="222222"/>
                </a:solidFill>
                <a:latin typeface="Courier New"/>
                <a:cs typeface="Courier New"/>
              </a:rPr>
              <a:t>    AnalogIn(ads, ADS.P2))</a:t>
            </a:r>
          </a:p>
          <a:p>
            <a:pPr algn="l"/>
            <a:r>
              <a:rPr lang="en-US" sz="930" dirty="0">
                <a:solidFill>
                  <a:srgbClr val="222222"/>
                </a:solidFill>
                <a:latin typeface="Courier New"/>
                <a:cs typeface="Courier New"/>
              </a:rPr>
              <a:t> </a:t>
            </a:r>
          </a:p>
          <a:p>
            <a:pPr algn="l"/>
            <a:r>
              <a:rPr lang="en-US" sz="930" dirty="0">
                <a:solidFill>
                  <a:srgbClr val="222222"/>
                </a:solidFill>
                <a:latin typeface="Courier New"/>
                <a:cs typeface="Courier New"/>
              </a:rPr>
              <a:t>relay = {1: OutputDevice(4), 2: OutputDevice(5), 3: OutputDevice(6)}</a:t>
            </a:r>
          </a:p>
          <a:p>
            <a:pPr algn="l"/>
            <a:r>
              <a:rPr lang="en-US" sz="930" dirty="0">
                <a:solidFill>
                  <a:srgbClr val="222222"/>
                </a:solidFill>
                <a:latin typeface="Courier New"/>
                <a:cs typeface="Courier New"/>
              </a:rPr>
              <a:t> </a:t>
            </a:r>
          </a:p>
          <a:p>
            <a:pPr algn="l"/>
            <a:r>
              <a:rPr lang="en-US" sz="930" dirty="0">
                <a:solidFill>
                  <a:srgbClr val="222222"/>
                </a:solidFill>
                <a:latin typeface="Courier New"/>
                <a:cs typeface="Courier New"/>
              </a:rPr>
              <a:t>def set_mode(m):</a:t>
            </a:r>
          </a:p>
          <a:p>
            <a:pPr algn="l"/>
            <a:r>
              <a:rPr lang="en-US" sz="930" dirty="0">
                <a:solidFill>
                  <a:srgbClr val="222222"/>
                </a:solidFill>
                <a:latin typeface="Courier New"/>
                <a:cs typeface="Courier New"/>
              </a:rPr>
              <a:t>    for k, r in relay.items():</a:t>
            </a:r>
          </a:p>
          <a:p>
            <a:pPr algn="l"/>
            <a:r>
              <a:rPr lang="en-US" sz="930" dirty="0">
                <a:solidFill>
                  <a:srgbClr val="222222"/>
                </a:solidFill>
                <a:latin typeface="Courier New"/>
                <a:cs typeface="Courier New"/>
              </a:rPr>
              <a:t>        r.value = (k == m)</a:t>
            </a:r>
          </a:p>
          <a:p>
            <a:pPr algn="l"/>
            <a:r>
              <a:rPr lang="en-US" sz="930" dirty="0">
                <a:solidFill>
                  <a:srgbClr val="222222"/>
                </a:solidFill>
                <a:latin typeface="Courier New"/>
                <a:cs typeface="Courier New"/>
              </a:rPr>
              <a:t> </a:t>
            </a:r>
          </a:p>
          <a:p>
            <a:pPr algn="l"/>
            <a:r>
              <a:rPr lang="en-US" sz="930" dirty="0">
                <a:solidFill>
                  <a:srgbClr val="222222"/>
                </a:solidFill>
                <a:latin typeface="Courier New"/>
                <a:cs typeface="Courier New"/>
              </a:rPr>
              <a:t>def read_gas(): return ch_gas.value</a:t>
            </a:r>
          </a:p>
          <a:p>
            <a:pPr algn="l"/>
            <a:r>
              <a:rPr lang="en-US" sz="930" dirty="0">
                <a:solidFill>
                  <a:srgbClr val="222222"/>
                </a:solidFill>
                <a:latin typeface="Courier New"/>
                <a:cs typeface="Courier New"/>
              </a:rPr>
              <a:t>def read_pressure(): return ch_pressure.value</a:t>
            </a:r>
          </a:p>
          <a:p>
            <a:pPr algn="l"/>
            <a:r>
              <a:rPr lang="en-US" sz="930" dirty="0">
                <a:solidFill>
                  <a:srgbClr val="222222"/>
                </a:solidFill>
                <a:latin typeface="Courier New"/>
                <a:cs typeface="Courier New"/>
              </a:rPr>
              <a:t> </a:t>
            </a:r>
          </a:p>
          <a:p>
            <a:pPr algn="l"/>
            <a:r>
              <a:rPr lang="en-US" sz="930" dirty="0">
                <a:solidFill>
                  <a:srgbClr val="222222"/>
                </a:solidFill>
                <a:latin typeface="Courier New"/>
                <a:cs typeface="Courier New"/>
              </a:rPr>
              <a:t>def read_acoustic():</a:t>
            </a:r>
          </a:p>
          <a:p>
            <a:pPr algn="l"/>
            <a:r>
              <a:rPr lang="en-US" sz="930" dirty="0">
                <a:solidFill>
                  <a:srgbClr val="222222"/>
                </a:solidFill>
                <a:latin typeface="Courier New"/>
                <a:cs typeface="Courier New"/>
              </a:rPr>
              <a:t>    amp = max(samples) - min(samples)   # 20샘플 peak-to-peak</a:t>
            </a:r>
          </a:p>
          <a:p>
            <a:pPr algn="l"/>
            <a:r>
              <a:rPr lang="en-US" sz="930" dirty="0">
                <a:solidFill>
                  <a:srgbClr val="222222"/>
                </a:solidFill>
                <a:latin typeface="Courier New"/>
                <a:cs typeface="Courier New"/>
              </a:rPr>
              <a:t>    return min(100, int(amp / SCALE * 100))</a:t>
            </a:r>
          </a:p>
        </p:txBody>
      </p:sp>
      <p:sp>
        <p:nvSpPr>
          <p:cNvPr id="503" name="TB503"/>
          <p:cNvSpPr txBox="1"/>
          <p:nvPr/>
        </p:nvSpPr>
        <p:spPr>
          <a:xfrm>
            <a:off x="402336" y="5340096"/>
            <a:ext cx="8339328" cy="1097280"/>
          </a:xfrm>
          <a:prstGeom prst="rect">
            <a:avLst/>
          </a:prstGeom>
          <a:noFill/>
          <a:ln>
            <a:noFill/>
          </a:ln>
        </p:spPr>
        <p:txBody>
          <a:bodyPr wrap="square" lIns="0" tIns="0" rIns="0" bIns="0" anchor="t">
            <a:noAutofit/>
          </a:bodyPr>
          <a:lstStyle/>
          <a:p>
            <a:pPr algn="l"/>
            <a:r>
              <a:rPr lang="ko-KR" altLang="en-US" sz="950" dirty="0">
                <a:solidFill>
                  <a:srgbClr val="222222"/>
                </a:solidFill>
                <a:latin typeface="맑은 고딕"/>
                <a:ea typeface="맑은 고딕"/>
              </a:rPr>
              <a:t>●  모드 전환 — set_mode(1|2|3)이 GPIO4/5/6 중 하나만 ON, 측정 소스를 배타적으로 </a:t>
            </a:r>
            <a:r>
              <a:rPr lang="ko-KR" altLang="en-US" sz="950" dirty="0" err="1">
                <a:solidFill>
                  <a:srgbClr val="222222"/>
                </a:solidFill>
                <a:latin typeface="맑은 고딕"/>
                <a:ea typeface="맑은 고딕"/>
              </a:rPr>
              <a:t>스위칭</a:t>
            </a:r>
            <a:endParaRPr lang="en-US" altLang="ko-KR" sz="950" dirty="0">
              <a:solidFill>
                <a:srgbClr val="222222"/>
              </a:solidFill>
              <a:latin typeface="맑은 고딕"/>
              <a:ea typeface="맑은 고딕"/>
            </a:endParaRPr>
          </a:p>
          <a:p>
            <a:pPr algn="l"/>
            <a:endParaRPr lang="ko-KR" altLang="en-US" sz="950" dirty="0">
              <a:solidFill>
                <a:srgbClr val="222222"/>
              </a:solidFill>
              <a:latin typeface="맑은 고딕"/>
              <a:ea typeface="맑은 고딕"/>
            </a:endParaRPr>
          </a:p>
          <a:p>
            <a:pPr algn="l"/>
            <a:r>
              <a:rPr lang="ko-KR" altLang="en-US" sz="950" dirty="0">
                <a:solidFill>
                  <a:srgbClr val="222222"/>
                </a:solidFill>
                <a:latin typeface="맑은 고딕"/>
                <a:ea typeface="맑은 고딕"/>
              </a:rPr>
              <a:t>●  Raw 그대로 — gas·pressure·acoustic는 ADC raw 정수 그대로 반환, 물리단위 환산은 후속 분석 </a:t>
            </a:r>
          </a:p>
        </p:txBody>
      </p:sp>
    </p:spTree>
    <p:extLst>
      <p:ext uri="{BB962C8B-B14F-4D97-AF65-F5344CB8AC3E}">
        <p14:creationId xmlns:p14="http://schemas.microsoft.com/office/powerpoint/2010/main" val="160235280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ED2F0-829A-439F-3481-55BC4F6154CC}"/>
            </a:ext>
          </a:extLst>
        </p:cNvPr>
        <p:cNvGrpSpPr/>
        <p:nvPr/>
      </p:nvGrpSpPr>
      <p:grpSpPr>
        <a:xfrm>
          <a:off x="0" y="0"/>
          <a:ext cx="0" cy="0"/>
          <a:chOff x="0" y="0"/>
          <a:chExt cx="0" cy="0"/>
        </a:xfrm>
      </p:grpSpPr>
      <p:sp>
        <p:nvSpPr>
          <p:cNvPr id="17" name="직사각형 16">
            <a:extLst>
              <a:ext uri="{FF2B5EF4-FFF2-40B4-BE49-F238E27FC236}">
                <a16:creationId xmlns:a16="http://schemas.microsoft.com/office/drawing/2014/main" id="{AF97332B-FB5A-00BC-1944-45121977655B}"/>
              </a:ext>
            </a:extLst>
          </p:cNvPr>
          <p:cNvSpPr/>
          <p:nvPr/>
        </p:nvSpPr>
        <p:spPr>
          <a:xfrm>
            <a:off x="1010281" y="1310389"/>
            <a:ext cx="7033700" cy="27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3" name="TextBox 2">
            <a:extLst>
              <a:ext uri="{FF2B5EF4-FFF2-40B4-BE49-F238E27FC236}">
                <a16:creationId xmlns:a16="http://schemas.microsoft.com/office/drawing/2014/main" id="{01CC6CCA-65EA-E3E0-60B1-900073B63A51}"/>
              </a:ext>
            </a:extLst>
          </p:cNvPr>
          <p:cNvSpPr txBox="1"/>
          <p:nvPr/>
        </p:nvSpPr>
        <p:spPr>
          <a:xfrm>
            <a:off x="1010281" y="1010307"/>
            <a:ext cx="6629534" cy="323165"/>
          </a:xfrm>
          <a:prstGeom prst="rect">
            <a:avLst/>
          </a:prstGeom>
          <a:noFill/>
        </p:spPr>
        <p:txBody>
          <a:bodyPr wrap="square">
            <a:spAutoFit/>
          </a:bodyPr>
          <a:lstStyle/>
          <a:p>
            <a:r>
              <a:rPr lang="en-US" altLang="ko-KR" sz="1500" b="1" dirty="0"/>
              <a:t>Hybrid AI Algorithm </a:t>
            </a:r>
            <a:r>
              <a:rPr lang="ko-KR" altLang="en-US" sz="1500" b="1" dirty="0"/>
              <a:t>소스코드</a:t>
            </a:r>
            <a:endParaRPr lang="ko-KR" altLang="en-US" sz="1500" dirty="0"/>
          </a:p>
        </p:txBody>
      </p:sp>
      <p:pic>
        <p:nvPicPr>
          <p:cNvPr id="6" name="그림 5">
            <a:extLst>
              <a:ext uri="{FF2B5EF4-FFF2-40B4-BE49-F238E27FC236}">
                <a16:creationId xmlns:a16="http://schemas.microsoft.com/office/drawing/2014/main" id="{24F4E5A8-11AE-646E-7560-5E8C8B3E5271}"/>
              </a:ext>
            </a:extLst>
          </p:cNvPr>
          <p:cNvPicPr>
            <a:picLocks noChangeAspect="1"/>
          </p:cNvPicPr>
          <p:nvPr/>
        </p:nvPicPr>
        <p:blipFill>
          <a:blip r:embed="rId2"/>
          <a:stretch>
            <a:fillRect/>
          </a:stretch>
        </p:blipFill>
        <p:spPr>
          <a:xfrm>
            <a:off x="1010281" y="1337389"/>
            <a:ext cx="7033700" cy="4510305"/>
          </a:xfrm>
          <a:prstGeom prst="rect">
            <a:avLst/>
          </a:prstGeom>
        </p:spPr>
      </p:pic>
    </p:spTree>
    <p:extLst>
      <p:ext uri="{BB962C8B-B14F-4D97-AF65-F5344CB8AC3E}">
        <p14:creationId xmlns:p14="http://schemas.microsoft.com/office/powerpoint/2010/main" val="42885251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310D7-5FEF-1C0B-969D-EC37DDF2DF8D}"/>
            </a:ext>
          </a:extLst>
        </p:cNvPr>
        <p:cNvGrpSpPr/>
        <p:nvPr/>
      </p:nvGrpSpPr>
      <p:grpSpPr>
        <a:xfrm>
          <a:off x="0" y="0"/>
          <a:ext cx="0" cy="0"/>
          <a:chOff x="0" y="0"/>
          <a:chExt cx="0" cy="0"/>
        </a:xfrm>
      </p:grpSpPr>
      <p:sp>
        <p:nvSpPr>
          <p:cNvPr id="17" name="직사각형 16">
            <a:extLst>
              <a:ext uri="{FF2B5EF4-FFF2-40B4-BE49-F238E27FC236}">
                <a16:creationId xmlns:a16="http://schemas.microsoft.com/office/drawing/2014/main" id="{D5C80FAB-FEE2-BFA8-03F4-90640A31E5C3}"/>
              </a:ext>
            </a:extLst>
          </p:cNvPr>
          <p:cNvSpPr/>
          <p:nvPr/>
        </p:nvSpPr>
        <p:spPr>
          <a:xfrm>
            <a:off x="1010281" y="1310389"/>
            <a:ext cx="7033700" cy="27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3" name="TextBox 2">
            <a:extLst>
              <a:ext uri="{FF2B5EF4-FFF2-40B4-BE49-F238E27FC236}">
                <a16:creationId xmlns:a16="http://schemas.microsoft.com/office/drawing/2014/main" id="{A891CA21-1795-E960-46B2-1D8A505ADBA7}"/>
              </a:ext>
            </a:extLst>
          </p:cNvPr>
          <p:cNvSpPr txBox="1"/>
          <p:nvPr/>
        </p:nvSpPr>
        <p:spPr>
          <a:xfrm>
            <a:off x="1010280" y="1010307"/>
            <a:ext cx="6629534" cy="323165"/>
          </a:xfrm>
          <a:prstGeom prst="rect">
            <a:avLst/>
          </a:prstGeom>
          <a:noFill/>
        </p:spPr>
        <p:txBody>
          <a:bodyPr wrap="square">
            <a:spAutoFit/>
          </a:bodyPr>
          <a:lstStyle/>
          <a:p>
            <a:r>
              <a:rPr lang="en-US" altLang="ko-KR" sz="1500" b="1" dirty="0"/>
              <a:t>Hybrid AI Algorithm </a:t>
            </a:r>
            <a:r>
              <a:rPr lang="ko-KR" altLang="en-US" sz="1500" b="1" dirty="0"/>
              <a:t>소스코드</a:t>
            </a:r>
            <a:endParaRPr lang="ko-KR" altLang="en-US" sz="1500" dirty="0"/>
          </a:p>
        </p:txBody>
      </p:sp>
      <p:pic>
        <p:nvPicPr>
          <p:cNvPr id="4" name="그림 3">
            <a:extLst>
              <a:ext uri="{FF2B5EF4-FFF2-40B4-BE49-F238E27FC236}">
                <a16:creationId xmlns:a16="http://schemas.microsoft.com/office/drawing/2014/main" id="{FFB0F040-852D-3474-9906-CC3E4BC14BB4}"/>
              </a:ext>
            </a:extLst>
          </p:cNvPr>
          <p:cNvPicPr>
            <a:picLocks noChangeAspect="1"/>
          </p:cNvPicPr>
          <p:nvPr/>
        </p:nvPicPr>
        <p:blipFill>
          <a:blip r:embed="rId2"/>
          <a:stretch>
            <a:fillRect/>
          </a:stretch>
        </p:blipFill>
        <p:spPr>
          <a:xfrm>
            <a:off x="1010281" y="1364389"/>
            <a:ext cx="7033700" cy="4483304"/>
          </a:xfrm>
          <a:prstGeom prst="rect">
            <a:avLst/>
          </a:prstGeom>
        </p:spPr>
      </p:pic>
    </p:spTree>
    <p:extLst>
      <p:ext uri="{BB962C8B-B14F-4D97-AF65-F5344CB8AC3E}">
        <p14:creationId xmlns:p14="http://schemas.microsoft.com/office/powerpoint/2010/main" val="187973654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86CBC-F288-C79D-480B-A2E215B4448A}"/>
            </a:ext>
          </a:extLst>
        </p:cNvPr>
        <p:cNvGrpSpPr/>
        <p:nvPr/>
      </p:nvGrpSpPr>
      <p:grpSpPr>
        <a:xfrm>
          <a:off x="0" y="0"/>
          <a:ext cx="0" cy="0"/>
          <a:chOff x="0" y="0"/>
          <a:chExt cx="0" cy="0"/>
        </a:xfrm>
      </p:grpSpPr>
      <p:sp>
        <p:nvSpPr>
          <p:cNvPr id="17" name="직사각형 16">
            <a:extLst>
              <a:ext uri="{FF2B5EF4-FFF2-40B4-BE49-F238E27FC236}">
                <a16:creationId xmlns:a16="http://schemas.microsoft.com/office/drawing/2014/main" id="{F77F11B9-D9DD-97A6-2D43-C7123BC14404}"/>
              </a:ext>
            </a:extLst>
          </p:cNvPr>
          <p:cNvSpPr/>
          <p:nvPr/>
        </p:nvSpPr>
        <p:spPr>
          <a:xfrm>
            <a:off x="1010281" y="1310389"/>
            <a:ext cx="7033700" cy="27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3" name="TextBox 2">
            <a:extLst>
              <a:ext uri="{FF2B5EF4-FFF2-40B4-BE49-F238E27FC236}">
                <a16:creationId xmlns:a16="http://schemas.microsoft.com/office/drawing/2014/main" id="{385BBF1E-F9AF-975B-39E6-BB7F54B32D7E}"/>
              </a:ext>
            </a:extLst>
          </p:cNvPr>
          <p:cNvSpPr txBox="1"/>
          <p:nvPr/>
        </p:nvSpPr>
        <p:spPr>
          <a:xfrm>
            <a:off x="1010280" y="1023807"/>
            <a:ext cx="6629534" cy="323165"/>
          </a:xfrm>
          <a:prstGeom prst="rect">
            <a:avLst/>
          </a:prstGeom>
          <a:noFill/>
        </p:spPr>
        <p:txBody>
          <a:bodyPr wrap="square">
            <a:spAutoFit/>
          </a:bodyPr>
          <a:lstStyle/>
          <a:p>
            <a:r>
              <a:rPr lang="en-US" altLang="ko-KR" sz="1500" b="1" dirty="0"/>
              <a:t>Hybrid AI Algorithm </a:t>
            </a:r>
            <a:r>
              <a:rPr lang="ko-KR" altLang="en-US" sz="1500" b="1" dirty="0"/>
              <a:t>소스코드</a:t>
            </a:r>
            <a:endParaRPr lang="ko-KR" altLang="en-US" sz="1500" dirty="0"/>
          </a:p>
        </p:txBody>
      </p:sp>
      <p:pic>
        <p:nvPicPr>
          <p:cNvPr id="5" name="그림 4">
            <a:extLst>
              <a:ext uri="{FF2B5EF4-FFF2-40B4-BE49-F238E27FC236}">
                <a16:creationId xmlns:a16="http://schemas.microsoft.com/office/drawing/2014/main" id="{00571638-A32D-3750-6570-A1A3580CE1C5}"/>
              </a:ext>
            </a:extLst>
          </p:cNvPr>
          <p:cNvPicPr>
            <a:picLocks noChangeAspect="1"/>
          </p:cNvPicPr>
          <p:nvPr/>
        </p:nvPicPr>
        <p:blipFill>
          <a:blip r:embed="rId2"/>
          <a:stretch>
            <a:fillRect/>
          </a:stretch>
        </p:blipFill>
        <p:spPr>
          <a:xfrm>
            <a:off x="1010281" y="1337389"/>
            <a:ext cx="7033700" cy="4392713"/>
          </a:xfrm>
          <a:prstGeom prst="rect">
            <a:avLst/>
          </a:prstGeom>
        </p:spPr>
      </p:pic>
    </p:spTree>
    <p:extLst>
      <p:ext uri="{BB962C8B-B14F-4D97-AF65-F5344CB8AC3E}">
        <p14:creationId xmlns:p14="http://schemas.microsoft.com/office/powerpoint/2010/main" val="103097804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직사각형 20"/>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2" name="직선 연결선 21"/>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직선 연결선 24"/>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8" name="제목 12"/>
          <p:cNvSpPr txBox="1">
            <a:spLocks/>
          </p:cNvSpPr>
          <p:nvPr/>
        </p:nvSpPr>
        <p:spPr>
          <a:xfrm>
            <a:off x="323528" y="692696"/>
            <a:ext cx="2808312" cy="296631"/>
          </a:xfrm>
          <a:prstGeom prst="rect">
            <a:avLst/>
          </a:prstGeom>
        </p:spPr>
        <p:txBody>
          <a:bodyPr vert="horz" lIns="91440" tIns="45720" rIns="91440" bIns="45720" rtlCol="0" anchor="t">
            <a:noAutofit/>
          </a:bodyPr>
          <a:lstStyle/>
          <a:p>
            <a:pPr lvl="0">
              <a:spcBef>
                <a:spcPct val="0"/>
              </a:spcBef>
              <a:defRPr/>
            </a:pPr>
            <a:r>
              <a:rPr kumimoji="0" lang="en-US" altLang="ko-KR" sz="1700" b="1" i="0" u="none" strike="noStrike" kern="1200" cap="none" spc="0" normalizeH="0" baseline="0" noProof="0" dirty="0">
                <a:ln>
                  <a:noFill/>
                </a:ln>
                <a:solidFill>
                  <a:schemeClr val="bg1"/>
                </a:solidFill>
                <a:effectLst/>
                <a:uLnTx/>
                <a:uFillTx/>
                <a:latin typeface="+mn-ea"/>
                <a:cs typeface="+mj-cs"/>
              </a:rPr>
              <a:t>| </a:t>
            </a:r>
            <a:r>
              <a:rPr lang="ko-KR" altLang="en-US" sz="1700" b="1" dirty="0">
                <a:solidFill>
                  <a:schemeClr val="bg1"/>
                </a:solidFill>
                <a:latin typeface="+mn-ea"/>
              </a:rPr>
              <a:t>참조</a:t>
            </a:r>
            <a:r>
              <a:rPr lang="en-US" altLang="ko-KR" sz="1700" b="1" dirty="0">
                <a:solidFill>
                  <a:schemeClr val="bg1"/>
                </a:solidFill>
                <a:latin typeface="+mn-ea"/>
              </a:rPr>
              <a:t>-</a:t>
            </a:r>
            <a:r>
              <a:rPr kumimoji="0" lang="ko-KR" altLang="en-US" sz="1700" b="1" i="0" u="none" strike="noStrike" kern="1200" cap="none" spc="0" normalizeH="0" baseline="0" noProof="0" dirty="0">
                <a:ln>
                  <a:noFill/>
                </a:ln>
                <a:solidFill>
                  <a:schemeClr val="bg1"/>
                </a:solidFill>
                <a:effectLst/>
                <a:uLnTx/>
                <a:uFillTx/>
                <a:latin typeface="+mn-ea"/>
                <a:cs typeface="+mj-cs"/>
              </a:rPr>
              <a:t>개발 환경 및 설명</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30"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2" name="막힌 원호 31"/>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 name="그림 2">
            <a:extLst>
              <a:ext uri="{FF2B5EF4-FFF2-40B4-BE49-F238E27FC236}">
                <a16:creationId xmlns:a16="http://schemas.microsoft.com/office/drawing/2014/main" id="{5FFA21BE-BF57-0869-9170-38A087961F33}"/>
              </a:ext>
            </a:extLst>
          </p:cNvPr>
          <p:cNvPicPr>
            <a:picLocks noChangeAspect="1"/>
          </p:cNvPicPr>
          <p:nvPr/>
        </p:nvPicPr>
        <p:blipFill>
          <a:blip r:embed="rId3"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graphicFrame>
        <p:nvGraphicFramePr>
          <p:cNvPr id="33" name="Table 32"/>
          <p:cNvGraphicFramePr>
            <a:graphicFrameLocks noGrp="1"/>
          </p:cNvGraphicFramePr>
          <p:nvPr/>
        </p:nvGraphicFramePr>
        <p:xfrm>
          <a:off x="365760" y="1371600"/>
          <a:ext cx="8412480" cy="4754880"/>
        </p:xfrm>
        <a:graphic>
          <a:graphicData uri="http://schemas.openxmlformats.org/drawingml/2006/table">
            <a:tbl>
              <a:tblPr>
                <a:tableStyleId>{5C22544A-7EE6-4342-B048-85BDC9FD1C3A}</a:tableStyleId>
              </a:tblPr>
              <a:tblGrid>
                <a:gridCol w="105156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3429000">
                  <a:extLst>
                    <a:ext uri="{9D8B030D-6E8A-4147-A177-3AD203B41FA5}">
                      <a16:colId xmlns:a16="http://schemas.microsoft.com/office/drawing/2014/main" val="20003"/>
                    </a:ext>
                  </a:extLst>
                </a:gridCol>
              </a:tblGrid>
              <a:tr h="365760">
                <a:tc>
                  <a:txBody>
                    <a:bodyPr/>
                    <a:lstStyle/>
                    <a:p>
                      <a:pPr algn="ctr"/>
                      <a:r>
                        <a:rPr sz="850" b="1">
                          <a:solidFill>
                            <a:srgbClr val="FFFFFF"/>
                          </a:solidFill>
                          <a:latin typeface="맑은 고딕"/>
                        </a:rPr>
                        <a:t>구분</a:t>
                      </a:r>
                    </a:p>
                  </a:txBody>
                  <a:tcPr marL="45720" marR="45720" marT="9144" marB="9144" anchor="ctr">
                    <a:solidFill>
                      <a:srgbClr val="3B5AA8"/>
                    </a:solidFill>
                  </a:tcPr>
                </a:tc>
                <a:tc>
                  <a:txBody>
                    <a:bodyPr/>
                    <a:lstStyle/>
                    <a:p>
                      <a:pPr algn="ctr"/>
                      <a:r>
                        <a:rPr sz="850" b="1">
                          <a:solidFill>
                            <a:srgbClr val="FFFFFF"/>
                          </a:solidFill>
                          <a:latin typeface="맑은 고딕"/>
                        </a:rPr>
                        <a:t>항목</a:t>
                      </a:r>
                    </a:p>
                  </a:txBody>
                  <a:tcPr marL="45720" marR="45720" marT="9144" marB="9144" anchor="ctr">
                    <a:solidFill>
                      <a:srgbClr val="3B5AA8"/>
                    </a:solidFill>
                  </a:tcPr>
                </a:tc>
                <a:tc>
                  <a:txBody>
                    <a:bodyPr/>
                    <a:lstStyle/>
                    <a:p>
                      <a:pPr algn="ctr"/>
                      <a:r>
                        <a:rPr sz="850" b="1">
                          <a:solidFill>
                            <a:srgbClr val="FFFFFF"/>
                          </a:solidFill>
                          <a:latin typeface="맑은 고딕"/>
                        </a:rPr>
                        <a:t>적용 기술</a:t>
                      </a:r>
                    </a:p>
                  </a:txBody>
                  <a:tcPr marL="45720" marR="45720" marT="9144" marB="9144" anchor="ctr">
                    <a:solidFill>
                      <a:srgbClr val="3B5AA8"/>
                    </a:solidFill>
                  </a:tcPr>
                </a:tc>
                <a:tc>
                  <a:txBody>
                    <a:bodyPr/>
                    <a:lstStyle/>
                    <a:p>
                      <a:pPr algn="ctr"/>
                      <a:r>
                        <a:rPr sz="850" b="1">
                          <a:solidFill>
                            <a:srgbClr val="FFFFFF"/>
                          </a:solidFill>
                          <a:latin typeface="맑은 고딕"/>
                        </a:rPr>
                        <a:t>적용 내역</a:t>
                      </a:r>
                    </a:p>
                  </a:txBody>
                  <a:tcPr marL="45720" marR="45720" marT="9144" marB="9144" anchor="ctr">
                    <a:solidFill>
                      <a:srgbClr val="3B5AA8"/>
                    </a:solidFill>
                  </a:tcPr>
                </a:tc>
                <a:extLst>
                  <a:ext uri="{0D108BD9-81ED-4DB2-BD59-A6C34878D82A}">
                    <a16:rowId xmlns:a16="http://schemas.microsoft.com/office/drawing/2014/main" val="10000"/>
                  </a:ext>
                </a:extLst>
              </a:tr>
              <a:tr h="365760">
                <a:tc rowSpan="3">
                  <a:txBody>
                    <a:bodyPr/>
                    <a:lstStyle/>
                    <a:p>
                      <a:pPr algn="ctr"/>
                      <a:r>
                        <a:rPr sz="800" b="1">
                          <a:solidFill>
                            <a:srgbClr val="3B5AA8"/>
                          </a:solidFill>
                          <a:latin typeface="맑은 고딕"/>
                        </a:rPr>
                        <a:t>에지(Edge)</a:t>
                      </a:r>
                    </a:p>
                  </a:txBody>
                  <a:tcPr marL="45720" marR="45720" marT="9144" marB="9144" anchor="ctr">
                    <a:solidFill>
                      <a:srgbClr val="E2EBFC"/>
                    </a:solidFill>
                  </a:tcPr>
                </a:tc>
                <a:tc>
                  <a:txBody>
                    <a:bodyPr/>
                    <a:lstStyle/>
                    <a:p>
                      <a:pPr algn="ctr"/>
                      <a:r>
                        <a:rPr sz="800" b="0">
                          <a:solidFill>
                            <a:srgbClr val="222222"/>
                          </a:solidFill>
                          <a:latin typeface="맑은 고딕"/>
                        </a:rPr>
                        <a:t>센서 수집 SW</a:t>
                      </a:r>
                    </a:p>
                  </a:txBody>
                  <a:tcPr marL="45720" marR="45720" marT="9144" marB="9144" anchor="ctr">
                    <a:solidFill>
                      <a:srgbClr val="FFFFFF"/>
                    </a:solidFill>
                  </a:tcPr>
                </a:tc>
                <a:tc>
                  <a:txBody>
                    <a:bodyPr/>
                    <a:lstStyle/>
                    <a:p>
                      <a:pPr algn="l"/>
                      <a:r>
                        <a:rPr sz="760" b="0">
                          <a:solidFill>
                            <a:srgbClr val="222222"/>
                          </a:solidFill>
                          <a:latin typeface="맑은 고딕"/>
                        </a:rPr>
                        <a:t>Python 3 · Raspberry Pi 5</a:t>
                      </a:r>
                    </a:p>
                  </a:txBody>
                  <a:tcPr marL="45720" marR="45720" marT="9144" marB="9144" anchor="ctr">
                    <a:solidFill>
                      <a:srgbClr val="FFFFFF"/>
                    </a:solidFill>
                  </a:tcPr>
                </a:tc>
                <a:tc>
                  <a:txBody>
                    <a:bodyPr/>
                    <a:lstStyle/>
                    <a:p>
                      <a:pPr algn="l"/>
                      <a:r>
                        <a:rPr sz="760" b="0">
                          <a:solidFill>
                            <a:srgbClr val="222222"/>
                          </a:solidFill>
                          <a:latin typeface="맑은 고딕"/>
                        </a:rPr>
                        <a:t>I2C/1-Wire 센서 드라이버 수집, Kafka 프로듀서로 Raw 데이터 발행(100ms)</a:t>
                      </a:r>
                    </a:p>
                  </a:txBody>
                  <a:tcPr marL="45720" marR="45720" marT="9144" marB="9144" anchor="ctr">
                    <a:solidFill>
                      <a:srgbClr val="FFFFFF"/>
                    </a:solidFill>
                  </a:tcPr>
                </a:tc>
                <a:extLst>
                  <a:ext uri="{0D108BD9-81ED-4DB2-BD59-A6C34878D82A}">
                    <a16:rowId xmlns:a16="http://schemas.microsoft.com/office/drawing/2014/main" val="10001"/>
                  </a:ext>
                </a:extLst>
              </a:tr>
              <a:tr h="365760">
                <a:tc vMerge="1">
                  <a:txBody>
                    <a:bodyPr/>
                    <a:lstStyle/>
                    <a:p>
                      <a:pPr algn="ctr"/>
                      <a:endParaRPr/>
                    </a:p>
                  </a:txBody>
                  <a:tcPr marL="45720" marR="45720" marT="9144" marB="9144" anchor="ctr">
                    <a:solidFill>
                      <a:srgbClr val="E2EBFC"/>
                    </a:solidFill>
                  </a:tcPr>
                </a:tc>
                <a:tc>
                  <a:txBody>
                    <a:bodyPr/>
                    <a:lstStyle/>
                    <a:p>
                      <a:pPr algn="ctr"/>
                      <a:r>
                        <a:rPr sz="800" b="0">
                          <a:solidFill>
                            <a:srgbClr val="222222"/>
                          </a:solidFill>
                          <a:latin typeface="맑은 고딕"/>
                        </a:rPr>
                        <a:t>측정 센서</a:t>
                      </a:r>
                    </a:p>
                  </a:txBody>
                  <a:tcPr marL="45720" marR="45720" marT="9144" marB="9144" anchor="ctr">
                    <a:solidFill>
                      <a:srgbClr val="FFFFFF"/>
                    </a:solidFill>
                  </a:tcPr>
                </a:tc>
                <a:tc>
                  <a:txBody>
                    <a:bodyPr/>
                    <a:lstStyle/>
                    <a:p>
                      <a:pPr algn="l"/>
                      <a:r>
                        <a:rPr sz="760" b="0">
                          <a:solidFill>
                            <a:srgbClr val="222222"/>
                          </a:solidFill>
                          <a:latin typeface="맑은 고딕"/>
                        </a:rPr>
                        <a:t>INA226·BQ27441·DS18B20·MLX90614·ADS1115</a:t>
                      </a:r>
                    </a:p>
                  </a:txBody>
                  <a:tcPr marL="45720" marR="45720" marT="9144" marB="9144" anchor="ctr">
                    <a:solidFill>
                      <a:srgbClr val="FFFFFF"/>
                    </a:solidFill>
                  </a:tcPr>
                </a:tc>
                <a:tc>
                  <a:txBody>
                    <a:bodyPr/>
                    <a:lstStyle/>
                    <a:p>
                      <a:pPr algn="l"/>
                      <a:r>
                        <a:rPr sz="760" b="0">
                          <a:solidFill>
                            <a:srgbClr val="222222"/>
                          </a:solidFill>
                          <a:latin typeface="맑은 고딕"/>
                        </a:rPr>
                        <a:t>전압·전류·SOC·접촉/IR 온도·가스·압력·음향 측정</a:t>
                      </a:r>
                    </a:p>
                  </a:txBody>
                  <a:tcPr marL="45720" marR="45720" marT="9144" marB="9144" anchor="ctr">
                    <a:solidFill>
                      <a:srgbClr val="FFFFFF"/>
                    </a:solidFill>
                  </a:tcPr>
                </a:tc>
                <a:extLst>
                  <a:ext uri="{0D108BD9-81ED-4DB2-BD59-A6C34878D82A}">
                    <a16:rowId xmlns:a16="http://schemas.microsoft.com/office/drawing/2014/main" val="10002"/>
                  </a:ext>
                </a:extLst>
              </a:tr>
              <a:tr h="365760">
                <a:tc vMerge="1">
                  <a:txBody>
                    <a:bodyPr/>
                    <a:lstStyle/>
                    <a:p>
                      <a:pPr algn="ctr"/>
                      <a:endParaRPr/>
                    </a:p>
                  </a:txBody>
                  <a:tcPr marL="45720" marR="45720" marT="9144" marB="9144" anchor="ctr">
                    <a:solidFill>
                      <a:srgbClr val="E2EBFC"/>
                    </a:solidFill>
                  </a:tcPr>
                </a:tc>
                <a:tc>
                  <a:txBody>
                    <a:bodyPr/>
                    <a:lstStyle/>
                    <a:p>
                      <a:pPr algn="ctr"/>
                      <a:r>
                        <a:rPr sz="800" b="0">
                          <a:solidFill>
                            <a:srgbClr val="222222"/>
                          </a:solidFill>
                          <a:latin typeface="맑은 고딕"/>
                        </a:rPr>
                        <a:t>물리 제어</a:t>
                      </a:r>
                    </a:p>
                  </a:txBody>
                  <a:tcPr marL="45720" marR="45720" marT="9144" marB="9144" anchor="ctr">
                    <a:solidFill>
                      <a:srgbClr val="FFFFFF"/>
                    </a:solidFill>
                  </a:tcPr>
                </a:tc>
                <a:tc>
                  <a:txBody>
                    <a:bodyPr/>
                    <a:lstStyle/>
                    <a:p>
                      <a:pPr algn="l"/>
                      <a:r>
                        <a:rPr sz="760" b="0">
                          <a:solidFill>
                            <a:srgbClr val="222222"/>
                          </a:solidFill>
                          <a:latin typeface="맑은 고딕"/>
                        </a:rPr>
                        <a:t>릴레이 모듈(GPIO)·Kill-Switch</a:t>
                      </a:r>
                    </a:p>
                  </a:txBody>
                  <a:tcPr marL="45720" marR="45720" marT="9144" marB="9144" anchor="ctr">
                    <a:solidFill>
                      <a:srgbClr val="FFFFFF"/>
                    </a:solidFill>
                  </a:tcPr>
                </a:tc>
                <a:tc>
                  <a:txBody>
                    <a:bodyPr/>
                    <a:lstStyle/>
                    <a:p>
                      <a:pPr algn="l"/>
                      <a:r>
                        <a:rPr sz="760" b="0">
                          <a:solidFill>
                            <a:srgbClr val="222222"/>
                          </a:solidFill>
                          <a:latin typeface="맑은 고딕"/>
                        </a:rPr>
                        <a:t>모드 인터락 및 위험 시 물리 차단(에지 측 동작)</a:t>
                      </a:r>
                    </a:p>
                  </a:txBody>
                  <a:tcPr marL="45720" marR="45720" marT="9144" marB="9144" anchor="ctr">
                    <a:solidFill>
                      <a:srgbClr val="FFFFFF"/>
                    </a:solidFill>
                  </a:tcPr>
                </a:tc>
                <a:extLst>
                  <a:ext uri="{0D108BD9-81ED-4DB2-BD59-A6C34878D82A}">
                    <a16:rowId xmlns:a16="http://schemas.microsoft.com/office/drawing/2014/main" val="10003"/>
                  </a:ext>
                </a:extLst>
              </a:tr>
              <a:tr h="365760">
                <a:tc rowSpan="3">
                  <a:txBody>
                    <a:bodyPr/>
                    <a:lstStyle/>
                    <a:p>
                      <a:pPr algn="ctr"/>
                      <a:r>
                        <a:rPr sz="800" b="1">
                          <a:solidFill>
                            <a:srgbClr val="3B5AA8"/>
                          </a:solidFill>
                          <a:latin typeface="맑은 고딕"/>
                        </a:rPr>
                        <a:t>클라우드</a:t>
                      </a:r>
                    </a:p>
                  </a:txBody>
                  <a:tcPr marL="45720" marR="45720" marT="9144" marB="9144" anchor="ctr">
                    <a:solidFill>
                      <a:srgbClr val="E2EBFC"/>
                    </a:solidFill>
                  </a:tcPr>
                </a:tc>
                <a:tc>
                  <a:txBody>
                    <a:bodyPr/>
                    <a:lstStyle/>
                    <a:p>
                      <a:pPr algn="ctr"/>
                      <a:r>
                        <a:rPr sz="800" b="0">
                          <a:solidFill>
                            <a:srgbClr val="222222"/>
                          </a:solidFill>
                          <a:latin typeface="맑은 고딕"/>
                        </a:rPr>
                        <a:t>클라우드 서버</a:t>
                      </a:r>
                    </a:p>
                  </a:txBody>
                  <a:tcPr marL="45720" marR="45720" marT="9144" marB="9144" anchor="ctr">
                    <a:solidFill>
                      <a:srgbClr val="FFFFFF"/>
                    </a:solidFill>
                  </a:tcPr>
                </a:tc>
                <a:tc>
                  <a:txBody>
                    <a:bodyPr/>
                    <a:lstStyle/>
                    <a:p>
                      <a:pPr algn="l"/>
                      <a:r>
                        <a:rPr sz="760" b="0">
                          <a:solidFill>
                            <a:srgbClr val="222222"/>
                          </a:solidFill>
                          <a:latin typeface="맑은 고딕"/>
                        </a:rPr>
                        <a:t>AWS EC2</a:t>
                      </a:r>
                    </a:p>
                  </a:txBody>
                  <a:tcPr marL="45720" marR="45720" marT="9144" marB="9144" anchor="ctr">
                    <a:solidFill>
                      <a:srgbClr val="FFFFFF"/>
                    </a:solidFill>
                  </a:tcPr>
                </a:tc>
                <a:tc>
                  <a:txBody>
                    <a:bodyPr/>
                    <a:lstStyle/>
                    <a:p>
                      <a:pPr algn="l"/>
                      <a:r>
                        <a:rPr sz="760" b="0">
                          <a:solidFill>
                            <a:srgbClr val="222222"/>
                          </a:solidFill>
                          <a:latin typeface="맑은 고딕"/>
                        </a:rPr>
                        <a:t>Kafka·PostgreSQL·백엔드 호스팅, TLS/SASL 보안 접속</a:t>
                      </a:r>
                    </a:p>
                  </a:txBody>
                  <a:tcPr marL="45720" marR="45720" marT="9144" marB="9144" anchor="ctr">
                    <a:solidFill>
                      <a:srgbClr val="FFFFFF"/>
                    </a:solidFill>
                  </a:tcPr>
                </a:tc>
                <a:extLst>
                  <a:ext uri="{0D108BD9-81ED-4DB2-BD59-A6C34878D82A}">
                    <a16:rowId xmlns:a16="http://schemas.microsoft.com/office/drawing/2014/main" val="10004"/>
                  </a:ext>
                </a:extLst>
              </a:tr>
              <a:tr h="365760">
                <a:tc vMerge="1">
                  <a:txBody>
                    <a:bodyPr/>
                    <a:lstStyle/>
                    <a:p>
                      <a:pPr algn="ctr"/>
                      <a:endParaRPr/>
                    </a:p>
                  </a:txBody>
                  <a:tcPr marL="45720" marR="45720" marT="9144" marB="9144" anchor="ctr">
                    <a:solidFill>
                      <a:srgbClr val="E2EBFC"/>
                    </a:solidFill>
                  </a:tcPr>
                </a:tc>
                <a:tc>
                  <a:txBody>
                    <a:bodyPr/>
                    <a:lstStyle/>
                    <a:p>
                      <a:pPr algn="ctr"/>
                      <a:r>
                        <a:rPr sz="800" b="0">
                          <a:solidFill>
                            <a:srgbClr val="222222"/>
                          </a:solidFill>
                          <a:latin typeface="맑은 고딕"/>
                        </a:rPr>
                        <a:t>스트리밍</a:t>
                      </a:r>
                    </a:p>
                  </a:txBody>
                  <a:tcPr marL="45720" marR="45720" marT="9144" marB="9144" anchor="ctr">
                    <a:solidFill>
                      <a:srgbClr val="FFFFFF"/>
                    </a:solidFill>
                  </a:tcPr>
                </a:tc>
                <a:tc>
                  <a:txBody>
                    <a:bodyPr/>
                    <a:lstStyle/>
                    <a:p>
                      <a:pPr algn="l"/>
                      <a:r>
                        <a:rPr sz="760" b="0">
                          <a:solidFill>
                            <a:srgbClr val="222222"/>
                          </a:solidFill>
                          <a:latin typeface="맑은 고딕"/>
                        </a:rPr>
                        <a:t>Apache Kafka</a:t>
                      </a:r>
                    </a:p>
                  </a:txBody>
                  <a:tcPr marL="45720" marR="45720" marT="9144" marB="9144" anchor="ctr">
                    <a:solidFill>
                      <a:srgbClr val="FFFFFF"/>
                    </a:solidFill>
                  </a:tcPr>
                </a:tc>
                <a:tc>
                  <a:txBody>
                    <a:bodyPr/>
                    <a:lstStyle/>
                    <a:p>
                      <a:pPr algn="l"/>
                      <a:r>
                        <a:rPr sz="760" b="0">
                          <a:solidFill>
                            <a:srgbClr val="222222"/>
                          </a:solidFill>
                          <a:latin typeface="맑은 고딕"/>
                        </a:rPr>
                        <a:t>raw-metrics·anomaly-alerts·events 토픽 파이프라인</a:t>
                      </a:r>
                    </a:p>
                  </a:txBody>
                  <a:tcPr marL="45720" marR="45720" marT="9144" marB="9144" anchor="ctr">
                    <a:solidFill>
                      <a:srgbClr val="FFFFFF"/>
                    </a:solidFill>
                  </a:tcPr>
                </a:tc>
                <a:extLst>
                  <a:ext uri="{0D108BD9-81ED-4DB2-BD59-A6C34878D82A}">
                    <a16:rowId xmlns:a16="http://schemas.microsoft.com/office/drawing/2014/main" val="10005"/>
                  </a:ext>
                </a:extLst>
              </a:tr>
              <a:tr h="365760">
                <a:tc vMerge="1">
                  <a:txBody>
                    <a:bodyPr/>
                    <a:lstStyle/>
                    <a:p>
                      <a:pPr algn="ctr"/>
                      <a:endParaRPr/>
                    </a:p>
                  </a:txBody>
                  <a:tcPr marL="45720" marR="45720" marT="9144" marB="9144" anchor="ctr">
                    <a:solidFill>
                      <a:srgbClr val="E2EBFC"/>
                    </a:solidFill>
                  </a:tcPr>
                </a:tc>
                <a:tc>
                  <a:txBody>
                    <a:bodyPr/>
                    <a:lstStyle/>
                    <a:p>
                      <a:pPr algn="ctr"/>
                      <a:r>
                        <a:rPr sz="800" b="0">
                          <a:solidFill>
                            <a:srgbClr val="222222"/>
                          </a:solidFill>
                          <a:latin typeface="맑은 고딕"/>
                        </a:rPr>
                        <a:t>데이터베이스</a:t>
                      </a:r>
                    </a:p>
                  </a:txBody>
                  <a:tcPr marL="45720" marR="45720" marT="9144" marB="9144" anchor="ctr">
                    <a:solidFill>
                      <a:srgbClr val="FFFFFF"/>
                    </a:solidFill>
                  </a:tcPr>
                </a:tc>
                <a:tc>
                  <a:txBody>
                    <a:bodyPr/>
                    <a:lstStyle/>
                    <a:p>
                      <a:pPr algn="l"/>
                      <a:r>
                        <a:rPr sz="760" b="0">
                          <a:solidFill>
                            <a:srgbClr val="222222"/>
                          </a:solidFill>
                          <a:latin typeface="맑은 고딕"/>
                        </a:rPr>
                        <a:t>PostgreSQL + TimescaleDB</a:t>
                      </a:r>
                    </a:p>
                  </a:txBody>
                  <a:tcPr marL="45720" marR="45720" marT="9144" marB="9144" anchor="ctr">
                    <a:solidFill>
                      <a:srgbClr val="FFFFFF"/>
                    </a:solidFill>
                  </a:tcPr>
                </a:tc>
                <a:tc>
                  <a:txBody>
                    <a:bodyPr/>
                    <a:lstStyle/>
                    <a:p>
                      <a:pPr algn="l"/>
                      <a:r>
                        <a:rPr sz="760" b="0">
                          <a:solidFill>
                            <a:srgbClr val="222222"/>
                          </a:solidFill>
                          <a:latin typeface="맑은 고딕"/>
                        </a:rPr>
                        <a:t>시계열 하이퍼테이블 적재 및 장기간 고속 조회</a:t>
                      </a:r>
                    </a:p>
                  </a:txBody>
                  <a:tcPr marL="45720" marR="45720" marT="9144" marB="9144" anchor="ctr">
                    <a:solidFill>
                      <a:srgbClr val="FFFFFF"/>
                    </a:solidFill>
                  </a:tcPr>
                </a:tc>
                <a:extLst>
                  <a:ext uri="{0D108BD9-81ED-4DB2-BD59-A6C34878D82A}">
                    <a16:rowId xmlns:a16="http://schemas.microsoft.com/office/drawing/2014/main" val="10006"/>
                  </a:ext>
                </a:extLst>
              </a:tr>
              <a:tr h="365760">
                <a:tc rowSpan="2">
                  <a:txBody>
                    <a:bodyPr/>
                    <a:lstStyle/>
                    <a:p>
                      <a:pPr algn="ctr"/>
                      <a:r>
                        <a:rPr sz="800" b="1">
                          <a:solidFill>
                            <a:srgbClr val="3B5AA8"/>
                          </a:solidFill>
                          <a:latin typeface="맑은 고딕"/>
                        </a:rPr>
                        <a:t>백엔드</a:t>
                      </a:r>
                    </a:p>
                  </a:txBody>
                  <a:tcPr marL="45720" marR="45720" marT="9144" marB="9144" anchor="ctr">
                    <a:solidFill>
                      <a:srgbClr val="E2EBFC"/>
                    </a:solidFill>
                  </a:tcPr>
                </a:tc>
                <a:tc>
                  <a:txBody>
                    <a:bodyPr/>
                    <a:lstStyle/>
                    <a:p>
                      <a:pPr algn="ctr"/>
                      <a:r>
                        <a:rPr sz="800" b="0">
                          <a:solidFill>
                            <a:srgbClr val="222222"/>
                          </a:solidFill>
                          <a:latin typeface="맑은 고딕"/>
                        </a:rPr>
                        <a:t>API 서버</a:t>
                      </a:r>
                    </a:p>
                  </a:txBody>
                  <a:tcPr marL="45720" marR="45720" marT="9144" marB="9144" anchor="ctr">
                    <a:solidFill>
                      <a:srgbClr val="FFFFFF"/>
                    </a:solidFill>
                  </a:tcPr>
                </a:tc>
                <a:tc>
                  <a:txBody>
                    <a:bodyPr/>
                    <a:lstStyle/>
                    <a:p>
                      <a:pPr algn="l"/>
                      <a:r>
                        <a:rPr sz="760" b="0">
                          <a:solidFill>
                            <a:srgbClr val="222222"/>
                          </a:solidFill>
                          <a:latin typeface="맑은 고딕"/>
                        </a:rPr>
                        <a:t>Spring Boot 또는 Python Flask</a:t>
                      </a:r>
                    </a:p>
                  </a:txBody>
                  <a:tcPr marL="45720" marR="45720" marT="9144" marB="9144" anchor="ctr">
                    <a:solidFill>
                      <a:srgbClr val="FFFFFF"/>
                    </a:solidFill>
                  </a:tcPr>
                </a:tc>
                <a:tc>
                  <a:txBody>
                    <a:bodyPr/>
                    <a:lstStyle/>
                    <a:p>
                      <a:pPr algn="l"/>
                      <a:r>
                        <a:rPr sz="760" b="0">
                          <a:solidFill>
                            <a:srgbClr val="222222"/>
                          </a:solidFill>
                          <a:latin typeface="맑은 고딕"/>
                        </a:rPr>
                        <a:t>REST/WebSocket API, 인증, 디바이스·릴레이 제어, 세션 태깅</a:t>
                      </a:r>
                    </a:p>
                  </a:txBody>
                  <a:tcPr marL="45720" marR="45720" marT="9144" marB="9144" anchor="ctr">
                    <a:solidFill>
                      <a:srgbClr val="FFFFFF"/>
                    </a:solidFill>
                  </a:tcPr>
                </a:tc>
                <a:extLst>
                  <a:ext uri="{0D108BD9-81ED-4DB2-BD59-A6C34878D82A}">
                    <a16:rowId xmlns:a16="http://schemas.microsoft.com/office/drawing/2014/main" val="10007"/>
                  </a:ext>
                </a:extLst>
              </a:tr>
              <a:tr h="365760">
                <a:tc vMerge="1">
                  <a:txBody>
                    <a:bodyPr/>
                    <a:lstStyle/>
                    <a:p>
                      <a:pPr algn="ctr"/>
                      <a:endParaRPr/>
                    </a:p>
                  </a:txBody>
                  <a:tcPr marL="45720" marR="45720" marT="9144" marB="9144" anchor="ctr">
                    <a:solidFill>
                      <a:srgbClr val="E2EBFC"/>
                    </a:solidFill>
                  </a:tcPr>
                </a:tc>
                <a:tc>
                  <a:txBody>
                    <a:bodyPr/>
                    <a:lstStyle/>
                    <a:p>
                      <a:pPr algn="ctr"/>
                      <a:r>
                        <a:rPr sz="800" b="0">
                          <a:solidFill>
                            <a:srgbClr val="222222"/>
                          </a:solidFill>
                          <a:latin typeface="맑은 고딕"/>
                        </a:rPr>
                        <a:t>Consumer</a:t>
                      </a:r>
                    </a:p>
                  </a:txBody>
                  <a:tcPr marL="45720" marR="45720" marT="9144" marB="9144" anchor="ctr">
                    <a:solidFill>
                      <a:srgbClr val="FFFFFF"/>
                    </a:solidFill>
                  </a:tcPr>
                </a:tc>
                <a:tc>
                  <a:txBody>
                    <a:bodyPr/>
                    <a:lstStyle/>
                    <a:p>
                      <a:pPr algn="l"/>
                      <a:r>
                        <a:rPr sz="760" b="0">
                          <a:solidFill>
                            <a:srgbClr val="222222"/>
                          </a:solidFill>
                          <a:latin typeface="맑은 고딕"/>
                        </a:rPr>
                        <a:t>Kafka Consumer</a:t>
                      </a:r>
                    </a:p>
                  </a:txBody>
                  <a:tcPr marL="45720" marR="45720" marT="9144" marB="9144" anchor="ctr">
                    <a:solidFill>
                      <a:srgbClr val="FFFFFF"/>
                    </a:solidFill>
                  </a:tcPr>
                </a:tc>
                <a:tc>
                  <a:txBody>
                    <a:bodyPr/>
                    <a:lstStyle/>
                    <a:p>
                      <a:pPr algn="l"/>
                      <a:r>
                        <a:rPr sz="760" b="0">
                          <a:solidFill>
                            <a:srgbClr val="222222"/>
                          </a:solidFill>
                          <a:latin typeface="맑은 고딕"/>
                        </a:rPr>
                        <a:t>raw-metrics 구독 → TimescaleDB 적재, 장애 후 재처리</a:t>
                      </a:r>
                    </a:p>
                  </a:txBody>
                  <a:tcPr marL="45720" marR="45720" marT="9144" marB="9144" anchor="ctr">
                    <a:solidFill>
                      <a:srgbClr val="FFFFFF"/>
                    </a:solidFill>
                  </a:tcPr>
                </a:tc>
                <a:extLst>
                  <a:ext uri="{0D108BD9-81ED-4DB2-BD59-A6C34878D82A}">
                    <a16:rowId xmlns:a16="http://schemas.microsoft.com/office/drawing/2014/main" val="10008"/>
                  </a:ext>
                </a:extLst>
              </a:tr>
              <a:tr h="365760">
                <a:tc>
                  <a:txBody>
                    <a:bodyPr/>
                    <a:lstStyle/>
                    <a:p>
                      <a:pPr algn="ctr"/>
                      <a:r>
                        <a:rPr sz="800" b="1">
                          <a:solidFill>
                            <a:srgbClr val="3B5AA8"/>
                          </a:solidFill>
                          <a:latin typeface="맑은 고딕"/>
                        </a:rPr>
                        <a:t>AI</a:t>
                      </a:r>
                    </a:p>
                  </a:txBody>
                  <a:tcPr marL="45720" marR="45720" marT="9144" marB="9144" anchor="ctr">
                    <a:solidFill>
                      <a:srgbClr val="E2EBFC"/>
                    </a:solidFill>
                  </a:tcPr>
                </a:tc>
                <a:tc>
                  <a:txBody>
                    <a:bodyPr/>
                    <a:lstStyle/>
                    <a:p>
                      <a:pPr algn="ctr"/>
                      <a:r>
                        <a:rPr sz="800" b="0">
                          <a:solidFill>
                            <a:srgbClr val="222222"/>
                          </a:solidFill>
                          <a:latin typeface="맑은 고딕"/>
                        </a:rPr>
                        <a:t>이상탐지 모델</a:t>
                      </a:r>
                    </a:p>
                  </a:txBody>
                  <a:tcPr marL="45720" marR="45720" marT="9144" marB="9144" anchor="ctr">
                    <a:solidFill>
                      <a:srgbClr val="FFFFFF"/>
                    </a:solidFill>
                  </a:tcPr>
                </a:tc>
                <a:tc>
                  <a:txBody>
                    <a:bodyPr/>
                    <a:lstStyle/>
                    <a:p>
                      <a:pPr algn="l"/>
                      <a:r>
                        <a:rPr sz="760" b="0">
                          <a:solidFill>
                            <a:srgbClr val="222222"/>
                          </a:solidFill>
                          <a:latin typeface="맑은 고딕"/>
                        </a:rPr>
                        <a:t>PyTorch / TensorFlow · Google Colab</a:t>
                      </a:r>
                    </a:p>
                  </a:txBody>
                  <a:tcPr marL="45720" marR="45720" marT="9144" marB="9144" anchor="ctr">
                    <a:solidFill>
                      <a:srgbClr val="FFFFFF"/>
                    </a:solidFill>
                  </a:tcPr>
                </a:tc>
                <a:tc>
                  <a:txBody>
                    <a:bodyPr/>
                    <a:lstStyle/>
                    <a:p>
                      <a:pPr algn="l"/>
                      <a:r>
                        <a:rPr sz="760" b="0">
                          <a:solidFill>
                            <a:srgbClr val="222222"/>
                          </a:solidFill>
                          <a:latin typeface="맑은 고딕"/>
                        </a:rPr>
                        <a:t>LSTM-AutoEncoder(30 time-steps) 학습·실시간 추론, 이상점수 산출</a:t>
                      </a:r>
                    </a:p>
                  </a:txBody>
                  <a:tcPr marL="45720" marR="45720" marT="9144" marB="9144" anchor="ctr">
                    <a:solidFill>
                      <a:srgbClr val="FFFFFF"/>
                    </a:solidFill>
                  </a:tcPr>
                </a:tc>
                <a:extLst>
                  <a:ext uri="{0D108BD9-81ED-4DB2-BD59-A6C34878D82A}">
                    <a16:rowId xmlns:a16="http://schemas.microsoft.com/office/drawing/2014/main" val="10009"/>
                  </a:ext>
                </a:extLst>
              </a:tr>
              <a:tr h="365760">
                <a:tc>
                  <a:txBody>
                    <a:bodyPr/>
                    <a:lstStyle/>
                    <a:p>
                      <a:pPr algn="ctr"/>
                      <a:r>
                        <a:rPr sz="800" b="1">
                          <a:solidFill>
                            <a:srgbClr val="3B5AA8"/>
                          </a:solidFill>
                          <a:latin typeface="맑은 고딕"/>
                        </a:rPr>
                        <a:t>프론트엔드</a:t>
                      </a:r>
                    </a:p>
                  </a:txBody>
                  <a:tcPr marL="45720" marR="45720" marT="9144" marB="9144" anchor="ctr">
                    <a:solidFill>
                      <a:srgbClr val="E2EBFC"/>
                    </a:solidFill>
                  </a:tcPr>
                </a:tc>
                <a:tc>
                  <a:txBody>
                    <a:bodyPr/>
                    <a:lstStyle/>
                    <a:p>
                      <a:pPr algn="ctr"/>
                      <a:r>
                        <a:rPr sz="800" b="0">
                          <a:solidFill>
                            <a:srgbClr val="222222"/>
                          </a:solidFill>
                          <a:latin typeface="맑은 고딕"/>
                        </a:rPr>
                        <a:t>웹 대시보드</a:t>
                      </a:r>
                    </a:p>
                  </a:txBody>
                  <a:tcPr marL="45720" marR="45720" marT="9144" marB="9144" anchor="ctr">
                    <a:solidFill>
                      <a:srgbClr val="FFFFFF"/>
                    </a:solidFill>
                  </a:tcPr>
                </a:tc>
                <a:tc>
                  <a:txBody>
                    <a:bodyPr/>
                    <a:lstStyle/>
                    <a:p>
                      <a:pPr algn="l"/>
                      <a:r>
                        <a:rPr sz="760" b="0">
                          <a:solidFill>
                            <a:srgbClr val="222222"/>
                          </a:solidFill>
                          <a:latin typeface="맑은 고딕"/>
                        </a:rPr>
                        <a:t>React (반응형 웹)</a:t>
                      </a:r>
                    </a:p>
                  </a:txBody>
                  <a:tcPr marL="45720" marR="45720" marT="9144" marB="9144" anchor="ctr">
                    <a:solidFill>
                      <a:srgbClr val="FFFFFF"/>
                    </a:solidFill>
                  </a:tcPr>
                </a:tc>
                <a:tc>
                  <a:txBody>
                    <a:bodyPr/>
                    <a:lstStyle/>
                    <a:p>
                      <a:pPr algn="l"/>
                      <a:r>
                        <a:rPr sz="760" b="0">
                          <a:solidFill>
                            <a:srgbClr val="222222"/>
                          </a:solidFill>
                          <a:latin typeface="맑은 고딕"/>
                        </a:rPr>
                        <a:t>데스크톱/태블릿/모바일 실시간 관제, 차트·이벤트·설정·제어</a:t>
                      </a:r>
                    </a:p>
                  </a:txBody>
                  <a:tcPr marL="45720" marR="45720" marT="9144" marB="9144" anchor="ctr">
                    <a:solidFill>
                      <a:srgbClr val="FFFFFF"/>
                    </a:solidFill>
                  </a:tcPr>
                </a:tc>
                <a:extLst>
                  <a:ext uri="{0D108BD9-81ED-4DB2-BD59-A6C34878D82A}">
                    <a16:rowId xmlns:a16="http://schemas.microsoft.com/office/drawing/2014/main" val="10010"/>
                  </a:ext>
                </a:extLst>
              </a:tr>
              <a:tr h="365760">
                <a:tc>
                  <a:txBody>
                    <a:bodyPr/>
                    <a:lstStyle/>
                    <a:p>
                      <a:pPr algn="ctr"/>
                      <a:r>
                        <a:rPr sz="800" b="1">
                          <a:solidFill>
                            <a:srgbClr val="3B5AA8"/>
                          </a:solidFill>
                          <a:latin typeface="맑은 고딕"/>
                        </a:rPr>
                        <a:t>알림</a:t>
                      </a:r>
                    </a:p>
                  </a:txBody>
                  <a:tcPr marL="45720" marR="45720" marT="9144" marB="9144" anchor="ctr">
                    <a:solidFill>
                      <a:srgbClr val="E2EBFC"/>
                    </a:solidFill>
                  </a:tcPr>
                </a:tc>
                <a:tc>
                  <a:txBody>
                    <a:bodyPr/>
                    <a:lstStyle/>
                    <a:p>
                      <a:pPr algn="ctr"/>
                      <a:r>
                        <a:rPr sz="800" b="0">
                          <a:solidFill>
                            <a:srgbClr val="222222"/>
                          </a:solidFill>
                          <a:latin typeface="맑은 고딕"/>
                        </a:rPr>
                        <a:t>외부 알림</a:t>
                      </a:r>
                    </a:p>
                  </a:txBody>
                  <a:tcPr marL="45720" marR="45720" marT="9144" marB="9144" anchor="ctr">
                    <a:solidFill>
                      <a:srgbClr val="FFFFFF"/>
                    </a:solidFill>
                  </a:tcPr>
                </a:tc>
                <a:tc>
                  <a:txBody>
                    <a:bodyPr/>
                    <a:lstStyle/>
                    <a:p>
                      <a:pPr algn="l"/>
                      <a:r>
                        <a:rPr sz="760" b="0">
                          <a:solidFill>
                            <a:srgbClr val="222222"/>
                          </a:solidFill>
                          <a:latin typeface="맑은 고딕"/>
                        </a:rPr>
                        <a:t>Kakao Talk API</a:t>
                      </a:r>
                    </a:p>
                  </a:txBody>
                  <a:tcPr marL="45720" marR="45720" marT="9144" marB="9144" anchor="ctr">
                    <a:solidFill>
                      <a:srgbClr val="FFFFFF"/>
                    </a:solidFill>
                  </a:tcPr>
                </a:tc>
                <a:tc>
                  <a:txBody>
                    <a:bodyPr/>
                    <a:lstStyle/>
                    <a:p>
                      <a:pPr algn="l"/>
                      <a:r>
                        <a:rPr sz="760" b="0">
                          <a:solidFill>
                            <a:srgbClr val="222222"/>
                          </a:solidFill>
                          <a:latin typeface="맑은 고딕"/>
                        </a:rPr>
                        <a:t>경고·위험 상태 발생 시 외부 알림 발송</a:t>
                      </a:r>
                    </a:p>
                  </a:txBody>
                  <a:tcPr marL="45720" marR="45720" marT="9144" marB="9144" anchor="ctr">
                    <a:solidFill>
                      <a:srgbClr val="FFFFFF"/>
                    </a:solidFill>
                  </a:tcPr>
                </a:tc>
                <a:extLst>
                  <a:ext uri="{0D108BD9-81ED-4DB2-BD59-A6C34878D82A}">
                    <a16:rowId xmlns:a16="http://schemas.microsoft.com/office/drawing/2014/main" val="10011"/>
                  </a:ext>
                </a:extLst>
              </a:tr>
              <a:tr h="365760">
                <a:tc>
                  <a:txBody>
                    <a:bodyPr/>
                    <a:lstStyle/>
                    <a:p>
                      <a:pPr algn="ctr"/>
                      <a:r>
                        <a:rPr sz="800" b="1">
                          <a:solidFill>
                            <a:srgbClr val="3B5AA8"/>
                          </a:solidFill>
                          <a:latin typeface="맑은 고딕"/>
                        </a:rPr>
                        <a:t>테스트</a:t>
                      </a:r>
                    </a:p>
                  </a:txBody>
                  <a:tcPr marL="45720" marR="45720" marT="9144" marB="9144" anchor="ctr">
                    <a:solidFill>
                      <a:srgbClr val="E2EBFC"/>
                    </a:solidFill>
                  </a:tcPr>
                </a:tc>
                <a:tc>
                  <a:txBody>
                    <a:bodyPr/>
                    <a:lstStyle/>
                    <a:p>
                      <a:pPr algn="ctr"/>
                      <a:r>
                        <a:rPr sz="800" b="0">
                          <a:solidFill>
                            <a:srgbClr val="222222"/>
                          </a:solidFill>
                          <a:latin typeface="맑은 고딕"/>
                        </a:rPr>
                        <a:t>계측·전원 장비</a:t>
                      </a:r>
                    </a:p>
                  </a:txBody>
                  <a:tcPr marL="45720" marR="45720" marT="9144" marB="9144" anchor="ctr">
                    <a:solidFill>
                      <a:srgbClr val="FFFFFF"/>
                    </a:solidFill>
                  </a:tcPr>
                </a:tc>
                <a:tc>
                  <a:txBody>
                    <a:bodyPr/>
                    <a:lstStyle/>
                    <a:p>
                      <a:pPr algn="l"/>
                      <a:r>
                        <a:rPr sz="760" b="0">
                          <a:solidFill>
                            <a:srgbClr val="222222"/>
                          </a:solidFill>
                          <a:latin typeface="맑은 고딕"/>
                        </a:rPr>
                        <a:t>전자부하 U6214·TP4056·ZY12PDN</a:t>
                      </a:r>
                    </a:p>
                  </a:txBody>
                  <a:tcPr marL="45720" marR="45720" marT="9144" marB="9144" anchor="ctr">
                    <a:solidFill>
                      <a:srgbClr val="FFFFFF"/>
                    </a:solidFill>
                  </a:tcPr>
                </a:tc>
                <a:tc>
                  <a:txBody>
                    <a:bodyPr/>
                    <a:lstStyle/>
                    <a:p>
                      <a:pPr algn="l"/>
                      <a:r>
                        <a:rPr sz="760" b="0">
                          <a:solidFill>
                            <a:srgbClr val="222222"/>
                          </a:solidFill>
                          <a:latin typeface="맑은 고딕"/>
                        </a:rPr>
                        <a:t>모드별 충·방전 시나리오 구성 및 측정 검증</a:t>
                      </a:r>
                    </a:p>
                  </a:txBody>
                  <a:tcPr marL="45720" marR="45720" marT="9144" marB="9144" anchor="ctr">
                    <a:solidFill>
                      <a:srgbClr val="FFFFFF"/>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85892657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직사각형 20"/>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2" name="직선 연결선 21"/>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직선 연결선 24"/>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8" name="제목 12"/>
          <p:cNvSpPr txBox="1">
            <a:spLocks/>
          </p:cNvSpPr>
          <p:nvPr/>
        </p:nvSpPr>
        <p:spPr>
          <a:xfrm>
            <a:off x="323528" y="692696"/>
            <a:ext cx="2808312" cy="296631"/>
          </a:xfrm>
          <a:prstGeom prst="rect">
            <a:avLst/>
          </a:prstGeom>
        </p:spPr>
        <p:txBody>
          <a:bodyPr vert="horz" lIns="91440" tIns="45720" rIns="91440" bIns="45720" rtlCol="0" anchor="t">
            <a:noAutofit/>
          </a:bodyPr>
          <a:lstStyle/>
          <a:p>
            <a:pPr lvl="0">
              <a:spcBef>
                <a:spcPct val="0"/>
              </a:spcBef>
              <a:defRPr/>
            </a:pPr>
            <a:r>
              <a:rPr lang="en-US" altLang="ko-KR" sz="1700" b="1" dirty="0">
                <a:solidFill>
                  <a:schemeClr val="bg1"/>
                </a:solidFill>
                <a:latin typeface="+mn-ea"/>
              </a:rPr>
              <a:t>| </a:t>
            </a:r>
            <a:r>
              <a:rPr lang="ko-KR" altLang="en-US" sz="1700" b="1" dirty="0">
                <a:solidFill>
                  <a:schemeClr val="bg1"/>
                </a:solidFill>
                <a:latin typeface="+mn-ea"/>
              </a:rPr>
              <a:t>참조</a:t>
            </a:r>
            <a:r>
              <a:rPr lang="en-US" altLang="ko-KR" sz="1700" b="1" dirty="0">
                <a:solidFill>
                  <a:schemeClr val="bg1"/>
                </a:solidFill>
                <a:latin typeface="+mn-ea"/>
              </a:rPr>
              <a:t>-S/W </a:t>
            </a:r>
            <a:r>
              <a:rPr lang="ko-KR" altLang="en-US" sz="1700" b="1" dirty="0">
                <a:solidFill>
                  <a:schemeClr val="bg1"/>
                </a:solidFill>
                <a:latin typeface="+mn-ea"/>
              </a:rPr>
              <a:t>기능 실사 사진</a:t>
            </a:r>
            <a:endParaRPr lang="ko-KR" altLang="en-US" sz="1700" spc="-50" dirty="0">
              <a:solidFill>
                <a:schemeClr val="bg1"/>
              </a:solidFill>
              <a:latin typeface="+mn-ea"/>
            </a:endParaRPr>
          </a:p>
        </p:txBody>
      </p:sp>
      <p:pic>
        <p:nvPicPr>
          <p:cNvPr id="30"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2" name="막힌 원호 31"/>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2" name="직사각형 11"/>
          <p:cNvSpPr/>
          <p:nvPr/>
        </p:nvSpPr>
        <p:spPr>
          <a:xfrm>
            <a:off x="3851920" y="548680"/>
            <a:ext cx="5112568" cy="338554"/>
          </a:xfrm>
          <a:prstGeom prst="rect">
            <a:avLst/>
          </a:prstGeom>
        </p:spPr>
        <p:txBody>
          <a:bodyPr wrap="square">
            <a:spAutoFit/>
          </a:bodyPr>
          <a:lstStyle/>
          <a:p>
            <a:pPr marL="265113" indent="-265113" algn="r" latinLnBrk="0"/>
            <a:r>
              <a:rPr lang="ko-KR" altLang="en-US" sz="1600" b="1" i="1" dirty="0">
                <a:solidFill>
                  <a:srgbClr val="FF0000"/>
                </a:solidFill>
                <a:latin typeface="+mj-lt"/>
              </a:rPr>
              <a:t>샘플</a:t>
            </a:r>
            <a:r>
              <a:rPr lang="en-US" altLang="ko-KR" sz="1600" b="1" i="1" dirty="0">
                <a:solidFill>
                  <a:srgbClr val="FF0000"/>
                </a:solidFill>
                <a:latin typeface="+mj-lt"/>
              </a:rPr>
              <a:t> 1</a:t>
            </a:r>
            <a:endParaRPr lang="ko-KR" altLang="en-US" sz="1600" b="1" i="1" dirty="0">
              <a:solidFill>
                <a:srgbClr val="FF0000"/>
              </a:solidFill>
              <a:latin typeface="+mj-lt"/>
            </a:endParaRPr>
          </a:p>
        </p:txBody>
      </p:sp>
      <p:sp>
        <p:nvSpPr>
          <p:cNvPr id="13" name="직사각형 12">
            <a:extLst>
              <a:ext uri="{FF2B5EF4-FFF2-40B4-BE49-F238E27FC236}">
                <a16:creationId xmlns:a16="http://schemas.microsoft.com/office/drawing/2014/main" id="{E9BCB1CE-2DD6-40DC-A0F7-0303DCBC1F92}"/>
              </a:ext>
            </a:extLst>
          </p:cNvPr>
          <p:cNvSpPr/>
          <p:nvPr/>
        </p:nvSpPr>
        <p:spPr>
          <a:xfrm>
            <a:off x="222256" y="1473901"/>
            <a:ext cx="8454200" cy="4619396"/>
          </a:xfrm>
          <a:prstGeom prst="rect">
            <a:avLst/>
          </a:prstGeom>
          <a:noFill/>
          <a:ln>
            <a:solidFill>
              <a:schemeClr val="accent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b="1" dirty="0">
              <a:solidFill>
                <a:schemeClr val="tx1"/>
              </a:solidFill>
            </a:endParaRPr>
          </a:p>
        </p:txBody>
      </p:sp>
      <p:pic>
        <p:nvPicPr>
          <p:cNvPr id="3" name="그림 2"/>
          <p:cNvPicPr>
            <a:picLocks noChangeAspect="1"/>
          </p:cNvPicPr>
          <p:nvPr/>
        </p:nvPicPr>
        <p:blipFill>
          <a:blip r:embed="rId3"/>
          <a:stretch>
            <a:fillRect/>
          </a:stretch>
        </p:blipFill>
        <p:spPr>
          <a:xfrm>
            <a:off x="4139951" y="1812454"/>
            <a:ext cx="4258129" cy="2768947"/>
          </a:xfrm>
          <a:prstGeom prst="rect">
            <a:avLst/>
          </a:prstGeom>
        </p:spPr>
      </p:pic>
      <p:pic>
        <p:nvPicPr>
          <p:cNvPr id="5" name="그림 4"/>
          <p:cNvPicPr>
            <a:picLocks noChangeAspect="1"/>
          </p:cNvPicPr>
          <p:nvPr/>
        </p:nvPicPr>
        <p:blipFill>
          <a:blip r:embed="rId4"/>
          <a:stretch>
            <a:fillRect/>
          </a:stretch>
        </p:blipFill>
        <p:spPr>
          <a:xfrm>
            <a:off x="407986" y="1884038"/>
            <a:ext cx="3501585" cy="2697363"/>
          </a:xfrm>
          <a:prstGeom prst="rect">
            <a:avLst/>
          </a:prstGeom>
        </p:spPr>
      </p:pic>
      <p:sp>
        <p:nvSpPr>
          <p:cNvPr id="15" name="사각형: 둥근 모서리 26">
            <a:extLst>
              <a:ext uri="{FF2B5EF4-FFF2-40B4-BE49-F238E27FC236}">
                <a16:creationId xmlns:a16="http://schemas.microsoft.com/office/drawing/2014/main" id="{AFF764EB-22DF-A175-1421-5773B08BCB8C}"/>
              </a:ext>
            </a:extLst>
          </p:cNvPr>
          <p:cNvSpPr/>
          <p:nvPr/>
        </p:nvSpPr>
        <p:spPr>
          <a:xfrm>
            <a:off x="445950" y="6445176"/>
            <a:ext cx="8252100" cy="368200"/>
          </a:xfrm>
          <a:prstGeom prst="roundRect">
            <a:avLst/>
          </a:prstGeom>
          <a:no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ltLang="ko-KR" b="1" dirty="0">
                <a:solidFill>
                  <a:srgbClr val="FF0000"/>
                </a:solidFill>
              </a:rPr>
              <a:t>※ </a:t>
            </a:r>
            <a:r>
              <a:rPr lang="ko-KR" altLang="en-US" b="1" dirty="0">
                <a:solidFill>
                  <a:srgbClr val="FF0000"/>
                </a:solidFill>
              </a:rPr>
              <a:t>본문의 예시 내용을 지우고 과제 내용으로 변경하여 사용하세요</a:t>
            </a:r>
          </a:p>
        </p:txBody>
      </p:sp>
      <p:pic>
        <p:nvPicPr>
          <p:cNvPr id="2" name="그림 1">
            <a:extLst>
              <a:ext uri="{FF2B5EF4-FFF2-40B4-BE49-F238E27FC236}">
                <a16:creationId xmlns:a16="http://schemas.microsoft.com/office/drawing/2014/main" id="{9B6CF3D6-54AD-664D-A74A-7B5AB1425843}"/>
              </a:ext>
            </a:extLst>
          </p:cNvPr>
          <p:cNvPicPr>
            <a:picLocks noChangeAspect="1"/>
          </p:cNvPicPr>
          <p:nvPr/>
        </p:nvPicPr>
        <p:blipFill>
          <a:blip r:embed="rId5"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Tree>
    <p:extLst>
      <p:ext uri="{BB962C8B-B14F-4D97-AF65-F5344CB8AC3E}">
        <p14:creationId xmlns:p14="http://schemas.microsoft.com/office/powerpoint/2010/main" val="117591398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직사각형 20"/>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2" name="직선 연결선 21"/>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직선 연결선 24"/>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8" name="제목 12"/>
          <p:cNvSpPr txBox="1">
            <a:spLocks/>
          </p:cNvSpPr>
          <p:nvPr/>
        </p:nvSpPr>
        <p:spPr>
          <a:xfrm>
            <a:off x="323528" y="692696"/>
            <a:ext cx="3096344" cy="317833"/>
          </a:xfrm>
          <a:prstGeom prst="rect">
            <a:avLst/>
          </a:prstGeom>
        </p:spPr>
        <p:txBody>
          <a:bodyPr vert="horz" lIns="91440" tIns="45720" rIns="91440" bIns="45720" rtlCol="0" anchor="t">
            <a:noAutofit/>
          </a:bodyPr>
          <a:lstStyle/>
          <a:p>
            <a:pPr lvl="0">
              <a:spcBef>
                <a:spcPct val="0"/>
              </a:spcBef>
              <a:defRPr/>
            </a:pPr>
            <a:r>
              <a:rPr kumimoji="0" lang="en-US" altLang="ko-KR" sz="1700" b="1" i="0" u="none" strike="noStrike" kern="1200" cap="none" spc="0" normalizeH="0" baseline="0" noProof="0" dirty="0">
                <a:ln>
                  <a:noFill/>
                </a:ln>
                <a:solidFill>
                  <a:schemeClr val="bg1"/>
                </a:solidFill>
                <a:effectLst/>
                <a:uLnTx/>
                <a:uFillTx/>
                <a:latin typeface="+mn-ea"/>
                <a:cs typeface="+mj-cs"/>
              </a:rPr>
              <a:t>| </a:t>
            </a:r>
            <a:r>
              <a:rPr kumimoji="0" lang="ko-KR" altLang="en-US" sz="1700" b="1" i="0" u="none" strike="noStrike" kern="1200" cap="none" spc="0" normalizeH="0" baseline="0" noProof="0" dirty="0">
                <a:ln>
                  <a:noFill/>
                </a:ln>
                <a:solidFill>
                  <a:schemeClr val="bg1"/>
                </a:solidFill>
                <a:effectLst/>
                <a:uLnTx/>
                <a:uFillTx/>
                <a:latin typeface="+mn-ea"/>
                <a:cs typeface="+mj-cs"/>
              </a:rPr>
              <a:t>참조</a:t>
            </a:r>
            <a:r>
              <a:rPr kumimoji="0" lang="en-US" altLang="ko-KR" sz="1700" b="1" i="0" u="none" strike="noStrike" kern="1200" cap="none" spc="0" normalizeH="0" baseline="0" noProof="0" dirty="0">
                <a:ln>
                  <a:noFill/>
                </a:ln>
                <a:solidFill>
                  <a:schemeClr val="bg1"/>
                </a:solidFill>
                <a:effectLst/>
                <a:uLnTx/>
                <a:uFillTx/>
                <a:latin typeface="+mn-ea"/>
                <a:cs typeface="+mj-cs"/>
              </a:rPr>
              <a:t>-H/W </a:t>
            </a:r>
            <a:r>
              <a:rPr lang="ko-KR" altLang="en-US" sz="1700" b="1" dirty="0">
                <a:solidFill>
                  <a:schemeClr val="bg1"/>
                </a:solidFill>
                <a:latin typeface="+mn-ea"/>
              </a:rPr>
              <a:t>기능 실사 사진</a:t>
            </a:r>
            <a:endParaRPr lang="ko-KR" altLang="en-US" sz="1700" spc="-50" dirty="0">
              <a:solidFill>
                <a:schemeClr val="bg1"/>
              </a:solidFill>
              <a:latin typeface="+mn-ea"/>
            </a:endParaRPr>
          </a:p>
        </p:txBody>
      </p:sp>
      <p:pic>
        <p:nvPicPr>
          <p:cNvPr id="30"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2" name="막힌 원호 31"/>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2" name="직사각형 11"/>
          <p:cNvSpPr/>
          <p:nvPr/>
        </p:nvSpPr>
        <p:spPr>
          <a:xfrm>
            <a:off x="3851920" y="548680"/>
            <a:ext cx="5112568" cy="338554"/>
          </a:xfrm>
          <a:prstGeom prst="rect">
            <a:avLst/>
          </a:prstGeom>
        </p:spPr>
        <p:txBody>
          <a:bodyPr wrap="square">
            <a:spAutoFit/>
          </a:bodyPr>
          <a:lstStyle/>
          <a:p>
            <a:pPr marL="265113" indent="-265113" algn="r" latinLnBrk="0"/>
            <a:r>
              <a:rPr lang="ko-KR" altLang="en-US" sz="1600" b="1" i="1" dirty="0">
                <a:solidFill>
                  <a:srgbClr val="FF0000"/>
                </a:solidFill>
                <a:latin typeface="+mj-lt"/>
              </a:rPr>
              <a:t>샘플</a:t>
            </a:r>
            <a:r>
              <a:rPr lang="en-US" altLang="ko-KR" sz="1600" b="1" i="1" dirty="0">
                <a:solidFill>
                  <a:srgbClr val="FF0000"/>
                </a:solidFill>
                <a:latin typeface="+mj-lt"/>
              </a:rPr>
              <a:t> 1</a:t>
            </a:r>
            <a:endParaRPr lang="ko-KR" altLang="en-US" sz="1600" b="1" i="1" dirty="0">
              <a:solidFill>
                <a:srgbClr val="FF0000"/>
              </a:solidFill>
              <a:latin typeface="+mj-lt"/>
            </a:endParaRPr>
          </a:p>
        </p:txBody>
      </p:sp>
      <p:sp>
        <p:nvSpPr>
          <p:cNvPr id="13" name="직사각형 12">
            <a:extLst>
              <a:ext uri="{FF2B5EF4-FFF2-40B4-BE49-F238E27FC236}">
                <a16:creationId xmlns:a16="http://schemas.microsoft.com/office/drawing/2014/main" id="{E9BCB1CE-2DD6-40DC-A0F7-0303DCBC1F92}"/>
              </a:ext>
            </a:extLst>
          </p:cNvPr>
          <p:cNvSpPr/>
          <p:nvPr/>
        </p:nvSpPr>
        <p:spPr>
          <a:xfrm>
            <a:off x="222256" y="1473901"/>
            <a:ext cx="8454200" cy="4619396"/>
          </a:xfrm>
          <a:prstGeom prst="rect">
            <a:avLst/>
          </a:prstGeom>
          <a:noFill/>
          <a:ln>
            <a:solidFill>
              <a:schemeClr val="accent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b="1" dirty="0">
              <a:solidFill>
                <a:schemeClr val="tx1"/>
              </a:solidFill>
            </a:endParaRPr>
          </a:p>
        </p:txBody>
      </p:sp>
      <p:pic>
        <p:nvPicPr>
          <p:cNvPr id="3" name="그림 2"/>
          <p:cNvPicPr>
            <a:picLocks noChangeAspect="1"/>
          </p:cNvPicPr>
          <p:nvPr/>
        </p:nvPicPr>
        <p:blipFill>
          <a:blip r:embed="rId3"/>
          <a:stretch>
            <a:fillRect/>
          </a:stretch>
        </p:blipFill>
        <p:spPr>
          <a:xfrm>
            <a:off x="486357" y="1935749"/>
            <a:ext cx="7899400" cy="3695700"/>
          </a:xfrm>
          <a:prstGeom prst="rect">
            <a:avLst/>
          </a:prstGeom>
        </p:spPr>
      </p:pic>
      <p:sp>
        <p:nvSpPr>
          <p:cNvPr id="15" name="사각형: 둥근 모서리 26">
            <a:extLst>
              <a:ext uri="{FF2B5EF4-FFF2-40B4-BE49-F238E27FC236}">
                <a16:creationId xmlns:a16="http://schemas.microsoft.com/office/drawing/2014/main" id="{506AB3E1-AE74-9160-3B88-1E1B34C06951}"/>
              </a:ext>
            </a:extLst>
          </p:cNvPr>
          <p:cNvSpPr/>
          <p:nvPr/>
        </p:nvSpPr>
        <p:spPr>
          <a:xfrm>
            <a:off x="445950" y="6445176"/>
            <a:ext cx="8252100" cy="368200"/>
          </a:xfrm>
          <a:prstGeom prst="roundRect">
            <a:avLst/>
          </a:prstGeom>
          <a:no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ltLang="ko-KR" b="1" dirty="0">
                <a:solidFill>
                  <a:srgbClr val="FF0000"/>
                </a:solidFill>
              </a:rPr>
              <a:t>※ </a:t>
            </a:r>
            <a:r>
              <a:rPr lang="ko-KR" altLang="en-US" b="1" dirty="0">
                <a:solidFill>
                  <a:srgbClr val="FF0000"/>
                </a:solidFill>
              </a:rPr>
              <a:t>본문의 예시 내용을 지우고 과제 내용으로 변경하여 사용하세요</a:t>
            </a:r>
          </a:p>
        </p:txBody>
      </p:sp>
      <p:pic>
        <p:nvPicPr>
          <p:cNvPr id="2" name="그림 1">
            <a:extLst>
              <a:ext uri="{FF2B5EF4-FFF2-40B4-BE49-F238E27FC236}">
                <a16:creationId xmlns:a16="http://schemas.microsoft.com/office/drawing/2014/main" id="{6960E464-F9BA-E972-3A6A-9DF7CBA2EF21}"/>
              </a:ext>
            </a:extLst>
          </p:cNvPr>
          <p:cNvPicPr>
            <a:picLocks noChangeAspect="1"/>
          </p:cNvPicPr>
          <p:nvPr/>
        </p:nvPicPr>
        <p:blipFill>
          <a:blip r:embed="rId4"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Tree>
    <p:extLst>
      <p:ext uri="{BB962C8B-B14F-4D97-AF65-F5344CB8AC3E}">
        <p14:creationId xmlns:p14="http://schemas.microsoft.com/office/powerpoint/2010/main" val="34288338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직사각형 20"/>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2" name="직선 연결선 21"/>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직선 연결선 24"/>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8" name="제목 12"/>
          <p:cNvSpPr txBox="1">
            <a:spLocks/>
          </p:cNvSpPr>
          <p:nvPr/>
        </p:nvSpPr>
        <p:spPr>
          <a:xfrm>
            <a:off x="323528" y="692696"/>
            <a:ext cx="2808312"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a:t>
            </a:r>
            <a:r>
              <a:rPr kumimoji="0" lang="ko-KR" altLang="en-US" sz="1700" b="1" i="0" u="none" strike="noStrike" kern="1200" cap="none" spc="0" normalizeH="0" baseline="0" noProof="0" dirty="0">
                <a:ln>
                  <a:noFill/>
                </a:ln>
                <a:solidFill>
                  <a:schemeClr val="bg1"/>
                </a:solidFill>
                <a:effectLst/>
                <a:uLnTx/>
                <a:uFillTx/>
                <a:latin typeface="+mn-ea"/>
                <a:cs typeface="+mj-cs"/>
              </a:rPr>
              <a:t>참조</a:t>
            </a:r>
            <a:r>
              <a:rPr kumimoji="0" lang="en-US" altLang="ko-KR" sz="1700" b="1" i="0" u="none" strike="noStrike" kern="1200" cap="none" spc="0" normalizeH="0" baseline="0" noProof="0" dirty="0">
                <a:ln>
                  <a:noFill/>
                </a:ln>
                <a:solidFill>
                  <a:schemeClr val="bg1"/>
                </a:solidFill>
                <a:effectLst/>
                <a:uLnTx/>
                <a:uFillTx/>
                <a:latin typeface="+mn-ea"/>
                <a:cs typeface="+mj-cs"/>
              </a:rPr>
              <a:t>-</a:t>
            </a:r>
            <a:r>
              <a:rPr lang="ko-KR" altLang="en-US" sz="1700" b="1" dirty="0">
                <a:solidFill>
                  <a:schemeClr val="bg1"/>
                </a:solidFill>
                <a:latin typeface="+mn-ea"/>
                <a:cs typeface="+mj-cs"/>
              </a:rPr>
              <a:t>동영상 촬영 콘티</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30"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2" name="막힌 원호 31"/>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2" name="직사각형 11"/>
          <p:cNvSpPr/>
          <p:nvPr/>
        </p:nvSpPr>
        <p:spPr>
          <a:xfrm>
            <a:off x="3851920" y="548680"/>
            <a:ext cx="5112568" cy="338554"/>
          </a:xfrm>
          <a:prstGeom prst="rect">
            <a:avLst/>
          </a:prstGeom>
        </p:spPr>
        <p:txBody>
          <a:bodyPr wrap="square">
            <a:spAutoFit/>
          </a:bodyPr>
          <a:lstStyle/>
          <a:p>
            <a:pPr marL="265113" indent="-265113" algn="r" latinLnBrk="0"/>
            <a:r>
              <a:rPr lang="ko-KR" altLang="en-US" sz="1600" b="1" i="1" dirty="0">
                <a:solidFill>
                  <a:srgbClr val="FF0000"/>
                </a:solidFill>
                <a:latin typeface="+mj-lt"/>
              </a:rPr>
              <a:t>샘플</a:t>
            </a:r>
            <a:r>
              <a:rPr lang="en-US" altLang="ko-KR" sz="1600" b="1" i="1" dirty="0">
                <a:solidFill>
                  <a:srgbClr val="FF0000"/>
                </a:solidFill>
                <a:latin typeface="+mj-lt"/>
              </a:rPr>
              <a:t> 1</a:t>
            </a:r>
            <a:endParaRPr lang="ko-KR" altLang="en-US" sz="1600" b="1" i="1" dirty="0">
              <a:solidFill>
                <a:srgbClr val="FF0000"/>
              </a:solidFill>
              <a:latin typeface="+mj-lt"/>
            </a:endParaRPr>
          </a:p>
        </p:txBody>
      </p:sp>
      <p:pic>
        <p:nvPicPr>
          <p:cNvPr id="2" name="그림 1"/>
          <p:cNvPicPr>
            <a:picLocks noChangeAspect="1"/>
          </p:cNvPicPr>
          <p:nvPr/>
        </p:nvPicPr>
        <p:blipFill>
          <a:blip r:embed="rId3"/>
          <a:stretch>
            <a:fillRect/>
          </a:stretch>
        </p:blipFill>
        <p:spPr>
          <a:xfrm>
            <a:off x="590293" y="3798060"/>
            <a:ext cx="5877702" cy="2151219"/>
          </a:xfrm>
          <a:prstGeom prst="rect">
            <a:avLst/>
          </a:prstGeom>
        </p:spPr>
      </p:pic>
      <p:sp>
        <p:nvSpPr>
          <p:cNvPr id="13" name="직사각형 12">
            <a:extLst>
              <a:ext uri="{FF2B5EF4-FFF2-40B4-BE49-F238E27FC236}">
                <a16:creationId xmlns:a16="http://schemas.microsoft.com/office/drawing/2014/main" id="{E9BCB1CE-2DD6-40DC-A0F7-0303DCBC1F92}"/>
              </a:ext>
            </a:extLst>
          </p:cNvPr>
          <p:cNvSpPr/>
          <p:nvPr/>
        </p:nvSpPr>
        <p:spPr>
          <a:xfrm>
            <a:off x="222256" y="1473901"/>
            <a:ext cx="8454200" cy="4619396"/>
          </a:xfrm>
          <a:prstGeom prst="rect">
            <a:avLst/>
          </a:prstGeom>
          <a:noFill/>
          <a:ln>
            <a:solidFill>
              <a:schemeClr val="accent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b="1" dirty="0">
              <a:solidFill>
                <a:schemeClr val="tx1"/>
              </a:solidFill>
            </a:endParaRPr>
          </a:p>
        </p:txBody>
      </p:sp>
      <p:pic>
        <p:nvPicPr>
          <p:cNvPr id="4" name="그림 3"/>
          <p:cNvPicPr>
            <a:picLocks noChangeAspect="1"/>
          </p:cNvPicPr>
          <p:nvPr/>
        </p:nvPicPr>
        <p:blipFill>
          <a:blip r:embed="rId4"/>
          <a:stretch>
            <a:fillRect/>
          </a:stretch>
        </p:blipFill>
        <p:spPr>
          <a:xfrm>
            <a:off x="612178" y="1508629"/>
            <a:ext cx="5855816" cy="2157906"/>
          </a:xfrm>
          <a:prstGeom prst="rect">
            <a:avLst/>
          </a:prstGeom>
        </p:spPr>
      </p:pic>
      <p:sp>
        <p:nvSpPr>
          <p:cNvPr id="15" name="사각형: 둥근 모서리 26">
            <a:extLst>
              <a:ext uri="{FF2B5EF4-FFF2-40B4-BE49-F238E27FC236}">
                <a16:creationId xmlns:a16="http://schemas.microsoft.com/office/drawing/2014/main" id="{C7500637-46CD-7B82-4D3C-E50C3719767E}"/>
              </a:ext>
            </a:extLst>
          </p:cNvPr>
          <p:cNvSpPr/>
          <p:nvPr/>
        </p:nvSpPr>
        <p:spPr>
          <a:xfrm>
            <a:off x="445950" y="6445176"/>
            <a:ext cx="8252100" cy="368200"/>
          </a:xfrm>
          <a:prstGeom prst="roundRect">
            <a:avLst/>
          </a:prstGeom>
          <a:no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ltLang="ko-KR" b="1" dirty="0">
                <a:solidFill>
                  <a:srgbClr val="FF0000"/>
                </a:solidFill>
              </a:rPr>
              <a:t>※ </a:t>
            </a:r>
            <a:r>
              <a:rPr lang="ko-KR" altLang="en-US" b="1" dirty="0">
                <a:solidFill>
                  <a:srgbClr val="FF0000"/>
                </a:solidFill>
              </a:rPr>
              <a:t>본문의 예시 내용을 지우고 과제 내용으로 변경하여 사용하세요</a:t>
            </a:r>
          </a:p>
        </p:txBody>
      </p:sp>
      <p:pic>
        <p:nvPicPr>
          <p:cNvPr id="3" name="그림 2">
            <a:extLst>
              <a:ext uri="{FF2B5EF4-FFF2-40B4-BE49-F238E27FC236}">
                <a16:creationId xmlns:a16="http://schemas.microsoft.com/office/drawing/2014/main" id="{390139F4-3D90-BC08-F57D-2AEEFFE84A55}"/>
              </a:ext>
            </a:extLst>
          </p:cNvPr>
          <p:cNvPicPr>
            <a:picLocks noChangeAspect="1"/>
          </p:cNvPicPr>
          <p:nvPr/>
        </p:nvPicPr>
        <p:blipFill>
          <a:blip r:embed="rId5"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Tree>
    <p:extLst>
      <p:ext uri="{BB962C8B-B14F-4D97-AF65-F5344CB8AC3E}">
        <p14:creationId xmlns:p14="http://schemas.microsoft.com/office/powerpoint/2010/main" val="4685981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직사각형 20"/>
          <p:cNvSpPr/>
          <p:nvPr/>
        </p:nvSpPr>
        <p:spPr>
          <a:xfrm>
            <a:off x="107504" y="0"/>
            <a:ext cx="3096344" cy="1124744"/>
          </a:xfrm>
          <a:prstGeom prst="rect">
            <a:avLst/>
          </a:prstGeom>
          <a:solidFill>
            <a:srgbClr val="3B5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2" name="직선 연결선 21"/>
          <p:cNvCxnSpPr/>
          <p:nvPr/>
        </p:nvCxnSpPr>
        <p:spPr>
          <a:xfrm>
            <a:off x="424356" y="541195"/>
            <a:ext cx="2591728"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직선 연결선 24"/>
          <p:cNvCxnSpPr/>
          <p:nvPr/>
        </p:nvCxnSpPr>
        <p:spPr>
          <a:xfrm>
            <a:off x="3275856" y="548680"/>
            <a:ext cx="5328592" cy="0"/>
          </a:xfrm>
          <a:prstGeom prst="line">
            <a:avLst/>
          </a:prstGeom>
          <a:ln w="28575">
            <a:solidFill>
              <a:srgbClr val="3B5AA8"/>
            </a:solidFill>
          </a:ln>
        </p:spPr>
        <p:style>
          <a:lnRef idx="1">
            <a:schemeClr val="accent4"/>
          </a:lnRef>
          <a:fillRef idx="0">
            <a:schemeClr val="accent4"/>
          </a:fillRef>
          <a:effectRef idx="0">
            <a:schemeClr val="accent4"/>
          </a:effectRef>
          <a:fontRef idx="minor">
            <a:schemeClr val="tx1"/>
          </a:fontRef>
        </p:style>
      </p:cxnSp>
      <p:sp>
        <p:nvSpPr>
          <p:cNvPr id="28" name="제목 12"/>
          <p:cNvSpPr txBox="1">
            <a:spLocks/>
          </p:cNvSpPr>
          <p:nvPr/>
        </p:nvSpPr>
        <p:spPr>
          <a:xfrm>
            <a:off x="323528" y="692696"/>
            <a:ext cx="2808312" cy="296631"/>
          </a:xfrm>
          <a:prstGeom prst="rect">
            <a:avLst/>
          </a:prstGeom>
        </p:spPr>
        <p:txBody>
          <a:bodyPr vert="horz" lIns="91440" tIns="45720" rIns="91440" bIns="45720" rtlCol="0" anchor="t">
            <a:no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700" b="1" i="0" u="none" strike="noStrike" kern="1200" cap="none" spc="0" normalizeH="0" baseline="0" noProof="0" dirty="0">
                <a:ln>
                  <a:noFill/>
                </a:ln>
                <a:solidFill>
                  <a:schemeClr val="bg1"/>
                </a:solidFill>
                <a:effectLst/>
                <a:uLnTx/>
                <a:uFillTx/>
                <a:latin typeface="+mn-ea"/>
                <a:cs typeface="+mj-cs"/>
              </a:rPr>
              <a:t>| </a:t>
            </a:r>
            <a:r>
              <a:rPr kumimoji="0" lang="ko-KR" altLang="en-US" sz="1700" b="1" i="0" u="none" strike="noStrike" kern="1200" cap="none" spc="0" normalizeH="0" baseline="0" noProof="0" dirty="0">
                <a:ln>
                  <a:noFill/>
                </a:ln>
                <a:solidFill>
                  <a:schemeClr val="bg1"/>
                </a:solidFill>
                <a:effectLst/>
                <a:uLnTx/>
                <a:uFillTx/>
                <a:latin typeface="+mn-ea"/>
                <a:cs typeface="+mj-cs"/>
              </a:rPr>
              <a:t>참조</a:t>
            </a:r>
            <a:r>
              <a:rPr kumimoji="0" lang="en-US" altLang="ko-KR" sz="1700" b="1" i="0" u="none" strike="noStrike" kern="1200" cap="none" spc="0" normalizeH="0" baseline="0" noProof="0" dirty="0">
                <a:ln>
                  <a:noFill/>
                </a:ln>
                <a:solidFill>
                  <a:schemeClr val="bg1"/>
                </a:solidFill>
                <a:effectLst/>
                <a:uLnTx/>
                <a:uFillTx/>
                <a:latin typeface="+mn-ea"/>
                <a:cs typeface="+mj-cs"/>
              </a:rPr>
              <a:t>-</a:t>
            </a:r>
            <a:r>
              <a:rPr lang="ko-KR" altLang="en-US" sz="1700" b="1" dirty="0">
                <a:solidFill>
                  <a:schemeClr val="bg1"/>
                </a:solidFill>
                <a:latin typeface="+mn-ea"/>
                <a:cs typeface="+mj-cs"/>
              </a:rPr>
              <a:t>프로젝트 관리</a:t>
            </a:r>
            <a:endParaRPr kumimoji="0" lang="ko-KR" altLang="en-US" sz="1700" b="0" i="0" u="none" strike="noStrike" kern="1200" cap="none" spc="-50" normalizeH="0" baseline="0" noProof="0" dirty="0">
              <a:ln>
                <a:noFill/>
              </a:ln>
              <a:solidFill>
                <a:schemeClr val="bg1"/>
              </a:solidFill>
              <a:effectLst/>
              <a:uLnTx/>
              <a:uFillTx/>
              <a:latin typeface="+mn-ea"/>
              <a:cs typeface="+mj-cs"/>
            </a:endParaRPr>
          </a:p>
        </p:txBody>
      </p:sp>
      <p:pic>
        <p:nvPicPr>
          <p:cNvPr id="30" name="Picture 2"/>
          <p:cNvPicPr>
            <a:picLocks noChangeAspect="1" noChangeArrowheads="1"/>
          </p:cNvPicPr>
          <p:nvPr/>
        </p:nvPicPr>
        <p:blipFill>
          <a:blip r:embed="rId2" cstate="print"/>
          <a:srcRect/>
          <a:stretch>
            <a:fillRect/>
          </a:stretch>
        </p:blipFill>
        <p:spPr bwMode="auto">
          <a:xfrm>
            <a:off x="8676456" y="476671"/>
            <a:ext cx="454960" cy="158965"/>
          </a:xfrm>
          <a:prstGeom prst="rect">
            <a:avLst/>
          </a:prstGeom>
          <a:noFill/>
          <a:ln w="9525">
            <a:noFill/>
            <a:miter lim="800000"/>
            <a:headEnd/>
            <a:tailEnd/>
          </a:ln>
        </p:spPr>
      </p:pic>
      <p:sp>
        <p:nvSpPr>
          <p:cNvPr id="32" name="막힌 원호 31"/>
          <p:cNvSpPr/>
          <p:nvPr/>
        </p:nvSpPr>
        <p:spPr>
          <a:xfrm flipV="1">
            <a:off x="-577697" y="-576001"/>
            <a:ext cx="1181047" cy="1167213"/>
          </a:xfrm>
          <a:prstGeom prst="blockArc">
            <a:avLst>
              <a:gd name="adj1" fmla="val 16158679"/>
              <a:gd name="adj2" fmla="val 0"/>
              <a:gd name="adj3" fmla="val 25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2" name="직사각형 11"/>
          <p:cNvSpPr/>
          <p:nvPr/>
        </p:nvSpPr>
        <p:spPr>
          <a:xfrm>
            <a:off x="3851920" y="548680"/>
            <a:ext cx="5112568" cy="338554"/>
          </a:xfrm>
          <a:prstGeom prst="rect">
            <a:avLst/>
          </a:prstGeom>
        </p:spPr>
        <p:txBody>
          <a:bodyPr wrap="square">
            <a:spAutoFit/>
          </a:bodyPr>
          <a:lstStyle/>
          <a:p>
            <a:pPr marL="265113" indent="-265113" algn="r" latinLnBrk="0"/>
            <a:r>
              <a:rPr lang="ko-KR" altLang="en-US" sz="1600" b="1" i="1" dirty="0">
                <a:solidFill>
                  <a:srgbClr val="FF0000"/>
                </a:solidFill>
                <a:latin typeface="+mj-lt"/>
              </a:rPr>
              <a:t>샘플</a:t>
            </a:r>
            <a:r>
              <a:rPr lang="en-US" altLang="ko-KR" sz="1600" b="1" i="1" dirty="0">
                <a:solidFill>
                  <a:srgbClr val="FF0000"/>
                </a:solidFill>
                <a:latin typeface="+mj-lt"/>
              </a:rPr>
              <a:t> 1</a:t>
            </a:r>
            <a:endParaRPr lang="ko-KR" altLang="en-US" sz="1600" b="1" i="1" dirty="0">
              <a:solidFill>
                <a:srgbClr val="FF0000"/>
              </a:solidFill>
              <a:latin typeface="+mj-lt"/>
            </a:endParaRPr>
          </a:p>
        </p:txBody>
      </p:sp>
      <p:sp>
        <p:nvSpPr>
          <p:cNvPr id="13" name="직사각형 12">
            <a:extLst>
              <a:ext uri="{FF2B5EF4-FFF2-40B4-BE49-F238E27FC236}">
                <a16:creationId xmlns:a16="http://schemas.microsoft.com/office/drawing/2014/main" id="{E9BCB1CE-2DD6-40DC-A0F7-0303DCBC1F92}"/>
              </a:ext>
            </a:extLst>
          </p:cNvPr>
          <p:cNvSpPr/>
          <p:nvPr/>
        </p:nvSpPr>
        <p:spPr>
          <a:xfrm>
            <a:off x="222256" y="1473901"/>
            <a:ext cx="2793828" cy="4619396"/>
          </a:xfrm>
          <a:prstGeom prst="rect">
            <a:avLst/>
          </a:prstGeom>
          <a:noFill/>
          <a:ln>
            <a:solidFill>
              <a:schemeClr val="accent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b="1" dirty="0">
              <a:solidFill>
                <a:schemeClr val="tx1"/>
              </a:solidFill>
            </a:endParaRPr>
          </a:p>
        </p:txBody>
      </p:sp>
      <p:sp>
        <p:nvSpPr>
          <p:cNvPr id="14" name="직사각형 13">
            <a:extLst>
              <a:ext uri="{FF2B5EF4-FFF2-40B4-BE49-F238E27FC236}">
                <a16:creationId xmlns:a16="http://schemas.microsoft.com/office/drawing/2014/main" id="{E9BCB1CE-2DD6-40DC-A0F7-0303DCBC1F92}"/>
              </a:ext>
            </a:extLst>
          </p:cNvPr>
          <p:cNvSpPr/>
          <p:nvPr/>
        </p:nvSpPr>
        <p:spPr>
          <a:xfrm>
            <a:off x="3131840" y="1468773"/>
            <a:ext cx="2880320" cy="4619396"/>
          </a:xfrm>
          <a:prstGeom prst="rect">
            <a:avLst/>
          </a:prstGeom>
          <a:noFill/>
          <a:ln>
            <a:solidFill>
              <a:schemeClr val="accent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b="1" dirty="0">
              <a:solidFill>
                <a:schemeClr val="tx1"/>
              </a:solidFill>
            </a:endParaRPr>
          </a:p>
        </p:txBody>
      </p:sp>
      <p:sp>
        <p:nvSpPr>
          <p:cNvPr id="15" name="직사각형 14">
            <a:extLst>
              <a:ext uri="{FF2B5EF4-FFF2-40B4-BE49-F238E27FC236}">
                <a16:creationId xmlns:a16="http://schemas.microsoft.com/office/drawing/2014/main" id="{E9BCB1CE-2DD6-40DC-A0F7-0303DCBC1F92}"/>
              </a:ext>
            </a:extLst>
          </p:cNvPr>
          <p:cNvSpPr/>
          <p:nvPr/>
        </p:nvSpPr>
        <p:spPr>
          <a:xfrm>
            <a:off x="6084168" y="1484784"/>
            <a:ext cx="2981592" cy="4619396"/>
          </a:xfrm>
          <a:prstGeom prst="rect">
            <a:avLst/>
          </a:prstGeom>
          <a:noFill/>
          <a:ln>
            <a:solidFill>
              <a:schemeClr val="accent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b="1" dirty="0">
              <a:solidFill>
                <a:schemeClr val="tx1"/>
              </a:solidFill>
            </a:endParaRPr>
          </a:p>
        </p:txBody>
      </p:sp>
      <p:pic>
        <p:nvPicPr>
          <p:cNvPr id="3" name="그림 2"/>
          <p:cNvPicPr>
            <a:picLocks noChangeAspect="1"/>
          </p:cNvPicPr>
          <p:nvPr/>
        </p:nvPicPr>
        <p:blipFill>
          <a:blip r:embed="rId3"/>
          <a:stretch>
            <a:fillRect/>
          </a:stretch>
        </p:blipFill>
        <p:spPr>
          <a:xfrm>
            <a:off x="6139849" y="1916832"/>
            <a:ext cx="2870229" cy="2529445"/>
          </a:xfrm>
          <a:prstGeom prst="rect">
            <a:avLst/>
          </a:prstGeom>
        </p:spPr>
      </p:pic>
      <p:sp>
        <p:nvSpPr>
          <p:cNvPr id="5" name="TextBox 4"/>
          <p:cNvSpPr txBox="1"/>
          <p:nvPr/>
        </p:nvSpPr>
        <p:spPr>
          <a:xfrm>
            <a:off x="6097872" y="1516688"/>
            <a:ext cx="1107996" cy="369332"/>
          </a:xfrm>
          <a:prstGeom prst="rect">
            <a:avLst/>
          </a:prstGeom>
          <a:noFill/>
        </p:spPr>
        <p:txBody>
          <a:bodyPr wrap="none" rtlCol="0">
            <a:spAutoFit/>
          </a:bodyPr>
          <a:lstStyle/>
          <a:p>
            <a:r>
              <a:rPr kumimoji="1" lang="ko-KR" altLang="en-US" b="1"/>
              <a:t>이슈관리</a:t>
            </a:r>
          </a:p>
        </p:txBody>
      </p:sp>
      <p:pic>
        <p:nvPicPr>
          <p:cNvPr id="6" name="그림 5"/>
          <p:cNvPicPr>
            <a:picLocks noChangeAspect="1"/>
          </p:cNvPicPr>
          <p:nvPr/>
        </p:nvPicPr>
        <p:blipFill>
          <a:blip r:embed="rId4"/>
          <a:stretch>
            <a:fillRect/>
          </a:stretch>
        </p:blipFill>
        <p:spPr>
          <a:xfrm>
            <a:off x="3203847" y="1988840"/>
            <a:ext cx="2808313" cy="2372551"/>
          </a:xfrm>
          <a:prstGeom prst="rect">
            <a:avLst/>
          </a:prstGeom>
        </p:spPr>
      </p:pic>
      <p:sp>
        <p:nvSpPr>
          <p:cNvPr id="19" name="TextBox 18"/>
          <p:cNvSpPr txBox="1"/>
          <p:nvPr/>
        </p:nvSpPr>
        <p:spPr>
          <a:xfrm>
            <a:off x="3203848" y="1484784"/>
            <a:ext cx="1107996" cy="369332"/>
          </a:xfrm>
          <a:prstGeom prst="rect">
            <a:avLst/>
          </a:prstGeom>
          <a:noFill/>
        </p:spPr>
        <p:txBody>
          <a:bodyPr wrap="none" rtlCol="0">
            <a:spAutoFit/>
          </a:bodyPr>
          <a:lstStyle/>
          <a:p>
            <a:r>
              <a:rPr kumimoji="1" lang="ko-KR" altLang="en-US" b="1" dirty="0"/>
              <a:t>형상관리</a:t>
            </a:r>
          </a:p>
        </p:txBody>
      </p:sp>
      <p:pic>
        <p:nvPicPr>
          <p:cNvPr id="7" name="그림 6"/>
          <p:cNvPicPr>
            <a:picLocks noChangeAspect="1"/>
          </p:cNvPicPr>
          <p:nvPr/>
        </p:nvPicPr>
        <p:blipFill>
          <a:blip r:embed="rId5"/>
          <a:stretch>
            <a:fillRect/>
          </a:stretch>
        </p:blipFill>
        <p:spPr>
          <a:xfrm>
            <a:off x="323528" y="1972217"/>
            <a:ext cx="2692556" cy="2389174"/>
          </a:xfrm>
          <a:prstGeom prst="rect">
            <a:avLst/>
          </a:prstGeom>
        </p:spPr>
      </p:pic>
      <p:sp>
        <p:nvSpPr>
          <p:cNvPr id="23" name="TextBox 22"/>
          <p:cNvSpPr txBox="1"/>
          <p:nvPr/>
        </p:nvSpPr>
        <p:spPr>
          <a:xfrm>
            <a:off x="367660" y="1484784"/>
            <a:ext cx="1651414" cy="369332"/>
          </a:xfrm>
          <a:prstGeom prst="rect">
            <a:avLst/>
          </a:prstGeom>
          <a:noFill/>
        </p:spPr>
        <p:txBody>
          <a:bodyPr wrap="none" rtlCol="0">
            <a:spAutoFit/>
          </a:bodyPr>
          <a:lstStyle/>
          <a:p>
            <a:r>
              <a:rPr kumimoji="1" lang="ko-KR" altLang="en-US" b="1" dirty="0"/>
              <a:t>프로젝트 관리</a:t>
            </a:r>
          </a:p>
        </p:txBody>
      </p:sp>
      <p:sp>
        <p:nvSpPr>
          <p:cNvPr id="24" name="사각형: 둥근 모서리 26">
            <a:extLst>
              <a:ext uri="{FF2B5EF4-FFF2-40B4-BE49-F238E27FC236}">
                <a16:creationId xmlns:a16="http://schemas.microsoft.com/office/drawing/2014/main" id="{01E962C8-CE2A-8E9B-B0A0-BDF35F75C2E4}"/>
              </a:ext>
            </a:extLst>
          </p:cNvPr>
          <p:cNvSpPr/>
          <p:nvPr/>
        </p:nvSpPr>
        <p:spPr>
          <a:xfrm>
            <a:off x="445950" y="6445176"/>
            <a:ext cx="8252100" cy="368200"/>
          </a:xfrm>
          <a:prstGeom prst="roundRect">
            <a:avLst/>
          </a:prstGeom>
          <a:no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ltLang="ko-KR" b="1" dirty="0">
                <a:solidFill>
                  <a:srgbClr val="FF0000"/>
                </a:solidFill>
              </a:rPr>
              <a:t>※ </a:t>
            </a:r>
            <a:r>
              <a:rPr lang="ko-KR" altLang="en-US" b="1" dirty="0">
                <a:solidFill>
                  <a:srgbClr val="FF0000"/>
                </a:solidFill>
              </a:rPr>
              <a:t>본문의 예시 내용을 지우고 과제 내용으로 변경하여 사용하세요</a:t>
            </a:r>
          </a:p>
        </p:txBody>
      </p:sp>
      <p:pic>
        <p:nvPicPr>
          <p:cNvPr id="2" name="그림 1">
            <a:extLst>
              <a:ext uri="{FF2B5EF4-FFF2-40B4-BE49-F238E27FC236}">
                <a16:creationId xmlns:a16="http://schemas.microsoft.com/office/drawing/2014/main" id="{D26D0B7D-EFC9-128F-423A-9281E7C67982}"/>
              </a:ext>
            </a:extLst>
          </p:cNvPr>
          <p:cNvPicPr>
            <a:picLocks noChangeAspect="1"/>
          </p:cNvPicPr>
          <p:nvPr/>
        </p:nvPicPr>
        <p:blipFill>
          <a:blip r:embed="rId6"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Tree>
    <p:extLst>
      <p:ext uri="{BB962C8B-B14F-4D97-AF65-F5344CB8AC3E}">
        <p14:creationId xmlns:p14="http://schemas.microsoft.com/office/powerpoint/2010/main" val="28355838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13"/>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036"/>
          <a:stretch/>
        </p:blipFill>
        <p:spPr bwMode="auto">
          <a:xfrm rot="10800000">
            <a:off x="4306022" y="3226032"/>
            <a:ext cx="4837978" cy="36155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TextBox 18"/>
          <p:cNvSpPr txBox="1"/>
          <p:nvPr/>
        </p:nvSpPr>
        <p:spPr>
          <a:xfrm>
            <a:off x="2963451" y="2998113"/>
            <a:ext cx="3217099" cy="861774"/>
          </a:xfrm>
          <a:prstGeom prst="rect">
            <a:avLst/>
          </a:prstGeom>
          <a:noFill/>
        </p:spPr>
        <p:txBody>
          <a:bodyPr wrap="none" rtlCol="0">
            <a:spAutoFit/>
          </a:bodyPr>
          <a:lstStyle/>
          <a:p>
            <a:r>
              <a:rPr lang="en-US" altLang="ko-KR" sz="5000" b="1" spc="-150" dirty="0">
                <a:solidFill>
                  <a:srgbClr val="3B5AA8"/>
                </a:solidFill>
              </a:rPr>
              <a:t>Thank you</a:t>
            </a:r>
            <a:endParaRPr lang="ko-KR" altLang="en-US" sz="5000" b="1" spc="-150" dirty="0">
              <a:solidFill>
                <a:srgbClr val="3B5AA8"/>
              </a:solidFill>
            </a:endParaRPr>
          </a:p>
        </p:txBody>
      </p:sp>
      <p:sp>
        <p:nvSpPr>
          <p:cNvPr id="11" name="직사각형 10"/>
          <p:cNvSpPr/>
          <p:nvPr/>
        </p:nvSpPr>
        <p:spPr>
          <a:xfrm>
            <a:off x="971600" y="6502764"/>
            <a:ext cx="7056784" cy="360040"/>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b="1" dirty="0"/>
          </a:p>
        </p:txBody>
      </p:sp>
      <p:pic>
        <p:nvPicPr>
          <p:cNvPr id="2" name="그림 1">
            <a:extLst>
              <a:ext uri="{FF2B5EF4-FFF2-40B4-BE49-F238E27FC236}">
                <a16:creationId xmlns:a16="http://schemas.microsoft.com/office/drawing/2014/main" id="{C8B488D3-AF34-7CBE-A60C-C2CAAAD8CAAC}"/>
              </a:ext>
            </a:extLst>
          </p:cNvPr>
          <p:cNvPicPr>
            <a:picLocks noChangeAspect="1"/>
          </p:cNvPicPr>
          <p:nvPr/>
        </p:nvPicPr>
        <p:blipFill>
          <a:blip r:embed="rId4" cstate="print">
            <a:extLst>
              <a:ext uri="{28A0092B-C50C-407E-A947-70E740481C1C}">
                <a14:useLocalDpi xmlns:a14="http://schemas.microsoft.com/office/drawing/2010/main" val="0"/>
              </a:ext>
            </a:extLst>
          </a:blip>
          <a:srcRect l="21956" t="40516" r="21023" b="44641"/>
          <a:stretch/>
        </p:blipFill>
        <p:spPr>
          <a:xfrm>
            <a:off x="7528235" y="98344"/>
            <a:ext cx="1498208" cy="347199"/>
          </a:xfrm>
          <a:prstGeom prst="rect">
            <a:avLst/>
          </a:prstGeom>
        </p:spPr>
      </p:pic>
    </p:spTree>
    <p:extLst>
      <p:ext uri="{BB962C8B-B14F-4D97-AF65-F5344CB8AC3E}">
        <p14:creationId xmlns:p14="http://schemas.microsoft.com/office/powerpoint/2010/main" val="138726907"/>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a:noFill/>
        </a:ln>
      </a:spPr>
      <a:bodyPr rtlCol="0" anchor="ctr"/>
      <a:lstStyle>
        <a:defPPr algn="ctr">
          <a:defRPr b="1" dirty="0" smtClean="0"/>
        </a:defPPr>
      </a:lstStyle>
      <a:style>
        <a:lnRef idx="0">
          <a:scrgbClr r="0" g="0" b="0"/>
        </a:lnRef>
        <a:fillRef idx="0">
          <a:scrgbClr r="0" g="0" b="0"/>
        </a:fillRef>
        <a:effectRef idx="0">
          <a:scrgbClr r="0" g="0" b="0"/>
        </a:effectRef>
        <a:fontRef idx="minor">
          <a:schemeClr val="lt1"/>
        </a:fontRef>
      </a:style>
    </a:sp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1703</TotalTime>
  <Words>17188</Words>
  <Application>Microsoft Macintosh PowerPoint</Application>
  <PresentationFormat>화면 슬라이드 쇼(4:3)</PresentationFormat>
  <Paragraphs>3741</Paragraphs>
  <Slides>121</Slides>
  <Notes>45</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121</vt:i4>
      </vt:variant>
    </vt:vector>
  </HeadingPairs>
  <TitlesOfParts>
    <vt:vector size="129" baseType="lpstr">
      <vt:lpstr>맑은 고딕</vt:lpstr>
      <vt:lpstr>Noto Sans KR</vt:lpstr>
      <vt:lpstr>Space Grotesk</vt:lpstr>
      <vt:lpstr>Arial</vt:lpstr>
      <vt:lpstr>Consolas</vt:lpstr>
      <vt:lpstr>Courier New</vt:lpstr>
      <vt:lpstr>Times New Roman</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이낙선</dc:creator>
  <cp:lastModifiedBy>정재환</cp:lastModifiedBy>
  <cp:revision>306</cp:revision>
  <cp:lastPrinted>2026-07-06T09:50:23Z</cp:lastPrinted>
  <dcterms:created xsi:type="dcterms:W3CDTF">2014-04-16T00:55:54Z</dcterms:created>
  <dcterms:modified xsi:type="dcterms:W3CDTF">2026-07-09T09:58:48Z</dcterms:modified>
</cp:coreProperties>
</file>