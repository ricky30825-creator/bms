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317" r:id="rId2"/>
    <p:sldId id="282" r:id="rId3"/>
    <p:sldId id="299" r:id="rId4"/>
    <p:sldId id="256" r:id="rId5"/>
    <p:sldId id="304" r:id="rId6"/>
    <p:sldId id="258" r:id="rId7"/>
    <p:sldId id="300" r:id="rId8"/>
    <p:sldId id="303" r:id="rId9"/>
    <p:sldId id="301" r:id="rId10"/>
    <p:sldId id="268" r:id="rId11"/>
    <p:sldId id="331" r:id="rId12"/>
    <p:sldId id="332" r:id="rId13"/>
    <p:sldId id="333" r:id="rId14"/>
    <p:sldId id="259" r:id="rId15"/>
    <p:sldId id="260" r:id="rId16"/>
    <p:sldId id="261" r:id="rId17"/>
    <p:sldId id="262" r:id="rId18"/>
    <p:sldId id="263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264" r:id="rId32"/>
    <p:sldId id="270" r:id="rId33"/>
    <p:sldId id="336" r:id="rId34"/>
    <p:sldId id="275" r:id="rId35"/>
    <p:sldId id="335" r:id="rId36"/>
    <p:sldId id="272" r:id="rId37"/>
    <p:sldId id="278" r:id="rId38"/>
    <p:sldId id="305" r:id="rId39"/>
    <p:sldId id="257" r:id="rId40"/>
    <p:sldId id="306" r:id="rId41"/>
    <p:sldId id="291" r:id="rId42"/>
    <p:sldId id="292" r:id="rId43"/>
    <p:sldId id="288" r:id="rId44"/>
    <p:sldId id="289" r:id="rId45"/>
    <p:sldId id="307" r:id="rId46"/>
    <p:sldId id="290" r:id="rId47"/>
    <p:sldId id="302" r:id="rId48"/>
    <p:sldId id="308" r:id="rId49"/>
    <p:sldId id="273" r:id="rId50"/>
    <p:sldId id="309" r:id="rId51"/>
    <p:sldId id="310" r:id="rId52"/>
    <p:sldId id="311" r:id="rId53"/>
    <p:sldId id="312" r:id="rId54"/>
    <p:sldId id="279" r:id="rId55"/>
    <p:sldId id="313" r:id="rId56"/>
    <p:sldId id="280" r:id="rId57"/>
    <p:sldId id="281" r:id="rId58"/>
    <p:sldId id="293" r:id="rId59"/>
    <p:sldId id="314" r:id="rId60"/>
    <p:sldId id="283" r:id="rId61"/>
    <p:sldId id="294" r:id="rId62"/>
    <p:sldId id="284" r:id="rId63"/>
    <p:sldId id="287" r:id="rId64"/>
    <p:sldId id="295" r:id="rId65"/>
    <p:sldId id="296" r:id="rId66"/>
    <p:sldId id="297" r:id="rId67"/>
    <p:sldId id="315" r:id="rId68"/>
    <p:sldId id="316" r:id="rId69"/>
    <p:sldId id="318" r:id="rId7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비스 벤치 마킹" id="{355E7A57-BEED-499C-AC3B-EEF70EC95753}">
          <p14:sldIdLst>
            <p14:sldId id="317"/>
            <p14:sldId id="282"/>
            <p14:sldId id="299"/>
          </p14:sldIdLst>
        </p14:section>
        <p14:section name="팀프로젝트 역할 정의" id="{801F4109-CDB0-46CE-86BA-9A6A4BA3EDA3}">
          <p14:sldIdLst>
            <p14:sldId id="256"/>
            <p14:sldId id="304"/>
            <p14:sldId id="258"/>
            <p14:sldId id="300"/>
            <p14:sldId id="303"/>
            <p14:sldId id="301"/>
            <p14:sldId id="268"/>
          </p14:sldIdLst>
        </p14:section>
        <p14:section name="PCB 회로 설계 및 개발" id="{2F0E382C-90A3-47BF-ACA4-67946E9A6AFF}">
          <p14:sldIdLst/>
        </p14:section>
        <p14:section name="데이터 수집 및 파이프라인 구축" id="{3682CF2F-5BBD-4EFF-8CBC-69CDD364F7F8}">
          <p14:sldIdLst>
            <p14:sldId id="331"/>
            <p14:sldId id="332"/>
            <p14:sldId id="333"/>
            <p14:sldId id="259"/>
            <p14:sldId id="260"/>
            <p14:sldId id="261"/>
            <p14:sldId id="262"/>
            <p14:sldId id="263"/>
          </p14:sldIdLst>
        </p14:section>
        <p14:section name="열폭주 이상 징후 AI  모델 구현" id="{B1DF91BA-F1E5-4CAA-A658-F73F3ACE6614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웹 모니터링 및 대시보드" id="{065432A1-0687-429E-94F2-6DF0584393F1}">
          <p14:sldIdLst>
            <p14:sldId id="264"/>
            <p14:sldId id="270"/>
            <p14:sldId id="336"/>
            <p14:sldId id="275"/>
            <p14:sldId id="335"/>
            <p14:sldId id="272"/>
            <p14:sldId id="278"/>
            <p14:sldId id="305"/>
            <p14:sldId id="257"/>
            <p14:sldId id="306"/>
            <p14:sldId id="291"/>
            <p14:sldId id="292"/>
            <p14:sldId id="288"/>
            <p14:sldId id="289"/>
            <p14:sldId id="307"/>
            <p14:sldId id="290"/>
            <p14:sldId id="302"/>
            <p14:sldId id="308"/>
            <p14:sldId id="273"/>
            <p14:sldId id="309"/>
            <p14:sldId id="310"/>
            <p14:sldId id="311"/>
            <p14:sldId id="312"/>
            <p14:sldId id="279"/>
            <p14:sldId id="313"/>
            <p14:sldId id="280"/>
            <p14:sldId id="281"/>
            <p14:sldId id="293"/>
            <p14:sldId id="314"/>
            <p14:sldId id="283"/>
            <p14:sldId id="294"/>
            <p14:sldId id="284"/>
            <p14:sldId id="287"/>
            <p14:sldId id="295"/>
            <p14:sldId id="296"/>
            <p14:sldId id="297"/>
            <p14:sldId id="315"/>
            <p14:sldId id="316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1D9"/>
    <a:srgbClr val="71AD47"/>
    <a:srgbClr val="E6A23B"/>
    <a:srgbClr val="D9534E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28" autoAdjust="0"/>
    <p:restoredTop sz="95655"/>
  </p:normalViewPr>
  <p:slideViewPr>
    <p:cSldViewPr snapToGrid="0">
      <p:cViewPr varScale="1">
        <p:scale>
          <a:sx n="120" d="100"/>
          <a:sy n="120" d="100"/>
        </p:scale>
        <p:origin x="184" y="2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FBD07-A916-4FD5-9E75-3DCF55741EE0}" type="doc">
      <dgm:prSet loTypeId="urn:microsoft.com/office/officeart/2018/layout/CircleProcess" loCatId="simpleprocesssa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D7B56F-2DBA-4B1A-AEBC-DD7EB427CAE9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1.  </a:t>
          </a:r>
          <a:r>
            <a:rPr lang="en-US" altLang="ko-KR" sz="1800" b="1" dirty="0"/>
            <a:t>Input </a:t>
          </a:r>
          <a:r>
            <a:rPr lang="ko-KR" altLang="en-US" sz="1800" b="1" dirty="0"/>
            <a:t>정의</a:t>
          </a:r>
          <a:endParaRPr lang="en-US" sz="1800" dirty="0"/>
        </a:p>
      </dgm:t>
    </dgm:pt>
    <dgm:pt modelId="{FADF265B-8AEA-463B-8592-B7197B93F002}" type="parTrans" cxnId="{0BD2E737-3213-43F1-846E-2D8C60876BC8}">
      <dgm:prSet/>
      <dgm:spPr/>
      <dgm:t>
        <a:bodyPr/>
        <a:lstStyle/>
        <a:p>
          <a:endParaRPr lang="en-US"/>
        </a:p>
      </dgm:t>
    </dgm:pt>
    <dgm:pt modelId="{62FBDCC3-1415-4908-94C3-8E86D6B77EE7}" type="sibTrans" cxnId="{0BD2E737-3213-43F1-846E-2D8C60876BC8}">
      <dgm:prSet/>
      <dgm:spPr/>
      <dgm:t>
        <a:bodyPr/>
        <a:lstStyle/>
        <a:p>
          <a:endParaRPr lang="en-US"/>
        </a:p>
      </dgm:t>
    </dgm:pt>
    <dgm:pt modelId="{45A1A86D-E556-44F1-90F5-7F5A9DDC1E4C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2. Algorithm update &amp; Architecture </a:t>
          </a:r>
          <a:r>
            <a:rPr lang="ko-KR" altLang="en-US" sz="1800" b="1" dirty="0"/>
            <a:t>설계</a:t>
          </a:r>
          <a:r>
            <a:rPr lang="en-US" sz="1800" b="1" dirty="0"/>
            <a:t> </a:t>
          </a:r>
          <a:endParaRPr lang="en-US" sz="1800" dirty="0"/>
        </a:p>
      </dgm:t>
    </dgm:pt>
    <dgm:pt modelId="{7ED5C1B5-03FB-414F-9303-CA63EE14FF07}" type="parTrans" cxnId="{4406D37A-4880-4359-B721-370A62715FAA}">
      <dgm:prSet/>
      <dgm:spPr/>
      <dgm:t>
        <a:bodyPr/>
        <a:lstStyle/>
        <a:p>
          <a:endParaRPr lang="en-US"/>
        </a:p>
      </dgm:t>
    </dgm:pt>
    <dgm:pt modelId="{84D3E058-738D-407A-B197-1EFB0B8B65F5}" type="sibTrans" cxnId="{4406D37A-4880-4359-B721-370A62715FAA}">
      <dgm:prSet/>
      <dgm:spPr/>
      <dgm:t>
        <a:bodyPr/>
        <a:lstStyle/>
        <a:p>
          <a:endParaRPr lang="en-US"/>
        </a:p>
      </dgm:t>
    </dgm:pt>
    <dgm:pt modelId="{A97181FC-F9E1-4AC2-9B0C-EF0A391C438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3. Algorithm </a:t>
          </a:r>
          <a:r>
            <a:rPr lang="ko-KR" altLang="en-US" sz="1800" b="1" dirty="0"/>
            <a:t>실험 설계</a:t>
          </a:r>
          <a:endParaRPr lang="en-US" sz="1800" dirty="0"/>
        </a:p>
      </dgm:t>
    </dgm:pt>
    <dgm:pt modelId="{A2EC4A6E-2ECD-4BB7-BBAD-4EBF83F6B2DF}" type="parTrans" cxnId="{E5E05C71-5FDA-467C-A25B-31A95BBD51BA}">
      <dgm:prSet/>
      <dgm:spPr/>
      <dgm:t>
        <a:bodyPr/>
        <a:lstStyle/>
        <a:p>
          <a:endParaRPr lang="en-US"/>
        </a:p>
      </dgm:t>
    </dgm:pt>
    <dgm:pt modelId="{4290234A-B6FC-4061-A080-0766587533C9}" type="sibTrans" cxnId="{E5E05C71-5FDA-467C-A25B-31A95BBD51BA}">
      <dgm:prSet/>
      <dgm:spPr/>
      <dgm:t>
        <a:bodyPr/>
        <a:lstStyle/>
        <a:p>
          <a:endParaRPr lang="en-US"/>
        </a:p>
      </dgm:t>
    </dgm:pt>
    <dgm:pt modelId="{566529DD-1F67-4EB2-A0FC-61CBFA41B5AA}" type="pres">
      <dgm:prSet presAssocID="{CEAFBD07-A916-4FD5-9E75-3DCF55741EE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EA5740C-A24C-41FC-BD22-1E57F78DC9E1}" type="pres">
      <dgm:prSet presAssocID="{A97181FC-F9E1-4AC2-9B0C-EF0A391C438A}" presName="Accent3" presStyleCnt="0"/>
      <dgm:spPr/>
    </dgm:pt>
    <dgm:pt modelId="{4F3175E0-F5A2-46DF-B1D9-8B7BA5850BA3}" type="pres">
      <dgm:prSet presAssocID="{A97181FC-F9E1-4AC2-9B0C-EF0A391C438A}" presName="Accent" presStyleLbl="node1" presStyleIdx="0" presStyleCnt="6"/>
      <dgm:spPr/>
    </dgm:pt>
    <dgm:pt modelId="{7A89A04B-2B40-4A7B-B66E-D234AEA8E174}" type="pres">
      <dgm:prSet presAssocID="{A97181FC-F9E1-4AC2-9B0C-EF0A391C438A}" presName="ParentBackground3" presStyleCnt="0"/>
      <dgm:spPr/>
    </dgm:pt>
    <dgm:pt modelId="{E7A97CE8-B5D6-4DCE-A04C-45194CCE41B2}" type="pres">
      <dgm:prSet presAssocID="{A97181FC-F9E1-4AC2-9B0C-EF0A391C438A}" presName="ParentBackground" presStyleLbl="node1" presStyleIdx="1" presStyleCnt="6"/>
      <dgm:spPr/>
    </dgm:pt>
    <dgm:pt modelId="{688D6E12-CDEC-4745-B4FC-E634925B1254}" type="pres">
      <dgm:prSet presAssocID="{A97181FC-F9E1-4AC2-9B0C-EF0A391C438A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BA21A6E4-E756-4016-ACE8-11963B9FF634}" type="pres">
      <dgm:prSet presAssocID="{45A1A86D-E556-44F1-90F5-7F5A9DDC1E4C}" presName="Accent2" presStyleCnt="0"/>
      <dgm:spPr/>
    </dgm:pt>
    <dgm:pt modelId="{062524D4-FA8D-4295-A976-3EE07E686946}" type="pres">
      <dgm:prSet presAssocID="{45A1A86D-E556-44F1-90F5-7F5A9DDC1E4C}" presName="Accent" presStyleLbl="node1" presStyleIdx="2" presStyleCnt="6"/>
      <dgm:spPr/>
    </dgm:pt>
    <dgm:pt modelId="{D840349D-B27B-493D-B263-5DCB127CACEB}" type="pres">
      <dgm:prSet presAssocID="{45A1A86D-E556-44F1-90F5-7F5A9DDC1E4C}" presName="ParentBackground2" presStyleCnt="0"/>
      <dgm:spPr/>
    </dgm:pt>
    <dgm:pt modelId="{20C56419-7B9F-4C42-A304-515C750DC5B6}" type="pres">
      <dgm:prSet presAssocID="{45A1A86D-E556-44F1-90F5-7F5A9DDC1E4C}" presName="ParentBackground" presStyleLbl="node1" presStyleIdx="3" presStyleCnt="6"/>
      <dgm:spPr/>
    </dgm:pt>
    <dgm:pt modelId="{2D84E05D-97D7-4B34-8847-6B98B72853D0}" type="pres">
      <dgm:prSet presAssocID="{45A1A86D-E556-44F1-90F5-7F5A9DDC1E4C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C5F5BC29-5D40-43BE-A1C2-6FD56355A287}" type="pres">
      <dgm:prSet presAssocID="{CBD7B56F-2DBA-4B1A-AEBC-DD7EB427CAE9}" presName="Accent1" presStyleCnt="0"/>
      <dgm:spPr/>
    </dgm:pt>
    <dgm:pt modelId="{035E6392-8CBB-4D51-8D96-66CB4605DE7A}" type="pres">
      <dgm:prSet presAssocID="{CBD7B56F-2DBA-4B1A-AEBC-DD7EB427CAE9}" presName="Accent" presStyleLbl="node1" presStyleIdx="4" presStyleCnt="6"/>
      <dgm:spPr/>
    </dgm:pt>
    <dgm:pt modelId="{F0B4B4AE-AFA5-4806-9897-A3F7DD2B8086}" type="pres">
      <dgm:prSet presAssocID="{CBD7B56F-2DBA-4B1A-AEBC-DD7EB427CAE9}" presName="ParentBackground1" presStyleCnt="0"/>
      <dgm:spPr/>
    </dgm:pt>
    <dgm:pt modelId="{FAD66424-DD88-461E-93A4-68CDBFB7BDA2}" type="pres">
      <dgm:prSet presAssocID="{CBD7B56F-2DBA-4B1A-AEBC-DD7EB427CAE9}" presName="ParentBackground" presStyleLbl="node1" presStyleIdx="5" presStyleCnt="6"/>
      <dgm:spPr/>
    </dgm:pt>
    <dgm:pt modelId="{DC77EB3A-AAB2-43D0-9B80-DD6D0482A5B3}" type="pres">
      <dgm:prSet presAssocID="{CBD7B56F-2DBA-4B1A-AEBC-DD7EB427CAE9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EA4D20F-E071-482F-A38E-7845736E2C58}" type="presOf" srcId="{CBD7B56F-2DBA-4B1A-AEBC-DD7EB427CAE9}" destId="{DC77EB3A-AAB2-43D0-9B80-DD6D0482A5B3}" srcOrd="1" destOrd="0" presId="urn:microsoft.com/office/officeart/2018/layout/CircleProcess"/>
    <dgm:cxn modelId="{416DDE2E-F3A3-4BF6-AF2D-2699FD17AECA}" type="presOf" srcId="{A97181FC-F9E1-4AC2-9B0C-EF0A391C438A}" destId="{E7A97CE8-B5D6-4DCE-A04C-45194CCE41B2}" srcOrd="0" destOrd="0" presId="urn:microsoft.com/office/officeart/2018/layout/CircleProcess"/>
    <dgm:cxn modelId="{0BD2E737-3213-43F1-846E-2D8C60876BC8}" srcId="{CEAFBD07-A916-4FD5-9E75-3DCF55741EE0}" destId="{CBD7B56F-2DBA-4B1A-AEBC-DD7EB427CAE9}" srcOrd="0" destOrd="0" parTransId="{FADF265B-8AEA-463B-8592-B7197B93F002}" sibTransId="{62FBDCC3-1415-4908-94C3-8E86D6B77EE7}"/>
    <dgm:cxn modelId="{6A244558-65D7-4FDD-AA16-61754A18B19E}" type="presOf" srcId="{A97181FC-F9E1-4AC2-9B0C-EF0A391C438A}" destId="{688D6E12-CDEC-4745-B4FC-E634925B1254}" srcOrd="1" destOrd="0" presId="urn:microsoft.com/office/officeart/2018/layout/CircleProcess"/>
    <dgm:cxn modelId="{E6730664-4413-47B3-90B5-CF775FD84C76}" type="presOf" srcId="{CBD7B56F-2DBA-4B1A-AEBC-DD7EB427CAE9}" destId="{FAD66424-DD88-461E-93A4-68CDBFB7BDA2}" srcOrd="0" destOrd="0" presId="urn:microsoft.com/office/officeart/2018/layout/CircleProcess"/>
    <dgm:cxn modelId="{E5E05C71-5FDA-467C-A25B-31A95BBD51BA}" srcId="{CEAFBD07-A916-4FD5-9E75-3DCF55741EE0}" destId="{A97181FC-F9E1-4AC2-9B0C-EF0A391C438A}" srcOrd="2" destOrd="0" parTransId="{A2EC4A6E-2ECD-4BB7-BBAD-4EBF83F6B2DF}" sibTransId="{4290234A-B6FC-4061-A080-0766587533C9}"/>
    <dgm:cxn modelId="{4406D37A-4880-4359-B721-370A62715FAA}" srcId="{CEAFBD07-A916-4FD5-9E75-3DCF55741EE0}" destId="{45A1A86D-E556-44F1-90F5-7F5A9DDC1E4C}" srcOrd="1" destOrd="0" parTransId="{7ED5C1B5-03FB-414F-9303-CA63EE14FF07}" sibTransId="{84D3E058-738D-407A-B197-1EFB0B8B65F5}"/>
    <dgm:cxn modelId="{1D88BC7D-51F4-4DA6-AE21-C6EE56F7D48D}" type="presOf" srcId="{CEAFBD07-A916-4FD5-9E75-3DCF55741EE0}" destId="{566529DD-1F67-4EB2-A0FC-61CBFA41B5AA}" srcOrd="0" destOrd="0" presId="urn:microsoft.com/office/officeart/2018/layout/CircleProcess"/>
    <dgm:cxn modelId="{F8F05382-7C95-4C70-9DD4-FB18F96F22B5}" type="presOf" srcId="{45A1A86D-E556-44F1-90F5-7F5A9DDC1E4C}" destId="{2D84E05D-97D7-4B34-8847-6B98B72853D0}" srcOrd="1" destOrd="0" presId="urn:microsoft.com/office/officeart/2018/layout/CircleProcess"/>
    <dgm:cxn modelId="{67D4F4B5-9EB8-412B-83B9-844AEC35020C}" type="presOf" srcId="{45A1A86D-E556-44F1-90F5-7F5A9DDC1E4C}" destId="{20C56419-7B9F-4C42-A304-515C750DC5B6}" srcOrd="0" destOrd="0" presId="urn:microsoft.com/office/officeart/2018/layout/CircleProcess"/>
    <dgm:cxn modelId="{7D1D983B-C44E-4796-AC54-DA68A904258F}" type="presParOf" srcId="{566529DD-1F67-4EB2-A0FC-61CBFA41B5AA}" destId="{BEA5740C-A24C-41FC-BD22-1E57F78DC9E1}" srcOrd="0" destOrd="0" presId="urn:microsoft.com/office/officeart/2018/layout/CircleProcess"/>
    <dgm:cxn modelId="{2FBD6A51-32CE-431D-9325-F315D62A65F6}" type="presParOf" srcId="{BEA5740C-A24C-41FC-BD22-1E57F78DC9E1}" destId="{4F3175E0-F5A2-46DF-B1D9-8B7BA5850BA3}" srcOrd="0" destOrd="0" presId="urn:microsoft.com/office/officeart/2018/layout/CircleProcess"/>
    <dgm:cxn modelId="{41E063E2-5988-4CF7-8E11-1F2C9DF457BD}" type="presParOf" srcId="{566529DD-1F67-4EB2-A0FC-61CBFA41B5AA}" destId="{7A89A04B-2B40-4A7B-B66E-D234AEA8E174}" srcOrd="1" destOrd="0" presId="urn:microsoft.com/office/officeart/2018/layout/CircleProcess"/>
    <dgm:cxn modelId="{B74EA98A-0289-4D1F-A3D2-C00884A0ADD2}" type="presParOf" srcId="{7A89A04B-2B40-4A7B-B66E-D234AEA8E174}" destId="{E7A97CE8-B5D6-4DCE-A04C-45194CCE41B2}" srcOrd="0" destOrd="0" presId="urn:microsoft.com/office/officeart/2018/layout/CircleProcess"/>
    <dgm:cxn modelId="{C1957A6D-B1F3-43BC-8710-997C0BAFBB09}" type="presParOf" srcId="{566529DD-1F67-4EB2-A0FC-61CBFA41B5AA}" destId="{688D6E12-CDEC-4745-B4FC-E634925B1254}" srcOrd="2" destOrd="0" presId="urn:microsoft.com/office/officeart/2018/layout/CircleProcess"/>
    <dgm:cxn modelId="{78F59F62-82C7-4A46-8A3C-FDD33CC0C348}" type="presParOf" srcId="{566529DD-1F67-4EB2-A0FC-61CBFA41B5AA}" destId="{BA21A6E4-E756-4016-ACE8-11963B9FF634}" srcOrd="3" destOrd="0" presId="urn:microsoft.com/office/officeart/2018/layout/CircleProcess"/>
    <dgm:cxn modelId="{0789B354-DB8F-44C6-AD8E-312E937BCE7D}" type="presParOf" srcId="{BA21A6E4-E756-4016-ACE8-11963B9FF634}" destId="{062524D4-FA8D-4295-A976-3EE07E686946}" srcOrd="0" destOrd="0" presId="urn:microsoft.com/office/officeart/2018/layout/CircleProcess"/>
    <dgm:cxn modelId="{E19991E1-F049-4819-B247-941BE5D8854F}" type="presParOf" srcId="{566529DD-1F67-4EB2-A0FC-61CBFA41B5AA}" destId="{D840349D-B27B-493D-B263-5DCB127CACEB}" srcOrd="4" destOrd="0" presId="urn:microsoft.com/office/officeart/2018/layout/CircleProcess"/>
    <dgm:cxn modelId="{7CBACB7A-DC27-4A2B-89FA-CC7B4DE713EB}" type="presParOf" srcId="{D840349D-B27B-493D-B263-5DCB127CACEB}" destId="{20C56419-7B9F-4C42-A304-515C750DC5B6}" srcOrd="0" destOrd="0" presId="urn:microsoft.com/office/officeart/2018/layout/CircleProcess"/>
    <dgm:cxn modelId="{7DC4FB34-128A-4761-9B46-DFE55F31F711}" type="presParOf" srcId="{566529DD-1F67-4EB2-A0FC-61CBFA41B5AA}" destId="{2D84E05D-97D7-4B34-8847-6B98B72853D0}" srcOrd="5" destOrd="0" presId="urn:microsoft.com/office/officeart/2018/layout/CircleProcess"/>
    <dgm:cxn modelId="{43C4DF66-A3AC-4489-BDD1-EC14F9BD295E}" type="presParOf" srcId="{566529DD-1F67-4EB2-A0FC-61CBFA41B5AA}" destId="{C5F5BC29-5D40-43BE-A1C2-6FD56355A287}" srcOrd="6" destOrd="0" presId="urn:microsoft.com/office/officeart/2018/layout/CircleProcess"/>
    <dgm:cxn modelId="{20FCAD25-0D95-4482-A9F5-F4A0C9936485}" type="presParOf" srcId="{C5F5BC29-5D40-43BE-A1C2-6FD56355A287}" destId="{035E6392-8CBB-4D51-8D96-66CB4605DE7A}" srcOrd="0" destOrd="0" presId="urn:microsoft.com/office/officeart/2018/layout/CircleProcess"/>
    <dgm:cxn modelId="{726CB74A-9F33-48CA-BA90-335D44C26DBC}" type="presParOf" srcId="{566529DD-1F67-4EB2-A0FC-61CBFA41B5AA}" destId="{F0B4B4AE-AFA5-4806-9897-A3F7DD2B8086}" srcOrd="7" destOrd="0" presId="urn:microsoft.com/office/officeart/2018/layout/CircleProcess"/>
    <dgm:cxn modelId="{4F47FD10-0EB0-4251-A2B9-9338A735FDE3}" type="presParOf" srcId="{F0B4B4AE-AFA5-4806-9897-A3F7DD2B8086}" destId="{FAD66424-DD88-461E-93A4-68CDBFB7BDA2}" srcOrd="0" destOrd="0" presId="urn:microsoft.com/office/officeart/2018/layout/CircleProcess"/>
    <dgm:cxn modelId="{BC183F41-9071-45E6-AC51-8007EC05311D}" type="presParOf" srcId="{566529DD-1F67-4EB2-A0FC-61CBFA41B5AA}" destId="{DC77EB3A-AAB2-43D0-9B80-DD6D0482A5B3}" srcOrd="8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65E414-5987-4C23-A661-0572055EAC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6EDA6B-FC1F-4E50-A3E1-6C00E47E850E}">
      <dgm:prSet custT="1"/>
      <dgm:spPr/>
      <dgm:t>
        <a:bodyPr/>
        <a:lstStyle/>
        <a:p>
          <a:r>
            <a:rPr lang="ko-KR" sz="1600" dirty="0"/>
            <a:t>기존 이상 탐지 모델</a:t>
          </a:r>
          <a:r>
            <a:rPr lang="en-US" sz="1600" dirty="0"/>
            <a:t>(</a:t>
          </a:r>
          <a:r>
            <a:rPr lang="ko-KR" sz="1600" dirty="0"/>
            <a:t>LSTM</a:t>
          </a:r>
          <a:r>
            <a:rPr lang="en-US" altLang="ko-KR" sz="1600" dirty="0"/>
            <a:t>-</a:t>
          </a:r>
          <a:r>
            <a:rPr lang="ko-KR" sz="1600" dirty="0" err="1"/>
            <a:t>Autoencoder</a:t>
          </a:r>
          <a:r>
            <a:rPr lang="en-US" altLang="ko-KR" sz="1600" dirty="0"/>
            <a:t> Base</a:t>
          </a:r>
          <a:r>
            <a:rPr lang="en-US" sz="1600" dirty="0"/>
            <a:t>)</a:t>
          </a:r>
          <a:r>
            <a:rPr lang="ko-KR" sz="1600" dirty="0"/>
            <a:t>은 대부분 하나의 모델만 사용하여 현재 상태만 고려</a:t>
          </a:r>
          <a:r>
            <a:rPr lang="ko-KR" altLang="en-US" sz="1600" dirty="0"/>
            <a:t>한다</a:t>
          </a:r>
          <a:r>
            <a:rPr lang="en-US" altLang="ko-KR" sz="1600" dirty="0"/>
            <a:t>. </a:t>
          </a:r>
          <a:r>
            <a:rPr lang="ko-KR" altLang="en-US" sz="1600" dirty="0"/>
            <a:t>즉 아무리 좋은 모델이어도 </a:t>
          </a:r>
          <a:r>
            <a:rPr lang="en-US" altLang="ko-KR" sz="1600" dirty="0"/>
            <a:t>Auto-encoder </a:t>
          </a:r>
          <a:r>
            <a:rPr lang="ko-KR" altLang="en-US" sz="1600" dirty="0"/>
            <a:t>모델은 </a:t>
          </a:r>
          <a:r>
            <a:rPr lang="ko-KR" sz="1600" dirty="0"/>
            <a:t>시간적 의존성</a:t>
          </a:r>
          <a:r>
            <a:rPr lang="en-US" altLang="ko-KR" sz="1600" dirty="0"/>
            <a:t> </a:t>
          </a:r>
          <a:r>
            <a:rPr lang="ko-KR" altLang="en-US" sz="1600" dirty="0"/>
            <a:t>문제가 발생</a:t>
          </a:r>
          <a:endParaRPr lang="en-US" sz="1600" dirty="0"/>
        </a:p>
      </dgm:t>
    </dgm:pt>
    <dgm:pt modelId="{3F5CBC5E-F6B0-44CB-B3E6-94AA62552DE0}" type="parTrans" cxnId="{43B4426B-B780-4927-97B2-7E73A91C6263}">
      <dgm:prSet/>
      <dgm:spPr/>
      <dgm:t>
        <a:bodyPr/>
        <a:lstStyle/>
        <a:p>
          <a:endParaRPr lang="en-US"/>
        </a:p>
      </dgm:t>
    </dgm:pt>
    <dgm:pt modelId="{B8C70201-F68D-45A5-A13F-9977E5C8B40B}" type="sibTrans" cxnId="{43B4426B-B780-4927-97B2-7E73A91C6263}">
      <dgm:prSet/>
      <dgm:spPr/>
      <dgm:t>
        <a:bodyPr/>
        <a:lstStyle/>
        <a:p>
          <a:endParaRPr lang="en-US"/>
        </a:p>
      </dgm:t>
    </dgm:pt>
    <dgm:pt modelId="{743EEEEC-0A8B-4A33-B0D8-18FE41F0D780}">
      <dgm:prSet custT="1"/>
      <dgm:spPr/>
      <dgm:t>
        <a:bodyPr/>
        <a:lstStyle/>
        <a:p>
          <a:r>
            <a:rPr lang="ko-KR" sz="1600" dirty="0"/>
            <a:t>하지만 배터리 열폭주는</a:t>
          </a:r>
          <a:r>
            <a:rPr lang="en-US" sz="1600" dirty="0"/>
            <a:t> </a:t>
          </a:r>
          <a:r>
            <a:rPr lang="ko-KR" sz="1600" dirty="0"/>
            <a:t>현재 상태의 이상 징후와 앞으로 발생할 위험을 동시에 고려해야 더욱 신뢰성 있는 조기 탐지가 가능</a:t>
          </a:r>
          <a:r>
            <a:rPr lang="ko-KR" altLang="en-US" sz="1600" dirty="0"/>
            <a:t>하다</a:t>
          </a:r>
          <a:r>
            <a:rPr lang="en-US" altLang="ko-KR" sz="1600" dirty="0"/>
            <a:t>.</a:t>
          </a:r>
          <a:endParaRPr lang="en-US" sz="1600" dirty="0"/>
        </a:p>
      </dgm:t>
    </dgm:pt>
    <dgm:pt modelId="{22599485-839E-44F5-897C-248AF809D3E9}" type="parTrans" cxnId="{21BDD578-8EC0-4692-BD23-A9938BB494F0}">
      <dgm:prSet/>
      <dgm:spPr/>
      <dgm:t>
        <a:bodyPr/>
        <a:lstStyle/>
        <a:p>
          <a:endParaRPr lang="en-US"/>
        </a:p>
      </dgm:t>
    </dgm:pt>
    <dgm:pt modelId="{17976079-CC54-4265-8B5A-F0495FD2356F}" type="sibTrans" cxnId="{21BDD578-8EC0-4692-BD23-A9938BB494F0}">
      <dgm:prSet/>
      <dgm:spPr/>
      <dgm:t>
        <a:bodyPr/>
        <a:lstStyle/>
        <a:p>
          <a:endParaRPr lang="en-US"/>
        </a:p>
      </dgm:t>
    </dgm:pt>
    <dgm:pt modelId="{374FEB53-27F7-4B12-8E31-C48D129DA572}">
      <dgm:prSet custT="1"/>
      <dgm:spPr/>
      <dgm:t>
        <a:bodyPr/>
        <a:lstStyle/>
        <a:p>
          <a:r>
            <a:rPr lang="ko-KR" altLang="en-US" sz="1600" b="1" dirty="0"/>
            <a:t>따라서 </a:t>
          </a:r>
          <a:r>
            <a:rPr lang="ko-KR" sz="1600" b="1" dirty="0"/>
            <a:t>본 프로젝트에서는 LSTM Auto</a:t>
          </a:r>
          <a:r>
            <a:rPr lang="en-US" altLang="ko-KR" sz="1600" b="1" dirty="0"/>
            <a:t>-</a:t>
          </a:r>
          <a:r>
            <a:rPr lang="ko-KR" sz="1600" b="1" dirty="0" err="1"/>
            <a:t>encoder와</a:t>
          </a:r>
          <a:r>
            <a:rPr lang="ko-KR" sz="1600" b="1" dirty="0"/>
            <a:t> </a:t>
          </a:r>
          <a:r>
            <a:rPr lang="ko-KR" sz="1600" b="1" dirty="0" err="1"/>
            <a:t>Informer</a:t>
          </a:r>
          <a:r>
            <a:rPr lang="ko-KR" sz="1600" b="1" dirty="0"/>
            <a:t> 를 병렬적으로 적용하여</a:t>
          </a:r>
          <a:r>
            <a:rPr lang="en-US" sz="1600" b="1" dirty="0"/>
            <a:t> </a:t>
          </a:r>
          <a:r>
            <a:rPr lang="ko-KR" sz="1600" b="1" dirty="0"/>
            <a:t>각 모델이 계산한 이상 점수를 하나의 최종 점수로 융합해 배터리 상태를 진단하는 </a:t>
          </a:r>
          <a:r>
            <a:rPr lang="ko-KR" sz="1600" b="1" dirty="0" err="1"/>
            <a:t>Hybrid</a:t>
          </a:r>
          <a:r>
            <a:rPr lang="ko-KR" sz="1600" b="1" dirty="0"/>
            <a:t> AI </a:t>
          </a:r>
          <a:r>
            <a:rPr lang="en-US" sz="1600" b="1" dirty="0"/>
            <a:t>Algorithm </a:t>
          </a:r>
          <a:r>
            <a:rPr lang="ko-KR" sz="1600" b="1" dirty="0"/>
            <a:t>제안</a:t>
          </a:r>
          <a:endParaRPr lang="en-US" sz="1600" b="1" dirty="0"/>
        </a:p>
      </dgm:t>
    </dgm:pt>
    <dgm:pt modelId="{3863FDB0-2EF3-45EA-87FF-6B892175E68C}" type="parTrans" cxnId="{B44DDC67-E30B-4621-A7E2-6C2399C5F092}">
      <dgm:prSet/>
      <dgm:spPr/>
      <dgm:t>
        <a:bodyPr/>
        <a:lstStyle/>
        <a:p>
          <a:endParaRPr lang="en-US"/>
        </a:p>
      </dgm:t>
    </dgm:pt>
    <dgm:pt modelId="{00B2F83B-79F9-4942-A614-D9B3438A28FB}" type="sibTrans" cxnId="{B44DDC67-E30B-4621-A7E2-6C2399C5F092}">
      <dgm:prSet/>
      <dgm:spPr/>
      <dgm:t>
        <a:bodyPr/>
        <a:lstStyle/>
        <a:p>
          <a:endParaRPr lang="en-US"/>
        </a:p>
      </dgm:t>
    </dgm:pt>
    <dgm:pt modelId="{FEB7392B-D2D6-4831-B5FC-8F99E6A0213C}">
      <dgm:prSet custT="1"/>
      <dgm:spPr/>
      <dgm:t>
        <a:bodyPr/>
        <a:lstStyle/>
        <a:p>
          <a:r>
            <a:rPr lang="ko-KR" sz="1600" b="1" dirty="0"/>
            <a:t>하나의 모델에 의존하지 않고, </a:t>
          </a:r>
          <a:r>
            <a:rPr lang="ko-KR" altLang="en-US" sz="1600" b="1" dirty="0"/>
            <a:t>분석 관점</a:t>
          </a:r>
          <a:r>
            <a:rPr lang="ko-KR" sz="1600" b="1" dirty="0"/>
            <a:t>이 다른 두 개의 AI 모델이 배터리를 교차 감시해 신뢰성</a:t>
          </a:r>
          <a:r>
            <a:rPr lang="en-US" sz="1600" b="1" dirty="0"/>
            <a:t>, </a:t>
          </a:r>
          <a:r>
            <a:rPr lang="ko-KR" sz="1600" b="1" dirty="0"/>
            <a:t>정확도 극대화</a:t>
          </a:r>
          <a:endParaRPr lang="en-US" sz="1600" b="1" dirty="0"/>
        </a:p>
      </dgm:t>
    </dgm:pt>
    <dgm:pt modelId="{DB589791-7895-4197-B936-0E891838908F}" type="parTrans" cxnId="{319AEC81-784B-4BC4-8F95-A203B8724804}">
      <dgm:prSet/>
      <dgm:spPr/>
      <dgm:t>
        <a:bodyPr/>
        <a:lstStyle/>
        <a:p>
          <a:endParaRPr lang="en-US"/>
        </a:p>
      </dgm:t>
    </dgm:pt>
    <dgm:pt modelId="{EFE7B3EE-88B3-4A76-A7E7-F48CD3404B01}" type="sibTrans" cxnId="{319AEC81-784B-4BC4-8F95-A203B8724804}">
      <dgm:prSet/>
      <dgm:spPr/>
      <dgm:t>
        <a:bodyPr/>
        <a:lstStyle/>
        <a:p>
          <a:endParaRPr lang="en-US"/>
        </a:p>
      </dgm:t>
    </dgm:pt>
    <dgm:pt modelId="{29F5843F-91C2-4180-8A8F-016D0EAD14DD}" type="pres">
      <dgm:prSet presAssocID="{8565E414-5987-4C23-A661-0572055EACFB}" presName="vert0" presStyleCnt="0">
        <dgm:presLayoutVars>
          <dgm:dir/>
          <dgm:animOne val="branch"/>
          <dgm:animLvl val="lvl"/>
        </dgm:presLayoutVars>
      </dgm:prSet>
      <dgm:spPr/>
    </dgm:pt>
    <dgm:pt modelId="{1661B5E1-A702-46EB-9D96-23193F811331}" type="pres">
      <dgm:prSet presAssocID="{FE6EDA6B-FC1F-4E50-A3E1-6C00E47E850E}" presName="thickLine" presStyleLbl="alignNode1" presStyleIdx="0" presStyleCnt="4"/>
      <dgm:spPr/>
    </dgm:pt>
    <dgm:pt modelId="{239D2658-D6E0-4175-9C10-A490101A79BF}" type="pres">
      <dgm:prSet presAssocID="{FE6EDA6B-FC1F-4E50-A3E1-6C00E47E850E}" presName="horz1" presStyleCnt="0"/>
      <dgm:spPr/>
    </dgm:pt>
    <dgm:pt modelId="{B1EE46B2-C3BF-4A77-8E60-15A072A6BDD0}" type="pres">
      <dgm:prSet presAssocID="{FE6EDA6B-FC1F-4E50-A3E1-6C00E47E850E}" presName="tx1" presStyleLbl="revTx" presStyleIdx="0" presStyleCnt="4"/>
      <dgm:spPr/>
    </dgm:pt>
    <dgm:pt modelId="{92B9F571-8F36-4563-BB3A-F431453C0BCB}" type="pres">
      <dgm:prSet presAssocID="{FE6EDA6B-FC1F-4E50-A3E1-6C00E47E850E}" presName="vert1" presStyleCnt="0"/>
      <dgm:spPr/>
    </dgm:pt>
    <dgm:pt modelId="{8E54C145-340A-4ABA-AA0F-236FF099F6ED}" type="pres">
      <dgm:prSet presAssocID="{743EEEEC-0A8B-4A33-B0D8-18FE41F0D780}" presName="thickLine" presStyleLbl="alignNode1" presStyleIdx="1" presStyleCnt="4"/>
      <dgm:spPr/>
    </dgm:pt>
    <dgm:pt modelId="{35D02620-0F2B-49AF-8637-1BE3D5804780}" type="pres">
      <dgm:prSet presAssocID="{743EEEEC-0A8B-4A33-B0D8-18FE41F0D780}" presName="horz1" presStyleCnt="0"/>
      <dgm:spPr/>
    </dgm:pt>
    <dgm:pt modelId="{C6AB709E-30D1-4BAA-BD11-F54EDCE3CD18}" type="pres">
      <dgm:prSet presAssocID="{743EEEEC-0A8B-4A33-B0D8-18FE41F0D780}" presName="tx1" presStyleLbl="revTx" presStyleIdx="1" presStyleCnt="4"/>
      <dgm:spPr/>
    </dgm:pt>
    <dgm:pt modelId="{413A7211-4AEF-4545-868E-1671B1D72C13}" type="pres">
      <dgm:prSet presAssocID="{743EEEEC-0A8B-4A33-B0D8-18FE41F0D780}" presName="vert1" presStyleCnt="0"/>
      <dgm:spPr/>
    </dgm:pt>
    <dgm:pt modelId="{8B4A236D-9C92-4896-B5A9-60E996A277F7}" type="pres">
      <dgm:prSet presAssocID="{374FEB53-27F7-4B12-8E31-C48D129DA572}" presName="thickLine" presStyleLbl="alignNode1" presStyleIdx="2" presStyleCnt="4"/>
      <dgm:spPr/>
    </dgm:pt>
    <dgm:pt modelId="{86001484-E7F4-4F1E-BB1F-AB233CA17D06}" type="pres">
      <dgm:prSet presAssocID="{374FEB53-27F7-4B12-8E31-C48D129DA572}" presName="horz1" presStyleCnt="0"/>
      <dgm:spPr/>
    </dgm:pt>
    <dgm:pt modelId="{D0B6F14B-AEE8-44B1-83DC-D0C2326C4DBD}" type="pres">
      <dgm:prSet presAssocID="{374FEB53-27F7-4B12-8E31-C48D129DA572}" presName="tx1" presStyleLbl="revTx" presStyleIdx="2" presStyleCnt="4"/>
      <dgm:spPr/>
    </dgm:pt>
    <dgm:pt modelId="{2CE39D40-BE57-45D1-918E-AF8A8513405A}" type="pres">
      <dgm:prSet presAssocID="{374FEB53-27F7-4B12-8E31-C48D129DA572}" presName="vert1" presStyleCnt="0"/>
      <dgm:spPr/>
    </dgm:pt>
    <dgm:pt modelId="{90D2D180-AED8-44B5-BE74-F3FB9AC324A2}" type="pres">
      <dgm:prSet presAssocID="{FEB7392B-D2D6-4831-B5FC-8F99E6A0213C}" presName="thickLine" presStyleLbl="alignNode1" presStyleIdx="3" presStyleCnt="4"/>
      <dgm:spPr/>
    </dgm:pt>
    <dgm:pt modelId="{9064BD5E-7643-4B4B-8840-64E752C5CABA}" type="pres">
      <dgm:prSet presAssocID="{FEB7392B-D2D6-4831-B5FC-8F99E6A0213C}" presName="horz1" presStyleCnt="0"/>
      <dgm:spPr/>
    </dgm:pt>
    <dgm:pt modelId="{BBE07B02-F037-48A3-BA88-ECD2EB554E98}" type="pres">
      <dgm:prSet presAssocID="{FEB7392B-D2D6-4831-B5FC-8F99E6A0213C}" presName="tx1" presStyleLbl="revTx" presStyleIdx="3" presStyleCnt="4"/>
      <dgm:spPr/>
    </dgm:pt>
    <dgm:pt modelId="{669AF9A9-EB09-4FDA-8854-3D7748C63066}" type="pres">
      <dgm:prSet presAssocID="{FEB7392B-D2D6-4831-B5FC-8F99E6A0213C}" presName="vert1" presStyleCnt="0"/>
      <dgm:spPr/>
    </dgm:pt>
  </dgm:ptLst>
  <dgm:cxnLst>
    <dgm:cxn modelId="{E8D51311-A478-40B2-98FE-780BC187B9E3}" type="presOf" srcId="{374FEB53-27F7-4B12-8E31-C48D129DA572}" destId="{D0B6F14B-AEE8-44B1-83DC-D0C2326C4DBD}" srcOrd="0" destOrd="0" presId="urn:microsoft.com/office/officeart/2008/layout/LinedList"/>
    <dgm:cxn modelId="{28598246-EC7D-462A-9825-F8A2501F12E6}" type="presOf" srcId="{743EEEEC-0A8B-4A33-B0D8-18FE41F0D780}" destId="{C6AB709E-30D1-4BAA-BD11-F54EDCE3CD18}" srcOrd="0" destOrd="0" presId="urn:microsoft.com/office/officeart/2008/layout/LinedList"/>
    <dgm:cxn modelId="{83D78C59-062F-4555-AD2B-5F348B7440FB}" type="presOf" srcId="{FEB7392B-D2D6-4831-B5FC-8F99E6A0213C}" destId="{BBE07B02-F037-48A3-BA88-ECD2EB554E98}" srcOrd="0" destOrd="0" presId="urn:microsoft.com/office/officeart/2008/layout/LinedList"/>
    <dgm:cxn modelId="{B44DDC67-E30B-4621-A7E2-6C2399C5F092}" srcId="{8565E414-5987-4C23-A661-0572055EACFB}" destId="{374FEB53-27F7-4B12-8E31-C48D129DA572}" srcOrd="2" destOrd="0" parTransId="{3863FDB0-2EF3-45EA-87FF-6B892175E68C}" sibTransId="{00B2F83B-79F9-4942-A614-D9B3438A28FB}"/>
    <dgm:cxn modelId="{43B4426B-B780-4927-97B2-7E73A91C6263}" srcId="{8565E414-5987-4C23-A661-0572055EACFB}" destId="{FE6EDA6B-FC1F-4E50-A3E1-6C00E47E850E}" srcOrd="0" destOrd="0" parTransId="{3F5CBC5E-F6B0-44CB-B3E6-94AA62552DE0}" sibTransId="{B8C70201-F68D-45A5-A13F-9977E5C8B40B}"/>
    <dgm:cxn modelId="{48F9A576-2A71-4799-A3AE-4B270A9895B5}" type="presOf" srcId="{8565E414-5987-4C23-A661-0572055EACFB}" destId="{29F5843F-91C2-4180-8A8F-016D0EAD14DD}" srcOrd="0" destOrd="0" presId="urn:microsoft.com/office/officeart/2008/layout/LinedList"/>
    <dgm:cxn modelId="{21BDD578-8EC0-4692-BD23-A9938BB494F0}" srcId="{8565E414-5987-4C23-A661-0572055EACFB}" destId="{743EEEEC-0A8B-4A33-B0D8-18FE41F0D780}" srcOrd="1" destOrd="0" parTransId="{22599485-839E-44F5-897C-248AF809D3E9}" sibTransId="{17976079-CC54-4265-8B5A-F0495FD2356F}"/>
    <dgm:cxn modelId="{09F73779-0DEE-4E79-9BE6-5834DF150159}" type="presOf" srcId="{FE6EDA6B-FC1F-4E50-A3E1-6C00E47E850E}" destId="{B1EE46B2-C3BF-4A77-8E60-15A072A6BDD0}" srcOrd="0" destOrd="0" presId="urn:microsoft.com/office/officeart/2008/layout/LinedList"/>
    <dgm:cxn modelId="{319AEC81-784B-4BC4-8F95-A203B8724804}" srcId="{8565E414-5987-4C23-A661-0572055EACFB}" destId="{FEB7392B-D2D6-4831-B5FC-8F99E6A0213C}" srcOrd="3" destOrd="0" parTransId="{DB589791-7895-4197-B936-0E891838908F}" sibTransId="{EFE7B3EE-88B3-4A76-A7E7-F48CD3404B01}"/>
    <dgm:cxn modelId="{22819B8D-1FE5-49EE-BB73-A126C168C07E}" type="presParOf" srcId="{29F5843F-91C2-4180-8A8F-016D0EAD14DD}" destId="{1661B5E1-A702-46EB-9D96-23193F811331}" srcOrd="0" destOrd="0" presId="urn:microsoft.com/office/officeart/2008/layout/LinedList"/>
    <dgm:cxn modelId="{A90317EA-9093-473F-BABD-912A76CD7A45}" type="presParOf" srcId="{29F5843F-91C2-4180-8A8F-016D0EAD14DD}" destId="{239D2658-D6E0-4175-9C10-A490101A79BF}" srcOrd="1" destOrd="0" presId="urn:microsoft.com/office/officeart/2008/layout/LinedList"/>
    <dgm:cxn modelId="{F91C2555-91CB-42F2-AE4E-0ABDE8A8FA09}" type="presParOf" srcId="{239D2658-D6E0-4175-9C10-A490101A79BF}" destId="{B1EE46B2-C3BF-4A77-8E60-15A072A6BDD0}" srcOrd="0" destOrd="0" presId="urn:microsoft.com/office/officeart/2008/layout/LinedList"/>
    <dgm:cxn modelId="{DA5B10B1-E883-4AB3-AACE-C0A4EB9DAD64}" type="presParOf" srcId="{239D2658-D6E0-4175-9C10-A490101A79BF}" destId="{92B9F571-8F36-4563-BB3A-F431453C0BCB}" srcOrd="1" destOrd="0" presId="urn:microsoft.com/office/officeart/2008/layout/LinedList"/>
    <dgm:cxn modelId="{B5A89AE9-7960-4BEA-A7EA-C2D5FD64C147}" type="presParOf" srcId="{29F5843F-91C2-4180-8A8F-016D0EAD14DD}" destId="{8E54C145-340A-4ABA-AA0F-236FF099F6ED}" srcOrd="2" destOrd="0" presId="urn:microsoft.com/office/officeart/2008/layout/LinedList"/>
    <dgm:cxn modelId="{0A6F97AC-5394-466A-BDBC-E84425702B6C}" type="presParOf" srcId="{29F5843F-91C2-4180-8A8F-016D0EAD14DD}" destId="{35D02620-0F2B-49AF-8637-1BE3D5804780}" srcOrd="3" destOrd="0" presId="urn:microsoft.com/office/officeart/2008/layout/LinedList"/>
    <dgm:cxn modelId="{6C35CA5F-7146-4AB0-BCA1-D34ED209C0E1}" type="presParOf" srcId="{35D02620-0F2B-49AF-8637-1BE3D5804780}" destId="{C6AB709E-30D1-4BAA-BD11-F54EDCE3CD18}" srcOrd="0" destOrd="0" presId="urn:microsoft.com/office/officeart/2008/layout/LinedList"/>
    <dgm:cxn modelId="{7E598470-0014-44DC-A0AE-D52452ADE19B}" type="presParOf" srcId="{35D02620-0F2B-49AF-8637-1BE3D5804780}" destId="{413A7211-4AEF-4545-868E-1671B1D72C13}" srcOrd="1" destOrd="0" presId="urn:microsoft.com/office/officeart/2008/layout/LinedList"/>
    <dgm:cxn modelId="{85FBCF25-38BA-43BD-9566-3579BF5DF41E}" type="presParOf" srcId="{29F5843F-91C2-4180-8A8F-016D0EAD14DD}" destId="{8B4A236D-9C92-4896-B5A9-60E996A277F7}" srcOrd="4" destOrd="0" presId="urn:microsoft.com/office/officeart/2008/layout/LinedList"/>
    <dgm:cxn modelId="{97772644-BE8E-4D95-8F7D-BCD4BCF95F71}" type="presParOf" srcId="{29F5843F-91C2-4180-8A8F-016D0EAD14DD}" destId="{86001484-E7F4-4F1E-BB1F-AB233CA17D06}" srcOrd="5" destOrd="0" presId="urn:microsoft.com/office/officeart/2008/layout/LinedList"/>
    <dgm:cxn modelId="{93363069-D7E5-4CC2-87B1-C11C66173075}" type="presParOf" srcId="{86001484-E7F4-4F1E-BB1F-AB233CA17D06}" destId="{D0B6F14B-AEE8-44B1-83DC-D0C2326C4DBD}" srcOrd="0" destOrd="0" presId="urn:microsoft.com/office/officeart/2008/layout/LinedList"/>
    <dgm:cxn modelId="{3580C694-C385-430C-84D3-DBD0FF790ADB}" type="presParOf" srcId="{86001484-E7F4-4F1E-BB1F-AB233CA17D06}" destId="{2CE39D40-BE57-45D1-918E-AF8A8513405A}" srcOrd="1" destOrd="0" presId="urn:microsoft.com/office/officeart/2008/layout/LinedList"/>
    <dgm:cxn modelId="{5C537C73-324E-4C1B-BF89-32172C60930B}" type="presParOf" srcId="{29F5843F-91C2-4180-8A8F-016D0EAD14DD}" destId="{90D2D180-AED8-44B5-BE74-F3FB9AC324A2}" srcOrd="6" destOrd="0" presId="urn:microsoft.com/office/officeart/2008/layout/LinedList"/>
    <dgm:cxn modelId="{6BAE88B1-D8F2-4CAF-8223-D3F67E1317EB}" type="presParOf" srcId="{29F5843F-91C2-4180-8A8F-016D0EAD14DD}" destId="{9064BD5E-7643-4B4B-8840-64E752C5CABA}" srcOrd="7" destOrd="0" presId="urn:microsoft.com/office/officeart/2008/layout/LinedList"/>
    <dgm:cxn modelId="{4D97B13D-7884-42F3-9989-EB910A1B472C}" type="presParOf" srcId="{9064BD5E-7643-4B4B-8840-64E752C5CABA}" destId="{BBE07B02-F037-48A3-BA88-ECD2EB554E98}" srcOrd="0" destOrd="0" presId="urn:microsoft.com/office/officeart/2008/layout/LinedList"/>
    <dgm:cxn modelId="{7CADC6C4-7783-4649-9907-1608467BDB84}" type="presParOf" srcId="{9064BD5E-7643-4B4B-8840-64E752C5CABA}" destId="{669AF9A9-EB09-4FDA-8854-3D7748C630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175E0-F5A2-46DF-B1D9-8B7BA5850BA3}">
      <dsp:nvSpPr>
        <dsp:cNvPr id="0" name=""/>
        <dsp:cNvSpPr/>
      </dsp:nvSpPr>
      <dsp:spPr>
        <a:xfrm>
          <a:off x="5734088" y="865032"/>
          <a:ext cx="2291448" cy="22918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97CE8-B5D6-4DCE-A04C-45194CCE41B2}">
      <dsp:nvSpPr>
        <dsp:cNvPr id="0" name=""/>
        <dsp:cNvSpPr/>
      </dsp:nvSpPr>
      <dsp:spPr>
        <a:xfrm>
          <a:off x="5810171" y="941441"/>
          <a:ext cx="2139282" cy="2139054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3. Algorithm </a:t>
          </a:r>
          <a:r>
            <a:rPr lang="ko-KR" altLang="en-US" sz="1800" b="1" kern="1200" dirty="0"/>
            <a:t>실험 설계</a:t>
          </a:r>
          <a:endParaRPr lang="en-US" sz="1800" kern="1200" dirty="0"/>
        </a:p>
      </dsp:txBody>
      <dsp:txXfrm>
        <a:off x="6115996" y="1247078"/>
        <a:ext cx="1527632" cy="1527781"/>
      </dsp:txXfrm>
    </dsp:sp>
    <dsp:sp modelId="{062524D4-FA8D-4295-A976-3EE07E686946}">
      <dsp:nvSpPr>
        <dsp:cNvPr id="0" name=""/>
        <dsp:cNvSpPr/>
      </dsp:nvSpPr>
      <dsp:spPr>
        <a:xfrm rot="2700000">
          <a:off x="3368570" y="867802"/>
          <a:ext cx="2285929" cy="228592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56419-7B9F-4C42-A304-515C750DC5B6}">
      <dsp:nvSpPr>
        <dsp:cNvPr id="0" name=""/>
        <dsp:cNvSpPr/>
      </dsp:nvSpPr>
      <dsp:spPr>
        <a:xfrm>
          <a:off x="3441893" y="941441"/>
          <a:ext cx="2139282" cy="2139054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2. Algorithm update &amp; Architecture </a:t>
          </a:r>
          <a:r>
            <a:rPr lang="ko-KR" altLang="en-US" sz="1800" b="1" kern="1200" dirty="0"/>
            <a:t>설계</a:t>
          </a:r>
          <a:r>
            <a:rPr lang="en-US" sz="1800" b="1" kern="1200" dirty="0"/>
            <a:t> </a:t>
          </a:r>
          <a:endParaRPr lang="en-US" sz="1800" kern="1200" dirty="0"/>
        </a:p>
      </dsp:txBody>
      <dsp:txXfrm>
        <a:off x="3747718" y="1247078"/>
        <a:ext cx="1527632" cy="1527781"/>
      </dsp:txXfrm>
    </dsp:sp>
    <dsp:sp modelId="{035E6392-8CBB-4D51-8D96-66CB4605DE7A}">
      <dsp:nvSpPr>
        <dsp:cNvPr id="0" name=""/>
        <dsp:cNvSpPr/>
      </dsp:nvSpPr>
      <dsp:spPr>
        <a:xfrm rot="2700000">
          <a:off x="1000292" y="867802"/>
          <a:ext cx="2285929" cy="228592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66424-DD88-461E-93A4-68CDBFB7BDA2}">
      <dsp:nvSpPr>
        <dsp:cNvPr id="0" name=""/>
        <dsp:cNvSpPr/>
      </dsp:nvSpPr>
      <dsp:spPr>
        <a:xfrm>
          <a:off x="1073615" y="941441"/>
          <a:ext cx="2139282" cy="2139054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1.  </a:t>
          </a:r>
          <a:r>
            <a:rPr lang="en-US" altLang="ko-KR" sz="1800" b="1" kern="1200" dirty="0"/>
            <a:t>Input </a:t>
          </a:r>
          <a:r>
            <a:rPr lang="ko-KR" altLang="en-US" sz="1800" b="1" kern="1200" dirty="0"/>
            <a:t>정의</a:t>
          </a:r>
          <a:endParaRPr lang="en-US" sz="1800" kern="1200" dirty="0"/>
        </a:p>
      </dsp:txBody>
      <dsp:txXfrm>
        <a:off x="1379440" y="1247078"/>
        <a:ext cx="1527632" cy="1527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1B5E1-A702-46EB-9D96-23193F811331}">
      <dsp:nvSpPr>
        <dsp:cNvPr id="0" name=""/>
        <dsp:cNvSpPr/>
      </dsp:nvSpPr>
      <dsp:spPr>
        <a:xfrm>
          <a:off x="0" y="0"/>
          <a:ext cx="883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E46B2-C3BF-4A77-8E60-15A072A6BDD0}">
      <dsp:nvSpPr>
        <dsp:cNvPr id="0" name=""/>
        <dsp:cNvSpPr/>
      </dsp:nvSpPr>
      <dsp:spPr>
        <a:xfrm>
          <a:off x="0" y="0"/>
          <a:ext cx="8839378" cy="1066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 dirty="0"/>
            <a:t>기존 이상 탐지 모델</a:t>
          </a:r>
          <a:r>
            <a:rPr lang="en-US" sz="1600" kern="1200" dirty="0"/>
            <a:t>(</a:t>
          </a:r>
          <a:r>
            <a:rPr lang="ko-KR" sz="1600" kern="1200" dirty="0"/>
            <a:t>LSTM</a:t>
          </a:r>
          <a:r>
            <a:rPr lang="en-US" altLang="ko-KR" sz="1600" kern="1200" dirty="0"/>
            <a:t>-</a:t>
          </a:r>
          <a:r>
            <a:rPr lang="ko-KR" sz="1600" kern="1200" dirty="0" err="1"/>
            <a:t>Autoencoder</a:t>
          </a:r>
          <a:r>
            <a:rPr lang="en-US" altLang="ko-KR" sz="1600" kern="1200" dirty="0"/>
            <a:t> Base</a:t>
          </a:r>
          <a:r>
            <a:rPr lang="en-US" sz="1600" kern="1200" dirty="0"/>
            <a:t>)</a:t>
          </a:r>
          <a:r>
            <a:rPr lang="ko-KR" sz="1600" kern="1200" dirty="0"/>
            <a:t>은 대부분 하나의 모델만 사용하여 현재 상태만 고려</a:t>
          </a:r>
          <a:r>
            <a:rPr lang="ko-KR" altLang="en-US" sz="1600" kern="1200" dirty="0"/>
            <a:t>한다</a:t>
          </a:r>
          <a:r>
            <a:rPr lang="en-US" altLang="ko-KR" sz="1600" kern="1200" dirty="0"/>
            <a:t>. </a:t>
          </a:r>
          <a:r>
            <a:rPr lang="ko-KR" altLang="en-US" sz="1600" kern="1200" dirty="0"/>
            <a:t>즉 아무리 좋은 모델이어도 </a:t>
          </a:r>
          <a:r>
            <a:rPr lang="en-US" altLang="ko-KR" sz="1600" kern="1200" dirty="0"/>
            <a:t>Auto-encoder </a:t>
          </a:r>
          <a:r>
            <a:rPr lang="ko-KR" altLang="en-US" sz="1600" kern="1200" dirty="0"/>
            <a:t>모델은 </a:t>
          </a:r>
          <a:r>
            <a:rPr lang="ko-KR" sz="1600" kern="1200" dirty="0"/>
            <a:t>시간적 의존성</a:t>
          </a:r>
          <a:r>
            <a:rPr lang="en-US" altLang="ko-KR" sz="1600" kern="1200" dirty="0"/>
            <a:t> </a:t>
          </a:r>
          <a:r>
            <a:rPr lang="ko-KR" altLang="en-US" sz="1600" kern="1200" dirty="0"/>
            <a:t>문제가 발생</a:t>
          </a:r>
          <a:endParaRPr lang="en-US" sz="1600" kern="1200" dirty="0"/>
        </a:p>
      </dsp:txBody>
      <dsp:txXfrm>
        <a:off x="0" y="0"/>
        <a:ext cx="8839378" cy="1066896"/>
      </dsp:txXfrm>
    </dsp:sp>
    <dsp:sp modelId="{8E54C145-340A-4ABA-AA0F-236FF099F6ED}">
      <dsp:nvSpPr>
        <dsp:cNvPr id="0" name=""/>
        <dsp:cNvSpPr/>
      </dsp:nvSpPr>
      <dsp:spPr>
        <a:xfrm>
          <a:off x="0" y="1066896"/>
          <a:ext cx="883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B709E-30D1-4BAA-BD11-F54EDCE3CD18}">
      <dsp:nvSpPr>
        <dsp:cNvPr id="0" name=""/>
        <dsp:cNvSpPr/>
      </dsp:nvSpPr>
      <dsp:spPr>
        <a:xfrm>
          <a:off x="0" y="1066896"/>
          <a:ext cx="8839378" cy="1066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 dirty="0"/>
            <a:t>하지만 배터리 열폭주는</a:t>
          </a:r>
          <a:r>
            <a:rPr lang="en-US" sz="1600" kern="1200" dirty="0"/>
            <a:t> </a:t>
          </a:r>
          <a:r>
            <a:rPr lang="ko-KR" sz="1600" kern="1200" dirty="0"/>
            <a:t>현재 상태의 이상 징후와 앞으로 발생할 위험을 동시에 고려해야 더욱 신뢰성 있는 조기 탐지가 가능</a:t>
          </a:r>
          <a:r>
            <a:rPr lang="ko-KR" altLang="en-US" sz="1600" kern="1200" dirty="0"/>
            <a:t>하다</a:t>
          </a:r>
          <a:r>
            <a:rPr lang="en-US" altLang="ko-KR" sz="1600" kern="1200" dirty="0"/>
            <a:t>.</a:t>
          </a:r>
          <a:endParaRPr lang="en-US" sz="1600" kern="1200" dirty="0"/>
        </a:p>
      </dsp:txBody>
      <dsp:txXfrm>
        <a:off x="0" y="1066896"/>
        <a:ext cx="8839378" cy="1066896"/>
      </dsp:txXfrm>
    </dsp:sp>
    <dsp:sp modelId="{8B4A236D-9C92-4896-B5A9-60E996A277F7}">
      <dsp:nvSpPr>
        <dsp:cNvPr id="0" name=""/>
        <dsp:cNvSpPr/>
      </dsp:nvSpPr>
      <dsp:spPr>
        <a:xfrm>
          <a:off x="0" y="2133793"/>
          <a:ext cx="883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6F14B-AEE8-44B1-83DC-D0C2326C4DBD}">
      <dsp:nvSpPr>
        <dsp:cNvPr id="0" name=""/>
        <dsp:cNvSpPr/>
      </dsp:nvSpPr>
      <dsp:spPr>
        <a:xfrm>
          <a:off x="0" y="2133793"/>
          <a:ext cx="8839378" cy="1066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b="1" kern="1200" dirty="0"/>
            <a:t>따라서 </a:t>
          </a:r>
          <a:r>
            <a:rPr lang="ko-KR" sz="1600" b="1" kern="1200" dirty="0"/>
            <a:t>본 프로젝트에서는 LSTM Auto</a:t>
          </a:r>
          <a:r>
            <a:rPr lang="en-US" altLang="ko-KR" sz="1600" b="1" kern="1200" dirty="0"/>
            <a:t>-</a:t>
          </a:r>
          <a:r>
            <a:rPr lang="ko-KR" sz="1600" b="1" kern="1200" dirty="0" err="1"/>
            <a:t>encoder와</a:t>
          </a:r>
          <a:r>
            <a:rPr lang="ko-KR" sz="1600" b="1" kern="1200" dirty="0"/>
            <a:t> </a:t>
          </a:r>
          <a:r>
            <a:rPr lang="ko-KR" sz="1600" b="1" kern="1200" dirty="0" err="1"/>
            <a:t>Informer</a:t>
          </a:r>
          <a:r>
            <a:rPr lang="ko-KR" sz="1600" b="1" kern="1200" dirty="0"/>
            <a:t> 를 병렬적으로 적용하여</a:t>
          </a:r>
          <a:r>
            <a:rPr lang="en-US" sz="1600" b="1" kern="1200" dirty="0"/>
            <a:t> </a:t>
          </a:r>
          <a:r>
            <a:rPr lang="ko-KR" sz="1600" b="1" kern="1200" dirty="0"/>
            <a:t>각 모델이 계산한 이상 점수를 하나의 최종 점수로 융합해 배터리 상태를 진단하는 </a:t>
          </a:r>
          <a:r>
            <a:rPr lang="ko-KR" sz="1600" b="1" kern="1200" dirty="0" err="1"/>
            <a:t>Hybrid</a:t>
          </a:r>
          <a:r>
            <a:rPr lang="ko-KR" sz="1600" b="1" kern="1200" dirty="0"/>
            <a:t> AI </a:t>
          </a:r>
          <a:r>
            <a:rPr lang="en-US" sz="1600" b="1" kern="1200" dirty="0"/>
            <a:t>Algorithm </a:t>
          </a:r>
          <a:r>
            <a:rPr lang="ko-KR" sz="1600" b="1" kern="1200" dirty="0"/>
            <a:t>제안</a:t>
          </a:r>
          <a:endParaRPr lang="en-US" sz="1600" b="1" kern="1200" dirty="0"/>
        </a:p>
      </dsp:txBody>
      <dsp:txXfrm>
        <a:off x="0" y="2133793"/>
        <a:ext cx="8839378" cy="1066896"/>
      </dsp:txXfrm>
    </dsp:sp>
    <dsp:sp modelId="{90D2D180-AED8-44B5-BE74-F3FB9AC324A2}">
      <dsp:nvSpPr>
        <dsp:cNvPr id="0" name=""/>
        <dsp:cNvSpPr/>
      </dsp:nvSpPr>
      <dsp:spPr>
        <a:xfrm>
          <a:off x="0" y="3200690"/>
          <a:ext cx="88393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07B02-F037-48A3-BA88-ECD2EB554E98}">
      <dsp:nvSpPr>
        <dsp:cNvPr id="0" name=""/>
        <dsp:cNvSpPr/>
      </dsp:nvSpPr>
      <dsp:spPr>
        <a:xfrm>
          <a:off x="0" y="3200690"/>
          <a:ext cx="8839378" cy="1066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 dirty="0"/>
            <a:t>하나의 모델에 의존하지 않고, </a:t>
          </a:r>
          <a:r>
            <a:rPr lang="ko-KR" altLang="en-US" sz="1600" b="1" kern="1200" dirty="0"/>
            <a:t>분석 관점</a:t>
          </a:r>
          <a:r>
            <a:rPr lang="ko-KR" sz="1600" b="1" kern="1200" dirty="0"/>
            <a:t>이 다른 두 개의 AI 모델이 배터리를 교차 감시해 신뢰성</a:t>
          </a:r>
          <a:r>
            <a:rPr lang="en-US" sz="1600" b="1" kern="1200" dirty="0"/>
            <a:t>, </a:t>
          </a:r>
          <a:r>
            <a:rPr lang="ko-KR" sz="1600" b="1" kern="1200" dirty="0"/>
            <a:t>정확도 극대화</a:t>
          </a:r>
          <a:endParaRPr lang="en-US" sz="1600" b="1" kern="1200" dirty="0"/>
        </a:p>
      </dsp:txBody>
      <dsp:txXfrm>
        <a:off x="0" y="3200690"/>
        <a:ext cx="8839378" cy="10668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FFFFD-18B2-9B4B-8EC5-803C3A5D4B8F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31848-C50C-D84C-B189-C15247550FC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646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192E0-38B5-4226-B6DA-46C3116F55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26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(n2)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dirty="0" err="1"/>
              <a:t>회원가입</a:t>
            </a:r>
            <a:r>
              <a:rPr dirty="0"/>
              <a:t> (n6)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계정</a:t>
            </a:r>
            <a:r>
              <a:rPr dirty="0"/>
              <a:t> </a:t>
            </a:r>
            <a:r>
              <a:rPr dirty="0" err="1"/>
              <a:t>찾기</a:t>
            </a:r>
            <a:r>
              <a:rPr dirty="0"/>
              <a:t> (n5)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10.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(n9)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12. </a:t>
            </a:r>
            <a:r>
              <a:rPr dirty="0" err="1"/>
              <a:t>이상점수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 (n12)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18. </a:t>
            </a:r>
            <a:r>
              <a:rPr dirty="0" err="1"/>
              <a:t>정상</a:t>
            </a:r>
            <a:r>
              <a:rPr dirty="0"/>
              <a:t>/</a:t>
            </a:r>
            <a:r>
              <a:rPr dirty="0" err="1"/>
              <a:t>주의</a:t>
            </a:r>
            <a:r>
              <a:rPr dirty="0"/>
              <a:t>/</a:t>
            </a:r>
            <a:r>
              <a:rPr dirty="0" err="1"/>
              <a:t>경고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(n25)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13. 경고 알림 배너 (n13)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15. 추세 차트/이력 조회 (n45)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20. 이상 이벤트 저장 (n29)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21.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센터</a:t>
            </a:r>
            <a:r>
              <a:rPr dirty="0"/>
              <a:t> (n30)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24. 알림 이력 조회 (n33)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23. SNS 알림 발송 (n32)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25.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콘솔</a:t>
            </a:r>
            <a:r>
              <a:rPr dirty="0"/>
              <a:t> (n35)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26. </a:t>
            </a:r>
            <a:r>
              <a:rPr dirty="0" err="1"/>
              <a:t>릴레이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(n36)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B52A-CA70-468F-2B59-CC589568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03941-CD92-3BA0-5894-AAF42EF49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1990B-84EA-582B-BD7C-812CCA878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26. </a:t>
            </a:r>
            <a:r>
              <a:rPr dirty="0" err="1"/>
              <a:t>릴레이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(n36)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1C8B5-48D1-0163-3EED-F49397DC1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1756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27. </a:t>
            </a:r>
            <a:r>
              <a:rPr dirty="0" err="1"/>
              <a:t>차단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(gate) (n37)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28. 릴레이 복구 (n38)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4857B-9F18-2479-B2EC-9BC8F90D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6CBBF-AC76-8A93-E7AB-794413051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BAEAF-BACD-F1EA-6480-DE1902394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28. 릴레이 복구 (n38)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F9E07-A2D9-60E1-7180-A570ABEEB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88668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29. 복구 확인(gate) (n39)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32. 임계치 설정 (n43)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89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85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72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592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01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06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52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13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04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7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72C53-80EA-45BA-8F16-8A40D2B0FAE7}" type="datetimeFigureOut">
              <a:rPr lang="ko-KR" altLang="en-US" smtClean="0"/>
              <a:t>2026. 6. 30.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6D957-FC35-4630-85C0-B2FB30C65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4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2352152X21006095" TargetMode="External"/><Relationship Id="rId13" Type="http://schemas.openxmlformats.org/officeDocument/2006/relationships/hyperlink" Target="https://www.large-battery.com/blog/why-lipo-batteries-explode-and-prevent-it/" TargetMode="External"/><Relationship Id="rId3" Type="http://schemas.openxmlformats.org/officeDocument/2006/relationships/hyperlink" Target="https://www.sciencedirect.com/science/article/pii/S2352340924005766" TargetMode="External"/><Relationship Id="rId7" Type="http://schemas.openxmlformats.org/officeDocument/2006/relationships/hyperlink" Target="https://spj.science.org/doi/10.34133/energymatadv.0008" TargetMode="External"/><Relationship Id="rId12" Type="http://schemas.openxmlformats.org/officeDocument/2006/relationships/hyperlink" Target="https://advanced.onlinelibrary.wiley.com/doi/10.1002/adsr.202400165" TargetMode="External"/><Relationship Id="rId2" Type="http://schemas.openxmlformats.org/officeDocument/2006/relationships/hyperlink" Target="https://data.nasa.gov/dataset/li-ion-battery-aging-dataset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5503358/" TargetMode="External"/><Relationship Id="rId11" Type="http://schemas.openxmlformats.org/officeDocument/2006/relationships/hyperlink" Target="https://www.mdpi.com/2313-0105/11/10/356" TargetMode="External"/><Relationship Id="rId5" Type="http://schemas.openxmlformats.org/officeDocument/2006/relationships/hyperlink" Target="https://www.mdpi.com/2313-0105/3/2/14" TargetMode="External"/><Relationship Id="rId10" Type="http://schemas.openxmlformats.org/officeDocument/2006/relationships/hyperlink" Target="https://www.sciencedirect.com/science/article/abs/pii/S0360544225013908" TargetMode="External"/><Relationship Id="rId4" Type="http://schemas.openxmlformats.org/officeDocument/2006/relationships/hyperlink" Target="https://www.sandia.gov/app/uploads/sites/82/2022/10/301_Wang_Safety.pdf" TargetMode="External"/><Relationship Id="rId9" Type="http://schemas.openxmlformats.org/officeDocument/2006/relationships/hyperlink" Target="https://www.frontiersin.org/journals/physics/articles/10.3389/fphy.2025.1615872/ful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56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56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56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56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3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48.xml"/><Relationship Id="rId3" Type="http://schemas.openxmlformats.org/officeDocument/2006/relationships/slide" Target="slide38.xml"/><Relationship Id="rId7" Type="http://schemas.openxmlformats.org/officeDocument/2006/relationships/slide" Target="slide5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10" Type="http://schemas.openxmlformats.org/officeDocument/2006/relationships/slide" Target="slide56.xml"/><Relationship Id="rId4" Type="http://schemas.openxmlformats.org/officeDocument/2006/relationships/image" Target="../media/image18.png"/><Relationship Id="rId9" Type="http://schemas.openxmlformats.org/officeDocument/2006/relationships/slide" Target="slide50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" Target="slide38.xml"/><Relationship Id="rId7" Type="http://schemas.openxmlformats.org/officeDocument/2006/relationships/image" Target="../media/image19.png"/><Relationship Id="rId12" Type="http://schemas.openxmlformats.org/officeDocument/2006/relationships/slide" Target="slide5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11" Type="http://schemas.openxmlformats.org/officeDocument/2006/relationships/slide" Target="slide56.xml"/><Relationship Id="rId5" Type="http://schemas.openxmlformats.org/officeDocument/2006/relationships/slide" Target="slide47.xml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54.xml"/><Relationship Id="rId3" Type="http://schemas.openxmlformats.org/officeDocument/2006/relationships/slide" Target="slide38.xml"/><Relationship Id="rId7" Type="http://schemas.openxmlformats.org/officeDocument/2006/relationships/slide" Target="slide5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Relationship Id="rId9" Type="http://schemas.openxmlformats.org/officeDocument/2006/relationships/slide" Target="slide5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" Target="slide38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10" Type="http://schemas.openxmlformats.org/officeDocument/2006/relationships/slide" Target="slide56.xml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38.xml"/><Relationship Id="rId7" Type="http://schemas.openxmlformats.org/officeDocument/2006/relationships/slide" Target="slide5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11" Type="http://schemas.openxmlformats.org/officeDocument/2006/relationships/slide" Target="slide64.xml"/><Relationship Id="rId5" Type="http://schemas.openxmlformats.org/officeDocument/2006/relationships/slide" Target="slide47.xml"/><Relationship Id="rId10" Type="http://schemas.openxmlformats.org/officeDocument/2006/relationships/slide" Target="slide63.xml"/><Relationship Id="rId4" Type="http://schemas.openxmlformats.org/officeDocument/2006/relationships/image" Target="../media/image18.png"/><Relationship Id="rId9" Type="http://schemas.openxmlformats.org/officeDocument/2006/relationships/slide" Target="slide5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56.xml"/><Relationship Id="rId3" Type="http://schemas.openxmlformats.org/officeDocument/2006/relationships/slide" Target="slide38.xm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56.xml"/><Relationship Id="rId3" Type="http://schemas.openxmlformats.org/officeDocument/2006/relationships/slide" Target="slide38.xm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" Target="slide63.xml"/><Relationship Id="rId3" Type="http://schemas.openxmlformats.org/officeDocument/2006/relationships/slide" Target="slide38.xml"/><Relationship Id="rId7" Type="http://schemas.openxmlformats.org/officeDocument/2006/relationships/slide" Target="slide5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7.xml"/><Relationship Id="rId4" Type="http://schemas.openxmlformats.org/officeDocument/2006/relationships/image" Target="../media/image18.png"/><Relationship Id="rId9" Type="http://schemas.openxmlformats.org/officeDocument/2006/relationships/slide" Target="slide64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" Target="slide64.xml"/><Relationship Id="rId3" Type="http://schemas.openxmlformats.org/officeDocument/2006/relationships/image" Target="../media/image18.png"/><Relationship Id="rId7" Type="http://schemas.openxmlformats.org/officeDocument/2006/relationships/slide" Target="slide63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53.xml"/><Relationship Id="rId4" Type="http://schemas.openxmlformats.org/officeDocument/2006/relationships/slide" Target="slide4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52D8-D2FD-6175-24B0-0C862B60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54713F-3BDA-0717-64D7-6AEAEC417CD0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1D7CB-29EC-803E-D7D8-0BCEA35A80B4}"/>
              </a:ext>
            </a:extLst>
          </p:cNvPr>
          <p:cNvSpPr/>
          <p:nvPr/>
        </p:nvSpPr>
        <p:spPr>
          <a:xfrm>
            <a:off x="204039" y="15185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FFFB9-444B-11DA-E82C-D6D5A44EFC56}"/>
              </a:ext>
            </a:extLst>
          </p:cNvPr>
          <p:cNvSpPr txBox="1"/>
          <p:nvPr/>
        </p:nvSpPr>
        <p:spPr>
          <a:xfrm>
            <a:off x="773586" y="918414"/>
            <a:ext cx="8808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스마트 배터리 실측 데이터 활용 </a:t>
            </a:r>
            <a:r>
              <a:rPr kumimoji="1" lang="en" altLang="ko-KR" sz="2000" b="1" dirty="0"/>
              <a:t>AI ·</a:t>
            </a:r>
            <a:r>
              <a:rPr kumimoji="1" lang="ko-KR" altLang="en-US" sz="2000" b="1" dirty="0"/>
              <a:t>이상 탐지 진단 알고리즘 및 시스템 구축</a:t>
            </a:r>
          </a:p>
          <a:p>
            <a:endParaRPr kumimoji="1"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C58CA-EB07-A507-88CA-1A14C04846CB}"/>
              </a:ext>
            </a:extLst>
          </p:cNvPr>
          <p:cNvSpPr txBox="1"/>
          <p:nvPr/>
        </p:nvSpPr>
        <p:spPr>
          <a:xfrm>
            <a:off x="368025" y="5786566"/>
            <a:ext cx="415401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멘토</a:t>
            </a:r>
            <a:r>
              <a:rPr kumimoji="1" lang="en-US" altLang="ko-KR" sz="13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 신승훈</a:t>
            </a:r>
            <a:endParaRPr kumimoji="1" lang="en-US" altLang="ko-KR" sz="13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멘티</a:t>
            </a:r>
            <a:r>
              <a:rPr kumimoji="1" lang="en-US" altLang="ko-KR" sz="13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1" lang="ko-KR" altLang="en-US" sz="1300" dirty="0" err="1">
                <a:solidFill>
                  <a:schemeClr val="bg1">
                    <a:lumMod val="65000"/>
                  </a:schemeClr>
                </a:solidFill>
              </a:rPr>
              <a:t>김근우</a:t>
            </a:r>
            <a:r>
              <a:rPr kumimoji="1" lang="en-US" altLang="ko-KR" sz="13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1" lang="ko-KR" altLang="en-US" sz="1300" dirty="0" err="1">
                <a:solidFill>
                  <a:schemeClr val="bg1">
                    <a:lumMod val="65000"/>
                  </a:schemeClr>
                </a:solidFill>
              </a:rPr>
              <a:t>김경모</a:t>
            </a:r>
            <a:r>
              <a:rPr kumimoji="1" lang="en-US" altLang="ko-KR" sz="13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 서민기</a:t>
            </a:r>
            <a:r>
              <a:rPr kumimoji="1" lang="en-US" altLang="ko-KR" sz="13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 정재환</a:t>
            </a:r>
            <a:endParaRPr kumimoji="1" lang="en-US" altLang="ko-KR" sz="13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en-US" altLang="ko-KR" sz="13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kumimoji="1" lang="ko-KR" altLang="en-US" sz="1300" dirty="0">
                <a:solidFill>
                  <a:schemeClr val="bg1">
                    <a:lumMod val="65000"/>
                  </a:schemeClr>
                </a:solidFill>
              </a:rPr>
              <a:t> 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0EE29C-A97C-09F4-3488-ED8292F24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0" y="5511596"/>
            <a:ext cx="3276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35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304362" y="163550"/>
            <a:ext cx="4084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열폭주</a:t>
            </a:r>
            <a:r>
              <a:rPr lang="ko-KR" altLang="en-US" b="1" dirty="0"/>
              <a:t> 감지 </a:t>
            </a:r>
            <a:r>
              <a:rPr lang="en-US" altLang="ko-KR" b="1" dirty="0"/>
              <a:t>BMS </a:t>
            </a:r>
            <a:r>
              <a:rPr lang="ko-KR" altLang="en-US" b="1" dirty="0"/>
              <a:t>경쟁사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graphicFrame>
        <p:nvGraphicFramePr>
          <p:cNvPr id="50" name="경쟁사분석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783680"/>
              </p:ext>
            </p:extLst>
          </p:nvPr>
        </p:nvGraphicFramePr>
        <p:xfrm>
          <a:off x="600467" y="1051674"/>
          <a:ext cx="8705065" cy="4961387"/>
        </p:xfrm>
        <a:graphic>
          <a:graphicData uri="http://schemas.openxmlformats.org/drawingml/2006/table">
            <a:tbl>
              <a:tblPr first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7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7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29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구분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100" b="1" dirty="0">
                          <a:solidFill>
                            <a:srgbClr val="333333"/>
                          </a:solidFill>
                        </a:rPr>
                        <a:t>A 사</a:t>
                      </a:r>
                    </a:p>
                    <a:p>
                      <a:pPr algn="ctr"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555555"/>
                          </a:solidFill>
                        </a:rPr>
                        <a:t>Anker (미국)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100" b="1" dirty="0">
                          <a:solidFill>
                            <a:srgbClr val="333333"/>
                          </a:solidFill>
                        </a:rPr>
                        <a:t>B 사</a:t>
                      </a:r>
                    </a:p>
                    <a:p>
                      <a:pPr algn="ctr"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555555"/>
                          </a:solidFill>
                        </a:rPr>
                        <a:t>Texas Instruments (미국)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100" b="1" dirty="0">
                          <a:solidFill>
                            <a:srgbClr val="333333"/>
                          </a:solidFill>
                        </a:rPr>
                        <a:t>C 사</a:t>
                      </a:r>
                    </a:p>
                    <a:p>
                      <a:pPr algn="ctr"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555555"/>
                          </a:solidFill>
                        </a:rPr>
                        <a:t>Qnovo (미국)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100" b="1" dirty="0">
                          <a:solidFill>
                            <a:srgbClr val="333333"/>
                          </a:solidFill>
                        </a:rPr>
                        <a:t>D 사</a:t>
                      </a:r>
                    </a:p>
                    <a:p>
                      <a:pPr algn="ctr"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555555"/>
                          </a:solidFill>
                        </a:rPr>
                        <a:t>Injoinic 英集芯 (중국)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100" b="1" dirty="0">
                          <a:solidFill>
                            <a:srgbClr val="1A4FA0"/>
                          </a:solidFill>
                        </a:rPr>
                        <a:t>우리!!</a:t>
                      </a:r>
                    </a:p>
                    <a:p>
                      <a:pPr algn="ctr"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555555"/>
                          </a:solidFill>
                        </a:rPr>
                        <a:t>배터리 열폭주 조기탐지 AI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DC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68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솔루션 명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sz="950" b="1" dirty="0">
                          <a:solidFill>
                            <a:srgbClr val="333333"/>
                          </a:solidFill>
                        </a:rPr>
                        <a:t>ActiveShield 2.0</a:t>
                      </a:r>
                    </a:p>
                    <a:p>
                      <a:pPr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777777"/>
                          </a:solidFill>
                        </a:rPr>
                        <a:t>보조배터리 안전 시스템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sz="950" b="1" dirty="0">
                          <a:solidFill>
                            <a:srgbClr val="333333"/>
                          </a:solidFill>
                        </a:rPr>
                        <a:t>BQ24295 + BQ27Z746</a:t>
                      </a:r>
                    </a:p>
                    <a:p>
                      <a:pPr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777777"/>
                          </a:solidFill>
                        </a:rPr>
                        <a:t>충전관리 IC · 퓨얼게이지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sz="950" b="1" dirty="0">
                          <a:solidFill>
                            <a:srgbClr val="333333"/>
                          </a:solidFill>
                        </a:rPr>
                        <a:t>Qnovo SpectralX</a:t>
                      </a:r>
                    </a:p>
                    <a:p>
                      <a:pPr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777777"/>
                          </a:solidFill>
                        </a:rPr>
                        <a:t>배터리 인텔리전스 SW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sz="950" b="1" dirty="0">
                          <a:solidFill>
                            <a:srgbClr val="333333"/>
                          </a:solidFill>
                        </a:rPr>
                        <a:t>IP5328P SoC + BMS</a:t>
                      </a:r>
                    </a:p>
                    <a:p>
                      <a:pPr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777777"/>
                          </a:solidFill>
                        </a:rPr>
                        <a:t>보조배터리 전용 통합 SoC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sz="950" b="1" dirty="0">
                          <a:solidFill>
                            <a:srgbClr val="1A4FA0"/>
                          </a:solidFill>
                        </a:rPr>
                        <a:t>AI 배터리 BMS</a:t>
                      </a:r>
                    </a:p>
                    <a:p>
                      <a:pPr>
                        <a:spcBef>
                          <a:spcPts val="100"/>
                        </a:spcBef>
                        <a:buNone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조기탐지·실시간 관제 시스템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4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핵심 기능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하루 300만 회 온도 감지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온도 기반 출력 자동 조절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과열·과충전 보호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칩 내장형 능동 발열 관리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1셀 Li-ion 충전관리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서미스터 온도(hot/cold) 감시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접합온도 120℃ 초과 시 전류 감소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과전압·입력전류 제한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Impedance Track SoC/SoH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적응형·예측형 충전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실시간 셀 진단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열폭주 전 의심 셀 식별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결함 감지 시 배터리 차단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보조배터리 전용 고집적 SoC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14-bit ADC 전압·전류 측정(I2C)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내장 게이지 알고리즘 SoC 표시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QC/PD/FCP 멀티 고속충전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IC·배터리 온도, 입력전압 제어루프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전압·전류·온도·SOC 모니터링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Kafka 스트리밍 파이프라인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LSTM-AE 실시간 이상탐지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웹 대시보드 실시간 관제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릴레이 Kill-Switch 물리 차단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카카오톡 알림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03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알고리즘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임계치/룰 기반 온도 모니터링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실시간 온도 임계 차단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AI 패턴학습 없음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임계치 기반 보호 회로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Impedance Track 게이징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AI 추론 기능 없음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머신러닝 기반 예측 충전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실시간 화학적 SoH 추정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특허 50건+ 보유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임계치 기반 보호 회로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온도·전압 제어루프 충전 조절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내장 게이지 알고리즘(AI 아님)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LSTM-AutoEncoder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30 time-steps 윈도우, 이상점수(0.0~1.0, 4단계 등급)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정상패턴 학습 기반 사전 예측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칼만필터 내부 셀온도 추정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73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주요 특징·장단점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333333"/>
                          </a:solidFill>
                        </a:rPr>
                        <a:t>특징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동일 제품군(소비자 보조배터리)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F8B3B"/>
                          </a:solidFill>
                        </a:rPr>
                        <a:t>장점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대량 양산 검증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실시간 온도 감지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실제 보조배터리 적용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CC2B2B"/>
                          </a:solidFill>
                        </a:rPr>
                        <a:t>단점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임계치 기반 사후 대응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내부 이상패턴 예측 불가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자사 전용 폐쇄형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외부 웹 관제 없음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333333"/>
                          </a:solidFill>
                        </a:rPr>
                        <a:t>특징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업계 표준 칩, 소형 1셀 최적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F8B3B"/>
                          </a:solidFill>
                        </a:rPr>
                        <a:t>장점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저비용·검증된 표준 칩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소형 1셀 휴대기기 최적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정밀 게이징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CC2B2B"/>
                          </a:solidFill>
                        </a:rPr>
                        <a:t>단점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단일 칩 보호 위주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시계열 이상패턴 학습 없음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웹 관제·알림 없음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333333"/>
                          </a:solidFill>
                        </a:rPr>
                        <a:t>특징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스마트폰 1.5억 대+ 탑재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F8B3B"/>
                          </a:solidFill>
                        </a:rPr>
                        <a:t>장점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대규모 양산 검증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AI 사전 예측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충전 최적화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CC2B2B"/>
                          </a:solidFill>
                        </a:rPr>
                        <a:t>단점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충전 최적화 중심(독립 제품 아님)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BMS 내장 SW 라이선스 모델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웹 관제·물리 차단 미통합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333333"/>
                          </a:solidFill>
                        </a:rPr>
                        <a:t>특징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333333"/>
                          </a:solidFill>
                        </a:rPr>
                        <a:t>보조배터리 SoC 점유율 상위 칩 메이커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F8B3B"/>
                          </a:solidFill>
                        </a:rPr>
                        <a:t>장점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보조배터리 전용 통합 SoC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멀티 프로토콜 고속충전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F8B3B"/>
                          </a:solidFill>
                        </a:rPr>
                        <a:t>다중 온도·전압 제어루프 보호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CC2B2B"/>
                          </a:solidFill>
                        </a:rPr>
                        <a:t>단점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임계치·룰 기반 보호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시계열 이상패턴 학습 없음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CC2B2B"/>
                          </a:solidFill>
                        </a:rPr>
                        <a:t>클라우드·웹 관제·알림 없음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A4FA0"/>
                          </a:solidFill>
                        </a:rPr>
                        <a:t>특징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소형 보조배터리 특화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A4FA0"/>
                          </a:solidFill>
                        </a:rPr>
                        <a:t>장점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정상패턴 학습형 사전 예측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엣지~클라우드~웹~물리차단 통합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Kafka 실시간 + Kill-Switch</a:t>
                      </a: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ko-KR" sz="800" b="1" dirty="0">
                          <a:solidFill>
                            <a:srgbClr val="1A4FA0"/>
                          </a:solidFill>
                        </a:rPr>
                        <a:t>차별점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임계치</a:t>
                      </a:r>
                      <a:r>
                        <a:rPr lang="ko-KR" altLang="en-US" sz="800" b="0" dirty="0">
                          <a:solidFill>
                            <a:srgbClr val="1A4FA0"/>
                          </a:solidFill>
                        </a:rPr>
                        <a:t> 기반</a:t>
                      </a: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(Anker·TI·Injoinic) → 정상패턴 학습 AI 사전예측</a:t>
                      </a:r>
                    </a:p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lang="ko-KR" sz="800" b="0" dirty="0">
                          <a:solidFill>
                            <a:srgbClr val="1A4FA0"/>
                          </a:solidFill>
                        </a:rPr>
                        <a:t>충전·폰 중심 AI(Qnovo) → 보조배터리 특화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95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</a:rPr>
                        <a:t>가격</a:t>
                      </a:r>
                    </a:p>
                  </a:txBody>
                  <a:tcPr marL="50800" marR="38100" marT="38100" marB="38100" anchor="ctr">
                    <a:lnL w="6350" cap="flat">
                      <a:solidFill>
                        <a:srgbClr val="D9D9D9"/>
                      </a:solidFill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sz="800" dirty="0">
                          <a:latin typeface="+mn-ea"/>
                          <a:ea typeface="+mn-ea"/>
                        </a:rPr>
                        <a:t>US$109.99/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대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50800" marR="381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sz="800" dirty="0">
                          <a:latin typeface="+mn-ea"/>
                          <a:ea typeface="+mn-ea"/>
                        </a:rPr>
                        <a:t>US$2.25/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세트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50800" marR="381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sz="800" dirty="0" err="1">
                          <a:latin typeface="+mn-ea"/>
                          <a:ea typeface="+mn-ea"/>
                        </a:rPr>
                        <a:t>공개가격</a:t>
                      </a:r>
                      <a:r>
                        <a:rPr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없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음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50800" marR="381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sz="800" dirty="0" err="1">
                          <a:latin typeface="+mn-ea"/>
                          <a:ea typeface="+mn-ea"/>
                        </a:rPr>
                        <a:t>단가</a:t>
                      </a:r>
                      <a:r>
                        <a:rPr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확인</a:t>
                      </a:r>
                      <a:r>
                        <a:rPr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필요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50800" marR="381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-157480">
                        <a:spcBef>
                          <a:spcPts val="200"/>
                        </a:spcBef>
                        <a:buFont typeface="Arial"/>
                        <a:buChar char="•"/>
                      </a:pPr>
                      <a:r>
                        <a:rPr sz="800" dirty="0" err="1">
                          <a:latin typeface="+mn-ea"/>
                          <a:ea typeface="+mn-ea"/>
                        </a:rPr>
                        <a:t>자사</a:t>
                      </a:r>
                      <a:r>
                        <a:rPr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산정</a:t>
                      </a:r>
                      <a:r>
                        <a:rPr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800" dirty="0" err="1">
                          <a:latin typeface="+mn-ea"/>
                          <a:ea typeface="+mn-ea"/>
                        </a:rPr>
                        <a:t>필요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50800" marR="381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27650"/>
                  </a:ext>
                </a:extLst>
              </a:tr>
              <a:tr h="274413">
                <a:tc gridSpan="6"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sz="750" b="0" dirty="0">
                          <a:solidFill>
                            <a:srgbClr val="888888"/>
                          </a:solidFill>
                        </a:rPr>
                        <a:t>가격 출처: A Anker 737 공식 US$109.99 · B TI.com offers 1.384+0.863=US$2.247 · C Qnovo 공개가격 없음/문의 · D IP5328P 공개 단가 추가 확인 필요 · 우리 외부 공개가격 없음 (2026.6.30 조회)</a:t>
                      </a:r>
                    </a:p>
                  </a:txBody>
                  <a:tcPr marL="50800" marR="38100" marT="38100" marB="381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26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8A62-0C85-DA5A-0194-C0A2F440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24B60A-93AF-2CC6-9E3F-78F911F7DD29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349C62-CF35-CD5F-A297-99A7897EE1F6}"/>
              </a:ext>
            </a:extLst>
          </p:cNvPr>
          <p:cNvSpPr txBox="1"/>
          <p:nvPr/>
        </p:nvSpPr>
        <p:spPr>
          <a:xfrm>
            <a:off x="304362" y="163550"/>
            <a:ext cx="3462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Apple/Samsung </a:t>
            </a:r>
            <a:r>
              <a:rPr lang="ko-KR" altLang="en-US" b="1" dirty="0"/>
              <a:t>알고리즘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A825AE-EA7B-3C44-8B85-7ED6D18FDAD3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63880" y="903269"/>
            <a:ext cx="8778240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A4FA0"/>
                </a:solidFill>
              </a:rPr>
              <a:t>① 배터리 열화상태(SOH) 연산·모니터링 아키텍처 비교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55650"/>
              </p:ext>
            </p:extLst>
          </p:nvPr>
        </p:nvGraphicFramePr>
        <p:xfrm>
          <a:off x="563880" y="1177588"/>
          <a:ext cx="8778240" cy="2404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비교 인자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애플 (Apple iOS)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4FA0"/>
                          </a:solidFill>
                        </a:rPr>
                        <a:t>삼성 (Samsung One UI)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333333"/>
                          </a:solidFill>
                        </a:rPr>
                        <a:t>공개 SOH 특허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333333"/>
                          </a:solidFill>
                        </a:rPr>
                        <a:t>US11079437B2 — 충전 중 SoH 분류 + 칼만 필터 정밀화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1F3F73"/>
                          </a:solidFill>
                        </a:rPr>
                        <a:t>US20160187428A1 — 부분 충·방전 시간 정규화 SOH 추정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333333"/>
                          </a:solidFill>
                        </a:rPr>
                        <a:t>핵심 추정 방식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333333"/>
                          </a:solidFill>
                        </a:rPr>
                        <a:t>‘SoH 분류기’로 등급 1차 추정 후, SoC가 수렴하면 칼만 필터로 SoH 정밀 산출(충전 중 수행)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1F3F73"/>
                          </a:solidFill>
                        </a:rPr>
                        <a:t>부분 충·방전 구간 측정값을 기준 배터리 모델로 정규화·스케일링(완전 사이클 불필요)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333333"/>
                          </a:solidFill>
                        </a:rPr>
                        <a:t>용량 표시·재교정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333333"/>
                          </a:solidFill>
                        </a:rPr>
                        <a:t>설정&gt;배터리&gt;‘배터리 성능 상태’에 최대 용량(%)·최대 성능 표시, iOS 14.5+ 정상 충전 사이클로 재교정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1F3F73"/>
                          </a:solidFill>
                        </a:rPr>
                        <a:t>One UI 7부터 설정&gt;배터리에서 충전 사이클·배터리 보호 상태 제공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3864" y="3984821"/>
            <a:ext cx="8778240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A4FA0"/>
                </a:solidFill>
              </a:rPr>
              <a:t>② 사용자 패턴 학습 기반 충전·배터리 보호 비교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62247"/>
              </p:ext>
            </p:extLst>
          </p:nvPr>
        </p:nvGraphicFramePr>
        <p:xfrm>
          <a:off x="563864" y="4259140"/>
          <a:ext cx="877824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비교 인자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애플 (Apple iOS)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4FA0"/>
                          </a:solidFill>
                        </a:rPr>
                        <a:t>삼성 (Samsung One UI)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333333"/>
                          </a:solidFill>
                        </a:rPr>
                        <a:t>학습형 충전 제어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333333"/>
                          </a:solidFill>
                        </a:rPr>
                        <a:t>최적화된 배터리 충전 — 온디바이스 ML로 충전 습관 학습(최소 14일), 80%에서 보류 후 사용 직전 완충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1F3F73"/>
                          </a:solidFill>
                        </a:rPr>
                        <a:t>적응형 배터리 보호 — 수면 패턴 학습, 취침 중 충전 보류 후 기상 1시간 전 100% 완충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333333"/>
                          </a:solidFill>
                        </a:rPr>
                        <a:t>충전 상한 옵션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333333"/>
                          </a:solidFill>
                        </a:rPr>
                        <a:t>충전 상한 제한(80% 등, iPhone 15·iOS 17+)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1F3F73"/>
                          </a:solidFill>
                        </a:rPr>
                        <a:t>배터리 보호 ‘최대’ 80/85/90/95% 선택(One UI 7+), ‘기본’은 100%→95% 재충전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333333"/>
                          </a:solidFill>
                        </a:rPr>
                        <a:t>설계 목적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333333"/>
                          </a:solidFill>
                        </a:rPr>
                        <a:t>만충(고전압) 유지 시간을 줄여 배터리 열화·수명 저하 완화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고충전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상태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노출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시간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단축으로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셀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수명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보호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(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애플과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동일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 </a:t>
                      </a:r>
                      <a:r>
                        <a:rPr sz="750" b="0" dirty="0" err="1">
                          <a:solidFill>
                            <a:srgbClr val="1F3F73"/>
                          </a:solidFill>
                        </a:rPr>
                        <a:t>목적</a:t>
                      </a:r>
                      <a:r>
                        <a:rPr sz="750" b="0" dirty="0">
                          <a:solidFill>
                            <a:srgbClr val="1F3F73"/>
                          </a:solidFill>
                        </a:rPr>
                        <a:t>)</a:t>
                      </a:r>
                    </a:p>
                  </a:txBody>
                  <a:tcPr marL="45720" marR="36000" marT="18000" marB="18000" anchor="ctr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3864" y="6327648"/>
            <a:ext cx="877824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650">
                <a:solidFill>
                  <a:srgbClr val="888888"/>
                </a:solidFill>
              </a:rPr>
              <a:t>출처: Apple US11079437B2 · Samsung US20160187428A1 (Google Patents) / Apple Support ‘배터리 성능 상태·최적화된 배터리 충전·충전 상한’ · Samsung ‘배터리 보호’(One UI 6.1/7) 안내</a:t>
            </a:r>
          </a:p>
        </p:txBody>
      </p:sp>
    </p:spTree>
    <p:extLst>
      <p:ext uri="{BB962C8B-B14F-4D97-AF65-F5344CB8AC3E}">
        <p14:creationId xmlns:p14="http://schemas.microsoft.com/office/powerpoint/2010/main" val="213177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A8E3B76-0A7E-4F17-9181-CD8E4006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698662"/>
              </p:ext>
            </p:extLst>
          </p:nvPr>
        </p:nvGraphicFramePr>
        <p:xfrm>
          <a:off x="476300" y="3942970"/>
          <a:ext cx="9109963" cy="189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384">
                  <a:extLst>
                    <a:ext uri="{9D8B030D-6E8A-4147-A177-3AD203B41FA5}">
                      <a16:colId xmlns:a16="http://schemas.microsoft.com/office/drawing/2014/main" val="1624285504"/>
                    </a:ext>
                  </a:extLst>
                </a:gridCol>
                <a:gridCol w="3638976">
                  <a:extLst>
                    <a:ext uri="{9D8B030D-6E8A-4147-A177-3AD203B41FA5}">
                      <a16:colId xmlns:a16="http://schemas.microsoft.com/office/drawing/2014/main" val="688804388"/>
                    </a:ext>
                  </a:extLst>
                </a:gridCol>
                <a:gridCol w="989970">
                  <a:extLst>
                    <a:ext uri="{9D8B030D-6E8A-4147-A177-3AD203B41FA5}">
                      <a16:colId xmlns:a16="http://schemas.microsoft.com/office/drawing/2014/main" val="628126029"/>
                    </a:ext>
                  </a:extLst>
                </a:gridCol>
                <a:gridCol w="2346633">
                  <a:extLst>
                    <a:ext uri="{9D8B030D-6E8A-4147-A177-3AD203B41FA5}">
                      <a16:colId xmlns:a16="http://schemas.microsoft.com/office/drawing/2014/main" val="1975919213"/>
                    </a:ext>
                  </a:extLst>
                </a:gridCol>
              </a:tblGrid>
              <a:tr h="3790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세부 항목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3790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PCB </a:t>
                      </a:r>
                      <a:r>
                        <a:rPr lang="ko-KR" altLang="en-US" sz="1000"/>
                        <a:t>회로 설계 및 개발 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Ki-cad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art-works,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시뮬레이터 및 테스트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김경모 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sng" kern="120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이기종 배터리 진단 기능 응용 필요 ★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3790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데이터 수집 및 파이프라인 구축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라즈베리파이</a:t>
                      </a: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Apache Kafka, PostgreSQL DB,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웹서버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김근우</a:t>
                      </a:r>
                      <a:endParaRPr lang="en-US" altLang="ko-KR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정재환</a:t>
                      </a: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42376"/>
                  </a:ext>
                </a:extLst>
              </a:tr>
              <a:tr h="3790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열폭주 이상 징후 </a:t>
                      </a:r>
                      <a:r>
                        <a:rPr lang="en-US" altLang="ko-KR" sz="1000"/>
                        <a:t>AI  </a:t>
                      </a:r>
                      <a:r>
                        <a:rPr lang="ko-KR" altLang="en-US" sz="1000"/>
                        <a:t>모델 구현 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Auto-Encoder or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딥러닝 알고리즘 튜닝을 통한 모델 구현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서민기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34118"/>
                  </a:ext>
                </a:extLst>
              </a:tr>
              <a:tr h="3790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웹 모니터링 및 통계 대시보드 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React(javascript) + Springboot =&gt; vibe coding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“Streamlit”   </a:t>
                      </a:r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정재환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35039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AFCA70-032D-473C-A91B-4EFD3B906DBB}"/>
              </a:ext>
            </a:extLst>
          </p:cNvPr>
          <p:cNvSpPr/>
          <p:nvPr/>
        </p:nvSpPr>
        <p:spPr>
          <a:xfrm>
            <a:off x="5997146" y="2021746"/>
            <a:ext cx="876814" cy="54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304363" y="163550"/>
            <a:ext cx="2416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팀프로젝트 역할 정의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63A862-6D60-7650-5D1E-8B670AB0B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73" y="1019550"/>
            <a:ext cx="7772400" cy="248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6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7BFD4-2805-401F-1041-AF319E40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B5660FA-B2BF-273A-CACF-B849EF3AE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791056"/>
              </p:ext>
            </p:extLst>
          </p:nvPr>
        </p:nvGraphicFramePr>
        <p:xfrm>
          <a:off x="768000" y="1014418"/>
          <a:ext cx="8250346" cy="440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384">
                  <a:extLst>
                    <a:ext uri="{9D8B030D-6E8A-4147-A177-3AD203B41FA5}">
                      <a16:colId xmlns:a16="http://schemas.microsoft.com/office/drawing/2014/main" val="1624285504"/>
                    </a:ext>
                  </a:extLst>
                </a:gridCol>
                <a:gridCol w="3638976">
                  <a:extLst>
                    <a:ext uri="{9D8B030D-6E8A-4147-A177-3AD203B41FA5}">
                      <a16:colId xmlns:a16="http://schemas.microsoft.com/office/drawing/2014/main" val="688804388"/>
                    </a:ext>
                  </a:extLst>
                </a:gridCol>
                <a:gridCol w="2476986">
                  <a:extLst>
                    <a:ext uri="{9D8B030D-6E8A-4147-A177-3AD203B41FA5}">
                      <a16:colId xmlns:a16="http://schemas.microsoft.com/office/drawing/2014/main" val="1975919213"/>
                    </a:ext>
                  </a:extLst>
                </a:gridCol>
              </a:tblGrid>
              <a:tr h="5229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세부 항목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312702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김근우</a:t>
                      </a:r>
                      <a:endParaRPr lang="ko-KR" altLang="en-US" sz="1000" dirty="0"/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가상데이터로 파이프라인 데이터 전송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sng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6/29</a:t>
                      </a:r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75150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728316"/>
                  </a:ext>
                </a:extLst>
              </a:tr>
              <a:tr h="312702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김경모</a:t>
                      </a:r>
                      <a:endParaRPr lang="ko-KR" altLang="en-US" sz="1000" dirty="0"/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가스센서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압력센서 연결 회로도 구성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sng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6/29</a:t>
                      </a:r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42376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24074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958143"/>
                  </a:ext>
                </a:extLst>
              </a:tr>
              <a:tr h="312702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서민기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새로운 알고리즘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아키텍쳐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설계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sng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6/29</a:t>
                      </a:r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34118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테이블 설계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sng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6/29</a:t>
                      </a:r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172854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650914"/>
                  </a:ext>
                </a:extLst>
              </a:tr>
              <a:tr h="312702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정재환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페이지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페이지 논문 리딩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sng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6/29</a:t>
                      </a:r>
                      <a:endParaRPr lang="ko-KR" altLang="en-US" sz="1000" u="sng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35039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28588"/>
                  </a:ext>
                </a:extLst>
              </a:tr>
              <a:tr h="312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95446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B65ECC-3AD5-673B-A403-91DACBDCE069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641F7E-4710-566F-F160-EF236F0E0CC2}"/>
              </a:ext>
            </a:extLst>
          </p:cNvPr>
          <p:cNvSpPr txBox="1"/>
          <p:nvPr/>
        </p:nvSpPr>
        <p:spPr>
          <a:xfrm>
            <a:off x="304363" y="163550"/>
            <a:ext cx="2416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현재 진행 업무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08FF9-D074-782F-1704-27F7D89B7CA0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56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304363" y="163550"/>
            <a:ext cx="318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서비스 개요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pic>
        <p:nvPicPr>
          <p:cNvPr id="10" name="Picture 0">
            <a:extLst>
              <a:ext uri="{FF2B5EF4-FFF2-40B4-BE49-F238E27FC236}">
                <a16:creationId xmlns:a16="http://schemas.microsoft.com/office/drawing/2014/main" id="{C037E2C5-E0BB-45A0-BAB8-8718C24B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14" y="1668398"/>
            <a:ext cx="4994328" cy="352120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B1B59178-B4EE-48D2-82D1-C7259A2423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"/>
          <a:stretch>
            <a:fillRect/>
          </a:stretch>
        </p:blipFill>
        <p:spPr>
          <a:xfrm>
            <a:off x="397794" y="2083274"/>
            <a:ext cx="3354448" cy="269145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50" name="Picture 2" descr="파워포인트에 사용할 넓은 화살표 : 네이버 블로그">
            <a:extLst>
              <a:ext uri="{FF2B5EF4-FFF2-40B4-BE49-F238E27FC236}">
                <a16:creationId xmlns:a16="http://schemas.microsoft.com/office/drawing/2014/main" id="{21C92CA4-CF9C-4997-BD13-EF4ED9D67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09243" y="3394028"/>
            <a:ext cx="982415" cy="42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78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836FE-03BB-66E7-2658-1B566A51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7D5244B-E21D-7424-7253-6E7F733102A6}"/>
              </a:ext>
            </a:extLst>
          </p:cNvPr>
          <p:cNvSpPr txBox="1"/>
          <p:nvPr/>
        </p:nvSpPr>
        <p:spPr>
          <a:xfrm>
            <a:off x="304363" y="163550"/>
            <a:ext cx="318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열폭주</a:t>
            </a:r>
            <a:r>
              <a:rPr lang="ko-KR" altLang="en-US" b="1" dirty="0"/>
              <a:t> 임계치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5047B0-FE0B-2527-9B9C-63BF6AF69510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04040" y="705000"/>
            <a:ext cx="4620000" cy="24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00" b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① 특성 온도 임계치 T1·T2·T3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04040" y="940000"/>
          <a:ext cx="4620000" cy="1900000"/>
        </p:xfrm>
        <a:graphic>
          <a:graphicData uri="http://schemas.openxmlformats.org/drawingml/2006/table">
            <a:tbl>
              <a:tblPr/>
              <a:tblGrid>
                <a:gridCol w="9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셀 종류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 자기발열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 트리거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T3 피크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18650
NMC/NCA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78–130℃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140–186℃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650–730℃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전압 급락이 표면온도 상승에 선행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334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리튬폴리머
(과충전)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내부~50℃
(5.10V)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SOC180%↑시
내부&gt;200℃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&gt;660℃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과충전 시 가스·전해액 격렬 분출(폭발성)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985000" y="705000"/>
            <a:ext cx="4620000" cy="24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00" b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② AI 상태 등급 · 이상점수 임계치 매핑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985000" y="940000"/>
          <a:ext cx="4620000" cy="2550000"/>
        </p:xfrm>
        <a:graphic>
          <a:graphicData uri="http://schemas.openxmlformats.org/drawingml/2006/table">
            <a:tbl>
              <a:tblPr/>
              <a:tblGrid>
                <a:gridCol w="9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 / 이상점수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 단계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전압 신호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 신호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
0.0–0.3</a:t>
                      </a:r>
                    </a:p>
                  </a:txBody>
                  <a:tcPr marL="45000" marR="45000" marT="9000" marB="9000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충방전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평탄, 잡음 수준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dT/dt≈0
(&lt;0.01℃/min)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SOC 정상 거동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
0.3–0.6</a:t>
                      </a:r>
                    </a:p>
                  </a:txBody>
                  <a:tcPr marL="45000" marR="45000" marT="9000" marB="9000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SEI 분해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내부저항↑
미세 처짐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 완만↑,
d²T/dt²≈0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국소 온도 편차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
0.6–0.8</a:t>
                      </a:r>
                    </a:p>
                  </a:txBody>
                  <a:tcPr marL="45000" marR="45000" marT="9000" marB="9000" anchor="ctr">
                    <a:solidFill>
                      <a:srgbClr val="E6A2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②가스/밸브~
③트리거 직전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V_drop
음(–) 스텝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 가속,
d²T/dt²&gt;0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스웰링·H₂ 출현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
0.8–1.0</a:t>
                      </a:r>
                    </a:p>
                  </a:txBody>
                  <a:tcPr marL="45000" marR="45000" marT="9000" marB="9000" anchor="ctr"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③가속~④폭주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급락→0V 붕괴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 지수 폭증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대량 분출,
발화 임박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4040" y="3640000"/>
            <a:ext cx="9400960" cy="24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00" b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③ 외부 물리 신호 ↔ 보유 센서 매핑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704245"/>
              </p:ext>
            </p:extLst>
          </p:nvPr>
        </p:nvGraphicFramePr>
        <p:xfrm>
          <a:off x="204040" y="3875000"/>
          <a:ext cx="9400960" cy="2600000"/>
        </p:xfrm>
        <a:graphic>
          <a:graphicData uri="http://schemas.openxmlformats.org/drawingml/2006/table">
            <a:tbl>
              <a:tblPr>
                <a:solidFill>
                  <a:srgbClr val="D9534E"/>
                </a:solidFill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신호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 현상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선행성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감지 수단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팽창·내부압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가스 발생 → 케이스 팽창·내부압 상승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벤팅 30분 전 (압력 도함수 변곡)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힘/스트레인·압력센서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  <a:endParaRPr sz="800" b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000" marR="45000" marT="9000" marB="9000" anchor="ctr">
                    <a:solidFill>
                      <a:srgbClr val="71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음향(벤팅음)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안전밸브 개방·파열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온도/압력 대비 ~2배 빠름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MEMS 마이크 + 딥러닝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</a:p>
                  </a:txBody>
                  <a:tcPr marL="45000" marR="45000" marT="9000" marB="9000" anchor="ctr">
                    <a:solidFill>
                      <a:srgbClr val="71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가스(H₂ 등)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off-gas 분출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온도급상승 수십초~수분 전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반도체/전기화학 가스센서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</a:p>
                  </a:txBody>
                  <a:tcPr marL="45000" marR="45000" marT="9000" marB="9000" anchor="ctr">
                    <a:solidFill>
                      <a:srgbClr val="71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냄새(VOC)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전해액 증기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가스와 동반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VOC 센서(BME680)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미보유</a:t>
                      </a:r>
                      <a:endParaRPr sz="800" b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000" marR="45000" marT="9000" marB="9000" anchor="ctr">
                    <a:solidFill>
                      <a:srgbClr val="D95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연기·입자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고분자(분리막·바인더) 분해·연소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벤팅 약 300초 후 (후기)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광산란 연기감지 / IR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  <a:endParaRPr sz="800" b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000" marR="45000" marT="9000" marB="9000" anchor="ctr">
                    <a:solidFill>
                      <a:srgbClr val="71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 핫스팟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국소 발열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트리거 부근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접촉온도(DS18B20) + IR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  <a:endParaRPr sz="800" b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000" marR="45000" marT="9000" marB="9000"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화염·빛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단계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화염/광 센서 / IR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  <a:endParaRPr sz="800" b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000" marR="45000" marT="9000" marB="9000" anchor="ctr">
                    <a:solidFill>
                      <a:srgbClr val="71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divider"/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204040" y="6500000"/>
            <a:ext cx="8800000" cy="3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7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  </a:t>
            </a:r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18650 ARC 실험·열폭주 과정(MDPI Batteries 2017; NMC값: Nature Commun. 2020, PMC7547674) · 리튬폴리머 과충전(Large-Battery) · AI 등급: 열폭주 예측·조기경보 리뷰(Energy Material Advances) · 외부신호: 음향(Energy 2025)·스웰링(MDPI Batteries 2025)·가스(Frontiers in Physics)·광섬유(ScienceDirect)</a:t>
            </a:r>
          </a:p>
        </p:txBody>
      </p:sp>
    </p:spTree>
    <p:extLst>
      <p:ext uri="{BB962C8B-B14F-4D97-AF65-F5344CB8AC3E}">
        <p14:creationId xmlns:p14="http://schemas.microsoft.com/office/powerpoint/2010/main" val="31530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"/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pagenum"/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04363" y="163550"/>
            <a:ext cx="82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특성 온도 임계치 (T1·T2·T3) 상세 — 18650 · 리튬폴리머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040" y="690000"/>
            <a:ext cx="9400960" cy="6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5B9BD5"/>
            </a:solidFill>
          </a:ln>
        </p:spPr>
        <p:txBody>
          <a:bodyPr wrap="square" lIns="90000" tIns="54000" rIns="90000" bIns="54000">
            <a:spAutoFit/>
          </a:bodyPr>
          <a:lstStyle/>
          <a:p>
            <a:r>
              <a:rPr sz="900" b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정의  </a:t>
            </a: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T1 = 부반응 자기발열 개시(완만) · T2 = 완만→급격 전환 임계점(폭주 트리거, 이후 제어 불가) · T3 = 폭주 중 도달 최고온도(방출 에너지량 지표).  값은 셀·SOC·가열조건에 따라 달라지므로 절대값보다 dT/dt(상승률)의 변곡이 더 일반적인 신호.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4040" y="1420000"/>
          <a:ext cx="9400960" cy="4716000"/>
        </p:xfrm>
        <a:graphic>
          <a:graphicData uri="http://schemas.openxmlformats.org/drawingml/2006/table">
            <a:tbl>
              <a:tblPr/>
              <a:tblGrid>
                <a:gridCol w="1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/ 임계점</a:t>
                      </a:r>
                    </a:p>
                  </a:txBody>
                  <a:tcPr marL="63000" marR="63000" marT="18000" marB="18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63000" marR="63000" marT="18000" marB="18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18650 NMC/NCA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DCE6F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(표면 온도)</a:t>
                      </a:r>
                    </a:p>
                  </a:txBody>
                  <a:tcPr marL="63000" marR="63000" marT="18000" marB="18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리튬폴리머 (파우치 NMC)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DCE6F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(표면 온도)</a:t>
                      </a:r>
                    </a:p>
                  </a:txBody>
                  <a:tcPr marL="63000" marR="63000" marT="18000" marB="18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신호 (전압·dT/dt)</a:t>
                      </a:r>
                    </a:p>
                  </a:txBody>
                  <a:tcPr marL="63000" marR="63000" marT="18000" marB="180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자기발열 개시</a:t>
                      </a:r>
                    </a:p>
                  </a:txBody>
                  <a:tcPr marL="63000" marR="63000" marT="18000" marB="18000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부반응(SEI 피막 분해) 자기발열 시작 — dT/dt가 0.01℃/min을 넘는 시점으로 정의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78–130℃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91℃ (100% SOC)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전압 미세 처짐(내부저항↑)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 완만한 양(+)전환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밸브개방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가스방출</a:t>
                      </a:r>
                    </a:p>
                  </a:txBody>
                  <a:tcPr marL="63000" marR="63000" marT="18000" marB="18000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전해액 비등·스웰링, 안전밸브 개방으로 off-gas 분출 (H₂가 최선행)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~140–160℃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셀 팽창·가스 방출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(트리거 직전)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H₂ 조기검출, 내부압·스웰링↑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폭주 트리거</a:t>
                      </a:r>
                    </a:p>
                  </a:txBody>
                  <a:tcPr marL="63000" marR="63000" marT="18000" marB="18000" anchor="ctr">
                    <a:solidFill>
                      <a:srgbClr val="E6A2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분리막 용융·내부단락 — 이 임계점 이후 냉각으로도 정지 불가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140–186℃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171℃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V_drop 음(–) 스텝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 가속·d²T/dt²&gt;0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T3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피크 온도</a:t>
                      </a:r>
                    </a:p>
                  </a:txBody>
                  <a:tcPr marL="63000" marR="63000" marT="18000" marB="18000" anchor="ctr"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폭주 중 도달하는 최고 온도 (= 방출 에너지량 지표)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650–730℃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516℃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전압 0V 붕괴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dT/dt 지수적 폭증</a:t>
                      </a:r>
                    </a:p>
                  </a:txBody>
                  <a:tcPr marL="63000" marR="63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</a:t>
                      </a:r>
                    </a:p>
                  </a:txBody>
                  <a:tcPr marL="63000" marR="63000" marT="18000" marB="18000" anchor="ctr">
                    <a:solidFill>
                      <a:srgbClr val="A5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대량 가스·전해액 분출, 연기·화염 발생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폭주 직후 발화·분출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대량 가스·전해액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분출·화염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화염·발광, 표면 핫스팟(IR)</a:t>
                      </a:r>
                    </a:p>
                  </a:txBody>
                  <a:tcPr marL="63000" marR="63000" marT="18000" marB="18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4040" y="6500000"/>
            <a:ext cx="8800000" cy="3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18650 NMC/NCA — ARC 18650 실험(MDPI Batteries 2017)·NMC ARC(Nature Commun. 2020, PMC7547674) / 리튬폴리머(파우치 NMC, 5Ah NCM523/graphite, 100% SOC) — ARC HWS, T1/T2/T3 = 91/171/516℃ (PMC8292879)</a:t>
            </a:r>
          </a:p>
          <a:p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두 셀 모두 표면 온도 기준(셀 외벽 K형 열전대·ARC). 내부 온도는 더 높으며, 값은 셀·SOC·가열조건에 따라 달라짐.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"/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pagenum"/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04363" y="163550"/>
            <a:ext cx="7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참고 자료 · 공개 데이터셋 및 논문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040" y="705000"/>
            <a:ext cx="9400960" cy="16927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00" b="1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100" b="1" dirty="0" err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공개</a:t>
            </a:r>
            <a:r>
              <a:rPr sz="1100" b="1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데이터셋</a:t>
            </a:r>
            <a:endParaRPr sz="1100" b="1" dirty="0">
              <a:solidFill>
                <a:srgbClr val="4472C4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4040" y="940000"/>
          <a:ext cx="9400960" cy="1850000"/>
        </p:xfrm>
        <a:graphic>
          <a:graphicData uri="http://schemas.openxmlformats.org/drawingml/2006/table">
            <a:tbl>
              <a:tblPr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활용</a:t>
                      </a:r>
                    </a:p>
                  </a:txBody>
                  <a:tcPr marL="45000" marR="45000" marT="9000" marB="90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800" b="0" u="sng" dirty="0">
                          <a:solidFill>
                            <a:srgbClr val="4472C4"/>
                          </a:solidFill>
                          <a:latin typeface="맑은 고딕"/>
                          <a:ea typeface="맑은 고딕"/>
                          <a:cs typeface="맑은 고딕"/>
                          <a:hlinkClick r:id="rId2"/>
                        </a:rPr>
                        <a:t>NASA Li-ion
Battery Aging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다양한 온도·프로파일의 전압·전류·온도 시계열 (충방전 사이클·노화)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LSTM-AE "정상" 학습 데이터 — 노화 정상분포 학습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800" b="0" u="sng">
                          <a:solidFill>
                            <a:srgbClr val="4472C4"/>
                          </a:solidFill>
                          <a:latin typeface="맑은 고딕"/>
                          <a:ea typeface="맑은 고딕"/>
                          <a:cs typeface="맑은 고딕"/>
                          <a:hlinkClick r:id="rId3"/>
                        </a:rPr>
                        <a:t>ORNL/Sandia
기계적 유발 TR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압입 내부단락 유발, 전압·하중·압입변위·온도 + 0–100 심각도 라벨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실고장 + 심각도 라벨 → 등급(정상~위험) 검증·테스트셋으로 최적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800" b="0" u="sng">
                          <a:solidFill>
                            <a:srgbClr val="4472C4"/>
                          </a:solidFill>
                          <a:latin typeface="맑은 고딕"/>
                          <a:ea typeface="맑은 고딕"/>
                          <a:cs typeface="맑은 고딕"/>
                          <a:hlinkClick r:id="rId4"/>
                        </a:rPr>
                        <a:t>Sandia Thermal
Runaway DB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LCO·NCA 등 상용셀 칼로리미터·열중량(TGA) 발열 특성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 데이터의 온도곡선·발열 파라미터 보정 근거</a:t>
                      </a:r>
                    </a:p>
                  </a:txBody>
                  <a:tcPr marL="45000" marR="45000" marT="9000" marB="9000" anchor="ctr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800" b="0" u="sng">
                          <a:solidFill>
                            <a:srgbClr val="4472C4"/>
                          </a:solidFill>
                          <a:latin typeface="맑은 고딕"/>
                          <a:ea typeface="맑은 고딕"/>
                          <a:cs typeface="맑은 고딕"/>
                          <a:hlinkClick r:id="rId5"/>
                        </a:rPr>
                        <a:t>ARC 18650
(MDPI Batteries)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가속열량계(ARC)로 측정한 18650 자기발열·트리거·피크 온도 곡선</a:t>
                      </a: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T1/T2/T3 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변곡·dT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/dt 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폭증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형상을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데이터에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</a:t>
                      </a:r>
                      <a:endParaRPr sz="800" b="0" dirty="0">
                        <a:solidFill>
                          <a:srgbClr val="333333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000" marR="45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4040" y="3280000"/>
            <a:ext cx="9400960" cy="16927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00" b="1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100" b="1" dirty="0" err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1100" b="1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참고</a:t>
            </a:r>
            <a:r>
              <a:rPr sz="1100" b="1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4472C4"/>
                </a:solidFill>
                <a:latin typeface="맑은 고딕"/>
                <a:ea typeface="맑은 고딕"/>
                <a:cs typeface="맑은 고딕"/>
              </a:rPr>
              <a:t>문헌</a:t>
            </a:r>
            <a:endParaRPr sz="1100" b="1" dirty="0">
              <a:solidFill>
                <a:srgbClr val="4472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3000" y="3550000"/>
            <a:ext cx="4620000" cy="32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6"/>
              </a:rPr>
              <a:t>[1] Thermal Runaway Process of 18650 Li-ion Battery (실험) — PMC/NCBI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7"/>
              </a:rPr>
              <a:t>[2] Critical Review of TR Prediction &amp; Early-Warning — Energy Material Advances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8"/>
              </a:rPr>
              <a:t>[3] Characterization on TR of Commercial 18650 (review) — ScienceDirect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5"/>
              </a:rPr>
              <a:t>[4] TR in 18650 Using an ARC — MDPI Batteries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9"/>
              </a:rPr>
              <a:t>[5] Gas Detection for TR of Li-ion Batteries — Frontiers in Physics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 dirty="0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10"/>
              </a:rPr>
              <a:t>[6] Dual-stage TR Early Warning via Acoustic Signal Fusion —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5000" y="3550000"/>
            <a:ext cx="4620000" cy="32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11"/>
              </a:rPr>
              <a:t>[7] Swelling Mechanisms &amp; Diagnostics in Li-ion Batteries — MDPI Batteries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12"/>
              </a:rPr>
              <a:t>[8] Advances in Early Warning of TR in Li-ion ESS — Wiley Adv. Sensor Research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2"/>
              </a:rPr>
              <a:t>[9] NASA Li-ion Battery Aging Datasets — data.nasa.gov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3"/>
              </a:rPr>
              <a:t>[10] Mechanically Induced TR Measurement &amp; Severity (ORNL/Sandia) — ScienceDirect Data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4"/>
              </a:rPr>
              <a:t>[11] Sandia Thermal Runaway Database Development (PDF) — sandia.gov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50" b="0" u="sng">
                <a:solidFill>
                  <a:srgbClr val="4472C4"/>
                </a:solidFill>
                <a:latin typeface="맑은 고딕"/>
                <a:ea typeface="맑은 고딕"/>
                <a:cs typeface="맑은 고딕"/>
                <a:hlinkClick r:id="rId13"/>
              </a:rPr>
              <a:t>[12] Why Do LiPo Batteries Explode &amp; How to Prevent It — Large Battery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304363" y="163550"/>
            <a:ext cx="318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시스템 아키텍처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pic>
        <p:nvPicPr>
          <p:cNvPr id="13313" name="그림 13312">
            <a:extLst>
              <a:ext uri="{FF2B5EF4-FFF2-40B4-BE49-F238E27FC236}">
                <a16:creationId xmlns:a16="http://schemas.microsoft.com/office/drawing/2014/main" id="{B285C52D-8A0F-0D42-E658-72A5E82D8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40" y="1383427"/>
            <a:ext cx="9437193" cy="408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24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8465" y="290195"/>
            <a:ext cx="891540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463" b="1">
                <a:latin typeface="맑은 고딕"/>
                <a:ea typeface="맑은 고딕"/>
                <a:cs typeface="맑은 고딕"/>
              </a:rPr>
              <a:t>전체</a:t>
            </a: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데이터 파이프라인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324" y="1070293"/>
            <a:ext cx="8915400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788" b="1">
                <a:latin typeface="맑은 고딕"/>
                <a:ea typeface="맑은 고딕"/>
                <a:cs typeface="맑은 고딕"/>
              </a:rPr>
              <a:t>Raspberry Pi → Apache Kafka(AWS EC2) → Consumer → PostgreSQL → 후속 팀</a:t>
            </a:r>
            <a:r>
              <a:rPr sz="1016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18465" y="1961833"/>
            <a:ext cx="1820228" cy="1114425"/>
          </a:xfrm>
          <a:prstGeom prst="rect">
            <a:avLst/>
          </a:prstGeom>
          <a:solidFill>
            <a:srgbClr val="FFFFFF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Rectangle 5"/>
          <p:cNvSpPr/>
          <p:nvPr/>
        </p:nvSpPr>
        <p:spPr>
          <a:xfrm>
            <a:off x="418465" y="1961833"/>
            <a:ext cx="1820228" cy="312039"/>
          </a:xfrm>
          <a:prstGeom prst="rect">
            <a:avLst/>
          </a:prstGeom>
          <a:solidFill>
            <a:srgbClr val="16243B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" name="TextBox 6"/>
          <p:cNvSpPr txBox="1"/>
          <p:nvPr/>
        </p:nvSpPr>
        <p:spPr>
          <a:xfrm>
            <a:off x="418465" y="2013839"/>
            <a:ext cx="1820228" cy="15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1016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Raspberry Pi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195" y="2333307"/>
            <a:ext cx="1597343" cy="60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Producer (Python)</a:t>
            </a:r>
          </a:p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센서값 수집/생성</a:t>
            </a:r>
          </a:p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JSON 직렬화</a:t>
            </a:r>
            <a:r>
              <a:rPr lang="en-US" altLang="ko-KR"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(serialization</a:t>
            </a:r>
            <a:endParaRPr sz="853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163"/>
              </a:spcAft>
              <a:defRPr/>
            </a:pPr>
            <a:endParaRPr sz="853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35872" y="1961833"/>
            <a:ext cx="2043113" cy="1114425"/>
          </a:xfrm>
          <a:prstGeom prst="rect">
            <a:avLst/>
          </a:prstGeom>
          <a:solidFill>
            <a:srgbClr val="FFFFFF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ectangle 9"/>
          <p:cNvSpPr/>
          <p:nvPr/>
        </p:nvSpPr>
        <p:spPr>
          <a:xfrm>
            <a:off x="2535872" y="1961833"/>
            <a:ext cx="2043113" cy="312039"/>
          </a:xfrm>
          <a:prstGeom prst="rect">
            <a:avLst/>
          </a:prstGeom>
          <a:solidFill>
            <a:srgbClr val="2E6FE6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TextBox 10"/>
          <p:cNvSpPr txBox="1"/>
          <p:nvPr/>
        </p:nvSpPr>
        <p:spPr>
          <a:xfrm>
            <a:off x="2535872" y="2013839"/>
            <a:ext cx="2043113" cy="15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1016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Apache 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9603" y="2333307"/>
            <a:ext cx="1820228" cy="60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3"/>
              </a:spcAft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AWS EC2  :9092</a:t>
            </a:r>
          </a:p>
          <a:p>
            <a:pPr>
              <a:spcAft>
                <a:spcPts val="163"/>
              </a:spcAft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topic: battery-data</a:t>
            </a:r>
          </a:p>
          <a:p>
            <a:pPr>
              <a:spcAft>
                <a:spcPts val="163"/>
              </a:spcAft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partition 0 (key=cell_A)</a:t>
            </a:r>
          </a:p>
          <a:p>
            <a:pPr>
              <a:spcAft>
                <a:spcPts val="163"/>
              </a:spcAft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retention 1h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3312" y="1961833"/>
            <a:ext cx="1820228" cy="1114425"/>
          </a:xfrm>
          <a:prstGeom prst="rect">
            <a:avLst/>
          </a:prstGeom>
          <a:solidFill>
            <a:srgbClr val="FFFFFF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4" name="Rectangle 13"/>
          <p:cNvSpPr/>
          <p:nvPr/>
        </p:nvSpPr>
        <p:spPr>
          <a:xfrm>
            <a:off x="4913312" y="1961833"/>
            <a:ext cx="1820228" cy="312039"/>
          </a:xfrm>
          <a:prstGeom prst="rect">
            <a:avLst/>
          </a:prstGeom>
          <a:solidFill>
            <a:srgbClr val="16243B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5" name="TextBox 14"/>
          <p:cNvSpPr txBox="1"/>
          <p:nvPr/>
        </p:nvSpPr>
        <p:spPr>
          <a:xfrm>
            <a:off x="4913312" y="2013839"/>
            <a:ext cx="1820228" cy="15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1016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Consumer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043" y="2333307"/>
            <a:ext cx="1597343" cy="445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local_consumer.py</a:t>
            </a:r>
          </a:p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JSON 역직렬화</a:t>
            </a:r>
            <a:r>
              <a:rPr lang="en-US" altLang="ko-KR"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(Deserialization)</a:t>
            </a:r>
          </a:p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offset: latest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7867" y="1961833"/>
            <a:ext cx="1820228" cy="1114425"/>
          </a:xfrm>
          <a:prstGeom prst="rect">
            <a:avLst/>
          </a:prstGeom>
          <a:solidFill>
            <a:srgbClr val="FFFFFF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Rectangle 17"/>
          <p:cNvSpPr/>
          <p:nvPr/>
        </p:nvSpPr>
        <p:spPr>
          <a:xfrm>
            <a:off x="7067867" y="1961833"/>
            <a:ext cx="1820228" cy="312039"/>
          </a:xfrm>
          <a:prstGeom prst="rect">
            <a:avLst/>
          </a:prstGeom>
          <a:solidFill>
            <a:srgbClr val="2E6FE6"/>
          </a:solidFill>
          <a:ln w="16510">
            <a:solidFill>
              <a:srgbClr val="16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TextBox 18"/>
          <p:cNvSpPr txBox="1"/>
          <p:nvPr/>
        </p:nvSpPr>
        <p:spPr>
          <a:xfrm>
            <a:off x="7067867" y="2013839"/>
            <a:ext cx="1820228" cy="15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1016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1598" y="2333307"/>
            <a:ext cx="1597343" cy="445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table: battery_logs</a:t>
            </a:r>
          </a:p>
          <a:p>
            <a:pPr>
              <a:spcAft>
                <a:spcPts val="163"/>
              </a:spcAft>
              <a:defRPr/>
            </a:pPr>
            <a:r>
              <a:rPr sz="853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건별 commit</a:t>
            </a:r>
          </a:p>
          <a:p>
            <a:pPr>
              <a:spcAft>
                <a:spcPts val="163"/>
              </a:spcAft>
              <a:defRPr/>
            </a:pPr>
            <a:endParaRPr sz="853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238693" y="2519045"/>
            <a:ext cx="297180" cy="0"/>
          </a:xfrm>
          <a:prstGeom prst="line">
            <a:avLst/>
          </a:prstGeom>
          <a:ln w="20320">
            <a:solidFill>
              <a:srgbClr val="1624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90103" y="2207006"/>
            <a:ext cx="594360" cy="131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85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8985" y="2519045"/>
            <a:ext cx="334328" cy="0"/>
          </a:xfrm>
          <a:prstGeom prst="line">
            <a:avLst/>
          </a:prstGeom>
          <a:ln w="20320">
            <a:solidFill>
              <a:srgbClr val="1624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48969" y="2207006"/>
            <a:ext cx="594360" cy="131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85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구독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33540" y="2519045"/>
            <a:ext cx="334328" cy="0"/>
          </a:xfrm>
          <a:prstGeom prst="line">
            <a:avLst/>
          </a:prstGeom>
          <a:ln w="20320">
            <a:solidFill>
              <a:srgbClr val="1624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03524" y="2207006"/>
            <a:ext cx="594360" cy="131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85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465" y="3484880"/>
            <a:ext cx="4420553" cy="854393"/>
          </a:xfrm>
          <a:prstGeom prst="rect">
            <a:avLst/>
          </a:prstGeom>
          <a:solidFill>
            <a:srgbClr val="EEF1F6"/>
          </a:solidFill>
          <a:ln w="12700">
            <a:solidFill>
              <a:srgbClr val="C8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TextBox 27"/>
          <p:cNvSpPr txBox="1"/>
          <p:nvPr/>
        </p:nvSpPr>
        <p:spPr>
          <a:xfrm>
            <a:off x="567055" y="3574034"/>
            <a:ext cx="4160520" cy="137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</a:pPr>
            <a:r>
              <a:rPr sz="894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데이터 스키마 (1 레코드 / 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055" y="3826637"/>
            <a:ext cx="4234815" cy="137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</a:pPr>
            <a:r>
              <a:rPr sz="894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timestamp · voltage(V) · current(A) · temperature(℃) · soc(%)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055" y="4079241"/>
            <a:ext cx="4234815" cy="118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772" b="1">
                <a:latin typeface="맑은 고딕"/>
                <a:ea typeface="맑은 고딕"/>
                <a:cs typeface="맑은 고딕"/>
              </a:rPr>
              <a:t>실제 센서 출력과 동일 포맷</a:t>
            </a:r>
            <a:r>
              <a:rPr sz="772" i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67867" y="3484880"/>
            <a:ext cx="1820228" cy="854393"/>
          </a:xfrm>
          <a:prstGeom prst="rect">
            <a:avLst/>
          </a:prstGeom>
          <a:solidFill>
            <a:srgbClr val="FFFFFF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TextBox 31"/>
          <p:cNvSpPr txBox="1"/>
          <p:nvPr/>
        </p:nvSpPr>
        <p:spPr>
          <a:xfrm>
            <a:off x="7067867" y="3574034"/>
            <a:ext cx="1820228" cy="137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25"/>
              </a:spcAft>
            </a:pPr>
            <a:r>
              <a:rPr sz="894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후속 팀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6458" y="3856356"/>
            <a:ext cx="1634490" cy="118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</a:pPr>
            <a:r>
              <a:rPr sz="772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알고리즘팀 — SOC 추정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6458" y="4064382"/>
            <a:ext cx="1634490" cy="118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</a:pPr>
            <a:r>
              <a:rPr sz="772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· 대시보드팀 — 시각화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77981" y="3076257"/>
            <a:ext cx="0" cy="408623"/>
          </a:xfrm>
          <a:prstGeom prst="line">
            <a:avLst/>
          </a:prstGeom>
          <a:ln w="1778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37417" y="3161697"/>
            <a:ext cx="594360" cy="131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lang="ko-KR" altLang="en-US" sz="853" b="1">
                <a:latin typeface="맑은 고딕"/>
                <a:ea typeface="맑은 고딕"/>
                <a:cs typeface="맑은 고딕"/>
              </a:rPr>
              <a:t>전달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38" y="639381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TextBox 37"/>
          <p:cNvSpPr txBox="1"/>
          <p:nvPr/>
        </p:nvSpPr>
        <p:spPr>
          <a:xfrm>
            <a:off x="9229495" y="5873305"/>
            <a:ext cx="490520" cy="1376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94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&lt; 1 / 8 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4"/>
          <p:cNvSpPr>
            <a:spLocks noGrp="1"/>
          </p:cNvSpPr>
          <p:nvPr>
            <p:ph type="title"/>
          </p:nvPr>
        </p:nvSpPr>
        <p:spPr>
          <a:xfrm>
            <a:off x="371598" y="208915"/>
            <a:ext cx="8618533" cy="371475"/>
          </a:xfrm>
        </p:spPr>
        <p:txBody>
          <a:bodyPr vert="horz" lIns="91440" tIns="0" rIns="91440" bIns="45720" rtlCol="0" anchor="t">
            <a:normAutofit/>
          </a:bodyPr>
          <a:lstStyle/>
          <a:p>
            <a:pPr lvl="0" algn="l">
              <a:defRPr/>
            </a:pPr>
            <a:r>
              <a:rPr lang="ko-KR" altLang="en-US" sz="1463" b="1">
                <a:latin typeface="맑은 고딕"/>
                <a:ea typeface="맑은 고딕"/>
              </a:rPr>
              <a:t>카프카 셋업 환경</a:t>
            </a:r>
            <a:endParaRPr lang="en-US" altLang="ko-KR" sz="1463" b="1">
              <a:latin typeface="맑은 고딕"/>
              <a:ea typeface="맑은 고딕"/>
            </a:endParaRPr>
          </a:p>
        </p:txBody>
      </p:sp>
      <p:pic>
        <p:nvPicPr>
          <p:cNvPr id="1026" name="Picture 2" descr="AWS EC2 인스턴스 개념 및 서버 구축하기">
            <a:extLst>
              <a:ext uri="{FF2B5EF4-FFF2-40B4-BE49-F238E27FC236}">
                <a16:creationId xmlns:a16="http://schemas.microsoft.com/office/drawing/2014/main" id="{A5DBEAF4-98AC-496E-ABC6-8F0D91A46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5" y="1884065"/>
            <a:ext cx="1494335" cy="84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B4C82D8D-5B46-45D7-9379-285FD807BA81}"/>
              </a:ext>
            </a:extLst>
          </p:cNvPr>
          <p:cNvSpPr/>
          <p:nvPr/>
        </p:nvSpPr>
        <p:spPr>
          <a:xfrm>
            <a:off x="638230" y="2724629"/>
            <a:ext cx="2331886" cy="11225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/>
              <a:t>Kafka Server</a:t>
            </a:r>
          </a:p>
          <a:p>
            <a:pPr algn="ctr"/>
            <a:endParaRPr lang="en-US" altLang="ko-KR" sz="1463"/>
          </a:p>
          <a:p>
            <a:pPr algn="ctr"/>
            <a:r>
              <a:rPr lang="en-US" altLang="ko-KR" sz="1463"/>
              <a:t>Producer - msg </a:t>
            </a:r>
            <a:endParaRPr lang="ko-KR" altLang="en-US" sz="146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3668C8-B3E1-4661-B87B-5E027E91390C}"/>
              </a:ext>
            </a:extLst>
          </p:cNvPr>
          <p:cNvSpPr/>
          <p:nvPr/>
        </p:nvSpPr>
        <p:spPr>
          <a:xfrm>
            <a:off x="4071254" y="1884065"/>
            <a:ext cx="829718" cy="612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/>
              <a:t>Local </a:t>
            </a:r>
          </a:p>
          <a:p>
            <a:pPr algn="ctr"/>
            <a:r>
              <a:rPr lang="en-US" altLang="ko-KR" sz="1463"/>
              <a:t>PC</a:t>
            </a:r>
            <a:endParaRPr lang="ko-KR" altLang="en-US" sz="1463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AE3AB88-DCBA-4733-A425-974E4B2B091C}"/>
              </a:ext>
            </a:extLst>
          </p:cNvPr>
          <p:cNvCxnSpPr>
            <a:cxnSpLocks/>
          </p:cNvCxnSpPr>
          <p:nvPr/>
        </p:nvCxnSpPr>
        <p:spPr>
          <a:xfrm>
            <a:off x="2003919" y="2278310"/>
            <a:ext cx="2067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EDCDB7B5-770D-408D-88C4-B144A644E6BC}"/>
              </a:ext>
            </a:extLst>
          </p:cNvPr>
          <p:cNvSpPr/>
          <p:nvPr/>
        </p:nvSpPr>
        <p:spPr>
          <a:xfrm>
            <a:off x="3327156" y="2744164"/>
            <a:ext cx="2331886" cy="11225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/>
              <a:t>Kafka Client</a:t>
            </a:r>
          </a:p>
          <a:p>
            <a:pPr algn="ctr"/>
            <a:endParaRPr lang="en-US" altLang="ko-KR" sz="1463"/>
          </a:p>
          <a:p>
            <a:pPr algn="ctr"/>
            <a:r>
              <a:rPr lang="en-US" altLang="ko-KR" sz="1463"/>
              <a:t>Consumer  - msg </a:t>
            </a:r>
            <a:endParaRPr lang="ko-KR" altLang="en-US" sz="1463"/>
          </a:p>
        </p:txBody>
      </p:sp>
      <p:pic>
        <p:nvPicPr>
          <p:cNvPr id="1028" name="Picture 4" descr="데이터 베이스 - 무료 현서와 웹개 아이콘">
            <a:extLst>
              <a:ext uri="{FF2B5EF4-FFF2-40B4-BE49-F238E27FC236}">
                <a16:creationId xmlns:a16="http://schemas.microsoft.com/office/drawing/2014/main" id="{DAC255E3-2F6D-4D42-B4CE-304113DF0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733" y="1898787"/>
            <a:ext cx="660353" cy="66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05BF200-1839-40B2-AFCD-1DFE4E1684DA}"/>
              </a:ext>
            </a:extLst>
          </p:cNvPr>
          <p:cNvCxnSpPr>
            <a:cxnSpLocks/>
          </p:cNvCxnSpPr>
          <p:nvPr/>
        </p:nvCxnSpPr>
        <p:spPr>
          <a:xfrm flipV="1">
            <a:off x="4955352" y="2213235"/>
            <a:ext cx="455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842E9B-F245-41CE-825F-21DF9B0EAD24}"/>
              </a:ext>
            </a:extLst>
          </p:cNvPr>
          <p:cNvSpPr txBox="1"/>
          <p:nvPr/>
        </p:nvSpPr>
        <p:spPr>
          <a:xfrm>
            <a:off x="5014628" y="2513731"/>
            <a:ext cx="958664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63"/>
              <a:t>Postgre DB</a:t>
            </a:r>
            <a:endParaRPr lang="ko-KR" altLang="en-US" sz="1463"/>
          </a:p>
        </p:txBody>
      </p:sp>
      <p:pic>
        <p:nvPicPr>
          <p:cNvPr id="1030" name="Picture 6" descr="데이터 베이스(DataBase) 란 무엇인가? : 네이버 블로그">
            <a:extLst>
              <a:ext uri="{FF2B5EF4-FFF2-40B4-BE49-F238E27FC236}">
                <a16:creationId xmlns:a16="http://schemas.microsoft.com/office/drawing/2014/main" id="{BF9E2D26-C49C-4386-865B-D76BA9836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086" y="2349404"/>
            <a:ext cx="1120969" cy="72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6876BE0-58E0-4CD0-BA43-E3BBD42BA7FE}"/>
              </a:ext>
            </a:extLst>
          </p:cNvPr>
          <p:cNvCxnSpPr>
            <a:cxnSpLocks/>
          </p:cNvCxnSpPr>
          <p:nvPr/>
        </p:nvCxnSpPr>
        <p:spPr>
          <a:xfrm>
            <a:off x="6016083" y="2213235"/>
            <a:ext cx="2067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대시보드 설계 시, 어떤 소프트웨어를 선택할까?- 6">
            <a:extLst>
              <a:ext uri="{FF2B5EF4-FFF2-40B4-BE49-F238E27FC236}">
                <a16:creationId xmlns:a16="http://schemas.microsoft.com/office/drawing/2014/main" id="{AAEC0425-3F24-4A8C-AD53-061E77B82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417" y="1821515"/>
            <a:ext cx="1280900" cy="85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E97D2DC-3DE3-406B-BF23-DD3785A92EEA}"/>
              </a:ext>
            </a:extLst>
          </p:cNvPr>
          <p:cNvSpPr/>
          <p:nvPr/>
        </p:nvSpPr>
        <p:spPr>
          <a:xfrm>
            <a:off x="320080" y="1514500"/>
            <a:ext cx="2952697" cy="3378525"/>
          </a:xfrm>
          <a:prstGeom prst="roundRect">
            <a:avLst>
              <a:gd name="adj" fmla="val 4734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79F4CC7-A899-484E-A70E-58C84F0BB856}"/>
              </a:ext>
            </a:extLst>
          </p:cNvPr>
          <p:cNvSpPr/>
          <p:nvPr/>
        </p:nvSpPr>
        <p:spPr>
          <a:xfrm>
            <a:off x="105050" y="2536567"/>
            <a:ext cx="5800726" cy="1737356"/>
          </a:xfrm>
          <a:prstGeom prst="roundRect">
            <a:avLst>
              <a:gd name="adj" fmla="val 4734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33" name="Rectangle 1032"/>
          <p:cNvSpPr/>
          <p:nvPr/>
        </p:nvSpPr>
        <p:spPr>
          <a:xfrm>
            <a:off x="185861" y="558101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4"/>
          <p:cNvSpPr>
            <a:spLocks noGrp="1"/>
          </p:cNvSpPr>
          <p:nvPr>
            <p:ph type="title"/>
          </p:nvPr>
        </p:nvSpPr>
        <p:spPr>
          <a:xfrm>
            <a:off x="300355" y="219075"/>
            <a:ext cx="8618533" cy="371475"/>
          </a:xfrm>
        </p:spPr>
        <p:txBody>
          <a:bodyPr vert="horz" lIns="91440" tIns="0" rIns="91440" bIns="45720" rtlCol="0" anchor="t">
            <a:normAutofit/>
          </a:bodyPr>
          <a:lstStyle/>
          <a:p>
            <a:pPr lvl="0" algn="l">
              <a:defRPr/>
            </a:pPr>
            <a:r>
              <a:rPr lang="ko-KR" altLang="en-US" sz="1463" b="1">
                <a:latin typeface="맑은 고딕"/>
                <a:ea typeface="맑은 고딕"/>
              </a:rPr>
              <a:t>카프카 셋업 환경</a:t>
            </a:r>
            <a:endParaRPr lang="en-US" altLang="ko-KR" sz="1463" b="1">
              <a:latin typeface="맑은 고딕"/>
              <a:ea typeface="맑은 고딕"/>
            </a:endParaRPr>
          </a:p>
        </p:txBody>
      </p:sp>
      <p:pic>
        <p:nvPicPr>
          <p:cNvPr id="2050" name="Picture 2" descr="Azure Event Hubs가 이벤트 스트리밍 플랫폼에 어떻게 적용되는지 보여주는 다이어그램입니다.">
            <a:extLst>
              <a:ext uri="{FF2B5EF4-FFF2-40B4-BE49-F238E27FC236}">
                <a16:creationId xmlns:a16="http://schemas.microsoft.com/office/drawing/2014/main" id="{6BFD888E-9DBA-4061-B44B-BD4D49195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686" y="1521132"/>
            <a:ext cx="7120389" cy="340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2050"/>
          <p:cNvSpPr/>
          <p:nvPr/>
        </p:nvSpPr>
        <p:spPr>
          <a:xfrm>
            <a:off x="114618" y="568261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5178" y="188595"/>
            <a:ext cx="891540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가상 배터리 데이터 생성 (회로 설계 완료 · 실 제작 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9238" y="1303020"/>
            <a:ext cx="4505083" cy="2457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1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1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회로도 설계는 완료 </a:t>
            </a:r>
            <a:r>
              <a:rPr sz="121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BMS 회로(bms_v5) 스키매틱 확정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endParaRPr sz="1219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1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1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파이프라인 선검증</a:t>
            </a:r>
          </a:p>
          <a:p>
            <a:pPr>
              <a:lnSpc>
                <a:spcPct val="112000"/>
              </a:lnSpc>
              <a:spcAft>
                <a:spcPts val="163"/>
              </a:spcAft>
              <a:defRPr/>
            </a:pPr>
            <a:r>
              <a:rPr sz="934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   </a:t>
            </a:r>
            <a:r>
              <a:rPr sz="934">
                <a:latin typeface="맑은 고딕"/>
                <a:ea typeface="맑은 고딕"/>
                <a:cs typeface="맑은 고딕"/>
              </a:rPr>
              <a:t>하드웨어 도입 전 SW 시뮬레이션으로 수집→전송→저장 안전성 확인</a:t>
            </a:r>
            <a:endParaRPr sz="934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2000"/>
              </a:lnSpc>
              <a:spcAft>
                <a:spcPts val="163"/>
              </a:spcAft>
              <a:defRPr/>
            </a:pPr>
            <a:endParaRPr sz="934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1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1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실데이터와 동일 포맷</a:t>
            </a:r>
          </a:p>
          <a:p>
            <a:pPr>
              <a:lnSpc>
                <a:spcPct val="112000"/>
              </a:lnSpc>
              <a:spcAft>
                <a:spcPts val="163"/>
              </a:spcAft>
              <a:defRPr/>
            </a:pPr>
            <a:r>
              <a:rPr lang="en-US" altLang="ko-KR" sz="934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    </a:t>
            </a:r>
            <a:r>
              <a:rPr lang="ko-KR" altLang="en-US" sz="934">
                <a:latin typeface="맑은 고딕"/>
                <a:ea typeface="맑은 고딕"/>
                <a:cs typeface="맑은 고딕"/>
              </a:rPr>
              <a:t>전압</a:t>
            </a:r>
            <a:r>
              <a:rPr lang="en-US" altLang="ko-KR" sz="934"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934">
                <a:latin typeface="맑은 고딕"/>
                <a:ea typeface="맑은 고딕"/>
                <a:cs typeface="맑은 고딕"/>
              </a:rPr>
              <a:t>전류</a:t>
            </a:r>
            <a:r>
              <a:rPr lang="en-US" altLang="ko-KR" sz="934"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934">
                <a:latin typeface="맑은 고딕"/>
                <a:ea typeface="맑은 고딕"/>
                <a:cs typeface="맑은 고딕"/>
              </a:rPr>
              <a:t>온도</a:t>
            </a:r>
            <a:r>
              <a:rPr lang="en-US" altLang="ko-KR" sz="934">
                <a:latin typeface="맑은 고딕"/>
                <a:ea typeface="맑은 고딕"/>
                <a:cs typeface="맑은 고딕"/>
              </a:rPr>
              <a:t>,soc,</a:t>
            </a:r>
            <a:r>
              <a:rPr lang="ko-KR" altLang="en-US" sz="934">
                <a:latin typeface="맑은 고딕"/>
                <a:ea typeface="맑은 고딕"/>
                <a:cs typeface="맑은 고딕"/>
              </a:rPr>
              <a:t>시간</a:t>
            </a:r>
            <a:endParaRPr lang="ko-KR" altLang="en-US" sz="934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2000"/>
              </a:lnSpc>
              <a:spcAft>
                <a:spcPts val="163"/>
              </a:spcAft>
              <a:defRPr/>
            </a:pPr>
            <a:endParaRPr sz="934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2000"/>
              </a:lnSpc>
              <a:spcAft>
                <a:spcPts val="163"/>
              </a:spcAft>
              <a:defRPr/>
            </a:pPr>
            <a:endParaRPr lang="en-US" altLang="ko-KR" sz="1219" b="1">
              <a:solidFill>
                <a:srgbClr val="2E6FE6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endParaRPr lang="en-US" altLang="ko-KR" sz="934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37206" y="1154430"/>
            <a:ext cx="4086225" cy="16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056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가상 데이터 Producer (핵심 로직)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7206" y="1332738"/>
            <a:ext cx="4086225" cy="3022425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463"/>
          </a:p>
        </p:txBody>
      </p:sp>
      <p:sp>
        <p:nvSpPr>
          <p:cNvPr id="7" name="TextBox 6"/>
          <p:cNvSpPr txBox="1"/>
          <p:nvPr/>
        </p:nvSpPr>
        <p:spPr>
          <a:xfrm>
            <a:off x="5400655" y="1451610"/>
            <a:ext cx="3759327" cy="28766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6FB0F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json, time, random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6FB0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kafka </a:t>
            </a:r>
            <a:r>
              <a:rPr sz="845">
                <a:solidFill>
                  <a:srgbClr val="6FB0F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KafkaProducer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endParaRPr sz="813">
              <a:solidFill>
                <a:srgbClr val="E6EDF7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producer = KafkaProducer(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bootstrap_servers=</a:t>
            </a: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'3.38.147.82:9092'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value_serializer=lambda v: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json.dumps(v).encode(</a:t>
            </a: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'utf-8'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endParaRPr sz="813">
              <a:solidFill>
                <a:srgbClr val="E6EDF7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6FB0FF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True: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data = {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    'voltage'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: round(3.5+soc*0.7,3),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    'current'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: round(load,3),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    'temperature'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: round(temp,2),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    'soc'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: round(soc,2),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    'timestamp'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: now() }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producer.send(</a:t>
            </a:r>
            <a:r>
              <a:rPr sz="845">
                <a:solidFill>
                  <a:srgbClr val="FFC96B"/>
                </a:solidFill>
                <a:latin typeface="Consolas"/>
                <a:ea typeface="Consolas"/>
                <a:cs typeface="Consolas"/>
              </a:rPr>
              <a:t>'battery-data'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key=b</a:t>
            </a:r>
            <a:r>
              <a:rPr sz="845">
                <a:solidFill>
                  <a:srgbClr val="FFC96B"/>
                </a:solidFill>
                <a:latin typeface="Consolas"/>
                <a:ea typeface="Consolas"/>
                <a:cs typeface="Consolas"/>
              </a:rPr>
              <a:t>'cell_A'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, value=data)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time.sleep(</a:t>
            </a:r>
            <a:r>
              <a:rPr lang="en-US" altLang="ko-KR" sz="845">
                <a:solidFill>
                  <a:srgbClr val="FFC96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845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)   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0" y="4127778"/>
            <a:ext cx="8692515" cy="15552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5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</a:t>
            </a:r>
            <a:r>
              <a:rPr lang="ko-KR" altLang="en-US" sz="125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25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메시지 키 전략</a:t>
            </a:r>
            <a:r>
              <a:rPr lang="en-US" altLang="ko-KR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- </a:t>
            </a: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key를 'cell_A'로 고정하면 Kafka 해시 알고리즘이 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항상 같은 파티션에 적재한다.별 시계열 순서가 절대 뒤바뀌지 않아, Consumer가 안전하게 순차 처리할</a:t>
            </a:r>
            <a:r>
              <a:rPr lang="ko-KR" altLang="en-US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수 있다</a:t>
            </a:r>
            <a:r>
              <a:rPr lang="en-US" altLang="ko-KR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259" b="1">
              <a:solidFill>
                <a:srgbClr val="2E6FE6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5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메시지 직렬화 </a:t>
            </a:r>
            <a:r>
              <a:rPr lang="en-US" altLang="ko-KR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JSON dict를 UTF-8 bytes로 직렬화하여 전송, 스키마 고정으로 Consumer 파싱이 안정적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5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토픽 &amp; 파티셔닝 </a:t>
            </a:r>
            <a:r>
              <a:rPr lang="en-US" altLang="ko-KR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topic 'battery-data'에 key='cell_A'로 전송 → 해시 기반 단일 파티션으로 순서 보장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259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9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브로커 버퍼링</a:t>
            </a:r>
            <a:r>
              <a:rPr lang="en-US" altLang="ko-KR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-</a:t>
            </a: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AWS EC2 브로커가 retention 1h 동안 보관 → Consumer </a:t>
            </a:r>
            <a:r>
              <a:rPr lang="ko-KR" altLang="en-US"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에러발생</a:t>
            </a:r>
            <a:r>
              <a:rPr sz="1259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시에도 재처리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51" y="537781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8945" y="178435"/>
            <a:ext cx="891540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Producer → Broker</a:t>
            </a: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전송</a:t>
            </a: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388" y="1292860"/>
            <a:ext cx="8692515" cy="202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endParaRPr sz="1259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8607" y="1187566"/>
            <a:ext cx="7944125" cy="3652383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2405318" y="4937694"/>
            <a:ext cx="4952876" cy="406011"/>
          </a:xfrm>
          <a:prstGeom prst="rect">
            <a:avLst/>
          </a:prstGeom>
        </p:spPr>
        <p:txBody>
          <a:bodyPr wrap="none"/>
          <a:lstStyle/>
          <a:p>
            <a:pPr lvl="0" algn="ctr">
              <a:defRPr/>
            </a:pPr>
            <a:r>
              <a:rPr lang="ko-KR" altLang="en-US" sz="1706" b="1">
                <a:latin typeface="굴림"/>
                <a:ea typeface="굴림"/>
              </a:rPr>
              <a:t>라즈베리파이 데이터</a:t>
            </a:r>
            <a:r>
              <a:rPr lang="en-US" altLang="ko-KR" sz="1706" b="1">
                <a:latin typeface="굴림"/>
                <a:ea typeface="굴림"/>
              </a:rPr>
              <a:t>(</a:t>
            </a:r>
            <a:r>
              <a:rPr lang="ko-KR" altLang="en-US" sz="1706" b="1">
                <a:latin typeface="굴림"/>
                <a:ea typeface="굴림"/>
              </a:rPr>
              <a:t>전압</a:t>
            </a:r>
            <a:r>
              <a:rPr lang="en-US" altLang="ko-KR" sz="1706" b="1">
                <a:latin typeface="굴림"/>
                <a:ea typeface="굴림"/>
              </a:rPr>
              <a:t>,</a:t>
            </a:r>
            <a:r>
              <a:rPr lang="ko-KR" altLang="en-US" sz="1706" b="1">
                <a:latin typeface="굴림"/>
                <a:ea typeface="굴림"/>
              </a:rPr>
              <a:t>전류</a:t>
            </a:r>
            <a:r>
              <a:rPr lang="en-US" altLang="ko-KR" sz="1706" b="1">
                <a:latin typeface="굴림"/>
                <a:ea typeface="굴림"/>
              </a:rPr>
              <a:t>,soc)</a:t>
            </a:r>
            <a:r>
              <a:rPr lang="ko-KR" altLang="en-US" sz="1706" b="1">
                <a:latin typeface="굴림"/>
                <a:ea typeface="굴림"/>
              </a:rPr>
              <a:t> 송신 화면</a:t>
            </a:r>
            <a:endParaRPr sz="1463"/>
          </a:p>
        </p:txBody>
      </p:sp>
      <p:sp>
        <p:nvSpPr>
          <p:cNvPr id="10" name="Rectangle 9"/>
          <p:cNvSpPr/>
          <p:nvPr/>
        </p:nvSpPr>
        <p:spPr>
          <a:xfrm>
            <a:off x="114618" y="527621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1005" y="0"/>
            <a:ext cx="8915400" cy="375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Brok</a:t>
            </a: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er → </a:t>
            </a: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Consumer(</a:t>
            </a:r>
            <a:r>
              <a:rPr lang="ko-KR" altLang="en-US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구독</a:t>
            </a: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243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005" y="1248156"/>
            <a:ext cx="4531995" cy="175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</a:pPr>
            <a:r>
              <a:rPr sz="113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local_consumer.py (실제 운영 코드)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005" y="1582483"/>
            <a:ext cx="4531995" cy="3343275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584454" y="1701355"/>
            <a:ext cx="4205096" cy="22664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consumer = KafkaConsumer(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861">
                <a:solidFill>
                  <a:srgbClr val="FFC96B"/>
                </a:solidFill>
                <a:latin typeface="Consolas"/>
                <a:ea typeface="Consolas"/>
                <a:cs typeface="Consolas"/>
              </a:rPr>
              <a:t>'battery-data'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bootstrap_servers=[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'3.38.147.82:9092'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value_deserializer=lambda v: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json.loads(v.decode(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'utf-8'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)),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auto_offset_reset=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'latest'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endParaRPr sz="813">
              <a:solidFill>
                <a:srgbClr val="E6EDF7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6FB0FF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message </a:t>
            </a:r>
            <a:r>
              <a:rPr sz="861">
                <a:solidFill>
                  <a:srgbClr val="6FB0FF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consumer: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data = message.value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cursor.execute(insert_query, (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data[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'timestamp'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], data[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'voltage'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data[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'current'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], data[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'temperature'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],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  data[</a:t>
            </a:r>
            <a:r>
              <a:rPr sz="861">
                <a:solidFill>
                  <a:srgbClr val="8FE3A8"/>
                </a:solidFill>
                <a:latin typeface="Consolas"/>
                <a:ea typeface="Consolas"/>
                <a:cs typeface="Consolas"/>
              </a:rPr>
              <a:t>'soc'</a:t>
            </a: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]))</a:t>
            </a:r>
          </a:p>
          <a:p>
            <a:pPr>
              <a:lnSpc>
                <a:spcPct val="105000"/>
              </a:lnSpc>
              <a:spcAft>
                <a:spcPts val="163"/>
              </a:spcAft>
              <a:defRPr/>
            </a:pPr>
            <a:r>
              <a:rPr sz="861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conn.commit()   </a:t>
            </a:r>
            <a:endParaRPr sz="861">
              <a:solidFill>
                <a:srgbClr val="9FB0C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75885" y="1656778"/>
            <a:ext cx="4160520" cy="1786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Kafka 구독 </a:t>
            </a:r>
            <a:r>
              <a:rPr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topic 'battery-data'를 실시간 구독</a:t>
            </a:r>
            <a:r>
              <a:rPr lang="en-US" altLang="ko-KR"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(latest offset)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역직렬화 </a:t>
            </a:r>
            <a:r>
              <a:rPr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UTF-8 → JSON dict 복원, 5개 항목 추출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INSERT 적재 </a:t>
            </a:r>
            <a:r>
              <a:rPr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battery_logs에 파라미터 바인딩 INSERT(SQL 인젝션 방지)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en-US" altLang="ko-KR" sz="117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conn.commit</a:t>
            </a:r>
            <a:r>
              <a:rPr sz="1178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메시지 1건마다 commit → </a:t>
            </a:r>
            <a:r>
              <a:rPr lang="ko-KR" altLang="en-US"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에러 발생 시</a:t>
            </a:r>
            <a:r>
              <a:rPr sz="1178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에도 데이터 무손실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78" y="520064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625" y="147955"/>
            <a:ext cx="891540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Consumer → PostgreSQL </a:t>
            </a: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적재</a:t>
            </a:r>
            <a:r>
              <a:rPr lang="en-US" altLang="ko-KR"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6784" y="1718089"/>
            <a:ext cx="2907529" cy="2527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</a:t>
            </a:r>
            <a:r>
              <a:rPr lang="ko-KR" altLang="en-US"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78" b="1">
                <a:latin typeface="맑은 고딕"/>
                <a:ea typeface="맑은 고딕"/>
                <a:cs typeface="맑은 고딕"/>
              </a:rPr>
              <a:t>S</a:t>
            </a:r>
            <a:r>
              <a:rPr sz="1178" b="1">
                <a:latin typeface="맑은 고딕"/>
                <a:ea typeface="맑은 고딕"/>
                <a:cs typeface="맑은 고딕"/>
              </a:rPr>
              <a:t>ELECT</a:t>
            </a:r>
            <a:r>
              <a:rPr lang="en-US" altLang="ko-KR" sz="1178" b="1">
                <a:latin typeface="맑은 고딕"/>
                <a:ea typeface="맑은 고딕"/>
                <a:cs typeface="맑은 고딕"/>
              </a:rPr>
              <a:t> </a:t>
            </a:r>
            <a:r>
              <a:rPr sz="1178" b="1">
                <a:latin typeface="맑은 고딕"/>
                <a:ea typeface="맑은 고딕"/>
                <a:cs typeface="맑은 고딕"/>
              </a:rPr>
              <a:t>: 데이터베이스 장부에서 어떤 컬럼(열)들을 골라서 볼지 지정 </a:t>
            </a: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78" b="1">
                <a:latin typeface="맑은 고딕"/>
                <a:ea typeface="맑은 고딕"/>
                <a:cs typeface="맑은 고딕"/>
              </a:rPr>
              <a:t>FROM battery_logs</a:t>
            </a:r>
            <a:r>
              <a:rPr lang="ko-KR" altLang="en-US" sz="1178" b="1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78" b="1"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178" b="1">
                <a:latin typeface="맑은 고딕"/>
                <a:ea typeface="맑은 고딕"/>
                <a:cs typeface="맑은 고딕"/>
              </a:rPr>
              <a:t> 만들어 두었던 battery_logs라는 이름의 테이블(데이터 장부)에서 데이터를 가져옴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ko-KR" altLang="en-US" sz="1178" b="1">
                <a:latin typeface="맑은 고딕"/>
                <a:ea typeface="맑은 고딕"/>
                <a:cs typeface="맑은 고딕"/>
              </a:rPr>
              <a:t>ORDER BY log_id DESC </a:t>
            </a:r>
            <a:r>
              <a:rPr lang="en-US" altLang="ko-KR" sz="1178" b="1"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178" b="1">
                <a:latin typeface="맑은 고딕"/>
                <a:ea typeface="맑은 고딕"/>
                <a:cs typeface="맑은 고딕"/>
              </a:rPr>
              <a:t> 고유 번호인 log_id를 기준으로 내림차순(DESC, 큰 숫자 부터 작은 숫자 순) 정렬</a:t>
            </a: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endParaRPr lang="ko-KR" altLang="en-US" sz="1178" b="1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endParaRPr lang="ko-KR" altLang="en-US" sz="1178" b="1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9939" y="902526"/>
            <a:ext cx="6645338" cy="4081485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921420" y="4984012"/>
            <a:ext cx="4952876" cy="416540"/>
          </a:xfrm>
          <a:prstGeom prst="rect">
            <a:avLst/>
          </a:prstGeom>
        </p:spPr>
        <p:txBody>
          <a:bodyPr wrap="none"/>
          <a:lstStyle/>
          <a:p>
            <a:pPr lvl="0" algn="ctr">
              <a:defRPr/>
            </a:pPr>
            <a:r>
              <a:rPr lang="en-US" altLang="ko-KR" sz="1706" b="1">
                <a:latin typeface="굴림"/>
                <a:ea typeface="굴림"/>
              </a:rPr>
              <a:t>aws</a:t>
            </a:r>
            <a:r>
              <a:rPr lang="ko-KR" altLang="en-US" sz="1706" b="1">
                <a:latin typeface="굴림"/>
                <a:ea typeface="굴림"/>
              </a:rPr>
              <a:t> 데이터 수신</a:t>
            </a:r>
            <a:r>
              <a:rPr lang="en-US" altLang="ko-KR" sz="1706" b="1">
                <a:latin typeface="굴림"/>
                <a:ea typeface="굴림"/>
              </a:rPr>
              <a:t>/Postgresql</a:t>
            </a:r>
            <a:r>
              <a:rPr lang="ko-KR" altLang="en-US" sz="1706" b="1">
                <a:latin typeface="굴림"/>
                <a:ea typeface="굴림"/>
              </a:rPr>
              <a:t> 데이터 저장 화면</a:t>
            </a:r>
            <a:endParaRPr sz="1463"/>
          </a:p>
        </p:txBody>
      </p:sp>
      <p:sp>
        <p:nvSpPr>
          <p:cNvPr id="10" name="Rectangle 9"/>
          <p:cNvSpPr/>
          <p:nvPr/>
        </p:nvSpPr>
        <p:spPr>
          <a:xfrm>
            <a:off x="94298" y="497141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0065" y="186181"/>
            <a:ext cx="891540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25"/>
              </a:spcAft>
              <a:defRPr/>
            </a:pPr>
            <a:r>
              <a:rPr sz="1463" b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파이프라인 설계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4264" y="1434287"/>
            <a:ext cx="4606290" cy="1994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 dirty="0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느슨한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결합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(Decoupling) 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Kafka가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생산자·소비자를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분리해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한쪽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장애가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전체로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전파되지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않음</a:t>
            </a:r>
            <a:endParaRPr sz="1178" dirty="0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 dirty="0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확장성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파티션·Consumer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추가만으로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셀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증가에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수평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확장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1178" dirty="0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 dirty="0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순서·무손실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보장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키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파티셔닝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건별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커밋으로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시계열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정합성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178" dirty="0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5000"/>
              </a:lnSpc>
              <a:spcBef>
                <a:spcPts val="650"/>
              </a:spcBef>
              <a:spcAft>
                <a:spcPts val="163"/>
              </a:spcAft>
              <a:defRPr/>
            </a:pPr>
            <a:r>
              <a:rPr sz="1178" b="1" dirty="0">
                <a:solidFill>
                  <a:srgbClr val="2E6F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b="1" dirty="0" err="1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인터페이스</a:t>
            </a:r>
            <a:r>
              <a:rPr sz="1178" b="1" dirty="0">
                <a:solidFill>
                  <a:srgbClr val="1624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— DB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스키마를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계약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(contract)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으로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두어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후속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팀이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독립적으로</a:t>
            </a:r>
            <a:r>
              <a:rPr sz="1178" dirty="0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78" dirty="0" err="1">
                <a:solidFill>
                  <a:srgbClr val="222A37"/>
                </a:solidFill>
                <a:latin typeface="맑은 고딕"/>
                <a:ea typeface="맑은 고딕"/>
                <a:cs typeface="맑은 고딕"/>
              </a:rPr>
              <a:t>작업</a:t>
            </a:r>
            <a:endParaRPr sz="1178" dirty="0">
              <a:solidFill>
                <a:srgbClr val="222A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5738" y="535367"/>
            <a:ext cx="9534277" cy="33433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E3E1-DBB5-2224-6C86-4E58663E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5CF3AD-275E-3184-C66F-0F23D8628007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0C32EC-A88C-E2B1-D99A-73696F52D4B0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5A035-1A29-6F62-369C-8DAFB0BB7E59}"/>
              </a:ext>
            </a:extLst>
          </p:cNvPr>
          <p:cNvSpPr txBox="1"/>
          <p:nvPr/>
        </p:nvSpPr>
        <p:spPr>
          <a:xfrm>
            <a:off x="304362" y="163550"/>
            <a:ext cx="4648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열폭주</a:t>
            </a:r>
            <a:r>
              <a:rPr lang="ko-KR" altLang="en-US" b="1" dirty="0"/>
              <a:t> 이상 징후 탐지 </a:t>
            </a:r>
            <a:r>
              <a:rPr lang="en-US" altLang="ko-KR" b="1" dirty="0"/>
              <a:t>AI </a:t>
            </a:r>
            <a:r>
              <a:rPr lang="ko-KR" altLang="en-US" b="1" dirty="0"/>
              <a:t>모델 설계 </a:t>
            </a:r>
            <a:r>
              <a:rPr lang="en-US" altLang="ko-KR" b="1" dirty="0"/>
              <a:t>Plan</a:t>
            </a:r>
            <a:r>
              <a:rPr lang="ko-KR" altLang="en-US" b="1" dirty="0"/>
              <a:t> </a:t>
            </a:r>
          </a:p>
        </p:txBody>
      </p:sp>
      <p:graphicFrame>
        <p:nvGraphicFramePr>
          <p:cNvPr id="22" name="내용 개체 틀 2">
            <a:extLst>
              <a:ext uri="{FF2B5EF4-FFF2-40B4-BE49-F238E27FC236}">
                <a16:creationId xmlns:a16="http://schemas.microsoft.com/office/drawing/2014/main" id="{B26C509E-37E7-68FA-34B6-CA3F01D75BBC}"/>
              </a:ext>
            </a:extLst>
          </p:cNvPr>
          <p:cNvGraphicFramePr/>
          <p:nvPr/>
        </p:nvGraphicFramePr>
        <p:xfrm>
          <a:off x="204040" y="1418232"/>
          <a:ext cx="8552398" cy="4021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0659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E7B5-6B77-A4F3-31C4-9E541CA2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2B9CF8-FC44-7A3A-725A-13BBF50682D1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EE615D-392E-555B-7C31-772B5C165E05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EEFDEE-5F24-12BA-BC3B-5DEC49FE25C3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Input Feature </a:t>
            </a:r>
            <a:r>
              <a:rPr lang="ko-KR" altLang="en-US" b="1" dirty="0" err="1"/>
              <a:t>전처리</a:t>
            </a:r>
            <a:r>
              <a:rPr lang="ko-KR" altLang="en-US" b="1" dirty="0"/>
              <a:t> 가공 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DA69F-8C98-9F53-78F8-3A46B9EC53B7}"/>
              </a:ext>
            </a:extLst>
          </p:cNvPr>
          <p:cNvSpPr txBox="1"/>
          <p:nvPr/>
        </p:nvSpPr>
        <p:spPr>
          <a:xfrm>
            <a:off x="334274" y="669136"/>
            <a:ext cx="9438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추가할까요 말까요 내용이 너무 길어져서</a:t>
            </a:r>
            <a:r>
              <a:rPr lang="en-US" altLang="ko-KR" sz="1400" dirty="0"/>
              <a:t>,,,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3322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7C3A-43CD-EECA-383E-EB1A6AF02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2B4B7F-1B41-83BA-7221-D9563A9E8DB4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DC0E3E-E56A-69EF-6EEB-DBF75994F4A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2330D-5280-FD9F-125E-2810164CBD72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Input Feature </a:t>
            </a:r>
            <a:r>
              <a:rPr lang="ko-KR" altLang="en-US" b="1" dirty="0"/>
              <a:t>총정리 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E768ABF-6D4A-9361-2D5A-E97AAB729998}"/>
              </a:ext>
            </a:extLst>
          </p:cNvPr>
          <p:cNvGraphicFramePr>
            <a:graphicFrameLocks noGrp="1"/>
          </p:cNvGraphicFramePr>
          <p:nvPr/>
        </p:nvGraphicFramePr>
        <p:xfrm>
          <a:off x="198695" y="711488"/>
          <a:ext cx="9508610" cy="5896072"/>
        </p:xfrm>
        <a:graphic>
          <a:graphicData uri="http://schemas.openxmlformats.org/drawingml/2006/table">
            <a:tbl>
              <a:tblPr/>
              <a:tblGrid>
                <a:gridCol w="1701377">
                  <a:extLst>
                    <a:ext uri="{9D8B030D-6E8A-4147-A177-3AD203B41FA5}">
                      <a16:colId xmlns:a16="http://schemas.microsoft.com/office/drawing/2014/main" val="3645116223"/>
                    </a:ext>
                  </a:extLst>
                </a:gridCol>
                <a:gridCol w="1701377">
                  <a:extLst>
                    <a:ext uri="{9D8B030D-6E8A-4147-A177-3AD203B41FA5}">
                      <a16:colId xmlns:a16="http://schemas.microsoft.com/office/drawing/2014/main" val="3957539078"/>
                    </a:ext>
                  </a:extLst>
                </a:gridCol>
                <a:gridCol w="2917694">
                  <a:extLst>
                    <a:ext uri="{9D8B030D-6E8A-4147-A177-3AD203B41FA5}">
                      <a16:colId xmlns:a16="http://schemas.microsoft.com/office/drawing/2014/main" val="2985459898"/>
                    </a:ext>
                  </a:extLst>
                </a:gridCol>
                <a:gridCol w="1486785">
                  <a:extLst>
                    <a:ext uri="{9D8B030D-6E8A-4147-A177-3AD203B41FA5}">
                      <a16:colId xmlns:a16="http://schemas.microsoft.com/office/drawing/2014/main" val="2574631662"/>
                    </a:ext>
                  </a:extLst>
                </a:gridCol>
                <a:gridCol w="1701377">
                  <a:extLst>
                    <a:ext uri="{9D8B030D-6E8A-4147-A177-3AD203B41FA5}">
                      <a16:colId xmlns:a16="http://schemas.microsoft.com/office/drawing/2014/main" val="3616729985"/>
                    </a:ext>
                  </a:extLst>
                </a:gridCol>
              </a:tblGrid>
              <a:tr h="32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입력 데이터 (</a:t>
                      </a:r>
                      <a:r>
                        <a:rPr lang="ko-KR" sz="1000" b="1" dirty="0" err="1"/>
                        <a:t>Input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/>
                        <a:t>원시 데이터 (Raw Data)</a:t>
                      </a:r>
                      <a:endParaRPr lang="ko-KR" sz="100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/>
                        <a:t>전처리 (Preprocessing)</a:t>
                      </a:r>
                      <a:endParaRPr lang="ko-KR" sz="100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최종  </a:t>
                      </a:r>
                      <a:r>
                        <a:rPr lang="ko-KR" sz="1000" b="1" dirty="0" err="1"/>
                        <a:t>Feature</a:t>
                      </a:r>
                      <a:r>
                        <a:rPr lang="ko-KR" sz="1000" b="1" dirty="0"/>
                        <a:t> 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목적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70470"/>
                  </a:ext>
                </a:extLst>
              </a:tr>
              <a:tr h="61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전압 (</a:t>
                      </a:r>
                      <a:r>
                        <a:rPr lang="ko-KR" sz="1000" b="1" dirty="0" err="1"/>
                        <a:t>Voltage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배터리 전압 (V)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• </a:t>
                      </a:r>
                      <a:r>
                        <a:rPr lang="ko-KR" sz="1000" dirty="0" err="1"/>
                        <a:t>Min-Max</a:t>
                      </a:r>
                      <a:r>
                        <a:rPr lang="ko-KR" sz="1000" dirty="0"/>
                        <a:t> 정규화• 이전 시점(100ms)과의 전압 차이(ΔV) 계산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정규화 전압, 전압 변화량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순간 전압 강하 및 이상 전압 변화 감지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873110"/>
                  </a:ext>
                </a:extLst>
              </a:tr>
              <a:tr h="469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전류 (</a:t>
                      </a:r>
                      <a:r>
                        <a:rPr lang="ko-KR" sz="1000" b="1" dirty="0" err="1"/>
                        <a:t>Current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배터리 전류 (A)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• 이동평균 필터 (Window=5)• Z-score 표준화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정규화 전류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센서 노이즈 제거 및 안정적인 전류 패턴 추출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663934"/>
                  </a:ext>
                </a:extLst>
              </a:tr>
              <a:tr h="469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내부 온도 (</a:t>
                      </a:r>
                      <a:r>
                        <a:rPr lang="ko-KR" sz="1000" b="1" dirty="0" err="1"/>
                        <a:t>Temperature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배터리 내부 온도 (℃)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• 1차 미분(온도 변화율)• 2차 미분(온도 변화 가속도)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온도, 온도 변화율, 온도 가속도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열 지연(Time-Lag)을 보완하고 이상 발열 조기 탐지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94154"/>
                  </a:ext>
                </a:extLst>
              </a:tr>
              <a:tr h="752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열화상 카메라 (</a:t>
                      </a:r>
                      <a:r>
                        <a:rPr lang="ko-KR" sz="1000" b="1" dirty="0" err="1"/>
                        <a:t>Thermal</a:t>
                      </a:r>
                      <a:r>
                        <a:rPr lang="ko-KR" sz="1000" b="1" dirty="0"/>
                        <a:t> </a:t>
                      </a:r>
                      <a:r>
                        <a:rPr lang="ko-KR" sz="1000" b="1" dirty="0" err="1"/>
                        <a:t>Camera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배터리 표면 열화상 이미지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• ROI(배터리 영역) 추출• 노이즈 제거• 온도 정규화• 이미지 크기 통일(예: 224×224)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열화상 이미지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발열(</a:t>
                      </a:r>
                      <a:r>
                        <a:rPr lang="ko-KR" sz="1000" dirty="0" err="1"/>
                        <a:t>Hot</a:t>
                      </a:r>
                      <a:r>
                        <a:rPr lang="ko-KR" sz="1000" dirty="0"/>
                        <a:t> </a:t>
                      </a:r>
                      <a:r>
                        <a:rPr lang="ko-KR" sz="1000" dirty="0" err="1"/>
                        <a:t>Spot</a:t>
                      </a:r>
                      <a:r>
                        <a:rPr lang="ko-KR" sz="1000" dirty="0"/>
                        <a:t>) 및 표면 온도 분포 분석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55909"/>
                  </a:ext>
                </a:extLst>
              </a:tr>
              <a:tr h="32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충전 상태 (SOC)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충전 상태 (%)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• 0~100 → 0~1 정규화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정규화 SOC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배터리 충전 상태(Context Feature)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04097"/>
                  </a:ext>
                </a:extLst>
              </a:tr>
              <a:tr h="32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/>
                        <a:t>배터리 건강 상태 (SOH)</a:t>
                      </a:r>
                      <a:endParaRPr lang="ko-KR" sz="100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배터리 건강 상태 (%)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• 0~100 → 0~1 정규화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정규화 SOH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배터리 열화 상태(Context Feature)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71808"/>
                  </a:ext>
                </a:extLst>
              </a:tr>
              <a:tr h="752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가스 센서 (MQ-2 / MQ-135)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CO, CO₂, </a:t>
                      </a:r>
                      <a:r>
                        <a:rPr lang="ko-KR" sz="1000" dirty="0" err="1"/>
                        <a:t>H</a:t>
                      </a:r>
                      <a:r>
                        <a:rPr lang="ko-KR" sz="1000" dirty="0"/>
                        <a:t>₂, VOC 농도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• ADC 변환(ADS1115)• </a:t>
                      </a:r>
                      <a:r>
                        <a:rPr lang="ko-KR" sz="1000" dirty="0" err="1"/>
                        <a:t>Baseline</a:t>
                      </a:r>
                      <a:r>
                        <a:rPr lang="ko-KR" sz="1000" dirty="0"/>
                        <a:t> 제거• 이동평균 필터• </a:t>
                      </a:r>
                      <a:r>
                        <a:rPr lang="ko-KR" sz="1000" dirty="0" err="1"/>
                        <a:t>Z-score</a:t>
                      </a:r>
                      <a:r>
                        <a:rPr lang="ko-KR" sz="1000" dirty="0"/>
                        <a:t> 표준화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정규화 가스 농도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내부 가스(Off-gas) 발생 조기 탐지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252811"/>
                  </a:ext>
                </a:extLst>
              </a:tr>
              <a:tr h="61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압력/</a:t>
                      </a:r>
                      <a:r>
                        <a:rPr lang="ko-KR" sz="1000" b="1" dirty="0" err="1"/>
                        <a:t>변형률</a:t>
                      </a:r>
                      <a:r>
                        <a:rPr lang="ko-KR" sz="1000" b="1" dirty="0"/>
                        <a:t> 센서 (FSR-402)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압력 또는 변형률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• </a:t>
                      </a:r>
                      <a:r>
                        <a:rPr lang="ko-KR" sz="1000" dirty="0" err="1"/>
                        <a:t>Baseline</a:t>
                      </a:r>
                      <a:r>
                        <a:rPr lang="ko-KR" sz="1000" dirty="0"/>
                        <a:t> 제거• 이동평균 필터• 변화량(</a:t>
                      </a:r>
                      <a:r>
                        <a:rPr lang="ko-KR" sz="1000" dirty="0" err="1"/>
                        <a:t>ΔPressure</a:t>
                      </a:r>
                      <a:r>
                        <a:rPr lang="ko-KR" sz="1000" dirty="0"/>
                        <a:t>) 계산• 정규화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정규화 압력, 압력 변화량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배터리 팽창(</a:t>
                      </a:r>
                      <a:r>
                        <a:rPr lang="ko-KR" sz="1000" dirty="0" err="1"/>
                        <a:t>Swelling</a:t>
                      </a:r>
                      <a:r>
                        <a:rPr lang="ko-KR" sz="1000" dirty="0"/>
                        <a:t>) 및 구조 변형 감지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558330"/>
                  </a:ext>
                </a:extLst>
              </a:tr>
              <a:tr h="61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음향 센서 (</a:t>
                      </a:r>
                      <a:r>
                        <a:rPr lang="ko-KR" sz="1000" b="1" dirty="0" err="1"/>
                        <a:t>Acoustic</a:t>
                      </a:r>
                      <a:r>
                        <a:rPr lang="ko-KR" sz="1000" b="1" dirty="0"/>
                        <a:t> </a:t>
                      </a:r>
                      <a:r>
                        <a:rPr lang="ko-KR" sz="1000" b="1" dirty="0" err="1"/>
                        <a:t>Sensor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음향 신호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• Band-pass Filter• RMS 계산• FFT(STFT)• 스펙트럼 특징 추출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RMS, 스펙트럼 에너지, 피크 주파수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미세 균열 및 열폭주 전조 음향 탐지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397020"/>
                  </a:ext>
                </a:extLst>
              </a:tr>
              <a:tr h="61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 dirty="0"/>
                        <a:t>전력량 (Power </a:t>
                      </a:r>
                      <a:r>
                        <a:rPr lang="ko-KR" sz="1000" b="1" dirty="0" err="1"/>
                        <a:t>Consumption</a:t>
                      </a:r>
                      <a:r>
                        <a:rPr lang="ko-KR" sz="1000" b="1" dirty="0"/>
                        <a:t>)</a:t>
                      </a:r>
                      <a:endParaRPr lang="ko-KR" sz="1000" dirty="0"/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전압, 전류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/>
                        <a:t>• 전력(V×I) 계산• 에너지 계산• 누적합(Cumulative Sum)• 표준화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누적 전력량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dirty="0"/>
                        <a:t>방전 패턴 및 이상 소비 전력 분석</a:t>
                      </a:r>
                    </a:p>
                  </a:txBody>
                  <a:tcPr marL="34811" marR="34811" marT="17405" marB="17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604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859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21B-1384-A80F-C090-BD2031A1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639AA3-0903-20BE-AE36-9C17E1038AA2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4305A1-7023-79B4-240F-10797CC7B251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1E57F5-CCA7-AC38-9623-5A31511D3BE1}"/>
              </a:ext>
            </a:extLst>
          </p:cNvPr>
          <p:cNvSpPr txBox="1"/>
          <p:nvPr/>
        </p:nvSpPr>
        <p:spPr>
          <a:xfrm>
            <a:off x="334274" y="165603"/>
            <a:ext cx="4648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Algorithm Base Model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74DC5-826A-14FB-45C9-75266853C90E}"/>
              </a:ext>
            </a:extLst>
          </p:cNvPr>
          <p:cNvSpPr txBox="1"/>
          <p:nvPr/>
        </p:nvSpPr>
        <p:spPr>
          <a:xfrm>
            <a:off x="334274" y="669136"/>
            <a:ext cx="943809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Auto</a:t>
            </a:r>
            <a:r>
              <a:rPr lang="en-US" altLang="ko-KR" b="1" dirty="0"/>
              <a:t>-</a:t>
            </a:r>
            <a:r>
              <a:rPr lang="ko-KR" altLang="ko-KR" b="1" dirty="0" err="1"/>
              <a:t>encoder</a:t>
            </a:r>
            <a:r>
              <a:rPr lang="en-US" altLang="ko-KR" b="1" dirty="0"/>
              <a:t> </a:t>
            </a:r>
          </a:p>
          <a:p>
            <a:r>
              <a:rPr lang="en-US" altLang="ko-KR" sz="1400" dirty="0"/>
              <a:t>- </a:t>
            </a:r>
            <a:r>
              <a:rPr lang="ko-KR" altLang="ko-KR" sz="1400" dirty="0"/>
              <a:t>과거 시계열 데이터를 시간 순서대로 학습하여 정상 패턴을 압축하고, 이를 다시 복원하여 입력과의 차이(복원 오차)를 통해 이상 여부를 판단하는 순환신경망(RNN) 기반 모델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</a:t>
            </a:r>
            <a:r>
              <a:rPr lang="ko-KR" altLang="ko-KR" sz="1400" dirty="0"/>
              <a:t>정상 배터리의 시계열 패턴을 학습하고, 복원 오차(</a:t>
            </a:r>
            <a:r>
              <a:rPr lang="ko-KR" altLang="ko-KR" sz="1400" dirty="0" err="1"/>
              <a:t>Reconstruction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Error</a:t>
            </a:r>
            <a:r>
              <a:rPr lang="ko-KR" altLang="ko-KR" sz="1400" dirty="0"/>
              <a:t>)를 기반으로 현재 배터리의 </a:t>
            </a:r>
            <a:r>
              <a:rPr lang="ko-KR" altLang="en-US" sz="1400" dirty="0"/>
              <a:t>센서 데이터를 바탕으로 </a:t>
            </a:r>
            <a:r>
              <a:rPr lang="ko-KR" altLang="ko-KR" sz="1400" dirty="0"/>
              <a:t>이상 징후를 탐지</a:t>
            </a:r>
            <a:endParaRPr lang="ko-KR" altLang="en-US" sz="1400" dirty="0"/>
          </a:p>
          <a:p>
            <a:endParaRPr lang="ko-KR" altLang="en-US" sz="1400" dirty="0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72CD294C-4E26-B34B-B940-4B44B0C8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892" y="6481842"/>
            <a:ext cx="8888040" cy="69342"/>
          </a:xfrm>
        </p:spPr>
        <p:txBody>
          <a:bodyPr/>
          <a:lstStyle/>
          <a:p>
            <a:r>
              <a:rPr lang="en-US" altLang="ko-KR" dirty="0"/>
              <a:t>Park, J., Jang, K., Jeong, D., Kwon, S., Chung, S., &amp; Bae, S., “A Research on Anomaly Detection of Abnormal Degradation in Lithium-ion Batteries using LSTM-</a:t>
            </a:r>
            <a:r>
              <a:rPr lang="en-US" altLang="ko-KR" dirty="0" err="1"/>
              <a:t>AutoEncoder</a:t>
            </a:r>
            <a:r>
              <a:rPr lang="en-US" altLang="ko-KR" dirty="0"/>
              <a:t> Model,” Proceedings of the KIEE Summer Conference, 2024.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61FF26-B7BC-9208-CDF4-BDC0965AB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3" y="2116988"/>
            <a:ext cx="9679341" cy="407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44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9FD0-CD72-05F1-D44B-3245F728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4123F4-CFE6-53C7-1623-FF84B607F582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C529C8-6033-638E-2779-4C888BBB2A1E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0C16B-A973-D754-4214-971B99B8461E}"/>
              </a:ext>
            </a:extLst>
          </p:cNvPr>
          <p:cNvSpPr txBox="1"/>
          <p:nvPr/>
        </p:nvSpPr>
        <p:spPr>
          <a:xfrm>
            <a:off x="334274" y="165603"/>
            <a:ext cx="4648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Algorithm Base Model</a:t>
            </a:r>
            <a:endParaRPr lang="ko-KR" altLang="en-US" b="1" dirty="0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D9348731-9CAF-986A-2BA4-556D85F3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892" y="6481842"/>
            <a:ext cx="8888040" cy="69342"/>
          </a:xfrm>
        </p:spPr>
        <p:txBody>
          <a:bodyPr/>
          <a:lstStyle/>
          <a:p>
            <a:r>
              <a:rPr lang="en-US" altLang="ko-KR" dirty="0"/>
              <a:t>Park, J., Jang, K., Jeong, D., Kwon, S., Chung, S., &amp; Bae, S., “A Research on Anomaly Detection of Abnormal Degradation in Lithium-ion Batteries using LSTM-</a:t>
            </a:r>
            <a:r>
              <a:rPr lang="en-US" altLang="ko-KR" dirty="0" err="1"/>
              <a:t>AutoEncoder</a:t>
            </a:r>
            <a:r>
              <a:rPr lang="en-US" altLang="ko-KR" dirty="0"/>
              <a:t> Model,” Proceedings of the KIEE Summer Conference, 2024.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F9D9C-86B5-839F-BAE5-F542DC9E2C66}"/>
              </a:ext>
            </a:extLst>
          </p:cNvPr>
          <p:cNvSpPr txBox="1"/>
          <p:nvPr/>
        </p:nvSpPr>
        <p:spPr>
          <a:xfrm>
            <a:off x="453927" y="3756423"/>
            <a:ext cx="92480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Normal Auto Encoder</a:t>
            </a:r>
          </a:p>
          <a:p>
            <a:r>
              <a:rPr lang="en-US" altLang="ko-KR" sz="1400" dirty="0"/>
              <a:t>-&gt;</a:t>
            </a:r>
            <a:r>
              <a:rPr lang="ko-KR" altLang="ko-KR" sz="1400" dirty="0"/>
              <a:t>특정 시점의 단편적인 센서 값 조합만 비교할 수 있으며, 시간의 흐름에 따른 변동 흐름을 </a:t>
            </a:r>
            <a:r>
              <a:rPr lang="ko-KR" altLang="en-US" sz="1400" dirty="0"/>
              <a:t>탐지하지 못함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r>
              <a:rPr lang="en-US" altLang="ko-KR" b="1" dirty="0"/>
              <a:t>LSTM-Auto Encoder</a:t>
            </a:r>
          </a:p>
          <a:p>
            <a:r>
              <a:rPr lang="en-US" altLang="ko-KR" sz="1400" dirty="0"/>
              <a:t>-&gt;</a:t>
            </a:r>
            <a:r>
              <a:rPr lang="ko-KR" altLang="ko-KR" sz="1400" dirty="0"/>
              <a:t>LSTM 내부의 </a:t>
            </a:r>
            <a:r>
              <a:rPr lang="ko-KR" altLang="ko-KR" sz="1400" dirty="0" err="1"/>
              <a:t>Cell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State와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Hidden</a:t>
            </a:r>
            <a:r>
              <a:rPr lang="ko-KR" altLang="ko-KR" sz="1400" dirty="0"/>
              <a:t> State 메커니즘을 통해 시계열 데이터의 시간적 의존성(</a:t>
            </a:r>
            <a:r>
              <a:rPr lang="ko-KR" altLang="ko-KR" sz="1400" dirty="0" err="1"/>
              <a:t>Temporal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Dependency</a:t>
            </a:r>
            <a:r>
              <a:rPr lang="ko-KR" altLang="ko-KR" sz="1400" dirty="0"/>
              <a:t>) 반영</a:t>
            </a:r>
          </a:p>
          <a:p>
            <a:endParaRPr lang="ko-KR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r>
              <a:rPr lang="ko-KR" altLang="en-US" sz="1400" b="1" dirty="0"/>
              <a:t>결론적으로 배터리 열 이상 탐지</a:t>
            </a:r>
            <a:r>
              <a:rPr lang="en-US" altLang="ko-KR" sz="1400" b="1" dirty="0"/>
              <a:t>(Anomaly Detection) </a:t>
            </a:r>
            <a:r>
              <a:rPr lang="ko-KR" altLang="en-US" sz="1400" b="1" dirty="0"/>
              <a:t>기준으로는 </a:t>
            </a:r>
            <a:r>
              <a:rPr lang="en-US" altLang="ko-KR" sz="1400" b="1" dirty="0"/>
              <a:t>LSTM-Auto Encoder </a:t>
            </a:r>
            <a:r>
              <a:rPr lang="ko-KR" altLang="en-US" sz="1400" b="1" dirty="0"/>
              <a:t>사용필수</a:t>
            </a:r>
            <a:endParaRPr lang="en-US" altLang="ko-KR" sz="1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32744D-497C-B237-F59D-C6B09603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40" y="879305"/>
            <a:ext cx="8975651" cy="263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9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D3FA-ED04-34F4-1C52-ED78FF74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63E2DD-9444-6C5C-B0CC-C84BBDFAECAF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4BB46A-F8A7-47A7-3082-3B3A208CC16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2F6C8A-2458-BD65-B9C9-2F0CEBB634D6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Hybrid AI Algorithm </a:t>
            </a:r>
            <a:r>
              <a:rPr lang="ko-KR" altLang="en-US" b="1" dirty="0"/>
              <a:t>제안</a:t>
            </a:r>
          </a:p>
        </p:txBody>
      </p:sp>
      <p:graphicFrame>
        <p:nvGraphicFramePr>
          <p:cNvPr id="22" name="TextBox 5">
            <a:extLst>
              <a:ext uri="{FF2B5EF4-FFF2-40B4-BE49-F238E27FC236}">
                <a16:creationId xmlns:a16="http://schemas.microsoft.com/office/drawing/2014/main" id="{05462B44-E2E4-7952-DBA5-7217A4875A8E}"/>
              </a:ext>
            </a:extLst>
          </p:cNvPr>
          <p:cNvGraphicFramePr/>
          <p:nvPr/>
        </p:nvGraphicFramePr>
        <p:xfrm>
          <a:off x="304362" y="1295206"/>
          <a:ext cx="8839378" cy="4267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1177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7066-5AE4-7366-6E23-329A8E5B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5A228B-09F4-7193-1E9A-376DADE6F86D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8EF99-2C5A-B12C-05A8-0A8EA55BA515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EAFF9-5A4C-24BF-CA46-A53EA70B8DFC}"/>
              </a:ext>
            </a:extLst>
          </p:cNvPr>
          <p:cNvSpPr txBox="1"/>
          <p:nvPr/>
        </p:nvSpPr>
        <p:spPr>
          <a:xfrm>
            <a:off x="304362" y="163550"/>
            <a:ext cx="4648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Algorithm update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A437A1-98AB-4DD7-8F88-17F89484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73" y="2088083"/>
            <a:ext cx="9522053" cy="4188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C2AEDD-E403-8BE3-709C-623A6FB8A2AD}"/>
              </a:ext>
            </a:extLst>
          </p:cNvPr>
          <p:cNvSpPr txBox="1"/>
          <p:nvPr/>
        </p:nvSpPr>
        <p:spPr>
          <a:xfrm>
            <a:off x="335759" y="645682"/>
            <a:ext cx="937826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Informer</a:t>
            </a:r>
          </a:p>
          <a:p>
            <a:r>
              <a:rPr lang="en-US" altLang="ko-KR" sz="1400" dirty="0"/>
              <a:t> -</a:t>
            </a:r>
            <a:r>
              <a:rPr lang="ko-KR" altLang="ko-KR" sz="1400" dirty="0"/>
              <a:t>전체 시계열 데이터를 한 번에 </a:t>
            </a:r>
            <a:r>
              <a:rPr lang="ko-KR" altLang="ko-KR" sz="1400" dirty="0" err="1"/>
              <a:t>입력받아</a:t>
            </a:r>
            <a:r>
              <a:rPr lang="ko-KR" altLang="ko-KR" sz="1400" dirty="0"/>
              <a:t>, 중요한 시점에 집중(</a:t>
            </a:r>
            <a:r>
              <a:rPr lang="ko-KR" altLang="ko-KR" sz="1400" dirty="0" err="1"/>
              <a:t>Attention</a:t>
            </a:r>
            <a:r>
              <a:rPr lang="ko-KR" altLang="ko-KR" sz="1400" dirty="0"/>
              <a:t>)하여 장기 패턴을 학습하고 미래 시계열을 한 번에 예측하는 </a:t>
            </a:r>
            <a:r>
              <a:rPr lang="ko-KR" altLang="ko-KR" sz="1400" dirty="0" err="1"/>
              <a:t>Transformer</a:t>
            </a:r>
            <a:r>
              <a:rPr lang="ko-KR" altLang="ko-KR" sz="1400" dirty="0"/>
              <a:t> 기반 시계열 예측 모델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</a:t>
            </a:r>
            <a:r>
              <a:rPr lang="ko-KR" altLang="ko-KR" sz="1400" dirty="0"/>
              <a:t>과거 배터리 데이터를 기반으로 미래 센서 데이터를 예측하고, 예측 오차(</a:t>
            </a:r>
            <a:r>
              <a:rPr lang="ko-KR" altLang="ko-KR" sz="1400" dirty="0" err="1"/>
              <a:t>Prediction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Error</a:t>
            </a:r>
            <a:r>
              <a:rPr lang="ko-KR" altLang="ko-KR" sz="1400" dirty="0"/>
              <a:t>)를 이용하여 향후 발생 가능한 이상 징후를 조기에 탐지</a:t>
            </a:r>
            <a:endParaRPr lang="ko-KR" altLang="en-US" sz="1400" dirty="0"/>
          </a:p>
          <a:p>
            <a:endParaRPr lang="ko-KR" altLang="en-US" sz="1400" dirty="0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27269FC8-987F-5633-64E6-3375A9C1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872" y="6276113"/>
            <a:ext cx="8888040" cy="592782"/>
          </a:xfrm>
        </p:spPr>
        <p:txBody>
          <a:bodyPr/>
          <a:lstStyle/>
          <a:p>
            <a:r>
              <a:rPr lang="ko-KR" altLang="ko-KR" b="1" i="1" dirty="0" err="1"/>
              <a:t>Accurate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estimation</a:t>
            </a:r>
            <a:r>
              <a:rPr lang="ko-KR" altLang="ko-KR" b="1" i="1" dirty="0"/>
              <a:t> of </a:t>
            </a:r>
            <a:r>
              <a:rPr lang="ko-KR" altLang="ko-KR" b="1" i="1" dirty="0" err="1"/>
              <a:t>state</a:t>
            </a:r>
            <a:r>
              <a:rPr lang="ko-KR" altLang="ko-KR" b="1" i="1" dirty="0"/>
              <a:t> of </a:t>
            </a:r>
            <a:r>
              <a:rPr lang="ko-KR" altLang="ko-KR" b="1" i="1" dirty="0" err="1"/>
              <a:t>charge</a:t>
            </a:r>
            <a:r>
              <a:rPr lang="ko-KR" altLang="ko-KR" b="1" i="1" dirty="0"/>
              <a:t> and </a:t>
            </a:r>
            <a:r>
              <a:rPr lang="ko-KR" altLang="ko-KR" b="1" i="1" dirty="0" err="1"/>
              <a:t>state</a:t>
            </a:r>
            <a:r>
              <a:rPr lang="ko-KR" altLang="ko-KR" b="1" i="1" dirty="0"/>
              <a:t> of </a:t>
            </a:r>
            <a:r>
              <a:rPr lang="ko-KR" altLang="ko-KR" b="1" i="1" dirty="0" err="1"/>
              <a:t>health</a:t>
            </a:r>
            <a:r>
              <a:rPr lang="ko-KR" altLang="ko-KR" b="1" i="1" dirty="0"/>
              <a:t> of </a:t>
            </a:r>
            <a:r>
              <a:rPr lang="ko-KR" altLang="ko-KR" b="1" i="1" dirty="0" err="1"/>
              <a:t>electric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vehicle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power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batteries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based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on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dynamic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channel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pruning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informer-stacked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denoising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autoencoder</a:t>
            </a:r>
            <a:r>
              <a:rPr lang="ko-KR" altLang="ko-KR" b="1" i="1" dirty="0"/>
              <a:t> </a:t>
            </a:r>
            <a:r>
              <a:rPr lang="ko-KR" altLang="ko-KR" b="1" i="1" dirty="0" err="1"/>
              <a:t>model</a:t>
            </a:r>
            <a:r>
              <a:rPr lang="en-US" altLang="ko-KR" b="1" i="1" dirty="0"/>
              <a:t>, 2025.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427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D39FD-0980-3C16-066E-C6A5A2EC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B004AC9-9A5E-10AE-2BBA-78DFC30CC945}"/>
              </a:ext>
            </a:extLst>
          </p:cNvPr>
          <p:cNvSpPr/>
          <p:nvPr/>
        </p:nvSpPr>
        <p:spPr>
          <a:xfrm>
            <a:off x="6103088" y="3862410"/>
            <a:ext cx="3040652" cy="15229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F042FB8-63A7-43C5-00EB-C0E18DAEE5CB}"/>
              </a:ext>
            </a:extLst>
          </p:cNvPr>
          <p:cNvSpPr/>
          <p:nvPr/>
        </p:nvSpPr>
        <p:spPr>
          <a:xfrm>
            <a:off x="6103088" y="1690062"/>
            <a:ext cx="3040652" cy="15229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E0D42B-283D-FFB8-C18E-8F1D5CF4572A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78084-6F77-F8F4-99D9-DA85059F36EB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1DFD8-BDC3-209C-C47C-8FE8CD9CC95D}"/>
              </a:ext>
            </a:extLst>
          </p:cNvPr>
          <p:cNvSpPr txBox="1"/>
          <p:nvPr/>
        </p:nvSpPr>
        <p:spPr>
          <a:xfrm>
            <a:off x="304362" y="163550"/>
            <a:ext cx="5309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Hybrid AI Algorithm Architecture </a:t>
            </a:r>
            <a:endParaRPr lang="ko-KR" altLang="en-US" dirty="0"/>
          </a:p>
          <a:p>
            <a:r>
              <a:rPr lang="en-US" altLang="ko-KR" b="1" dirty="0"/>
              <a:t> 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CDE231-C494-2C96-4056-E3B97250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085"/>
            <a:ext cx="6042837" cy="55900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8D2497-0E1A-4C01-73D7-B32BC311701E}"/>
              </a:ext>
            </a:extLst>
          </p:cNvPr>
          <p:cNvSpPr txBox="1"/>
          <p:nvPr/>
        </p:nvSpPr>
        <p:spPr>
          <a:xfrm>
            <a:off x="6103088" y="1692029"/>
            <a:ext cx="32586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1"/>
                </a:solidFill>
              </a:rPr>
              <a:t>LSTM Auto-encoder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현재 시계열 데이터 분석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정상 패턴 학습 및 복원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복원 오차 계산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-&gt; </a:t>
            </a:r>
            <a:r>
              <a:rPr lang="ko-KR" altLang="en-US" sz="1400" dirty="0"/>
              <a:t>현재 상태 진단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sz="2000" dirty="0">
                <a:solidFill>
                  <a:schemeClr val="accent6"/>
                </a:solidFill>
              </a:rPr>
              <a:t>Informer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과거 데이터를 기반으로 미래예측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장기패턴 학습</a:t>
            </a:r>
            <a:r>
              <a:rPr lang="en-US" altLang="ko-KR" sz="1400" dirty="0"/>
              <a:t>(Attention)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예측오차 계산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-&gt;</a:t>
            </a:r>
            <a:r>
              <a:rPr lang="ko-KR" altLang="en-US" sz="1400" dirty="0"/>
              <a:t>미래의 이상 발생 가능성 진단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859449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ADD-CF3B-1D16-A95C-45B2F2D1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23B27FC-9F81-0EF7-9E9E-A6B334A67C90}"/>
              </a:ext>
            </a:extLst>
          </p:cNvPr>
          <p:cNvSpPr/>
          <p:nvPr/>
        </p:nvSpPr>
        <p:spPr>
          <a:xfrm>
            <a:off x="6341752" y="3345643"/>
            <a:ext cx="3051544" cy="29883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18F86A-D81B-B837-1C4A-3D42EF9B7904}"/>
              </a:ext>
            </a:extLst>
          </p:cNvPr>
          <p:cNvSpPr/>
          <p:nvPr/>
        </p:nvSpPr>
        <p:spPr>
          <a:xfrm>
            <a:off x="3205147" y="2213370"/>
            <a:ext cx="3051544" cy="29883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0636EE0-E037-0F12-82DC-57F6B3B81618}"/>
              </a:ext>
            </a:extLst>
          </p:cNvPr>
          <p:cNvSpPr/>
          <p:nvPr/>
        </p:nvSpPr>
        <p:spPr>
          <a:xfrm>
            <a:off x="204040" y="712232"/>
            <a:ext cx="2927818" cy="29883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54EE42-88E7-51BD-142D-5DB538B2A96E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F558B-FAAF-38F7-1574-E0C8F6090C1B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8C66D-3BC0-0A85-8410-1CF0DA31CB92}"/>
              </a:ext>
            </a:extLst>
          </p:cNvPr>
          <p:cNvSpPr txBox="1"/>
          <p:nvPr/>
        </p:nvSpPr>
        <p:spPr>
          <a:xfrm>
            <a:off x="304362" y="163550"/>
            <a:ext cx="5309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Hybrid AI Algorithm </a:t>
            </a:r>
            <a:r>
              <a:rPr lang="ko-KR" altLang="en-US" b="1" dirty="0"/>
              <a:t>실험설계</a:t>
            </a:r>
            <a:r>
              <a:rPr lang="en-US" altLang="ko-KR" b="1" dirty="0"/>
              <a:t> </a:t>
            </a:r>
            <a:endParaRPr lang="ko-KR" altLang="en-US" dirty="0"/>
          </a:p>
          <a:p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A3BD0-8B4D-B244-D206-89BBE4ED1124}"/>
              </a:ext>
            </a:extLst>
          </p:cNvPr>
          <p:cNvSpPr txBox="1"/>
          <p:nvPr/>
        </p:nvSpPr>
        <p:spPr>
          <a:xfrm>
            <a:off x="252456" y="838407"/>
            <a:ext cx="2830985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650"/>
              </a:spcAft>
              <a:buNone/>
            </a:pPr>
            <a:r>
              <a:rPr lang="ko-KR" altLang="ko-KR" sz="1600" b="1" i="0" cap="all" spc="38" dirty="0" err="1">
                <a:solidFill>
                  <a:srgbClr val="2563EB"/>
                </a:solidFill>
                <a:effectLst/>
                <a:latin typeface="Urbanist"/>
              </a:rPr>
              <a:t>Step</a:t>
            </a:r>
            <a:r>
              <a:rPr lang="ko-KR" altLang="ko-KR" sz="1600" b="1" i="0" cap="all" spc="38" dirty="0">
                <a:solidFill>
                  <a:srgbClr val="2563EB"/>
                </a:solidFill>
                <a:effectLst/>
                <a:latin typeface="Urbanist"/>
              </a:rPr>
              <a:t> 01</a:t>
            </a:r>
            <a:endParaRPr lang="ko-KR" altLang="ko-KR" sz="1600" b="0" i="0" dirty="0">
              <a:solidFill>
                <a:srgbClr val="000000"/>
              </a:solidFill>
              <a:effectLst/>
              <a:latin typeface="Urbanist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altLang="ko-KR" sz="1400" b="1" dirty="0">
                <a:solidFill>
                  <a:srgbClr val="1E293B"/>
                </a:solidFill>
                <a:latin typeface="Urbanist"/>
              </a:rPr>
              <a:t>Mode 1,2 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기준 성능 확보</a:t>
            </a:r>
            <a:b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</a:b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(</a:t>
            </a:r>
            <a:r>
              <a:rPr lang="ko-KR" altLang="ko-KR" sz="1400" b="1" i="0" dirty="0" err="1">
                <a:solidFill>
                  <a:srgbClr val="1E293B"/>
                </a:solidFill>
                <a:effectLst/>
                <a:latin typeface="Urbanist"/>
              </a:rPr>
              <a:t>Base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 </a:t>
            </a:r>
            <a:r>
              <a:rPr lang="ko-KR" altLang="ko-KR" sz="1400" b="1" i="0" dirty="0" err="1">
                <a:solidFill>
                  <a:srgbClr val="1E293B"/>
                </a:solidFill>
                <a:effectLst/>
                <a:latin typeface="Urbanist"/>
              </a:rPr>
              <a:t>Model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 구축)</a:t>
            </a:r>
          </a:p>
          <a:p>
            <a:pPr marL="0" marR="0" indent="0" algn="l">
              <a:spcAft>
                <a:spcPts val="1875"/>
              </a:spcAft>
              <a:buNone/>
            </a:pP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배터리 칩셋의 신뢰도 높은 정답 데이터로 AI 모델의 탐지 정확도 표준을 정립</a:t>
            </a:r>
          </a:p>
          <a:p>
            <a:pPr marL="0" marR="0" indent="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14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Mode</a:t>
            </a: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 1, 2 환경 기초 성능 수집</a:t>
            </a:r>
          </a:p>
          <a:p>
            <a:pPr marL="0" marR="0" indent="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Hybrid </a:t>
            </a: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알고리즘 학습 모델 구축</a:t>
            </a:r>
          </a:p>
          <a:p>
            <a:pPr marL="0" marR="0" indent="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F1-Score</a:t>
            </a:r>
            <a:r>
              <a:rPr lang="en-US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, Latency </a:t>
            </a:r>
            <a:r>
              <a:rPr lang="ko-KR" altLang="en-US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기준지표</a:t>
            </a: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 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B6E16-7078-6079-FF37-E1580E4C02A1}"/>
              </a:ext>
            </a:extLst>
          </p:cNvPr>
          <p:cNvSpPr txBox="1"/>
          <p:nvPr/>
        </p:nvSpPr>
        <p:spPr>
          <a:xfrm>
            <a:off x="3362118" y="2603104"/>
            <a:ext cx="2937104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650"/>
              </a:spcAft>
              <a:buNone/>
            </a:pPr>
            <a:r>
              <a:rPr lang="ko-KR" altLang="ko-KR" sz="1600" b="1" i="0" cap="all" spc="38" dirty="0" err="1">
                <a:solidFill>
                  <a:srgbClr val="2563EB"/>
                </a:solidFill>
                <a:effectLst/>
                <a:latin typeface="Urbanist"/>
              </a:rPr>
              <a:t>Step</a:t>
            </a:r>
            <a:r>
              <a:rPr lang="ko-KR" altLang="ko-KR" sz="1600" b="1" i="0" cap="all" spc="38" dirty="0">
                <a:solidFill>
                  <a:srgbClr val="2563EB"/>
                </a:solidFill>
                <a:effectLst/>
                <a:latin typeface="Urbanist"/>
              </a:rPr>
              <a:t> 02</a:t>
            </a:r>
            <a:endParaRPr lang="ko-KR" altLang="ko-KR" sz="1600" b="0" i="0" dirty="0">
              <a:solidFill>
                <a:srgbClr val="000000"/>
              </a:solidFill>
              <a:effectLst/>
              <a:latin typeface="Urbanist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altLang="ko-KR" sz="1400" b="1" dirty="0">
                <a:solidFill>
                  <a:srgbClr val="1E293B"/>
                </a:solidFill>
                <a:latin typeface="Urbanist"/>
              </a:rPr>
              <a:t>Mode3 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데이터 유효성 검증</a:t>
            </a:r>
            <a:b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</a:b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(</a:t>
            </a:r>
            <a:r>
              <a:rPr lang="ko-KR" altLang="ko-KR" sz="1400" b="1" i="0" dirty="0" err="1">
                <a:solidFill>
                  <a:srgbClr val="1E293B"/>
                </a:solidFill>
                <a:effectLst/>
                <a:latin typeface="Urbanist"/>
              </a:rPr>
              <a:t>Feature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 고도화)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</a:rPr>
              <a:t>동일한 회로 환경(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Mode</a:t>
            </a:r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</a:rPr>
              <a:t> 1, 2 회로)에서 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Input data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</a:rPr>
              <a:t>를</a:t>
            </a:r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Mode</a:t>
            </a:r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</a:rPr>
              <a:t> 3의 형태로 가공해 비교</a:t>
            </a:r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indent="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이상 상태 분류 </a:t>
            </a:r>
            <a:r>
              <a:rPr lang="ko-KR" altLang="en-US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신뢰성</a:t>
            </a: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 지표 증명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B4521-E593-A9C3-0D23-302697D4029E}"/>
              </a:ext>
            </a:extLst>
          </p:cNvPr>
          <p:cNvSpPr txBox="1"/>
          <p:nvPr/>
        </p:nvSpPr>
        <p:spPr>
          <a:xfrm>
            <a:off x="6509060" y="3611864"/>
            <a:ext cx="2716927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650"/>
              </a:spcAft>
              <a:buNone/>
            </a:pPr>
            <a:r>
              <a:rPr lang="ko-KR" altLang="ko-KR" sz="1600" b="1" i="0" cap="all" spc="38" dirty="0" err="1">
                <a:solidFill>
                  <a:srgbClr val="2563EB"/>
                </a:solidFill>
                <a:effectLst/>
                <a:latin typeface="Urbanist"/>
              </a:rPr>
              <a:t>Step</a:t>
            </a:r>
            <a:r>
              <a:rPr lang="ko-KR" altLang="ko-KR" sz="1600" b="1" i="0" cap="all" spc="38" dirty="0">
                <a:solidFill>
                  <a:srgbClr val="2563EB"/>
                </a:solidFill>
                <a:effectLst/>
                <a:latin typeface="Urbanist"/>
              </a:rPr>
              <a:t> 03</a:t>
            </a:r>
            <a:endParaRPr lang="ko-KR" altLang="ko-KR" sz="1600" b="0" i="0" dirty="0">
              <a:solidFill>
                <a:srgbClr val="000000"/>
              </a:solidFill>
              <a:effectLst/>
              <a:latin typeface="Urbanist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ko-KR" altLang="ko-KR" sz="1400" b="1" i="0" dirty="0">
                <a:solidFill>
                  <a:srgbClr val="1E293B"/>
                </a:solidFill>
                <a:effectLst/>
                <a:latin typeface="Urbanist"/>
              </a:rPr>
              <a:t>실전 검증 및 최종 적용</a:t>
            </a:r>
          </a:p>
          <a:p>
            <a:pPr marL="0" marR="0" indent="0" algn="l">
              <a:spcAft>
                <a:spcPts val="1875"/>
              </a:spcAft>
              <a:buNone/>
            </a:pP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실제 외부 부하 회로망(Mode3)과 결합</a:t>
            </a:r>
          </a:p>
          <a:p>
            <a:pPr marL="0" marR="0" indent="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Mode3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Urbanist"/>
              </a:rPr>
              <a:t> </a:t>
            </a: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연동</a:t>
            </a:r>
          </a:p>
          <a:p>
            <a:pPr marL="0" marR="0" indent="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오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Urbanist"/>
              </a:rPr>
              <a:t>류</a:t>
            </a:r>
            <a:r>
              <a:rPr lang="ko-KR" altLang="ko-KR" sz="1400" b="0" i="0" dirty="0">
                <a:solidFill>
                  <a:schemeClr val="bg2">
                    <a:lumMod val="50000"/>
                  </a:schemeClr>
                </a:solidFill>
                <a:effectLst/>
                <a:latin typeface="Urbanist"/>
              </a:rPr>
              <a:t> 최소화 및 비상 차단 검증</a:t>
            </a:r>
          </a:p>
        </p:txBody>
      </p:sp>
    </p:spTree>
    <p:extLst>
      <p:ext uri="{BB962C8B-B14F-4D97-AF65-F5344CB8AC3E}">
        <p14:creationId xmlns:p14="http://schemas.microsoft.com/office/powerpoint/2010/main" val="877923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2EA6-61E7-1F2C-7F94-E2073EB5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218CC4-4B5C-5509-F1DE-96E700E8256D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A62833-9BCA-0582-D857-BF3BB5DD1DF0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3270F-B49D-4B66-97DA-356C60885F0A}"/>
              </a:ext>
            </a:extLst>
          </p:cNvPr>
          <p:cNvSpPr txBox="1"/>
          <p:nvPr/>
        </p:nvSpPr>
        <p:spPr>
          <a:xfrm>
            <a:off x="304362" y="163550"/>
            <a:ext cx="5309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Hybrid AI Algorithm  </a:t>
            </a:r>
            <a:endParaRPr lang="ko-KR" altLang="en-US" dirty="0"/>
          </a:p>
          <a:p>
            <a:r>
              <a:rPr lang="en-US" altLang="ko-KR" b="1" dirty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80354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D2F0-829A-439F-3481-55BC4F61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97332B-FB5A-00BC-1944-45121977655B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FE7562-F7F7-DC81-EAFA-7145C1E99B7C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C6CCA-65EA-E3E0-60B1-900073B63A51}"/>
              </a:ext>
            </a:extLst>
          </p:cNvPr>
          <p:cNvSpPr txBox="1"/>
          <p:nvPr/>
        </p:nvSpPr>
        <p:spPr>
          <a:xfrm>
            <a:off x="304362" y="163550"/>
            <a:ext cx="5309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Hybrid AI Algorithm  </a:t>
            </a:r>
            <a:endParaRPr lang="ko-KR" altLang="en-US" dirty="0"/>
          </a:p>
          <a:p>
            <a:r>
              <a:rPr lang="en-US" altLang="ko-KR" b="1" dirty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8852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57AE-DB72-D942-3DFB-8EEFD1EF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33A354-4748-4D29-47AD-206D8D6806E2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3377F5-F900-6702-6CB6-D367CFE6864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0180E-EFF4-D0E5-667A-725916CA8C55}"/>
              </a:ext>
            </a:extLst>
          </p:cNvPr>
          <p:cNvSpPr txBox="1"/>
          <p:nvPr/>
        </p:nvSpPr>
        <p:spPr>
          <a:xfrm>
            <a:off x="304362" y="163550"/>
            <a:ext cx="5309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Hybrid AI Algorithm  </a:t>
            </a:r>
            <a:endParaRPr lang="ko-KR" altLang="en-US" dirty="0"/>
          </a:p>
          <a:p>
            <a:r>
              <a:rPr lang="en-US" altLang="ko-KR" b="1" dirty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40299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AB8588-268E-4B76-B50A-EE91C1CEB8A8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C3A55-BF25-4B82-85F4-4BC74DF22114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A68FB-4C50-4F31-82BE-3F2C64DB2E4B}"/>
              </a:ext>
            </a:extLst>
          </p:cNvPr>
          <p:cNvSpPr txBox="1"/>
          <p:nvPr/>
        </p:nvSpPr>
        <p:spPr>
          <a:xfrm>
            <a:off x="304362" y="163550"/>
            <a:ext cx="5195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웹 모니터링 및 대시보드</a:t>
            </a:r>
            <a:r>
              <a:rPr lang="en-US" altLang="ko-KR" b="1" dirty="0"/>
              <a:t>(</a:t>
            </a:r>
            <a:r>
              <a:rPr lang="ko-KR" altLang="en-US" b="1" dirty="0"/>
              <a:t>웹서버</a:t>
            </a:r>
            <a:r>
              <a:rPr lang="en-US" altLang="ko-KR" b="1" dirty="0"/>
              <a:t>)</a:t>
            </a:r>
            <a:r>
              <a:rPr lang="ko-KR" altLang="en-US" b="1" dirty="0"/>
              <a:t> 주요 산출물</a:t>
            </a:r>
          </a:p>
        </p:txBody>
      </p:sp>
      <p:graphicFrame>
        <p:nvGraphicFramePr>
          <p:cNvPr id="10" name="tbl31L">
            <a:extLst>
              <a:ext uri="{FF2B5EF4-FFF2-40B4-BE49-F238E27FC236}">
                <a16:creationId xmlns:a16="http://schemas.microsoft.com/office/drawing/2014/main" id="{29DF952E-E89B-FA83-6F00-C804C321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34357"/>
              </p:ext>
            </p:extLst>
          </p:nvPr>
        </p:nvGraphicFramePr>
        <p:xfrm>
          <a:off x="292608" y="841248"/>
          <a:ext cx="4526279" cy="5307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주요 산출물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29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웹서버 요구사항 정의서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인증·세션·대시보드·제어</a:t>
                      </a:r>
                      <a:endParaRPr lang="ko-KR" sz="7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기능 정의서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로그인·관제·알림·제어</a:t>
                      </a:r>
                      <a:endParaRPr lang="ko-KR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1887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IA 정보구조도·유저 플로우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Flow</a:t>
                      </a:r>
                      <a:r>
                        <a:rPr lang="ko-KR" sz="700" dirty="0"/>
                        <a:t> </a:t>
                      </a:r>
                      <a:r>
                        <a:rPr lang="ko-KR" sz="700" dirty="0" err="1"/>
                        <a:t>chart</a:t>
                      </a:r>
                      <a:r>
                        <a:rPr lang="ko-KR" sz="700" dirty="0"/>
                        <a:t> 기준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7744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REST API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인증·배터리·세션·이력·제어</a:t>
                      </a:r>
                      <a:endParaRPr lang="ko-KR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29296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WebSocket</a:t>
                      </a:r>
                      <a:r>
                        <a:rPr lang="ko-KR" sz="700" dirty="0"/>
                        <a:t> 이벤트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값·이상점수·경고 푸시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6343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DB 스키마 설계서(ERD)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asset·session·event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994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Kafka</a:t>
                      </a:r>
                      <a:r>
                        <a:rPr lang="ko-KR" sz="700" dirty="0"/>
                        <a:t> 연동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구독·battery_id 태깅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8315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인증·권한</a:t>
                      </a:r>
                      <a:r>
                        <a:rPr lang="ko-KR" sz="700" dirty="0"/>
                        <a:t>(RBAC)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JWT/OAuth·역할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6795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D-WEB-09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알림 채널 연동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카카오 템플릿·조건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1499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릴레이 제어 시퀀스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인터락·확인 절차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231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API 명세서(</a:t>
                      </a:r>
                      <a:r>
                        <a:rPr lang="ko-KR" sz="700" dirty="0" err="1"/>
                        <a:t>OpenAPI</a:t>
                      </a:r>
                      <a:r>
                        <a:rPr lang="ko-KR" sz="700" dirty="0"/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엔드포인트·DTO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543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보안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TLS/SASL·토큰·검증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3921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에러코드·예외</a:t>
                      </a:r>
                      <a:r>
                        <a:rPr lang="ko-KR" sz="700" dirty="0"/>
                        <a:t> 처리 정책서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표준 응답·에러코드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4634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반응형 UI/UX 디자인 가이드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브레이크포인트·컴포넌트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6833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D-WEB-15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관리자 기능 설계서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사용자·권한·감사·관제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1206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백엔드</a:t>
                      </a:r>
                      <a:r>
                        <a:rPr lang="ko-KR" sz="700" dirty="0"/>
                        <a:t> 프로젝트 기본 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Spring Boot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8013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인증·권한</a:t>
                      </a:r>
                      <a:r>
                        <a:rPr lang="ko-KR" sz="700" dirty="0"/>
                        <a:t> 관리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로그인/</a:t>
                      </a:r>
                      <a:r>
                        <a:rPr lang="ko-KR" sz="700" dirty="0" err="1"/>
                        <a:t>SSO·계정찾기</a:t>
                      </a:r>
                      <a:endParaRPr lang="ko-KR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162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배터리 </a:t>
                      </a:r>
                      <a:r>
                        <a:rPr lang="ko-KR" sz="700" dirty="0" err="1"/>
                        <a:t>자산·측정</a:t>
                      </a:r>
                      <a:r>
                        <a:rPr lang="ko-KR" sz="700" dirty="0"/>
                        <a:t> 세션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ID </a:t>
                      </a:r>
                      <a:r>
                        <a:rPr lang="ko-KR" sz="700" dirty="0" err="1"/>
                        <a:t>발급·세션</a:t>
                      </a:r>
                      <a:r>
                        <a:rPr lang="ko-KR" sz="700" dirty="0"/>
                        <a:t> </a:t>
                      </a:r>
                      <a:r>
                        <a:rPr lang="ko-KR" sz="700" dirty="0" err="1"/>
                        <a:t>태깅</a:t>
                      </a:r>
                      <a:endParaRPr lang="ko-KR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50737"/>
                  </a:ext>
                </a:extLst>
              </a:tr>
            </a:tbl>
          </a:graphicData>
        </a:graphic>
      </p:graphicFrame>
      <p:graphicFrame>
        <p:nvGraphicFramePr>
          <p:cNvPr id="11" name="tbl31R">
            <a:extLst>
              <a:ext uri="{FF2B5EF4-FFF2-40B4-BE49-F238E27FC236}">
                <a16:creationId xmlns:a16="http://schemas.microsoft.com/office/drawing/2014/main" id="{29DF952E-E89B-FA83-6F00-C804C321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7657"/>
              </p:ext>
            </p:extLst>
          </p:nvPr>
        </p:nvGraphicFramePr>
        <p:xfrm>
          <a:off x="4983480" y="841248"/>
          <a:ext cx="4526279" cy="527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주요 산출물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29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I-WEB-04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Kafka Consumer 적재 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DB 적재·세션 태깅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I-WEB-05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대시보드 조회·실시간 푸시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REST + WebSocket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430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추세 차트·이력 조회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기간·지표 필터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8447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이상 이벤트 수신·저장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anomaly-alerts 구독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5180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알림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카카오 알림·제한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007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임계치·설정 관리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등급·알림 조건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477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릴레이 차단/복구 제어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인터락·실행 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9730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공통 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예외·로깅·인증 필터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2414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반응형 프론트엔드 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React 반응형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23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I-WEB-13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관리자 콘솔 API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사용자·관제·감사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4665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웹서버 API 테스트 결과서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권한·조회·알림·제어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1658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대시보드 통합 시연 자료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이상 대응 시나리오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181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WebSocket 부하/안정성 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동시접속·지연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246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Consumer 적재·재처리 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오프셋·중복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9579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RBAC 보안 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권한 우회 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292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알림/릴레이 제어 E2E 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Fail-Safe 포함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6081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반응형·크로스브라우저 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모바일·태블릿·PC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7419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T-WEB-08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관리자 권한·감사 로그 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접근통제·audit</a:t>
                      </a:r>
                      <a:endParaRPr lang="ko-KR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28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341783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ns2:creationId id="{FEAB8588-268E-4B76-B50A-EE91C1CEB8A8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ns2:creationId id="{A25C3A55-BF25-4B82-85F4-4BC74DF22114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ns2:creationId id="{73FA68FB-4C50-4F31-82BE-3F2C64DB2E4B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요구사항 정의서</a:t>
            </a:r>
            <a:r>
              <a:rPr lang="en-US" altLang="ko-KR" b="1" dirty="0"/>
              <a:t>-1</a:t>
            </a:r>
            <a:endParaRPr lang="ko-KR" altLang="en-US" b="1" dirty="0"/>
          </a:p>
        </p:txBody>
      </p:sp>
      <p:graphicFrame>
        <p:nvGraphicFramePr>
          <p:cNvPr id="10" name="tbl32L">
            <a:extLst>
              <a:ext uri="{FF2B5EF4-FFF2-40B4-BE49-F238E27FC236}">
                <ns2:creationId id="{0070E573-A83B-216A-3CF7-60294CCBC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916868957"/>
              </p:ext>
            </p:extLst>
          </p:nvPr>
        </p:nvGraphicFramePr>
        <p:xfrm>
          <a:off x="292608" y="841248"/>
          <a:ext cx="4526280" cy="5244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ns2:colId val="20000"/>
                    </a:ext>
                  </a:extLst>
                </a:gridCol>
                <a:gridCol w="944880">
                  <a:extLst>
                    <a:ext uri="{9D8B030D-6E8A-4147-A177-3AD203B41FA5}">
                      <ns2:colId val="20001"/>
                    </a:ext>
                  </a:extLst>
                </a:gridCol>
                <a:gridCol w="1747520">
                  <a:extLst>
                    <a:ext uri="{9D8B030D-6E8A-4147-A177-3AD203B41FA5}">
                      <ns2:colId val="20002"/>
                    </a:ext>
                  </a:extLst>
                </a:gridCol>
                <a:gridCol w="447040">
                  <a:extLst>
                    <a:ext uri="{9D8B030D-6E8A-4147-A177-3AD203B41FA5}">
                      <ns2:colId val="20003"/>
                    </a:ext>
                  </a:extLst>
                </a:gridCol>
                <a:gridCol w="673608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요구사항명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상세설명</a:t>
                      </a:r>
                      <a:r>
                        <a:rPr sz="750" b="1" dirty="0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중요도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비고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이메일 로그인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이메일로 안전하게 로그인.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인증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소셜 로그인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카카오·네이버 계정으로 빠른 로그인.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소셜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계정 복구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계정 분실 시 인증 후 접근 복구.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계정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권한 분리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역할별 화면 제공 및 접근 권한 제한.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RBAC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세션 관리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로그인 상태 유지 및 미사용 세션 자동 만료.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JWT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 등록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 등록 및 측정 이력 연결.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 선택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저장된 배터리 선택 및 이전 이력 연속 조회.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수동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측정 세션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측정 시작·종료를 세션 단위로 기록.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단일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 태깅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센서값과 AI 결과를 선택 배터리에 연결.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적재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장비 상태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측정 장비와 대상 배터리 상태 확인.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기기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원본 저장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센서 원본 데이터 누락 없는 저장.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적재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AI 결과 저장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AI 이상점수와 위험 판단 결과 저장.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구독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데이터 재처리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장애 후 마지막 처리 지점부터 재처리.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재처리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빠른 조회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긴 기간 전압·온도·전류 데이터 빠른 조회.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인덱스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상태 요약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현재 센서값·이상점수·상태 등급 요약 조회.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REST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실시간 반영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새로고침 없는 실시간 변화와 경고 반영.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WS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추세 비교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기간·지표별 추세 그래프 비교.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필터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이력 검색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이벤트·오류·제어 이력 검색.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페이징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 이력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배터리별 세션·점수·이벤트 조회.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이력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p:graphicFrame>
      <p:graphicFrame>
        <p:nvGraphicFramePr>
          <p:cNvPr id="3" name="tbl32L">
            <a:extLst>
              <a:ext uri="{FF2B5EF4-FFF2-40B4-BE49-F238E27FC236}">
                <ns2:creationId id="{7127BE8F-F58D-D4AF-1597-FB019506C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736038920"/>
              </p:ext>
            </p:extLst>
          </p:nvPr>
        </p:nvGraphicFramePr>
        <p:xfrm>
          <a:off x="4983480" y="842524"/>
          <a:ext cx="4526280" cy="5244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ns2:colId val="20000"/>
                    </a:ext>
                  </a:extLst>
                </a:gridCol>
                <a:gridCol w="944880">
                  <a:extLst>
                    <a:ext uri="{9D8B030D-6E8A-4147-A177-3AD203B41FA5}">
                      <ns2:colId val="20001"/>
                    </a:ext>
                  </a:extLst>
                </a:gridCol>
                <a:gridCol w="1747520">
                  <a:extLst>
                    <a:ext uri="{9D8B030D-6E8A-4147-A177-3AD203B41FA5}">
                      <ns2:colId val="20002"/>
                    </a:ext>
                  </a:extLst>
                </a:gridCol>
                <a:gridCol w="447040">
                  <a:extLst>
                    <a:ext uri="{9D8B030D-6E8A-4147-A177-3AD203B41FA5}">
                      <ns2:colId val="20003"/>
                    </a:ext>
                  </a:extLst>
                </a:gridCol>
                <a:gridCol w="673608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요구사항명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상세설명</a:t>
                      </a:r>
                      <a:r>
                        <a:rPr sz="750" b="1" dirty="0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중요도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비고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기록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시점 값·점수·대응 상태 기록.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이벤트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등급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이상점수를 4단계 위험 등급으로 표시.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4등급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알림 기준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실험 목적별 알림 기준 조정.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외부 알림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경고·위험 상태 외부 알림 발송.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카카오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중복 알림 억제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중복 알림 억제 및 주요 변화만 발송.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알림 이력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알림 발송 기록 조회.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이력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차단·복구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권한 확인 후 차단·복구 실행.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제어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긴급 차단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시 Kill-Switch 연계 차단.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안전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보안 검증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데이터 암호화 및 입력값 검증.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보안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운영 추적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로그·감사·헬스 상태 확인.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반응형 화면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PC·태블릿·모바일별 관제 화면 제공.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반응형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알림 센터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새 경고와 놓친 알림 화면 표시.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토스트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파일 내보내기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조회 데이터와 이벤트 파일 내보내기.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출력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연결 복구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연결 끊김 시 자동 복구와 상태 안내.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재연결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접근성 화면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다크모드와 접근성 화면 제공.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Low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테마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계정 운영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계정 권한과 활성 상태 관리.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관리자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통합 관제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전체 배터리·장비·위험 상태 통합 조회.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관제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감사 이력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조회·설정·제어 이력 감사.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audit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서비스 헬스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Kafka·DB·AI 상태 빠른 확인.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헬스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422526025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3D4F2445-BE73-9175-8578-40EA5975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ns2:creationId id="{EBEE1DAF-8239-6879-7807-AAD7B9C8FCD5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ns2:creationId id="{A53B1234-3A2B-F371-535E-3053B5C943CD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2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ns2:creationId id="{70D2A32D-F107-EAC1-B5BA-3544576B1E42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요구사항 정의서</a:t>
            </a:r>
            <a:r>
              <a:rPr lang="en-US" altLang="ko-KR" b="1" dirty="0"/>
              <a:t>-2</a:t>
            </a:r>
            <a:endParaRPr lang="ko-KR" altLang="en-US" b="1" dirty="0"/>
          </a:p>
        </p:txBody>
      </p:sp>
      <p:graphicFrame>
        <p:nvGraphicFramePr>
          <p:cNvPr id="10" name="tbl32L">
            <a:extLst>
              <a:ext uri="{FF2B5EF4-FFF2-40B4-BE49-F238E27FC236}">
                <ns2:creationId id="{F409B175-1F0D-730E-DAA9-E763E43A1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419729196"/>
              </p:ext>
            </p:extLst>
          </p:nvPr>
        </p:nvGraphicFramePr>
        <p:xfrm>
          <a:off x="292608" y="841248"/>
          <a:ext cx="4526280" cy="368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ns2:colId val="20000"/>
                    </a:ext>
                  </a:extLst>
                </a:gridCol>
                <a:gridCol w="944880">
                  <a:extLst>
                    <a:ext uri="{9D8B030D-6E8A-4147-A177-3AD203B41FA5}">
                      <ns2:colId val="20001"/>
                    </a:ext>
                  </a:extLst>
                </a:gridCol>
                <a:gridCol w="1747520">
                  <a:extLst>
                    <a:ext uri="{9D8B030D-6E8A-4147-A177-3AD203B41FA5}">
                      <ns2:colId val="20002"/>
                    </a:ext>
                  </a:extLst>
                </a:gridCol>
                <a:gridCol w="447040">
                  <a:extLst>
                    <a:ext uri="{9D8B030D-6E8A-4147-A177-3AD203B41FA5}">
                      <ns2:colId val="20003"/>
                    </a:ext>
                  </a:extLst>
                </a:gridCol>
                <a:gridCol w="673608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요구사항명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상세설명</a:t>
                      </a:r>
                      <a:r>
                        <a:rPr sz="750" b="1" dirty="0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중요도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비고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SRS-WEB-039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공지 관리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공통 임계치와 공지사항 관리.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Low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공지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AI 근거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이상점수 상승 원인 근거별 표시.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XAI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수명 예측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배터리 건강도와 잔존수명 추정.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SOH/RUL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이상 시연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시나리오 기반 탐지·알림·차단 검증.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데모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원인 분석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전후 데이터와 조치 흐름 분석.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포렌식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경고 격상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미확인 알림 격상과 대응 상태 기록.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격상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알림 채널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위험도별 알림 채널 분리.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다중채널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장비 끊김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장비 오프라인과 수신 중단 즉시 경고.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신뢰성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실험 비교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여러 배터리·세션 추세 비교.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대응 안내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등급별 즉시 조치 안내.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안전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SRS-WEB-049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웹푸시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설치형 웹과 웹푸시 알림 제공.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PWA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데이터 보존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원본·요약 데이터 보존 정책 관리.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보존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다국어 전환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한국어·영어 화면 전환.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Low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i18n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p:graphicFrame>
      <p:graphicFrame>
        <p:nvGraphicFramePr>
          <p:cNvPr id="3" name="tbl32L">
            <a:extLst>
              <a:ext uri="{FF2B5EF4-FFF2-40B4-BE49-F238E27FC236}">
                <ns2:creationId id="{A609654D-7CF8-5DAF-79B4-C0CEE6E22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651610601"/>
              </p:ext>
            </p:extLst>
          </p:nvPr>
        </p:nvGraphicFramePr>
        <p:xfrm>
          <a:off x="4983480" y="842524"/>
          <a:ext cx="4526280" cy="2638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ns2:colId val="20000"/>
                    </a:ext>
                  </a:extLst>
                </a:gridCol>
                <a:gridCol w="944880">
                  <a:extLst>
                    <a:ext uri="{9D8B030D-6E8A-4147-A177-3AD203B41FA5}">
                      <ns2:colId val="20001"/>
                    </a:ext>
                  </a:extLst>
                </a:gridCol>
                <a:gridCol w="1747520">
                  <a:extLst>
                    <a:ext uri="{9D8B030D-6E8A-4147-A177-3AD203B41FA5}">
                      <ns2:colId val="20002"/>
                    </a:ext>
                  </a:extLst>
                </a:gridCol>
                <a:gridCol w="447040">
                  <a:extLst>
                    <a:ext uri="{9D8B030D-6E8A-4147-A177-3AD203B41FA5}">
                      <ns2:colId val="20003"/>
                    </a:ext>
                  </a:extLst>
                </a:gridCol>
                <a:gridCol w="673608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요구사항명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요구사항 상세설명</a:t>
                      </a:r>
                      <a:r>
                        <a:rPr sz="750" b="1" dirty="0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/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 dirty="0" err="1">
                          <a:solidFill>
                            <a:schemeClr val="tx1"/>
                          </a:solidFill>
                          <a:latin typeface="Apple SD Gothic Neo"/>
                        </a:rPr>
                        <a:t>중요도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/>
                        </a:rPr>
                        <a:t>비고</a:t>
                      </a:r>
                      <a:endParaRPr sz="1000" b="1" dirty="0">
                        <a:solidFill>
                          <a:schemeClr val="tx1"/>
                        </a:solidFill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안전 점검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안전 체크 완료 후 측정 시작.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안전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이중 확인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위험 조작 권한 확인과 2차 확인.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승인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센서 보정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센서 보정 이력과 만료 경고 관리.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보정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품질 표시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데이터 품질 점수와 분석 가능 여부 표시.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품질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선택 검증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QR/라벨 기반 배터리 선택 검증.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조건 저장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실험 조건 템플릿 저장과 재사용.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템플릿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진단 자료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장애 진단 자료 일괄 다운로드.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진단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SRS-WEB-059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접근 추적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민감 작업 사용자·시간·IP 추적.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감사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r>
                        <a:rPr sz="650" b="0" dirty="0">
                          <a:latin typeface="Apple SD Gothic Neo"/>
                        </a:rPr>
                        <a:t>SRS-WEB-060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백업·복구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endParaRPr sz="1000" b="0" dirty="0">
                        <a:latin typeface="Apple SD Gothic Ne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/>
                        </a:rPr>
                        <a:t>백업과 복구 테스트로 데이터 유실 방지.</a:t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  <a:r>
                        <a:rPr sz="700" b="0" dirty="0" err="1">
                          <a:latin typeface="Apple SD Gothic Neo"/>
                        </a:rPr>
                        <a:t/>
                      </a:r>
                      <a:r>
                        <a:rPr sz="700" b="0" dirty="0">
                          <a:latin typeface="Apple SD Gothic Neo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>
                          <a:latin typeface="Apple SD Gothic Neo"/>
                        </a:rPr>
                        <a:t>Med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/>
                        </a:rPr>
                        <a:t>복구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3924083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AB8588-268E-4B76-B50A-EE91C1CEB8A8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C3A55-BF25-4B82-85F4-4BC74DF22114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A68FB-4C50-4F31-82BE-3F2C64DB2E4B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기능 정의서</a:t>
            </a:r>
            <a:r>
              <a:rPr lang="en-US" altLang="ko-KR" b="1" dirty="0"/>
              <a:t>-1</a:t>
            </a:r>
            <a:endParaRPr lang="ko-KR" altLang="en-US" b="1" dirty="0"/>
          </a:p>
        </p:txBody>
      </p:sp>
      <p:graphicFrame>
        <p:nvGraphicFramePr>
          <p:cNvPr id="10" name="tbl33L">
            <a:extLst>
              <a:ext uri="{FF2B5EF4-FFF2-40B4-BE49-F238E27FC236}">
                <a16:creationId xmlns:a16="http://schemas.microsoft.com/office/drawing/2014/main" id="{FA28A6AE-9BDD-E29F-2393-3E8664429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769998"/>
              </p:ext>
            </p:extLst>
          </p:nvPr>
        </p:nvGraphicFramePr>
        <p:xfrm>
          <a:off x="292608" y="841248"/>
          <a:ext cx="4526280" cy="5515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사항 ID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사항 명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세부 설명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비고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REQ-WEB-001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로그인/SSO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일반·소셜 로그인·토큰 발급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인증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REQ-WEB-002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회원가입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이메일 가입·입력값 검증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입력검증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618087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REQ-WEB-003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계정/비밀번호 찾기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아이디 찾기·재설정 발송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계정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13079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REQ-WEB-004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토큰 발급/갱신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JWT 액세스·리프레시 갱신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JWT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872832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REQ-WEB-005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사용자 권한 관리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일반/관리자 구분·접근 확인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RBAC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838232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REQ-WEB-006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로그아웃/세션 만료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로그아웃·세션 만료 처리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세션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699556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REQ-WEB-007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디바이스 등록/관리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device_id 등록·선택·관리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기기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43999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REQ-WEB-008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배터리 자산관리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새 배터리 등록·ID 발급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battery_id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4096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REQ-WEB-009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배터리 선택/이력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저장 배터리 수동 선택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수동 매칭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73216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REQ-WEB-010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배터리 상세/이력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세션·점수 추세 상세 조회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조회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697705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REQ-WEB-011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측정 세션 생성/종료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측정 시작 세션 생성·종료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세션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614156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REQ-WEB-012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battery_id 태깅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active 세션 조회 태깅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Consumer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36438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REQ-WEB-013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raw-metrics 적재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raw-metrics DB 적재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DB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7197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REQ-WEB-014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이상알람 수신/저장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AI 이상알람 수신·저장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이벤트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6139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REQ-WEB-015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미배정 데이터 경고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미배정 데이터 경고 기록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이벤트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94057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REQ-WEB-016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실시간 대시보드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WebSocket 실시간 갱신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WebSocket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192889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REQ-WEB-017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요약 카드/게이지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요약 카드·게이지 데이터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조회 API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9402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REQ-WEB-018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추세 차트/이력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기간·지표 필터 차트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조회 API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110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REQ-WEB-019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이상 이벤트 표시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정상/주의/경고/위험 표시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상태 등급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3217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REQ-WEB-020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이벤트 이력 목록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이벤트 페이징·검색·상세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페이징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60669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REQ-WEB-021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위험도 분포 집계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등급별 분포 통계 집계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통계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151534"/>
                  </a:ext>
                </a:extLst>
              </a:tr>
            </a:tbl>
          </a:graphicData>
        </a:graphic>
      </p:graphicFrame>
      <p:graphicFrame>
        <p:nvGraphicFramePr>
          <p:cNvPr id="11" name="tbl33R">
            <a:extLst>
              <a:ext uri="{FF2B5EF4-FFF2-40B4-BE49-F238E27FC236}">
                <a16:creationId xmlns:a16="http://schemas.microsoft.com/office/drawing/2014/main" id="{FA28A6AE-9BDD-E29F-2393-3E8664429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769998"/>
              </p:ext>
            </p:extLst>
          </p:nvPr>
        </p:nvGraphicFramePr>
        <p:xfrm>
          <a:off x="4983480" y="841248"/>
          <a:ext cx="4526280" cy="5515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사항 ID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사항 명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세부 설명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비고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REQ-WEB-022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임계치 설정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등급·알림 조건 설정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설정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REQ-WEB-023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SNS 알림 발송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경고·위험 카카오 알림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카카오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213797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REQ-WEB-024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알림 조건/제한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발송 조건·중복 억제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알림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95415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REQ-WEB-025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알림 이력 조회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알림 발송 이력 조회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알림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1193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REQ-WEB-026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릴레이 차단 요청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릴레이 차단 명령·기록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제어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67186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REQ-WEB-027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릴레이 복구 요청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회로 복구 명령·기록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제어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941209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REQ-WEB-028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긴급 차단 연계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Fail-Safe 긴급 차단 연계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안전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9149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REQ-WEB-029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계정/알림 설정 수정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사용자·알림 수신 설정 수정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계정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04366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REQ-WEB-030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시스템 상태 체크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파이프라인·서버 헬스 체크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운영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51448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REQ-WEB-031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반응형 레이아웃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브레이크포인트별 반응형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반응형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62121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REQ-WEB-032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인앱 알림 토스트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실시간 토스트·알림센터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토스트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5721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REQ-WEB-033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데이터 내보내기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조회 데이터 CSV/PDF 출력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내보내기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654771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REQ-WEB-034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WebSocket 재연결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끊김 시 자동 재연결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재연결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64792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REQ-WEB-035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다크모드/테마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다크모드·테마 전환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테마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6088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REQ-WEB-036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사용자 계정 관리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계정 목록·검색·상세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관리자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66614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REQ-WEB-037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권한 부여/회수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권한 부여/회수·계정 정지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관리자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226117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REQ-WEB-038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비밀번호 초기화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비밀번호 초기화·강제 로그아웃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관리자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7803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REQ-WEB-039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관리자 통합 대시보드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전체 자산 통합 관제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관리자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238083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REQ-WEB-040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감사 로그 조회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제어·접근 감사 로그 조회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audit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30231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REQ-WEB-041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시스템 모니터링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Kafka·DB·AI 상태 점검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운영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535902"/>
                  </a:ext>
                </a:extLst>
              </a:tr>
              <a:tr h="248716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REQ-WEB-042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전역 임계치/공지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전역 기본 임계치·공지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dirty="0" err="1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관리자</a:t>
                      </a:r>
                      <a:endParaRPr sz="700" b="0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09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07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AB8588-268E-4B76-B50A-EE91C1CEB8A8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C3A55-BF25-4B82-85F4-4BC74DF22114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2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A68FB-4C50-4F31-82BE-3F2C64DB2E4B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기능 정의서</a:t>
            </a:r>
            <a:r>
              <a:rPr lang="en-US" altLang="ko-KR" b="1"/>
              <a:t>-2</a:t>
            </a:r>
            <a:endParaRPr lang="ko-KR" altLang="en-US" b="1"/>
          </a:p>
        </p:txBody>
      </p:sp>
      <p:graphicFrame>
        <p:nvGraphicFramePr>
          <p:cNvPr id="10" name="tbl33L">
            <a:extLst>
              <a:ext uri="{FF2B5EF4-FFF2-40B4-BE49-F238E27FC236}">
                <a16:creationId xmlns:a16="http://schemas.microsoft.com/office/drawing/2014/main" id="{FA28A6AE-9BDD-E29F-2393-3E8664429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769998"/>
              </p:ext>
            </p:extLst>
          </p:nvPr>
        </p:nvGraphicFramePr>
        <p:xfrm>
          <a:off x="292608" y="841248"/>
          <a:ext cx="4526280" cy="57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사항 ID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사항 명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기능 세부 설명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비고</a:t>
                      </a:r>
                      <a:endParaRPr sz="780" b="1" dirty="0">
                        <a:solidFill>
                          <a:schemeClr val="tx1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REQ-WEB-043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이상 근거 설명 패널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이상점수 특징별 기여도 막대/히트맵 표시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XAI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REQ-WEB-044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SOH/RUL 건강도 카드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건강도·잔존수명·교체권장 표시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수명예측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88168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REQ-WEB-045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시나리오 시뮬레이터 콘솔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합성·저장 시나리오 재생 전 과정 시연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데모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218730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REQ-WEB-046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사후 포렌식 타임라인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이벤트 전후 데이터·점수·제어·알림 타임라인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포렌식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87646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REQ-WEB-047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알림 확인(Ack)·대응상태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확인/대응중/해결 상태·처리자 기록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대응추적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41263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REQ-WEB-048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멀티채널 알림 라우팅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카카오/이메일/SMS/웹훅 분기·에스컬레이션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다중채널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49978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REQ-WEB-049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디바이스 오프라인 경보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하트비트 미수신 시 이벤트·알림 발생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신뢰성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6745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REQ-WEB-050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다중 배터리 비교 뷰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여러 배터리·세션 곡선 겹쳐 비교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분석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327974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REQ-WEB-051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긴급 대응 SOP 런북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위험 등급별 즉시 행동 체크리스트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안전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023972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REQ-WEB-052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PWA 설치·웹푸시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홈화면 설치·Service Worker 푸시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PWA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491611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REQ-WEB-053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데이터 보존 정책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연속집계·다운샘플링·만료 설정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보존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82790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REQ-WEB-054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다국어 전환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한/영 UI 전환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i18n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50849"/>
                  </a:ext>
                </a:extLst>
              </a:tr>
              <a:tr h="418278"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REQ-WEB-055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AI 모델/드리프트 점검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모델 버전·입력 드리프트 모니터링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MLOps</a:t>
                      </a:r>
                    </a:p>
                  </a:txBody>
                  <a:tcPr marL="74295" marR="74295" marT="37148" marB="37148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80347"/>
                  </a:ext>
                </a:extLst>
              </a:tr>
            </a:tbl>
          </a:graphicData>
        </a:graphic>
      </p:graphicFrame>
      <p:graphicFrame>
        <p:nvGraphicFramePr>
          <p:cNvPr id="11" name="tbl_additional_features"/>
          <p:cNvGraphicFramePr>
            <a:graphicFrameLocks noGrp="1"/>
          </p:cNvGraphicFramePr>
          <p:nvPr/>
        </p:nvGraphicFramePr>
        <p:xfrm>
          <a:off x="5120000" y="841248"/>
          <a:ext cx="4490000" cy="421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8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ID</a:t>
                      </a:r>
                      <a:endParaRPr sz="68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8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추가 제안 기능</a:t>
                      </a:r>
                      <a:endParaRPr sz="68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8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기능 세부 설명</a:t>
                      </a:r>
                      <a:endParaRPr sz="68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REQ-WEB-056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안전 점검 마법사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측정 시작 전 체크리스트 완료 여부를 확인하고 미완료 항목은 시작 버튼을 비활성화한다.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REQ-WEB-057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위험 제어 승인 모달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차단 해제·임계치 변경 시 사유 입력, 재인증, 승인자 기록을 요구한다.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REQ-WEB-058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캘리브레이션 관리 화면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센서별 보정값 입력, 만료 알림, 이전 보정 이력을 조회한다.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REQ-WEB-059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데이터 품질 배지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차트와 이벤트에 결측률, 튐값 수, 센서 고착 의심 여부를 함께 표시한다.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REQ-WEB-060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QR/라벨 매칭 확인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배터리 선택 시 QR 또는 라벨 코드를 입력해 자산과 세션을 재확인한다.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REQ-WEB-061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실험 레시피 템플릿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충방전 조건과 센서 배치를 템플릿으로 저장하고 새 세션에 재사용한다.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REQ-WEB-062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진단 패키지 내보내기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장애 분석용 로그·설정·최근 센서값·모델 상태를 ZIP/PDF로 내보낸다.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REQ-WEB-063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감사 로그 탐색기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사용자, 작업유형, 기간, IP 기준으로 조회·필터링하고 CSV로 내보낸다.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REQ-WEB-064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백업/복구 관리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62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</a:rPr>
                        <a:t>최근 백업 상태, 복구 리허설 결과, 실패 알림을 관리자 화면에 표시한다.</a:t>
                      </a:r>
                      <a:endParaRPr sz="620" dirty="0">
                        <a:latin typeface="Apple SD Gothic Neo"/>
                        <a:ea typeface="Apple SD Gothic Neo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AB8588-268E-4B76-B50A-EE91C1CEB8A8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C3A55-BF25-4B82-85F4-4BC74DF22114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A68FB-4C50-4F31-82BE-3F2C64DB2E4B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IA</a:t>
            </a:r>
            <a:r>
              <a:rPr lang="ko-KR" altLang="en-US" b="1"/>
              <a:t> 정보구조도 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60EEA67-914E-E773-0137-77240D908AD3}"/>
              </a:ext>
            </a:extLst>
          </p:cNvPr>
          <p:cNvSpPr/>
          <p:nvPr/>
        </p:nvSpPr>
        <p:spPr>
          <a:xfrm>
            <a:off x="4263000" y="1951368"/>
            <a:ext cx="1380000" cy="310000"/>
          </a:xfrm>
          <a:prstGeom prst="rect">
            <a:avLst/>
          </a:prstGeom>
          <a:solidFill>
            <a:srgbClr val="262626"/>
          </a:solidFill>
          <a:ln w="952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로그인 / 회원가입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6057E50-AB74-BEDB-D4EB-3D340C3D7114}"/>
              </a:ext>
            </a:extLst>
          </p:cNvPr>
          <p:cNvSpPr/>
          <p:nvPr/>
        </p:nvSpPr>
        <p:spPr>
          <a:xfrm>
            <a:off x="5843000" y="1951368"/>
            <a:ext cx="1100000" cy="310000"/>
          </a:xfrm>
          <a:prstGeom prst="rect">
            <a:avLst/>
          </a:prstGeom>
          <a:solidFill>
            <a:srgbClr val="FF3333"/>
          </a:solidFill>
          <a:ln w="9525">
            <a:solidFill>
              <a:srgbClr val="A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 dirty="0" err="1">
                <a:solidFill>
                  <a:srgbClr val="FFFFFF"/>
                </a:solidFill>
              </a:rPr>
              <a:t>계정</a:t>
            </a:r>
            <a:r>
              <a:rPr sz="800" b="0" dirty="0">
                <a:solidFill>
                  <a:srgbClr val="FFFFFF"/>
                </a:solidFill>
              </a:rPr>
              <a:t> </a:t>
            </a:r>
            <a:r>
              <a:rPr sz="800" b="0" dirty="0" err="1">
                <a:solidFill>
                  <a:srgbClr val="FFFFFF"/>
                </a:solidFill>
              </a:rPr>
              <a:t>찾기</a:t>
            </a:r>
            <a:r>
              <a:rPr sz="800" b="0" dirty="0">
                <a:solidFill>
                  <a:srgbClr val="FFFFFF"/>
                </a:solidFill>
              </a:rPr>
              <a:t>
(</a:t>
            </a:r>
            <a:r>
              <a:rPr lang="en-US" sz="800" b="0" dirty="0" err="1">
                <a:solidFill>
                  <a:srgbClr val="FFFFFF"/>
                </a:solidFill>
              </a:rPr>
              <a:t>ID</a:t>
            </a:r>
            <a:r>
              <a:rPr sz="800" b="0" dirty="0" err="1">
                <a:solidFill>
                  <a:srgbClr val="FFFFFF"/>
                </a:solidFill>
              </a:rPr>
              <a:t>·비밀번호</a:t>
            </a:r>
            <a:r>
              <a:rPr sz="800" b="0" dirty="0">
                <a:solidFill>
                  <a:srgbClr val="FFFFFF"/>
                </a:solidFill>
              </a:rPr>
              <a:t> </a:t>
            </a:r>
            <a:r>
              <a:rPr sz="800" b="0" dirty="0" err="1">
                <a:solidFill>
                  <a:srgbClr val="FFFFFF"/>
                </a:solidFill>
              </a:rPr>
              <a:t>찾기</a:t>
            </a:r>
            <a:r>
              <a:rPr sz="800" b="0" dirty="0">
                <a:solidFill>
                  <a:srgbClr val="FFFFFF"/>
                </a:solidFill>
              </a:rPr>
              <a:t>)</a:t>
            </a:r>
          </a:p>
        </p:txBody>
      </p:sp>
      <p:cxnSp>
        <p:nvCxnSpPr>
          <p:cNvPr id="5" name="Connector 11">
            <a:extLst>
              <a:ext uri="{FF2B5EF4-FFF2-40B4-BE49-F238E27FC236}">
                <a16:creationId xmlns:a16="http://schemas.microsoft.com/office/drawing/2014/main" id="{FBBE0B41-5DBB-89DF-98A5-1D414C198BDC}"/>
              </a:ext>
            </a:extLst>
          </p:cNvPr>
          <p:cNvCxnSpPr/>
          <p:nvPr/>
        </p:nvCxnSpPr>
        <p:spPr>
          <a:xfrm>
            <a:off x="5643000" y="2106368"/>
            <a:ext cx="20000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12">
            <a:extLst>
              <a:ext uri="{FF2B5EF4-FFF2-40B4-BE49-F238E27FC236}">
                <a16:creationId xmlns:a16="http://schemas.microsoft.com/office/drawing/2014/main" id="{0B5F5355-BC72-4A5B-D861-00E2F0330005}"/>
              </a:ext>
            </a:extLst>
          </p:cNvPr>
          <p:cNvSpPr/>
          <p:nvPr/>
        </p:nvSpPr>
        <p:spPr>
          <a:xfrm>
            <a:off x="4263000" y="2441368"/>
            <a:ext cx="1380000" cy="310000"/>
          </a:xfrm>
          <a:prstGeom prst="rect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HOME 대시보드</a:t>
            </a:r>
          </a:p>
        </p:txBody>
      </p:sp>
      <p:cxnSp>
        <p:nvCxnSpPr>
          <p:cNvPr id="7" name="Connector 13">
            <a:extLst>
              <a:ext uri="{FF2B5EF4-FFF2-40B4-BE49-F238E27FC236}">
                <a16:creationId xmlns:a16="http://schemas.microsoft.com/office/drawing/2014/main" id="{AFC1EFD6-5113-6496-6599-91E04FCF71D7}"/>
              </a:ext>
            </a:extLst>
          </p:cNvPr>
          <p:cNvCxnSpPr/>
          <p:nvPr/>
        </p:nvCxnSpPr>
        <p:spPr>
          <a:xfrm>
            <a:off x="4953000" y="2261368"/>
            <a:ext cx="0" cy="1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4">
            <a:extLst>
              <a:ext uri="{FF2B5EF4-FFF2-40B4-BE49-F238E27FC236}">
                <a16:creationId xmlns:a16="http://schemas.microsoft.com/office/drawing/2014/main" id="{18A94C9F-DA8A-38A3-B423-A080711CA64B}"/>
              </a:ext>
            </a:extLst>
          </p:cNvPr>
          <p:cNvCxnSpPr/>
          <p:nvPr/>
        </p:nvCxnSpPr>
        <p:spPr>
          <a:xfrm>
            <a:off x="4953000" y="2751368"/>
            <a:ext cx="0" cy="15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5">
            <a:extLst>
              <a:ext uri="{FF2B5EF4-FFF2-40B4-BE49-F238E27FC236}">
                <a16:creationId xmlns:a16="http://schemas.microsoft.com/office/drawing/2014/main" id="{03B6CB05-B47E-5AB6-FFE4-A7ECF2AAE899}"/>
              </a:ext>
            </a:extLst>
          </p:cNvPr>
          <p:cNvCxnSpPr/>
          <p:nvPr/>
        </p:nvCxnSpPr>
        <p:spPr>
          <a:xfrm>
            <a:off x="1973000" y="2901368"/>
            <a:ext cx="596000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6">
            <a:extLst>
              <a:ext uri="{FF2B5EF4-FFF2-40B4-BE49-F238E27FC236}">
                <a16:creationId xmlns:a16="http://schemas.microsoft.com/office/drawing/2014/main" id="{F29F2569-1636-65EB-351B-905E0B299B1E}"/>
              </a:ext>
            </a:extLst>
          </p:cNvPr>
          <p:cNvSpPr/>
          <p:nvPr/>
        </p:nvSpPr>
        <p:spPr>
          <a:xfrm>
            <a:off x="1283000" y="3031368"/>
            <a:ext cx="1380000" cy="310000"/>
          </a:xfrm>
          <a:prstGeom prst="rect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실시간
모니터링</a:t>
            </a:r>
          </a:p>
        </p:txBody>
      </p:sp>
      <p:cxnSp>
        <p:nvCxnSpPr>
          <p:cNvPr id="13" name="Connector 17">
            <a:extLst>
              <a:ext uri="{FF2B5EF4-FFF2-40B4-BE49-F238E27FC236}">
                <a16:creationId xmlns:a16="http://schemas.microsoft.com/office/drawing/2014/main" id="{B4305676-3D5E-CC3F-E254-DDDA076716D3}"/>
              </a:ext>
            </a:extLst>
          </p:cNvPr>
          <p:cNvCxnSpPr/>
          <p:nvPr/>
        </p:nvCxnSpPr>
        <p:spPr>
          <a:xfrm>
            <a:off x="1973000" y="2901368"/>
            <a:ext cx="0" cy="13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8">
            <a:extLst>
              <a:ext uri="{FF2B5EF4-FFF2-40B4-BE49-F238E27FC236}">
                <a16:creationId xmlns:a16="http://schemas.microsoft.com/office/drawing/2014/main" id="{C1610CAB-B4F8-165E-5627-E751D6CC0364}"/>
              </a:ext>
            </a:extLst>
          </p:cNvPr>
          <p:cNvSpPr/>
          <p:nvPr/>
        </p:nvSpPr>
        <p:spPr>
          <a:xfrm>
            <a:off x="2773000" y="3031368"/>
            <a:ext cx="1380000" cy="310000"/>
          </a:xfrm>
          <a:prstGeom prst="rect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추세 차트</a:t>
            </a:r>
          </a:p>
        </p:txBody>
      </p:sp>
      <p:cxnSp>
        <p:nvCxnSpPr>
          <p:cNvPr id="15" name="Connector 19">
            <a:extLst>
              <a:ext uri="{FF2B5EF4-FFF2-40B4-BE49-F238E27FC236}">
                <a16:creationId xmlns:a16="http://schemas.microsoft.com/office/drawing/2014/main" id="{515BF11B-D437-6BC8-A6EE-EAF1EBE58C65}"/>
              </a:ext>
            </a:extLst>
          </p:cNvPr>
          <p:cNvCxnSpPr/>
          <p:nvPr/>
        </p:nvCxnSpPr>
        <p:spPr>
          <a:xfrm>
            <a:off x="3463000" y="2901368"/>
            <a:ext cx="0" cy="13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0">
            <a:extLst>
              <a:ext uri="{FF2B5EF4-FFF2-40B4-BE49-F238E27FC236}">
                <a16:creationId xmlns:a16="http://schemas.microsoft.com/office/drawing/2014/main" id="{964D5966-2B3D-AE08-9BEE-EA400068B61A}"/>
              </a:ext>
            </a:extLst>
          </p:cNvPr>
          <p:cNvSpPr/>
          <p:nvPr/>
        </p:nvSpPr>
        <p:spPr>
          <a:xfrm>
            <a:off x="4263000" y="3031368"/>
            <a:ext cx="1380000" cy="310000"/>
          </a:xfrm>
          <a:prstGeom prst="rect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</a:rPr>
              <a:t>경고</a:t>
            </a:r>
            <a:endParaRPr sz="900" b="1" dirty="0">
              <a:solidFill>
                <a:srgbClr val="FFFFFF"/>
              </a:solidFill>
            </a:endParaRPr>
          </a:p>
        </p:txBody>
      </p:sp>
      <p:cxnSp>
        <p:nvCxnSpPr>
          <p:cNvPr id="17" name="Connector 21">
            <a:extLst>
              <a:ext uri="{FF2B5EF4-FFF2-40B4-BE49-F238E27FC236}">
                <a16:creationId xmlns:a16="http://schemas.microsoft.com/office/drawing/2014/main" id="{2D2E2E9F-0725-9536-4CA9-A2A8522689E2}"/>
              </a:ext>
            </a:extLst>
          </p:cNvPr>
          <p:cNvCxnSpPr/>
          <p:nvPr/>
        </p:nvCxnSpPr>
        <p:spPr>
          <a:xfrm>
            <a:off x="4953000" y="2901368"/>
            <a:ext cx="0" cy="13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2">
            <a:extLst>
              <a:ext uri="{FF2B5EF4-FFF2-40B4-BE49-F238E27FC236}">
                <a16:creationId xmlns:a16="http://schemas.microsoft.com/office/drawing/2014/main" id="{DB230E1E-B15C-09AB-2958-8EA5DBCAC5A3}"/>
              </a:ext>
            </a:extLst>
          </p:cNvPr>
          <p:cNvSpPr/>
          <p:nvPr/>
        </p:nvSpPr>
        <p:spPr>
          <a:xfrm>
            <a:off x="5753000" y="3031368"/>
            <a:ext cx="1380000" cy="310000"/>
          </a:xfrm>
          <a:prstGeom prst="rect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</a:rPr>
              <a:t>알림</a:t>
            </a:r>
            <a:endParaRPr sz="900" b="1" dirty="0">
              <a:solidFill>
                <a:srgbClr val="FFFFFF"/>
              </a:solidFill>
            </a:endParaRPr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DC520B63-5A5F-21D8-B980-99BB8D7841DE}"/>
              </a:ext>
            </a:extLst>
          </p:cNvPr>
          <p:cNvCxnSpPr/>
          <p:nvPr/>
        </p:nvCxnSpPr>
        <p:spPr>
          <a:xfrm>
            <a:off x="6443000" y="2901368"/>
            <a:ext cx="0" cy="13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6">
            <a:extLst>
              <a:ext uri="{FF2B5EF4-FFF2-40B4-BE49-F238E27FC236}">
                <a16:creationId xmlns:a16="http://schemas.microsoft.com/office/drawing/2014/main" id="{DBBB5042-1AAF-52CE-EC59-D8D012EF69FF}"/>
              </a:ext>
            </a:extLst>
          </p:cNvPr>
          <p:cNvSpPr/>
          <p:nvPr/>
        </p:nvSpPr>
        <p:spPr>
          <a:xfrm>
            <a:off x="1283000" y="354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262626"/>
                </a:solidFill>
              </a:rPr>
              <a:t>게이지
(전압·온도·전류·SOC)</a:t>
            </a:r>
          </a:p>
        </p:txBody>
      </p:sp>
      <p:cxnSp>
        <p:nvCxnSpPr>
          <p:cNvPr id="23" name="Connector 27">
            <a:extLst>
              <a:ext uri="{FF2B5EF4-FFF2-40B4-BE49-F238E27FC236}">
                <a16:creationId xmlns:a16="http://schemas.microsoft.com/office/drawing/2014/main" id="{35171820-0563-1602-0AA7-D0A4727BD184}"/>
              </a:ext>
            </a:extLst>
          </p:cNvPr>
          <p:cNvCxnSpPr/>
          <p:nvPr/>
        </p:nvCxnSpPr>
        <p:spPr>
          <a:xfrm>
            <a:off x="1973000" y="3341368"/>
            <a:ext cx="0" cy="20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8">
            <a:extLst>
              <a:ext uri="{FF2B5EF4-FFF2-40B4-BE49-F238E27FC236}">
                <a16:creationId xmlns:a16="http://schemas.microsoft.com/office/drawing/2014/main" id="{978CE40F-800B-707B-8395-FB17DA75A316}"/>
              </a:ext>
            </a:extLst>
          </p:cNvPr>
          <p:cNvSpPr/>
          <p:nvPr/>
        </p:nvSpPr>
        <p:spPr>
          <a:xfrm>
            <a:off x="1283000" y="386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262626"/>
                </a:solidFill>
              </a:rPr>
              <a:t>이상점수·신호등</a:t>
            </a:r>
          </a:p>
        </p:txBody>
      </p:sp>
      <p:cxnSp>
        <p:nvCxnSpPr>
          <p:cNvPr id="25" name="Connector 29">
            <a:extLst>
              <a:ext uri="{FF2B5EF4-FFF2-40B4-BE49-F238E27FC236}">
                <a16:creationId xmlns:a16="http://schemas.microsoft.com/office/drawing/2014/main" id="{D8AC0890-5465-9AC4-EA31-C0762A5FD99A}"/>
              </a:ext>
            </a:extLst>
          </p:cNvPr>
          <p:cNvCxnSpPr/>
          <p:nvPr/>
        </p:nvCxnSpPr>
        <p:spPr>
          <a:xfrm>
            <a:off x="1973000" y="3781368"/>
            <a:ext cx="0" cy="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30">
            <a:extLst>
              <a:ext uri="{FF2B5EF4-FFF2-40B4-BE49-F238E27FC236}">
                <a16:creationId xmlns:a16="http://schemas.microsoft.com/office/drawing/2014/main" id="{6A01C422-2198-9CEF-C7A7-77EC49AB3ED2}"/>
              </a:ext>
            </a:extLst>
          </p:cNvPr>
          <p:cNvSpPr/>
          <p:nvPr/>
        </p:nvSpPr>
        <p:spPr>
          <a:xfrm>
            <a:off x="2773000" y="354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262626"/>
                </a:solidFill>
              </a:rPr>
              <a:t>전압/전류 차트</a:t>
            </a:r>
          </a:p>
        </p:txBody>
      </p:sp>
      <p:cxnSp>
        <p:nvCxnSpPr>
          <p:cNvPr id="27" name="Connector 31">
            <a:extLst>
              <a:ext uri="{FF2B5EF4-FFF2-40B4-BE49-F238E27FC236}">
                <a16:creationId xmlns:a16="http://schemas.microsoft.com/office/drawing/2014/main" id="{DF6DFB66-7396-DEB5-07A1-55FCDDE93848}"/>
              </a:ext>
            </a:extLst>
          </p:cNvPr>
          <p:cNvCxnSpPr/>
          <p:nvPr/>
        </p:nvCxnSpPr>
        <p:spPr>
          <a:xfrm>
            <a:off x="3463000" y="3341368"/>
            <a:ext cx="0" cy="20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32">
            <a:extLst>
              <a:ext uri="{FF2B5EF4-FFF2-40B4-BE49-F238E27FC236}">
                <a16:creationId xmlns:a16="http://schemas.microsoft.com/office/drawing/2014/main" id="{0461E3AE-79D5-9AE4-9A83-3C495909D005}"/>
              </a:ext>
            </a:extLst>
          </p:cNvPr>
          <p:cNvSpPr/>
          <p:nvPr/>
        </p:nvSpPr>
        <p:spPr>
          <a:xfrm>
            <a:off x="2773000" y="386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b="0" dirty="0">
                <a:solidFill>
                  <a:srgbClr val="262626"/>
                </a:solidFill>
              </a:rPr>
              <a:t>이상 이벤트 이력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29" name="Connector 33">
            <a:extLst>
              <a:ext uri="{FF2B5EF4-FFF2-40B4-BE49-F238E27FC236}">
                <a16:creationId xmlns:a16="http://schemas.microsoft.com/office/drawing/2014/main" id="{D92CDA88-670A-FCA0-6AC2-AD12E87ECAC4}"/>
              </a:ext>
            </a:extLst>
          </p:cNvPr>
          <p:cNvCxnSpPr/>
          <p:nvPr/>
        </p:nvCxnSpPr>
        <p:spPr>
          <a:xfrm>
            <a:off x="3463000" y="3781368"/>
            <a:ext cx="0" cy="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34">
            <a:extLst>
              <a:ext uri="{FF2B5EF4-FFF2-40B4-BE49-F238E27FC236}">
                <a16:creationId xmlns:a16="http://schemas.microsoft.com/office/drawing/2014/main" id="{08C066ED-2046-6039-8BBC-40E2CBC3C285}"/>
              </a:ext>
            </a:extLst>
          </p:cNvPr>
          <p:cNvSpPr/>
          <p:nvPr/>
        </p:nvSpPr>
        <p:spPr>
          <a:xfrm>
            <a:off x="4263000" y="354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dirty="0">
                <a:solidFill>
                  <a:srgbClr val="262626"/>
                </a:solidFill>
              </a:rPr>
              <a:t>실시간 활성 경고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31" name="Connector 35">
            <a:extLst>
              <a:ext uri="{FF2B5EF4-FFF2-40B4-BE49-F238E27FC236}">
                <a16:creationId xmlns:a16="http://schemas.microsoft.com/office/drawing/2014/main" id="{A49B3BFC-5EB1-9E79-9D0C-FAF1F3CEF437}"/>
              </a:ext>
            </a:extLst>
          </p:cNvPr>
          <p:cNvCxnSpPr/>
          <p:nvPr/>
        </p:nvCxnSpPr>
        <p:spPr>
          <a:xfrm>
            <a:off x="4953000" y="3341368"/>
            <a:ext cx="0" cy="20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6">
            <a:extLst>
              <a:ext uri="{FF2B5EF4-FFF2-40B4-BE49-F238E27FC236}">
                <a16:creationId xmlns:a16="http://schemas.microsoft.com/office/drawing/2014/main" id="{4EF15662-074D-ED8B-4CDF-F3C84BD88B79}"/>
              </a:ext>
            </a:extLst>
          </p:cNvPr>
          <p:cNvSpPr/>
          <p:nvPr/>
        </p:nvSpPr>
        <p:spPr>
          <a:xfrm>
            <a:off x="4263000" y="386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b="0" dirty="0">
                <a:solidFill>
                  <a:srgbClr val="262626"/>
                </a:solidFill>
              </a:rPr>
              <a:t>이전 경고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33" name="Connector 37">
            <a:extLst>
              <a:ext uri="{FF2B5EF4-FFF2-40B4-BE49-F238E27FC236}">
                <a16:creationId xmlns:a16="http://schemas.microsoft.com/office/drawing/2014/main" id="{B7A46532-400A-00CB-1A20-2C8E3FA5F5D8}"/>
              </a:ext>
            </a:extLst>
          </p:cNvPr>
          <p:cNvCxnSpPr/>
          <p:nvPr/>
        </p:nvCxnSpPr>
        <p:spPr>
          <a:xfrm>
            <a:off x="4953000" y="3781368"/>
            <a:ext cx="0" cy="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8">
            <a:extLst>
              <a:ext uri="{FF2B5EF4-FFF2-40B4-BE49-F238E27FC236}">
                <a16:creationId xmlns:a16="http://schemas.microsoft.com/office/drawing/2014/main" id="{48B7DA46-B9BE-3E08-903F-0AE20BE5AF8C}"/>
              </a:ext>
            </a:extLst>
          </p:cNvPr>
          <p:cNvSpPr/>
          <p:nvPr/>
        </p:nvSpPr>
        <p:spPr>
          <a:xfrm>
            <a:off x="5753000" y="354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800" b="0" dirty="0" err="1">
                <a:solidFill>
                  <a:srgbClr val="262626"/>
                </a:solidFill>
              </a:rPr>
              <a:t>Sms</a:t>
            </a:r>
            <a:r>
              <a:rPr lang="en-US" sz="800" b="0" dirty="0">
                <a:solidFill>
                  <a:srgbClr val="262626"/>
                </a:solidFill>
              </a:rPr>
              <a:t> </a:t>
            </a:r>
            <a:r>
              <a:rPr lang="ko-KR" altLang="en-US" sz="800" b="0" dirty="0">
                <a:solidFill>
                  <a:srgbClr val="262626"/>
                </a:solidFill>
              </a:rPr>
              <a:t>알림 발송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35" name="Connector 39">
            <a:extLst>
              <a:ext uri="{FF2B5EF4-FFF2-40B4-BE49-F238E27FC236}">
                <a16:creationId xmlns:a16="http://schemas.microsoft.com/office/drawing/2014/main" id="{898A7BCA-6AE2-056C-C966-77D506972A71}"/>
              </a:ext>
            </a:extLst>
          </p:cNvPr>
          <p:cNvCxnSpPr/>
          <p:nvPr/>
        </p:nvCxnSpPr>
        <p:spPr>
          <a:xfrm>
            <a:off x="6443000" y="3341368"/>
            <a:ext cx="0" cy="20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40">
            <a:extLst>
              <a:ext uri="{FF2B5EF4-FFF2-40B4-BE49-F238E27FC236}">
                <a16:creationId xmlns:a16="http://schemas.microsoft.com/office/drawing/2014/main" id="{04983EAB-5E5B-BFD0-D34A-7014F9DCF7CA}"/>
              </a:ext>
            </a:extLst>
          </p:cNvPr>
          <p:cNvSpPr/>
          <p:nvPr/>
        </p:nvSpPr>
        <p:spPr>
          <a:xfrm>
            <a:off x="5753000" y="386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b="0" dirty="0">
                <a:solidFill>
                  <a:srgbClr val="262626"/>
                </a:solidFill>
              </a:rPr>
              <a:t>알림 이력 조회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37" name="Connector 41">
            <a:extLst>
              <a:ext uri="{FF2B5EF4-FFF2-40B4-BE49-F238E27FC236}">
                <a16:creationId xmlns:a16="http://schemas.microsoft.com/office/drawing/2014/main" id="{45B7ABAB-8D5C-A103-3EC7-1C08383F727D}"/>
              </a:ext>
            </a:extLst>
          </p:cNvPr>
          <p:cNvCxnSpPr/>
          <p:nvPr/>
        </p:nvCxnSpPr>
        <p:spPr>
          <a:xfrm>
            <a:off x="6443000" y="3781368"/>
            <a:ext cx="0" cy="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2">
            <a:extLst>
              <a:ext uri="{FF2B5EF4-FFF2-40B4-BE49-F238E27FC236}">
                <a16:creationId xmlns:a16="http://schemas.microsoft.com/office/drawing/2014/main" id="{251775D9-0362-9E51-0EF3-4380C1CAEADA}"/>
              </a:ext>
            </a:extLst>
          </p:cNvPr>
          <p:cNvSpPr/>
          <p:nvPr/>
        </p:nvSpPr>
        <p:spPr>
          <a:xfrm>
            <a:off x="7286830" y="3031368"/>
            <a:ext cx="1380000" cy="310000"/>
          </a:xfrm>
          <a:prstGeom prst="rect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</a:rPr>
              <a:t>설정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1" name="Rectangle 38">
            <a:extLst>
              <a:ext uri="{FF2B5EF4-FFF2-40B4-BE49-F238E27FC236}">
                <a16:creationId xmlns:a16="http://schemas.microsoft.com/office/drawing/2014/main" id="{DA915898-9042-925A-1D21-F13F566B6F29}"/>
              </a:ext>
            </a:extLst>
          </p:cNvPr>
          <p:cNvSpPr/>
          <p:nvPr/>
        </p:nvSpPr>
        <p:spPr>
          <a:xfrm>
            <a:off x="7286830" y="354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b="0" dirty="0">
                <a:solidFill>
                  <a:srgbClr val="262626"/>
                </a:solidFill>
              </a:rPr>
              <a:t>릴레이 제어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44" name="Connector 39">
            <a:extLst>
              <a:ext uri="{FF2B5EF4-FFF2-40B4-BE49-F238E27FC236}">
                <a16:creationId xmlns:a16="http://schemas.microsoft.com/office/drawing/2014/main" id="{CE1849A2-F2C8-F79E-668C-86764B77036E}"/>
              </a:ext>
            </a:extLst>
          </p:cNvPr>
          <p:cNvCxnSpPr/>
          <p:nvPr/>
        </p:nvCxnSpPr>
        <p:spPr>
          <a:xfrm>
            <a:off x="7976830" y="3341368"/>
            <a:ext cx="0" cy="20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0">
            <a:extLst>
              <a:ext uri="{FF2B5EF4-FFF2-40B4-BE49-F238E27FC236}">
                <a16:creationId xmlns:a16="http://schemas.microsoft.com/office/drawing/2014/main" id="{9C332949-04C1-17C2-80CE-1F0B058CDA51}"/>
              </a:ext>
            </a:extLst>
          </p:cNvPr>
          <p:cNvSpPr/>
          <p:nvPr/>
        </p:nvSpPr>
        <p:spPr>
          <a:xfrm>
            <a:off x="7286830" y="386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b="0" dirty="0">
                <a:solidFill>
                  <a:srgbClr val="262626"/>
                </a:solidFill>
              </a:rPr>
              <a:t>임계치 설정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46" name="Connector 41">
            <a:extLst>
              <a:ext uri="{FF2B5EF4-FFF2-40B4-BE49-F238E27FC236}">
                <a16:creationId xmlns:a16="http://schemas.microsoft.com/office/drawing/2014/main" id="{B4C8439D-A18A-3228-65AF-E055F4AEE28C}"/>
              </a:ext>
            </a:extLst>
          </p:cNvPr>
          <p:cNvCxnSpPr/>
          <p:nvPr/>
        </p:nvCxnSpPr>
        <p:spPr>
          <a:xfrm>
            <a:off x="7976830" y="3781368"/>
            <a:ext cx="0" cy="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23">
            <a:extLst>
              <a:ext uri="{FF2B5EF4-FFF2-40B4-BE49-F238E27FC236}">
                <a16:creationId xmlns:a16="http://schemas.microsoft.com/office/drawing/2014/main" id="{32D27FE1-772F-4A8A-6D94-6BFC06E7020D}"/>
              </a:ext>
            </a:extLst>
          </p:cNvPr>
          <p:cNvCxnSpPr/>
          <p:nvPr/>
        </p:nvCxnSpPr>
        <p:spPr>
          <a:xfrm>
            <a:off x="7933000" y="2901368"/>
            <a:ext cx="0" cy="13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0">
            <a:extLst>
              <a:ext uri="{FF2B5EF4-FFF2-40B4-BE49-F238E27FC236}">
                <a16:creationId xmlns:a16="http://schemas.microsoft.com/office/drawing/2014/main" id="{7E0AD3A4-B47B-32B0-1C49-EC09A5E9ADE1}"/>
              </a:ext>
            </a:extLst>
          </p:cNvPr>
          <p:cNvSpPr/>
          <p:nvPr/>
        </p:nvSpPr>
        <p:spPr>
          <a:xfrm>
            <a:off x="7286830" y="4181368"/>
            <a:ext cx="1380000" cy="240000"/>
          </a:xfrm>
          <a:prstGeom prst="rect">
            <a:avLst/>
          </a:prstGeom>
          <a:solidFill>
            <a:srgbClr val="C0C0C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800" b="0" dirty="0">
                <a:solidFill>
                  <a:srgbClr val="262626"/>
                </a:solidFill>
              </a:rPr>
              <a:t>계정 설정</a:t>
            </a:r>
            <a:endParaRPr sz="800" b="0" dirty="0">
              <a:solidFill>
                <a:srgbClr val="262626"/>
              </a:solidFill>
            </a:endParaRPr>
          </a:p>
        </p:txBody>
      </p:sp>
      <p:cxnSp>
        <p:nvCxnSpPr>
          <p:cNvPr id="49" name="Connector 41">
            <a:extLst>
              <a:ext uri="{FF2B5EF4-FFF2-40B4-BE49-F238E27FC236}">
                <a16:creationId xmlns:a16="http://schemas.microsoft.com/office/drawing/2014/main" id="{EB4CED2F-D779-CD0C-6783-AE655414A04A}"/>
              </a:ext>
            </a:extLst>
          </p:cNvPr>
          <p:cNvCxnSpPr/>
          <p:nvPr/>
        </p:nvCxnSpPr>
        <p:spPr>
          <a:xfrm>
            <a:off x="7976830" y="4101368"/>
            <a:ext cx="0" cy="8000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962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AB8588-268E-4B76-B50A-EE91C1CEB8A8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C3A55-BF25-4B82-85F4-4BC74DF22114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2 &gt;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A68FB-4C50-4F31-82BE-3F2C64DB2E4B}"/>
              </a:ext>
            </a:extLst>
          </p:cNvPr>
          <p:cNvSpPr txBox="1"/>
          <p:nvPr/>
        </p:nvSpPr>
        <p:spPr>
          <a:xfrm>
            <a:off x="304362" y="163550"/>
            <a:ext cx="376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Flow chart</a:t>
            </a:r>
            <a:endParaRPr lang="ko-KR" altLang="en-US" b="1"/>
          </a:p>
        </p:txBody>
      </p:sp>
      <p:sp>
        <p:nvSpPr>
          <p:cNvPr id="67" name="Rounded Rectangle 66"/>
          <p:cNvSpPr/>
          <p:nvPr/>
        </p:nvSpPr>
        <p:spPr>
          <a:xfrm>
            <a:off x="1458468" y="1348592"/>
            <a:ext cx="233717" cy="137833"/>
          </a:xfrm>
          <a:prstGeom prst="roundRect">
            <a:avLst>
              <a:gd name="adj" fmla="val 8000"/>
            </a:avLst>
          </a:prstGeom>
          <a:solidFill>
            <a:srgbClr val="2B2B33"/>
          </a:solidFill>
          <a:ln w="6350">
            <a:solidFill>
              <a:srgbClr val="2B2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1" dirty="0" err="1">
                <a:solidFill>
                  <a:srgbClr val="FFFFFF"/>
                </a:solidFill>
              </a:rPr>
              <a:t>시작</a:t>
            </a:r>
            <a:endParaRPr sz="400" b="1" dirty="0">
              <a:solidFill>
                <a:srgbClr val="FFFFFF"/>
              </a:solidFill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2178348" y="1334362"/>
            <a:ext cx="464439" cy="137833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 w="63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1" dirty="0" err="1">
                <a:solidFill>
                  <a:srgbClr val="FFFFFF"/>
                </a:solidFill>
              </a:rPr>
              <a:t>로그인</a:t>
            </a:r>
            <a:r>
              <a:rPr sz="400" b="1" dirty="0">
                <a:solidFill>
                  <a:srgbClr val="FFFFFF"/>
                </a:solidFill>
              </a:rPr>
              <a:t> </a:t>
            </a:r>
            <a:r>
              <a:rPr sz="400" b="1" dirty="0" err="1">
                <a:solidFill>
                  <a:srgbClr val="FFFFFF"/>
                </a:solidFill>
              </a:rPr>
              <a:t>화면</a:t>
            </a:r>
            <a:endParaRPr sz="400" b="1" dirty="0">
              <a:solidFill>
                <a:srgbClr val="FFFFFF"/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3050670" y="1054435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 dirty="0" err="1">
                <a:solidFill>
                  <a:srgbClr val="4A4A57"/>
                </a:solidFill>
              </a:rPr>
              <a:t>일반</a:t>
            </a:r>
            <a:r>
              <a:rPr sz="400" b="0" dirty="0">
                <a:solidFill>
                  <a:srgbClr val="4A4A57"/>
                </a:solidFill>
              </a:rPr>
              <a:t> </a:t>
            </a:r>
            <a:r>
              <a:rPr sz="400" b="0" dirty="0" err="1">
                <a:solidFill>
                  <a:srgbClr val="4A4A57"/>
                </a:solidFill>
              </a:rPr>
              <a:t>로그인</a:t>
            </a:r>
            <a:endParaRPr sz="400" b="0" dirty="0">
              <a:solidFill>
                <a:srgbClr val="4A4A57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050670" y="1324109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 dirty="0" err="1">
                <a:solidFill>
                  <a:srgbClr val="4A4A57"/>
                </a:solidFill>
              </a:rPr>
              <a:t>소셜</a:t>
            </a:r>
            <a:r>
              <a:rPr sz="400" b="0" dirty="0">
                <a:solidFill>
                  <a:srgbClr val="4A4A57"/>
                </a:solidFill>
              </a:rPr>
              <a:t> </a:t>
            </a:r>
            <a:r>
              <a:rPr sz="400" b="0" dirty="0" err="1">
                <a:solidFill>
                  <a:srgbClr val="4A4A57"/>
                </a:solidFill>
              </a:rPr>
              <a:t>로그인</a:t>
            </a:r>
            <a:r>
              <a:rPr sz="400" b="0" dirty="0">
                <a:solidFill>
                  <a:srgbClr val="4A4A57"/>
                </a:solidFill>
              </a:rPr>
              <a:t>(SSO)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50670" y="1593783"/>
            <a:ext cx="464439" cy="137833"/>
          </a:xfrm>
          <a:prstGeom prst="roundRect">
            <a:avLst>
              <a:gd name="adj" fmla="val 8000"/>
            </a:avLst>
          </a:prstGeom>
          <a:solidFill>
            <a:srgbClr val="ECE8FF"/>
          </a:solidFill>
          <a:ln w="6350">
            <a:solidFill>
              <a:srgbClr val="C7B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5A49CE"/>
                </a:solidFill>
              </a:rPr>
              <a:t>계정 찾기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22993" y="1488173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 dirty="0" err="1">
                <a:solidFill>
                  <a:srgbClr val="4A4A57"/>
                </a:solidFill>
              </a:rPr>
              <a:t>아이디</a:t>
            </a:r>
            <a:r>
              <a:rPr sz="400" b="0" dirty="0">
                <a:solidFill>
                  <a:srgbClr val="4A4A57"/>
                </a:solidFill>
              </a:rPr>
              <a:t> </a:t>
            </a:r>
            <a:r>
              <a:rPr sz="400" b="0" dirty="0" err="1">
                <a:solidFill>
                  <a:srgbClr val="4A4A57"/>
                </a:solidFill>
              </a:rPr>
              <a:t>찾기</a:t>
            </a:r>
            <a:endParaRPr sz="400" b="0" dirty="0">
              <a:solidFill>
                <a:srgbClr val="4A4A57"/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922993" y="1666212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비밀번호 재설정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13428" y="2193692"/>
            <a:ext cx="464439" cy="137833"/>
          </a:xfrm>
          <a:prstGeom prst="roundRect">
            <a:avLst>
              <a:gd name="adj" fmla="val 8000"/>
            </a:avLst>
          </a:prstGeom>
          <a:solidFill>
            <a:srgbClr val="ECE8FF"/>
          </a:solidFill>
          <a:ln w="6350">
            <a:solidFill>
              <a:srgbClr val="C7B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5A49CE"/>
                </a:solidFill>
              </a:rPr>
              <a:t>배터리 자산관리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69464" y="2055366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새 배터리 등록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69464" y="2355004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 dirty="0" err="1">
                <a:solidFill>
                  <a:srgbClr val="4A4A57"/>
                </a:solidFill>
              </a:rPr>
              <a:t>저장된</a:t>
            </a:r>
            <a:r>
              <a:rPr sz="400" b="0" dirty="0">
                <a:solidFill>
                  <a:srgbClr val="4A4A57"/>
                </a:solidFill>
              </a:rPr>
              <a:t> </a:t>
            </a:r>
            <a:r>
              <a:rPr sz="400" b="0" dirty="0" err="1">
                <a:solidFill>
                  <a:srgbClr val="4A4A57"/>
                </a:solidFill>
              </a:rPr>
              <a:t>배터리</a:t>
            </a:r>
            <a:r>
              <a:rPr sz="400" b="0" dirty="0">
                <a:solidFill>
                  <a:srgbClr val="4A4A57"/>
                </a:solidFill>
              </a:rPr>
              <a:t> </a:t>
            </a:r>
            <a:r>
              <a:rPr sz="400" b="0" dirty="0" err="1">
                <a:solidFill>
                  <a:srgbClr val="4A4A57"/>
                </a:solidFill>
              </a:rPr>
              <a:t>선택</a:t>
            </a:r>
            <a:endParaRPr sz="400" b="0" dirty="0">
              <a:solidFill>
                <a:srgbClr val="4A4A57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758632" y="2055366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측정 모드 선택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59819" y="2168546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측정 시작(세션 생성)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447274" y="3521720"/>
            <a:ext cx="464439" cy="137833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 w="63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1">
                <a:solidFill>
                  <a:srgbClr val="FFFFFF"/>
                </a:solidFill>
              </a:rPr>
              <a:t>실시간 대시보드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82889" y="3040274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로그아웃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75408" y="3597529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추세 차트/이력 조회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968293" y="3878068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lang="ko-KR" altLang="en-US" sz="400" b="0" dirty="0">
                <a:solidFill>
                  <a:srgbClr val="4A4A57"/>
                </a:solidFill>
              </a:rPr>
              <a:t>현재 이상 점수</a:t>
            </a:r>
            <a:endParaRPr sz="400" b="0" dirty="0">
              <a:solidFill>
                <a:srgbClr val="4A4A57"/>
              </a:solidFill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4642479" y="3878068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정상/주의/경고 판정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82887" y="4420198"/>
            <a:ext cx="464439" cy="137833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 w="63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1">
                <a:solidFill>
                  <a:srgbClr val="FFFFFF"/>
                </a:solidFill>
              </a:rPr>
              <a:t>알림 센터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17001" y="4266198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SNS 알림 발송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017001" y="4523064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알림 이력 조회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294107" y="5362998"/>
            <a:ext cx="464439" cy="137833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 w="63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1">
                <a:solidFill>
                  <a:srgbClr val="FFFFFF"/>
                </a:solidFill>
              </a:rPr>
              <a:t>설정 / 제어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953311" y="5093324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릴레이 차단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946927" y="5629276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임계치 설정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946928" y="5361300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4A4A57"/>
                </a:solidFill>
              </a:rPr>
              <a:t>릴레이 복구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12515" y="5093324"/>
            <a:ext cx="464439" cy="137833"/>
          </a:xfrm>
          <a:prstGeom prst="roundRect">
            <a:avLst>
              <a:gd name="adj" fmla="val 8000"/>
            </a:avLst>
          </a:prstGeom>
          <a:solidFill>
            <a:srgbClr val="ECE8FF"/>
          </a:solidFill>
          <a:ln w="6350">
            <a:solidFill>
              <a:srgbClr val="C7B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5A49CE"/>
                </a:solidFill>
              </a:rPr>
              <a:t>차단 확인(gate)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606132" y="5361300"/>
            <a:ext cx="464439" cy="137833"/>
          </a:xfrm>
          <a:prstGeom prst="roundRect">
            <a:avLst>
              <a:gd name="adj" fmla="val 8000"/>
            </a:avLst>
          </a:prstGeom>
          <a:solidFill>
            <a:srgbClr val="ECE8FF"/>
          </a:solidFill>
          <a:ln w="6350">
            <a:solidFill>
              <a:srgbClr val="C7B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sz="400" b="0">
                <a:solidFill>
                  <a:srgbClr val="5A49CE"/>
                </a:solidFill>
              </a:rPr>
              <a:t>복구 확인(gate)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1D5F367-9654-3EC3-9930-CF1FD20C89E9}"/>
              </a:ext>
            </a:extLst>
          </p:cNvPr>
          <p:cNvCxnSpPr>
            <a:cxnSpLocks/>
          </p:cNvCxnSpPr>
          <p:nvPr/>
        </p:nvCxnSpPr>
        <p:spPr>
          <a:xfrm>
            <a:off x="1760220" y="1415262"/>
            <a:ext cx="3276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F441A7A2-49DA-320A-68C0-5E8B2E16D550}"/>
              </a:ext>
            </a:extLst>
          </p:cNvPr>
          <p:cNvCxnSpPr>
            <a:cxnSpLocks/>
          </p:cNvCxnSpPr>
          <p:nvPr/>
        </p:nvCxnSpPr>
        <p:spPr>
          <a:xfrm>
            <a:off x="2911713" y="1110781"/>
            <a:ext cx="0" cy="555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28369FE-C98A-9DE3-AFD3-A8CE5FEC3AB7}"/>
              </a:ext>
            </a:extLst>
          </p:cNvPr>
          <p:cNvCxnSpPr>
            <a:cxnSpLocks/>
          </p:cNvCxnSpPr>
          <p:nvPr/>
        </p:nvCxnSpPr>
        <p:spPr>
          <a:xfrm>
            <a:off x="2911713" y="1666212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1B27CAC-A5B4-6BDA-0991-3F2DB29953FC}"/>
              </a:ext>
            </a:extLst>
          </p:cNvPr>
          <p:cNvCxnSpPr>
            <a:cxnSpLocks/>
          </p:cNvCxnSpPr>
          <p:nvPr/>
        </p:nvCxnSpPr>
        <p:spPr>
          <a:xfrm>
            <a:off x="2911713" y="1392486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987BDB-4AAC-C048-3093-DF731DB86653}"/>
              </a:ext>
            </a:extLst>
          </p:cNvPr>
          <p:cNvCxnSpPr>
            <a:cxnSpLocks/>
          </p:cNvCxnSpPr>
          <p:nvPr/>
        </p:nvCxnSpPr>
        <p:spPr>
          <a:xfrm>
            <a:off x="2911713" y="1110781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664BF6FB-3031-D9BD-6750-8192F521C424}"/>
              </a:ext>
            </a:extLst>
          </p:cNvPr>
          <p:cNvCxnSpPr>
            <a:cxnSpLocks/>
          </p:cNvCxnSpPr>
          <p:nvPr/>
        </p:nvCxnSpPr>
        <p:spPr>
          <a:xfrm>
            <a:off x="2642787" y="1392486"/>
            <a:ext cx="2689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321EA2E-C0C4-2F67-FD8B-469B730B9348}"/>
              </a:ext>
            </a:extLst>
          </p:cNvPr>
          <p:cNvCxnSpPr>
            <a:cxnSpLocks/>
          </p:cNvCxnSpPr>
          <p:nvPr/>
        </p:nvCxnSpPr>
        <p:spPr>
          <a:xfrm>
            <a:off x="3784036" y="1557089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AF28B6A-94AB-00E3-43E6-D827F53E00DB}"/>
              </a:ext>
            </a:extLst>
          </p:cNvPr>
          <p:cNvCxnSpPr>
            <a:cxnSpLocks/>
          </p:cNvCxnSpPr>
          <p:nvPr/>
        </p:nvCxnSpPr>
        <p:spPr>
          <a:xfrm>
            <a:off x="3784036" y="1731616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96AEB471-44F1-B056-D3AD-D79033632DAE}"/>
              </a:ext>
            </a:extLst>
          </p:cNvPr>
          <p:cNvCxnSpPr>
            <a:cxnSpLocks/>
          </p:cNvCxnSpPr>
          <p:nvPr/>
        </p:nvCxnSpPr>
        <p:spPr>
          <a:xfrm>
            <a:off x="3784036" y="1557089"/>
            <a:ext cx="0" cy="1745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id="{A28EC9BF-9A1D-DF95-9955-2F22EE60E8AB}"/>
              </a:ext>
            </a:extLst>
          </p:cNvPr>
          <p:cNvCxnSpPr>
            <a:cxnSpLocks/>
          </p:cNvCxnSpPr>
          <p:nvPr/>
        </p:nvCxnSpPr>
        <p:spPr>
          <a:xfrm>
            <a:off x="3515108" y="1662699"/>
            <a:ext cx="2689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DA62CB67-E157-A288-B93D-02DEDD532419}"/>
              </a:ext>
            </a:extLst>
          </p:cNvPr>
          <p:cNvCxnSpPr>
            <a:cxnSpLocks/>
          </p:cNvCxnSpPr>
          <p:nvPr/>
        </p:nvCxnSpPr>
        <p:spPr>
          <a:xfrm>
            <a:off x="3515108" y="1127872"/>
            <a:ext cx="1344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BAD547CC-7D44-6CAE-3367-646506C300FE}"/>
              </a:ext>
            </a:extLst>
          </p:cNvPr>
          <p:cNvCxnSpPr>
            <a:cxnSpLocks/>
          </p:cNvCxnSpPr>
          <p:nvPr/>
        </p:nvCxnSpPr>
        <p:spPr>
          <a:xfrm>
            <a:off x="3515108" y="1392486"/>
            <a:ext cx="1344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6D4CCF91-5C33-B28D-98B8-EDA404102441}"/>
              </a:ext>
            </a:extLst>
          </p:cNvPr>
          <p:cNvCxnSpPr>
            <a:cxnSpLocks/>
          </p:cNvCxnSpPr>
          <p:nvPr/>
        </p:nvCxnSpPr>
        <p:spPr>
          <a:xfrm>
            <a:off x="3649571" y="1125562"/>
            <a:ext cx="0" cy="266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01191D53-C824-BADE-55FA-51EF68AACD0E}"/>
              </a:ext>
            </a:extLst>
          </p:cNvPr>
          <p:cNvCxnSpPr>
            <a:cxnSpLocks/>
          </p:cNvCxnSpPr>
          <p:nvPr/>
        </p:nvCxnSpPr>
        <p:spPr>
          <a:xfrm>
            <a:off x="3649571" y="1259024"/>
            <a:ext cx="970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CF587D7-87E2-2FBE-61E0-469EB79C53B7}"/>
              </a:ext>
            </a:extLst>
          </p:cNvPr>
          <p:cNvCxnSpPr>
            <a:cxnSpLocks/>
          </p:cNvCxnSpPr>
          <p:nvPr/>
        </p:nvCxnSpPr>
        <p:spPr>
          <a:xfrm>
            <a:off x="4619651" y="1259024"/>
            <a:ext cx="0" cy="941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직선 연결선 200"/>
          <p:cNvCxnSpPr>
            <a:cxnSpLocks/>
          </p:cNvCxnSpPr>
          <p:nvPr/>
        </p:nvCxnSpPr>
        <p:spPr>
          <a:xfrm>
            <a:off x="4874699" y="2266549"/>
            <a:ext cx="558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직선 연결선 201"/>
          <p:cNvCxnSpPr>
            <a:cxnSpLocks/>
          </p:cNvCxnSpPr>
          <p:nvPr/>
        </p:nvCxnSpPr>
        <p:spPr>
          <a:xfrm>
            <a:off x="4936890" y="2124282"/>
            <a:ext cx="0" cy="295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직선 화살표 연결선 202"/>
          <p:cNvCxnSpPr>
            <a:cxnSpLocks/>
          </p:cNvCxnSpPr>
          <p:nvPr/>
        </p:nvCxnSpPr>
        <p:spPr>
          <a:xfrm>
            <a:off x="4930507" y="2124282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직선 화살표 연결선 203"/>
          <p:cNvCxnSpPr>
            <a:cxnSpLocks/>
          </p:cNvCxnSpPr>
          <p:nvPr/>
        </p:nvCxnSpPr>
        <p:spPr>
          <a:xfrm>
            <a:off x="4930507" y="2423920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직선 연결선 205"/>
          <p:cNvCxnSpPr>
            <a:cxnSpLocks/>
          </p:cNvCxnSpPr>
          <p:nvPr/>
        </p:nvCxnSpPr>
        <p:spPr>
          <a:xfrm>
            <a:off x="2911713" y="3590636"/>
            <a:ext cx="2322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직선 연결선 206"/>
          <p:cNvCxnSpPr>
            <a:cxnSpLocks/>
          </p:cNvCxnSpPr>
          <p:nvPr/>
        </p:nvCxnSpPr>
        <p:spPr>
          <a:xfrm flipH="1">
            <a:off x="3139059" y="3096104"/>
            <a:ext cx="4872" cy="8512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직선 화살표 연결선 207"/>
          <p:cNvCxnSpPr>
            <a:cxnSpLocks/>
          </p:cNvCxnSpPr>
          <p:nvPr/>
        </p:nvCxnSpPr>
        <p:spPr>
          <a:xfrm>
            <a:off x="3143931" y="3096104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직선 화살표 연결선 210"/>
          <p:cNvCxnSpPr>
            <a:cxnSpLocks/>
          </p:cNvCxnSpPr>
          <p:nvPr/>
        </p:nvCxnSpPr>
        <p:spPr>
          <a:xfrm>
            <a:off x="3139059" y="3364936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직선 화살표 연결선 211"/>
          <p:cNvCxnSpPr>
            <a:cxnSpLocks/>
          </p:cNvCxnSpPr>
          <p:nvPr/>
        </p:nvCxnSpPr>
        <p:spPr>
          <a:xfrm>
            <a:off x="3143930" y="3662622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직선 연결선 217"/>
          <p:cNvCxnSpPr>
            <a:cxnSpLocks/>
          </p:cNvCxnSpPr>
          <p:nvPr/>
        </p:nvCxnSpPr>
        <p:spPr>
          <a:xfrm>
            <a:off x="3758546" y="5431914"/>
            <a:ext cx="558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직선 연결선 218"/>
          <p:cNvCxnSpPr>
            <a:cxnSpLocks/>
          </p:cNvCxnSpPr>
          <p:nvPr/>
        </p:nvCxnSpPr>
        <p:spPr>
          <a:xfrm>
            <a:off x="3814354" y="5162240"/>
            <a:ext cx="0" cy="7471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직선 화살표 연결선 219"/>
          <p:cNvCxnSpPr>
            <a:cxnSpLocks/>
          </p:cNvCxnSpPr>
          <p:nvPr/>
        </p:nvCxnSpPr>
        <p:spPr>
          <a:xfrm>
            <a:off x="3814354" y="5162240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직선 화살표 연결선 220"/>
          <p:cNvCxnSpPr>
            <a:cxnSpLocks/>
          </p:cNvCxnSpPr>
          <p:nvPr/>
        </p:nvCxnSpPr>
        <p:spPr>
          <a:xfrm>
            <a:off x="3814354" y="5431914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직선 화살표 연결선 221"/>
          <p:cNvCxnSpPr>
            <a:cxnSpLocks/>
          </p:cNvCxnSpPr>
          <p:nvPr/>
        </p:nvCxnSpPr>
        <p:spPr>
          <a:xfrm>
            <a:off x="3814354" y="5701589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직선 화살표 연결선 223"/>
          <p:cNvCxnSpPr>
            <a:cxnSpLocks/>
          </p:cNvCxnSpPr>
          <p:nvPr/>
        </p:nvCxnSpPr>
        <p:spPr>
          <a:xfrm>
            <a:off x="5533903" y="2124282"/>
            <a:ext cx="22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직선 연결선 224"/>
          <p:cNvCxnSpPr>
            <a:cxnSpLocks/>
          </p:cNvCxnSpPr>
          <p:nvPr/>
        </p:nvCxnSpPr>
        <p:spPr>
          <a:xfrm>
            <a:off x="6223071" y="2124282"/>
            <a:ext cx="982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직선 화살표 연결선 226"/>
          <p:cNvCxnSpPr>
            <a:cxnSpLocks/>
          </p:cNvCxnSpPr>
          <p:nvPr/>
        </p:nvCxnSpPr>
        <p:spPr>
          <a:xfrm>
            <a:off x="6320862" y="2228898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30"/>
          <p:cNvCxnSpPr>
            <a:cxnSpLocks/>
          </p:cNvCxnSpPr>
          <p:nvPr/>
        </p:nvCxnSpPr>
        <p:spPr>
          <a:xfrm>
            <a:off x="3758546" y="3946984"/>
            <a:ext cx="209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직선 화살표 연결선 231"/>
          <p:cNvCxnSpPr>
            <a:cxnSpLocks/>
          </p:cNvCxnSpPr>
          <p:nvPr/>
        </p:nvCxnSpPr>
        <p:spPr>
          <a:xfrm>
            <a:off x="4432732" y="3946984"/>
            <a:ext cx="209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직선 화살표 연결선 234"/>
          <p:cNvCxnSpPr>
            <a:cxnSpLocks/>
          </p:cNvCxnSpPr>
          <p:nvPr/>
        </p:nvCxnSpPr>
        <p:spPr>
          <a:xfrm>
            <a:off x="3877676" y="4335114"/>
            <a:ext cx="139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직선 화살표 연결선 237"/>
          <p:cNvCxnSpPr>
            <a:cxnSpLocks/>
          </p:cNvCxnSpPr>
          <p:nvPr/>
        </p:nvCxnSpPr>
        <p:spPr>
          <a:xfrm>
            <a:off x="4417750" y="5162240"/>
            <a:ext cx="194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직선 화살표 연결선 238"/>
          <p:cNvCxnSpPr>
            <a:cxnSpLocks/>
          </p:cNvCxnSpPr>
          <p:nvPr/>
        </p:nvCxnSpPr>
        <p:spPr>
          <a:xfrm>
            <a:off x="4411367" y="5430216"/>
            <a:ext cx="194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직선 연결선 239"/>
          <p:cNvCxnSpPr>
            <a:cxnSpLocks/>
            <a:stCxn id="80" idx="2"/>
          </p:cNvCxnSpPr>
          <p:nvPr/>
        </p:nvCxnSpPr>
        <p:spPr>
          <a:xfrm>
            <a:off x="6692039" y="2306379"/>
            <a:ext cx="0" cy="430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직선 연결선 240"/>
          <p:cNvCxnSpPr>
            <a:cxnSpLocks/>
          </p:cNvCxnSpPr>
          <p:nvPr/>
        </p:nvCxnSpPr>
        <p:spPr>
          <a:xfrm flipH="1">
            <a:off x="2679493" y="2725678"/>
            <a:ext cx="4011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직선 화살표 연결선 241"/>
          <p:cNvCxnSpPr>
            <a:cxnSpLocks/>
          </p:cNvCxnSpPr>
          <p:nvPr/>
        </p:nvCxnSpPr>
        <p:spPr>
          <a:xfrm>
            <a:off x="2679493" y="2725678"/>
            <a:ext cx="0" cy="796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직선 화살표 연결선 244"/>
          <p:cNvCxnSpPr>
            <a:cxnSpLocks/>
          </p:cNvCxnSpPr>
          <p:nvPr/>
        </p:nvCxnSpPr>
        <p:spPr>
          <a:xfrm>
            <a:off x="3130211" y="3946984"/>
            <a:ext cx="1638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직선 연결선 245"/>
          <p:cNvCxnSpPr>
            <a:cxnSpLocks/>
          </p:cNvCxnSpPr>
          <p:nvPr/>
        </p:nvCxnSpPr>
        <p:spPr>
          <a:xfrm>
            <a:off x="2679493" y="5297077"/>
            <a:ext cx="0" cy="133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직선 연결선 248"/>
          <p:cNvCxnSpPr>
            <a:cxnSpLocks/>
          </p:cNvCxnSpPr>
          <p:nvPr/>
        </p:nvCxnSpPr>
        <p:spPr>
          <a:xfrm>
            <a:off x="2679493" y="3659553"/>
            <a:ext cx="0" cy="1661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화살표 연결선 249"/>
          <p:cNvCxnSpPr>
            <a:cxnSpLocks/>
          </p:cNvCxnSpPr>
          <p:nvPr/>
        </p:nvCxnSpPr>
        <p:spPr>
          <a:xfrm>
            <a:off x="2679493" y="4489115"/>
            <a:ext cx="614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3DA51DA0-DD8B-6B67-E556-FF2847C646E5}"/>
              </a:ext>
            </a:extLst>
          </p:cNvPr>
          <p:cNvCxnSpPr>
            <a:cxnSpLocks/>
          </p:cNvCxnSpPr>
          <p:nvPr/>
        </p:nvCxnSpPr>
        <p:spPr>
          <a:xfrm>
            <a:off x="5533903" y="2421105"/>
            <a:ext cx="7918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D1D54CEE-08B1-2A3C-4743-5BE2DEE4E02B}"/>
              </a:ext>
            </a:extLst>
          </p:cNvPr>
          <p:cNvCxnSpPr>
            <a:cxnSpLocks/>
          </p:cNvCxnSpPr>
          <p:nvPr/>
        </p:nvCxnSpPr>
        <p:spPr>
          <a:xfrm>
            <a:off x="6328551" y="2124775"/>
            <a:ext cx="0" cy="299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28257502-23FC-324A-117E-71B837573440}"/>
              </a:ext>
            </a:extLst>
          </p:cNvPr>
          <p:cNvCxnSpPr>
            <a:cxnSpLocks/>
          </p:cNvCxnSpPr>
          <p:nvPr/>
        </p:nvCxnSpPr>
        <p:spPr>
          <a:xfrm>
            <a:off x="4388711" y="1557089"/>
            <a:ext cx="714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53FBEE12-F151-4FAD-9A39-4351B8115BA7}"/>
              </a:ext>
            </a:extLst>
          </p:cNvPr>
          <p:cNvCxnSpPr>
            <a:cxnSpLocks/>
          </p:cNvCxnSpPr>
          <p:nvPr/>
        </p:nvCxnSpPr>
        <p:spPr>
          <a:xfrm>
            <a:off x="4387432" y="1738150"/>
            <a:ext cx="629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EA754E20-27EC-31CC-2FEF-D38631F56CE5}"/>
              </a:ext>
            </a:extLst>
          </p:cNvPr>
          <p:cNvCxnSpPr>
            <a:cxnSpLocks/>
          </p:cNvCxnSpPr>
          <p:nvPr/>
        </p:nvCxnSpPr>
        <p:spPr>
          <a:xfrm>
            <a:off x="4455169" y="1557089"/>
            <a:ext cx="0" cy="343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[R] 64">
            <a:extLst>
              <a:ext uri="{FF2B5EF4-FFF2-40B4-BE49-F238E27FC236}">
                <a16:creationId xmlns:a16="http://schemas.microsoft.com/office/drawing/2014/main" id="{6BB881CB-C764-C6AF-75F4-BEC3167F80B5}"/>
              </a:ext>
            </a:extLst>
          </p:cNvPr>
          <p:cNvCxnSpPr>
            <a:cxnSpLocks/>
          </p:cNvCxnSpPr>
          <p:nvPr/>
        </p:nvCxnSpPr>
        <p:spPr>
          <a:xfrm>
            <a:off x="2410567" y="1901085"/>
            <a:ext cx="20495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9E696DA6-6AA2-24A1-ED9C-5EAF9F8852F9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2410567" y="1472195"/>
            <a:ext cx="1" cy="428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ounded Rectangle 84">
            <a:extLst>
              <a:ext uri="{FF2B5EF4-FFF2-40B4-BE49-F238E27FC236}">
                <a16:creationId xmlns:a16="http://schemas.microsoft.com/office/drawing/2014/main" id="{40B1ADE9-1AED-1490-7C7A-135EA4FF1F3B}"/>
              </a:ext>
            </a:extLst>
          </p:cNvPr>
          <p:cNvSpPr/>
          <p:nvPr/>
        </p:nvSpPr>
        <p:spPr>
          <a:xfrm>
            <a:off x="3278016" y="3295175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lang="ko-KR" altLang="en-US" sz="400" b="0" dirty="0">
                <a:solidFill>
                  <a:srgbClr val="4A4A57"/>
                </a:solidFill>
              </a:rPr>
              <a:t>경고</a:t>
            </a:r>
            <a:endParaRPr sz="400" b="0" dirty="0">
              <a:solidFill>
                <a:srgbClr val="4A4A57"/>
              </a:solidFill>
            </a:endParaRPr>
          </a:p>
        </p:txBody>
      </p:sp>
      <p:cxnSp>
        <p:nvCxnSpPr>
          <p:cNvPr id="22" name="직선 화살표 연결선 221">
            <a:extLst>
              <a:ext uri="{FF2B5EF4-FFF2-40B4-BE49-F238E27FC236}">
                <a16:creationId xmlns:a16="http://schemas.microsoft.com/office/drawing/2014/main" id="{D81C6745-2095-1E00-FC8F-22100BD44837}"/>
              </a:ext>
            </a:extLst>
          </p:cNvPr>
          <p:cNvCxnSpPr>
            <a:cxnSpLocks/>
          </p:cNvCxnSpPr>
          <p:nvPr/>
        </p:nvCxnSpPr>
        <p:spPr>
          <a:xfrm>
            <a:off x="3809278" y="5909362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ounded Rectangle 103">
            <a:extLst>
              <a:ext uri="{FF2B5EF4-FFF2-40B4-BE49-F238E27FC236}">
                <a16:creationId xmlns:a16="http://schemas.microsoft.com/office/drawing/2014/main" id="{69128A6D-B5AA-7C8B-F47E-F96DDD7FD66F}"/>
              </a:ext>
            </a:extLst>
          </p:cNvPr>
          <p:cNvSpPr/>
          <p:nvPr/>
        </p:nvSpPr>
        <p:spPr>
          <a:xfrm>
            <a:off x="3950898" y="5836600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lang="ko-KR" altLang="en-US" sz="400" b="0" dirty="0">
                <a:solidFill>
                  <a:srgbClr val="4A4A57"/>
                </a:solidFill>
              </a:rPr>
              <a:t>계정 정보 수정</a:t>
            </a:r>
            <a:endParaRPr sz="400" b="0" dirty="0">
              <a:solidFill>
                <a:srgbClr val="4A4A57"/>
              </a:solidFill>
            </a:endParaRPr>
          </a:p>
        </p:txBody>
      </p:sp>
      <p:cxnSp>
        <p:nvCxnSpPr>
          <p:cNvPr id="49" name="직선 화살표 연결선 211">
            <a:extLst>
              <a:ext uri="{FF2B5EF4-FFF2-40B4-BE49-F238E27FC236}">
                <a16:creationId xmlns:a16="http://schemas.microsoft.com/office/drawing/2014/main" id="{F01EBD07-88FF-1454-D8B9-EE9CCBA2260C}"/>
              </a:ext>
            </a:extLst>
          </p:cNvPr>
          <p:cNvCxnSpPr>
            <a:cxnSpLocks/>
          </p:cNvCxnSpPr>
          <p:nvPr/>
        </p:nvCxnSpPr>
        <p:spPr>
          <a:xfrm>
            <a:off x="3741224" y="3671590"/>
            <a:ext cx="13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ounded Rectangle 87">
            <a:extLst>
              <a:ext uri="{FF2B5EF4-FFF2-40B4-BE49-F238E27FC236}">
                <a16:creationId xmlns:a16="http://schemas.microsoft.com/office/drawing/2014/main" id="{873F81B9-D8F3-90A6-4853-DF435F4024DF}"/>
              </a:ext>
            </a:extLst>
          </p:cNvPr>
          <p:cNvSpPr/>
          <p:nvPr/>
        </p:nvSpPr>
        <p:spPr>
          <a:xfrm>
            <a:off x="3880180" y="3597529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lang="ko-KR" altLang="en-US" sz="400" b="0" dirty="0">
                <a:solidFill>
                  <a:srgbClr val="4A4A57"/>
                </a:solidFill>
              </a:rPr>
              <a:t>이력 목록</a:t>
            </a:r>
            <a:endParaRPr sz="400" b="0" dirty="0">
              <a:solidFill>
                <a:srgbClr val="4A4A57"/>
              </a:solidFill>
            </a:endParaRPr>
          </a:p>
        </p:txBody>
      </p:sp>
      <p:cxnSp>
        <p:nvCxnSpPr>
          <p:cNvPr id="55" name="직선 화살표 연결선 234">
            <a:extLst>
              <a:ext uri="{FF2B5EF4-FFF2-40B4-BE49-F238E27FC236}">
                <a16:creationId xmlns:a16="http://schemas.microsoft.com/office/drawing/2014/main" id="{E20CA9EE-0134-74A1-D49F-9E4D63475FB7}"/>
              </a:ext>
            </a:extLst>
          </p:cNvPr>
          <p:cNvCxnSpPr>
            <a:cxnSpLocks/>
          </p:cNvCxnSpPr>
          <p:nvPr/>
        </p:nvCxnSpPr>
        <p:spPr>
          <a:xfrm>
            <a:off x="3877676" y="4591980"/>
            <a:ext cx="139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218">
            <a:extLst>
              <a:ext uri="{FF2B5EF4-FFF2-40B4-BE49-F238E27FC236}">
                <a16:creationId xmlns:a16="http://schemas.microsoft.com/office/drawing/2014/main" id="{E1AA4411-6BDD-C673-9B33-891B2B58A9BA}"/>
              </a:ext>
            </a:extLst>
          </p:cNvPr>
          <p:cNvCxnSpPr>
            <a:cxnSpLocks/>
          </p:cNvCxnSpPr>
          <p:nvPr/>
        </p:nvCxnSpPr>
        <p:spPr>
          <a:xfrm>
            <a:off x="3877676" y="4335114"/>
            <a:ext cx="0" cy="256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217">
            <a:extLst>
              <a:ext uri="{FF2B5EF4-FFF2-40B4-BE49-F238E27FC236}">
                <a16:creationId xmlns:a16="http://schemas.microsoft.com/office/drawing/2014/main" id="{6D40941B-35E9-2436-5331-C175B20C61F5}"/>
              </a:ext>
            </a:extLst>
          </p:cNvPr>
          <p:cNvCxnSpPr>
            <a:cxnSpLocks/>
          </p:cNvCxnSpPr>
          <p:nvPr/>
        </p:nvCxnSpPr>
        <p:spPr>
          <a:xfrm>
            <a:off x="3747326" y="4489114"/>
            <a:ext cx="1303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직선 화살표 연결선 249">
            <a:extLst>
              <a:ext uri="{FF2B5EF4-FFF2-40B4-BE49-F238E27FC236}">
                <a16:creationId xmlns:a16="http://schemas.microsoft.com/office/drawing/2014/main" id="{60CD4644-521D-93FC-EF2F-6F3DEAD59E41}"/>
              </a:ext>
            </a:extLst>
          </p:cNvPr>
          <p:cNvCxnSpPr>
            <a:cxnSpLocks/>
          </p:cNvCxnSpPr>
          <p:nvPr/>
        </p:nvCxnSpPr>
        <p:spPr>
          <a:xfrm>
            <a:off x="2679493" y="5430216"/>
            <a:ext cx="614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2" name="Rounded Rectangle 91">
            <a:extLst>
              <a:ext uri="{FF2B5EF4-FFF2-40B4-BE49-F238E27FC236}">
                <a16:creationId xmlns:a16="http://schemas.microsoft.com/office/drawing/2014/main" id="{D0D1E7F5-B1F4-4D4F-324A-1AEF7C331D45}"/>
              </a:ext>
            </a:extLst>
          </p:cNvPr>
          <p:cNvSpPr/>
          <p:nvPr/>
        </p:nvSpPr>
        <p:spPr>
          <a:xfrm>
            <a:off x="3294107" y="3873835"/>
            <a:ext cx="464439" cy="13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480" tIns="12700" rIns="30480" bIns="12700" rtlCol="0" anchor="ctr"/>
          <a:lstStyle/>
          <a:p>
            <a:pPr algn="ctr"/>
            <a:r>
              <a:rPr lang="ko-KR" altLang="en-US" sz="400" b="0" dirty="0">
                <a:solidFill>
                  <a:srgbClr val="4A4A57"/>
                </a:solidFill>
              </a:rPr>
              <a:t>이상 점수</a:t>
            </a:r>
            <a:endParaRPr sz="400" b="0" dirty="0">
              <a:solidFill>
                <a:srgbClr val="4A4A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723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576" y="1114244"/>
            <a:ext cx="251653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로그인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68575" y="2313999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Rounded Rectangle 17"/>
          <p:cNvSpPr/>
          <p:nvPr/>
        </p:nvSpPr>
        <p:spPr>
          <a:xfrm>
            <a:off x="2268575" y="2822986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268575" y="3095657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3370339" y="2374592"/>
            <a:ext cx="22022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로그인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8576" y="2683620"/>
            <a:ext cx="879082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또는 소셜 로그인으로 계속하기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0132" y="2883580"/>
            <a:ext cx="60063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Google로 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1657" y="3156251"/>
            <a:ext cx="69758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Microsoft로 로그인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68575" y="1544458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2268575" y="2017090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2268576" y="1380856"/>
            <a:ext cx="70639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이메일 또는 사용자명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8576" y="1853486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비밀번호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1120" y="3471339"/>
            <a:ext cx="56096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계정이 없으신가요?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0559" y="3465279"/>
            <a:ext cx="38922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계정 만들기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1452" y="3713713"/>
            <a:ext cx="91790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계정을 찾을 수 없으신가요?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576" y="1114244"/>
            <a:ext cx="33553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회원가입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576" y="3580408"/>
            <a:ext cx="117154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가입 완료 후 로그인 화면으로 이동합니다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8575" y="3210785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TextBox 18"/>
          <p:cNvSpPr txBox="1"/>
          <p:nvPr/>
        </p:nvSpPr>
        <p:spPr>
          <a:xfrm>
            <a:off x="3333605" y="327137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회원가입</a:t>
            </a:r>
          </a:p>
        </p:txBody>
      </p:sp>
      <p:sp>
        <p:nvSpPr>
          <p:cNvPr id="20" name="TextBox 19">
            <a:hlinkClick r:id="rId3" action="ppaction://hlinksldjump"/>
          </p:cNvPr>
          <p:cNvSpPr txBox="1"/>
          <p:nvPr/>
        </p:nvSpPr>
        <p:spPr>
          <a:xfrm>
            <a:off x="2268576" y="3816723"/>
            <a:ext cx="68272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로그인으로 돌아가기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8575" y="1495984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ounded Rectangle 21"/>
          <p:cNvSpPr/>
          <p:nvPr/>
        </p:nvSpPr>
        <p:spPr>
          <a:xfrm>
            <a:off x="2268575" y="1968614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Rounded Rectangle 22"/>
          <p:cNvSpPr/>
          <p:nvPr/>
        </p:nvSpPr>
        <p:spPr>
          <a:xfrm>
            <a:off x="2268575" y="2441246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4" name="Rounded Rectangle 23"/>
          <p:cNvSpPr/>
          <p:nvPr/>
        </p:nvSpPr>
        <p:spPr>
          <a:xfrm>
            <a:off x="2268575" y="2913876"/>
            <a:ext cx="2423748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TextBox 24"/>
          <p:cNvSpPr txBox="1"/>
          <p:nvPr/>
        </p:nvSpPr>
        <p:spPr>
          <a:xfrm>
            <a:off x="2268576" y="1332381"/>
            <a:ext cx="22022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8576" y="1805012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사용자명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8576" y="2277642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비밀번호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8576" y="2750273"/>
            <a:ext cx="463257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비밀번호 확인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998" y="1113472"/>
            <a:ext cx="297180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계정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5997" y="1291780"/>
            <a:ext cx="7020878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가입한 계정 정보를 찾거나 비밀번호를 재설정하세요. 각 기능은 팝업으로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5998" y="1566672"/>
            <a:ext cx="3417570" cy="1159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429446" y="1722691"/>
            <a:ext cx="378905" cy="37890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429446" y="1863853"/>
            <a:ext cx="37890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>
                <a:solidFill>
                  <a:srgbClr val="333333"/>
                </a:solidFill>
                <a:latin typeface="Apple SD Gothic Neo"/>
              </a:rPr>
              <a:t>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9447" y="2183320"/>
            <a:ext cx="3090672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9447" y="2361628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6735" y="1566672"/>
            <a:ext cx="3417570" cy="1159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6040183" y="1722691"/>
            <a:ext cx="378905" cy="37890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6040183" y="1863853"/>
            <a:ext cx="37890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>
                <a:solidFill>
                  <a:srgbClr val="333333"/>
                </a:solidFill>
                <a:latin typeface="Apple SD Gothic Neo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0184" y="2183320"/>
            <a:ext cx="3090672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0184" y="2361628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30" name="TextBox 29">
            <a:hlinkClick r:id="rId3" action="ppaction://hlinksldjump"/>
          </p:cNvPr>
          <p:cNvSpPr txBox="1"/>
          <p:nvPr/>
        </p:nvSpPr>
        <p:spPr>
          <a:xfrm>
            <a:off x="2265998" y="2896553"/>
            <a:ext cx="1485900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999999"/>
                </a:solidFill>
                <a:latin typeface="Apple SD Gothic Neo"/>
              </a:rPr>
              <a:t>← 로그인으로 돌아가기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998" y="1113472"/>
            <a:ext cx="297180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계정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5997" y="1291780"/>
            <a:ext cx="7020878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가입한 계정 정보를 찾거나 비밀번호를 재설정하세요. 각 기능은 팝업으로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5998" y="1566672"/>
            <a:ext cx="3417570" cy="1159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429446" y="1722691"/>
            <a:ext cx="378905" cy="37890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429446" y="1863853"/>
            <a:ext cx="37890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>
                <a:solidFill>
                  <a:srgbClr val="333333"/>
                </a:solidFill>
                <a:latin typeface="Apple SD Gothic Neo"/>
              </a:rPr>
              <a:t>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9447" y="2183320"/>
            <a:ext cx="3090672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9447" y="2361628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9447" y="2569654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6735" y="1566672"/>
            <a:ext cx="3417570" cy="1159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6040183" y="1722691"/>
            <a:ext cx="378905" cy="37890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6040183" y="1863853"/>
            <a:ext cx="37890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>
                <a:solidFill>
                  <a:srgbClr val="333333"/>
                </a:solidFill>
                <a:latin typeface="Apple SD Gothic Neo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0184" y="2183320"/>
            <a:ext cx="3090672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0184" y="2361628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0184" y="2569654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5998" y="2896553"/>
            <a:ext cx="1485900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999999"/>
                </a:solidFill>
                <a:latin typeface="Apple SD Gothic Neo"/>
              </a:rPr>
              <a:t>← 로그인으로 돌아가기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058" y="578548"/>
            <a:ext cx="8967407" cy="5698427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Rounded Rectangle 31"/>
          <p:cNvSpPr/>
          <p:nvPr/>
        </p:nvSpPr>
        <p:spPr>
          <a:xfrm>
            <a:off x="3098102" y="2042160"/>
            <a:ext cx="3714750" cy="20431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TextBox 32"/>
          <p:cNvSpPr txBox="1"/>
          <p:nvPr/>
        </p:nvSpPr>
        <p:spPr>
          <a:xfrm>
            <a:off x="3313557" y="2227897"/>
            <a:ext cx="3283839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3557" y="2428494"/>
            <a:ext cx="3283839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3557" y="2725674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3557" y="2874264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TextBox 36"/>
          <p:cNvSpPr txBox="1"/>
          <p:nvPr/>
        </p:nvSpPr>
        <p:spPr>
          <a:xfrm>
            <a:off x="3417571" y="2953057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예: user@example.com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3557" y="3201162"/>
            <a:ext cx="3283839" cy="75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8">
                <a:solidFill>
                  <a:srgbClr val="999999"/>
                </a:solidFill>
                <a:latin typeface="Apple SD Gothic Neo"/>
              </a:rPr>
              <a:t>ⓘ 가입 시 등록한 이메일 주소를 입력하세요.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3915" y="3691508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FFFFFF"/>
                </a:solidFill>
                <a:latin typeface="Apple SD Gothic Neo"/>
              </a:rPr>
              <a:t>전송</a:t>
            </a:r>
          </a:p>
        </p:txBody>
      </p:sp>
      <p:sp>
        <p:nvSpPr>
          <p:cNvPr id="40" name="Rounded Rectangle 39">
            <a:hlinkClick r:id="rId6" action="ppaction://hlinksldjump"/>
          </p:cNvPr>
          <p:cNvSpPr/>
          <p:nvPr/>
        </p:nvSpPr>
        <p:spPr>
          <a:xfrm>
            <a:off x="5676138" y="3691508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998" y="1113472"/>
            <a:ext cx="297180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계정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5997" y="1291780"/>
            <a:ext cx="7020878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가입한 계정 정보를 찾거나 비밀번호를 재설정하세요. 각 기능은 팝업으로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5998" y="1566672"/>
            <a:ext cx="3417570" cy="1159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429446" y="1722691"/>
            <a:ext cx="378905" cy="37890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429446" y="1863853"/>
            <a:ext cx="37890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>
                <a:solidFill>
                  <a:srgbClr val="333333"/>
                </a:solidFill>
                <a:latin typeface="Apple SD Gothic Neo"/>
              </a:rPr>
              <a:t>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9447" y="2183320"/>
            <a:ext cx="3090672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9447" y="2361628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9447" y="2569654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6735" y="1566672"/>
            <a:ext cx="3417570" cy="1159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6040183" y="1722691"/>
            <a:ext cx="378905" cy="37890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6040183" y="1863853"/>
            <a:ext cx="37890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>
                <a:solidFill>
                  <a:srgbClr val="333333"/>
                </a:solidFill>
                <a:latin typeface="Apple SD Gothic Neo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0184" y="2183320"/>
            <a:ext cx="3090672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0184" y="2361628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0184" y="2569654"/>
            <a:ext cx="3090672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5998" y="2896553"/>
            <a:ext cx="1485900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999999"/>
                </a:solidFill>
                <a:latin typeface="Apple SD Gothic Neo"/>
              </a:rPr>
              <a:t>← 로그인으로 돌아가기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058" y="578548"/>
            <a:ext cx="8967407" cy="5698427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Rounded Rectangle 31"/>
          <p:cNvSpPr/>
          <p:nvPr/>
        </p:nvSpPr>
        <p:spPr>
          <a:xfrm>
            <a:off x="3098102" y="2042160"/>
            <a:ext cx="3714750" cy="20431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TextBox 32"/>
          <p:cNvSpPr txBox="1"/>
          <p:nvPr/>
        </p:nvSpPr>
        <p:spPr>
          <a:xfrm>
            <a:off x="3313557" y="2227897"/>
            <a:ext cx="3283839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3557" y="2428494"/>
            <a:ext cx="3283839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3557" y="2725674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3557" y="2874264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TextBox 36"/>
          <p:cNvSpPr txBox="1"/>
          <p:nvPr/>
        </p:nvSpPr>
        <p:spPr>
          <a:xfrm>
            <a:off x="3417571" y="2953057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예: user@example.com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3557" y="3201162"/>
            <a:ext cx="3283839" cy="75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8">
                <a:solidFill>
                  <a:srgbClr val="999999"/>
                </a:solidFill>
                <a:latin typeface="Apple SD Gothic Neo"/>
              </a:rPr>
              <a:t>ⓘ 메일의 링크에서 새 비밀번호를 설정할 수 있습니다.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1561" y="3691508"/>
            <a:ext cx="965835" cy="245174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FFFFFF"/>
                </a:solidFill>
                <a:latin typeface="Apple SD Gothic Neo"/>
              </a:rPr>
              <a:t>재설정 링크 전송</a:t>
            </a:r>
          </a:p>
        </p:txBody>
      </p:sp>
      <p:sp>
        <p:nvSpPr>
          <p:cNvPr id="40" name="Rounded Rectangle 39">
            <a:hlinkClick r:id="rId6" action="ppaction://hlinksldjump"/>
          </p:cNvPr>
          <p:cNvSpPr/>
          <p:nvPr/>
        </p:nvSpPr>
        <p:spPr>
          <a:xfrm>
            <a:off x="5133785" y="3691508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8576" y="1114244"/>
            <a:ext cx="2437500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>
                <a:solidFill>
                  <a:srgbClr val="333333"/>
                </a:solidFill>
                <a:latin typeface="Apple SD Gothic Neo"/>
              </a:rPr>
              <a:t>배터리 자산관리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68575" y="1292125"/>
            <a:ext cx="7022810" cy="178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72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268576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Shape 19"/>
          <p:cNvSpPr/>
          <p:nvPr/>
        </p:nvSpPr>
        <p:spPr>
          <a:xfrm>
            <a:off x="2431076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20"/>
          <p:cNvSpPr txBox="1"/>
          <p:nvPr/>
        </p:nvSpPr>
        <p:spPr>
          <a:xfrm>
            <a:off x="2431076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>
            <a:hlinkClick r:id="rId6" action="ppaction://hlinksldjump"/>
          </p:cNvPr>
          <p:cNvSpPr txBox="1"/>
          <p:nvPr/>
        </p:nvSpPr>
        <p:spPr>
          <a:xfrm>
            <a:off x="2431076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1076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31076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5877481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Shape 25"/>
          <p:cNvSpPr/>
          <p:nvPr/>
        </p:nvSpPr>
        <p:spPr>
          <a:xfrm>
            <a:off x="6039980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6"/>
          <p:cNvSpPr txBox="1"/>
          <p:nvPr/>
        </p:nvSpPr>
        <p:spPr>
          <a:xfrm>
            <a:off x="6039980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39981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39981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39981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68576" y="2949625"/>
            <a:ext cx="243750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268575" y="3152750"/>
            <a:ext cx="7022810" cy="120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TextBox 32"/>
          <p:cNvSpPr txBox="1"/>
          <p:nvPr/>
        </p:nvSpPr>
        <p:spPr>
          <a:xfrm>
            <a:off x="2371584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59375" y="3266500"/>
            <a:ext cx="1543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8125" y="3266500"/>
            <a:ext cx="7312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366075" y="346150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TextBox 38"/>
          <p:cNvSpPr txBox="1"/>
          <p:nvPr/>
        </p:nvSpPr>
        <p:spPr>
          <a:xfrm>
            <a:off x="2371584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59375" y="348587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8125" y="348587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366075" y="3729625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TextBox 44"/>
          <p:cNvSpPr txBox="1"/>
          <p:nvPr/>
        </p:nvSpPr>
        <p:spPr>
          <a:xfrm>
            <a:off x="2371584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59375" y="3754000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8125" y="3754000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366075" y="399775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TextBox 50"/>
          <p:cNvSpPr txBox="1"/>
          <p:nvPr/>
        </p:nvSpPr>
        <p:spPr>
          <a:xfrm>
            <a:off x="2371584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59375" y="402212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8125" y="402212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8576" y="1114244"/>
            <a:ext cx="2437500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>
                <a:solidFill>
                  <a:srgbClr val="333333"/>
                </a:solidFill>
                <a:latin typeface="Apple SD Gothic Neo"/>
              </a:rPr>
              <a:t>배터리 자산관리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68575" y="1292125"/>
            <a:ext cx="7022810" cy="178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72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268576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Shape 19"/>
          <p:cNvSpPr/>
          <p:nvPr/>
        </p:nvSpPr>
        <p:spPr>
          <a:xfrm>
            <a:off x="2431076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20"/>
          <p:cNvSpPr txBox="1"/>
          <p:nvPr/>
        </p:nvSpPr>
        <p:spPr>
          <a:xfrm>
            <a:off x="2431076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31076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1076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31076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5877481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Shape 25"/>
          <p:cNvSpPr/>
          <p:nvPr/>
        </p:nvSpPr>
        <p:spPr>
          <a:xfrm>
            <a:off x="6039980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6"/>
          <p:cNvSpPr txBox="1"/>
          <p:nvPr/>
        </p:nvSpPr>
        <p:spPr>
          <a:xfrm>
            <a:off x="6039980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39981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39981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39981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68576" y="2949625"/>
            <a:ext cx="243750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268575" y="3152750"/>
            <a:ext cx="7022810" cy="120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TextBox 32"/>
          <p:cNvSpPr txBox="1"/>
          <p:nvPr/>
        </p:nvSpPr>
        <p:spPr>
          <a:xfrm>
            <a:off x="2371584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59375" y="3266500"/>
            <a:ext cx="1543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8125" y="3266500"/>
            <a:ext cx="7312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366075" y="346150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TextBox 38"/>
          <p:cNvSpPr txBox="1"/>
          <p:nvPr/>
        </p:nvSpPr>
        <p:spPr>
          <a:xfrm>
            <a:off x="2371584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59375" y="348587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8125" y="348587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366075" y="3729625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TextBox 44"/>
          <p:cNvSpPr txBox="1"/>
          <p:nvPr/>
        </p:nvSpPr>
        <p:spPr>
          <a:xfrm>
            <a:off x="2371584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59375" y="3754000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8125" y="3754000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366075" y="399775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TextBox 50"/>
          <p:cNvSpPr txBox="1"/>
          <p:nvPr/>
        </p:nvSpPr>
        <p:spPr>
          <a:xfrm>
            <a:off x="2371584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59375" y="402212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8125" y="402212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55" name="Dim Overlay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Popup Card"/>
          <p:cNvSpPr/>
          <p:nvPr/>
        </p:nvSpPr>
        <p:spPr>
          <a:xfrm>
            <a:off x="2759250" y="1690250"/>
            <a:ext cx="4387500" cy="34775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90000" dist="381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7" name="TextBox 57"/>
          <p:cNvSpPr txBox="1"/>
          <p:nvPr/>
        </p:nvSpPr>
        <p:spPr>
          <a:xfrm>
            <a:off x="2970500" y="1877125"/>
            <a:ext cx="3965000" cy="154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970500" y="2072125"/>
            <a:ext cx="3965000" cy="19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20">
                <a:solidFill>
                  <a:srgbClr val="999999"/>
                </a:solidFill>
                <a:latin typeface="Apple SD Gothic Neo"/>
              </a:rPr>
              <a:t>새 배터리를 자산으로 등록합니다. 등록 시 battery_id(UUID)가 자동 발급됩니다.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970500" y="2279904"/>
            <a:ext cx="39650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 b="1">
                <a:solidFill>
                  <a:srgbClr val="555555"/>
                </a:solidFill>
                <a:latin typeface="Apple SD Gothic Neo"/>
              </a:rPr>
              <a:t>배터리 이름</a:t>
            </a:r>
          </a:p>
        </p:txBody>
      </p:sp>
      <p:sp>
        <p:nvSpPr>
          <p:cNvPr id="60" name="Shape 60"/>
          <p:cNvSpPr/>
          <p:nvPr/>
        </p:nvSpPr>
        <p:spPr>
          <a:xfrm>
            <a:off x="2970500" y="2421065"/>
            <a:ext cx="3965000" cy="243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1" name="TextBox 61"/>
          <p:cNvSpPr txBox="1"/>
          <p:nvPr/>
        </p:nvSpPr>
        <p:spPr>
          <a:xfrm>
            <a:off x="3076125" y="2421065"/>
            <a:ext cx="375375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969696"/>
                </a:solidFill>
                <a:latin typeface="Apple SD Gothic Neo"/>
              </a:rPr>
              <a:t>예: 외부셀 #A13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970500" y="3112008"/>
            <a:ext cx="39650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 b="1">
                <a:solidFill>
                  <a:srgbClr val="555555"/>
                </a:solidFill>
                <a:latin typeface="Apple SD Gothic Neo"/>
              </a:rPr>
              <a:t>측정 모드 (target_mode 고정)</a:t>
            </a:r>
          </a:p>
        </p:txBody>
      </p:sp>
      <p:sp>
        <p:nvSpPr>
          <p:cNvPr id="63" name="Shape 63"/>
          <p:cNvSpPr/>
          <p:nvPr/>
        </p:nvSpPr>
        <p:spPr>
          <a:xfrm>
            <a:off x="2970500" y="3253169"/>
            <a:ext cx="1256666" cy="243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4" name="TextBox 64"/>
          <p:cNvSpPr txBox="1"/>
          <p:nvPr/>
        </p:nvSpPr>
        <p:spPr>
          <a:xfrm>
            <a:off x="2970500" y="3253169"/>
            <a:ext cx="1256666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36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65" name="Shape 65"/>
          <p:cNvSpPr/>
          <p:nvPr/>
        </p:nvSpPr>
        <p:spPr>
          <a:xfrm>
            <a:off x="4324666" y="3253169"/>
            <a:ext cx="1256666" cy="24375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6" name="TextBox 66"/>
          <p:cNvSpPr txBox="1"/>
          <p:nvPr/>
        </p:nvSpPr>
        <p:spPr>
          <a:xfrm>
            <a:off x="4324666" y="3253169"/>
            <a:ext cx="1256666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36">
                <a:solidFill>
                  <a:srgbClr val="FFFFFF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67" name="Shape 67"/>
          <p:cNvSpPr/>
          <p:nvPr/>
        </p:nvSpPr>
        <p:spPr>
          <a:xfrm>
            <a:off x="5678832" y="3253169"/>
            <a:ext cx="1256666" cy="243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8" name="TextBox 68"/>
          <p:cNvSpPr txBox="1"/>
          <p:nvPr/>
        </p:nvSpPr>
        <p:spPr>
          <a:xfrm>
            <a:off x="5678832" y="3253169"/>
            <a:ext cx="1256666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36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970500" y="3973830"/>
            <a:ext cx="39650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 b="1">
                <a:solidFill>
                  <a:srgbClr val="555555"/>
                </a:solidFill>
                <a:latin typeface="Apple SD Gothic Neo"/>
              </a:rPr>
              <a:t>모델명 (선택)</a:t>
            </a:r>
          </a:p>
        </p:txBody>
      </p:sp>
      <p:sp>
        <p:nvSpPr>
          <p:cNvPr id="70" name="Shape 70"/>
          <p:cNvSpPr/>
          <p:nvPr/>
        </p:nvSpPr>
        <p:spPr>
          <a:xfrm>
            <a:off x="2970500" y="4114991"/>
            <a:ext cx="3965000" cy="243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1" name="TextBox 71"/>
          <p:cNvSpPr txBox="1"/>
          <p:nvPr/>
        </p:nvSpPr>
        <p:spPr>
          <a:xfrm>
            <a:off x="3076125" y="4114991"/>
            <a:ext cx="375375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969696"/>
                </a:solidFill>
                <a:latin typeface="Apple SD Gothic Neo"/>
              </a:rPr>
              <a:t>예: NCR18650 / LP803040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970500" y="4419600"/>
            <a:ext cx="3965000" cy="3714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ⓘ battery_id는 등록 시 자동 발급되어 재연결 시 이전 이력 매칭에 사용됩니다.</a:t>
            </a:r>
          </a:p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ⓘ 배터리 종류·직렬 셀 수는 전압 임계값 해석과 AI 이상탐지 추정의 기준이 됩니다.</a:t>
            </a:r>
          </a:p>
        </p:txBody>
      </p:sp>
      <p:sp>
        <p:nvSpPr>
          <p:cNvPr id="73" name="Shape 73"/>
          <p:cNvSpPr/>
          <p:nvPr/>
        </p:nvSpPr>
        <p:spPr>
          <a:xfrm>
            <a:off x="5993000" y="4791075"/>
            <a:ext cx="422500" cy="24375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4" name="TextBox 74"/>
          <p:cNvSpPr txBox="1"/>
          <p:nvPr/>
        </p:nvSpPr>
        <p:spPr>
          <a:xfrm>
            <a:off x="5993000" y="4791075"/>
            <a:ext cx="42250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75" name="Shape 75"/>
          <p:cNvSpPr/>
          <p:nvPr/>
        </p:nvSpPr>
        <p:spPr>
          <a:xfrm>
            <a:off x="6513000" y="4791075"/>
            <a:ext cx="422500" cy="24375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6" name="TextBox 76"/>
          <p:cNvSpPr txBox="1"/>
          <p:nvPr/>
        </p:nvSpPr>
        <p:spPr>
          <a:xfrm>
            <a:off x="6513000" y="4791075"/>
            <a:ext cx="42250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85">
                <a:solidFill>
                  <a:srgbClr val="FFFFFF"/>
                </a:solidFill>
                <a:latin typeface="Apple SD Gothic Neo"/>
              </a:rPr>
              <a:t>등록</a:t>
            </a:r>
          </a:p>
        </p:txBody>
      </p:sp>
      <p:sp>
        <p:nvSpPr>
          <p:cNvPr id="77" name="TextBox 59"/>
          <p:cNvSpPr txBox="1"/>
          <p:nvPr/>
        </p:nvSpPr>
        <p:spPr>
          <a:xfrm>
            <a:off x="2970500" y="2681097"/>
            <a:ext cx="39650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 b="1">
                <a:solidFill>
                  <a:srgbClr val="555555"/>
                </a:solidFill>
                <a:latin typeface="Apple SD Gothic Neo"/>
              </a:rPr>
              <a:t>배터리 종류</a:t>
            </a:r>
          </a:p>
        </p:txBody>
      </p:sp>
      <p:sp>
        <p:nvSpPr>
          <p:cNvPr id="78" name="Shape 63"/>
          <p:cNvSpPr/>
          <p:nvPr/>
        </p:nvSpPr>
        <p:spPr>
          <a:xfrm>
            <a:off x="2970314" y="2822258"/>
            <a:ext cx="1931670" cy="243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9" name="TextBox 64"/>
          <p:cNvSpPr txBox="1"/>
          <p:nvPr/>
        </p:nvSpPr>
        <p:spPr>
          <a:xfrm>
            <a:off x="2970314" y="2822258"/>
            <a:ext cx="193167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36">
                <a:solidFill>
                  <a:srgbClr val="555555"/>
                </a:solidFill>
                <a:latin typeface="Apple SD Gothic Neo"/>
              </a:rPr>
              <a:t>리튬이온</a:t>
            </a:r>
          </a:p>
        </p:txBody>
      </p:sp>
      <p:sp>
        <p:nvSpPr>
          <p:cNvPr id="80" name="Shape 63"/>
          <p:cNvSpPr/>
          <p:nvPr/>
        </p:nvSpPr>
        <p:spPr>
          <a:xfrm>
            <a:off x="5003768" y="2822258"/>
            <a:ext cx="1931670" cy="243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1" name="TextBox 64"/>
          <p:cNvSpPr txBox="1"/>
          <p:nvPr/>
        </p:nvSpPr>
        <p:spPr>
          <a:xfrm>
            <a:off x="5003768" y="2822258"/>
            <a:ext cx="193167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36">
                <a:solidFill>
                  <a:srgbClr val="555555"/>
                </a:solidFill>
                <a:latin typeface="Apple SD Gothic Neo"/>
              </a:rPr>
              <a:t>리튬폴리머</a:t>
            </a:r>
          </a:p>
        </p:txBody>
      </p:sp>
      <p:sp>
        <p:nvSpPr>
          <p:cNvPr id="82" name="TextBox 59"/>
          <p:cNvSpPr txBox="1"/>
          <p:nvPr/>
        </p:nvSpPr>
        <p:spPr>
          <a:xfrm>
            <a:off x="2970500" y="3542919"/>
            <a:ext cx="39650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 b="1">
                <a:solidFill>
                  <a:srgbClr val="555555"/>
                </a:solidFill>
                <a:latin typeface="Apple SD Gothic Neo"/>
              </a:rPr>
              <a:t>직렬 셀 수 (S, 선택)</a:t>
            </a:r>
          </a:p>
        </p:txBody>
      </p:sp>
      <p:sp>
        <p:nvSpPr>
          <p:cNvPr id="83" name="Shape 60"/>
          <p:cNvSpPr/>
          <p:nvPr/>
        </p:nvSpPr>
        <p:spPr>
          <a:xfrm>
            <a:off x="2970314" y="3684080"/>
            <a:ext cx="1931670" cy="243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4" name="TextBox 61"/>
          <p:cNvSpPr txBox="1"/>
          <p:nvPr/>
        </p:nvSpPr>
        <p:spPr>
          <a:xfrm>
            <a:off x="3075812" y="3684080"/>
            <a:ext cx="1745933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969696"/>
                </a:solidFill>
                <a:latin typeface="Apple SD Gothic Neo"/>
              </a:rPr>
              <a:t>예: 4S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8576" y="1114244"/>
            <a:ext cx="2437500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>
                <a:solidFill>
                  <a:srgbClr val="333333"/>
                </a:solidFill>
                <a:latin typeface="Apple SD Gothic Neo"/>
              </a:rPr>
              <a:t>배터리 자산관리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68575" y="1292125"/>
            <a:ext cx="7022810" cy="178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72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268576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Shape 19"/>
          <p:cNvSpPr/>
          <p:nvPr/>
        </p:nvSpPr>
        <p:spPr>
          <a:xfrm>
            <a:off x="2431076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20"/>
          <p:cNvSpPr txBox="1"/>
          <p:nvPr/>
        </p:nvSpPr>
        <p:spPr>
          <a:xfrm>
            <a:off x="2431076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31076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1076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31076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5877481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Shape 25"/>
          <p:cNvSpPr/>
          <p:nvPr/>
        </p:nvSpPr>
        <p:spPr>
          <a:xfrm>
            <a:off x="6039980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6"/>
          <p:cNvSpPr txBox="1"/>
          <p:nvPr/>
        </p:nvSpPr>
        <p:spPr>
          <a:xfrm>
            <a:off x="6039980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39981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39981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39981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68576" y="2949625"/>
            <a:ext cx="243750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268575" y="3152750"/>
            <a:ext cx="7022810" cy="120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TextBox 32"/>
          <p:cNvSpPr txBox="1"/>
          <p:nvPr/>
        </p:nvSpPr>
        <p:spPr>
          <a:xfrm>
            <a:off x="2371584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59375" y="3266500"/>
            <a:ext cx="1543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8125" y="3266500"/>
            <a:ext cx="7312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366075" y="346150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TextBox 38"/>
          <p:cNvSpPr txBox="1"/>
          <p:nvPr/>
        </p:nvSpPr>
        <p:spPr>
          <a:xfrm>
            <a:off x="2371584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59375" y="348587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8125" y="348587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366075" y="3729625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TextBox 44"/>
          <p:cNvSpPr txBox="1"/>
          <p:nvPr/>
        </p:nvSpPr>
        <p:spPr>
          <a:xfrm>
            <a:off x="2371584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59375" y="3754000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8125" y="3754000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366075" y="399775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TextBox 50"/>
          <p:cNvSpPr txBox="1"/>
          <p:nvPr/>
        </p:nvSpPr>
        <p:spPr>
          <a:xfrm>
            <a:off x="2371584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59375" y="402212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8125" y="402212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55" name="Dim Overlay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Popup Card"/>
          <p:cNvSpPr/>
          <p:nvPr/>
        </p:nvSpPr>
        <p:spPr>
          <a:xfrm>
            <a:off x="3302000" y="2397125"/>
            <a:ext cx="3302000" cy="206375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90000" dist="381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63"/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01" name="Spinner Circle"/>
          <p:cNvSpPr>
            <a:spLocks noGrp="1"/>
          </p:cNvSpPr>
          <p:nvPr/>
        </p:nvSpPr>
        <p:spPr>
          <a:xfrm>
            <a:off x="4705350" y="3067844"/>
            <a:ext cx="495300" cy="495300"/>
          </a:xfrm>
          <a:prstGeom prst="ellipse">
            <a:avLst/>
          </a:prstGeom>
          <a:solidFill>
            <a:srgbClr val="E8E8E8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 sz="1463"/>
          </a:p>
        </p:txBody>
      </p:sp>
      <p:sp>
        <p:nvSpPr>
          <p:cNvPr id="902" name="Spinner Arc"/>
          <p:cNvSpPr>
            <a:spLocks noGrp="1"/>
          </p:cNvSpPr>
          <p:nvPr/>
        </p:nvSpPr>
        <p:spPr>
          <a:xfrm>
            <a:off x="4705350" y="3067844"/>
            <a:ext cx="495300" cy="495300"/>
          </a:xfrm>
          <a:prstGeom prst="ellipse">
            <a:avLst/>
          </a:prstGeom>
          <a:noFill/>
          <a:ln w="38100">
            <a:solidFill>
              <a:srgbClr val="1A1A2E"/>
            </a:solidFill>
          </a:ln>
        </p:spPr>
        <p:txBody>
          <a:bodyPr/>
          <a:lstStyle/>
          <a:p>
            <a:endParaRPr sz="1463"/>
          </a:p>
        </p:txBody>
      </p:sp>
      <p:sp>
        <p:nvSpPr>
          <p:cNvPr id="903" name="Loading Title"/>
          <p:cNvSpPr txBox="1">
            <a:spLocks noGrp="1"/>
          </p:cNvSpPr>
          <p:nvPr/>
        </p:nvSpPr>
        <p:spPr>
          <a:xfrm>
            <a:off x="3302000" y="2500312"/>
            <a:ext cx="3302000" cy="309563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altLang="en-US" sz="1300" b="1" dirty="0">
                <a:solidFill>
                  <a:srgbClr val="1A1A2E"/>
                </a:solidFill>
              </a:rPr>
              <a:t>등록 중</a:t>
            </a:r>
          </a:p>
        </p:txBody>
      </p:sp>
      <p:sp>
        <p:nvSpPr>
          <p:cNvPr id="904" name="Loading Sub"/>
          <p:cNvSpPr txBox="1">
            <a:spLocks noGrp="1"/>
          </p:cNvSpPr>
          <p:nvPr/>
        </p:nvSpPr>
        <p:spPr>
          <a:xfrm>
            <a:off x="3302000" y="3635375"/>
            <a:ext cx="3302000" cy="2476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altLang="en-US" sz="975" dirty="0">
                <a:solidFill>
                  <a:srgbClr val="666666"/>
                </a:solidFill>
              </a:rPr>
              <a:t>배터리를 등록하고 있습니다</a:t>
            </a:r>
            <a:r>
              <a:rPr lang="en-US" altLang="ko-KR" sz="975" dirty="0">
                <a:solidFill>
                  <a:srgbClr val="666666"/>
                </a:solidFill>
              </a:rPr>
              <a:t>. </a:t>
            </a:r>
            <a:r>
              <a:rPr lang="ko-KR" altLang="en-US" sz="975" dirty="0">
                <a:solidFill>
                  <a:srgbClr val="666666"/>
                </a:solidFill>
              </a:rPr>
              <a:t>잠시만 기다려주세요</a:t>
            </a:r>
            <a:r>
              <a:rPr lang="en-US" altLang="ko-KR" sz="975" dirty="0">
                <a:solidFill>
                  <a:srgbClr val="666666"/>
                </a:solidFill>
              </a:rPr>
              <a:t>.</a:t>
            </a:r>
          </a:p>
        </p:txBody>
      </p:sp>
      <p:sp>
        <p:nvSpPr>
          <p:cNvPr id="905" name="Progress BG"/>
          <p:cNvSpPr>
            <a:spLocks noGrp="1"/>
          </p:cNvSpPr>
          <p:nvPr/>
        </p:nvSpPr>
        <p:spPr>
          <a:xfrm>
            <a:off x="3673475" y="4027488"/>
            <a:ext cx="2559050" cy="8255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06" name="Progress Fill"/>
          <p:cNvSpPr>
            <a:spLocks noGrp="1"/>
          </p:cNvSpPr>
          <p:nvPr/>
        </p:nvSpPr>
        <p:spPr>
          <a:xfrm>
            <a:off x="3673475" y="4027488"/>
            <a:ext cx="1537494" cy="8255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</p:spTree>
    <p:extLst>
      <p:ext uri="{BB962C8B-B14F-4D97-AF65-F5344CB8AC3E}">
        <p14:creationId xmlns:p14="http://schemas.microsoft.com/office/powerpoint/2010/main" val="1212694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2059505"/>
            <a:ext cx="22022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관리자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8576" y="1114244"/>
            <a:ext cx="2437500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>
                <a:solidFill>
                  <a:srgbClr val="333333"/>
                </a:solidFill>
                <a:latin typeface="Apple SD Gothic Neo"/>
              </a:rPr>
              <a:t>배터리 자산관리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68575" y="1292125"/>
            <a:ext cx="7022810" cy="178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72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268576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Shape 19"/>
          <p:cNvSpPr/>
          <p:nvPr/>
        </p:nvSpPr>
        <p:spPr>
          <a:xfrm>
            <a:off x="2431076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20"/>
          <p:cNvSpPr txBox="1"/>
          <p:nvPr/>
        </p:nvSpPr>
        <p:spPr>
          <a:xfrm>
            <a:off x="2431076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31076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1076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31076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5877481" y="1568375"/>
            <a:ext cx="3413905" cy="11618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Shape 25"/>
          <p:cNvSpPr/>
          <p:nvPr/>
        </p:nvSpPr>
        <p:spPr>
          <a:xfrm>
            <a:off x="6039980" y="1722750"/>
            <a:ext cx="381875" cy="381875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6"/>
          <p:cNvSpPr txBox="1"/>
          <p:nvPr/>
        </p:nvSpPr>
        <p:spPr>
          <a:xfrm>
            <a:off x="6039980" y="1860875"/>
            <a:ext cx="381875" cy="162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31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39981" y="2185875"/>
            <a:ext cx="3088905" cy="146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39981" y="2364625"/>
            <a:ext cx="3088905" cy="243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36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39981" y="2567750"/>
            <a:ext cx="3088905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04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68576" y="2949625"/>
            <a:ext cx="243750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268575" y="3152750"/>
            <a:ext cx="7022810" cy="120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TextBox 32"/>
          <p:cNvSpPr txBox="1"/>
          <p:nvPr/>
        </p:nvSpPr>
        <p:spPr>
          <a:xfrm>
            <a:off x="2371584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59375" y="3266500"/>
            <a:ext cx="1543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6250" y="3266500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8125" y="3266500"/>
            <a:ext cx="7312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366075" y="346150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TextBox 38"/>
          <p:cNvSpPr txBox="1"/>
          <p:nvPr/>
        </p:nvSpPr>
        <p:spPr>
          <a:xfrm>
            <a:off x="2371584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59375" y="348587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06250" y="348587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8125" y="348587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366075" y="3729625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TextBox 44"/>
          <p:cNvSpPr txBox="1"/>
          <p:nvPr/>
        </p:nvSpPr>
        <p:spPr>
          <a:xfrm>
            <a:off x="2371584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59375" y="3754000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06250" y="3754000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8125" y="3754000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366075" y="3997750"/>
            <a:ext cx="6827810" cy="7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TextBox 50"/>
          <p:cNvSpPr txBox="1"/>
          <p:nvPr/>
        </p:nvSpPr>
        <p:spPr>
          <a:xfrm>
            <a:off x="2371584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59375" y="4022125"/>
            <a:ext cx="1543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06250" y="4022125"/>
            <a:ext cx="12187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8125" y="4022125"/>
            <a:ext cx="731250" cy="13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55" name="Dim Overlay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Popup Card"/>
          <p:cNvSpPr/>
          <p:nvPr/>
        </p:nvSpPr>
        <p:spPr>
          <a:xfrm>
            <a:off x="2434250" y="1600875"/>
            <a:ext cx="5037500" cy="365625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90000" dist="381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7" name="TextBox 57"/>
          <p:cNvSpPr txBox="1"/>
          <p:nvPr/>
        </p:nvSpPr>
        <p:spPr>
          <a:xfrm>
            <a:off x="2645500" y="1787750"/>
            <a:ext cx="4615000" cy="154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645500" y="1982750"/>
            <a:ext cx="4615000" cy="19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520">
                <a:solidFill>
                  <a:srgbClr val="999999"/>
                </a:solidFill>
                <a:latin typeface="Apple SD Gothic Neo"/>
              </a:rPr>
              <a:t>등록된 배터리를 선택하면 이전 측정 이력과 target_mode가 자동으로 연결됩니다.</a:t>
            </a:r>
          </a:p>
        </p:txBody>
      </p:sp>
      <p:sp>
        <p:nvSpPr>
          <p:cNvPr id="59" name="Shape 59"/>
          <p:cNvSpPr/>
          <p:nvPr/>
        </p:nvSpPr>
        <p:spPr>
          <a:xfrm>
            <a:off x="2645500" y="2218375"/>
            <a:ext cx="4615000" cy="243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0" name="TextBox 60"/>
          <p:cNvSpPr txBox="1"/>
          <p:nvPr/>
        </p:nvSpPr>
        <p:spPr>
          <a:xfrm>
            <a:off x="2751125" y="2218375"/>
            <a:ext cx="440375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969696"/>
                </a:solidFill>
                <a:latin typeface="Apple SD Gothic Neo"/>
              </a:rPr>
              <a:t>🔍  배터리 이름 또는 battery_id 검색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734875" y="2559625"/>
            <a:ext cx="12187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026750" y="2559625"/>
            <a:ext cx="138125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48625" y="2559625"/>
            <a:ext cx="11375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45500" y="2559625"/>
            <a:ext cx="715000" cy="121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2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65" name="Shape 65"/>
          <p:cNvSpPr/>
          <p:nvPr/>
        </p:nvSpPr>
        <p:spPr>
          <a:xfrm>
            <a:off x="2645500" y="2762750"/>
            <a:ext cx="4615000" cy="260000"/>
          </a:xfrm>
          <a:prstGeom prst="roundRect">
            <a:avLst>
              <a:gd name="adj" fmla="val 14000"/>
            </a:avLst>
          </a:prstGeom>
          <a:solidFill>
            <a:srgbClr val="F3F1FF"/>
          </a:solidFill>
          <a:ln w="9525">
            <a:solidFill>
              <a:srgbClr val="C7B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6" name="TextBox 66"/>
          <p:cNvSpPr txBox="1"/>
          <p:nvPr/>
        </p:nvSpPr>
        <p:spPr>
          <a:xfrm>
            <a:off x="2734875" y="2762750"/>
            <a:ext cx="12187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 b="1">
                <a:solidFill>
                  <a:srgbClr val="333333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026750" y="2762750"/>
            <a:ext cx="138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448625" y="2762750"/>
            <a:ext cx="11375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545500" y="2762750"/>
            <a:ext cx="73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70" name="Shape 70"/>
          <p:cNvSpPr/>
          <p:nvPr/>
        </p:nvSpPr>
        <p:spPr>
          <a:xfrm>
            <a:off x="2645500" y="3055250"/>
            <a:ext cx="4615000" cy="2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1" name="TextBox 71"/>
          <p:cNvSpPr txBox="1"/>
          <p:nvPr/>
        </p:nvSpPr>
        <p:spPr>
          <a:xfrm>
            <a:off x="2734875" y="3055250"/>
            <a:ext cx="12187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333333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026750" y="3055250"/>
            <a:ext cx="138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448625" y="3055250"/>
            <a:ext cx="11375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545500" y="3055250"/>
            <a:ext cx="73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75" name="Shape 75"/>
          <p:cNvSpPr/>
          <p:nvPr/>
        </p:nvSpPr>
        <p:spPr>
          <a:xfrm>
            <a:off x="2645500" y="3347750"/>
            <a:ext cx="4615000" cy="2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6" name="TextBox 76"/>
          <p:cNvSpPr txBox="1"/>
          <p:nvPr/>
        </p:nvSpPr>
        <p:spPr>
          <a:xfrm>
            <a:off x="2734875" y="3347750"/>
            <a:ext cx="12187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333333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026750" y="3347750"/>
            <a:ext cx="138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448625" y="3347750"/>
            <a:ext cx="11375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545500" y="3347750"/>
            <a:ext cx="73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80" name="Shape 80"/>
          <p:cNvSpPr/>
          <p:nvPr/>
        </p:nvSpPr>
        <p:spPr>
          <a:xfrm>
            <a:off x="2645500" y="3640250"/>
            <a:ext cx="4615000" cy="2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1" name="TextBox 81"/>
          <p:cNvSpPr txBox="1"/>
          <p:nvPr/>
        </p:nvSpPr>
        <p:spPr>
          <a:xfrm>
            <a:off x="2734875" y="3640250"/>
            <a:ext cx="12187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333333"/>
                </a:solidFill>
                <a:latin typeface="Apple SD Gothic Neo"/>
              </a:rPr>
              <a:t>외부셀 #A09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026750" y="3640250"/>
            <a:ext cx="138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a02b…51d3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448625" y="3640250"/>
            <a:ext cx="11375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69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545500" y="3640250"/>
            <a:ext cx="73125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553">
                <a:solidFill>
                  <a:srgbClr val="777777"/>
                </a:solidFill>
                <a:latin typeface="Apple SD Gothic Neo"/>
              </a:rPr>
              <a:t>06-10 11:20</a:t>
            </a:r>
          </a:p>
        </p:txBody>
      </p:sp>
      <p:sp>
        <p:nvSpPr>
          <p:cNvPr id="86" name="Shape 86"/>
          <p:cNvSpPr/>
          <p:nvPr/>
        </p:nvSpPr>
        <p:spPr>
          <a:xfrm>
            <a:off x="6318000" y="4875250"/>
            <a:ext cx="422500" cy="24375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7" name="TextBox 87">
            <a:hlinkClick r:id="rId6" action="ppaction://hlinksldjump"/>
          </p:cNvPr>
          <p:cNvSpPr txBox="1"/>
          <p:nvPr/>
        </p:nvSpPr>
        <p:spPr>
          <a:xfrm>
            <a:off x="6318000" y="4875250"/>
            <a:ext cx="42250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88" name="Shape 88"/>
          <p:cNvSpPr/>
          <p:nvPr/>
        </p:nvSpPr>
        <p:spPr>
          <a:xfrm>
            <a:off x="6838000" y="4875250"/>
            <a:ext cx="422500" cy="24375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9" name="TextBox 89"/>
          <p:cNvSpPr txBox="1"/>
          <p:nvPr/>
        </p:nvSpPr>
        <p:spPr>
          <a:xfrm>
            <a:off x="6838000" y="4875250"/>
            <a:ext cx="422500" cy="2437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585">
                <a:solidFill>
                  <a:srgbClr val="FFFFFF"/>
                </a:solidFill>
                <a:latin typeface="Apple SD Gothic Neo"/>
              </a:rPr>
              <a:t>선택</a:t>
            </a:r>
          </a:p>
        </p:txBody>
      </p:sp>
      <p:sp>
        <p:nvSpPr>
          <p:cNvPr id="9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50559"/>
            <a:ext cx="7022810" cy="278731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3666374"/>
            <a:ext cx="7022810" cy="2163195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333333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1584" y="4042055"/>
            <a:ext cx="6828910" cy="1466368"/>
          </a:xfrm>
          <a:prstGeom prst="roundRect">
            <a:avLst>
              <a:gd name="adj" fmla="val 2479"/>
            </a:avLst>
          </a:prstGeom>
          <a:solidFill>
            <a:srgbClr val="E8E8E8"/>
          </a:solidFill>
          <a:ln w="9525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268575" y="1726240"/>
            <a:ext cx="1646634" cy="864028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Rounded Rectangle 19"/>
          <p:cNvSpPr/>
          <p:nvPr/>
        </p:nvSpPr>
        <p:spPr>
          <a:xfrm>
            <a:off x="4060634" y="1726240"/>
            <a:ext cx="1646634" cy="864028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1" name="Rounded Rectangle 20"/>
          <p:cNvSpPr/>
          <p:nvPr/>
        </p:nvSpPr>
        <p:spPr>
          <a:xfrm>
            <a:off x="5852692" y="1726240"/>
            <a:ext cx="1646634" cy="864028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ounded Rectangle 21"/>
          <p:cNvSpPr/>
          <p:nvPr/>
        </p:nvSpPr>
        <p:spPr>
          <a:xfrm>
            <a:off x="7644751" y="1726240"/>
            <a:ext cx="1646634" cy="864028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Rounded Rectangle 22"/>
          <p:cNvSpPr/>
          <p:nvPr/>
        </p:nvSpPr>
        <p:spPr>
          <a:xfrm>
            <a:off x="2268576" y="2687218"/>
            <a:ext cx="3438692" cy="882206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ectangle 24"/>
          <p:cNvSpPr/>
          <p:nvPr/>
        </p:nvSpPr>
        <p:spPr>
          <a:xfrm>
            <a:off x="5341623" y="4726764"/>
            <a:ext cx="888739" cy="9695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2268576" y="1114244"/>
            <a:ext cx="750983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실시간 대시보드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7979" y="4726764"/>
            <a:ext cx="81602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V·I·T·SOC 복합 추세 차트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1440" y="3745146"/>
            <a:ext cx="715100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Rounded Rectangle 31"/>
          <p:cNvSpPr/>
          <p:nvPr/>
        </p:nvSpPr>
        <p:spPr>
          <a:xfrm>
            <a:off x="2371584" y="5581136"/>
            <a:ext cx="304389" cy="16966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Rounded Rectangle 32"/>
          <p:cNvSpPr/>
          <p:nvPr/>
        </p:nvSpPr>
        <p:spPr>
          <a:xfrm>
            <a:off x="2724448" y="5581136"/>
            <a:ext cx="304389" cy="16966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/>
          <p:cNvSpPr/>
          <p:nvPr/>
        </p:nvSpPr>
        <p:spPr>
          <a:xfrm>
            <a:off x="3077312" y="5581136"/>
            <a:ext cx="304389" cy="16966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/>
          <p:cNvSpPr/>
          <p:nvPr/>
        </p:nvSpPr>
        <p:spPr>
          <a:xfrm>
            <a:off x="3430176" y="5581136"/>
            <a:ext cx="335064" cy="16966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TextBox 36"/>
          <p:cNvSpPr txBox="1"/>
          <p:nvPr/>
        </p:nvSpPr>
        <p:spPr>
          <a:xfrm>
            <a:off x="2353927" y="1502044"/>
            <a:ext cx="21524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ko-KR" altLang="en-US" sz="763" b="1" dirty="0">
                <a:solidFill>
                  <a:srgbClr val="333333"/>
                </a:solidFill>
                <a:latin typeface="Apple SD Gothic Neo"/>
              </a:rPr>
              <a:t>현재 측정 배터리 이름</a:t>
            </a:r>
            <a:r>
              <a:rPr lang="en-US" altLang="ko-KR" sz="763" b="1" dirty="0">
                <a:solidFill>
                  <a:srgbClr val="333333"/>
                </a:solidFill>
                <a:latin typeface="Apple SD Gothic Neo"/>
              </a:rPr>
              <a:t>: </a:t>
            </a:r>
            <a:r>
              <a:rPr lang="ko-KR" altLang="en-US" sz="763" b="1" dirty="0" err="1">
                <a:solidFill>
                  <a:srgbClr val="333333"/>
                </a:solidFill>
                <a:latin typeface="Apple SD Gothic Neo"/>
              </a:rPr>
              <a:t>앤커</a:t>
            </a:r>
            <a:r>
              <a:rPr lang="ko-KR" altLang="en-US" sz="763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lang="en-US" altLang="ko-KR" sz="763" b="1" dirty="0">
                <a:solidFill>
                  <a:srgbClr val="333333"/>
                </a:solidFill>
                <a:latin typeface="Apple SD Gothic Neo"/>
              </a:rPr>
              <a:t>20000mA</a:t>
            </a:r>
          </a:p>
          <a:p>
            <a:endParaRPr sz="763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71584" y="1805012"/>
            <a:ext cx="25080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전압 (V)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1585" y="1968614"/>
            <a:ext cx="484750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3.72 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1585" y="2244884"/>
            <a:ext cx="64087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정상 범위 3.0 – 4.2V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3643" y="1805012"/>
            <a:ext cx="221262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전류 (I)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3643" y="1968614"/>
            <a:ext cx="480678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12.4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3644" y="2244884"/>
            <a:ext cx="560302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정상 범위 0 – 20A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55702" y="1805012"/>
            <a:ext cx="24786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온도 (T)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55702" y="1968614"/>
            <a:ext cx="416203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61 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55702" y="2244884"/>
            <a:ext cx="76982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⚠ 경고 임계값 60°C 초과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7760" y="1805012"/>
            <a:ext cx="50254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충전 상태 (SOC)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47761" y="1968614"/>
            <a:ext cx="387515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78 %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7761" y="2244884"/>
            <a:ext cx="62411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정상 범위 20 – 95%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1585" y="2765990"/>
            <a:ext cx="33553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 dirty="0" err="1">
                <a:solidFill>
                  <a:srgbClr val="333333"/>
                </a:solidFill>
                <a:latin typeface="Apple SD Gothic Neo"/>
              </a:rPr>
              <a:t>이상점수</a:t>
            </a:r>
            <a:endParaRPr sz="763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71585" y="2947771"/>
            <a:ext cx="210279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1585" y="3224041"/>
            <a:ext cx="113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 dirty="0" err="1">
                <a:solidFill>
                  <a:srgbClr val="999999"/>
                </a:solidFill>
                <a:latin typeface="Apple SD Gothic Neo"/>
              </a:rPr>
              <a:t>위험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수준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— 80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이상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시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즉각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대응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필요</a:t>
            </a:r>
            <a:endParaRPr sz="572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371584" y="3387643"/>
            <a:ext cx="462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이상점수 분석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0741" y="3171967"/>
            <a:ext cx="462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디바이스 관리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1585" y="3802710"/>
            <a:ext cx="795955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추세 차트 / 이력 조회</a:t>
            </a:r>
          </a:p>
        </p:txBody>
      </p:sp>
      <p:sp>
        <p:nvSpPr>
          <p:cNvPr id="62" name="TextBox 61">
            <a:hlinkClick r:id="rId7" action="ppaction://hlinksldjump"/>
          </p:cNvPr>
          <p:cNvSpPr txBox="1"/>
          <p:nvPr/>
        </p:nvSpPr>
        <p:spPr>
          <a:xfrm>
            <a:off x="3476568" y="3805740"/>
            <a:ext cx="48484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 dirty="0" err="1">
                <a:solidFill>
                  <a:srgbClr val="FFFFFF"/>
                </a:solidFill>
                <a:latin typeface="Apple SD Gothic Neo"/>
              </a:rPr>
              <a:t>전체</a:t>
            </a:r>
            <a:r>
              <a:rPr sz="668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668" dirty="0" err="1">
                <a:solidFill>
                  <a:srgbClr val="FFFFFF"/>
                </a:solidFill>
                <a:latin typeface="Apple SD Gothic Neo"/>
              </a:rPr>
              <a:t>이력</a:t>
            </a:r>
            <a:r>
              <a:rPr sz="668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668" dirty="0" err="1">
                <a:solidFill>
                  <a:srgbClr val="FFFFFF"/>
                </a:solidFill>
                <a:latin typeface="Apple SD Gothic Neo"/>
              </a:rPr>
              <a:t>보기</a:t>
            </a:r>
            <a:endParaRPr sz="668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91669" y="3805740"/>
            <a:ext cx="396983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AI 이상탐지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50356" y="5611432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전압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3220" y="5611432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56084" y="5611432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온도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08947" y="5611432"/>
            <a:ext cx="177521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SOC</a:t>
            </a:r>
          </a:p>
        </p:txBody>
      </p:sp>
      <p:sp>
        <p:nvSpPr>
          <p:cNvPr id="17" name="Rounded 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0B267DDE-E5AB-1319-2086-36B8FF444A2C}"/>
              </a:ext>
            </a:extLst>
          </p:cNvPr>
          <p:cNvSpPr/>
          <p:nvPr/>
        </p:nvSpPr>
        <p:spPr>
          <a:xfrm>
            <a:off x="2803220" y="2732662"/>
            <a:ext cx="735693" cy="175723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/>
              <a:t>상세 보기</a:t>
            </a:r>
            <a:endParaRPr sz="650" dirty="0"/>
          </a:p>
        </p:txBody>
      </p:sp>
      <p:sp>
        <p:nvSpPr>
          <p:cNvPr id="72" name="Rounded Rectangle 22">
            <a:extLst>
              <a:ext uri="{FF2B5EF4-FFF2-40B4-BE49-F238E27FC236}">
                <a16:creationId xmlns:a16="http://schemas.microsoft.com/office/drawing/2014/main" id="{3B1AD1AA-4D16-59D6-F24E-C27324F416C0}"/>
              </a:ext>
            </a:extLst>
          </p:cNvPr>
          <p:cNvSpPr/>
          <p:nvPr/>
        </p:nvSpPr>
        <p:spPr>
          <a:xfrm>
            <a:off x="5870001" y="2684756"/>
            <a:ext cx="3438692" cy="882206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E60FC0-31D0-CF4C-0BBF-64FBFB9B00D3}"/>
              </a:ext>
            </a:extLst>
          </p:cNvPr>
          <p:cNvSpPr txBox="1"/>
          <p:nvPr/>
        </p:nvSpPr>
        <p:spPr>
          <a:xfrm>
            <a:off x="5973010" y="2763528"/>
            <a:ext cx="33553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63" b="1" dirty="0">
                <a:solidFill>
                  <a:srgbClr val="333333"/>
                </a:solidFill>
                <a:latin typeface="Apple SD Gothic Neo"/>
              </a:rPr>
              <a:t>경고</a:t>
            </a:r>
            <a:endParaRPr sz="763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523D3E-DC3B-4A12-C7BF-C44D53FB15D2}"/>
              </a:ext>
            </a:extLst>
          </p:cNvPr>
          <p:cNvSpPr txBox="1"/>
          <p:nvPr/>
        </p:nvSpPr>
        <p:spPr>
          <a:xfrm>
            <a:off x="5973010" y="2945309"/>
            <a:ext cx="1204998" cy="2508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1138" b="1" dirty="0">
                <a:solidFill>
                  <a:schemeClr val="bg1">
                    <a:lumMod val="50000"/>
                  </a:schemeClr>
                </a:solidFill>
                <a:latin typeface="Apple SD Gothic Neo"/>
              </a:rPr>
              <a:t>미확인 </a:t>
            </a:r>
            <a:r>
              <a:rPr lang="en-US" altLang="ko-KR" sz="1138" b="1" dirty="0">
                <a:solidFill>
                  <a:schemeClr val="bg1">
                    <a:lumMod val="50000"/>
                  </a:schemeClr>
                </a:solidFill>
                <a:latin typeface="Apple SD Gothic Neo"/>
              </a:rPr>
              <a:t>3</a:t>
            </a:r>
            <a:r>
              <a:rPr lang="ko-KR" altLang="en-US" sz="1138" b="1" dirty="0">
                <a:solidFill>
                  <a:schemeClr val="bg1">
                    <a:lumMod val="50000"/>
                  </a:schemeClr>
                </a:solidFill>
                <a:latin typeface="Apple SD Gothic Neo"/>
              </a:rPr>
              <a:t>건</a:t>
            </a:r>
            <a:endParaRPr sz="1138" b="1" dirty="0">
              <a:solidFill>
                <a:schemeClr val="bg1">
                  <a:lumMod val="50000"/>
                </a:schemeClr>
              </a:solidFill>
              <a:latin typeface="Apple SD Gothic Neo"/>
            </a:endParaRPr>
          </a:p>
        </p:txBody>
      </p:sp>
      <p:sp>
        <p:nvSpPr>
          <p:cNvPr id="77" name="Rounded Rectangle 29">
            <a:hlinkClick r:id="rId9" action="ppaction://hlinksldjump"/>
            <a:extLst>
              <a:ext uri="{FF2B5EF4-FFF2-40B4-BE49-F238E27FC236}">
                <a16:creationId xmlns:a16="http://schemas.microsoft.com/office/drawing/2014/main" id="{3BBA6578-5ECB-34D3-2184-EA75092282E6}"/>
              </a:ext>
            </a:extLst>
          </p:cNvPr>
          <p:cNvSpPr/>
          <p:nvPr/>
        </p:nvSpPr>
        <p:spPr>
          <a:xfrm>
            <a:off x="6404645" y="2730200"/>
            <a:ext cx="735693" cy="175723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/>
              <a:t>상세 보기</a:t>
            </a:r>
            <a:endParaRPr sz="650" dirty="0"/>
          </a:p>
        </p:txBody>
      </p:sp>
      <p:sp>
        <p:nvSpPr>
          <p:cNvPr id="970" name="메뉴-설정">
            <a:hlinkClick r:id="rId10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467462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7" y="717355"/>
            <a:ext cx="634814" cy="10906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5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0" y="723414"/>
            <a:ext cx="272578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17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7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6"/>
            <a:ext cx="121187" cy="1211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91888" y="708266"/>
            <a:ext cx="1526961" cy="12724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5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892" y="1126363"/>
            <a:ext cx="12582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5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5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9477" y="1360775"/>
            <a:ext cx="1682991" cy="684959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Rounded Rectangle 19"/>
          <p:cNvSpPr/>
          <p:nvPr/>
        </p:nvSpPr>
        <p:spPr>
          <a:xfrm>
            <a:off x="4029416" y="1360775"/>
            <a:ext cx="1682991" cy="684959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1" name="Rounded Rectangle 20"/>
          <p:cNvSpPr/>
          <p:nvPr/>
        </p:nvSpPr>
        <p:spPr>
          <a:xfrm>
            <a:off x="5809356" y="1360775"/>
            <a:ext cx="1682991" cy="684959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ounded Rectangle 21"/>
          <p:cNvSpPr/>
          <p:nvPr/>
        </p:nvSpPr>
        <p:spPr>
          <a:xfrm>
            <a:off x="7589296" y="1360775"/>
            <a:ext cx="1682991" cy="684959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TextBox 22"/>
          <p:cNvSpPr txBox="1"/>
          <p:nvPr/>
        </p:nvSpPr>
        <p:spPr>
          <a:xfrm>
            <a:off x="2268576" y="1111650"/>
            <a:ext cx="527070" cy="1085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59" b="1">
                <a:solidFill>
                  <a:srgbClr val="333333"/>
                </a:solidFill>
                <a:latin typeface="Apple SD Gothic Neo"/>
              </a:rPr>
              <a:t>이상점수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9546" y="1120695"/>
            <a:ext cx="737918" cy="90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0">
                <a:solidFill>
                  <a:srgbClr val="999999"/>
                </a:solidFill>
                <a:latin typeface="Apple SD Gothic Neo"/>
              </a:rPr>
              <a:t>실시간 대시보드 · AI 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9478" y="2142212"/>
            <a:ext cx="3462929" cy="1714018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Rounded Rectangle 26"/>
          <p:cNvSpPr/>
          <p:nvPr/>
        </p:nvSpPr>
        <p:spPr>
          <a:xfrm>
            <a:off x="5809356" y="2142212"/>
            <a:ext cx="3462929" cy="1718522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Rounded Rectangle 27"/>
          <p:cNvSpPr/>
          <p:nvPr/>
        </p:nvSpPr>
        <p:spPr>
          <a:xfrm>
            <a:off x="5809356" y="3933093"/>
            <a:ext cx="3462929" cy="1718522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9" name="TextBox 28"/>
          <p:cNvSpPr txBox="1"/>
          <p:nvPr/>
        </p:nvSpPr>
        <p:spPr>
          <a:xfrm>
            <a:off x="2352486" y="1439164"/>
            <a:ext cx="397835" cy="90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0">
                <a:solidFill>
                  <a:srgbClr val="999999"/>
                </a:solidFill>
                <a:latin typeface="Apple SD Gothic Neo"/>
              </a:rPr>
              <a:t>현재 이상점수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2486" y="1601971"/>
            <a:ext cx="339514" cy="19898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29" b="1" dirty="0">
                <a:solidFill>
                  <a:srgbClr val="C00000"/>
                </a:solidFill>
                <a:latin typeface="Apple SD Gothic Neo"/>
              </a:rPr>
              <a:t>8</a:t>
            </a:r>
            <a:r>
              <a:rPr lang="en-US" altLang="ko-KR" sz="1329" b="1" dirty="0">
                <a:solidFill>
                  <a:srgbClr val="C00000"/>
                </a:solidFill>
                <a:latin typeface="Apple SD Gothic Neo"/>
              </a:rPr>
              <a:t>2</a:t>
            </a:r>
            <a:endParaRPr sz="1329" b="1" dirty="0">
              <a:solidFill>
                <a:srgbClr val="C00000"/>
              </a:solidFill>
              <a:latin typeface="Apple SD Gothic Ne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52486" y="1876896"/>
            <a:ext cx="439873" cy="90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0">
                <a:solidFill>
                  <a:srgbClr val="999999"/>
                </a:solidFill>
                <a:latin typeface="Apple SD Gothic Neo"/>
              </a:rPr>
              <a:t>위험 수준: 높음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12366" y="4192379"/>
            <a:ext cx="3269030" cy="1218040"/>
          </a:xfrm>
          <a:prstGeom prst="roundRect">
            <a:avLst>
              <a:gd name="adj" fmla="val 2970"/>
            </a:avLst>
          </a:prstGeom>
          <a:solidFill>
            <a:srgbClr val="E8E8E8"/>
          </a:solidFill>
          <a:ln w="9525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TextBox 47"/>
          <p:cNvSpPr txBox="1"/>
          <p:nvPr/>
        </p:nvSpPr>
        <p:spPr>
          <a:xfrm>
            <a:off x="5912366" y="4011481"/>
            <a:ext cx="1108108" cy="1085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59" b="1">
                <a:solidFill>
                  <a:srgbClr val="333333"/>
                </a:solidFill>
                <a:latin typeface="Apple SD Gothic Neo"/>
              </a:rPr>
              <a:t>이상점수 추세 (최근 24시간)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2366" y="5482778"/>
            <a:ext cx="870372" cy="90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0">
                <a:solidFill>
                  <a:srgbClr val="999999"/>
                </a:solidFill>
                <a:latin typeface="Apple SD Gothic Neo"/>
              </a:rPr>
              <a:t>1시간 단위 평균 이상점수 변화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82182" y="4753160"/>
            <a:ext cx="729397" cy="96479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TextBox 55"/>
          <p:cNvSpPr txBox="1"/>
          <p:nvPr/>
        </p:nvSpPr>
        <p:spPr>
          <a:xfrm>
            <a:off x="7218539" y="4753160"/>
            <a:ext cx="656684" cy="9647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17">
                <a:solidFill>
                  <a:srgbClr val="999999"/>
                </a:solidFill>
                <a:latin typeface="Apple SD Gothic Neo"/>
              </a:rPr>
              <a:t>이상점수 시계열 차트</a:t>
            </a:r>
          </a:p>
        </p:txBody>
      </p:sp>
      <p:sp>
        <p:nvSpPr>
          <p:cNvPr id="900" name="실시간대시보드로 버튼">
            <a:hlinkClick r:id="rId5" action="ppaction://hlinksldjump"/>
          </p:cNvPr>
          <p:cNvSpPr/>
          <p:nvPr/>
        </p:nvSpPr>
        <p:spPr>
          <a:xfrm>
            <a:off x="2268576" y="723414"/>
            <a:ext cx="1279525" cy="24765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68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2" name="Rounded Rectangle 21">
            <a:extLst>
              <a:ext uri="{FF2B5EF4-FFF2-40B4-BE49-F238E27FC236}">
                <a16:creationId xmlns:a16="http://schemas.microsoft.com/office/drawing/2014/main" id="{A4EB073C-BE4C-6AA2-A0AB-3E2B3DFA8602}"/>
              </a:ext>
            </a:extLst>
          </p:cNvPr>
          <p:cNvSpPr/>
          <p:nvPr/>
        </p:nvSpPr>
        <p:spPr>
          <a:xfrm>
            <a:off x="2249488" y="3934619"/>
            <a:ext cx="3467100" cy="1723231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8E0C9-A668-C0B8-C18A-164AA9711B4B}"/>
              </a:ext>
            </a:extLst>
          </p:cNvPr>
          <p:cNvSpPr txBox="1"/>
          <p:nvPr/>
        </p:nvSpPr>
        <p:spPr>
          <a:xfrm>
            <a:off x="2352675" y="3996531"/>
            <a:ext cx="1311825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상태별 판정 기준 안내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5B99CCF5-3003-878F-D0B6-EADE9B320FB4}"/>
              </a:ext>
            </a:extLst>
          </p:cNvPr>
          <p:cNvSpPr/>
          <p:nvPr/>
        </p:nvSpPr>
        <p:spPr>
          <a:xfrm>
            <a:off x="2352675" y="4202906"/>
            <a:ext cx="3260725" cy="4127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B328796-8F5D-F9D0-A39A-C4123BA5F10D}"/>
              </a:ext>
            </a:extLst>
          </p:cNvPr>
          <p:cNvSpPr/>
          <p:nvPr/>
        </p:nvSpPr>
        <p:spPr>
          <a:xfrm>
            <a:off x="2352675" y="4677569"/>
            <a:ext cx="3260725" cy="4127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Rounded Rectangle 37">
            <a:extLst>
              <a:ext uri="{FF2B5EF4-FFF2-40B4-BE49-F238E27FC236}">
                <a16:creationId xmlns:a16="http://schemas.microsoft.com/office/drawing/2014/main" id="{AE742DE4-C2D8-60DA-2554-76666AC42062}"/>
              </a:ext>
            </a:extLst>
          </p:cNvPr>
          <p:cNvSpPr/>
          <p:nvPr/>
        </p:nvSpPr>
        <p:spPr>
          <a:xfrm>
            <a:off x="2352675" y="5152231"/>
            <a:ext cx="3260725" cy="412750"/>
          </a:xfrm>
          <a:prstGeom prst="roundRect">
            <a:avLst>
              <a:gd name="adj" fmla="val 5454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96" name="TextBox 895">
            <a:extLst>
              <a:ext uri="{FF2B5EF4-FFF2-40B4-BE49-F238E27FC236}">
                <a16:creationId xmlns:a16="http://schemas.microsoft.com/office/drawing/2014/main" id="{4454C321-AF8A-ED38-5796-721C6495F754}"/>
              </a:ext>
            </a:extLst>
          </p:cNvPr>
          <p:cNvSpPr txBox="1"/>
          <p:nvPr/>
        </p:nvSpPr>
        <p:spPr>
          <a:xfrm>
            <a:off x="2786062" y="4264819"/>
            <a:ext cx="1341438" cy="1238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 dirty="0" err="1">
                <a:solidFill>
                  <a:srgbClr val="999999"/>
                </a:solidFill>
                <a:latin typeface="Apple SD Gothic Neo"/>
              </a:rPr>
              <a:t>이상점수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lang="en-US" sz="572" dirty="0">
                <a:solidFill>
                  <a:srgbClr val="999999"/>
                </a:solidFill>
                <a:latin typeface="Apple SD Gothic Neo"/>
              </a:rPr>
              <a:t>0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~ </a:t>
            </a:r>
            <a:r>
              <a:rPr lang="en-US" sz="572" dirty="0">
                <a:solidFill>
                  <a:srgbClr val="999999"/>
                </a:solidFill>
                <a:latin typeface="Apple SD Gothic Neo"/>
              </a:rPr>
              <a:t>59</a:t>
            </a:r>
            <a:endParaRPr sz="572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897" name="TextBox 896">
            <a:extLst>
              <a:ext uri="{FF2B5EF4-FFF2-40B4-BE49-F238E27FC236}">
                <a16:creationId xmlns:a16="http://schemas.microsoft.com/office/drawing/2014/main" id="{D863BD1A-EB6E-51C1-D09B-BC75B35BACA9}"/>
              </a:ext>
            </a:extLst>
          </p:cNvPr>
          <p:cNvSpPr txBox="1"/>
          <p:nvPr/>
        </p:nvSpPr>
        <p:spPr>
          <a:xfrm>
            <a:off x="2445544" y="4440238"/>
            <a:ext cx="3136900" cy="1238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72" dirty="0" err="1">
                <a:solidFill>
                  <a:srgbClr val="999999"/>
                </a:solidFill>
                <a:latin typeface="Apple SD Gothic Neo"/>
              </a:rPr>
              <a:t>기준 범위 내 정상 상태 — 추가 조치 불필요</a:t>
            </a: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F6EB5273-56F3-E31E-8AC5-A2C2F9766F4C}"/>
              </a:ext>
            </a:extLst>
          </p:cNvPr>
          <p:cNvSpPr txBox="1"/>
          <p:nvPr/>
        </p:nvSpPr>
        <p:spPr>
          <a:xfrm>
            <a:off x="2786062" y="4739481"/>
            <a:ext cx="1341438" cy="1238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 dirty="0" err="1">
                <a:solidFill>
                  <a:srgbClr val="999999"/>
                </a:solidFill>
                <a:latin typeface="Apple SD Gothic Neo"/>
              </a:rPr>
              <a:t>이상점수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60 ~ 84</a:t>
            </a:r>
          </a:p>
        </p:txBody>
      </p:sp>
      <p:sp>
        <p:nvSpPr>
          <p:cNvPr id="899" name="TextBox 898">
            <a:extLst>
              <a:ext uri="{FF2B5EF4-FFF2-40B4-BE49-F238E27FC236}">
                <a16:creationId xmlns:a16="http://schemas.microsoft.com/office/drawing/2014/main" id="{4D1EEDC2-3D20-86B3-FF1B-06906D127380}"/>
              </a:ext>
            </a:extLst>
          </p:cNvPr>
          <p:cNvSpPr txBox="1"/>
          <p:nvPr/>
        </p:nvSpPr>
        <p:spPr>
          <a:xfrm>
            <a:off x="2445544" y="4914900"/>
            <a:ext cx="3136900" cy="1238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이상 징후 감지 — 모니터링 강화·추이 관찰</a:t>
            </a:r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1CD01A1A-A2F3-6346-6AD3-045C6E8B1FB9}"/>
              </a:ext>
            </a:extLst>
          </p:cNvPr>
          <p:cNvSpPr txBox="1"/>
          <p:nvPr/>
        </p:nvSpPr>
        <p:spPr>
          <a:xfrm>
            <a:off x="2786062" y="5214144"/>
            <a:ext cx="1341438" cy="1238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 dirty="0" err="1">
                <a:solidFill>
                  <a:srgbClr val="999999"/>
                </a:solidFill>
                <a:latin typeface="Apple SD Gothic Neo"/>
              </a:rPr>
              <a:t>이상점수</a:t>
            </a:r>
            <a:r>
              <a:rPr sz="572" dirty="0">
                <a:solidFill>
                  <a:srgbClr val="999999"/>
                </a:solidFill>
                <a:latin typeface="Apple SD Gothic Neo"/>
              </a:rPr>
              <a:t> 85 </a:t>
            </a:r>
            <a:r>
              <a:rPr sz="572" dirty="0" err="1">
                <a:solidFill>
                  <a:srgbClr val="999999"/>
                </a:solidFill>
                <a:latin typeface="Apple SD Gothic Neo"/>
              </a:rPr>
              <a:t>이상</a:t>
            </a:r>
            <a:endParaRPr sz="572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902" name="TextBox 901">
            <a:extLst>
              <a:ext uri="{FF2B5EF4-FFF2-40B4-BE49-F238E27FC236}">
                <a16:creationId xmlns:a16="http://schemas.microsoft.com/office/drawing/2014/main" id="{4C23233F-0EED-50CA-1230-D58F76A3B8C1}"/>
              </a:ext>
            </a:extLst>
          </p:cNvPr>
          <p:cNvSpPr txBox="1"/>
          <p:nvPr/>
        </p:nvSpPr>
        <p:spPr>
          <a:xfrm>
            <a:off x="2445544" y="5389563"/>
            <a:ext cx="3136900" cy="1238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심각한 이상 — 즉시 점검 및 조치 필요</a:t>
            </a: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521177E2-AF3F-1C4C-1A53-D79C00B8A468}"/>
              </a:ext>
            </a:extLst>
          </p:cNvPr>
          <p:cNvSpPr txBox="1"/>
          <p:nvPr/>
        </p:nvSpPr>
        <p:spPr>
          <a:xfrm>
            <a:off x="2445544" y="4264819"/>
            <a:ext cx="309563" cy="1238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정상</a:t>
            </a:r>
          </a:p>
        </p:txBody>
      </p:sp>
      <p:sp>
        <p:nvSpPr>
          <p:cNvPr id="904" name="TextBox 903">
            <a:extLst>
              <a:ext uri="{FF2B5EF4-FFF2-40B4-BE49-F238E27FC236}">
                <a16:creationId xmlns:a16="http://schemas.microsoft.com/office/drawing/2014/main" id="{C7382578-2F3B-94D3-65DA-780628911948}"/>
              </a:ext>
            </a:extLst>
          </p:cNvPr>
          <p:cNvSpPr txBox="1"/>
          <p:nvPr/>
        </p:nvSpPr>
        <p:spPr>
          <a:xfrm>
            <a:off x="2445544" y="4739481"/>
            <a:ext cx="309563" cy="1238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주의</a:t>
            </a:r>
          </a:p>
        </p:txBody>
      </p:sp>
      <p:sp>
        <p:nvSpPr>
          <p:cNvPr id="905" name="TextBox 904">
            <a:extLst>
              <a:ext uri="{FF2B5EF4-FFF2-40B4-BE49-F238E27FC236}">
                <a16:creationId xmlns:a16="http://schemas.microsoft.com/office/drawing/2014/main" id="{7A7E26CC-1F59-3060-D221-E9E182F865B3}"/>
              </a:ext>
            </a:extLst>
          </p:cNvPr>
          <p:cNvSpPr txBox="1"/>
          <p:nvPr/>
        </p:nvSpPr>
        <p:spPr>
          <a:xfrm>
            <a:off x="2445544" y="5214144"/>
            <a:ext cx="309563" cy="1238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경고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26" name="Rounded Rectangle 41">
            <a:extLst>
              <a:ext uri="{FF2B5EF4-FFF2-40B4-BE49-F238E27FC236}">
                <a16:creationId xmlns:a16="http://schemas.microsoft.com/office/drawing/2014/main" id="{373CFC72-25E5-0189-6BD3-F59B5A620BE6}"/>
              </a:ext>
            </a:extLst>
          </p:cNvPr>
          <p:cNvSpPr/>
          <p:nvPr/>
        </p:nvSpPr>
        <p:spPr>
          <a:xfrm>
            <a:off x="3362009" y="1586875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TextBox 41">
            <a:hlinkClick r:id="rId8" action="ppaction://hlinksldjump"/>
            <a:extLst>
              <a:ext uri="{FF2B5EF4-FFF2-40B4-BE49-F238E27FC236}">
                <a16:creationId xmlns:a16="http://schemas.microsoft.com/office/drawing/2014/main" id="{DA689F57-816D-2E6F-91D6-F623E568A85F}"/>
              </a:ext>
            </a:extLst>
          </p:cNvPr>
          <p:cNvSpPr txBox="1"/>
          <p:nvPr/>
        </p:nvSpPr>
        <p:spPr>
          <a:xfrm>
            <a:off x="3477137" y="1647469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8" dirty="0">
                <a:solidFill>
                  <a:srgbClr val="FFFFFF"/>
                </a:solidFill>
                <a:latin typeface="Apple SD Gothic Neo"/>
              </a:rPr>
              <a:t>분석</a:t>
            </a:r>
            <a:endParaRPr sz="668" dirty="0">
              <a:solidFill>
                <a:srgbClr val="FFFFFF"/>
              </a:solidFill>
              <a:latin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2521285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2"/>
            <a:ext cx="7022810" cy="61805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576" y="1114244"/>
            <a:ext cx="754013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정상/주의/경고 판정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1585" y="1399034"/>
            <a:ext cx="550929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판정 결과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6541" y="4665035"/>
            <a:ext cx="48484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위험 등급 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8575" y="2035267"/>
            <a:ext cx="4744487" cy="1500262"/>
          </a:xfrm>
          <a:prstGeom prst="roundRect">
            <a:avLst>
              <a:gd name="adj" fmla="val 24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1" name="Rounded Rectangle 20"/>
          <p:cNvSpPr/>
          <p:nvPr/>
        </p:nvSpPr>
        <p:spPr>
          <a:xfrm>
            <a:off x="2268575" y="3608243"/>
            <a:ext cx="4744487" cy="74530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ounded Rectangle 21"/>
          <p:cNvSpPr/>
          <p:nvPr/>
        </p:nvSpPr>
        <p:spPr>
          <a:xfrm>
            <a:off x="7110013" y="2035268"/>
            <a:ext cx="2181373" cy="2532817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TextBox 22"/>
          <p:cNvSpPr txBox="1"/>
          <p:nvPr/>
        </p:nvSpPr>
        <p:spPr>
          <a:xfrm>
            <a:off x="2371585" y="1580816"/>
            <a:ext cx="4182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최종 판정 등급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1584" y="1720180"/>
            <a:ext cx="207249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2139" y="1605053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판정 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2140" y="1744418"/>
            <a:ext cx="7366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2024-06-12 14:32:07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693" y="1605053"/>
            <a:ext cx="39783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대상 디바이스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692" y="1744418"/>
            <a:ext cx="54032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BAT-NODE-047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3247" y="1605053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판정 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3247" y="1744418"/>
            <a:ext cx="77171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Anomaly Detector v2.1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1584" y="2114040"/>
            <a:ext cx="82634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이상점수 및 판정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1585" y="2711456"/>
            <a:ext cx="4182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주요 기여 특징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1584" y="3687014"/>
            <a:ext cx="82634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이상 이벤트 저장 상태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1584" y="4171763"/>
            <a:ext cx="55831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이상 이벤트 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3021" y="2114040"/>
            <a:ext cx="82634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상태별 판정 기준 안내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13021" y="2295821"/>
            <a:ext cx="1975355" cy="66653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/>
          <p:cNvSpPr/>
          <p:nvPr/>
        </p:nvSpPr>
        <p:spPr>
          <a:xfrm>
            <a:off x="7213021" y="3059302"/>
            <a:ext cx="1975355" cy="66653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/>
          <p:cNvSpPr/>
          <p:nvPr/>
        </p:nvSpPr>
        <p:spPr>
          <a:xfrm>
            <a:off x="7213021" y="3822782"/>
            <a:ext cx="1975355" cy="66653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TextBox 38"/>
          <p:cNvSpPr txBox="1"/>
          <p:nvPr/>
        </p:nvSpPr>
        <p:spPr>
          <a:xfrm>
            <a:off x="7316030" y="2538196"/>
            <a:ext cx="66558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이상점수 0.00 ~ 0.59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6031" y="2701799"/>
            <a:ext cx="1756460" cy="1817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수치가 기준 범위 내에 있으며 추가 조치가 필요하지 않습니다.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6031" y="3301676"/>
            <a:ext cx="66785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이상점수 0.60 ~ 0.84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6030" y="3465280"/>
            <a:ext cx="1716696" cy="1817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잠재적 이상 징후가 감지되었습니다. 모니터링을 강화하고 추이를 관찰하십시오.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6031" y="4065157"/>
            <a:ext cx="57175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이상점수 0.85 이상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6031" y="4228760"/>
            <a:ext cx="1737145" cy="1817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심각한 이상이 감지되었습니다. 즉시 점검 및 조치가 필요합니다.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1585" y="2295821"/>
            <a:ext cx="25165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이상점수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1585" y="2435186"/>
            <a:ext cx="344342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0.73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2820" y="2327917"/>
            <a:ext cx="37009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임계값(주의)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2819" y="2467282"/>
            <a:ext cx="259417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0.60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94149" y="2327917"/>
            <a:ext cx="37009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임계값(경고)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94148" y="2467282"/>
            <a:ext cx="258281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0.85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1584" y="2875059"/>
            <a:ext cx="35542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셀 전압 편차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72430" y="2875059"/>
            <a:ext cx="3684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기여도 38%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1585" y="3038662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온도 상승률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1980" y="3038662"/>
            <a:ext cx="36176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기여도 27%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1585" y="3202265"/>
            <a:ext cx="4182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내부 저항 변화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35296" y="3202265"/>
            <a:ext cx="35409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기여도 21%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1585" y="3365868"/>
            <a:ext cx="4182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방전 패턴 이상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35295" y="3365868"/>
            <a:ext cx="35703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기여도 14%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1585" y="3868795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저장 여부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1585" y="4008161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저장 완료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6724" y="3868795"/>
            <a:ext cx="28147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이벤트 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6724" y="4008161"/>
            <a:ext cx="72153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EVT-20240612-4821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61863" y="3868795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저장 시각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61864" y="4008161"/>
            <a:ext cx="74303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2024-06-12 14:32:09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6030" y="237459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정상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6030" y="3138074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주의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6030" y="3901554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경고</a:t>
            </a:r>
          </a:p>
        </p:txBody>
      </p:sp>
      <p:sp>
        <p:nvSpPr>
          <p:cNvPr id="950" name="실시간대시보드로 버튼">
            <a:hlinkClick r:id="rId5" action="ppaction://hlinksldjump"/>
          </p:cNvPr>
          <p:cNvSpPr/>
          <p:nvPr/>
        </p:nvSpPr>
        <p:spPr>
          <a:xfrm>
            <a:off x="2268576" y="723414"/>
            <a:ext cx="1279525" cy="24765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68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80694" y="1323917"/>
            <a:ext cx="7022810" cy="921024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341891"/>
            <a:ext cx="7022810" cy="921024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Rounded Rectangle 10"/>
          <p:cNvSpPr/>
          <p:nvPr/>
        </p:nvSpPr>
        <p:spPr>
          <a:xfrm>
            <a:off x="2268575" y="3356211"/>
            <a:ext cx="7022810" cy="921024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2" name="Rounded Rectangle 11"/>
          <p:cNvSpPr/>
          <p:nvPr/>
        </p:nvSpPr>
        <p:spPr>
          <a:xfrm>
            <a:off x="2268576" y="4580203"/>
            <a:ext cx="7034928" cy="1030093"/>
          </a:xfrm>
          <a:prstGeom prst="roundRect">
            <a:avLst>
              <a:gd name="adj" fmla="val 3529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8576" y="1114244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활성 경고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8576" y="437418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최근 해결된 경고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4634" y="4586263"/>
            <a:ext cx="7022810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TextBox 22"/>
          <p:cNvSpPr txBox="1"/>
          <p:nvPr/>
        </p:nvSpPr>
        <p:spPr>
          <a:xfrm>
            <a:off x="2371584" y="1399034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긴급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1585" y="1562637"/>
            <a:ext cx="776546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배터리 과열 위험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1585" y="1774716"/>
            <a:ext cx="142508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ID: BAT-001 | 온도: 65°C | 임계값: 60°C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1584" y="2417008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심각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1584" y="2580611"/>
            <a:ext cx="905782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충전 회로 이상 감지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1584" y="2792690"/>
            <a:ext cx="1482842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ID: BAT-003 | 전류: 8.5A | 정상범위: 5~7A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1584" y="3434982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주의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1585" y="3598585"/>
            <a:ext cx="776546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배터리 용량 저하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1585" y="3810664"/>
            <a:ext cx="17488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ID: BAT-002 | 용량: 78% | 유지보수 권장: 80% 이하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466" y="4646857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경고 내용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5169" y="4646857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센서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871" y="4646857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발생시간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574" y="4646857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해결시간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0729" y="5767840"/>
            <a:ext cx="315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모두 해제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4711" y="1938318"/>
            <a:ext cx="52385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8214711" y="2956292"/>
            <a:ext cx="52385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8811275" y="2956292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8214711" y="3974266"/>
            <a:ext cx="52385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8811275" y="3974266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2359466" y="4871053"/>
            <a:ext cx="63434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4115169" y="4871053"/>
            <a:ext cx="84054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5870871" y="4871053"/>
            <a:ext cx="104675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7626574" y="4871053"/>
            <a:ext cx="125296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9" name="Rounded Rectangle 48"/>
          <p:cNvSpPr/>
          <p:nvPr/>
        </p:nvSpPr>
        <p:spPr>
          <a:xfrm>
            <a:off x="2359466" y="5071012"/>
            <a:ext cx="74539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4115169" y="5071012"/>
            <a:ext cx="95160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5870871" y="5071012"/>
            <a:ext cx="115771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7626574" y="5071012"/>
            <a:ext cx="72949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3" name="Rounded Rectangle 52"/>
          <p:cNvSpPr/>
          <p:nvPr/>
        </p:nvSpPr>
        <p:spPr>
          <a:xfrm>
            <a:off x="2359466" y="5270971"/>
            <a:ext cx="8564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4" name="Rounded Rectangle 53"/>
          <p:cNvSpPr/>
          <p:nvPr/>
        </p:nvSpPr>
        <p:spPr>
          <a:xfrm>
            <a:off x="4115169" y="5270971"/>
            <a:ext cx="106256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5" name="Rounded Rectangle 54"/>
          <p:cNvSpPr/>
          <p:nvPr/>
        </p:nvSpPr>
        <p:spPr>
          <a:xfrm>
            <a:off x="5870871" y="5270971"/>
            <a:ext cx="63434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Rounded Rectangle 55"/>
          <p:cNvSpPr/>
          <p:nvPr/>
        </p:nvSpPr>
        <p:spPr>
          <a:xfrm>
            <a:off x="7626574" y="5270971"/>
            <a:ext cx="84054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7" name="Rounded Rectangle 56"/>
          <p:cNvSpPr/>
          <p:nvPr/>
        </p:nvSpPr>
        <p:spPr>
          <a:xfrm>
            <a:off x="2359466" y="5470930"/>
            <a:ext cx="96741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8" name="Rounded Rectangle 57"/>
          <p:cNvSpPr/>
          <p:nvPr/>
        </p:nvSpPr>
        <p:spPr>
          <a:xfrm>
            <a:off x="4115169" y="5470930"/>
            <a:ext cx="117362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9" name="Rounded Rectangle 58"/>
          <p:cNvSpPr/>
          <p:nvPr/>
        </p:nvSpPr>
        <p:spPr>
          <a:xfrm>
            <a:off x="5870871" y="5470930"/>
            <a:ext cx="74539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0" name="Rounded Rectangle 59"/>
          <p:cNvSpPr/>
          <p:nvPr/>
        </p:nvSpPr>
        <p:spPr>
          <a:xfrm>
            <a:off x="7626573" y="5470930"/>
            <a:ext cx="95160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1" name="TextBox 60"/>
          <p:cNvSpPr txBox="1"/>
          <p:nvPr/>
        </p:nvSpPr>
        <p:spPr>
          <a:xfrm>
            <a:off x="8329839" y="1998912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 dirty="0" err="1">
                <a:solidFill>
                  <a:srgbClr val="333333"/>
                </a:solidFill>
                <a:latin typeface="Apple SD Gothic Neo"/>
              </a:rPr>
              <a:t>상세보기</a:t>
            </a:r>
            <a:endParaRPr sz="668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329839" y="3016886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상세보기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26403" y="3016886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확인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9839" y="4034860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상세보기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26403" y="403486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기록</a:t>
            </a:r>
          </a:p>
        </p:txBody>
      </p:sp>
      <p:sp>
        <p:nvSpPr>
          <p:cNvPr id="19" name="Rounded Rectangle 41">
            <a:extLst>
              <a:ext uri="{FF2B5EF4-FFF2-40B4-BE49-F238E27FC236}">
                <a16:creationId xmlns:a16="http://schemas.microsoft.com/office/drawing/2014/main" id="{364F7434-A836-5E29-0D10-6D6BD9DF55E0}"/>
              </a:ext>
            </a:extLst>
          </p:cNvPr>
          <p:cNvSpPr/>
          <p:nvPr/>
        </p:nvSpPr>
        <p:spPr>
          <a:xfrm>
            <a:off x="8811275" y="1938318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F42795-68F6-DF81-14E4-0E5C1D898A4F}"/>
              </a:ext>
            </a:extLst>
          </p:cNvPr>
          <p:cNvSpPr txBox="1"/>
          <p:nvPr/>
        </p:nvSpPr>
        <p:spPr>
          <a:xfrm>
            <a:off x="8926403" y="1998912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 dirty="0" err="1">
                <a:solidFill>
                  <a:srgbClr val="FFFFFF"/>
                </a:solidFill>
                <a:latin typeface="Apple SD Gothic Neo"/>
              </a:rPr>
              <a:t>확인</a:t>
            </a:r>
            <a:endParaRPr sz="668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951" name="실시간대시보드로 버튼">
            <a:hlinkClick r:id="rId5" action="ppaction://hlinksldjump"/>
          </p:cNvPr>
          <p:cNvSpPr/>
          <p:nvPr/>
        </p:nvSpPr>
        <p:spPr>
          <a:xfrm>
            <a:off x="2268576" y="723414"/>
            <a:ext cx="1279525" cy="24765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68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20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7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7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6"/>
            <a:ext cx="121187" cy="1211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8575" y="1764155"/>
            <a:ext cx="7022810" cy="1821821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7" name="Rounded Rectangle 16"/>
          <p:cNvSpPr/>
          <p:nvPr/>
        </p:nvSpPr>
        <p:spPr>
          <a:xfrm>
            <a:off x="2268576" y="4418360"/>
            <a:ext cx="7034929" cy="1581006"/>
          </a:xfrm>
          <a:prstGeom prst="roundRect">
            <a:avLst>
              <a:gd name="adj" fmla="val 1986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TextBox 17"/>
          <p:cNvSpPr txBox="1"/>
          <p:nvPr/>
        </p:nvSpPr>
        <p:spPr>
          <a:xfrm>
            <a:off x="2268576" y="3811086"/>
            <a:ext cx="359397" cy="942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이력 목록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1584" y="1832212"/>
            <a:ext cx="6828910" cy="1685708"/>
          </a:xfrm>
          <a:prstGeom prst="roundRect">
            <a:avLst>
              <a:gd name="adj" fmla="val 1863"/>
            </a:avLst>
          </a:prstGeom>
          <a:solidFill>
            <a:srgbClr val="E8E8E8"/>
          </a:solidFill>
          <a:ln w="9525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Rectangle 19"/>
          <p:cNvSpPr/>
          <p:nvPr/>
        </p:nvSpPr>
        <p:spPr>
          <a:xfrm>
            <a:off x="2274635" y="4423596"/>
            <a:ext cx="7022810" cy="193699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TextBox 21"/>
          <p:cNvSpPr txBox="1"/>
          <p:nvPr/>
        </p:nvSpPr>
        <p:spPr>
          <a:xfrm>
            <a:off x="2268575" y="1114215"/>
            <a:ext cx="967038" cy="10921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추세 차트 / 이력 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6446" y="1554751"/>
            <a:ext cx="304389" cy="146583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3029310" y="1554751"/>
            <a:ext cx="304389" cy="146583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Rounded Rectangle 25"/>
          <p:cNvSpPr/>
          <p:nvPr/>
        </p:nvSpPr>
        <p:spPr>
          <a:xfrm>
            <a:off x="3382175" y="1554751"/>
            <a:ext cx="335064" cy="146583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Rectangle 26"/>
          <p:cNvSpPr/>
          <p:nvPr/>
        </p:nvSpPr>
        <p:spPr>
          <a:xfrm>
            <a:off x="5236436" y="2633185"/>
            <a:ext cx="1099208" cy="8376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Rounded Rectangle 27"/>
          <p:cNvSpPr/>
          <p:nvPr/>
        </p:nvSpPr>
        <p:spPr>
          <a:xfrm>
            <a:off x="3073431" y="4182780"/>
            <a:ext cx="717562" cy="193699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9" name="TextBox 28"/>
          <p:cNvSpPr txBox="1"/>
          <p:nvPr/>
        </p:nvSpPr>
        <p:spPr>
          <a:xfrm>
            <a:off x="2268576" y="1580927"/>
            <a:ext cx="359397" cy="942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추세 차트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5218" y="1580927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전압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082" y="1580927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온도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0946" y="1580927"/>
            <a:ext cx="177521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SOC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2793" y="2633185"/>
            <a:ext cx="1026495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전압·온도·SOC 시계열 추세 차트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4801" y="3648797"/>
            <a:ext cx="496585" cy="78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단위: V / °C /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68576" y="4297951"/>
            <a:ext cx="282329" cy="78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총 248건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8558" y="4235131"/>
            <a:ext cx="487306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CSV 내보내기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9466" y="4475946"/>
            <a:ext cx="136335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시각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2671" y="4475946"/>
            <a:ext cx="372935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디바이스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5970" y="4475946"/>
            <a:ext cx="136335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지표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69174" y="4475946"/>
            <a:ext cx="204504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측정값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474" y="4475946"/>
            <a:ext cx="204504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임계값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5677" y="4475946"/>
            <a:ext cx="136335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8977" y="4475946"/>
            <a:ext cx="136335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비고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1817" y="1277290"/>
            <a:ext cx="377102" cy="193699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2647854" y="4062373"/>
            <a:ext cx="377102" cy="3141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2359466" y="4669646"/>
            <a:ext cx="333360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3362670" y="4669646"/>
            <a:ext cx="44176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4365970" y="4669646"/>
            <a:ext cx="550077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9" name="Rounded Rectangle 48"/>
          <p:cNvSpPr/>
          <p:nvPr/>
        </p:nvSpPr>
        <p:spPr>
          <a:xfrm>
            <a:off x="5369174" y="4669646"/>
            <a:ext cx="658483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6372473" y="4669646"/>
            <a:ext cx="43343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7375677" y="4669646"/>
            <a:ext cx="541840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8378977" y="4669646"/>
            <a:ext cx="65015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3" name="Rounded Rectangle 52"/>
          <p:cNvSpPr/>
          <p:nvPr/>
        </p:nvSpPr>
        <p:spPr>
          <a:xfrm>
            <a:off x="2359466" y="4842404"/>
            <a:ext cx="39168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4" name="Rounded Rectangle 53"/>
          <p:cNvSpPr/>
          <p:nvPr/>
        </p:nvSpPr>
        <p:spPr>
          <a:xfrm>
            <a:off x="3362671" y="4842404"/>
            <a:ext cx="50018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5" name="Rounded Rectangle 54"/>
          <p:cNvSpPr/>
          <p:nvPr/>
        </p:nvSpPr>
        <p:spPr>
          <a:xfrm>
            <a:off x="4365970" y="4842404"/>
            <a:ext cx="608399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Rounded Rectangle 55"/>
          <p:cNvSpPr/>
          <p:nvPr/>
        </p:nvSpPr>
        <p:spPr>
          <a:xfrm>
            <a:off x="5369174" y="4842404"/>
            <a:ext cx="38344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7" name="Rounded Rectangle 56"/>
          <p:cNvSpPr/>
          <p:nvPr/>
        </p:nvSpPr>
        <p:spPr>
          <a:xfrm>
            <a:off x="6372473" y="4842404"/>
            <a:ext cx="49175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8" name="Rounded Rectangle 57"/>
          <p:cNvSpPr/>
          <p:nvPr/>
        </p:nvSpPr>
        <p:spPr>
          <a:xfrm>
            <a:off x="7375677" y="4842404"/>
            <a:ext cx="60016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9" name="Rounded Rectangle 58"/>
          <p:cNvSpPr/>
          <p:nvPr/>
        </p:nvSpPr>
        <p:spPr>
          <a:xfrm>
            <a:off x="8378977" y="4842404"/>
            <a:ext cx="375113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0" name="Rounded Rectangle 59"/>
          <p:cNvSpPr/>
          <p:nvPr/>
        </p:nvSpPr>
        <p:spPr>
          <a:xfrm>
            <a:off x="2359466" y="5015164"/>
            <a:ext cx="450098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1" name="Rounded Rectangle 60"/>
          <p:cNvSpPr/>
          <p:nvPr/>
        </p:nvSpPr>
        <p:spPr>
          <a:xfrm>
            <a:off x="3362670" y="5015164"/>
            <a:ext cx="558504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2" name="Rounded Rectangle 61"/>
          <p:cNvSpPr/>
          <p:nvPr/>
        </p:nvSpPr>
        <p:spPr>
          <a:xfrm>
            <a:off x="4365970" y="5015164"/>
            <a:ext cx="333360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3" name="Rounded Rectangle 62"/>
          <p:cNvSpPr/>
          <p:nvPr/>
        </p:nvSpPr>
        <p:spPr>
          <a:xfrm>
            <a:off x="5369174" y="5015164"/>
            <a:ext cx="44176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4" name="Rounded Rectangle 63"/>
          <p:cNvSpPr/>
          <p:nvPr/>
        </p:nvSpPr>
        <p:spPr>
          <a:xfrm>
            <a:off x="6372473" y="5015164"/>
            <a:ext cx="550077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5" name="Rounded Rectangle 64"/>
          <p:cNvSpPr/>
          <p:nvPr/>
        </p:nvSpPr>
        <p:spPr>
          <a:xfrm>
            <a:off x="7375677" y="5015164"/>
            <a:ext cx="658483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6" name="Rounded Rectangle 65"/>
          <p:cNvSpPr/>
          <p:nvPr/>
        </p:nvSpPr>
        <p:spPr>
          <a:xfrm>
            <a:off x="8378977" y="5015164"/>
            <a:ext cx="43343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7" name="Rounded Rectangle 66"/>
          <p:cNvSpPr/>
          <p:nvPr/>
        </p:nvSpPr>
        <p:spPr>
          <a:xfrm>
            <a:off x="2359467" y="5187922"/>
            <a:ext cx="508419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8" name="Rounded Rectangle 67"/>
          <p:cNvSpPr/>
          <p:nvPr/>
        </p:nvSpPr>
        <p:spPr>
          <a:xfrm>
            <a:off x="3362671" y="5187922"/>
            <a:ext cx="61682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9" name="Rounded Rectangle 68"/>
          <p:cNvSpPr/>
          <p:nvPr/>
        </p:nvSpPr>
        <p:spPr>
          <a:xfrm>
            <a:off x="4365970" y="5187922"/>
            <a:ext cx="39168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0" name="Rounded Rectangle 69"/>
          <p:cNvSpPr/>
          <p:nvPr/>
        </p:nvSpPr>
        <p:spPr>
          <a:xfrm>
            <a:off x="5369174" y="5187922"/>
            <a:ext cx="50018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1" name="Rounded Rectangle 70"/>
          <p:cNvSpPr/>
          <p:nvPr/>
        </p:nvSpPr>
        <p:spPr>
          <a:xfrm>
            <a:off x="6372474" y="5187922"/>
            <a:ext cx="608399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2" name="Rounded Rectangle 71"/>
          <p:cNvSpPr/>
          <p:nvPr/>
        </p:nvSpPr>
        <p:spPr>
          <a:xfrm>
            <a:off x="7375677" y="5187922"/>
            <a:ext cx="38344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3" name="Rounded Rectangle 72"/>
          <p:cNvSpPr/>
          <p:nvPr/>
        </p:nvSpPr>
        <p:spPr>
          <a:xfrm>
            <a:off x="8378977" y="5187922"/>
            <a:ext cx="49175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4" name="Rounded Rectangle 73"/>
          <p:cNvSpPr/>
          <p:nvPr/>
        </p:nvSpPr>
        <p:spPr>
          <a:xfrm>
            <a:off x="2359466" y="5360681"/>
            <a:ext cx="566741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5" name="Rounded Rectangle 74"/>
          <p:cNvSpPr/>
          <p:nvPr/>
        </p:nvSpPr>
        <p:spPr>
          <a:xfrm>
            <a:off x="3362670" y="5360681"/>
            <a:ext cx="34178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6" name="Rounded Rectangle 75"/>
          <p:cNvSpPr/>
          <p:nvPr/>
        </p:nvSpPr>
        <p:spPr>
          <a:xfrm>
            <a:off x="4365970" y="5360681"/>
            <a:ext cx="450098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7" name="Rounded Rectangle 76"/>
          <p:cNvSpPr/>
          <p:nvPr/>
        </p:nvSpPr>
        <p:spPr>
          <a:xfrm>
            <a:off x="5369174" y="5360681"/>
            <a:ext cx="558504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8" name="Rounded Rectangle 77"/>
          <p:cNvSpPr/>
          <p:nvPr/>
        </p:nvSpPr>
        <p:spPr>
          <a:xfrm>
            <a:off x="6372474" y="5360681"/>
            <a:ext cx="333360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9" name="Rounded Rectangle 78"/>
          <p:cNvSpPr/>
          <p:nvPr/>
        </p:nvSpPr>
        <p:spPr>
          <a:xfrm>
            <a:off x="7375677" y="5360681"/>
            <a:ext cx="44176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0" name="Rounded Rectangle 79"/>
          <p:cNvSpPr/>
          <p:nvPr/>
        </p:nvSpPr>
        <p:spPr>
          <a:xfrm>
            <a:off x="8378977" y="5360681"/>
            <a:ext cx="550171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1" name="Rounded Rectangle 80"/>
          <p:cNvSpPr/>
          <p:nvPr/>
        </p:nvSpPr>
        <p:spPr>
          <a:xfrm>
            <a:off x="2359466" y="5533440"/>
            <a:ext cx="62515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2" name="Rounded Rectangle 81"/>
          <p:cNvSpPr/>
          <p:nvPr/>
        </p:nvSpPr>
        <p:spPr>
          <a:xfrm>
            <a:off x="3362670" y="5533440"/>
            <a:ext cx="400108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3" name="Rounded Rectangle 82"/>
          <p:cNvSpPr/>
          <p:nvPr/>
        </p:nvSpPr>
        <p:spPr>
          <a:xfrm>
            <a:off x="4365970" y="5533440"/>
            <a:ext cx="508419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4" name="Rounded Rectangle 83"/>
          <p:cNvSpPr/>
          <p:nvPr/>
        </p:nvSpPr>
        <p:spPr>
          <a:xfrm>
            <a:off x="5369174" y="5533440"/>
            <a:ext cx="61682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5" name="Rounded Rectangle 84"/>
          <p:cNvSpPr/>
          <p:nvPr/>
        </p:nvSpPr>
        <p:spPr>
          <a:xfrm>
            <a:off x="6372473" y="5533440"/>
            <a:ext cx="39168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6" name="Rounded Rectangle 85"/>
          <p:cNvSpPr/>
          <p:nvPr/>
        </p:nvSpPr>
        <p:spPr>
          <a:xfrm>
            <a:off x="7375677" y="5533440"/>
            <a:ext cx="500182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7" name="Rounded Rectangle 86"/>
          <p:cNvSpPr/>
          <p:nvPr/>
        </p:nvSpPr>
        <p:spPr>
          <a:xfrm>
            <a:off x="8378977" y="5533440"/>
            <a:ext cx="608493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8" name="Rounded Rectangle 87"/>
          <p:cNvSpPr/>
          <p:nvPr/>
        </p:nvSpPr>
        <p:spPr>
          <a:xfrm>
            <a:off x="2359466" y="5706199"/>
            <a:ext cx="350023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89" name="Rounded Rectangle 88"/>
          <p:cNvSpPr/>
          <p:nvPr/>
        </p:nvSpPr>
        <p:spPr>
          <a:xfrm>
            <a:off x="3362670" y="5706199"/>
            <a:ext cx="458430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0" name="Rounded Rectangle 89"/>
          <p:cNvSpPr/>
          <p:nvPr/>
        </p:nvSpPr>
        <p:spPr>
          <a:xfrm>
            <a:off x="4365970" y="5706199"/>
            <a:ext cx="566741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1" name="Rounded Rectangle 90"/>
          <p:cNvSpPr/>
          <p:nvPr/>
        </p:nvSpPr>
        <p:spPr>
          <a:xfrm>
            <a:off x="5369174" y="5706199"/>
            <a:ext cx="34178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2" name="Rounded Rectangle 91"/>
          <p:cNvSpPr/>
          <p:nvPr/>
        </p:nvSpPr>
        <p:spPr>
          <a:xfrm>
            <a:off x="6372474" y="5706199"/>
            <a:ext cx="450098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3" name="Rounded Rectangle 92"/>
          <p:cNvSpPr/>
          <p:nvPr/>
        </p:nvSpPr>
        <p:spPr>
          <a:xfrm>
            <a:off x="7375677" y="5706199"/>
            <a:ext cx="558504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4" name="Rounded Rectangle 93"/>
          <p:cNvSpPr/>
          <p:nvPr/>
        </p:nvSpPr>
        <p:spPr>
          <a:xfrm>
            <a:off x="8378977" y="5706199"/>
            <a:ext cx="33345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5" name="Rounded Rectangle 94"/>
          <p:cNvSpPr/>
          <p:nvPr/>
        </p:nvSpPr>
        <p:spPr>
          <a:xfrm>
            <a:off x="2359466" y="5878958"/>
            <a:ext cx="40834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6" name="Rounded Rectangle 95"/>
          <p:cNvSpPr/>
          <p:nvPr/>
        </p:nvSpPr>
        <p:spPr>
          <a:xfrm>
            <a:off x="3362670" y="5878958"/>
            <a:ext cx="51684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" name="Rounded Rectangle 96"/>
          <p:cNvSpPr/>
          <p:nvPr/>
        </p:nvSpPr>
        <p:spPr>
          <a:xfrm>
            <a:off x="4365970" y="5878958"/>
            <a:ext cx="625156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" name="Rounded Rectangle 97"/>
          <p:cNvSpPr/>
          <p:nvPr/>
        </p:nvSpPr>
        <p:spPr>
          <a:xfrm>
            <a:off x="5369174" y="5878958"/>
            <a:ext cx="400108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" name="Rounded Rectangle 98"/>
          <p:cNvSpPr/>
          <p:nvPr/>
        </p:nvSpPr>
        <p:spPr>
          <a:xfrm>
            <a:off x="6372474" y="5878958"/>
            <a:ext cx="508419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0" name="Rounded Rectangle 99"/>
          <p:cNvSpPr/>
          <p:nvPr/>
        </p:nvSpPr>
        <p:spPr>
          <a:xfrm>
            <a:off x="7375677" y="5878958"/>
            <a:ext cx="616825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1" name="Rounded Rectangle 100"/>
          <p:cNvSpPr/>
          <p:nvPr/>
        </p:nvSpPr>
        <p:spPr>
          <a:xfrm>
            <a:off x="8378977" y="5878958"/>
            <a:ext cx="391777" cy="6282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2" name="TextBox 101"/>
          <p:cNvSpPr txBox="1"/>
          <p:nvPr/>
        </p:nvSpPr>
        <p:spPr>
          <a:xfrm>
            <a:off x="5246945" y="1329641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조회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47854" y="3947200"/>
            <a:ext cx="361858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심각도 필터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429513" y="1276921"/>
            <a:ext cx="377102" cy="1939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5" name="Rounded Rectangle 104"/>
          <p:cNvSpPr/>
          <p:nvPr/>
        </p:nvSpPr>
        <p:spPr>
          <a:xfrm>
            <a:off x="3855088" y="1276921"/>
            <a:ext cx="377102" cy="1939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6" name="Rounded Rectangle 105"/>
          <p:cNvSpPr/>
          <p:nvPr/>
        </p:nvSpPr>
        <p:spPr>
          <a:xfrm>
            <a:off x="4280665" y="1276921"/>
            <a:ext cx="377102" cy="1939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7" name="Rounded Rectangle 106"/>
          <p:cNvSpPr/>
          <p:nvPr/>
        </p:nvSpPr>
        <p:spPr>
          <a:xfrm>
            <a:off x="4706241" y="1276921"/>
            <a:ext cx="377102" cy="1939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3471" y="4188015"/>
            <a:ext cx="72713" cy="6282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429513" y="1172908"/>
            <a:ext cx="361858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조회 시작일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55088" y="1172908"/>
            <a:ext cx="361858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조회 종료일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80665" y="1172908"/>
            <a:ext cx="272577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디바이스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06241" y="1172908"/>
            <a:ext cx="293690" cy="837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지표 항목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26626" y="4174928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dirty="0" err="1">
                <a:solidFill>
                  <a:srgbClr val="333333"/>
                </a:solidFill>
                <a:latin typeface="Apple SD Gothic Neo"/>
              </a:rPr>
              <a:t>전체</a:t>
            </a:r>
            <a:endParaRPr sz="668" dirty="0">
              <a:solidFill>
                <a:srgbClr val="333333"/>
              </a:solidFill>
              <a:latin typeface="Apple SD Gothic Neo"/>
            </a:endParaRP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5130" y="1342301"/>
            <a:ext cx="72713" cy="62822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0705" y="1342301"/>
            <a:ext cx="72713" cy="62822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6282" y="1342301"/>
            <a:ext cx="72713" cy="62822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1858" y="1342301"/>
            <a:ext cx="72713" cy="6282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3508284" y="1329671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오늘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33861" y="1329671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오늘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59437" y="1329671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전체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85012" y="1329671"/>
            <a:ext cx="146845" cy="8899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전압</a:t>
            </a:r>
          </a:p>
        </p:txBody>
      </p:sp>
      <p:sp>
        <p:nvSpPr>
          <p:cNvPr id="900" name="실시간대시보드로 버튼">
            <a:hlinkClick r:id="rId5" action="ppaction://hlinksldjump"/>
          </p:cNvPr>
          <p:cNvSpPr/>
          <p:nvPr/>
        </p:nvSpPr>
        <p:spPr>
          <a:xfrm>
            <a:off x="2268576" y="723414"/>
            <a:ext cx="1279525" cy="24765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970" name="메뉴-설정">
            <a:hlinkClick r:id="rId11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15" name="Rounded Rectangle 41">
            <a:extLst>
              <a:ext uri="{FF2B5EF4-FFF2-40B4-BE49-F238E27FC236}">
                <a16:creationId xmlns:a16="http://schemas.microsoft.com/office/drawing/2014/main" id="{11B06A3C-2CB4-C320-A8DE-89EE91435FB3}"/>
              </a:ext>
            </a:extLst>
          </p:cNvPr>
          <p:cNvSpPr/>
          <p:nvPr/>
        </p:nvSpPr>
        <p:spPr>
          <a:xfrm>
            <a:off x="3922162" y="4173223"/>
            <a:ext cx="580142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1" name="TextBox 20">
            <a:hlinkClick r:id="rId12" action="ppaction://hlinksldjump"/>
            <a:extLst>
              <a:ext uri="{FF2B5EF4-FFF2-40B4-BE49-F238E27FC236}">
                <a16:creationId xmlns:a16="http://schemas.microsoft.com/office/drawing/2014/main" id="{035C6B45-5C59-DE50-5C44-092C168971DA}"/>
              </a:ext>
            </a:extLst>
          </p:cNvPr>
          <p:cNvSpPr txBox="1"/>
          <p:nvPr/>
        </p:nvSpPr>
        <p:spPr>
          <a:xfrm>
            <a:off x="4123569" y="4242905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8" dirty="0">
                <a:solidFill>
                  <a:srgbClr val="FFFFFF"/>
                </a:solidFill>
                <a:latin typeface="Apple SD Gothic Neo"/>
              </a:rPr>
              <a:t>자세히 보기</a:t>
            </a:r>
            <a:endParaRPr sz="668" dirty="0">
              <a:solidFill>
                <a:srgbClr val="FFFFFF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3"/>
            <a:ext cx="7022810" cy="1333061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750273"/>
            <a:ext cx="7022810" cy="147242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Rounded Rectangle 10"/>
          <p:cNvSpPr/>
          <p:nvPr/>
        </p:nvSpPr>
        <p:spPr>
          <a:xfrm>
            <a:off x="2268575" y="4319651"/>
            <a:ext cx="7022810" cy="74530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7" name="TextBox 16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8576" y="1114244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이상 이벤트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1585" y="1399034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이벤트 기본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5" y="2829045"/>
            <a:ext cx="550929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이상 분석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1585" y="4398422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권장 조치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9847" y="5161903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4" name="Rounded Rectangle 23"/>
          <p:cNvSpPr/>
          <p:nvPr/>
        </p:nvSpPr>
        <p:spPr>
          <a:xfrm>
            <a:off x="8649659" y="5161903"/>
            <a:ext cx="641726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TextBox 24"/>
          <p:cNvSpPr txBox="1"/>
          <p:nvPr/>
        </p:nvSpPr>
        <p:spPr>
          <a:xfrm>
            <a:off x="2371585" y="3010826"/>
            <a:ext cx="41828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주요 지표 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1585" y="3701595"/>
            <a:ext cx="36100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AI 판정 사유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4975" y="5222496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4788" y="5222496"/>
            <a:ext cx="411469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저장 및 알림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1584" y="3186548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0" name="Rounded Rectangle 29"/>
          <p:cNvSpPr/>
          <p:nvPr/>
        </p:nvSpPr>
        <p:spPr>
          <a:xfrm>
            <a:off x="2371584" y="3362270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1" name="Rounded Rectangle 30"/>
          <p:cNvSpPr/>
          <p:nvPr/>
        </p:nvSpPr>
        <p:spPr>
          <a:xfrm>
            <a:off x="2371584" y="3537991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Rounded Rectangle 31"/>
          <p:cNvSpPr/>
          <p:nvPr/>
        </p:nvSpPr>
        <p:spPr>
          <a:xfrm>
            <a:off x="2371584" y="3877317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Rounded Rectangle 32"/>
          <p:cNvSpPr/>
          <p:nvPr/>
        </p:nvSpPr>
        <p:spPr>
          <a:xfrm>
            <a:off x="2371584" y="4053038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/>
          <p:cNvSpPr/>
          <p:nvPr/>
        </p:nvSpPr>
        <p:spPr>
          <a:xfrm>
            <a:off x="2371584" y="4592321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/>
          <p:cNvSpPr/>
          <p:nvPr/>
        </p:nvSpPr>
        <p:spPr>
          <a:xfrm>
            <a:off x="2371584" y="4743806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6" name="Rounded Rectangle 35"/>
          <p:cNvSpPr/>
          <p:nvPr/>
        </p:nvSpPr>
        <p:spPr>
          <a:xfrm>
            <a:off x="2371584" y="4895290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TextBox 36"/>
          <p:cNvSpPr txBox="1"/>
          <p:nvPr/>
        </p:nvSpPr>
        <p:spPr>
          <a:xfrm>
            <a:off x="2371585" y="1580816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탐지 시간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9683" y="1580816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심각도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1585" y="1944378"/>
            <a:ext cx="21861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6272" y="1944378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위치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1585" y="2307940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이상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9683" y="2307940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신뢰도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71585" y="1756536"/>
            <a:ext cx="19039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8999683" y="1756536"/>
            <a:ext cx="1320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2371585" y="2120099"/>
            <a:ext cx="15299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8916272" y="2120099"/>
            <a:ext cx="19039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2371585" y="2483661"/>
            <a:ext cx="19039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8999683" y="2483661"/>
            <a:ext cx="1320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2" y="590675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2147934"/>
            <a:ext cx="7022810" cy="7271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3178027"/>
            <a:ext cx="7022810" cy="430216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333333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8576" y="1114244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알림 센터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8576" y="1941916"/>
            <a:ext cx="550929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알림 발송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8576" y="2972009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알림 이력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1585" y="2572090"/>
            <a:ext cx="681679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TextBox 21"/>
          <p:cNvSpPr txBox="1"/>
          <p:nvPr/>
        </p:nvSpPr>
        <p:spPr>
          <a:xfrm>
            <a:off x="2371585" y="2226706"/>
            <a:ext cx="57961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SNS 알림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1585" y="2408488"/>
            <a:ext cx="240661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카카오톡, 문자 등 외부 채널을 통해 이상 이벤트 알림을 담당자에게 즉시 발송합니다.</a:t>
            </a:r>
          </a:p>
        </p:txBody>
      </p:sp>
      <p:sp>
        <p:nvSpPr>
          <p:cNvPr id="24" name="TextBox 23">
            <a:hlinkClick r:id="rId7" action="ppaction://hlinksldjump"/>
          </p:cNvPr>
          <p:cNvSpPr txBox="1"/>
          <p:nvPr/>
        </p:nvSpPr>
        <p:spPr>
          <a:xfrm>
            <a:off x="5367375" y="2632684"/>
            <a:ext cx="825211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SNS 알림 발송으로 이동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68575" y="1320262"/>
            <a:ext cx="1646634" cy="524704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Rounded Rectangle 25"/>
          <p:cNvSpPr/>
          <p:nvPr/>
        </p:nvSpPr>
        <p:spPr>
          <a:xfrm>
            <a:off x="4060634" y="1320262"/>
            <a:ext cx="1646634" cy="524704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Rounded Rectangle 26"/>
          <p:cNvSpPr/>
          <p:nvPr/>
        </p:nvSpPr>
        <p:spPr>
          <a:xfrm>
            <a:off x="5852692" y="1320262"/>
            <a:ext cx="1646634" cy="524704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Rounded Rectangle 27"/>
          <p:cNvSpPr/>
          <p:nvPr/>
        </p:nvSpPr>
        <p:spPr>
          <a:xfrm>
            <a:off x="7644751" y="1320262"/>
            <a:ext cx="1646634" cy="524704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9" name="TextBox 28"/>
          <p:cNvSpPr txBox="1"/>
          <p:nvPr/>
        </p:nvSpPr>
        <p:spPr>
          <a:xfrm>
            <a:off x="2371585" y="1399034"/>
            <a:ext cx="48124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오늘 발송된 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1584" y="1562636"/>
            <a:ext cx="208007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3643" y="1399034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미확인 알림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3643" y="1562636"/>
            <a:ext cx="96098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5703" y="1399034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실패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55703" y="1562636"/>
            <a:ext cx="101305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7761" y="1399034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마지막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7761" y="1562636"/>
            <a:ext cx="425008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36" b="1">
                <a:solidFill>
                  <a:srgbClr val="333333"/>
                </a:solidFill>
                <a:latin typeface="Apple SD Gothic Neo"/>
              </a:rPr>
              <a:t>3분 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1585" y="3256799"/>
            <a:ext cx="550929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알림 이력 조회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1584" y="3438580"/>
            <a:ext cx="2052422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과거에 발송된 모든 알림 기록을 날짜·채널·상태별로 확인할 수 있습니다.</a:t>
            </a:r>
          </a:p>
        </p:txBody>
      </p:sp>
      <p:sp>
        <p:nvSpPr>
          <p:cNvPr id="17" name="Rounded 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C161862D-59F6-F3C0-D6BE-D46C578086F8}"/>
              </a:ext>
            </a:extLst>
          </p:cNvPr>
          <p:cNvSpPr/>
          <p:nvPr/>
        </p:nvSpPr>
        <p:spPr>
          <a:xfrm>
            <a:off x="8451003" y="3341061"/>
            <a:ext cx="735693" cy="175723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/>
              <a:t>이력 조회</a:t>
            </a:r>
            <a:endParaRPr sz="650" dirty="0"/>
          </a:p>
        </p:txBody>
      </p:sp>
      <p:sp>
        <p:nvSpPr>
          <p:cNvPr id="970" name="메뉴-설정">
            <a:hlinkClick r:id="rId9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9950529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576" y="1114244"/>
            <a:ext cx="550929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알림 이력 조회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7678" y="1580815"/>
            <a:ext cx="1417892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Rounded Rectangle 17"/>
          <p:cNvSpPr/>
          <p:nvPr/>
        </p:nvSpPr>
        <p:spPr>
          <a:xfrm>
            <a:off x="2268575" y="1453568"/>
            <a:ext cx="377101" cy="3635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742626" y="1453568"/>
            <a:ext cx="377101" cy="3635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Rounded Rectangle 19"/>
          <p:cNvSpPr/>
          <p:nvPr/>
        </p:nvSpPr>
        <p:spPr>
          <a:xfrm>
            <a:off x="3216678" y="1453568"/>
            <a:ext cx="377101" cy="3635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1" name="Rectangle 20"/>
          <p:cNvSpPr/>
          <p:nvPr/>
        </p:nvSpPr>
        <p:spPr>
          <a:xfrm>
            <a:off x="4036113" y="1635350"/>
            <a:ext cx="1090686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ounded Rectangle 21"/>
          <p:cNvSpPr/>
          <p:nvPr/>
        </p:nvSpPr>
        <p:spPr>
          <a:xfrm>
            <a:off x="2268576" y="1914080"/>
            <a:ext cx="3150873" cy="424156"/>
          </a:xfrm>
          <a:prstGeom prst="roundRect">
            <a:avLst>
              <a:gd name="adj" fmla="val 8571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Rounded Rectangle 22"/>
          <p:cNvSpPr/>
          <p:nvPr/>
        </p:nvSpPr>
        <p:spPr>
          <a:xfrm>
            <a:off x="2268576" y="2386712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4" name="Rounded Rectangle 23"/>
          <p:cNvSpPr/>
          <p:nvPr/>
        </p:nvSpPr>
        <p:spPr>
          <a:xfrm>
            <a:off x="2268576" y="2683620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2268576" y="2980530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Rounded Rectangle 25"/>
          <p:cNvSpPr/>
          <p:nvPr/>
        </p:nvSpPr>
        <p:spPr>
          <a:xfrm>
            <a:off x="2268576" y="3277439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Rounded Rectangle 26"/>
          <p:cNvSpPr/>
          <p:nvPr/>
        </p:nvSpPr>
        <p:spPr>
          <a:xfrm>
            <a:off x="2268576" y="3574348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Rounded Rectangle 27"/>
          <p:cNvSpPr/>
          <p:nvPr/>
        </p:nvSpPr>
        <p:spPr>
          <a:xfrm>
            <a:off x="2268576" y="3871257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9" name="Rounded Rectangle 28"/>
          <p:cNvSpPr/>
          <p:nvPr/>
        </p:nvSpPr>
        <p:spPr>
          <a:xfrm>
            <a:off x="2268576" y="4168166"/>
            <a:ext cx="3150873" cy="248434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0" name="Rounded Rectangle 29"/>
          <p:cNvSpPr/>
          <p:nvPr/>
        </p:nvSpPr>
        <p:spPr>
          <a:xfrm>
            <a:off x="5564873" y="1914080"/>
            <a:ext cx="3726513" cy="2938795"/>
          </a:xfrm>
          <a:prstGeom prst="roundRect">
            <a:avLst>
              <a:gd name="adj" fmla="val 123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6450" y="1638379"/>
            <a:ext cx="121188" cy="1211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268576" y="1320262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알림 유형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2626" y="1320262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6678" y="1320262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확인 상태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6113" y="1635350"/>
            <a:ext cx="1090686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4192" y="1598993"/>
            <a:ext cx="72712" cy="7271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8243" y="1598993"/>
            <a:ext cx="72712" cy="72712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2295" y="1598993"/>
            <a:ext cx="72712" cy="727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347347" y="158384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전체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1398" y="158384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오늘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5449" y="158384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전체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7882" y="1992852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알림 상세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7883" y="2338236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대상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7883" y="2677562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채널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7883" y="3016886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알림 내용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7883" y="3531932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7883" y="4180285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확인 처리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7882" y="4519610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비고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71584" y="2168574"/>
            <a:ext cx="206132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5667882" y="2513958"/>
            <a:ext cx="246427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5667882" y="2853283"/>
            <a:ext cx="246427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5667882" y="3192607"/>
            <a:ext cx="246427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3" name="Rounded Rectangle 52"/>
          <p:cNvSpPr/>
          <p:nvPr/>
        </p:nvSpPr>
        <p:spPr>
          <a:xfrm>
            <a:off x="5667882" y="3368329"/>
            <a:ext cx="246427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4" name="Rounded Rectangle 53"/>
          <p:cNvSpPr/>
          <p:nvPr/>
        </p:nvSpPr>
        <p:spPr>
          <a:xfrm>
            <a:off x="5667882" y="4356007"/>
            <a:ext cx="246427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5" name="Rounded Rectangle 54"/>
          <p:cNvSpPr/>
          <p:nvPr/>
        </p:nvSpPr>
        <p:spPr>
          <a:xfrm>
            <a:off x="5667883" y="4695331"/>
            <a:ext cx="1056129" cy="60594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Rounded Rectangle 55"/>
          <p:cNvSpPr/>
          <p:nvPr/>
        </p:nvSpPr>
        <p:spPr>
          <a:xfrm>
            <a:off x="5667882" y="3695536"/>
            <a:ext cx="1124960" cy="412037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7" name="Rounded Rectangle 56"/>
          <p:cNvSpPr/>
          <p:nvPr/>
        </p:nvSpPr>
        <p:spPr>
          <a:xfrm>
            <a:off x="6865555" y="3695536"/>
            <a:ext cx="1125055" cy="412037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8" name="Rounded Rectangle 57"/>
          <p:cNvSpPr/>
          <p:nvPr/>
        </p:nvSpPr>
        <p:spPr>
          <a:xfrm>
            <a:off x="8063322" y="3695536"/>
            <a:ext cx="1125055" cy="412037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9" name="TextBox 58"/>
          <p:cNvSpPr txBox="1"/>
          <p:nvPr/>
        </p:nvSpPr>
        <p:spPr>
          <a:xfrm>
            <a:off x="2371584" y="1992852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유형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1312" y="1992852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시각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60365" y="1992852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1585" y="2465484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임계값 초과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0455" y="2465484"/>
            <a:ext cx="63585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2025-07-10 08:32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33259" y="2465484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미확인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1585" y="2762392"/>
            <a:ext cx="36100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AI 예측 경보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491" y="2762392"/>
            <a:ext cx="61824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2025-07-10 07:15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1685" y="2762392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1585" y="3059302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센서 이상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37588" y="3059302"/>
            <a:ext cx="65015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2025-07-09 23:44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84689" y="3059302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71585" y="3356211"/>
            <a:ext cx="29293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SNS 발송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58417" y="3356211"/>
            <a:ext cx="62421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2025-07-09 21:10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79577" y="3356211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1585" y="3653120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시스템 알림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00455" y="3653120"/>
            <a:ext cx="63831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2025-07-09 18:55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35721" y="3653120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71585" y="3950029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임계값 초과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00454" y="3950029"/>
            <a:ext cx="63386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2025-07-09 15:22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31271" y="3950029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미확인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71585" y="4246938"/>
            <a:ext cx="36100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AI 예측 경보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490" y="4246938"/>
            <a:ext cx="63689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2025-07-09 12:08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60337" y="4246938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7882" y="2174634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임계값 초과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51327" y="2174634"/>
            <a:ext cx="63585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2025-07-10 08:32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70891" y="3774307"/>
            <a:ext cx="1886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70891" y="3937910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완료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68563" y="3774307"/>
            <a:ext cx="15621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SMS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68563" y="3937910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완료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66331" y="3774307"/>
            <a:ext cx="25165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카카오톡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66331" y="3937910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발송 실패</a:t>
            </a:r>
          </a:p>
        </p:txBody>
      </p:sp>
      <p:sp>
        <p:nvSpPr>
          <p:cNvPr id="970" name="메뉴-설정">
            <a:hlinkClick r:id="rId10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6" y="3537992"/>
            <a:ext cx="7034928" cy="1030093"/>
          </a:xfrm>
          <a:prstGeom prst="roundRect">
            <a:avLst>
              <a:gd name="adj" fmla="val 3529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576" y="1114244"/>
            <a:ext cx="57961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SNS 알림 발송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8576" y="3331973"/>
            <a:ext cx="550929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발송 실패 목록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68575" y="1320262"/>
            <a:ext cx="7022810" cy="40597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Rounded Rectangle 19"/>
          <p:cNvSpPr/>
          <p:nvPr/>
        </p:nvSpPr>
        <p:spPr>
          <a:xfrm>
            <a:off x="2268575" y="1823190"/>
            <a:ext cx="7022810" cy="40597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1" name="Rounded Rectangle 20"/>
          <p:cNvSpPr/>
          <p:nvPr/>
        </p:nvSpPr>
        <p:spPr>
          <a:xfrm>
            <a:off x="2268575" y="2326118"/>
            <a:ext cx="7022810" cy="40597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ounded Rectangle 21"/>
          <p:cNvSpPr/>
          <p:nvPr/>
        </p:nvSpPr>
        <p:spPr>
          <a:xfrm>
            <a:off x="2268575" y="2829045"/>
            <a:ext cx="7022810" cy="40597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Rectangle 22"/>
          <p:cNvSpPr/>
          <p:nvPr/>
        </p:nvSpPr>
        <p:spPr>
          <a:xfrm>
            <a:off x="2274634" y="3544051"/>
            <a:ext cx="7022810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4" name="Rounded Rectangle 23"/>
          <p:cNvSpPr/>
          <p:nvPr/>
        </p:nvSpPr>
        <p:spPr>
          <a:xfrm>
            <a:off x="8773593" y="4730494"/>
            <a:ext cx="52385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2359466" y="3604645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알림 유형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4009" y="3604645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채널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8647" y="3604645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실패 건수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3189" y="3604645"/>
            <a:ext cx="361858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마지막 시도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7733" y="3604645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9159" y="4791087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 dirty="0" err="1">
                <a:solidFill>
                  <a:srgbClr val="333333"/>
                </a:solidFill>
                <a:latin typeface="Apple SD Gothic Neo"/>
              </a:rPr>
              <a:t>새로고침</a:t>
            </a:r>
            <a:endParaRPr sz="668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359466" y="3828841"/>
            <a:ext cx="49393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/>
          <p:cNvSpPr/>
          <p:nvPr/>
        </p:nvSpPr>
        <p:spPr>
          <a:xfrm>
            <a:off x="3764009" y="3828841"/>
            <a:ext cx="65450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/>
          <p:cNvSpPr/>
          <p:nvPr/>
        </p:nvSpPr>
        <p:spPr>
          <a:xfrm>
            <a:off x="5168647" y="3828841"/>
            <a:ext cx="81498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6" name="Rounded Rectangle 35"/>
          <p:cNvSpPr/>
          <p:nvPr/>
        </p:nvSpPr>
        <p:spPr>
          <a:xfrm>
            <a:off x="6573190" y="3828841"/>
            <a:ext cx="97546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/>
          <p:cNvSpPr/>
          <p:nvPr/>
        </p:nvSpPr>
        <p:spPr>
          <a:xfrm>
            <a:off x="7977733" y="3828841"/>
            <a:ext cx="64210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/>
          <p:cNvSpPr/>
          <p:nvPr/>
        </p:nvSpPr>
        <p:spPr>
          <a:xfrm>
            <a:off x="2359466" y="4028801"/>
            <a:ext cx="58037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Rounded Rectangle 38"/>
          <p:cNvSpPr/>
          <p:nvPr/>
        </p:nvSpPr>
        <p:spPr>
          <a:xfrm>
            <a:off x="3764009" y="4028801"/>
            <a:ext cx="74094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/>
          <p:cNvSpPr/>
          <p:nvPr/>
        </p:nvSpPr>
        <p:spPr>
          <a:xfrm>
            <a:off x="5168647" y="4028801"/>
            <a:ext cx="90142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6573189" y="4028801"/>
            <a:ext cx="56797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7977733" y="4028801"/>
            <a:ext cx="72854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2359466" y="4228759"/>
            <a:ext cx="66681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3764009" y="4228759"/>
            <a:ext cx="82738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5168647" y="4228759"/>
            <a:ext cx="49393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6573189" y="4228759"/>
            <a:ext cx="65441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7977733" y="4228759"/>
            <a:ext cx="81498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2359466" y="4428719"/>
            <a:ext cx="75325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9" name="Rounded Rectangle 48"/>
          <p:cNvSpPr/>
          <p:nvPr/>
        </p:nvSpPr>
        <p:spPr>
          <a:xfrm>
            <a:off x="3764008" y="4428719"/>
            <a:ext cx="91382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5168646" y="4428719"/>
            <a:ext cx="58037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6573190" y="4428719"/>
            <a:ext cx="74085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7977733" y="4428719"/>
            <a:ext cx="90142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3" name="TextBox 52"/>
          <p:cNvSpPr txBox="1"/>
          <p:nvPr/>
        </p:nvSpPr>
        <p:spPr>
          <a:xfrm>
            <a:off x="8624382" y="1477806"/>
            <a:ext cx="56399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1,234건 / 1,250건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77211" y="1980734"/>
            <a:ext cx="51116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987건 / 1,000건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24949" y="2483662"/>
            <a:ext cx="5634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2,156건 / 2,156건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07846" y="2986589"/>
            <a:ext cx="28053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0건 / 0건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1585" y="1399034"/>
            <a:ext cx="335537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카카오톡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1585" y="1556578"/>
            <a:ext cx="25165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활성화됨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1584" y="1901962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문자 메시지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1585" y="2059506"/>
            <a:ext cx="25165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활성화됨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1585" y="2404889"/>
            <a:ext cx="251653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1585" y="2562434"/>
            <a:ext cx="25165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활성화됨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1584" y="2907817"/>
            <a:ext cx="275512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앱 푸시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1585" y="3065361"/>
            <a:ext cx="31452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비활성화됨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2360012"/>
            <a:ext cx="7022810" cy="1860227"/>
          </a:xfrm>
          <a:prstGeom prst="roundRect">
            <a:avLst>
              <a:gd name="adj" fmla="val 19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1584" y="2614505"/>
            <a:ext cx="6828910" cy="1230052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Rounded Rectangle 22"/>
          <p:cNvSpPr/>
          <p:nvPr/>
        </p:nvSpPr>
        <p:spPr>
          <a:xfrm>
            <a:off x="2268576" y="1350558"/>
            <a:ext cx="3462929" cy="706485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ectangle 24"/>
          <p:cNvSpPr/>
          <p:nvPr/>
        </p:nvSpPr>
        <p:spPr>
          <a:xfrm>
            <a:off x="2377645" y="2620565"/>
            <a:ext cx="6816791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9" name="Rounded Rectangle 28"/>
          <p:cNvSpPr/>
          <p:nvPr/>
        </p:nvSpPr>
        <p:spPr>
          <a:xfrm>
            <a:off x="7538523" y="3917270"/>
            <a:ext cx="788570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0" name="Rounded Rectangle 29"/>
          <p:cNvSpPr/>
          <p:nvPr/>
        </p:nvSpPr>
        <p:spPr>
          <a:xfrm>
            <a:off x="8399806" y="3917270"/>
            <a:ext cx="788570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TextBox 31"/>
          <p:cNvSpPr txBox="1"/>
          <p:nvPr/>
        </p:nvSpPr>
        <p:spPr>
          <a:xfrm>
            <a:off x="2371585" y="1429330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릴레이 상태 요약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1585" y="2438784"/>
            <a:ext cx="31452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b="1">
                <a:solidFill>
                  <a:srgbClr val="333333"/>
                </a:solidFill>
                <a:latin typeface="Apple SD Gothic Neo"/>
              </a:rPr>
              <a:t>차단 목록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8816" y="2438784"/>
            <a:ext cx="315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복구 목록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2476" y="2681159"/>
            <a:ext cx="30476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릴레이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5833" y="2681159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위치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9191" y="2681159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2550" y="2681159"/>
            <a:ext cx="361858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마지막 변경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5908" y="2681159"/>
            <a:ext cx="204504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담당자</a:t>
            </a:r>
          </a:p>
        </p:txBody>
      </p:sp>
      <p:sp>
        <p:nvSpPr>
          <p:cNvPr id="41" name="TextBox 40">
            <a:hlinkClick r:id="rId7" action="ppaction://hlinksldjump"/>
          </p:cNvPr>
          <p:cNvSpPr txBox="1"/>
          <p:nvPr/>
        </p:nvSpPr>
        <p:spPr>
          <a:xfrm>
            <a:off x="7653651" y="3977863"/>
            <a:ext cx="55831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릴레이 차단 실행</a:t>
            </a:r>
          </a:p>
        </p:txBody>
      </p:sp>
      <p:sp>
        <p:nvSpPr>
          <p:cNvPr id="42" name="TextBox 41">
            <a:hlinkClick r:id="rId8" action="ppaction://hlinksldjump"/>
          </p:cNvPr>
          <p:cNvSpPr txBox="1"/>
          <p:nvPr/>
        </p:nvSpPr>
        <p:spPr>
          <a:xfrm>
            <a:off x="8514934" y="3977863"/>
            <a:ext cx="55831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릴레이 복구 실행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62476" y="2905355"/>
            <a:ext cx="47745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3825834" y="2905355"/>
            <a:ext cx="63263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5189191" y="2905355"/>
            <a:ext cx="78781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6552550" y="2905355"/>
            <a:ext cx="94298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3" name="Rounded Rectangle 52"/>
          <p:cNvSpPr/>
          <p:nvPr/>
        </p:nvSpPr>
        <p:spPr>
          <a:xfrm>
            <a:off x="7915908" y="2905355"/>
            <a:ext cx="62070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4" name="Rounded Rectangle 53"/>
          <p:cNvSpPr/>
          <p:nvPr/>
        </p:nvSpPr>
        <p:spPr>
          <a:xfrm>
            <a:off x="2462476" y="3105315"/>
            <a:ext cx="56096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5" name="Rounded Rectangle 54"/>
          <p:cNvSpPr/>
          <p:nvPr/>
        </p:nvSpPr>
        <p:spPr>
          <a:xfrm>
            <a:off x="3825834" y="3105315"/>
            <a:ext cx="71614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6" name="Rounded Rectangle 55"/>
          <p:cNvSpPr/>
          <p:nvPr/>
        </p:nvSpPr>
        <p:spPr>
          <a:xfrm>
            <a:off x="5189191" y="3105315"/>
            <a:ext cx="87131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7" name="Rounded Rectangle 56"/>
          <p:cNvSpPr/>
          <p:nvPr/>
        </p:nvSpPr>
        <p:spPr>
          <a:xfrm>
            <a:off x="6552550" y="3105315"/>
            <a:ext cx="54903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8" name="Rounded Rectangle 57"/>
          <p:cNvSpPr/>
          <p:nvPr/>
        </p:nvSpPr>
        <p:spPr>
          <a:xfrm>
            <a:off x="7915909" y="3105315"/>
            <a:ext cx="70421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9" name="Rounded Rectangle 58"/>
          <p:cNvSpPr/>
          <p:nvPr/>
        </p:nvSpPr>
        <p:spPr>
          <a:xfrm>
            <a:off x="2462476" y="3305273"/>
            <a:ext cx="64456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0" name="Rounded Rectangle 59"/>
          <p:cNvSpPr/>
          <p:nvPr/>
        </p:nvSpPr>
        <p:spPr>
          <a:xfrm>
            <a:off x="3825833" y="3305273"/>
            <a:ext cx="79974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1" name="Rounded Rectangle 60"/>
          <p:cNvSpPr/>
          <p:nvPr/>
        </p:nvSpPr>
        <p:spPr>
          <a:xfrm>
            <a:off x="5189191" y="3305273"/>
            <a:ext cx="47745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2" name="Rounded Rectangle 61"/>
          <p:cNvSpPr/>
          <p:nvPr/>
        </p:nvSpPr>
        <p:spPr>
          <a:xfrm>
            <a:off x="6552551" y="3305273"/>
            <a:ext cx="63263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3" name="Rounded Rectangle 62"/>
          <p:cNvSpPr/>
          <p:nvPr/>
        </p:nvSpPr>
        <p:spPr>
          <a:xfrm>
            <a:off x="7915908" y="3305273"/>
            <a:ext cx="78781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4" name="Rounded Rectangle 63"/>
          <p:cNvSpPr/>
          <p:nvPr/>
        </p:nvSpPr>
        <p:spPr>
          <a:xfrm>
            <a:off x="2462475" y="3505233"/>
            <a:ext cx="72807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5" name="Rounded Rectangle 64"/>
          <p:cNvSpPr/>
          <p:nvPr/>
        </p:nvSpPr>
        <p:spPr>
          <a:xfrm>
            <a:off x="3825833" y="3505233"/>
            <a:ext cx="88324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6" name="Rounded Rectangle 65"/>
          <p:cNvSpPr/>
          <p:nvPr/>
        </p:nvSpPr>
        <p:spPr>
          <a:xfrm>
            <a:off x="5189192" y="3505233"/>
            <a:ext cx="56096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7" name="Rounded Rectangle 66"/>
          <p:cNvSpPr/>
          <p:nvPr/>
        </p:nvSpPr>
        <p:spPr>
          <a:xfrm>
            <a:off x="6552550" y="3505233"/>
            <a:ext cx="71614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8" name="Rounded Rectangle 67"/>
          <p:cNvSpPr/>
          <p:nvPr/>
        </p:nvSpPr>
        <p:spPr>
          <a:xfrm>
            <a:off x="7915908" y="3505233"/>
            <a:ext cx="87131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9" name="Rounded Rectangle 68"/>
          <p:cNvSpPr/>
          <p:nvPr/>
        </p:nvSpPr>
        <p:spPr>
          <a:xfrm>
            <a:off x="2462476" y="3705192"/>
            <a:ext cx="81167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0" name="Rounded Rectangle 69"/>
          <p:cNvSpPr/>
          <p:nvPr/>
        </p:nvSpPr>
        <p:spPr>
          <a:xfrm>
            <a:off x="3825834" y="3705192"/>
            <a:ext cx="48938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1" name="Rounded Rectangle 70"/>
          <p:cNvSpPr/>
          <p:nvPr/>
        </p:nvSpPr>
        <p:spPr>
          <a:xfrm>
            <a:off x="5189192" y="3705192"/>
            <a:ext cx="64456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2" name="Rounded Rectangle 71"/>
          <p:cNvSpPr/>
          <p:nvPr/>
        </p:nvSpPr>
        <p:spPr>
          <a:xfrm>
            <a:off x="6552550" y="3705192"/>
            <a:ext cx="79974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3" name="Rounded Rectangle 72"/>
          <p:cNvSpPr/>
          <p:nvPr/>
        </p:nvSpPr>
        <p:spPr>
          <a:xfrm>
            <a:off x="7915908" y="3705192"/>
            <a:ext cx="47745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4" name="TextBox 93"/>
          <p:cNvSpPr txBox="1"/>
          <p:nvPr/>
        </p:nvSpPr>
        <p:spPr>
          <a:xfrm>
            <a:off x="2371585" y="1611112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전체 릴레이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71584" y="1774715"/>
            <a:ext cx="208007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altLang="ko-KR" sz="1336" b="1" dirty="0">
                <a:solidFill>
                  <a:srgbClr val="333333"/>
                </a:solidFill>
                <a:latin typeface="Apple SD Gothic Neo"/>
              </a:rPr>
              <a:t>4</a:t>
            </a:r>
            <a:endParaRPr sz="1336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505634" y="1611112"/>
            <a:ext cx="20914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05634" y="1774715"/>
            <a:ext cx="105849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altLang="ko-KR" sz="1336" b="1" dirty="0">
                <a:solidFill>
                  <a:srgbClr val="333333"/>
                </a:solidFill>
                <a:latin typeface="Apple SD Gothic Neo"/>
              </a:rPr>
              <a:t>1</a:t>
            </a:r>
            <a:endParaRPr sz="1336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639778" y="1611112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복구 완료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39777" y="1774715"/>
            <a:ext cx="181686" cy="1999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altLang="ko-KR" sz="1336" b="1" dirty="0">
                <a:solidFill>
                  <a:srgbClr val="333333"/>
                </a:solidFill>
                <a:latin typeface="Apple SD Gothic Neo"/>
              </a:rPr>
              <a:t>3</a:t>
            </a:r>
            <a:endParaRPr sz="1336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970" name="메뉴-설정">
            <a:hlinkClick r:id="rId9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릴레이 제어 탭">
            <a:hlinkClick r:id="rId9" action="ppaction://hlinksldjump"/>
          </p:cNvPr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 u="sng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임계치 설정 탭">
            <a:hlinkClick r:id="rId10" action="ppaction://hlinksldjump"/>
          </p:cNvPr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계정 설정 탭">
            <a:hlinkClick r:id="rId11" action="ppaction://hlinksldjump"/>
          </p:cNvPr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dirty="0" err="1">
                <a:solidFill>
                  <a:srgbClr val="333333"/>
                </a:solidFill>
                <a:latin typeface="Apple SD Gothic Neo"/>
              </a:rPr>
              <a:t>계정</a:t>
            </a:r>
            <a:r>
              <a:rPr sz="609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609" dirty="0" err="1">
                <a:solidFill>
                  <a:srgbClr val="333333"/>
                </a:solidFill>
                <a:latin typeface="Apple SD Gothic Neo"/>
              </a:rPr>
              <a:t>설정</a:t>
            </a:r>
            <a:endParaRPr sz="609" b="1" dirty="0">
              <a:solidFill>
                <a:srgbClr val="333333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2"/>
            <a:ext cx="7022810" cy="61805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035268"/>
            <a:ext cx="7022810" cy="1569377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8576" y="1114244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 dirty="0" err="1">
                <a:solidFill>
                  <a:srgbClr val="333333"/>
                </a:solidFill>
                <a:latin typeface="Apple SD Gothic Neo"/>
              </a:rPr>
              <a:t>릴레이</a:t>
            </a:r>
            <a:r>
              <a:rPr sz="763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lang="ko-KR" altLang="en-US" sz="763" b="1" dirty="0">
                <a:solidFill>
                  <a:srgbClr val="333333"/>
                </a:solidFill>
                <a:latin typeface="Apple SD Gothic Neo"/>
              </a:rPr>
              <a:t>차단</a:t>
            </a:r>
            <a:endParaRPr sz="763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71584" y="2295820"/>
            <a:ext cx="6828910" cy="1230052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371585" y="1399034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현재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5" y="2114040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차단 이력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8576" y="3701595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 dirty="0" err="1">
                <a:solidFill>
                  <a:srgbClr val="333333"/>
                </a:solidFill>
                <a:latin typeface="Apple SD Gothic Neo"/>
              </a:rPr>
              <a:t>차단</a:t>
            </a:r>
            <a:r>
              <a:rPr sz="763" b="1" dirty="0">
                <a:solidFill>
                  <a:srgbClr val="333333"/>
                </a:solidFill>
                <a:latin typeface="Apple SD Gothic Ne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645" y="2301880"/>
            <a:ext cx="6816791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4" name="Rounded Rectangle 23"/>
          <p:cNvSpPr/>
          <p:nvPr/>
        </p:nvSpPr>
        <p:spPr>
          <a:xfrm>
            <a:off x="8295471" y="5446693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8745284" y="5446693"/>
            <a:ext cx="546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2462476" y="2362474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6673" y="2362474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871" y="2362474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069" y="2362474"/>
            <a:ext cx="204504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조치자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0599" y="5507287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0412" y="5507287"/>
            <a:ext cx="315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차단 요청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2475" y="2586670"/>
            <a:ext cx="61379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Rounded Rectangle 32"/>
          <p:cNvSpPr/>
          <p:nvPr/>
        </p:nvSpPr>
        <p:spPr>
          <a:xfrm>
            <a:off x="4166673" y="2586670"/>
            <a:ext cx="81328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/>
          <p:cNvSpPr/>
          <p:nvPr/>
        </p:nvSpPr>
        <p:spPr>
          <a:xfrm>
            <a:off x="5870871" y="2586670"/>
            <a:ext cx="101276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/>
          <p:cNvSpPr/>
          <p:nvPr/>
        </p:nvSpPr>
        <p:spPr>
          <a:xfrm>
            <a:off x="7575069" y="2586670"/>
            <a:ext cx="121225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6" name="Rounded Rectangle 35"/>
          <p:cNvSpPr/>
          <p:nvPr/>
        </p:nvSpPr>
        <p:spPr>
          <a:xfrm>
            <a:off x="2462476" y="2786630"/>
            <a:ext cx="72116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/>
          <p:cNvSpPr/>
          <p:nvPr/>
        </p:nvSpPr>
        <p:spPr>
          <a:xfrm>
            <a:off x="4166673" y="2786630"/>
            <a:ext cx="92064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/>
          <p:cNvSpPr/>
          <p:nvPr/>
        </p:nvSpPr>
        <p:spPr>
          <a:xfrm>
            <a:off x="5870871" y="2786630"/>
            <a:ext cx="112013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Rounded Rectangle 38"/>
          <p:cNvSpPr/>
          <p:nvPr/>
        </p:nvSpPr>
        <p:spPr>
          <a:xfrm>
            <a:off x="7575068" y="2786630"/>
            <a:ext cx="70582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/>
          <p:cNvSpPr/>
          <p:nvPr/>
        </p:nvSpPr>
        <p:spPr>
          <a:xfrm>
            <a:off x="2462476" y="2986589"/>
            <a:ext cx="82861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4166673" y="2986589"/>
            <a:ext cx="102810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5870871" y="2986589"/>
            <a:ext cx="61379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7575069" y="2986589"/>
            <a:ext cx="81328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2462476" y="3186548"/>
            <a:ext cx="93598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4166673" y="3186548"/>
            <a:ext cx="113546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5870871" y="3186548"/>
            <a:ext cx="72116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7575069" y="3186548"/>
            <a:ext cx="92064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2462476" y="3386507"/>
            <a:ext cx="104344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9" name="Rounded Rectangle 48"/>
          <p:cNvSpPr/>
          <p:nvPr/>
        </p:nvSpPr>
        <p:spPr>
          <a:xfrm>
            <a:off x="4166673" y="3386507"/>
            <a:ext cx="62913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5870871" y="3386507"/>
            <a:ext cx="82861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7575068" y="3386507"/>
            <a:ext cx="102810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2268575" y="4083335"/>
            <a:ext cx="7022810" cy="53322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5" name="TextBox 54"/>
          <p:cNvSpPr txBox="1"/>
          <p:nvPr/>
        </p:nvSpPr>
        <p:spPr>
          <a:xfrm>
            <a:off x="2371585" y="1580816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시스템 상태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1585" y="1720180"/>
            <a:ext cx="310922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차단됨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693" y="1598994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8575" y="3919732"/>
            <a:ext cx="316508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차단 사유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52693" y="1750478"/>
            <a:ext cx="233494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9901" y="5131605"/>
            <a:ext cx="72712" cy="72712"/>
          </a:xfrm>
          <a:prstGeom prst="rect">
            <a:avLst/>
          </a:prstGeom>
        </p:spPr>
      </p:pic>
      <p:sp>
        <p:nvSpPr>
          <p:cNvPr id="970" name="메뉴-설정">
            <a:hlinkClick r:id="rId8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2"/>
            <a:ext cx="7022810" cy="61805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035268"/>
            <a:ext cx="7022810" cy="1569377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8576" y="1114244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 dirty="0" err="1">
                <a:solidFill>
                  <a:srgbClr val="333333"/>
                </a:solidFill>
                <a:latin typeface="Apple SD Gothic Neo"/>
              </a:rPr>
              <a:t>릴레이</a:t>
            </a:r>
            <a:r>
              <a:rPr sz="763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lang="ko-KR" altLang="en-US" sz="763" b="1" dirty="0">
                <a:solidFill>
                  <a:srgbClr val="333333"/>
                </a:solidFill>
                <a:latin typeface="Apple SD Gothic Neo"/>
              </a:rPr>
              <a:t>차단</a:t>
            </a:r>
            <a:endParaRPr sz="763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71584" y="2295820"/>
            <a:ext cx="6828910" cy="1230052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371585" y="1399034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현재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5" y="2114040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차단 이력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8576" y="3701595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 dirty="0" err="1">
                <a:solidFill>
                  <a:srgbClr val="333333"/>
                </a:solidFill>
                <a:latin typeface="Apple SD Gothic Neo"/>
              </a:rPr>
              <a:t>차단</a:t>
            </a:r>
            <a:r>
              <a:rPr sz="763" b="1" dirty="0">
                <a:solidFill>
                  <a:srgbClr val="333333"/>
                </a:solidFill>
                <a:latin typeface="Apple SD Gothic Ne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645" y="2301880"/>
            <a:ext cx="6816791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4" name="Rounded Rectangle 23"/>
          <p:cNvSpPr/>
          <p:nvPr/>
        </p:nvSpPr>
        <p:spPr>
          <a:xfrm>
            <a:off x="8295471" y="5446693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Rounded Rectangle 24"/>
          <p:cNvSpPr/>
          <p:nvPr/>
        </p:nvSpPr>
        <p:spPr>
          <a:xfrm>
            <a:off x="8745284" y="5446693"/>
            <a:ext cx="546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2462476" y="2362474"/>
            <a:ext cx="293690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6673" y="2362474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871" y="2362474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069" y="2362474"/>
            <a:ext cx="204504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조치자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0599" y="5507287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0412" y="5507287"/>
            <a:ext cx="315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차단 요청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2475" y="2586670"/>
            <a:ext cx="61379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Rounded Rectangle 32"/>
          <p:cNvSpPr/>
          <p:nvPr/>
        </p:nvSpPr>
        <p:spPr>
          <a:xfrm>
            <a:off x="4166673" y="2586670"/>
            <a:ext cx="81328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/>
          <p:cNvSpPr/>
          <p:nvPr/>
        </p:nvSpPr>
        <p:spPr>
          <a:xfrm>
            <a:off x="5870871" y="2586670"/>
            <a:ext cx="101276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/>
          <p:cNvSpPr/>
          <p:nvPr/>
        </p:nvSpPr>
        <p:spPr>
          <a:xfrm>
            <a:off x="7575069" y="2586670"/>
            <a:ext cx="121225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6" name="Rounded Rectangle 35"/>
          <p:cNvSpPr/>
          <p:nvPr/>
        </p:nvSpPr>
        <p:spPr>
          <a:xfrm>
            <a:off x="2462476" y="2786630"/>
            <a:ext cx="72116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/>
          <p:cNvSpPr/>
          <p:nvPr/>
        </p:nvSpPr>
        <p:spPr>
          <a:xfrm>
            <a:off x="4166673" y="2786630"/>
            <a:ext cx="92064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/>
          <p:cNvSpPr/>
          <p:nvPr/>
        </p:nvSpPr>
        <p:spPr>
          <a:xfrm>
            <a:off x="5870871" y="2786630"/>
            <a:ext cx="112013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Rounded Rectangle 38"/>
          <p:cNvSpPr/>
          <p:nvPr/>
        </p:nvSpPr>
        <p:spPr>
          <a:xfrm>
            <a:off x="7575068" y="2786630"/>
            <a:ext cx="705822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/>
          <p:cNvSpPr/>
          <p:nvPr/>
        </p:nvSpPr>
        <p:spPr>
          <a:xfrm>
            <a:off x="2462476" y="2986589"/>
            <a:ext cx="82861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4166673" y="2986589"/>
            <a:ext cx="102810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5870871" y="2986589"/>
            <a:ext cx="61379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7575069" y="2986589"/>
            <a:ext cx="81328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2462476" y="3186548"/>
            <a:ext cx="93598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4166673" y="3186548"/>
            <a:ext cx="113546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5870871" y="3186548"/>
            <a:ext cx="72116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7575069" y="3186548"/>
            <a:ext cx="92064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2462476" y="3386507"/>
            <a:ext cx="104344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9" name="Rounded Rectangle 48"/>
          <p:cNvSpPr/>
          <p:nvPr/>
        </p:nvSpPr>
        <p:spPr>
          <a:xfrm>
            <a:off x="4166673" y="3386507"/>
            <a:ext cx="629133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5870871" y="3386507"/>
            <a:ext cx="828619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Rounded Rectangle 50"/>
          <p:cNvSpPr/>
          <p:nvPr/>
        </p:nvSpPr>
        <p:spPr>
          <a:xfrm>
            <a:off x="7575068" y="3386507"/>
            <a:ext cx="102810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2" name="Rounded Rectangle 51"/>
          <p:cNvSpPr/>
          <p:nvPr/>
        </p:nvSpPr>
        <p:spPr>
          <a:xfrm>
            <a:off x="2268575" y="4083335"/>
            <a:ext cx="7022810" cy="53322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5" name="TextBox 54"/>
          <p:cNvSpPr txBox="1"/>
          <p:nvPr/>
        </p:nvSpPr>
        <p:spPr>
          <a:xfrm>
            <a:off x="2371585" y="1580816"/>
            <a:ext cx="334969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시스템 상태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1585" y="1720180"/>
            <a:ext cx="310922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차단됨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693" y="1598994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8575" y="3919732"/>
            <a:ext cx="316508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차단 사유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52693" y="1750478"/>
            <a:ext cx="233494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9901" y="5131605"/>
            <a:ext cx="72712" cy="72712"/>
          </a:xfrm>
          <a:prstGeom prst="rect">
            <a:avLst/>
          </a:prstGeom>
        </p:spPr>
      </p:pic>
      <p:sp>
        <p:nvSpPr>
          <p:cNvPr id="970" name="메뉴-설정">
            <a:hlinkClick r:id="rId8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80" name="로딩 오버레이"/>
          <p:cNvSpPr/>
          <p:nvPr/>
        </p:nvSpPr>
        <p:spPr>
          <a:xfrm>
            <a:off x="464344" y="581025"/>
            <a:ext cx="8966994" cy="569595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81" name="로딩 팝업 카드"/>
          <p:cNvSpPr/>
          <p:nvPr/>
        </p:nvSpPr>
        <p:spPr>
          <a:xfrm>
            <a:off x="3095625" y="2046287"/>
            <a:ext cx="3714750" cy="20431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/>
          <a:lstStyle/>
          <a:p>
            <a:endParaRPr sz="1463"/>
          </a:p>
        </p:txBody>
      </p:sp>
      <p:sp>
        <p:nvSpPr>
          <p:cNvPr id="982" name="로딩 스피너"/>
          <p:cNvSpPr/>
          <p:nvPr/>
        </p:nvSpPr>
        <p:spPr>
          <a:xfrm>
            <a:off x="4715669" y="2355850"/>
            <a:ext cx="474663" cy="474663"/>
          </a:xfrm>
          <a:prstGeom prst="donut">
            <a:avLst>
              <a:gd name="adj" fmla="val 16000"/>
            </a:avLst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83" name="로딩 제목"/>
          <p:cNvSpPr txBox="1"/>
          <p:nvPr/>
        </p:nvSpPr>
        <p:spPr>
          <a:xfrm>
            <a:off x="3095625" y="2933700"/>
            <a:ext cx="3714750" cy="206375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1138" b="1">
                <a:solidFill>
                  <a:srgbClr val="333333"/>
                </a:solidFill>
                <a:latin typeface="Apple SD Gothic Neo"/>
                <a:ea typeface="Apple SD Gothic Neo"/>
              </a:rPr>
              <a:t>차단 중…</a:t>
            </a:r>
          </a:p>
        </p:txBody>
      </p:sp>
      <p:sp>
        <p:nvSpPr>
          <p:cNvPr id="984" name="로딩 안내"/>
          <p:cNvSpPr txBox="1"/>
          <p:nvPr/>
        </p:nvSpPr>
        <p:spPr>
          <a:xfrm>
            <a:off x="3095625" y="3201987"/>
            <a:ext cx="3714750" cy="309563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731">
                <a:solidFill>
                  <a:srgbClr val="666666"/>
                </a:solidFill>
                <a:latin typeface="Apple SD Gothic Neo"/>
                <a:ea typeface="Apple SD Gothic Neo"/>
              </a:rPr>
              <a:t>릴레이 차단을 실행하고 있습니다.</a:t>
            </a:r>
          </a:p>
          <a:p>
            <a:pPr algn="ctr"/>
            <a:r>
              <a:rPr lang="ko-KR" altLang="en-US" sz="731">
                <a:solidFill>
                  <a:srgbClr val="666666"/>
                </a:solidFill>
                <a:latin typeface="Apple SD Gothic Neo"/>
                <a:ea typeface="Apple SD Gothic Neo"/>
              </a:rPr>
              <a:t>잠시만 기다려 주세요.</a:t>
            </a:r>
          </a:p>
        </p:txBody>
      </p:sp>
      <p:sp>
        <p:nvSpPr>
          <p:cNvPr id="985" name="진행바 트랙"/>
          <p:cNvSpPr/>
          <p:nvPr/>
        </p:nvSpPr>
        <p:spPr>
          <a:xfrm>
            <a:off x="3405188" y="3697288"/>
            <a:ext cx="3095625" cy="8255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86" name="진행바 채움"/>
          <p:cNvSpPr/>
          <p:nvPr/>
        </p:nvSpPr>
        <p:spPr>
          <a:xfrm>
            <a:off x="3405188" y="3697288"/>
            <a:ext cx="1238250" cy="8255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 dirty="0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2"/>
            <a:ext cx="7022810" cy="611996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029208"/>
            <a:ext cx="7022810" cy="76348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Rounded Rectangle 10"/>
          <p:cNvSpPr/>
          <p:nvPr/>
        </p:nvSpPr>
        <p:spPr>
          <a:xfrm>
            <a:off x="2268575" y="2889639"/>
            <a:ext cx="7022810" cy="1327002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dirty="0" err="1">
                <a:solidFill>
                  <a:srgbClr val="666666"/>
                </a:solidFill>
                <a:latin typeface="Apple SD Gothic Neo"/>
              </a:rPr>
              <a:t>대시보드</a:t>
            </a:r>
            <a:endParaRPr sz="668" dirty="0">
              <a:solidFill>
                <a:srgbClr val="666666"/>
              </a:solidFill>
              <a:latin typeface="Apple SD Gothic Neo"/>
            </a:endParaRPr>
          </a:p>
        </p:txBody>
      </p:sp>
      <p:sp>
        <p:nvSpPr>
          <p:cNvPr id="17" name="TextBox 16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 dirty="0" err="1">
                <a:solidFill>
                  <a:srgbClr val="666666"/>
                </a:solidFill>
                <a:latin typeface="Apple SD Gothic Neo"/>
              </a:rPr>
              <a:t>알림</a:t>
            </a:r>
            <a:endParaRPr sz="668" dirty="0">
              <a:solidFill>
                <a:srgbClr val="666666"/>
              </a:solidFill>
              <a:latin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71584" y="3307735"/>
            <a:ext cx="6828910" cy="830134"/>
          </a:xfrm>
          <a:prstGeom prst="roundRect">
            <a:avLst>
              <a:gd name="adj" fmla="val 4379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371585" y="1399034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5" y="2107980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1585" y="2447306"/>
            <a:ext cx="46079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영향받은 배터리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1584" y="2610908"/>
            <a:ext cx="125921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0개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1585" y="2968411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상세 로그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1584" y="2283702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Rounded Rectangle 25"/>
          <p:cNvSpPr/>
          <p:nvPr/>
        </p:nvSpPr>
        <p:spPr>
          <a:xfrm>
            <a:off x="2371584" y="3144133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Rectangle 26"/>
          <p:cNvSpPr/>
          <p:nvPr/>
        </p:nvSpPr>
        <p:spPr>
          <a:xfrm>
            <a:off x="2377645" y="3313795"/>
            <a:ext cx="6816791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TextBox 27"/>
          <p:cNvSpPr txBox="1"/>
          <p:nvPr/>
        </p:nvSpPr>
        <p:spPr>
          <a:xfrm>
            <a:off x="2268576" y="1114244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차단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259" y="1562637"/>
            <a:ext cx="290850" cy="2908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1" name="TextBox 30"/>
          <p:cNvSpPr txBox="1"/>
          <p:nvPr/>
        </p:nvSpPr>
        <p:spPr>
          <a:xfrm>
            <a:off x="2371584" y="1638379"/>
            <a:ext cx="207249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성공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084" y="1641409"/>
            <a:ext cx="199201" cy="13330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06" b="1">
                <a:solidFill>
                  <a:srgbClr val="666666"/>
                </a:solidFill>
                <a:latin typeface="Apple SD Gothic Neo"/>
              </a:rPr>
              <a:t>체크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2475" y="3374389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타입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739" y="3374389"/>
            <a:ext cx="204504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메시지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7002" y="3374389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시각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2476" y="3598585"/>
            <a:ext cx="84102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/>
          <p:cNvSpPr/>
          <p:nvPr/>
        </p:nvSpPr>
        <p:spPr>
          <a:xfrm>
            <a:off x="4734739" y="3598585"/>
            <a:ext cx="111435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/>
          <p:cNvSpPr/>
          <p:nvPr/>
        </p:nvSpPr>
        <p:spPr>
          <a:xfrm>
            <a:off x="7007003" y="3598585"/>
            <a:ext cx="138769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Rounded Rectangle 38"/>
          <p:cNvSpPr/>
          <p:nvPr/>
        </p:nvSpPr>
        <p:spPr>
          <a:xfrm>
            <a:off x="2462476" y="3798545"/>
            <a:ext cx="98815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/>
          <p:cNvSpPr/>
          <p:nvPr/>
        </p:nvSpPr>
        <p:spPr>
          <a:xfrm>
            <a:off x="4734739" y="3798545"/>
            <a:ext cx="126148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7007003" y="3798545"/>
            <a:ext cx="153482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2462475" y="3998503"/>
            <a:ext cx="11353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4734740" y="3998503"/>
            <a:ext cx="140870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7007003" y="3998503"/>
            <a:ext cx="84102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3AC0DFF8-FF87-122E-7227-F0F5D2773CA4}"/>
              </a:ext>
            </a:extLst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  <a:endParaRPr sz="668" dirty="0">
              <a:solidFill>
                <a:srgbClr val="666666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AAFF61-1668-286E-CD4F-B968203E4EE8}"/>
              </a:ext>
            </a:extLst>
          </p:cNvPr>
          <p:cNvSpPr txBox="1"/>
          <p:nvPr/>
        </p:nvSpPr>
        <p:spPr>
          <a:xfrm>
            <a:off x="3712978" y="1051398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 dirty="0" err="1">
                <a:solidFill>
                  <a:srgbClr val="FFFFFF"/>
                </a:solidFill>
                <a:latin typeface="Apple SD Gothic Neo"/>
              </a:rPr>
              <a:t>확인</a:t>
            </a:r>
            <a:endParaRPr sz="668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47" name="실시간대시보드로 버튼">
            <a:hlinkClick r:id="rId7" action="ppaction://hlinksldjump"/>
            <a:extLst>
              <a:ext uri="{FF2B5EF4-FFF2-40B4-BE49-F238E27FC236}">
                <a16:creationId xmlns:a16="http://schemas.microsoft.com/office/drawing/2014/main" id="{571FFDE9-6D57-E0A2-107E-BA01A79658AD}"/>
              </a:ext>
            </a:extLst>
          </p:cNvPr>
          <p:cNvSpPr/>
          <p:nvPr/>
        </p:nvSpPr>
        <p:spPr>
          <a:xfrm>
            <a:off x="2724260" y="1031318"/>
            <a:ext cx="483897" cy="24765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돌아가기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576" y="1114244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릴레이 복구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68575" y="1320262"/>
            <a:ext cx="7022810" cy="1569377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Rounded Rectangle 17"/>
          <p:cNvSpPr/>
          <p:nvPr/>
        </p:nvSpPr>
        <p:spPr>
          <a:xfrm>
            <a:off x="2268575" y="2986589"/>
            <a:ext cx="7022810" cy="1508783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/>
          <p:cNvSpPr/>
          <p:nvPr/>
        </p:nvSpPr>
        <p:spPr>
          <a:xfrm>
            <a:off x="2371584" y="1580815"/>
            <a:ext cx="6828910" cy="1230052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/>
          <p:cNvSpPr txBox="1"/>
          <p:nvPr/>
        </p:nvSpPr>
        <p:spPr>
          <a:xfrm>
            <a:off x="2371585" y="1399034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릴레이 상태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5" y="3065361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복구 작업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645" y="1586874"/>
            <a:ext cx="6816791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TextBox 22"/>
          <p:cNvSpPr txBox="1"/>
          <p:nvPr/>
        </p:nvSpPr>
        <p:spPr>
          <a:xfrm>
            <a:off x="2371584" y="3247142"/>
            <a:ext cx="169586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선택된 릴레이를 복구합니다. 이 작업은 되돌릴 수 없습니다.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1585" y="3586467"/>
            <a:ext cx="6816791" cy="53322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TextBox 24"/>
          <p:cNvSpPr txBox="1"/>
          <p:nvPr/>
        </p:nvSpPr>
        <p:spPr>
          <a:xfrm>
            <a:off x="2462476" y="1647468"/>
            <a:ext cx="30476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릴레이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4739" y="1647468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7003" y="1647468"/>
            <a:ext cx="498099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마지막 업데이트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1584" y="3422863"/>
            <a:ext cx="316508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   </a:t>
            </a:r>
            <a:r>
              <a:rPr sz="668" dirty="0" err="1">
                <a:solidFill>
                  <a:srgbClr val="333333"/>
                </a:solidFill>
                <a:latin typeface="Apple SD Gothic Neo"/>
              </a:rPr>
              <a:t>복구</a:t>
            </a:r>
            <a:r>
              <a:rPr sz="668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668" dirty="0" err="1">
                <a:solidFill>
                  <a:srgbClr val="333333"/>
                </a:solidFill>
                <a:latin typeface="Apple SD Gothic Neo"/>
              </a:rPr>
              <a:t>사유</a:t>
            </a:r>
            <a:endParaRPr sz="668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71585" y="3586467"/>
            <a:ext cx="6816791" cy="5332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969696"/>
                </a:solidFill>
                <a:latin typeface="Apple SD Gothic Neo"/>
              </a:rPr>
              <a:t>   </a:t>
            </a:r>
            <a:r>
              <a:rPr sz="668" dirty="0" err="1">
                <a:solidFill>
                  <a:srgbClr val="969696"/>
                </a:solidFill>
                <a:latin typeface="Apple SD Gothic Neo"/>
              </a:rPr>
              <a:t>복구</a:t>
            </a:r>
            <a:r>
              <a:rPr sz="668" dirty="0">
                <a:solidFill>
                  <a:srgbClr val="969696"/>
                </a:solidFill>
                <a:latin typeface="Apple SD Gothic Neo"/>
              </a:rPr>
              <a:t> </a:t>
            </a:r>
            <a:r>
              <a:rPr sz="668" dirty="0" err="1">
                <a:solidFill>
                  <a:srgbClr val="969696"/>
                </a:solidFill>
                <a:latin typeface="Apple SD Gothic Neo"/>
              </a:rPr>
              <a:t>사유</a:t>
            </a:r>
            <a:endParaRPr sz="668" dirty="0">
              <a:solidFill>
                <a:srgbClr val="969696"/>
              </a:solidFill>
              <a:latin typeface="Apple SD Gothic Neo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462476" y="1871664"/>
            <a:ext cx="84102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1" name="Rounded Rectangle 30"/>
          <p:cNvSpPr/>
          <p:nvPr/>
        </p:nvSpPr>
        <p:spPr>
          <a:xfrm>
            <a:off x="4734739" y="1871664"/>
            <a:ext cx="111435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Rounded Rectangle 31"/>
          <p:cNvSpPr/>
          <p:nvPr/>
        </p:nvSpPr>
        <p:spPr>
          <a:xfrm>
            <a:off x="7007003" y="1871664"/>
            <a:ext cx="138769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Rounded Rectangle 32"/>
          <p:cNvSpPr/>
          <p:nvPr/>
        </p:nvSpPr>
        <p:spPr>
          <a:xfrm>
            <a:off x="2462476" y="2071624"/>
            <a:ext cx="98815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/>
          <p:cNvSpPr/>
          <p:nvPr/>
        </p:nvSpPr>
        <p:spPr>
          <a:xfrm>
            <a:off x="4734739" y="2071624"/>
            <a:ext cx="126148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/>
          <p:cNvSpPr/>
          <p:nvPr/>
        </p:nvSpPr>
        <p:spPr>
          <a:xfrm>
            <a:off x="7007003" y="2071624"/>
            <a:ext cx="153482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6" name="Rounded Rectangle 35"/>
          <p:cNvSpPr/>
          <p:nvPr/>
        </p:nvSpPr>
        <p:spPr>
          <a:xfrm>
            <a:off x="2462475" y="2271583"/>
            <a:ext cx="11353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/>
          <p:cNvSpPr/>
          <p:nvPr/>
        </p:nvSpPr>
        <p:spPr>
          <a:xfrm>
            <a:off x="4734740" y="2271583"/>
            <a:ext cx="140870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/>
          <p:cNvSpPr/>
          <p:nvPr/>
        </p:nvSpPr>
        <p:spPr>
          <a:xfrm>
            <a:off x="7007003" y="2271583"/>
            <a:ext cx="84102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Rounded Rectangle 38"/>
          <p:cNvSpPr/>
          <p:nvPr/>
        </p:nvSpPr>
        <p:spPr>
          <a:xfrm>
            <a:off x="2462475" y="2471542"/>
            <a:ext cx="128250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/>
          <p:cNvSpPr/>
          <p:nvPr/>
        </p:nvSpPr>
        <p:spPr>
          <a:xfrm>
            <a:off x="4734739" y="2471542"/>
            <a:ext cx="155583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7007003" y="2471542"/>
            <a:ext cx="98815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2462475" y="2671502"/>
            <a:ext cx="142972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4734739" y="2671502"/>
            <a:ext cx="86204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7007002" y="2671502"/>
            <a:ext cx="11353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8216699" y="4192403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8642275" y="4192403"/>
            <a:ext cx="546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TextBox 46"/>
          <p:cNvSpPr txBox="1"/>
          <p:nvPr/>
        </p:nvSpPr>
        <p:spPr>
          <a:xfrm>
            <a:off x="8331827" y="4252997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7403" y="4252997"/>
            <a:ext cx="315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복구 실행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F3F89-D6D1-9955-2DC7-85E9CC27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024E8-3626-DF43-682A-7778B430CACF}"/>
              </a:ext>
            </a:extLst>
          </p:cNvPr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56E5B-5147-17E9-F1B4-BD88682EA5B2}"/>
              </a:ext>
            </a:extLst>
          </p:cNvPr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18DC0F-A73E-5FB3-7763-03719D25F19E}"/>
              </a:ext>
            </a:extLst>
          </p:cNvPr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1F3D0-37E1-DA7E-AA66-ED1E6388576C}"/>
              </a:ext>
            </a:extLst>
          </p:cNvPr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B376B-86BC-B63B-57DE-EFE2D8D316FB}"/>
              </a:ext>
            </a:extLst>
          </p:cNvPr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  <a:extLst>
              <a:ext uri="{FF2B5EF4-FFF2-40B4-BE49-F238E27FC236}">
                <a16:creationId xmlns:a16="http://schemas.microsoft.com/office/drawing/2014/main" id="{4AB3EC1D-E19B-28A1-87B7-10E8C6BE28EB}"/>
              </a:ext>
            </a:extLst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1632C-13E0-14D7-C5CD-9E2B14CB7B4A}"/>
              </a:ext>
            </a:extLst>
          </p:cNvPr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D457D24-0490-D072-843C-0A2363D87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7A47BA-C2A8-040C-25FA-A8E28442A114}"/>
              </a:ext>
            </a:extLst>
          </p:cNvPr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F0BB1-C738-6C8F-78C5-0A59DFB507F7}"/>
              </a:ext>
            </a:extLst>
          </p:cNvPr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  <a:extLst>
              <a:ext uri="{FF2B5EF4-FFF2-40B4-BE49-F238E27FC236}">
                <a16:creationId xmlns:a16="http://schemas.microsoft.com/office/drawing/2014/main" id="{D6ECE71D-AF66-8E5F-0A7B-E5F9C60849DF}"/>
              </a:ext>
            </a:extLst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8F6DD7EA-6DB5-112E-B68D-861923F1D74F}"/>
              </a:ext>
            </a:extLst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714BA-0C15-3460-2F37-B8898A9681A9}"/>
              </a:ext>
            </a:extLst>
          </p:cNvPr>
          <p:cNvSpPr txBox="1"/>
          <p:nvPr/>
        </p:nvSpPr>
        <p:spPr>
          <a:xfrm>
            <a:off x="2268576" y="1114244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릴레이 복구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B8B365F-ECB0-1BEA-08E7-78B5A0C60C52}"/>
              </a:ext>
            </a:extLst>
          </p:cNvPr>
          <p:cNvSpPr/>
          <p:nvPr/>
        </p:nvSpPr>
        <p:spPr>
          <a:xfrm>
            <a:off x="2268575" y="1320262"/>
            <a:ext cx="7022810" cy="1569377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829B28-96AA-D7AD-F579-F19CC209B279}"/>
              </a:ext>
            </a:extLst>
          </p:cNvPr>
          <p:cNvSpPr/>
          <p:nvPr/>
        </p:nvSpPr>
        <p:spPr>
          <a:xfrm>
            <a:off x="2268575" y="2986589"/>
            <a:ext cx="7022810" cy="1508783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C0D6331-50DE-2C75-04A7-33EE10826587}"/>
              </a:ext>
            </a:extLst>
          </p:cNvPr>
          <p:cNvSpPr/>
          <p:nvPr/>
        </p:nvSpPr>
        <p:spPr>
          <a:xfrm>
            <a:off x="2371584" y="1580815"/>
            <a:ext cx="6828910" cy="1230052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EB5D0-8223-0951-E361-15B3BA25F3D9}"/>
              </a:ext>
            </a:extLst>
          </p:cNvPr>
          <p:cNvSpPr txBox="1"/>
          <p:nvPr/>
        </p:nvSpPr>
        <p:spPr>
          <a:xfrm>
            <a:off x="2371585" y="1399034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릴레이 상태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41361-5331-604B-168A-266CB31A2B0D}"/>
              </a:ext>
            </a:extLst>
          </p:cNvPr>
          <p:cNvSpPr txBox="1"/>
          <p:nvPr/>
        </p:nvSpPr>
        <p:spPr>
          <a:xfrm>
            <a:off x="2371585" y="3065361"/>
            <a:ext cx="35939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복구 작업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2570C4-0E38-630A-A77F-2D3E9854C9F1}"/>
              </a:ext>
            </a:extLst>
          </p:cNvPr>
          <p:cNvSpPr/>
          <p:nvPr/>
        </p:nvSpPr>
        <p:spPr>
          <a:xfrm>
            <a:off x="2377645" y="1586874"/>
            <a:ext cx="6816791" cy="22419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9D8CDD-B0DE-3BA4-E2CE-366F65D9A531}"/>
              </a:ext>
            </a:extLst>
          </p:cNvPr>
          <p:cNvSpPr txBox="1"/>
          <p:nvPr/>
        </p:nvSpPr>
        <p:spPr>
          <a:xfrm>
            <a:off x="2371584" y="3247142"/>
            <a:ext cx="1695866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선택된 릴레이를 복구합니다. 이 작업은 되돌릴 수 없습니다.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CF90A00-3D68-0823-A25D-8897FA2CE372}"/>
              </a:ext>
            </a:extLst>
          </p:cNvPr>
          <p:cNvSpPr/>
          <p:nvPr/>
        </p:nvSpPr>
        <p:spPr>
          <a:xfrm>
            <a:off x="2371585" y="3586467"/>
            <a:ext cx="6816791" cy="53322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5E1AC-436A-7985-B08B-04D7D6D153C1}"/>
              </a:ext>
            </a:extLst>
          </p:cNvPr>
          <p:cNvSpPr txBox="1"/>
          <p:nvPr/>
        </p:nvSpPr>
        <p:spPr>
          <a:xfrm>
            <a:off x="2462476" y="1647468"/>
            <a:ext cx="30476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릴레이 ID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BACDA3-EED0-4421-776D-E7628DD5307D}"/>
              </a:ext>
            </a:extLst>
          </p:cNvPr>
          <p:cNvSpPr txBox="1"/>
          <p:nvPr/>
        </p:nvSpPr>
        <p:spPr>
          <a:xfrm>
            <a:off x="4734739" y="1647468"/>
            <a:ext cx="136336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E3C55-B707-F37B-016B-A7C7461C29E9}"/>
              </a:ext>
            </a:extLst>
          </p:cNvPr>
          <p:cNvSpPr txBox="1"/>
          <p:nvPr/>
        </p:nvSpPr>
        <p:spPr>
          <a:xfrm>
            <a:off x="7007003" y="1647468"/>
            <a:ext cx="498099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999999"/>
                </a:solidFill>
                <a:latin typeface="Apple SD Gothic Neo"/>
              </a:rPr>
              <a:t>마지막 업데이트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F6961-EA43-8AD6-541A-63F63D58BF37}"/>
              </a:ext>
            </a:extLst>
          </p:cNvPr>
          <p:cNvSpPr txBox="1"/>
          <p:nvPr/>
        </p:nvSpPr>
        <p:spPr>
          <a:xfrm>
            <a:off x="2371584" y="3422863"/>
            <a:ext cx="316508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   </a:t>
            </a:r>
            <a:r>
              <a:rPr sz="668" dirty="0" err="1">
                <a:solidFill>
                  <a:srgbClr val="333333"/>
                </a:solidFill>
                <a:latin typeface="Apple SD Gothic Neo"/>
              </a:rPr>
              <a:t>복구</a:t>
            </a:r>
            <a:r>
              <a:rPr sz="668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668" dirty="0" err="1">
                <a:solidFill>
                  <a:srgbClr val="333333"/>
                </a:solidFill>
                <a:latin typeface="Apple SD Gothic Neo"/>
              </a:rPr>
              <a:t>사유</a:t>
            </a:r>
            <a:endParaRPr sz="668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D2FB9E-08F3-B2F3-A037-40392EAC47B2}"/>
              </a:ext>
            </a:extLst>
          </p:cNvPr>
          <p:cNvSpPr txBox="1"/>
          <p:nvPr/>
        </p:nvSpPr>
        <p:spPr>
          <a:xfrm>
            <a:off x="2371585" y="3586467"/>
            <a:ext cx="6816791" cy="5332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dirty="0">
                <a:solidFill>
                  <a:srgbClr val="969696"/>
                </a:solidFill>
                <a:latin typeface="Apple SD Gothic Neo"/>
              </a:rPr>
              <a:t>   </a:t>
            </a:r>
            <a:r>
              <a:rPr sz="668" dirty="0" err="1">
                <a:solidFill>
                  <a:srgbClr val="969696"/>
                </a:solidFill>
                <a:latin typeface="Apple SD Gothic Neo"/>
              </a:rPr>
              <a:t>복구</a:t>
            </a:r>
            <a:r>
              <a:rPr sz="668" dirty="0">
                <a:solidFill>
                  <a:srgbClr val="969696"/>
                </a:solidFill>
                <a:latin typeface="Apple SD Gothic Neo"/>
              </a:rPr>
              <a:t> </a:t>
            </a:r>
            <a:r>
              <a:rPr sz="668" dirty="0" err="1">
                <a:solidFill>
                  <a:srgbClr val="969696"/>
                </a:solidFill>
                <a:latin typeface="Apple SD Gothic Neo"/>
              </a:rPr>
              <a:t>사유</a:t>
            </a:r>
            <a:endParaRPr sz="668" dirty="0">
              <a:solidFill>
                <a:srgbClr val="969696"/>
              </a:solidFill>
              <a:latin typeface="Apple SD Gothic Neo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3570D51-765D-A0D2-CA3C-DCAA836EE05A}"/>
              </a:ext>
            </a:extLst>
          </p:cNvPr>
          <p:cNvSpPr/>
          <p:nvPr/>
        </p:nvSpPr>
        <p:spPr>
          <a:xfrm>
            <a:off x="2462476" y="1871664"/>
            <a:ext cx="84102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733AA9E-F8E9-3A50-B8AC-643D861D7F70}"/>
              </a:ext>
            </a:extLst>
          </p:cNvPr>
          <p:cNvSpPr/>
          <p:nvPr/>
        </p:nvSpPr>
        <p:spPr>
          <a:xfrm>
            <a:off x="4734739" y="1871664"/>
            <a:ext cx="1114356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422643D-5C61-92F8-F9F2-D0CA76B3E4EF}"/>
              </a:ext>
            </a:extLst>
          </p:cNvPr>
          <p:cNvSpPr/>
          <p:nvPr/>
        </p:nvSpPr>
        <p:spPr>
          <a:xfrm>
            <a:off x="7007003" y="1871664"/>
            <a:ext cx="138769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C0A50F8-B350-0AED-776D-76222035B3A7}"/>
              </a:ext>
            </a:extLst>
          </p:cNvPr>
          <p:cNvSpPr/>
          <p:nvPr/>
        </p:nvSpPr>
        <p:spPr>
          <a:xfrm>
            <a:off x="2462476" y="2071624"/>
            <a:ext cx="98815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80D41AE-2B0B-BC9F-8693-23B13A33C7C5}"/>
              </a:ext>
            </a:extLst>
          </p:cNvPr>
          <p:cNvSpPr/>
          <p:nvPr/>
        </p:nvSpPr>
        <p:spPr>
          <a:xfrm>
            <a:off x="4734739" y="2071624"/>
            <a:ext cx="126148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49FFCE7-73FA-4AE6-3639-497347057383}"/>
              </a:ext>
            </a:extLst>
          </p:cNvPr>
          <p:cNvSpPr/>
          <p:nvPr/>
        </p:nvSpPr>
        <p:spPr>
          <a:xfrm>
            <a:off x="7007003" y="2071624"/>
            <a:ext cx="153482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E20ED30-5140-DA23-BBE4-9241047E0D10}"/>
              </a:ext>
            </a:extLst>
          </p:cNvPr>
          <p:cNvSpPr/>
          <p:nvPr/>
        </p:nvSpPr>
        <p:spPr>
          <a:xfrm>
            <a:off x="2462475" y="2271583"/>
            <a:ext cx="11353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957EBDA-9FD2-DFA8-75FC-CC9A33054757}"/>
              </a:ext>
            </a:extLst>
          </p:cNvPr>
          <p:cNvSpPr/>
          <p:nvPr/>
        </p:nvSpPr>
        <p:spPr>
          <a:xfrm>
            <a:off x="4734740" y="2271583"/>
            <a:ext cx="140870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A2CDE6A-C52A-4B1B-F30E-93F5ED92A3B8}"/>
              </a:ext>
            </a:extLst>
          </p:cNvPr>
          <p:cNvSpPr/>
          <p:nvPr/>
        </p:nvSpPr>
        <p:spPr>
          <a:xfrm>
            <a:off x="7007003" y="2271583"/>
            <a:ext cx="841021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658DE88-3875-3EE5-A79C-24111B38A60D}"/>
              </a:ext>
            </a:extLst>
          </p:cNvPr>
          <p:cNvSpPr/>
          <p:nvPr/>
        </p:nvSpPr>
        <p:spPr>
          <a:xfrm>
            <a:off x="2462475" y="2471542"/>
            <a:ext cx="128250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55E4507-C3D5-B263-0AF9-97C78BEF9613}"/>
              </a:ext>
            </a:extLst>
          </p:cNvPr>
          <p:cNvSpPr/>
          <p:nvPr/>
        </p:nvSpPr>
        <p:spPr>
          <a:xfrm>
            <a:off x="4734739" y="2471542"/>
            <a:ext cx="1555838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9FB686F-B007-E390-F4E7-24088C8875B5}"/>
              </a:ext>
            </a:extLst>
          </p:cNvPr>
          <p:cNvSpPr/>
          <p:nvPr/>
        </p:nvSpPr>
        <p:spPr>
          <a:xfrm>
            <a:off x="7007003" y="2471542"/>
            <a:ext cx="98815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FEE309D-FF74-7D64-ADBB-24BF717CAC3E}"/>
              </a:ext>
            </a:extLst>
          </p:cNvPr>
          <p:cNvSpPr/>
          <p:nvPr/>
        </p:nvSpPr>
        <p:spPr>
          <a:xfrm>
            <a:off x="2462475" y="2671502"/>
            <a:ext cx="1429727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F0F9648-6299-9DAA-5B08-64579EBEB8AB}"/>
              </a:ext>
            </a:extLst>
          </p:cNvPr>
          <p:cNvSpPr/>
          <p:nvPr/>
        </p:nvSpPr>
        <p:spPr>
          <a:xfrm>
            <a:off x="4734739" y="2671502"/>
            <a:ext cx="862040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55FCF98-7F9B-B0FA-F882-9F73F6E2C543}"/>
              </a:ext>
            </a:extLst>
          </p:cNvPr>
          <p:cNvSpPr/>
          <p:nvPr/>
        </p:nvSpPr>
        <p:spPr>
          <a:xfrm>
            <a:off x="7007002" y="2671502"/>
            <a:ext cx="1135375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87BF83F-4486-0268-385A-009FF0E7A719}"/>
              </a:ext>
            </a:extLst>
          </p:cNvPr>
          <p:cNvSpPr/>
          <p:nvPr/>
        </p:nvSpPr>
        <p:spPr>
          <a:xfrm>
            <a:off x="8216699" y="4192403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439E355-4B82-5B91-329F-A088F00CBBF6}"/>
              </a:ext>
            </a:extLst>
          </p:cNvPr>
          <p:cNvSpPr/>
          <p:nvPr/>
        </p:nvSpPr>
        <p:spPr>
          <a:xfrm>
            <a:off x="8642275" y="4192403"/>
            <a:ext cx="546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143D82-BA88-0FFF-F263-6E30F5744726}"/>
              </a:ext>
            </a:extLst>
          </p:cNvPr>
          <p:cNvSpPr txBox="1"/>
          <p:nvPr/>
        </p:nvSpPr>
        <p:spPr>
          <a:xfrm>
            <a:off x="8331827" y="4252997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3FA64-8544-952B-8B60-52D382C73BE3}"/>
              </a:ext>
            </a:extLst>
          </p:cNvPr>
          <p:cNvSpPr txBox="1"/>
          <p:nvPr/>
        </p:nvSpPr>
        <p:spPr>
          <a:xfrm>
            <a:off x="8757403" y="4252997"/>
            <a:ext cx="315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복구 실행</a:t>
            </a:r>
          </a:p>
        </p:txBody>
      </p:sp>
      <p:sp>
        <p:nvSpPr>
          <p:cNvPr id="970" name="메뉴-설정">
            <a:hlinkClick r:id="rId7" action="ppaction://hlinksldjump"/>
            <a:extLst>
              <a:ext uri="{FF2B5EF4-FFF2-40B4-BE49-F238E27FC236}">
                <a16:creationId xmlns:a16="http://schemas.microsoft.com/office/drawing/2014/main" id="{EDC1C6E0-87E9-710D-E342-B5E8898E635E}"/>
              </a:ext>
            </a:extLst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90" name="로딩 오버레이"/>
          <p:cNvSpPr/>
          <p:nvPr/>
        </p:nvSpPr>
        <p:spPr>
          <a:xfrm>
            <a:off x="464344" y="581025"/>
            <a:ext cx="8966994" cy="569595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91" name="로딩 팝업 카드"/>
          <p:cNvSpPr/>
          <p:nvPr/>
        </p:nvSpPr>
        <p:spPr>
          <a:xfrm>
            <a:off x="3095625" y="2046287"/>
            <a:ext cx="3714750" cy="20431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/>
          <a:lstStyle/>
          <a:p>
            <a:endParaRPr sz="1463"/>
          </a:p>
        </p:txBody>
      </p:sp>
      <p:sp>
        <p:nvSpPr>
          <p:cNvPr id="992" name="로딩 스피너"/>
          <p:cNvSpPr/>
          <p:nvPr/>
        </p:nvSpPr>
        <p:spPr>
          <a:xfrm>
            <a:off x="4715669" y="2355850"/>
            <a:ext cx="474663" cy="474663"/>
          </a:xfrm>
          <a:prstGeom prst="donut">
            <a:avLst>
              <a:gd name="adj" fmla="val 16000"/>
            </a:avLst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93" name="로딩 제목"/>
          <p:cNvSpPr txBox="1"/>
          <p:nvPr/>
        </p:nvSpPr>
        <p:spPr>
          <a:xfrm>
            <a:off x="3095625" y="2933700"/>
            <a:ext cx="3714750" cy="206375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1138" b="1">
                <a:solidFill>
                  <a:srgbClr val="333333"/>
                </a:solidFill>
                <a:latin typeface="Apple SD Gothic Neo"/>
                <a:ea typeface="Apple SD Gothic Neo"/>
              </a:rPr>
              <a:t>복구 중…</a:t>
            </a:r>
          </a:p>
        </p:txBody>
      </p:sp>
      <p:sp>
        <p:nvSpPr>
          <p:cNvPr id="994" name="로딩 안내"/>
          <p:cNvSpPr txBox="1"/>
          <p:nvPr/>
        </p:nvSpPr>
        <p:spPr>
          <a:xfrm>
            <a:off x="3095625" y="3201987"/>
            <a:ext cx="3714750" cy="309563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731">
                <a:solidFill>
                  <a:srgbClr val="666666"/>
                </a:solidFill>
                <a:latin typeface="Apple SD Gothic Neo"/>
                <a:ea typeface="Apple SD Gothic Neo"/>
              </a:rPr>
              <a:t>릴레이 복구를 실행하고 있습니다.</a:t>
            </a:r>
          </a:p>
          <a:p>
            <a:pPr algn="ctr"/>
            <a:r>
              <a:rPr lang="ko-KR" altLang="en-US" sz="731">
                <a:solidFill>
                  <a:srgbClr val="666666"/>
                </a:solidFill>
                <a:latin typeface="Apple SD Gothic Neo"/>
                <a:ea typeface="Apple SD Gothic Neo"/>
              </a:rPr>
              <a:t>잠시만 기다려 주세요.</a:t>
            </a:r>
          </a:p>
        </p:txBody>
      </p:sp>
      <p:sp>
        <p:nvSpPr>
          <p:cNvPr id="995" name="진행바 트랙"/>
          <p:cNvSpPr/>
          <p:nvPr/>
        </p:nvSpPr>
        <p:spPr>
          <a:xfrm>
            <a:off x="3405188" y="3697288"/>
            <a:ext cx="3095625" cy="8255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  <p:sp>
        <p:nvSpPr>
          <p:cNvPr id="996" name="진행바 채움"/>
          <p:cNvSpPr/>
          <p:nvPr/>
        </p:nvSpPr>
        <p:spPr>
          <a:xfrm>
            <a:off x="3405188" y="3697288"/>
            <a:ext cx="1238250" cy="8255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sz="1463"/>
          </a:p>
        </p:txBody>
      </p:sp>
    </p:spTree>
    <p:extLst>
      <p:ext uri="{BB962C8B-B14F-4D97-AF65-F5344CB8AC3E}">
        <p14:creationId xmlns:p14="http://schemas.microsoft.com/office/powerpoint/2010/main" val="25403028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2"/>
            <a:ext cx="7022810" cy="624115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041327"/>
            <a:ext cx="7022810" cy="587759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Rounded Rectangle 10"/>
          <p:cNvSpPr/>
          <p:nvPr/>
        </p:nvSpPr>
        <p:spPr>
          <a:xfrm>
            <a:off x="2268575" y="2726036"/>
            <a:ext cx="7022810" cy="69076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7" name="TextBox 16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8576" y="1114244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릴레이 복구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1585" y="1399034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복구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4" y="1562637"/>
            <a:ext cx="207249" cy="13936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54" b="1">
                <a:solidFill>
                  <a:srgbClr val="333333"/>
                </a:solidFill>
                <a:latin typeface="Apple SD Gothic Neo"/>
              </a:rPr>
              <a:t>성공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1585" y="1774716"/>
            <a:ext cx="1215093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릴레이 복구가 정상적으로 완료되었습니다.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1585" y="2120100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복구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1584" y="2459424"/>
            <a:ext cx="73110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2024-01-15 14:32:45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1585" y="2804808"/>
            <a:ext cx="27210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세부 사항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1584" y="2295820"/>
            <a:ext cx="4771754" cy="727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Rounded Rectangle 26"/>
          <p:cNvSpPr/>
          <p:nvPr/>
        </p:nvSpPr>
        <p:spPr>
          <a:xfrm>
            <a:off x="7882014" y="3513754"/>
            <a:ext cx="523851" cy="224196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Rounded Rectangle 27"/>
          <p:cNvSpPr/>
          <p:nvPr/>
        </p:nvSpPr>
        <p:spPr>
          <a:xfrm>
            <a:off x="8502815" y="3513754"/>
            <a:ext cx="788570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9" name="TextBox 28"/>
          <p:cNvSpPr txBox="1"/>
          <p:nvPr/>
        </p:nvSpPr>
        <p:spPr>
          <a:xfrm>
            <a:off x="2371584" y="2968411"/>
            <a:ext cx="718130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장비 ID: BAT-001-REL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1584" y="3107776"/>
            <a:ext cx="64901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복구 모드: 자동 재설정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1584" y="3247142"/>
            <a:ext cx="580564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상태 코드: 0x0000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7142" y="3574348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333333"/>
                </a:solidFill>
                <a:latin typeface="Apple SD Gothic Neo"/>
              </a:rPr>
              <a:t>이전으로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7943" y="3574348"/>
            <a:ext cx="55831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센서 수집 상태로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18" name="실시간대시보드로 버튼">
            <a:hlinkClick r:id="rId7" action="ppaction://hlinksldjump"/>
            <a:extLst>
              <a:ext uri="{FF2B5EF4-FFF2-40B4-BE49-F238E27FC236}">
                <a16:creationId xmlns:a16="http://schemas.microsoft.com/office/drawing/2014/main" id="{8DA784C4-D4A5-B658-B45E-3A8DB1649612}"/>
              </a:ext>
            </a:extLst>
          </p:cNvPr>
          <p:cNvSpPr/>
          <p:nvPr/>
        </p:nvSpPr>
        <p:spPr>
          <a:xfrm>
            <a:off x="3020600" y="1044528"/>
            <a:ext cx="483897" cy="24765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68" dirty="0">
                <a:solidFill>
                  <a:srgbClr val="333333"/>
                </a:solidFill>
                <a:latin typeface="Apple SD Gothic Neo"/>
              </a:rPr>
              <a:t>돌아가기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ounded Rectangle 8"/>
          <p:cNvSpPr/>
          <p:nvPr/>
        </p:nvSpPr>
        <p:spPr>
          <a:xfrm>
            <a:off x="2268575" y="1320262"/>
            <a:ext cx="7022810" cy="87860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ounded Rectangle 9"/>
          <p:cNvSpPr/>
          <p:nvPr/>
        </p:nvSpPr>
        <p:spPr>
          <a:xfrm>
            <a:off x="2268575" y="2295820"/>
            <a:ext cx="7022810" cy="87860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Rounded Rectangle 10"/>
          <p:cNvSpPr/>
          <p:nvPr/>
        </p:nvSpPr>
        <p:spPr>
          <a:xfrm>
            <a:off x="2268575" y="3271379"/>
            <a:ext cx="7022810" cy="87860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2" name="Rounded Rectangle 11"/>
          <p:cNvSpPr/>
          <p:nvPr/>
        </p:nvSpPr>
        <p:spPr>
          <a:xfrm>
            <a:off x="2268575" y="4246937"/>
            <a:ext cx="7022810" cy="87860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5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6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584" y="1399034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온도 임계치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1584" y="2374592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전압 임계치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1584" y="3350151"/>
            <a:ext cx="443186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전류 임계치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1585" y="4325709"/>
            <a:ext cx="480868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SOC 임계치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4284" y="5222496"/>
            <a:ext cx="377101" cy="224196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TextBox 25"/>
          <p:cNvSpPr txBox="1"/>
          <p:nvPr/>
        </p:nvSpPr>
        <p:spPr>
          <a:xfrm>
            <a:off x="9029412" y="52830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668">
                <a:solidFill>
                  <a:srgbClr val="FFFFFF"/>
                </a:solidFill>
                <a:latin typeface="Apple SD Gothic Neo"/>
              </a:rPr>
              <a:t>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1585" y="1580816"/>
            <a:ext cx="43438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경고 온도 (°C)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2324" y="1580816"/>
            <a:ext cx="43438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위험 온도 (°C)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063" y="1580816"/>
            <a:ext cx="434381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온도 (°C)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1585" y="2556374"/>
            <a:ext cx="39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경고 전압 (V)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2323" y="2556374"/>
            <a:ext cx="39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위험 전압 (V)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062" y="2556374"/>
            <a:ext cx="39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전압 (V)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1585" y="3531932"/>
            <a:ext cx="39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경고 전류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2323" y="3531932"/>
            <a:ext cx="39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위험 전류 (A)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062" y="3531932"/>
            <a:ext cx="397078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차단 전류 (A)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1585" y="4507491"/>
            <a:ext cx="59031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최소 경고 SOC (%)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2323" y="4507491"/>
            <a:ext cx="59031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최소 위험 SOC (%)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3062" y="4507491"/>
            <a:ext cx="590315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최대 경고 SOC (%)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1585" y="1895902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0" name="Rounded Rectangle 39"/>
          <p:cNvSpPr/>
          <p:nvPr/>
        </p:nvSpPr>
        <p:spPr>
          <a:xfrm>
            <a:off x="4692323" y="1895902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1" name="Rounded Rectangle 40"/>
          <p:cNvSpPr/>
          <p:nvPr/>
        </p:nvSpPr>
        <p:spPr>
          <a:xfrm>
            <a:off x="7013062" y="1895902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2" name="Rounded Rectangle 41"/>
          <p:cNvSpPr/>
          <p:nvPr/>
        </p:nvSpPr>
        <p:spPr>
          <a:xfrm>
            <a:off x="2371585" y="2871461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3" name="Rounded Rectangle 42"/>
          <p:cNvSpPr/>
          <p:nvPr/>
        </p:nvSpPr>
        <p:spPr>
          <a:xfrm>
            <a:off x="4692323" y="2871461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4" name="Rounded Rectangle 43"/>
          <p:cNvSpPr/>
          <p:nvPr/>
        </p:nvSpPr>
        <p:spPr>
          <a:xfrm>
            <a:off x="7013062" y="2871461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5" name="Rounded Rectangle 44"/>
          <p:cNvSpPr/>
          <p:nvPr/>
        </p:nvSpPr>
        <p:spPr>
          <a:xfrm>
            <a:off x="2371585" y="3847019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6" name="Rounded Rectangle 45"/>
          <p:cNvSpPr/>
          <p:nvPr/>
        </p:nvSpPr>
        <p:spPr>
          <a:xfrm>
            <a:off x="4692323" y="3847019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7" name="Rounded Rectangle 46"/>
          <p:cNvSpPr/>
          <p:nvPr/>
        </p:nvSpPr>
        <p:spPr>
          <a:xfrm>
            <a:off x="7013062" y="3847019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8" name="Rounded Rectangle 47"/>
          <p:cNvSpPr/>
          <p:nvPr/>
        </p:nvSpPr>
        <p:spPr>
          <a:xfrm>
            <a:off x="2371585" y="4822578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9" name="Rounded Rectangle 48"/>
          <p:cNvSpPr/>
          <p:nvPr/>
        </p:nvSpPr>
        <p:spPr>
          <a:xfrm>
            <a:off x="4692323" y="4822578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0" name="Rounded Rectangle 49"/>
          <p:cNvSpPr/>
          <p:nvPr/>
        </p:nvSpPr>
        <p:spPr>
          <a:xfrm>
            <a:off x="7013062" y="4822578"/>
            <a:ext cx="2175314" cy="22419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1" name="TextBox 50"/>
          <p:cNvSpPr txBox="1"/>
          <p:nvPr/>
        </p:nvSpPr>
        <p:spPr>
          <a:xfrm>
            <a:off x="2371584" y="1732300"/>
            <a:ext cx="22628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92324" y="1732300"/>
            <a:ext cx="226469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3062" y="1732300"/>
            <a:ext cx="22628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71585" y="2707858"/>
            <a:ext cx="245499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4.3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2323" y="2707858"/>
            <a:ext cx="244553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4.5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3062" y="2707858"/>
            <a:ext cx="240197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4.7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1585" y="3683417"/>
            <a:ext cx="22467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2324" y="3683417"/>
            <a:ext cx="219273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13062" y="3683417"/>
            <a:ext cx="226280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1584" y="4658975"/>
            <a:ext cx="211604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2324" y="4658975"/>
            <a:ext cx="172218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3062" y="4658975"/>
            <a:ext cx="225238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333333"/>
                </a:solidFill>
                <a:latin typeface="Apple SD Gothic Neo"/>
              </a:rPr>
              <a:t>예: 95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릴레이 제어 탭">
            <a:hlinkClick r:id="rId7" action="ppaction://hlinksldjump"/>
          </p:cNvPr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임계치 설정 탭">
            <a:hlinkClick r:id="rId8" action="ppaction://hlinksldjump"/>
          </p:cNvPr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 u="sng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계정 설정 탭">
            <a:hlinkClick r:id="rId9" action="ppaction://hlinksldjump"/>
          </p:cNvPr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dirty="0" err="1">
                <a:solidFill>
                  <a:srgbClr val="333333"/>
                </a:solidFill>
                <a:latin typeface="Apple SD Gothic Neo"/>
              </a:rPr>
              <a:t>계정</a:t>
            </a:r>
            <a:r>
              <a:rPr sz="609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609" dirty="0" err="1">
                <a:solidFill>
                  <a:srgbClr val="333333"/>
                </a:solidFill>
                <a:latin typeface="Apple SD Gothic Neo"/>
              </a:rPr>
              <a:t>설정</a:t>
            </a:r>
            <a:endParaRPr sz="609" b="1" dirty="0">
              <a:solidFill>
                <a:srgbClr val="333333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>
            <a:hlinkClick r:id="rId6" action="ppaction://hlinksldjump"/>
          </p:cNvPr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>
            <a:hlinkClick r:id="rId7" action="ppaction://hlinksldjump"/>
          </p:cNvPr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972">
            <a:hlinkClick r:id="rId8" action="ppaction://hlinksldjump"/>
          </p:cNvPr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 dirty="0" err="1">
                <a:solidFill>
                  <a:srgbClr val="333333"/>
                </a:solidFill>
                <a:latin typeface="Apple SD Gothic Neo"/>
              </a:rPr>
              <a:t>계정</a:t>
            </a:r>
            <a:r>
              <a:rPr sz="609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609" b="1" dirty="0" err="1">
                <a:solidFill>
                  <a:srgbClr val="333333"/>
                </a:solidFill>
                <a:latin typeface="Apple SD Gothic Neo"/>
              </a:rPr>
              <a:t>설정</a:t>
            </a:r>
            <a:endParaRPr sz="609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974" name="Rounded Rectangle 973"/>
          <p:cNvSpPr/>
          <p:nvPr/>
        </p:nvSpPr>
        <p:spPr>
          <a:xfrm>
            <a:off x="3439859" y="1210056"/>
            <a:ext cx="430911" cy="14859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5" name="Rounded Rectangle 974"/>
          <p:cNvSpPr/>
          <p:nvPr/>
        </p:nvSpPr>
        <p:spPr>
          <a:xfrm>
            <a:off x="2265997" y="1321499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6" name="TextBox 975"/>
          <p:cNvSpPr txBox="1"/>
          <p:nvPr/>
        </p:nvSpPr>
        <p:spPr>
          <a:xfrm>
            <a:off x="2429447" y="1410653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429447" y="1633537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8469629" y="1514666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265997" y="2019872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0" name="TextBox 979"/>
          <p:cNvSpPr txBox="1"/>
          <p:nvPr/>
        </p:nvSpPr>
        <p:spPr>
          <a:xfrm>
            <a:off x="2429447" y="2109026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429447" y="2331910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8469629" y="2213039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265997" y="2718245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4" name="TextBox 983"/>
          <p:cNvSpPr txBox="1"/>
          <p:nvPr/>
        </p:nvSpPr>
        <p:spPr>
          <a:xfrm>
            <a:off x="2429447" y="2807399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429447" y="3030283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8469629" y="2911412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265997" y="3416618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8" name="TextBox 987"/>
          <p:cNvSpPr txBox="1"/>
          <p:nvPr/>
        </p:nvSpPr>
        <p:spPr>
          <a:xfrm>
            <a:off x="2429447" y="3505772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429447" y="3728656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8469629" y="3609785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265997" y="4196715"/>
            <a:ext cx="7020878" cy="77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4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3439859" y="1210056"/>
            <a:ext cx="430911" cy="14859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5" name="Rounded Rectangle 974"/>
          <p:cNvSpPr/>
          <p:nvPr/>
        </p:nvSpPr>
        <p:spPr>
          <a:xfrm>
            <a:off x="2265997" y="1321499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6" name="TextBox 975"/>
          <p:cNvSpPr txBox="1"/>
          <p:nvPr/>
        </p:nvSpPr>
        <p:spPr>
          <a:xfrm>
            <a:off x="2429447" y="1410653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429447" y="1633537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8469629" y="1514666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265997" y="2019872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0" name="TextBox 979"/>
          <p:cNvSpPr txBox="1"/>
          <p:nvPr/>
        </p:nvSpPr>
        <p:spPr>
          <a:xfrm>
            <a:off x="2429447" y="2109026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429447" y="2331910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8469629" y="2213039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265997" y="2718245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4" name="TextBox 983"/>
          <p:cNvSpPr txBox="1"/>
          <p:nvPr/>
        </p:nvSpPr>
        <p:spPr>
          <a:xfrm>
            <a:off x="2429447" y="2807399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429447" y="3030283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8469629" y="2911412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265997" y="3416618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8" name="TextBox 987"/>
          <p:cNvSpPr txBox="1"/>
          <p:nvPr/>
        </p:nvSpPr>
        <p:spPr>
          <a:xfrm>
            <a:off x="2429447" y="3505772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429447" y="3728656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8469629" y="3609785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265997" y="4196715"/>
            <a:ext cx="7020878" cy="77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4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468058" y="578548"/>
            <a:ext cx="8967407" cy="5698427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3" name="Rounded Rectangle 992"/>
          <p:cNvSpPr/>
          <p:nvPr/>
        </p:nvSpPr>
        <p:spPr>
          <a:xfrm>
            <a:off x="3098102" y="2357914"/>
            <a:ext cx="3714750" cy="18945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4" name="TextBox 993"/>
          <p:cNvSpPr txBox="1"/>
          <p:nvPr/>
        </p:nvSpPr>
        <p:spPr>
          <a:xfrm>
            <a:off x="3313557" y="2543651"/>
            <a:ext cx="3283839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아이디 수정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3313557" y="2818543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새 아이디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3313557" y="2967133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7" name="TextBox 996"/>
          <p:cNvSpPr txBox="1"/>
          <p:nvPr/>
        </p:nvSpPr>
        <p:spPr>
          <a:xfrm>
            <a:off x="3417571" y="3045926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새 아이디를 입력하세요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5988177" y="3858673"/>
            <a:ext cx="609219" cy="245174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FFFFFF"/>
                </a:solidFill>
                <a:latin typeface="Apple SD Gothic Neo"/>
              </a:rPr>
              <a:t>수정 완료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5490401" y="3858673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3439859" y="1210056"/>
            <a:ext cx="430911" cy="14859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5" name="Rounded Rectangle 974"/>
          <p:cNvSpPr/>
          <p:nvPr/>
        </p:nvSpPr>
        <p:spPr>
          <a:xfrm>
            <a:off x="2265997" y="1321499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6" name="TextBox 975"/>
          <p:cNvSpPr txBox="1"/>
          <p:nvPr/>
        </p:nvSpPr>
        <p:spPr>
          <a:xfrm>
            <a:off x="2429447" y="1410653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429447" y="1633537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8469629" y="1514666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265997" y="2019872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0" name="TextBox 979"/>
          <p:cNvSpPr txBox="1"/>
          <p:nvPr/>
        </p:nvSpPr>
        <p:spPr>
          <a:xfrm>
            <a:off x="2429447" y="2109026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429447" y="2331910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8469629" y="2213039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265997" y="2718245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4" name="TextBox 983"/>
          <p:cNvSpPr txBox="1"/>
          <p:nvPr/>
        </p:nvSpPr>
        <p:spPr>
          <a:xfrm>
            <a:off x="2429447" y="2807399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429447" y="3030283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8469629" y="2911412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265997" y="3416618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8" name="TextBox 987"/>
          <p:cNvSpPr txBox="1"/>
          <p:nvPr/>
        </p:nvSpPr>
        <p:spPr>
          <a:xfrm>
            <a:off x="2429447" y="3505772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429447" y="3728656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8469629" y="3609785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265997" y="4196715"/>
            <a:ext cx="7020878" cy="77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4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468058" y="578548"/>
            <a:ext cx="8967407" cy="5698427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3" name="Rounded Rectangle 992"/>
          <p:cNvSpPr/>
          <p:nvPr/>
        </p:nvSpPr>
        <p:spPr>
          <a:xfrm>
            <a:off x="3098102" y="1837849"/>
            <a:ext cx="3714750" cy="29346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4" name="TextBox 993"/>
          <p:cNvSpPr txBox="1"/>
          <p:nvPr/>
        </p:nvSpPr>
        <p:spPr>
          <a:xfrm>
            <a:off x="3313557" y="2023586"/>
            <a:ext cx="3283839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비밀번호 변경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3313557" y="2298478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현재 비밀번호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3313557" y="2447068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7" name="TextBox 996"/>
          <p:cNvSpPr txBox="1"/>
          <p:nvPr/>
        </p:nvSpPr>
        <p:spPr>
          <a:xfrm>
            <a:off x="3417571" y="2525861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현재 비밀번호 입력</a:t>
            </a:r>
          </a:p>
        </p:txBody>
      </p:sp>
      <p:sp>
        <p:nvSpPr>
          <p:cNvPr id="998" name="TextBox 997"/>
          <p:cNvSpPr txBox="1"/>
          <p:nvPr/>
        </p:nvSpPr>
        <p:spPr>
          <a:xfrm>
            <a:off x="3313557" y="2833402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새 비밀번호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3313557" y="2981992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00" name="TextBox 999"/>
          <p:cNvSpPr txBox="1"/>
          <p:nvPr/>
        </p:nvSpPr>
        <p:spPr>
          <a:xfrm>
            <a:off x="3417571" y="3060785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새 비밀번호 입력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313557" y="3368326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비밀번호 확인</a:t>
            </a:r>
          </a:p>
        </p:txBody>
      </p:sp>
      <p:sp>
        <p:nvSpPr>
          <p:cNvPr id="1002" name="Rounded Rectangle 1001"/>
          <p:cNvSpPr/>
          <p:nvPr/>
        </p:nvSpPr>
        <p:spPr>
          <a:xfrm>
            <a:off x="3313557" y="3516916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03" name="TextBox 1002"/>
          <p:cNvSpPr txBox="1"/>
          <p:nvPr/>
        </p:nvSpPr>
        <p:spPr>
          <a:xfrm>
            <a:off x="3417571" y="3595709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새 비밀번호 재입력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5988177" y="4378737"/>
            <a:ext cx="609219" cy="245174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FFFFFF"/>
                </a:solidFill>
                <a:latin typeface="Apple SD Gothic Neo"/>
              </a:rPr>
              <a:t>변경 완료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5490401" y="4378737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3439859" y="1210056"/>
            <a:ext cx="430911" cy="14859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5" name="Rounded Rectangle 974"/>
          <p:cNvSpPr/>
          <p:nvPr/>
        </p:nvSpPr>
        <p:spPr>
          <a:xfrm>
            <a:off x="2265997" y="1321499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6" name="TextBox 975"/>
          <p:cNvSpPr txBox="1"/>
          <p:nvPr/>
        </p:nvSpPr>
        <p:spPr>
          <a:xfrm>
            <a:off x="2429447" y="1410653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429447" y="1633537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8469629" y="1514666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265997" y="2019872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0" name="TextBox 979"/>
          <p:cNvSpPr txBox="1"/>
          <p:nvPr/>
        </p:nvSpPr>
        <p:spPr>
          <a:xfrm>
            <a:off x="2429447" y="2109026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429447" y="2331910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8469629" y="2213039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265997" y="2718245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4" name="TextBox 983"/>
          <p:cNvSpPr txBox="1"/>
          <p:nvPr/>
        </p:nvSpPr>
        <p:spPr>
          <a:xfrm>
            <a:off x="2429447" y="2807399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429447" y="3030283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8469629" y="2911412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265997" y="3416618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8" name="TextBox 987"/>
          <p:cNvSpPr txBox="1"/>
          <p:nvPr/>
        </p:nvSpPr>
        <p:spPr>
          <a:xfrm>
            <a:off x="2429447" y="3505772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429447" y="3728656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8469629" y="3609785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265997" y="4196715"/>
            <a:ext cx="7020878" cy="77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4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468058" y="578548"/>
            <a:ext cx="8967407" cy="5698427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3" name="Rounded Rectangle 992"/>
          <p:cNvSpPr/>
          <p:nvPr/>
        </p:nvSpPr>
        <p:spPr>
          <a:xfrm>
            <a:off x="3098102" y="2357914"/>
            <a:ext cx="3714750" cy="18945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4" name="TextBox 993"/>
          <p:cNvSpPr txBox="1"/>
          <p:nvPr/>
        </p:nvSpPr>
        <p:spPr>
          <a:xfrm>
            <a:off x="3313557" y="2543651"/>
            <a:ext cx="3283839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전화번호 수정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3313557" y="2818543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새 전화번호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3313557" y="2967133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7" name="TextBox 996"/>
          <p:cNvSpPr txBox="1"/>
          <p:nvPr/>
        </p:nvSpPr>
        <p:spPr>
          <a:xfrm>
            <a:off x="3417571" y="3045926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010-0000-0000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5988177" y="3858673"/>
            <a:ext cx="609219" cy="245174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FFFFFF"/>
                </a:solidFill>
                <a:latin typeface="Apple SD Gothic Neo"/>
              </a:rPr>
              <a:t>수정 완료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5490401" y="3858673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943" y="581019"/>
            <a:ext cx="8967867" cy="5695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" name="Rectangle 2"/>
          <p:cNvSpPr/>
          <p:nvPr/>
        </p:nvSpPr>
        <p:spPr>
          <a:xfrm>
            <a:off x="468943" y="581018"/>
            <a:ext cx="8967867" cy="38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4" name="Rounded Rectangle 3"/>
          <p:cNvSpPr/>
          <p:nvPr/>
        </p:nvSpPr>
        <p:spPr>
          <a:xfrm>
            <a:off x="7043454" y="653731"/>
            <a:ext cx="1854167" cy="23631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5" name="Rectangle 4"/>
          <p:cNvSpPr/>
          <p:nvPr/>
        </p:nvSpPr>
        <p:spPr>
          <a:xfrm>
            <a:off x="468942" y="968819"/>
            <a:ext cx="1654208" cy="53080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6" name="TextBox 5"/>
          <p:cNvSpPr txBox="1"/>
          <p:nvPr/>
        </p:nvSpPr>
        <p:spPr>
          <a:xfrm>
            <a:off x="614368" y="717355"/>
            <a:ext cx="634814" cy="1090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8994571" y="723414"/>
            <a:ext cx="272577" cy="969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2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5" y="711295"/>
            <a:ext cx="121188" cy="1211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1888" y="708266"/>
            <a:ext cx="1526961" cy="1272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" y="1126363"/>
            <a:ext cx="125827" cy="908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572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565893" y="1350559"/>
            <a:ext cx="29359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565892" y="1586874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668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565892" y="1823190"/>
            <a:ext cx="146845" cy="10301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68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265997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2852928" y="1113473"/>
            <a:ext cx="482918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임계치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3439859" y="1106043"/>
            <a:ext cx="430911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3439859" y="1210056"/>
            <a:ext cx="430911" cy="14859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5" name="Rounded Rectangle 974"/>
          <p:cNvSpPr/>
          <p:nvPr/>
        </p:nvSpPr>
        <p:spPr>
          <a:xfrm>
            <a:off x="2265997" y="1321499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76" name="TextBox 975"/>
          <p:cNvSpPr txBox="1"/>
          <p:nvPr/>
        </p:nvSpPr>
        <p:spPr>
          <a:xfrm>
            <a:off x="2429447" y="1410653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429447" y="1633537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8469629" y="1514666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265997" y="2019872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0" name="TextBox 979"/>
          <p:cNvSpPr txBox="1"/>
          <p:nvPr/>
        </p:nvSpPr>
        <p:spPr>
          <a:xfrm>
            <a:off x="2429447" y="2109026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429447" y="2331910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8469629" y="2213039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265997" y="2718245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4" name="TextBox 983"/>
          <p:cNvSpPr txBox="1"/>
          <p:nvPr/>
        </p:nvSpPr>
        <p:spPr>
          <a:xfrm>
            <a:off x="2429447" y="2807399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429447" y="3030283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8469629" y="2911412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265997" y="3416618"/>
            <a:ext cx="7020878" cy="6092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88" name="TextBox 987"/>
          <p:cNvSpPr txBox="1"/>
          <p:nvPr/>
        </p:nvSpPr>
        <p:spPr>
          <a:xfrm>
            <a:off x="2429447" y="3505772"/>
            <a:ext cx="1337310" cy="9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9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429447" y="3728656"/>
            <a:ext cx="5200650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8469629" y="3609785"/>
            <a:ext cx="653796" cy="222885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265997" y="4196715"/>
            <a:ext cx="7020878" cy="77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4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468058" y="578548"/>
            <a:ext cx="8967407" cy="5698427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3" name="Rounded Rectangle 992"/>
          <p:cNvSpPr/>
          <p:nvPr/>
        </p:nvSpPr>
        <p:spPr>
          <a:xfrm>
            <a:off x="3098102" y="2357914"/>
            <a:ext cx="3714750" cy="18945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4" name="TextBox 993"/>
          <p:cNvSpPr txBox="1"/>
          <p:nvPr/>
        </p:nvSpPr>
        <p:spPr>
          <a:xfrm>
            <a:off x="3313557" y="2543651"/>
            <a:ext cx="3283839" cy="1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4" b="1">
                <a:solidFill>
                  <a:srgbClr val="333333"/>
                </a:solidFill>
                <a:latin typeface="Apple SD Gothic Neo"/>
              </a:rPr>
              <a:t>이메일 수정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3313557" y="2818543"/>
            <a:ext cx="3283839" cy="87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9">
                <a:solidFill>
                  <a:srgbClr val="333333"/>
                </a:solidFill>
                <a:latin typeface="Apple SD Gothic Neo"/>
              </a:rPr>
              <a:t>새 이메일 주소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3313557" y="2967133"/>
            <a:ext cx="3283839" cy="24517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97" name="TextBox 996"/>
          <p:cNvSpPr txBox="1"/>
          <p:nvPr/>
        </p:nvSpPr>
        <p:spPr>
          <a:xfrm>
            <a:off x="3417571" y="3045926"/>
            <a:ext cx="3105530" cy="8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9">
                <a:solidFill>
                  <a:srgbClr val="969696"/>
                </a:solidFill>
                <a:latin typeface="Apple SD Gothic Neo"/>
              </a:rPr>
              <a:t>예: user@example.com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5988177" y="3858673"/>
            <a:ext cx="609219" cy="245174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FFFFFF"/>
                </a:solidFill>
                <a:latin typeface="Apple SD Gothic Neo"/>
              </a:rPr>
              <a:t>수정 완료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5490401" y="3858673"/>
            <a:ext cx="423481" cy="245174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585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CE5D-0A89-D585-2D8D-40A762D4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BEBEFDB-B986-26B3-22E4-2BE634563700}"/>
              </a:ext>
            </a:extLst>
          </p:cNvPr>
          <p:cNvSpPr/>
          <p:nvPr/>
        </p:nvSpPr>
        <p:spPr>
          <a:xfrm>
            <a:off x="204040" y="604185"/>
            <a:ext cx="9378267" cy="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C91783-95E1-EAE8-CE42-14A02120E827}"/>
              </a:ext>
            </a:extLst>
          </p:cNvPr>
          <p:cNvSpPr txBox="1"/>
          <p:nvPr/>
        </p:nvSpPr>
        <p:spPr>
          <a:xfrm>
            <a:off x="304362" y="163550"/>
            <a:ext cx="3462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참고 논문</a:t>
            </a:r>
            <a:r>
              <a:rPr lang="en-US" altLang="ko-KR" b="1" dirty="0"/>
              <a:t>/</a:t>
            </a:r>
            <a:r>
              <a:rPr lang="ko-KR" altLang="en-US" b="1" dirty="0"/>
              <a:t>자료 출처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BCF98B-245C-E2D0-535A-9FC4D79F12D7}"/>
              </a:ext>
            </a:extLst>
          </p:cNvPr>
          <p:cNvSpPr txBox="1"/>
          <p:nvPr/>
        </p:nvSpPr>
        <p:spPr>
          <a:xfrm>
            <a:off x="9143740" y="6551184"/>
            <a:ext cx="669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&lt; 1 / 1 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445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93F8BC-9467-F245-A465-D1E24CD947B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dd60280-6fcb-4f87-8429-1ef940aa6bd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1195</TotalTime>
  <Words>9032</Words>
  <Application>Microsoft Macintosh PowerPoint</Application>
  <PresentationFormat>A4 용지(210x297mm)</PresentationFormat>
  <Paragraphs>2494</Paragraphs>
  <Slides>69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78" baseType="lpstr">
      <vt:lpstr>굴림</vt:lpstr>
      <vt:lpstr>맑은 고딕</vt:lpstr>
      <vt:lpstr>Apple SD Gothic Neo</vt:lpstr>
      <vt:lpstr>Urbanist</vt:lpstr>
      <vt:lpstr>Arial</vt:lpstr>
      <vt:lpstr>Calibri</vt:lpstr>
      <vt:lpstr>Calibri Light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카프카 셋업 환경</vt:lpstr>
      <vt:lpstr>카프카 셋업 환경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승훈</dc:creator>
  <cp:lastModifiedBy>정재환</cp:lastModifiedBy>
  <cp:revision>86</cp:revision>
  <dcterms:created xsi:type="dcterms:W3CDTF">2026-04-28T10:13:30Z</dcterms:created>
  <dcterms:modified xsi:type="dcterms:W3CDTF">2026-06-30T11:07:56Z</dcterms:modified>
</cp:coreProperties>
</file>