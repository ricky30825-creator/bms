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7"/>
  </p:notesMasterIdLst>
  <p:sldIdLst>
    <p:sldId id="317" r:id="rId2"/>
    <p:sldId id="282" r:id="rId3"/>
    <p:sldId id="299" r:id="rId4"/>
    <p:sldId id="256" r:id="rId5"/>
    <p:sldId id="304" r:id="rId6"/>
    <p:sldId id="258" r:id="rId7"/>
    <p:sldId id="300" r:id="rId8"/>
    <p:sldId id="303" r:id="rId9"/>
    <p:sldId id="301" r:id="rId10"/>
    <p:sldId id="268" r:id="rId11"/>
    <p:sldId id="331" r:id="rId12"/>
    <p:sldId id="332" r:id="rId13"/>
    <p:sldId id="333" r:id="rId14"/>
    <p:sldId id="259" r:id="rId15"/>
    <p:sldId id="260" r:id="rId16"/>
    <p:sldId id="261" r:id="rId17"/>
    <p:sldId id="262" r:id="rId18"/>
    <p:sldId id="263" r:id="rId19"/>
    <p:sldId id="319" r:id="rId20"/>
    <p:sldId id="320" r:id="rId21"/>
    <p:sldId id="321" r:id="rId22"/>
    <p:sldId id="322" r:id="rId23"/>
    <p:sldId id="323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264" r:id="rId32"/>
    <p:sldId id="270" r:id="rId33"/>
    <p:sldId id="336" r:id="rId34"/>
    <p:sldId id="340" r:id="rId35"/>
    <p:sldId id="341" r:id="rId36"/>
    <p:sldId id="342" r:id="rId37"/>
    <p:sldId id="272" r:id="rId38"/>
    <p:sldId id="343" r:id="rId39"/>
    <p:sldId id="344" r:id="rId40"/>
    <p:sldId id="257" r:id="rId41"/>
    <p:sldId id="347" r:id="rId42"/>
    <p:sldId id="348" r:id="rId43"/>
    <p:sldId id="350" r:id="rId44"/>
    <p:sldId id="351" r:id="rId45"/>
    <p:sldId id="318" r:id="rId46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서비스 벤치 마킹" id="{355E7A57-BEED-499C-AC3B-EEF70EC95753}">
          <p14:sldIdLst>
            <p14:sldId id="317"/>
            <p14:sldId id="282"/>
            <p14:sldId id="299"/>
          </p14:sldIdLst>
        </p14:section>
        <p14:section name="팀프로젝트 역할 정의" id="{801F4109-CDB0-46CE-86BA-9A6A4BA3EDA3}">
          <p14:sldIdLst>
            <p14:sldId id="256"/>
            <p14:sldId id="304"/>
            <p14:sldId id="258"/>
            <p14:sldId id="300"/>
            <p14:sldId id="303"/>
            <p14:sldId id="301"/>
            <p14:sldId id="268"/>
          </p14:sldIdLst>
        </p14:section>
        <p14:section name="PCB 회로 설계 및 개발" id="{2F0E382C-90A3-47BF-ACA4-67946E9A6AFF}">
          <p14:sldIdLst/>
        </p14:section>
        <p14:section name="데이터 수집 및 파이프라인 구축" id="{3682CF2F-5BBD-4EFF-8CBC-69CDD364F7F8}">
          <p14:sldIdLst>
            <p14:sldId id="331"/>
            <p14:sldId id="332"/>
            <p14:sldId id="333"/>
            <p14:sldId id="259"/>
            <p14:sldId id="260"/>
            <p14:sldId id="261"/>
            <p14:sldId id="262"/>
            <p14:sldId id="263"/>
          </p14:sldIdLst>
        </p14:section>
        <p14:section name="열폭주 이상 징후 AI  모델 구현" id="{B1DF91BA-F1E5-4CAA-A658-F73F3ACE6614}">
          <p14:sldIdLst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</p14:sldIdLst>
        </p14:section>
        <p14:section name="웹 모니터링 및 대시보드" id="{065432A1-0687-429E-94F2-6DF0584393F1}">
          <p14:sldIdLst>
            <p14:sldId id="264"/>
            <p14:sldId id="270"/>
            <p14:sldId id="336"/>
            <p14:sldId id="340"/>
            <p14:sldId id="341"/>
            <p14:sldId id="342"/>
            <p14:sldId id="272"/>
            <p14:sldId id="343"/>
            <p14:sldId id="344"/>
            <p14:sldId id="257"/>
            <p14:sldId id="347"/>
            <p14:sldId id="348"/>
            <p14:sldId id="350"/>
            <p14:sldId id="351"/>
            <p14:sldId id="31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F1D9"/>
    <a:srgbClr val="71AD47"/>
    <a:srgbClr val="E6A23B"/>
    <a:srgbClr val="D9534E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68" autoAdjust="0"/>
    <p:restoredTop sz="95682"/>
  </p:normalViewPr>
  <p:slideViewPr>
    <p:cSldViewPr snapToGrid="0">
      <p:cViewPr>
        <p:scale>
          <a:sx n="77" d="100"/>
          <a:sy n="77" d="100"/>
        </p:scale>
        <p:origin x="736" y="17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AFBD07-A916-4FD5-9E75-3DCF55741EE0}" type="doc">
      <dgm:prSet loTypeId="urn:microsoft.com/office/officeart/2018/layout/CircleProcess" loCatId="simpleprocesssa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BD7B56F-2DBA-4B1A-AEBC-DD7EB427CAE9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1.  </a:t>
          </a:r>
          <a:r>
            <a:rPr lang="en-US" altLang="ko-KR" sz="1800" b="1" dirty="0"/>
            <a:t>Input </a:t>
          </a:r>
          <a:r>
            <a:rPr lang="ko-KR" altLang="en-US" sz="1800" b="1" dirty="0"/>
            <a:t>정의</a:t>
          </a:r>
          <a:endParaRPr lang="en-US" sz="1800" dirty="0"/>
        </a:p>
      </dgm:t>
    </dgm:pt>
    <dgm:pt modelId="{FADF265B-8AEA-463B-8592-B7197B93F002}" type="parTrans" cxnId="{0BD2E737-3213-43F1-846E-2D8C60876BC8}">
      <dgm:prSet/>
      <dgm:spPr/>
      <dgm:t>
        <a:bodyPr/>
        <a:lstStyle/>
        <a:p>
          <a:endParaRPr lang="en-US"/>
        </a:p>
      </dgm:t>
    </dgm:pt>
    <dgm:pt modelId="{62FBDCC3-1415-4908-94C3-8E86D6B77EE7}" type="sibTrans" cxnId="{0BD2E737-3213-43F1-846E-2D8C60876BC8}">
      <dgm:prSet/>
      <dgm:spPr/>
      <dgm:t>
        <a:bodyPr/>
        <a:lstStyle/>
        <a:p>
          <a:endParaRPr lang="en-US"/>
        </a:p>
      </dgm:t>
    </dgm:pt>
    <dgm:pt modelId="{45A1A86D-E556-44F1-90F5-7F5A9DDC1E4C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2. Algorithm update &amp; Architecture </a:t>
          </a:r>
          <a:r>
            <a:rPr lang="ko-KR" altLang="en-US" sz="1800" b="1" dirty="0"/>
            <a:t>설계</a:t>
          </a:r>
          <a:r>
            <a:rPr lang="en-US" sz="1800" b="1" dirty="0"/>
            <a:t> </a:t>
          </a:r>
          <a:endParaRPr lang="en-US" sz="1800" dirty="0"/>
        </a:p>
      </dgm:t>
    </dgm:pt>
    <dgm:pt modelId="{7ED5C1B5-03FB-414F-9303-CA63EE14FF07}" type="parTrans" cxnId="{4406D37A-4880-4359-B721-370A62715FAA}">
      <dgm:prSet/>
      <dgm:spPr/>
      <dgm:t>
        <a:bodyPr/>
        <a:lstStyle/>
        <a:p>
          <a:endParaRPr lang="en-US"/>
        </a:p>
      </dgm:t>
    </dgm:pt>
    <dgm:pt modelId="{84D3E058-738D-407A-B197-1EFB0B8B65F5}" type="sibTrans" cxnId="{4406D37A-4880-4359-B721-370A62715FAA}">
      <dgm:prSet/>
      <dgm:spPr/>
      <dgm:t>
        <a:bodyPr/>
        <a:lstStyle/>
        <a:p>
          <a:endParaRPr lang="en-US"/>
        </a:p>
      </dgm:t>
    </dgm:pt>
    <dgm:pt modelId="{A97181FC-F9E1-4AC2-9B0C-EF0A391C438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3. Algorithm </a:t>
          </a:r>
          <a:r>
            <a:rPr lang="ko-KR" altLang="en-US" sz="1800" b="1" dirty="0"/>
            <a:t>실험 설계</a:t>
          </a:r>
          <a:endParaRPr lang="en-US" sz="1800" dirty="0"/>
        </a:p>
      </dgm:t>
    </dgm:pt>
    <dgm:pt modelId="{A2EC4A6E-2ECD-4BB7-BBAD-4EBF83F6B2DF}" type="parTrans" cxnId="{E5E05C71-5FDA-467C-A25B-31A95BBD51BA}">
      <dgm:prSet/>
      <dgm:spPr/>
      <dgm:t>
        <a:bodyPr/>
        <a:lstStyle/>
        <a:p>
          <a:endParaRPr lang="en-US"/>
        </a:p>
      </dgm:t>
    </dgm:pt>
    <dgm:pt modelId="{4290234A-B6FC-4061-A080-0766587533C9}" type="sibTrans" cxnId="{E5E05C71-5FDA-467C-A25B-31A95BBD51BA}">
      <dgm:prSet/>
      <dgm:spPr/>
      <dgm:t>
        <a:bodyPr/>
        <a:lstStyle/>
        <a:p>
          <a:endParaRPr lang="en-US"/>
        </a:p>
      </dgm:t>
    </dgm:pt>
    <dgm:pt modelId="{566529DD-1F67-4EB2-A0FC-61CBFA41B5AA}" type="pres">
      <dgm:prSet presAssocID="{CEAFBD07-A916-4FD5-9E75-3DCF55741EE0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BEA5740C-A24C-41FC-BD22-1E57F78DC9E1}" type="pres">
      <dgm:prSet presAssocID="{A97181FC-F9E1-4AC2-9B0C-EF0A391C438A}" presName="Accent3" presStyleCnt="0"/>
      <dgm:spPr/>
    </dgm:pt>
    <dgm:pt modelId="{4F3175E0-F5A2-46DF-B1D9-8B7BA5850BA3}" type="pres">
      <dgm:prSet presAssocID="{A97181FC-F9E1-4AC2-9B0C-EF0A391C438A}" presName="Accent" presStyleLbl="node1" presStyleIdx="0" presStyleCnt="6"/>
      <dgm:spPr/>
    </dgm:pt>
    <dgm:pt modelId="{7A89A04B-2B40-4A7B-B66E-D234AEA8E174}" type="pres">
      <dgm:prSet presAssocID="{A97181FC-F9E1-4AC2-9B0C-EF0A391C438A}" presName="ParentBackground3" presStyleCnt="0"/>
      <dgm:spPr/>
    </dgm:pt>
    <dgm:pt modelId="{E7A97CE8-B5D6-4DCE-A04C-45194CCE41B2}" type="pres">
      <dgm:prSet presAssocID="{A97181FC-F9E1-4AC2-9B0C-EF0A391C438A}" presName="ParentBackground" presStyleLbl="node1" presStyleIdx="1" presStyleCnt="6"/>
      <dgm:spPr/>
    </dgm:pt>
    <dgm:pt modelId="{688D6E12-CDEC-4745-B4FC-E634925B1254}" type="pres">
      <dgm:prSet presAssocID="{A97181FC-F9E1-4AC2-9B0C-EF0A391C438A}" presName="Parent3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BA21A6E4-E756-4016-ACE8-11963B9FF634}" type="pres">
      <dgm:prSet presAssocID="{45A1A86D-E556-44F1-90F5-7F5A9DDC1E4C}" presName="Accent2" presStyleCnt="0"/>
      <dgm:spPr/>
    </dgm:pt>
    <dgm:pt modelId="{062524D4-FA8D-4295-A976-3EE07E686946}" type="pres">
      <dgm:prSet presAssocID="{45A1A86D-E556-44F1-90F5-7F5A9DDC1E4C}" presName="Accent" presStyleLbl="node1" presStyleIdx="2" presStyleCnt="6"/>
      <dgm:spPr/>
    </dgm:pt>
    <dgm:pt modelId="{D840349D-B27B-493D-B263-5DCB127CACEB}" type="pres">
      <dgm:prSet presAssocID="{45A1A86D-E556-44F1-90F5-7F5A9DDC1E4C}" presName="ParentBackground2" presStyleCnt="0"/>
      <dgm:spPr/>
    </dgm:pt>
    <dgm:pt modelId="{20C56419-7B9F-4C42-A304-515C750DC5B6}" type="pres">
      <dgm:prSet presAssocID="{45A1A86D-E556-44F1-90F5-7F5A9DDC1E4C}" presName="ParentBackground" presStyleLbl="node1" presStyleIdx="3" presStyleCnt="6"/>
      <dgm:spPr/>
    </dgm:pt>
    <dgm:pt modelId="{2D84E05D-97D7-4B34-8847-6B98B72853D0}" type="pres">
      <dgm:prSet presAssocID="{45A1A86D-E556-44F1-90F5-7F5A9DDC1E4C}" presName="Parent2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C5F5BC29-5D40-43BE-A1C2-6FD56355A287}" type="pres">
      <dgm:prSet presAssocID="{CBD7B56F-2DBA-4B1A-AEBC-DD7EB427CAE9}" presName="Accent1" presStyleCnt="0"/>
      <dgm:spPr/>
    </dgm:pt>
    <dgm:pt modelId="{035E6392-8CBB-4D51-8D96-66CB4605DE7A}" type="pres">
      <dgm:prSet presAssocID="{CBD7B56F-2DBA-4B1A-AEBC-DD7EB427CAE9}" presName="Accent" presStyleLbl="node1" presStyleIdx="4" presStyleCnt="6"/>
      <dgm:spPr/>
    </dgm:pt>
    <dgm:pt modelId="{F0B4B4AE-AFA5-4806-9897-A3F7DD2B8086}" type="pres">
      <dgm:prSet presAssocID="{CBD7B56F-2DBA-4B1A-AEBC-DD7EB427CAE9}" presName="ParentBackground1" presStyleCnt="0"/>
      <dgm:spPr/>
    </dgm:pt>
    <dgm:pt modelId="{FAD66424-DD88-461E-93A4-68CDBFB7BDA2}" type="pres">
      <dgm:prSet presAssocID="{CBD7B56F-2DBA-4B1A-AEBC-DD7EB427CAE9}" presName="ParentBackground" presStyleLbl="node1" presStyleIdx="5" presStyleCnt="6"/>
      <dgm:spPr/>
    </dgm:pt>
    <dgm:pt modelId="{DC77EB3A-AAB2-43D0-9B80-DD6D0482A5B3}" type="pres">
      <dgm:prSet presAssocID="{CBD7B56F-2DBA-4B1A-AEBC-DD7EB427CAE9}" presName="Parent1" presStyleLbl="fgAcc0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6EA4D20F-E071-482F-A38E-7845736E2C58}" type="presOf" srcId="{CBD7B56F-2DBA-4B1A-AEBC-DD7EB427CAE9}" destId="{DC77EB3A-AAB2-43D0-9B80-DD6D0482A5B3}" srcOrd="1" destOrd="0" presId="urn:microsoft.com/office/officeart/2018/layout/CircleProcess"/>
    <dgm:cxn modelId="{416DDE2E-F3A3-4BF6-AF2D-2699FD17AECA}" type="presOf" srcId="{A97181FC-F9E1-4AC2-9B0C-EF0A391C438A}" destId="{E7A97CE8-B5D6-4DCE-A04C-45194CCE41B2}" srcOrd="0" destOrd="0" presId="urn:microsoft.com/office/officeart/2018/layout/CircleProcess"/>
    <dgm:cxn modelId="{0BD2E737-3213-43F1-846E-2D8C60876BC8}" srcId="{CEAFBD07-A916-4FD5-9E75-3DCF55741EE0}" destId="{CBD7B56F-2DBA-4B1A-AEBC-DD7EB427CAE9}" srcOrd="0" destOrd="0" parTransId="{FADF265B-8AEA-463B-8592-B7197B93F002}" sibTransId="{62FBDCC3-1415-4908-94C3-8E86D6B77EE7}"/>
    <dgm:cxn modelId="{6A244558-65D7-4FDD-AA16-61754A18B19E}" type="presOf" srcId="{A97181FC-F9E1-4AC2-9B0C-EF0A391C438A}" destId="{688D6E12-CDEC-4745-B4FC-E634925B1254}" srcOrd="1" destOrd="0" presId="urn:microsoft.com/office/officeart/2018/layout/CircleProcess"/>
    <dgm:cxn modelId="{E6730664-4413-47B3-90B5-CF775FD84C76}" type="presOf" srcId="{CBD7B56F-2DBA-4B1A-AEBC-DD7EB427CAE9}" destId="{FAD66424-DD88-461E-93A4-68CDBFB7BDA2}" srcOrd="0" destOrd="0" presId="urn:microsoft.com/office/officeart/2018/layout/CircleProcess"/>
    <dgm:cxn modelId="{E5E05C71-5FDA-467C-A25B-31A95BBD51BA}" srcId="{CEAFBD07-A916-4FD5-9E75-3DCF55741EE0}" destId="{A97181FC-F9E1-4AC2-9B0C-EF0A391C438A}" srcOrd="2" destOrd="0" parTransId="{A2EC4A6E-2ECD-4BB7-BBAD-4EBF83F6B2DF}" sibTransId="{4290234A-B6FC-4061-A080-0766587533C9}"/>
    <dgm:cxn modelId="{4406D37A-4880-4359-B721-370A62715FAA}" srcId="{CEAFBD07-A916-4FD5-9E75-3DCF55741EE0}" destId="{45A1A86D-E556-44F1-90F5-7F5A9DDC1E4C}" srcOrd="1" destOrd="0" parTransId="{7ED5C1B5-03FB-414F-9303-CA63EE14FF07}" sibTransId="{84D3E058-738D-407A-B197-1EFB0B8B65F5}"/>
    <dgm:cxn modelId="{1D88BC7D-51F4-4DA6-AE21-C6EE56F7D48D}" type="presOf" srcId="{CEAFBD07-A916-4FD5-9E75-3DCF55741EE0}" destId="{566529DD-1F67-4EB2-A0FC-61CBFA41B5AA}" srcOrd="0" destOrd="0" presId="urn:microsoft.com/office/officeart/2018/layout/CircleProcess"/>
    <dgm:cxn modelId="{F8F05382-7C95-4C70-9DD4-FB18F96F22B5}" type="presOf" srcId="{45A1A86D-E556-44F1-90F5-7F5A9DDC1E4C}" destId="{2D84E05D-97D7-4B34-8847-6B98B72853D0}" srcOrd="1" destOrd="0" presId="urn:microsoft.com/office/officeart/2018/layout/CircleProcess"/>
    <dgm:cxn modelId="{67D4F4B5-9EB8-412B-83B9-844AEC35020C}" type="presOf" srcId="{45A1A86D-E556-44F1-90F5-7F5A9DDC1E4C}" destId="{20C56419-7B9F-4C42-A304-515C750DC5B6}" srcOrd="0" destOrd="0" presId="urn:microsoft.com/office/officeart/2018/layout/CircleProcess"/>
    <dgm:cxn modelId="{7D1D983B-C44E-4796-AC54-DA68A904258F}" type="presParOf" srcId="{566529DD-1F67-4EB2-A0FC-61CBFA41B5AA}" destId="{BEA5740C-A24C-41FC-BD22-1E57F78DC9E1}" srcOrd="0" destOrd="0" presId="urn:microsoft.com/office/officeart/2018/layout/CircleProcess"/>
    <dgm:cxn modelId="{2FBD6A51-32CE-431D-9325-F315D62A65F6}" type="presParOf" srcId="{BEA5740C-A24C-41FC-BD22-1E57F78DC9E1}" destId="{4F3175E0-F5A2-46DF-B1D9-8B7BA5850BA3}" srcOrd="0" destOrd="0" presId="urn:microsoft.com/office/officeart/2018/layout/CircleProcess"/>
    <dgm:cxn modelId="{41E063E2-5988-4CF7-8E11-1F2C9DF457BD}" type="presParOf" srcId="{566529DD-1F67-4EB2-A0FC-61CBFA41B5AA}" destId="{7A89A04B-2B40-4A7B-B66E-D234AEA8E174}" srcOrd="1" destOrd="0" presId="urn:microsoft.com/office/officeart/2018/layout/CircleProcess"/>
    <dgm:cxn modelId="{B74EA98A-0289-4D1F-A3D2-C00884A0ADD2}" type="presParOf" srcId="{7A89A04B-2B40-4A7B-B66E-D234AEA8E174}" destId="{E7A97CE8-B5D6-4DCE-A04C-45194CCE41B2}" srcOrd="0" destOrd="0" presId="urn:microsoft.com/office/officeart/2018/layout/CircleProcess"/>
    <dgm:cxn modelId="{C1957A6D-B1F3-43BC-8710-997C0BAFBB09}" type="presParOf" srcId="{566529DD-1F67-4EB2-A0FC-61CBFA41B5AA}" destId="{688D6E12-CDEC-4745-B4FC-E634925B1254}" srcOrd="2" destOrd="0" presId="urn:microsoft.com/office/officeart/2018/layout/CircleProcess"/>
    <dgm:cxn modelId="{78F59F62-82C7-4A46-8A3C-FDD33CC0C348}" type="presParOf" srcId="{566529DD-1F67-4EB2-A0FC-61CBFA41B5AA}" destId="{BA21A6E4-E756-4016-ACE8-11963B9FF634}" srcOrd="3" destOrd="0" presId="urn:microsoft.com/office/officeart/2018/layout/CircleProcess"/>
    <dgm:cxn modelId="{0789B354-DB8F-44C6-AD8E-312E937BCE7D}" type="presParOf" srcId="{BA21A6E4-E756-4016-ACE8-11963B9FF634}" destId="{062524D4-FA8D-4295-A976-3EE07E686946}" srcOrd="0" destOrd="0" presId="urn:microsoft.com/office/officeart/2018/layout/CircleProcess"/>
    <dgm:cxn modelId="{E19991E1-F049-4819-B247-941BE5D8854F}" type="presParOf" srcId="{566529DD-1F67-4EB2-A0FC-61CBFA41B5AA}" destId="{D840349D-B27B-493D-B263-5DCB127CACEB}" srcOrd="4" destOrd="0" presId="urn:microsoft.com/office/officeart/2018/layout/CircleProcess"/>
    <dgm:cxn modelId="{7CBACB7A-DC27-4A2B-89FA-CC7B4DE713EB}" type="presParOf" srcId="{D840349D-B27B-493D-B263-5DCB127CACEB}" destId="{20C56419-7B9F-4C42-A304-515C750DC5B6}" srcOrd="0" destOrd="0" presId="urn:microsoft.com/office/officeart/2018/layout/CircleProcess"/>
    <dgm:cxn modelId="{7DC4FB34-128A-4761-9B46-DFE55F31F711}" type="presParOf" srcId="{566529DD-1F67-4EB2-A0FC-61CBFA41B5AA}" destId="{2D84E05D-97D7-4B34-8847-6B98B72853D0}" srcOrd="5" destOrd="0" presId="urn:microsoft.com/office/officeart/2018/layout/CircleProcess"/>
    <dgm:cxn modelId="{43C4DF66-A3AC-4489-BDD1-EC14F9BD295E}" type="presParOf" srcId="{566529DD-1F67-4EB2-A0FC-61CBFA41B5AA}" destId="{C5F5BC29-5D40-43BE-A1C2-6FD56355A287}" srcOrd="6" destOrd="0" presId="urn:microsoft.com/office/officeart/2018/layout/CircleProcess"/>
    <dgm:cxn modelId="{20FCAD25-0D95-4482-A9F5-F4A0C9936485}" type="presParOf" srcId="{C5F5BC29-5D40-43BE-A1C2-6FD56355A287}" destId="{035E6392-8CBB-4D51-8D96-66CB4605DE7A}" srcOrd="0" destOrd="0" presId="urn:microsoft.com/office/officeart/2018/layout/CircleProcess"/>
    <dgm:cxn modelId="{726CB74A-9F33-48CA-BA90-335D44C26DBC}" type="presParOf" srcId="{566529DD-1F67-4EB2-A0FC-61CBFA41B5AA}" destId="{F0B4B4AE-AFA5-4806-9897-A3F7DD2B8086}" srcOrd="7" destOrd="0" presId="urn:microsoft.com/office/officeart/2018/layout/CircleProcess"/>
    <dgm:cxn modelId="{4F47FD10-0EB0-4251-A2B9-9338A735FDE3}" type="presParOf" srcId="{F0B4B4AE-AFA5-4806-9897-A3F7DD2B8086}" destId="{FAD66424-DD88-461E-93A4-68CDBFB7BDA2}" srcOrd="0" destOrd="0" presId="urn:microsoft.com/office/officeart/2018/layout/CircleProcess"/>
    <dgm:cxn modelId="{BC183F41-9071-45E6-AC51-8007EC05311D}" type="presParOf" srcId="{566529DD-1F67-4EB2-A0FC-61CBFA41B5AA}" destId="{DC77EB3A-AAB2-43D0-9B80-DD6D0482A5B3}" srcOrd="8" destOrd="0" presId="urn:microsoft.com/office/officeart/2018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65E414-5987-4C23-A661-0572055EACF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E6EDA6B-FC1F-4E50-A3E1-6C00E47E850E}">
      <dgm:prSet custT="1"/>
      <dgm:spPr/>
      <dgm:t>
        <a:bodyPr/>
        <a:lstStyle/>
        <a:p>
          <a:r>
            <a:rPr lang="ko-KR" sz="1600" dirty="0"/>
            <a:t>기존 이상 탐지 모델</a:t>
          </a:r>
          <a:r>
            <a:rPr lang="en-US" sz="1600" dirty="0"/>
            <a:t>(</a:t>
          </a:r>
          <a:r>
            <a:rPr lang="ko-KR" sz="1600" dirty="0"/>
            <a:t>LSTM</a:t>
          </a:r>
          <a:r>
            <a:rPr lang="en-US" altLang="ko-KR" sz="1600" dirty="0"/>
            <a:t>-</a:t>
          </a:r>
          <a:r>
            <a:rPr lang="ko-KR" sz="1600" dirty="0" err="1"/>
            <a:t>Autoencoder</a:t>
          </a:r>
          <a:r>
            <a:rPr lang="en-US" altLang="ko-KR" sz="1600" dirty="0"/>
            <a:t> Base</a:t>
          </a:r>
          <a:r>
            <a:rPr lang="en-US" sz="1600" dirty="0"/>
            <a:t>)</a:t>
          </a:r>
          <a:r>
            <a:rPr lang="ko-KR" sz="1600" dirty="0"/>
            <a:t>은 대부분 하나의 모델만 사용하여 현재 상태만 고려</a:t>
          </a:r>
          <a:r>
            <a:rPr lang="ko-KR" altLang="en-US" sz="1600" dirty="0"/>
            <a:t>한다</a:t>
          </a:r>
          <a:r>
            <a:rPr lang="en-US" altLang="ko-KR" sz="1600" dirty="0"/>
            <a:t>. </a:t>
          </a:r>
          <a:r>
            <a:rPr lang="ko-KR" altLang="en-US" sz="1600" dirty="0"/>
            <a:t>즉 아무리 좋은 모델이어도 </a:t>
          </a:r>
          <a:r>
            <a:rPr lang="en-US" altLang="ko-KR" sz="1600" dirty="0"/>
            <a:t>Auto-encoder </a:t>
          </a:r>
          <a:r>
            <a:rPr lang="ko-KR" altLang="en-US" sz="1600" dirty="0"/>
            <a:t>모델은 </a:t>
          </a:r>
          <a:r>
            <a:rPr lang="ko-KR" sz="1600" dirty="0"/>
            <a:t>시간적 의존성</a:t>
          </a:r>
          <a:r>
            <a:rPr lang="en-US" altLang="ko-KR" sz="1600" dirty="0"/>
            <a:t> </a:t>
          </a:r>
          <a:r>
            <a:rPr lang="ko-KR" altLang="en-US" sz="1600" dirty="0"/>
            <a:t>문제가 발생</a:t>
          </a:r>
          <a:endParaRPr lang="en-US" sz="1600" dirty="0"/>
        </a:p>
      </dgm:t>
    </dgm:pt>
    <dgm:pt modelId="{3F5CBC5E-F6B0-44CB-B3E6-94AA62552DE0}" type="parTrans" cxnId="{43B4426B-B780-4927-97B2-7E73A91C6263}">
      <dgm:prSet/>
      <dgm:spPr/>
      <dgm:t>
        <a:bodyPr/>
        <a:lstStyle/>
        <a:p>
          <a:endParaRPr lang="en-US"/>
        </a:p>
      </dgm:t>
    </dgm:pt>
    <dgm:pt modelId="{B8C70201-F68D-45A5-A13F-9977E5C8B40B}" type="sibTrans" cxnId="{43B4426B-B780-4927-97B2-7E73A91C6263}">
      <dgm:prSet/>
      <dgm:spPr/>
      <dgm:t>
        <a:bodyPr/>
        <a:lstStyle/>
        <a:p>
          <a:endParaRPr lang="en-US"/>
        </a:p>
      </dgm:t>
    </dgm:pt>
    <dgm:pt modelId="{743EEEEC-0A8B-4A33-B0D8-18FE41F0D780}">
      <dgm:prSet custT="1"/>
      <dgm:spPr/>
      <dgm:t>
        <a:bodyPr/>
        <a:lstStyle/>
        <a:p>
          <a:r>
            <a:rPr lang="ko-KR" sz="1600" dirty="0"/>
            <a:t>하지만 배터리 열폭주는</a:t>
          </a:r>
          <a:r>
            <a:rPr lang="en-US" sz="1600" dirty="0"/>
            <a:t> </a:t>
          </a:r>
          <a:r>
            <a:rPr lang="ko-KR" sz="1600" dirty="0"/>
            <a:t>현재 상태의 이상 징후와 앞으로 발생할 위험을 동시에 고려해야 더욱 신뢰성 있는 조기 탐지가 가능</a:t>
          </a:r>
          <a:r>
            <a:rPr lang="ko-KR" altLang="en-US" sz="1600" dirty="0"/>
            <a:t>하다</a:t>
          </a:r>
          <a:r>
            <a:rPr lang="en-US" altLang="ko-KR" sz="1600" dirty="0"/>
            <a:t>.</a:t>
          </a:r>
          <a:endParaRPr lang="en-US" sz="1600" dirty="0"/>
        </a:p>
      </dgm:t>
    </dgm:pt>
    <dgm:pt modelId="{22599485-839E-44F5-897C-248AF809D3E9}" type="parTrans" cxnId="{21BDD578-8EC0-4692-BD23-A9938BB494F0}">
      <dgm:prSet/>
      <dgm:spPr/>
      <dgm:t>
        <a:bodyPr/>
        <a:lstStyle/>
        <a:p>
          <a:endParaRPr lang="en-US"/>
        </a:p>
      </dgm:t>
    </dgm:pt>
    <dgm:pt modelId="{17976079-CC54-4265-8B5A-F0495FD2356F}" type="sibTrans" cxnId="{21BDD578-8EC0-4692-BD23-A9938BB494F0}">
      <dgm:prSet/>
      <dgm:spPr/>
      <dgm:t>
        <a:bodyPr/>
        <a:lstStyle/>
        <a:p>
          <a:endParaRPr lang="en-US"/>
        </a:p>
      </dgm:t>
    </dgm:pt>
    <dgm:pt modelId="{374FEB53-27F7-4B12-8E31-C48D129DA572}">
      <dgm:prSet custT="1"/>
      <dgm:spPr/>
      <dgm:t>
        <a:bodyPr/>
        <a:lstStyle/>
        <a:p>
          <a:r>
            <a:rPr lang="ko-KR" altLang="en-US" sz="1600" b="1" dirty="0"/>
            <a:t>따라서 </a:t>
          </a:r>
          <a:r>
            <a:rPr lang="ko-KR" sz="1600" b="1" dirty="0"/>
            <a:t>본 프로젝트에서는 LSTM Auto</a:t>
          </a:r>
          <a:r>
            <a:rPr lang="en-US" altLang="ko-KR" sz="1600" b="1" dirty="0"/>
            <a:t>-</a:t>
          </a:r>
          <a:r>
            <a:rPr lang="ko-KR" sz="1600" b="1" dirty="0" err="1"/>
            <a:t>encoder와</a:t>
          </a:r>
          <a:r>
            <a:rPr lang="ko-KR" sz="1600" b="1" dirty="0"/>
            <a:t> </a:t>
          </a:r>
          <a:r>
            <a:rPr lang="ko-KR" sz="1600" b="1" dirty="0" err="1"/>
            <a:t>Informer</a:t>
          </a:r>
          <a:r>
            <a:rPr lang="ko-KR" sz="1600" b="1" dirty="0"/>
            <a:t> 를 병렬적으로 적용하여</a:t>
          </a:r>
          <a:r>
            <a:rPr lang="en-US" sz="1600" b="1" dirty="0"/>
            <a:t> </a:t>
          </a:r>
          <a:r>
            <a:rPr lang="ko-KR" sz="1600" b="1" dirty="0"/>
            <a:t>각 모델이 계산한 이상 점수를 하나의 최종 점수로 융합해 배터리 상태를 진단하는 </a:t>
          </a:r>
          <a:r>
            <a:rPr lang="ko-KR" sz="1600" b="1" dirty="0" err="1"/>
            <a:t>Hybrid</a:t>
          </a:r>
          <a:r>
            <a:rPr lang="ko-KR" sz="1600" b="1" dirty="0"/>
            <a:t> AI </a:t>
          </a:r>
          <a:r>
            <a:rPr lang="en-US" sz="1600" b="1" dirty="0"/>
            <a:t>Algorithm </a:t>
          </a:r>
          <a:r>
            <a:rPr lang="ko-KR" sz="1600" b="1" dirty="0"/>
            <a:t>제안</a:t>
          </a:r>
          <a:endParaRPr lang="en-US" sz="1600" b="1" dirty="0"/>
        </a:p>
      </dgm:t>
    </dgm:pt>
    <dgm:pt modelId="{3863FDB0-2EF3-45EA-87FF-6B892175E68C}" type="parTrans" cxnId="{B44DDC67-E30B-4621-A7E2-6C2399C5F092}">
      <dgm:prSet/>
      <dgm:spPr/>
      <dgm:t>
        <a:bodyPr/>
        <a:lstStyle/>
        <a:p>
          <a:endParaRPr lang="en-US"/>
        </a:p>
      </dgm:t>
    </dgm:pt>
    <dgm:pt modelId="{00B2F83B-79F9-4942-A614-D9B3438A28FB}" type="sibTrans" cxnId="{B44DDC67-E30B-4621-A7E2-6C2399C5F092}">
      <dgm:prSet/>
      <dgm:spPr/>
      <dgm:t>
        <a:bodyPr/>
        <a:lstStyle/>
        <a:p>
          <a:endParaRPr lang="en-US"/>
        </a:p>
      </dgm:t>
    </dgm:pt>
    <dgm:pt modelId="{FEB7392B-D2D6-4831-B5FC-8F99E6A0213C}">
      <dgm:prSet custT="1"/>
      <dgm:spPr/>
      <dgm:t>
        <a:bodyPr/>
        <a:lstStyle/>
        <a:p>
          <a:r>
            <a:rPr lang="ko-KR" sz="1600" b="1" dirty="0"/>
            <a:t>하나의 모델에 의존하지 않고, </a:t>
          </a:r>
          <a:r>
            <a:rPr lang="ko-KR" altLang="en-US" sz="1600" b="1" dirty="0"/>
            <a:t>분석 관점</a:t>
          </a:r>
          <a:r>
            <a:rPr lang="ko-KR" sz="1600" b="1" dirty="0"/>
            <a:t>이 다른 두 개의 AI 모델이 배터리를 교차 감시해 신뢰성</a:t>
          </a:r>
          <a:r>
            <a:rPr lang="en-US" sz="1600" b="1" dirty="0"/>
            <a:t>, </a:t>
          </a:r>
          <a:r>
            <a:rPr lang="ko-KR" sz="1600" b="1" dirty="0"/>
            <a:t>정확도 극대화</a:t>
          </a:r>
          <a:endParaRPr lang="en-US" sz="1600" b="1" dirty="0"/>
        </a:p>
      </dgm:t>
    </dgm:pt>
    <dgm:pt modelId="{DB589791-7895-4197-B936-0E891838908F}" type="parTrans" cxnId="{319AEC81-784B-4BC4-8F95-A203B8724804}">
      <dgm:prSet/>
      <dgm:spPr/>
      <dgm:t>
        <a:bodyPr/>
        <a:lstStyle/>
        <a:p>
          <a:endParaRPr lang="en-US"/>
        </a:p>
      </dgm:t>
    </dgm:pt>
    <dgm:pt modelId="{EFE7B3EE-88B3-4A76-A7E7-F48CD3404B01}" type="sibTrans" cxnId="{319AEC81-784B-4BC4-8F95-A203B8724804}">
      <dgm:prSet/>
      <dgm:spPr/>
      <dgm:t>
        <a:bodyPr/>
        <a:lstStyle/>
        <a:p>
          <a:endParaRPr lang="en-US"/>
        </a:p>
      </dgm:t>
    </dgm:pt>
    <dgm:pt modelId="{29F5843F-91C2-4180-8A8F-016D0EAD14DD}" type="pres">
      <dgm:prSet presAssocID="{8565E414-5987-4C23-A661-0572055EACFB}" presName="vert0" presStyleCnt="0">
        <dgm:presLayoutVars>
          <dgm:dir/>
          <dgm:animOne val="branch"/>
          <dgm:animLvl val="lvl"/>
        </dgm:presLayoutVars>
      </dgm:prSet>
      <dgm:spPr/>
    </dgm:pt>
    <dgm:pt modelId="{1661B5E1-A702-46EB-9D96-23193F811331}" type="pres">
      <dgm:prSet presAssocID="{FE6EDA6B-FC1F-4E50-A3E1-6C00E47E850E}" presName="thickLine" presStyleLbl="alignNode1" presStyleIdx="0" presStyleCnt="4"/>
      <dgm:spPr/>
    </dgm:pt>
    <dgm:pt modelId="{239D2658-D6E0-4175-9C10-A490101A79BF}" type="pres">
      <dgm:prSet presAssocID="{FE6EDA6B-FC1F-4E50-A3E1-6C00E47E850E}" presName="horz1" presStyleCnt="0"/>
      <dgm:spPr/>
    </dgm:pt>
    <dgm:pt modelId="{B1EE46B2-C3BF-4A77-8E60-15A072A6BDD0}" type="pres">
      <dgm:prSet presAssocID="{FE6EDA6B-FC1F-4E50-A3E1-6C00E47E850E}" presName="tx1" presStyleLbl="revTx" presStyleIdx="0" presStyleCnt="4"/>
      <dgm:spPr/>
    </dgm:pt>
    <dgm:pt modelId="{92B9F571-8F36-4563-BB3A-F431453C0BCB}" type="pres">
      <dgm:prSet presAssocID="{FE6EDA6B-FC1F-4E50-A3E1-6C00E47E850E}" presName="vert1" presStyleCnt="0"/>
      <dgm:spPr/>
    </dgm:pt>
    <dgm:pt modelId="{8E54C145-340A-4ABA-AA0F-236FF099F6ED}" type="pres">
      <dgm:prSet presAssocID="{743EEEEC-0A8B-4A33-B0D8-18FE41F0D780}" presName="thickLine" presStyleLbl="alignNode1" presStyleIdx="1" presStyleCnt="4"/>
      <dgm:spPr/>
    </dgm:pt>
    <dgm:pt modelId="{35D02620-0F2B-49AF-8637-1BE3D5804780}" type="pres">
      <dgm:prSet presAssocID="{743EEEEC-0A8B-4A33-B0D8-18FE41F0D780}" presName="horz1" presStyleCnt="0"/>
      <dgm:spPr/>
    </dgm:pt>
    <dgm:pt modelId="{C6AB709E-30D1-4BAA-BD11-F54EDCE3CD18}" type="pres">
      <dgm:prSet presAssocID="{743EEEEC-0A8B-4A33-B0D8-18FE41F0D780}" presName="tx1" presStyleLbl="revTx" presStyleIdx="1" presStyleCnt="4"/>
      <dgm:spPr/>
    </dgm:pt>
    <dgm:pt modelId="{413A7211-4AEF-4545-868E-1671B1D72C13}" type="pres">
      <dgm:prSet presAssocID="{743EEEEC-0A8B-4A33-B0D8-18FE41F0D780}" presName="vert1" presStyleCnt="0"/>
      <dgm:spPr/>
    </dgm:pt>
    <dgm:pt modelId="{8B4A236D-9C92-4896-B5A9-60E996A277F7}" type="pres">
      <dgm:prSet presAssocID="{374FEB53-27F7-4B12-8E31-C48D129DA572}" presName="thickLine" presStyleLbl="alignNode1" presStyleIdx="2" presStyleCnt="4"/>
      <dgm:spPr/>
    </dgm:pt>
    <dgm:pt modelId="{86001484-E7F4-4F1E-BB1F-AB233CA17D06}" type="pres">
      <dgm:prSet presAssocID="{374FEB53-27F7-4B12-8E31-C48D129DA572}" presName="horz1" presStyleCnt="0"/>
      <dgm:spPr/>
    </dgm:pt>
    <dgm:pt modelId="{D0B6F14B-AEE8-44B1-83DC-D0C2326C4DBD}" type="pres">
      <dgm:prSet presAssocID="{374FEB53-27F7-4B12-8E31-C48D129DA572}" presName="tx1" presStyleLbl="revTx" presStyleIdx="2" presStyleCnt="4"/>
      <dgm:spPr/>
    </dgm:pt>
    <dgm:pt modelId="{2CE39D40-BE57-45D1-918E-AF8A8513405A}" type="pres">
      <dgm:prSet presAssocID="{374FEB53-27F7-4B12-8E31-C48D129DA572}" presName="vert1" presStyleCnt="0"/>
      <dgm:spPr/>
    </dgm:pt>
    <dgm:pt modelId="{90D2D180-AED8-44B5-BE74-F3FB9AC324A2}" type="pres">
      <dgm:prSet presAssocID="{FEB7392B-D2D6-4831-B5FC-8F99E6A0213C}" presName="thickLine" presStyleLbl="alignNode1" presStyleIdx="3" presStyleCnt="4"/>
      <dgm:spPr/>
    </dgm:pt>
    <dgm:pt modelId="{9064BD5E-7643-4B4B-8840-64E752C5CABA}" type="pres">
      <dgm:prSet presAssocID="{FEB7392B-D2D6-4831-B5FC-8F99E6A0213C}" presName="horz1" presStyleCnt="0"/>
      <dgm:spPr/>
    </dgm:pt>
    <dgm:pt modelId="{BBE07B02-F037-48A3-BA88-ECD2EB554E98}" type="pres">
      <dgm:prSet presAssocID="{FEB7392B-D2D6-4831-B5FC-8F99E6A0213C}" presName="tx1" presStyleLbl="revTx" presStyleIdx="3" presStyleCnt="4"/>
      <dgm:spPr/>
    </dgm:pt>
    <dgm:pt modelId="{669AF9A9-EB09-4FDA-8854-3D7748C63066}" type="pres">
      <dgm:prSet presAssocID="{FEB7392B-D2D6-4831-B5FC-8F99E6A0213C}" presName="vert1" presStyleCnt="0"/>
      <dgm:spPr/>
    </dgm:pt>
  </dgm:ptLst>
  <dgm:cxnLst>
    <dgm:cxn modelId="{E8D51311-A478-40B2-98FE-780BC187B9E3}" type="presOf" srcId="{374FEB53-27F7-4B12-8E31-C48D129DA572}" destId="{D0B6F14B-AEE8-44B1-83DC-D0C2326C4DBD}" srcOrd="0" destOrd="0" presId="urn:microsoft.com/office/officeart/2008/layout/LinedList"/>
    <dgm:cxn modelId="{28598246-EC7D-462A-9825-F8A2501F12E6}" type="presOf" srcId="{743EEEEC-0A8B-4A33-B0D8-18FE41F0D780}" destId="{C6AB709E-30D1-4BAA-BD11-F54EDCE3CD18}" srcOrd="0" destOrd="0" presId="urn:microsoft.com/office/officeart/2008/layout/LinedList"/>
    <dgm:cxn modelId="{83D78C59-062F-4555-AD2B-5F348B7440FB}" type="presOf" srcId="{FEB7392B-D2D6-4831-B5FC-8F99E6A0213C}" destId="{BBE07B02-F037-48A3-BA88-ECD2EB554E98}" srcOrd="0" destOrd="0" presId="urn:microsoft.com/office/officeart/2008/layout/LinedList"/>
    <dgm:cxn modelId="{B44DDC67-E30B-4621-A7E2-6C2399C5F092}" srcId="{8565E414-5987-4C23-A661-0572055EACFB}" destId="{374FEB53-27F7-4B12-8E31-C48D129DA572}" srcOrd="2" destOrd="0" parTransId="{3863FDB0-2EF3-45EA-87FF-6B892175E68C}" sibTransId="{00B2F83B-79F9-4942-A614-D9B3438A28FB}"/>
    <dgm:cxn modelId="{43B4426B-B780-4927-97B2-7E73A91C6263}" srcId="{8565E414-5987-4C23-A661-0572055EACFB}" destId="{FE6EDA6B-FC1F-4E50-A3E1-6C00E47E850E}" srcOrd="0" destOrd="0" parTransId="{3F5CBC5E-F6B0-44CB-B3E6-94AA62552DE0}" sibTransId="{B8C70201-F68D-45A5-A13F-9977E5C8B40B}"/>
    <dgm:cxn modelId="{48F9A576-2A71-4799-A3AE-4B270A9895B5}" type="presOf" srcId="{8565E414-5987-4C23-A661-0572055EACFB}" destId="{29F5843F-91C2-4180-8A8F-016D0EAD14DD}" srcOrd="0" destOrd="0" presId="urn:microsoft.com/office/officeart/2008/layout/LinedList"/>
    <dgm:cxn modelId="{21BDD578-8EC0-4692-BD23-A9938BB494F0}" srcId="{8565E414-5987-4C23-A661-0572055EACFB}" destId="{743EEEEC-0A8B-4A33-B0D8-18FE41F0D780}" srcOrd="1" destOrd="0" parTransId="{22599485-839E-44F5-897C-248AF809D3E9}" sibTransId="{17976079-CC54-4265-8B5A-F0495FD2356F}"/>
    <dgm:cxn modelId="{09F73779-0DEE-4E79-9BE6-5834DF150159}" type="presOf" srcId="{FE6EDA6B-FC1F-4E50-A3E1-6C00E47E850E}" destId="{B1EE46B2-C3BF-4A77-8E60-15A072A6BDD0}" srcOrd="0" destOrd="0" presId="urn:microsoft.com/office/officeart/2008/layout/LinedList"/>
    <dgm:cxn modelId="{319AEC81-784B-4BC4-8F95-A203B8724804}" srcId="{8565E414-5987-4C23-A661-0572055EACFB}" destId="{FEB7392B-D2D6-4831-B5FC-8F99E6A0213C}" srcOrd="3" destOrd="0" parTransId="{DB589791-7895-4197-B936-0E891838908F}" sibTransId="{EFE7B3EE-88B3-4A76-A7E7-F48CD3404B01}"/>
    <dgm:cxn modelId="{22819B8D-1FE5-49EE-BB73-A126C168C07E}" type="presParOf" srcId="{29F5843F-91C2-4180-8A8F-016D0EAD14DD}" destId="{1661B5E1-A702-46EB-9D96-23193F811331}" srcOrd="0" destOrd="0" presId="urn:microsoft.com/office/officeart/2008/layout/LinedList"/>
    <dgm:cxn modelId="{A90317EA-9093-473F-BABD-912A76CD7A45}" type="presParOf" srcId="{29F5843F-91C2-4180-8A8F-016D0EAD14DD}" destId="{239D2658-D6E0-4175-9C10-A490101A79BF}" srcOrd="1" destOrd="0" presId="urn:microsoft.com/office/officeart/2008/layout/LinedList"/>
    <dgm:cxn modelId="{F91C2555-91CB-42F2-AE4E-0ABDE8A8FA09}" type="presParOf" srcId="{239D2658-D6E0-4175-9C10-A490101A79BF}" destId="{B1EE46B2-C3BF-4A77-8E60-15A072A6BDD0}" srcOrd="0" destOrd="0" presId="urn:microsoft.com/office/officeart/2008/layout/LinedList"/>
    <dgm:cxn modelId="{DA5B10B1-E883-4AB3-AACE-C0A4EB9DAD64}" type="presParOf" srcId="{239D2658-D6E0-4175-9C10-A490101A79BF}" destId="{92B9F571-8F36-4563-BB3A-F431453C0BCB}" srcOrd="1" destOrd="0" presId="urn:microsoft.com/office/officeart/2008/layout/LinedList"/>
    <dgm:cxn modelId="{B5A89AE9-7960-4BEA-A7EA-C2D5FD64C147}" type="presParOf" srcId="{29F5843F-91C2-4180-8A8F-016D0EAD14DD}" destId="{8E54C145-340A-4ABA-AA0F-236FF099F6ED}" srcOrd="2" destOrd="0" presId="urn:microsoft.com/office/officeart/2008/layout/LinedList"/>
    <dgm:cxn modelId="{0A6F97AC-5394-466A-BDBC-E84425702B6C}" type="presParOf" srcId="{29F5843F-91C2-4180-8A8F-016D0EAD14DD}" destId="{35D02620-0F2B-49AF-8637-1BE3D5804780}" srcOrd="3" destOrd="0" presId="urn:microsoft.com/office/officeart/2008/layout/LinedList"/>
    <dgm:cxn modelId="{6C35CA5F-7146-4AB0-BCA1-D34ED209C0E1}" type="presParOf" srcId="{35D02620-0F2B-49AF-8637-1BE3D5804780}" destId="{C6AB709E-30D1-4BAA-BD11-F54EDCE3CD18}" srcOrd="0" destOrd="0" presId="urn:microsoft.com/office/officeart/2008/layout/LinedList"/>
    <dgm:cxn modelId="{7E598470-0014-44DC-A0AE-D52452ADE19B}" type="presParOf" srcId="{35D02620-0F2B-49AF-8637-1BE3D5804780}" destId="{413A7211-4AEF-4545-868E-1671B1D72C13}" srcOrd="1" destOrd="0" presId="urn:microsoft.com/office/officeart/2008/layout/LinedList"/>
    <dgm:cxn modelId="{85FBCF25-38BA-43BD-9566-3579BF5DF41E}" type="presParOf" srcId="{29F5843F-91C2-4180-8A8F-016D0EAD14DD}" destId="{8B4A236D-9C92-4896-B5A9-60E996A277F7}" srcOrd="4" destOrd="0" presId="urn:microsoft.com/office/officeart/2008/layout/LinedList"/>
    <dgm:cxn modelId="{97772644-BE8E-4D95-8F7D-BCD4BCF95F71}" type="presParOf" srcId="{29F5843F-91C2-4180-8A8F-016D0EAD14DD}" destId="{86001484-E7F4-4F1E-BB1F-AB233CA17D06}" srcOrd="5" destOrd="0" presId="urn:microsoft.com/office/officeart/2008/layout/LinedList"/>
    <dgm:cxn modelId="{93363069-D7E5-4CC2-87B1-C11C66173075}" type="presParOf" srcId="{86001484-E7F4-4F1E-BB1F-AB233CA17D06}" destId="{D0B6F14B-AEE8-44B1-83DC-D0C2326C4DBD}" srcOrd="0" destOrd="0" presId="urn:microsoft.com/office/officeart/2008/layout/LinedList"/>
    <dgm:cxn modelId="{3580C694-C385-430C-84D3-DBD0FF790ADB}" type="presParOf" srcId="{86001484-E7F4-4F1E-BB1F-AB233CA17D06}" destId="{2CE39D40-BE57-45D1-918E-AF8A8513405A}" srcOrd="1" destOrd="0" presId="urn:microsoft.com/office/officeart/2008/layout/LinedList"/>
    <dgm:cxn modelId="{5C537C73-324E-4C1B-BF89-32172C60930B}" type="presParOf" srcId="{29F5843F-91C2-4180-8A8F-016D0EAD14DD}" destId="{90D2D180-AED8-44B5-BE74-F3FB9AC324A2}" srcOrd="6" destOrd="0" presId="urn:microsoft.com/office/officeart/2008/layout/LinedList"/>
    <dgm:cxn modelId="{6BAE88B1-D8F2-4CAF-8223-D3F67E1317EB}" type="presParOf" srcId="{29F5843F-91C2-4180-8A8F-016D0EAD14DD}" destId="{9064BD5E-7643-4B4B-8840-64E752C5CABA}" srcOrd="7" destOrd="0" presId="urn:microsoft.com/office/officeart/2008/layout/LinedList"/>
    <dgm:cxn modelId="{4D97B13D-7884-42F3-9989-EB910A1B472C}" type="presParOf" srcId="{9064BD5E-7643-4B4B-8840-64E752C5CABA}" destId="{BBE07B02-F037-48A3-BA88-ECD2EB554E98}" srcOrd="0" destOrd="0" presId="urn:microsoft.com/office/officeart/2008/layout/LinedList"/>
    <dgm:cxn modelId="{7CADC6C4-7783-4649-9907-1608467BDB84}" type="presParOf" srcId="{9064BD5E-7643-4B4B-8840-64E752C5CABA}" destId="{669AF9A9-EB09-4FDA-8854-3D7748C6306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3175E0-F5A2-46DF-B1D9-8B7BA5850BA3}">
      <dsp:nvSpPr>
        <dsp:cNvPr id="0" name=""/>
        <dsp:cNvSpPr/>
      </dsp:nvSpPr>
      <dsp:spPr>
        <a:xfrm>
          <a:off x="5734088" y="865032"/>
          <a:ext cx="2291448" cy="22918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A97CE8-B5D6-4DCE-A04C-45194CCE41B2}">
      <dsp:nvSpPr>
        <dsp:cNvPr id="0" name=""/>
        <dsp:cNvSpPr/>
      </dsp:nvSpPr>
      <dsp:spPr>
        <a:xfrm>
          <a:off x="5810171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3. Algorithm </a:t>
          </a:r>
          <a:r>
            <a:rPr lang="ko-KR" altLang="en-US" sz="1800" b="1" kern="1200" dirty="0"/>
            <a:t>실험 설계</a:t>
          </a:r>
          <a:endParaRPr lang="en-US" sz="1800" kern="1200" dirty="0"/>
        </a:p>
      </dsp:txBody>
      <dsp:txXfrm>
        <a:off x="6115996" y="1247078"/>
        <a:ext cx="1527632" cy="1527781"/>
      </dsp:txXfrm>
    </dsp:sp>
    <dsp:sp modelId="{062524D4-FA8D-4295-A976-3EE07E686946}">
      <dsp:nvSpPr>
        <dsp:cNvPr id="0" name=""/>
        <dsp:cNvSpPr/>
      </dsp:nvSpPr>
      <dsp:spPr>
        <a:xfrm rot="2700000">
          <a:off x="3368570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C56419-7B9F-4C42-A304-515C750DC5B6}">
      <dsp:nvSpPr>
        <dsp:cNvPr id="0" name=""/>
        <dsp:cNvSpPr/>
      </dsp:nvSpPr>
      <dsp:spPr>
        <a:xfrm>
          <a:off x="3441893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2. Algorithm update &amp; Architecture </a:t>
          </a:r>
          <a:r>
            <a:rPr lang="ko-KR" altLang="en-US" sz="1800" b="1" kern="1200" dirty="0"/>
            <a:t>설계</a:t>
          </a:r>
          <a:r>
            <a:rPr lang="en-US" sz="1800" b="1" kern="1200" dirty="0"/>
            <a:t> </a:t>
          </a:r>
          <a:endParaRPr lang="en-US" sz="1800" kern="1200" dirty="0"/>
        </a:p>
      </dsp:txBody>
      <dsp:txXfrm>
        <a:off x="3747718" y="1247078"/>
        <a:ext cx="1527632" cy="1527781"/>
      </dsp:txXfrm>
    </dsp:sp>
    <dsp:sp modelId="{035E6392-8CBB-4D51-8D96-66CB4605DE7A}">
      <dsp:nvSpPr>
        <dsp:cNvPr id="0" name=""/>
        <dsp:cNvSpPr/>
      </dsp:nvSpPr>
      <dsp:spPr>
        <a:xfrm rot="2700000">
          <a:off x="1000292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D66424-DD88-461E-93A4-68CDBFB7BDA2}">
      <dsp:nvSpPr>
        <dsp:cNvPr id="0" name=""/>
        <dsp:cNvSpPr/>
      </dsp:nvSpPr>
      <dsp:spPr>
        <a:xfrm>
          <a:off x="1073615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1.  </a:t>
          </a:r>
          <a:r>
            <a:rPr lang="en-US" altLang="ko-KR" sz="1800" b="1" kern="1200" dirty="0"/>
            <a:t>Input </a:t>
          </a:r>
          <a:r>
            <a:rPr lang="ko-KR" altLang="en-US" sz="1800" b="1" kern="1200" dirty="0"/>
            <a:t>정의</a:t>
          </a:r>
          <a:endParaRPr lang="en-US" sz="1800" kern="1200" dirty="0"/>
        </a:p>
      </dsp:txBody>
      <dsp:txXfrm>
        <a:off x="1379440" y="1247078"/>
        <a:ext cx="1527632" cy="152778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61B5E1-A702-46EB-9D96-23193F811331}">
      <dsp:nvSpPr>
        <dsp:cNvPr id="0" name=""/>
        <dsp:cNvSpPr/>
      </dsp:nvSpPr>
      <dsp:spPr>
        <a:xfrm>
          <a:off x="0" y="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EE46B2-C3BF-4A77-8E60-15A072A6BDD0}">
      <dsp:nvSpPr>
        <dsp:cNvPr id="0" name=""/>
        <dsp:cNvSpPr/>
      </dsp:nvSpPr>
      <dsp:spPr>
        <a:xfrm>
          <a:off x="0" y="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기존 이상 탐지 모델</a:t>
          </a:r>
          <a:r>
            <a:rPr lang="en-US" sz="1600" kern="1200" dirty="0"/>
            <a:t>(</a:t>
          </a:r>
          <a:r>
            <a:rPr lang="ko-KR" sz="1600" kern="1200" dirty="0"/>
            <a:t>LSTM</a:t>
          </a:r>
          <a:r>
            <a:rPr lang="en-US" altLang="ko-KR" sz="1600" kern="1200" dirty="0"/>
            <a:t>-</a:t>
          </a:r>
          <a:r>
            <a:rPr lang="ko-KR" sz="1600" kern="1200" dirty="0" err="1"/>
            <a:t>Autoencoder</a:t>
          </a:r>
          <a:r>
            <a:rPr lang="en-US" altLang="ko-KR" sz="1600" kern="1200" dirty="0"/>
            <a:t> Base</a:t>
          </a:r>
          <a:r>
            <a:rPr lang="en-US" sz="1600" kern="1200" dirty="0"/>
            <a:t>)</a:t>
          </a:r>
          <a:r>
            <a:rPr lang="ko-KR" sz="1600" kern="1200" dirty="0"/>
            <a:t>은 대부분 하나의 모델만 사용하여 현재 상태만 고려</a:t>
          </a:r>
          <a:r>
            <a:rPr lang="ko-KR" altLang="en-US" sz="1600" kern="1200" dirty="0"/>
            <a:t>한다</a:t>
          </a:r>
          <a:r>
            <a:rPr lang="en-US" altLang="ko-KR" sz="1600" kern="1200" dirty="0"/>
            <a:t>. </a:t>
          </a:r>
          <a:r>
            <a:rPr lang="ko-KR" altLang="en-US" sz="1600" kern="1200" dirty="0"/>
            <a:t>즉 아무리 좋은 모델이어도 </a:t>
          </a:r>
          <a:r>
            <a:rPr lang="en-US" altLang="ko-KR" sz="1600" kern="1200" dirty="0"/>
            <a:t>Auto-encoder </a:t>
          </a:r>
          <a:r>
            <a:rPr lang="ko-KR" altLang="en-US" sz="1600" kern="1200" dirty="0"/>
            <a:t>모델은 </a:t>
          </a:r>
          <a:r>
            <a:rPr lang="ko-KR" sz="1600" kern="1200" dirty="0"/>
            <a:t>시간적 의존성</a:t>
          </a:r>
          <a:r>
            <a:rPr lang="en-US" altLang="ko-KR" sz="1600" kern="1200" dirty="0"/>
            <a:t> </a:t>
          </a:r>
          <a:r>
            <a:rPr lang="ko-KR" altLang="en-US" sz="1600" kern="1200" dirty="0"/>
            <a:t>문제가 발생</a:t>
          </a:r>
          <a:endParaRPr lang="en-US" sz="1600" kern="1200" dirty="0"/>
        </a:p>
      </dsp:txBody>
      <dsp:txXfrm>
        <a:off x="0" y="0"/>
        <a:ext cx="8839378" cy="1066896"/>
      </dsp:txXfrm>
    </dsp:sp>
    <dsp:sp modelId="{8E54C145-340A-4ABA-AA0F-236FF099F6ED}">
      <dsp:nvSpPr>
        <dsp:cNvPr id="0" name=""/>
        <dsp:cNvSpPr/>
      </dsp:nvSpPr>
      <dsp:spPr>
        <a:xfrm>
          <a:off x="0" y="1066896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AB709E-30D1-4BAA-BD11-F54EDCE3CD18}">
      <dsp:nvSpPr>
        <dsp:cNvPr id="0" name=""/>
        <dsp:cNvSpPr/>
      </dsp:nvSpPr>
      <dsp:spPr>
        <a:xfrm>
          <a:off x="0" y="1066896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하지만 배터리 열폭주는</a:t>
          </a:r>
          <a:r>
            <a:rPr lang="en-US" sz="1600" kern="1200" dirty="0"/>
            <a:t> </a:t>
          </a:r>
          <a:r>
            <a:rPr lang="ko-KR" sz="1600" kern="1200" dirty="0"/>
            <a:t>현재 상태의 이상 징후와 앞으로 발생할 위험을 동시에 고려해야 더욱 신뢰성 있는 조기 탐지가 가능</a:t>
          </a:r>
          <a:r>
            <a:rPr lang="ko-KR" altLang="en-US" sz="1600" kern="1200" dirty="0"/>
            <a:t>하다</a:t>
          </a:r>
          <a:r>
            <a:rPr lang="en-US" altLang="ko-KR" sz="1600" kern="1200" dirty="0"/>
            <a:t>.</a:t>
          </a:r>
          <a:endParaRPr lang="en-US" sz="1600" kern="1200" dirty="0"/>
        </a:p>
      </dsp:txBody>
      <dsp:txXfrm>
        <a:off x="0" y="1066896"/>
        <a:ext cx="8839378" cy="1066896"/>
      </dsp:txXfrm>
    </dsp:sp>
    <dsp:sp modelId="{8B4A236D-9C92-4896-B5A9-60E996A277F7}">
      <dsp:nvSpPr>
        <dsp:cNvPr id="0" name=""/>
        <dsp:cNvSpPr/>
      </dsp:nvSpPr>
      <dsp:spPr>
        <a:xfrm>
          <a:off x="0" y="2133793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B6F14B-AEE8-44B1-83DC-D0C2326C4DBD}">
      <dsp:nvSpPr>
        <dsp:cNvPr id="0" name=""/>
        <dsp:cNvSpPr/>
      </dsp:nvSpPr>
      <dsp:spPr>
        <a:xfrm>
          <a:off x="0" y="2133793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600" b="1" kern="1200" dirty="0"/>
            <a:t>따라서 </a:t>
          </a:r>
          <a:r>
            <a:rPr lang="ko-KR" sz="1600" b="1" kern="1200" dirty="0"/>
            <a:t>본 프로젝트에서는 LSTM Auto</a:t>
          </a:r>
          <a:r>
            <a:rPr lang="en-US" altLang="ko-KR" sz="1600" b="1" kern="1200" dirty="0"/>
            <a:t>-</a:t>
          </a:r>
          <a:r>
            <a:rPr lang="ko-KR" sz="1600" b="1" kern="1200" dirty="0" err="1"/>
            <a:t>encoder와</a:t>
          </a:r>
          <a:r>
            <a:rPr lang="ko-KR" sz="1600" b="1" kern="1200" dirty="0"/>
            <a:t> </a:t>
          </a:r>
          <a:r>
            <a:rPr lang="ko-KR" sz="1600" b="1" kern="1200" dirty="0" err="1"/>
            <a:t>Informer</a:t>
          </a:r>
          <a:r>
            <a:rPr lang="ko-KR" sz="1600" b="1" kern="1200" dirty="0"/>
            <a:t> 를 병렬적으로 적용하여</a:t>
          </a:r>
          <a:r>
            <a:rPr lang="en-US" sz="1600" b="1" kern="1200" dirty="0"/>
            <a:t> </a:t>
          </a:r>
          <a:r>
            <a:rPr lang="ko-KR" sz="1600" b="1" kern="1200" dirty="0"/>
            <a:t>각 모델이 계산한 이상 점수를 하나의 최종 점수로 융합해 배터리 상태를 진단하는 </a:t>
          </a:r>
          <a:r>
            <a:rPr lang="ko-KR" sz="1600" b="1" kern="1200" dirty="0" err="1"/>
            <a:t>Hybrid</a:t>
          </a:r>
          <a:r>
            <a:rPr lang="ko-KR" sz="1600" b="1" kern="1200" dirty="0"/>
            <a:t> AI </a:t>
          </a:r>
          <a:r>
            <a:rPr lang="en-US" sz="1600" b="1" kern="1200" dirty="0"/>
            <a:t>Algorithm </a:t>
          </a:r>
          <a:r>
            <a:rPr lang="ko-KR" sz="1600" b="1" kern="1200" dirty="0"/>
            <a:t>제안</a:t>
          </a:r>
          <a:endParaRPr lang="en-US" sz="1600" b="1" kern="1200" dirty="0"/>
        </a:p>
      </dsp:txBody>
      <dsp:txXfrm>
        <a:off x="0" y="2133793"/>
        <a:ext cx="8839378" cy="1066896"/>
      </dsp:txXfrm>
    </dsp:sp>
    <dsp:sp modelId="{90D2D180-AED8-44B5-BE74-F3FB9AC324A2}">
      <dsp:nvSpPr>
        <dsp:cNvPr id="0" name=""/>
        <dsp:cNvSpPr/>
      </dsp:nvSpPr>
      <dsp:spPr>
        <a:xfrm>
          <a:off x="0" y="320069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E07B02-F037-48A3-BA88-ECD2EB554E98}">
      <dsp:nvSpPr>
        <dsp:cNvPr id="0" name=""/>
        <dsp:cNvSpPr/>
      </dsp:nvSpPr>
      <dsp:spPr>
        <a:xfrm>
          <a:off x="0" y="320069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b="1" kern="1200" dirty="0"/>
            <a:t>하나의 모델에 의존하지 않고, </a:t>
          </a:r>
          <a:r>
            <a:rPr lang="ko-KR" altLang="en-US" sz="1600" b="1" kern="1200" dirty="0"/>
            <a:t>분석 관점</a:t>
          </a:r>
          <a:r>
            <a:rPr lang="ko-KR" sz="1600" b="1" kern="1200" dirty="0"/>
            <a:t>이 다른 두 개의 AI 모델이 배터리를 교차 감시해 신뢰성</a:t>
          </a:r>
          <a:r>
            <a:rPr lang="en-US" sz="1600" b="1" kern="1200" dirty="0"/>
            <a:t>, </a:t>
          </a:r>
          <a:r>
            <a:rPr lang="ko-KR" sz="1600" b="1" kern="1200" dirty="0"/>
            <a:t>정확도 극대화</a:t>
          </a:r>
          <a:endParaRPr lang="en-US" sz="1600" b="1" kern="1200" dirty="0"/>
        </a:p>
      </dsp:txBody>
      <dsp:txXfrm>
        <a:off x="0" y="3200690"/>
        <a:ext cx="8839378" cy="10668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node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AFFFFD-18B2-9B4B-8EC5-803C3A5D4B8F}" type="datetimeFigureOut">
              <a:rPr kumimoji="1" lang="ko-KR" altLang="en-US" smtClean="0"/>
              <a:t>2026. 7. 5.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31848-C50C-D84C-B189-C15247550FC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26463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192E0-38B5-4226-B6DA-46C3116F55E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7269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891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859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723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592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2011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8063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524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1333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7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012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8177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74164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46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data.nasa.gov/dataset/li-ion-battery-aging-datasets" TargetMode="External"/><Relationship Id="rId3" Type="http://schemas.openxmlformats.org/officeDocument/2006/relationships/hyperlink" Target="https://www.sciencedirect.com/science/article/pii/S2352340924005766" TargetMode="External"/><Relationship Id="rId4" Type="http://schemas.openxmlformats.org/officeDocument/2006/relationships/hyperlink" Target="https://www.sandia.gov/app/uploads/sites/82/2022/10/301_Wang_Safety.pdf" TargetMode="External"/><Relationship Id="rId5" Type="http://schemas.openxmlformats.org/officeDocument/2006/relationships/hyperlink" Target="https://www.mdpi.com/2313-0105/3/2/14" TargetMode="External"/><Relationship Id="rId6" Type="http://schemas.openxmlformats.org/officeDocument/2006/relationships/hyperlink" Target="https://pmc.ncbi.nlm.nih.gov/articles/PMC5503358/" TargetMode="External"/><Relationship Id="rId7" Type="http://schemas.openxmlformats.org/officeDocument/2006/relationships/hyperlink" Target="https://spj.science.org/doi/10.34133/energymatadv.0008" TargetMode="External"/><Relationship Id="rId8" Type="http://schemas.openxmlformats.org/officeDocument/2006/relationships/hyperlink" Target="https://www.sciencedirect.com/science/article/abs/pii/S2352152X21006095" TargetMode="External"/><Relationship Id="rId9" Type="http://schemas.openxmlformats.org/officeDocument/2006/relationships/hyperlink" Target="https://www.frontiersin.org/journals/physics/articles/10.3389/fphy.2025.1615872/full" TargetMode="External"/><Relationship Id="rId10" Type="http://schemas.openxmlformats.org/officeDocument/2006/relationships/hyperlink" Target="https://www.sciencedirect.com/science/article/abs/pii/S0360544225013908" TargetMode="External"/><Relationship Id="rId11" Type="http://schemas.openxmlformats.org/officeDocument/2006/relationships/hyperlink" Target="https://www.mdpi.com/2313-0105/11/10/356" TargetMode="External"/><Relationship Id="rId12" Type="http://schemas.openxmlformats.org/officeDocument/2006/relationships/hyperlink" Target="https://advanced.onlinelibrary.wiley.com/doi/10.1002/adsr.202400165" TargetMode="External"/><Relationship Id="rId13" Type="http://schemas.openxmlformats.org/officeDocument/2006/relationships/hyperlink" Target="https://www.large-battery.com/blog/why-lipo-batteries-explode-and-prevent-it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8.sv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9.svg"/><Relationship Id="rId4" Type="http://schemas.openxmlformats.org/officeDocument/2006/relationships/image" Target="../media/image20.sv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1.sv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2.sv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3.svg"/><Relationship Id="rId4" Type="http://schemas.openxmlformats.org/officeDocument/2006/relationships/image" Target="../media/image24.sv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5.sv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52D8-D2FD-6175-24B0-0C862B6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A54713F-3BDA-0717-64D7-6AEAEC417CD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311D7CB-29EC-803E-D7D8-0BCEA35A80B4}"/>
              </a:ext>
            </a:extLst>
          </p:cNvPr>
          <p:cNvSpPr/>
          <p:nvPr/>
        </p:nvSpPr>
        <p:spPr>
          <a:xfrm>
            <a:off x="204039" y="15185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FFFB9-444B-11DA-E82C-D6D5A44EFC56}"/>
              </a:ext>
            </a:extLst>
          </p:cNvPr>
          <p:cNvSpPr txBox="1"/>
          <p:nvPr/>
        </p:nvSpPr>
        <p:spPr>
          <a:xfrm>
            <a:off x="773586" y="918414"/>
            <a:ext cx="8808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2000" b="1" dirty="0"/>
              <a:t>스마트 배터리 실측 데이터 활용 </a:t>
            </a:r>
            <a:r>
              <a:rPr kumimoji="1" lang="en" altLang="ko-KR" sz="2000" b="1" dirty="0"/>
              <a:t>AI ·</a:t>
            </a:r>
            <a:r>
              <a:rPr kumimoji="1" lang="ko-KR" altLang="en-US" sz="2000" b="1" dirty="0"/>
              <a:t>이상 탐지 진단 알고리즘 및 시스템 구축</a:t>
            </a:r>
          </a:p>
          <a:p>
            <a:endParaRPr kumimoji="1"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C58CA-EB07-A507-88CA-1A14C04846CB}"/>
              </a:ext>
            </a:extLst>
          </p:cNvPr>
          <p:cNvSpPr txBox="1"/>
          <p:nvPr/>
        </p:nvSpPr>
        <p:spPr>
          <a:xfrm>
            <a:off x="368025" y="5786566"/>
            <a:ext cx="4154014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멘토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신승훈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김근우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김경모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서민기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정재환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	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 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D0EE29C-A97C-09F4-3488-ED8292F24C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500" y="5511596"/>
            <a:ext cx="32766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135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2" y="163550"/>
            <a:ext cx="4084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감지 </a:t>
            </a:r>
            <a:r>
              <a:rPr lang="en-US" altLang="ko-KR" b="1" dirty="0"/>
              <a:t>BMS </a:t>
            </a:r>
            <a:r>
              <a:rPr lang="ko-KR" altLang="en-US" b="1" dirty="0"/>
              <a:t>경쟁사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graphicFrame>
        <p:nvGraphicFramePr>
          <p:cNvPr id="50" name="경쟁사분석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783680"/>
              </p:ext>
            </p:extLst>
          </p:nvPr>
        </p:nvGraphicFramePr>
        <p:xfrm>
          <a:off x="600467" y="1051674"/>
          <a:ext cx="8705065" cy="4961387"/>
        </p:xfrm>
        <a:graphic>
          <a:graphicData uri="http://schemas.openxmlformats.org/drawingml/2006/table">
            <a:tbl>
              <a:tblPr first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829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구분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A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Anker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B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Texas Instruments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C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Qnovo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D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Injoinic 英集芯 (중국)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1A4FA0"/>
                          </a:solidFill>
                        </a:rPr>
                        <a:t>우리!!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배터리 열폭주 조기탐지 AI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DCE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68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솔루션 명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ActiveShield 2.0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안전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BQ24295 + BQ27Z746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충전관리 IC · 퓨얼게이지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Qnovo SpectralX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배터리 인텔리전스 SW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IP5328P SoC +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전용 통합 SoC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1A4FA0"/>
                          </a:solidFill>
                        </a:rPr>
                        <a:t>AI 배터리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조기탐지·실시간 관제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842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핵심 기능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하루 300만 회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 기반 출력 자동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과열·과충전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칩 내장형 능동 발열 관리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1셀 Li-ion 충전관리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서미스터 온도(hot/cold) 감시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접합온도 120℃ 초과 시 전류 감소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과전압·입력전류 제한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SoC/SoH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적응형·예측형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셀 진단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열폭주 전 의심 셀 식별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결함 감지 시 배터리 차단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전용 고집적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14-bit ADC 전압·전류 측정(I2C)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 SoC 표시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QC/PD/FCP 멀티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IC·배터리 온도, 입력전압 제어루프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전압·전류·온도·SOC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스트리밍 파이프라인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LSTM-AE 실시간 이상탐지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웹 대시보드 실시간 관제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릴레이 Kill-Switch 물리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카카오톡 알림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603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알고리즘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임계치/룰 기반 온도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온도 임계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패턴학습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게이징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추론 기능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머신러닝 기반 예측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화학적 SoH 추정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특허 50건+ 보유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온도·전압 제어루프 충전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알고리즘(AI 아님)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LSTM-AutoEncoder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30 time-steps 윈도우, 이상점수(0.0~1.0, 4단계 등급)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 기반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칼만필터 내부 셀온도 추정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732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주요 특징·장단점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동일 제품군(소비자 보조배터리)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대량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실시간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실제 보조배터리 적용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 기반 사후 대응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내부 이상패턴 예측 불가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자사 전용 폐쇄형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외부 웹 관제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업계 표준 칩, 소형 1셀 최적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저비용·검증된 표준 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소형 1셀 휴대기기 최적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정밀 게이징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단일 칩 보호 위주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스마트폰 1.5억 대+ 탑재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대규모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AI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충전 최적화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충전 최적화 중심(독립 제품 아님)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BMS 내장 SW 라이선스 모델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관제·물리 차단 미통합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SoC 점유율 상위 칩 메이커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보조배터리 전용 통합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멀티 프로토콜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다중 온도·전압 제어루프 보호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임계치·룰 기반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클라우드·웹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소형 보조배터리 특화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학습형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엣지~클라우드~웹~물리차단 통합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실시간 + Kill-Switch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차별점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임계치</a:t>
                      </a:r>
                      <a:r>
                        <a:rPr lang="ko-KR" altLang="en-US" sz="800" b="0" dirty="0">
                          <a:solidFill>
                            <a:srgbClr val="1A4FA0"/>
                          </a:solidFill>
                        </a:rPr>
                        <a:t> 기반</a:t>
                      </a: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(Anker·TI·Injoinic) → 정상패턴 학습 AI 사전예측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충전·폰 중심 AI(Qnovo) → 보조배터리 특화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995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333333"/>
                          </a:solidFill>
                        </a:rPr>
                        <a:t>가격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US$109.99/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대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US$2.25/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세트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공개가격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없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음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단가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확인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자사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산정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827650"/>
                  </a:ext>
                </a:extLst>
              </a:tr>
              <a:tr h="274413">
                <a:tc gridSpan="6"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750" b="0" dirty="0">
                          <a:solidFill>
                            <a:srgbClr val="888888"/>
                          </a:solidFill>
                        </a:rPr>
                        <a:t>가격 출처: A Anker 737 공식 US$109.99 · B TI.com offers 1.384+0.863=US$2.247 · C Qnovo 공개가격 없음/문의 · D IP5328P 공개 단가 추가 확인 필요 · 우리 외부 공개가격 없음 (2026.6.30 조회)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261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58A62-0C85-DA5A-0194-C0A2F440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324B60A-93AF-2CC6-9E3F-78F911F7DD2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349C62-CF35-CD5F-A297-99A7897EE1F6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Apple/Samsung </a:t>
            </a:r>
            <a:r>
              <a:rPr lang="ko-KR" altLang="en-US" b="1" dirty="0"/>
              <a:t>알고리즘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A825AE-EA7B-3C44-8B85-7ED6D18FDAD3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563880" y="903269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① 배터리 열화상태(SOH) 연산·모니터링 아키텍처 비교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1655650"/>
              </p:ext>
            </p:extLst>
          </p:nvPr>
        </p:nvGraphicFramePr>
        <p:xfrm>
          <a:off x="563880" y="1177588"/>
          <a:ext cx="8778240" cy="2404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공개 SOH 특허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US11079437B2 — 충전 중 SoH 분류 + 칼만 필터 정밀화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US20160187428A1 — 부분 충·방전 시간 정규화 SOH 추정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핵심 추정 방식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‘SoH 분류기’로 등급 1차 추정 후, SoC가 수렴하면 칼만 필터로 SoH 정밀 산출(충전 중 수행)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부분 충·방전 구간 측정값을 기준 배터리 모델로 정규화·스케일링(완전 사이클 불필요)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용량 표시·재교정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설정&gt;배터리&gt;‘배터리 성능 상태’에 최대 용량(%)·최대 성능 표시, iOS 14.5+ 정상 충전 사이클로 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One UI 7부터 설정&gt;배터리에서 충전 사이클·배터리 보호 상태 제공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63864" y="3984821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② 사용자 패턴 학습 기반 충전·배터리 보호 비교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8562247"/>
              </p:ext>
            </p:extLst>
          </p:nvPr>
        </p:nvGraphicFramePr>
        <p:xfrm>
          <a:off x="563864" y="4259140"/>
          <a:ext cx="8778240" cy="1901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학습형 충전 제어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최적화된 배터리 충전 — 온디바이스 ML로 충전 습관 학습(최소 14일), 80%에서 보류 후 사용 직전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적응형 배터리 보호 — 수면 패턴 학습, 취침 중 충전 보류 후 기상 1시간 전 100%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충전 상한 옵션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충전 상한 제한(80% 등, iPhone 15·iOS 17+)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배터리 보호 ‘최대’ 80/85/90/95% 선택(One UI 7+), ‘기본’은 100%→95% 재충전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설계 목적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만충(고전압) 유지 시간을 줄여 배터리 열화·수명 저하 완화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고충전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상태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노출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시간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단축으로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셀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수명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보호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(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애플과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동일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목적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63864" y="6327648"/>
            <a:ext cx="877824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650">
                <a:solidFill>
                  <a:srgbClr val="888888"/>
                </a:solidFill>
              </a:rPr>
              <a:t>출처: Apple US11079437B2 · Samsung US20160187428A1 (Google Patents) / Apple Support ‘배터리 성능 상태·최적화된 배터리 충전·충전 상한’ · Samsung ‘배터리 보호’(One UI 6.1/7) 안내</a:t>
            </a:r>
          </a:p>
        </p:txBody>
      </p:sp>
    </p:spTree>
    <p:extLst>
      <p:ext uri="{BB962C8B-B14F-4D97-AF65-F5344CB8AC3E}">
        <p14:creationId xmlns:p14="http://schemas.microsoft.com/office/powerpoint/2010/main" val="2131775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698662"/>
              </p:ext>
            </p:extLst>
          </p:nvPr>
        </p:nvGraphicFramePr>
        <p:xfrm>
          <a:off x="476300" y="3942970"/>
          <a:ext cx="9109963" cy="189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89970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34663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790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PCB </a:t>
                      </a:r>
                      <a:r>
                        <a:rPr lang="ko-KR" altLang="en-US" sz="1000"/>
                        <a:t>회로 설계 및 개발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데이터 수집 및 파이프라인 구축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열폭주 이상 징후 </a:t>
                      </a:r>
                      <a:r>
                        <a:rPr lang="en-US" altLang="ko-KR" sz="1000"/>
                        <a:t>AI  </a:t>
                      </a:r>
                      <a:r>
                        <a:rPr lang="ko-KR" altLang="en-US" sz="1000"/>
                        <a:t>모델 구현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웹 모니터링 및 통계 대시보드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AFCA70-032D-473C-A91B-4EFD3B906DBB}"/>
              </a:ext>
            </a:extLst>
          </p:cNvPr>
          <p:cNvSpPr/>
          <p:nvPr/>
        </p:nvSpPr>
        <p:spPr>
          <a:xfrm>
            <a:off x="5997146" y="2021746"/>
            <a:ext cx="876814" cy="5421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팀프로젝트 역할 정의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63A862-6D60-7650-5D1E-8B670AB0B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973" y="1019550"/>
            <a:ext cx="7772400" cy="248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363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7BFD4-2805-401F-1041-AF319E406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B5660FA-B2BF-273A-CACF-B849EF3AE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3791056"/>
              </p:ext>
            </p:extLst>
          </p:nvPr>
        </p:nvGraphicFramePr>
        <p:xfrm>
          <a:off x="768000" y="1014418"/>
          <a:ext cx="8250346" cy="440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2476986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5229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김근우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가상데이터로 파이프라인 데이터 전송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875150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728316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김경모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가스센서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압력센서 연결 회로도 구성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832407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2958143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새로운 알고리즘 </a:t>
                      </a:r>
                      <a:r>
                        <a:rPr lang="ko-KR" altLang="en-US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아키텍쳐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테이블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17285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5650914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 논문 리딩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82858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7095446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5B65ECC-3AD5-673B-A403-91DACBDCE06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641F7E-4710-566F-F160-EF236F0E0CC2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현재 진행 업무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908FF9-D074-782F-1704-27F7D89B7CA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4563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서비스 개요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0" name="Picture 0">
            <a:extLst>
              <a:ext uri="{FF2B5EF4-FFF2-40B4-BE49-F238E27FC236}">
                <a16:creationId xmlns:a16="http://schemas.microsoft.com/office/drawing/2014/main" id="{C037E2C5-E0BB-45A0-BAB8-8718C24B4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614" y="1668398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11" name="Picture 1">
            <a:extLst>
              <a:ext uri="{FF2B5EF4-FFF2-40B4-BE49-F238E27FC236}">
                <a16:creationId xmlns:a16="http://schemas.microsoft.com/office/drawing/2014/main" id="{B1B59178-B4EE-48D2-82D1-C7259A2423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397794" y="2083274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2050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21C92CA4-CF9C-4997-BD13-EF4ED9D67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109243" y="3394028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3782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836FE-03BB-66E7-2658-1B566A51C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97D5244B-E21D-7424-7253-6E7F733102A6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임계치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5047B0-FE0B-2527-9B9C-63BF6AF6951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20404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특성 온도 상태 기준 T1·T2·T3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204040" y="940000"/>
          <a:ext cx="4620000" cy="190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종류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 자기발열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 트리거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 피크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
NMC/NCA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급락이 표면온도 상승에 선행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334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
(과충전)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내부~50℃
(5.10V)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SOC180%↑시
내부&gt;200℃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&gt;660℃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과충전 시 가스·전해액 격렬 분출(폭발성)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498500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AI 상태 등급 · 이상점수 임계치 매핑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985000" y="940000"/>
          <a:ext cx="4620000" cy="255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 / 이상점수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단계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기타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
0.0–0.3</a:t>
                      </a: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충방전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평탄, 잡음 수준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dT/dt≈0
(&lt;0.01℃/min)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 정상 거동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주의
0.3–0.6</a:t>
                      </a:r>
                    </a:p>
                  </a:txBody>
                  <a:tcPr marL="45000" marR="45000" marT="9000" marB="9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SEI 분해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내부저항↑
미세 처짐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완만↑,
d²T/dt²≈0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온도 편차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
0.6–0.8</a:t>
                      </a:r>
                    </a:p>
                  </a:txBody>
                  <a:tcPr marL="45000" marR="45000" marT="9000" marB="9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②가스/밸브~
③트리거 직전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
음(–) 스텝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가속,
d²T/dt²&gt;0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스웰링·H₂ 출현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
0.8–1.0</a:t>
                      </a:r>
                    </a:p>
                  </a:txBody>
                  <a:tcPr marL="45000" marR="45000" marT="9000" marB="9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③가속~④폭주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급락→0V 붕괴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 폭증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분출,
발화 임박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204040" y="3640000"/>
            <a:ext cx="940096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③ 외부 물리 신호 ↔ 보유 센서 매핑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704245"/>
              </p:ext>
            </p:extLst>
          </p:nvPr>
        </p:nvGraphicFramePr>
        <p:xfrm>
          <a:off x="204040" y="3875000"/>
          <a:ext cx="9400960" cy="2600000"/>
        </p:xfrm>
        <a:graphic>
          <a:graphicData uri="http://schemas.openxmlformats.org/drawingml/2006/table">
            <a:tbl>
              <a:tblPr>
                <a:solidFill>
                  <a:srgbClr val="D9534E"/>
                </a:solidFill>
              </a:tblPr>
              <a:tblGrid>
                <a:gridCol w="1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현상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선행성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수단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팽창·내부압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 발생 → 케이스 팽창·내부압 상승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30분 전 (압력 도함수 변곡)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힘/스트레인·압력센서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음향(벤팅음)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안전밸브 개방·파열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온도/압력 대비 ~2배 빠름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MEMS 마이크 + 딥러닝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가스(H₂ 등)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off-gas 분출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온도급상승 수십초~수분 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반도체/전기화학 가스센서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냄새(VOC)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증기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가스와 동반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VOC 센서(BME680)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D95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연기·입자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고분자(분리막·바인더) 분해·연소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약 300초 후 (후기)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광산란 연기감지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표면 핫스팟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발열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트리거 부근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접촉온도(DS18B20) + IR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화염·빛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단계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화염/광 센서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  </a:t>
            </a:r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18650 ARC 실험·열폭주 과정(MDPI Batteries 2017; NMC값: Nature Commun. 2020, PMC7547674) · 리튬폴리머 과충전(Large-Battery) · AI 등급: 열폭주 예측·조기경보 리뷰(Energy Material Advances) · 외부신호: 음향(Energy 2025)·스웰링(MDPI Batteries 2025)·가스(Frontiers in Physics)·광섬유(ScienceDirect)</a:t>
            </a:r>
          </a:p>
        </p:txBody>
      </p:sp>
    </p:spTree>
    <p:extLst>
      <p:ext uri="{BB962C8B-B14F-4D97-AF65-F5344CB8AC3E}">
        <p14:creationId xmlns:p14="http://schemas.microsoft.com/office/powerpoint/2010/main" val="315307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82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특성 온도 상태 기준 (T1·T2·T3) 상세 — 18650 · 리튬폴리머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690000"/>
            <a:ext cx="9400960" cy="620000"/>
          </a:xfrm>
          <a:prstGeom prst="rect">
            <a:avLst/>
          </a:prstGeom>
          <a:solidFill>
            <a:srgbClr val="EAF1FB"/>
          </a:solidFill>
          <a:ln w="9525">
            <a:solidFill>
              <a:srgbClr val="5B9BD5"/>
            </a:solidFill>
          </a:ln>
        </p:spPr>
        <p:txBody>
          <a:bodyPr wrap="square" lIns="90000" tIns="54000" rIns="90000" bIns="54000">
            <a:spAutoFit/>
          </a:bodyPr>
          <a:lstStyle/>
          <a:p>
            <a:r>
              <a:rPr sz="9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정의  </a:t>
            </a:r>
            <a:r>
              <a:rPr sz="9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T1 = 부반응 자기발열 개시(완만) · T2 = 완만→급격 전환 임계점(폭주 트리거, 이후 제어 불가) · T3 = 폭주 중 도달 최고온도(방출 에너지량 지표).  값은 셀·SOC·가열조건에 따라 달라지므로 절대값보다 dT/dt(상승률)의 변곡이 더 일반적인 신호.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1420000"/>
          <a:ext cx="9400960" cy="4716000"/>
        </p:xfrm>
        <a:graphic>
          <a:graphicData uri="http://schemas.openxmlformats.org/drawingml/2006/table">
            <a:tbl>
              <a:tblPr/>
              <a:tblGrid>
                <a:gridCol w="14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/ 임계점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 NMC/NCA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 (파우치 NMC)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신호 (전압·dT/dt)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자기발열 개시</a:t>
                      </a:r>
                    </a:p>
                  </a:txBody>
                  <a:tcPr marL="63000" marR="63000" marT="18000" marB="18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부반응(SEI 피막 분해) 자기발열 시작 — dT/dt가 0.01℃/min을 넘는 시점으로 정의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91℃ (100% SOC)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미세 처짐(내부저항↑)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완만한 양(+)전환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밸브개방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가스방출</a:t>
                      </a:r>
                    </a:p>
                  </a:txBody>
                  <a:tcPr marL="63000" marR="63000" marT="18000" marB="18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비등·스웰링, 안전밸브 개방으로 off-gas 분출 (H₂가 최선행)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~140–160℃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팽창·가스 방출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(트리거 직전)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H₂ 조기검출, 내부압·스웰링↑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트리거</a:t>
                      </a:r>
                    </a:p>
                  </a:txBody>
                  <a:tcPr marL="63000" marR="63000" marT="18000" marB="18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분리막 용융·내부단락 — 이 임계점 이후 냉각으로도 정지 불가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171℃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 음(–) 스텝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가속·d²T/dt²&gt;0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 온도</a:t>
                      </a:r>
                    </a:p>
                  </a:txBody>
                  <a:tcPr marL="63000" marR="63000" marT="18000" marB="18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중 도달하는 최고 온도 (= 방출 에너지량 지표)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516℃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0V 붕괴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지수적 폭증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63000" marR="63000" marT="18000" marB="18000" anchor="ctr">
                    <a:solidFill>
                      <a:srgbClr val="A5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 분출, 연기·화염 발생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직후 발화·분출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분출·화염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화염·발광, 표면 핫스팟(IR)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출처: 18650 NMC/NCA — ARC 18650 실험(MDPI Batteries 2017)·NMC ARC(Nature Commun. 2020, PMC7547674) / 리튬폴리머(파우치 NMC, 5Ah NCM523/graphite, 100% SOC) — ARC HWS, T1/T2/T3 = 91/171/516℃ (PMC8292879)</a:t>
            </a:r>
          </a:p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두 셀 모두 표면 온도 기준(셀 외벽 K형 열전대·ARC). 내부 온도는 더 높으며, 값은 셀·SOC·가열조건에 따라 달라짐.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720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참고 자료 · 공개 데이터셋 및 논문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705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공개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데이터셋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940000"/>
          <a:ext cx="9400960" cy="1850000"/>
        </p:xfrm>
        <a:graphic>
          <a:graphicData uri="http://schemas.openxmlformats.org/drawingml/2006/table">
            <a:tbl>
              <a:tblPr/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00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우리 활용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 dirty="0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2"/>
                        </a:rPr>
                        <a:t>NASA Li-ion
Battery Aging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다양한 온도·프로파일의 전압·전류·온도 시계열 (충방전 사이클·노화)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LSTM-AE "정상" 학습 데이터 — 노화 정상분포 학습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3"/>
                        </a:rPr>
                        <a:t>ORNL/Sandia
기계적 유발 TR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압입 내부단락 유발, 전압·하중·압입변위·온도 + 0–100 심각도 라벨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실고장 + 심각도 라벨 → 등급(정상~위험) 검증·테스트셋으로 최적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4"/>
                        </a:rPr>
                        <a:t>Sandia Thermal
Runaway DB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LCO·NCA 등 상용셀 칼로리미터·열중량(TGA) 발열 특성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 데이터의 온도곡선·발열 파라미터 보정 근거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5"/>
                        </a:rPr>
                        <a:t>ARC 18650
(MDPI Batteries)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가속열량계(ARC)로 측정한 18650 자기발열·트리거·피크 온도 곡선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T1/T2/T3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변곡·dT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/dt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폭증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형상을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데이터에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</a:t>
                      </a:r>
                      <a:endParaRPr sz="800" b="0" dirty="0">
                        <a:solidFill>
                          <a:srgbClr val="333333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3280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참고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문헌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3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6"/>
              </a:rPr>
              <a:t>[1] Thermal Runaway Process of 18650 Li-ion Battery (실험) — PMC/NCBI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7"/>
              </a:rPr>
              <a:t>[2] Critical Review of TR Prediction &amp; Early-Warning — Energy Material Advances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8"/>
              </a:rPr>
              <a:t>[3] Characterization on TR of Commercial 18650 (review) — ScienceDirect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5"/>
              </a:rPr>
              <a:t>[4] TR in 18650 Using an ARC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9"/>
              </a:rPr>
              <a:t>[5] Gas Detection for TR of Li-ion Batteries — Frontiers in Physics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0"/>
              </a:rPr>
              <a:t>[6] Dual-stage TR Early Warning via Acoustic Signal Fusion —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5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1"/>
              </a:rPr>
              <a:t>[7] Swelling Mechanisms &amp; Diagnostics in Li-ion Batteries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2"/>
              </a:rPr>
              <a:t>[8] Advances in Early Warning of TR in Li-ion ESS — Wiley Adv. Sensor Research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2"/>
              </a:rPr>
              <a:t>[9] NASA Li-ion Battery Aging Datasets — data.nasa.gov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3"/>
              </a:rPr>
              <a:t>[10] Mechanically Induced TR Measurement &amp; Severity (ORNL/Sandia) — ScienceDirect Data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4"/>
              </a:rPr>
              <a:t>[11] Sandia Thermal Runaway Database Development (PDF) — sandia.gov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3"/>
              </a:rPr>
              <a:t>[12] Why Do LiPo Batteries Explode &amp; How to Prevent It — Large Battery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시스템 아키텍처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3313" name="그림 13312">
            <a:extLst>
              <a:ext uri="{FF2B5EF4-FFF2-40B4-BE49-F238E27FC236}">
                <a16:creationId xmlns:a16="http://schemas.microsoft.com/office/drawing/2014/main" id="{B285C52D-8A0F-0D42-E658-72A5E82D8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040" y="1383427"/>
            <a:ext cx="9437193" cy="408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424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8465" y="2901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latin typeface="맑은 고딕"/>
                <a:ea typeface="맑은 고딕"/>
                <a:cs typeface="맑은 고딕"/>
              </a:rPr>
              <a:t>전체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데이터 파이프라인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3324" y="1070293"/>
            <a:ext cx="8915400" cy="275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788" b="1">
                <a:latin typeface="맑은 고딕"/>
                <a:ea typeface="맑은 고딕"/>
                <a:cs typeface="맑은 고딕"/>
              </a:rPr>
              <a:t>Raspberry Pi → Apache Kafka(AWS EC2) → Consumer → PostgreSQL → 후속 팀</a:t>
            </a:r>
            <a:r>
              <a:rPr sz="1016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465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Rectangle 5"/>
          <p:cNvSpPr/>
          <p:nvPr/>
        </p:nvSpPr>
        <p:spPr>
          <a:xfrm>
            <a:off x="418465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" name="TextBox 6"/>
          <p:cNvSpPr txBox="1"/>
          <p:nvPr/>
        </p:nvSpPr>
        <p:spPr>
          <a:xfrm>
            <a:off x="418465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Raspberry Pi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195" y="2333307"/>
            <a:ext cx="1597343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Producer (Python)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센서값 수집/생성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JSON 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(serialization</a:t>
            </a: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35872" y="1961833"/>
            <a:ext cx="2043113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2535872" y="1961833"/>
            <a:ext cx="2043113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TextBox 10"/>
          <p:cNvSpPr txBox="1"/>
          <p:nvPr/>
        </p:nvSpPr>
        <p:spPr>
          <a:xfrm>
            <a:off x="2535872" y="2013839"/>
            <a:ext cx="2043113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Apache Kafka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9603" y="2333307"/>
            <a:ext cx="1820228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AWS EC2  :9092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topic: battery-data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partition 0 (key=cell_A)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retention 1h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13312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4" name="Rectangle 13"/>
          <p:cNvSpPr/>
          <p:nvPr/>
        </p:nvSpPr>
        <p:spPr>
          <a:xfrm>
            <a:off x="4913312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5" name="TextBox 14"/>
          <p:cNvSpPr txBox="1"/>
          <p:nvPr/>
        </p:nvSpPr>
        <p:spPr>
          <a:xfrm>
            <a:off x="4913312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Consumer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043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local_consumer.py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JSON 역직렬화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(Deserialization)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offset: latest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867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ectangle 17"/>
          <p:cNvSpPr/>
          <p:nvPr/>
        </p:nvSpPr>
        <p:spPr>
          <a:xfrm>
            <a:off x="7067867" y="1961833"/>
            <a:ext cx="1820228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TextBox 18"/>
          <p:cNvSpPr txBox="1"/>
          <p:nvPr/>
        </p:nvSpPr>
        <p:spPr>
          <a:xfrm>
            <a:off x="7067867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1598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table: battery_logs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건별 commit</a:t>
            </a: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2238693" y="2519045"/>
            <a:ext cx="297180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090103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8985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48969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33540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603524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8465" y="3484880"/>
            <a:ext cx="4420553" cy="854393"/>
          </a:xfrm>
          <a:prstGeom prst="rect">
            <a:avLst/>
          </a:prstGeom>
          <a:solidFill>
            <a:srgbClr val="EEF1F6"/>
          </a:solidFill>
          <a:ln w="12700">
            <a:solidFill>
              <a:srgbClr val="C8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TextBox 27"/>
          <p:cNvSpPr txBox="1"/>
          <p:nvPr/>
        </p:nvSpPr>
        <p:spPr>
          <a:xfrm>
            <a:off x="567055" y="3574034"/>
            <a:ext cx="4160520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데이터 스키마 (1 레코드 / JSON)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7055" y="3826637"/>
            <a:ext cx="4234815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timestamp · voltage(V) · current(A) · temperature(℃) · soc(%)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7055" y="4079241"/>
            <a:ext cx="4234815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772" b="1">
                <a:latin typeface="맑은 고딕"/>
                <a:ea typeface="맑은 고딕"/>
                <a:cs typeface="맑은 고딕"/>
              </a:rPr>
              <a:t>실제 센서 출력과 동일 포맷</a:t>
            </a:r>
            <a:r>
              <a:rPr sz="772" i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67867" y="3484880"/>
            <a:ext cx="1820228" cy="854393"/>
          </a:xfrm>
          <a:prstGeom prst="rect">
            <a:avLst/>
          </a:prstGeom>
          <a:solidFill>
            <a:srgbClr val="FFFFFF"/>
          </a:solidFill>
          <a:ln w="1397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1"/>
          <p:cNvSpPr txBox="1"/>
          <p:nvPr/>
        </p:nvSpPr>
        <p:spPr>
          <a:xfrm>
            <a:off x="7067867" y="3574034"/>
            <a:ext cx="1820228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후속 팀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6458" y="3856356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알고리즘팀 — SOC 추정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6458" y="4064382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대시보드팀 — 시각화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977981" y="3076257"/>
            <a:ext cx="0" cy="408623"/>
          </a:xfrm>
          <a:prstGeom prst="line">
            <a:avLst/>
          </a:prstGeom>
          <a:ln w="1778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37417" y="3161697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ko-KR" altLang="en-US" sz="853" b="1"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38" y="6393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7"/>
          <p:cNvSpPr txBox="1"/>
          <p:nvPr/>
        </p:nvSpPr>
        <p:spPr>
          <a:xfrm>
            <a:off x="9229495" y="5873305"/>
            <a:ext cx="490520" cy="1376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894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&lt; 1 / 8 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71598" y="20891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1026" name="Picture 2" descr="AWS EC2 인스턴스 개념 및 서버 구축하기">
            <a:extLst>
              <a:ext uri="{FF2B5EF4-FFF2-40B4-BE49-F238E27FC236}">
                <a16:creationId xmlns:a16="http://schemas.microsoft.com/office/drawing/2014/main" id="{A5DBEAF4-98AC-496E-ABC6-8F0D91A46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005" y="1884065"/>
            <a:ext cx="1494335" cy="84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타원 9">
            <a:extLst>
              <a:ext uri="{FF2B5EF4-FFF2-40B4-BE49-F238E27FC236}">
                <a16:creationId xmlns:a16="http://schemas.microsoft.com/office/drawing/2014/main" id="{B4C82D8D-5B46-45D7-9379-285FD807BA81}"/>
              </a:ext>
            </a:extLst>
          </p:cNvPr>
          <p:cNvSpPr/>
          <p:nvPr/>
        </p:nvSpPr>
        <p:spPr>
          <a:xfrm>
            <a:off x="638230" y="2724629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Server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Producer - msg </a:t>
            </a:r>
            <a:endParaRPr lang="ko-KR" altLang="en-US" sz="146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63668C8-B3E1-4661-B87B-5E027E91390C}"/>
              </a:ext>
            </a:extLst>
          </p:cNvPr>
          <p:cNvSpPr/>
          <p:nvPr/>
        </p:nvSpPr>
        <p:spPr>
          <a:xfrm>
            <a:off x="4071254" y="1884065"/>
            <a:ext cx="829718" cy="612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Local </a:t>
            </a:r>
          </a:p>
          <a:p>
            <a:pPr algn="ctr"/>
            <a:r>
              <a:rPr lang="en-US" altLang="ko-KR" sz="1463"/>
              <a:t>PC</a:t>
            </a:r>
            <a:endParaRPr lang="ko-KR" altLang="en-US" sz="1463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E3AB88-DCBA-4733-A425-974E4B2B091C}"/>
              </a:ext>
            </a:extLst>
          </p:cNvPr>
          <p:cNvCxnSpPr>
            <a:cxnSpLocks/>
          </p:cNvCxnSpPr>
          <p:nvPr/>
        </p:nvCxnSpPr>
        <p:spPr>
          <a:xfrm>
            <a:off x="2003919" y="2278310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타원 16">
            <a:extLst>
              <a:ext uri="{FF2B5EF4-FFF2-40B4-BE49-F238E27FC236}">
                <a16:creationId xmlns:a16="http://schemas.microsoft.com/office/drawing/2014/main" id="{EDCDB7B5-770D-408D-88C4-B144A644E6BC}"/>
              </a:ext>
            </a:extLst>
          </p:cNvPr>
          <p:cNvSpPr/>
          <p:nvPr/>
        </p:nvSpPr>
        <p:spPr>
          <a:xfrm>
            <a:off x="3327156" y="2744164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Client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Consumer  - msg </a:t>
            </a:r>
            <a:endParaRPr lang="ko-KR" altLang="en-US" sz="1463"/>
          </a:p>
        </p:txBody>
      </p:sp>
      <p:pic>
        <p:nvPicPr>
          <p:cNvPr id="1028" name="Picture 4" descr="데이터 베이스 - 무료 현서와 웹개 아이콘">
            <a:extLst>
              <a:ext uri="{FF2B5EF4-FFF2-40B4-BE49-F238E27FC236}">
                <a16:creationId xmlns:a16="http://schemas.microsoft.com/office/drawing/2014/main" id="{DAC255E3-2F6D-4D42-B4CE-304113DF0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733" y="1898787"/>
            <a:ext cx="660353" cy="660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05BF200-1839-40B2-AFCD-1DFE4E1684DA}"/>
              </a:ext>
            </a:extLst>
          </p:cNvPr>
          <p:cNvCxnSpPr>
            <a:cxnSpLocks/>
          </p:cNvCxnSpPr>
          <p:nvPr/>
        </p:nvCxnSpPr>
        <p:spPr>
          <a:xfrm flipV="1">
            <a:off x="4955352" y="2213235"/>
            <a:ext cx="4553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5842E9B-F245-41CE-825F-21DF9B0EAD24}"/>
              </a:ext>
            </a:extLst>
          </p:cNvPr>
          <p:cNvSpPr txBox="1"/>
          <p:nvPr/>
        </p:nvSpPr>
        <p:spPr>
          <a:xfrm>
            <a:off x="5014628" y="2513731"/>
            <a:ext cx="958664" cy="542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63"/>
              <a:t>Postgre DB</a:t>
            </a:r>
            <a:endParaRPr lang="ko-KR" altLang="en-US" sz="1463"/>
          </a:p>
        </p:txBody>
      </p:sp>
      <p:pic>
        <p:nvPicPr>
          <p:cNvPr id="1030" name="Picture 6" descr="데이터 베이스(DataBase) 란 무엇인가? : 네이버 블로그">
            <a:extLst>
              <a:ext uri="{FF2B5EF4-FFF2-40B4-BE49-F238E27FC236}">
                <a16:creationId xmlns:a16="http://schemas.microsoft.com/office/drawing/2014/main" id="{BF9E2D26-C49C-4386-865B-D76BA9836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1086" y="2349404"/>
            <a:ext cx="1120969" cy="720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46876BE0-58E0-4CD0-BA43-E3BBD42BA7FE}"/>
              </a:ext>
            </a:extLst>
          </p:cNvPr>
          <p:cNvCxnSpPr>
            <a:cxnSpLocks/>
          </p:cNvCxnSpPr>
          <p:nvPr/>
        </p:nvCxnSpPr>
        <p:spPr>
          <a:xfrm>
            <a:off x="6016083" y="2213235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2" name="Picture 8" descr="대시보드 설계 시, 어떤 소프트웨어를 선택할까?- 6">
            <a:extLst>
              <a:ext uri="{FF2B5EF4-FFF2-40B4-BE49-F238E27FC236}">
                <a16:creationId xmlns:a16="http://schemas.microsoft.com/office/drawing/2014/main" id="{AAEC0425-3F24-4A8C-AD53-061E77B822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3417" y="1821515"/>
            <a:ext cx="1280900" cy="850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E97D2DC-3DE3-406B-BF23-DD3785A92EEA}"/>
              </a:ext>
            </a:extLst>
          </p:cNvPr>
          <p:cNvSpPr/>
          <p:nvPr/>
        </p:nvSpPr>
        <p:spPr>
          <a:xfrm>
            <a:off x="320080" y="1514500"/>
            <a:ext cx="2952697" cy="3378525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79F4CC7-A899-484E-A70E-58C84F0BB856}"/>
              </a:ext>
            </a:extLst>
          </p:cNvPr>
          <p:cNvSpPr/>
          <p:nvPr/>
        </p:nvSpPr>
        <p:spPr>
          <a:xfrm>
            <a:off x="105050" y="2536567"/>
            <a:ext cx="5800726" cy="1737356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033" name="Rectangle 1032"/>
          <p:cNvSpPr/>
          <p:nvPr/>
        </p:nvSpPr>
        <p:spPr>
          <a:xfrm>
            <a:off x="185861" y="55810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00355" y="21907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2050" name="Picture 2" descr="Azure Event Hubs가 이벤트 스트리밍 플랫폼에 어떻게 적용되는지 보여주는 다이어그램입니다.">
            <a:extLst>
              <a:ext uri="{FF2B5EF4-FFF2-40B4-BE49-F238E27FC236}">
                <a16:creationId xmlns:a16="http://schemas.microsoft.com/office/drawing/2014/main" id="{6BFD888E-9DBA-4061-B44B-BD4D491956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1686" y="1521132"/>
            <a:ext cx="7120389" cy="3409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1" name="Rectangle 2050"/>
          <p:cNvSpPr/>
          <p:nvPr/>
        </p:nvSpPr>
        <p:spPr>
          <a:xfrm>
            <a:off x="114618" y="56826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5178" y="1885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배터리 데이터 생성 (회로 설계 완료 · 실 제작 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9238" y="1303020"/>
            <a:ext cx="4505083" cy="24572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회로도 설계는 완료 </a:t>
            </a:r>
            <a:r>
              <a:rPr sz="121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BMS 회로(bms_v5) 스키매틱 확정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1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선검증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sz="934">
                <a:latin typeface="맑은 고딕"/>
                <a:ea typeface="맑은 고딕"/>
                <a:cs typeface="맑은 고딕"/>
              </a:rPr>
              <a:t>하드웨어 도입 전 SW 시뮬레이션으로 수집→전송→저장 안전성 확인</a:t>
            </a: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실데이터와 동일 포맷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lang="en-US" altLang="ko-KR"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전압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전류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온도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,soc,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시간</a:t>
            </a:r>
            <a:endParaRPr lang="ko-KR" altLang="en-US"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lang="en-US" altLang="ko-KR" sz="121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en-US" altLang="ko-KR" sz="934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37206" y="1154430"/>
            <a:ext cx="4086225" cy="162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056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데이터 Producer (핵심 로직)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7206" y="1332738"/>
            <a:ext cx="4086225" cy="302242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1463"/>
          </a:p>
        </p:txBody>
      </p:sp>
      <p:sp>
        <p:nvSpPr>
          <p:cNvPr id="7" name="TextBox 6"/>
          <p:cNvSpPr txBox="1"/>
          <p:nvPr/>
        </p:nvSpPr>
        <p:spPr>
          <a:xfrm>
            <a:off x="5400655" y="1451610"/>
            <a:ext cx="3759327" cy="28766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json, time, random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 </a:t>
            </a: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KafkaProducer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producer = KafkaProducer(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json.dumps(v).encode(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while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True: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{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'voltage'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round(3.5+soc*0.7,3),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'current'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round(load,3),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'temperature'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round(temp,2),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'soc'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round(soc,2),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'timestamp'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now() }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producer.send(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key=b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'cell_A'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 value=data)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time.sleep(</a:t>
            </a:r>
            <a:r>
              <a:rPr lang="en-US" altLang="ko-KR"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   </a:t>
            </a:r>
          </a:p>
        </p:txBody>
      </p:sp>
      <p:sp>
        <p:nvSpPr>
          <p:cNvPr id="9" name="TextBox 3"/>
          <p:cNvSpPr txBox="1"/>
          <p:nvPr/>
        </p:nvSpPr>
        <p:spPr>
          <a:xfrm>
            <a:off x="0" y="4127778"/>
            <a:ext cx="8692515" cy="15552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키 전략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key를 'cell_A'로 고정하면 Kafka 해시 알고리즘이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항상 같은 파티션에 적재한다.별 시계열 순서가 절대 뒤바뀌지 않아, Consumer가 안전하게 순차 처리할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 있다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25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직렬화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JSON dict를 UTF-8 bytes로 직렬화하여 전송, 스키마 고정으로 Consumer 파싱이 안정적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토픽 &amp; 파티셔닝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topic 'battery-data'에 key='cell_A'로 전송 → 해시 기반 단일 파티션으로 순서 보장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브로커 버퍼링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AWS EC2 브로커가 retention 1h 동안 보관 → Consumer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에러발생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시에도 재처리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0851" y="5377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8945" y="17843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Producer → Broker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0388" y="1292860"/>
            <a:ext cx="8692515" cy="2023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5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88607" y="1187566"/>
            <a:ext cx="7944125" cy="3652383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2405318" y="4937694"/>
            <a:ext cx="4952876" cy="406011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ko-KR" altLang="en-US" sz="1706" b="1">
                <a:latin typeface="굴림"/>
                <a:ea typeface="굴림"/>
              </a:rPr>
              <a:t>라즈베리파이 데이터</a:t>
            </a:r>
            <a:r>
              <a:rPr lang="en-US" altLang="ko-KR" sz="1706" b="1">
                <a:latin typeface="굴림"/>
                <a:ea typeface="굴림"/>
              </a:rPr>
              <a:t>(</a:t>
            </a:r>
            <a:r>
              <a:rPr lang="ko-KR" altLang="en-US" sz="1706" b="1">
                <a:latin typeface="굴림"/>
                <a:ea typeface="굴림"/>
              </a:rPr>
              <a:t>전압</a:t>
            </a:r>
            <a:r>
              <a:rPr lang="en-US" altLang="ko-KR" sz="1706" b="1">
                <a:latin typeface="굴림"/>
                <a:ea typeface="굴림"/>
              </a:rPr>
              <a:t>,</a:t>
            </a:r>
            <a:r>
              <a:rPr lang="ko-KR" altLang="en-US" sz="1706" b="1">
                <a:latin typeface="굴림"/>
                <a:ea typeface="굴림"/>
              </a:rPr>
              <a:t>전류</a:t>
            </a:r>
            <a:r>
              <a:rPr lang="en-US" altLang="ko-KR" sz="1706" b="1">
                <a:latin typeface="굴림"/>
                <a:ea typeface="굴림"/>
              </a:rPr>
              <a:t>,soc)</a:t>
            </a:r>
            <a:r>
              <a:rPr lang="ko-KR" altLang="en-US" sz="1706" b="1">
                <a:latin typeface="굴림"/>
                <a:ea typeface="굴림"/>
              </a:rPr>
              <a:t> 송신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114618" y="52762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1005" y="0"/>
            <a:ext cx="8915400" cy="375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Brok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er →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4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005" y="1248156"/>
            <a:ext cx="4531995" cy="175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11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local_consumer.py (실제 운영 코드)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005" y="1582483"/>
            <a:ext cx="4531995" cy="334327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584454" y="1701355"/>
            <a:ext cx="4205096" cy="22664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consumer = KafkaConsumer(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861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value_deserializer=lambda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json.loads(v.decode(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auto_offset_reset=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'latest'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message </a:t>
            </a: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consumer: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message.value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cursor.execute(insert_query, 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'timestamp'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'voltage'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'current'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'temperature'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'soc'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conn.commit()   </a:t>
            </a:r>
            <a:endParaRPr sz="861">
              <a:solidFill>
                <a:srgbClr val="9FB0C8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175885" y="1656778"/>
            <a:ext cx="4160520" cy="17862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Kafka 구독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topic 'battery-data'를 실시간 구독</a:t>
            </a:r>
            <a:r>
              <a:rPr lang="en-US" altLang="ko-KR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(latest offset)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역직렬화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UTF-8 → JSON dict 복원, 5개 항목 추출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INSERT 적재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battery_logs에 파라미터 바인딩 INSERT(SQL 인젝션 방지)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lang="en-US" altLang="ko-KR"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conn.commit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메시지 1건마다 commit → </a:t>
            </a:r>
            <a:r>
              <a:rPr lang="ko-KR" altLang="en-US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 발생 시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에도 데이터 무손실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78" y="520064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8625" y="14795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 → PostgreSQL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6784" y="1718089"/>
            <a:ext cx="2907529" cy="25270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S</a:t>
            </a:r>
            <a:r>
              <a:rPr sz="1178" b="1">
                <a:latin typeface="맑은 고딕"/>
                <a:ea typeface="맑은 고딕"/>
                <a:cs typeface="맑은 고딕"/>
              </a:rPr>
              <a:t>ELECT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 </a:t>
            </a:r>
            <a:r>
              <a:rPr sz="1178" b="1">
                <a:latin typeface="맑은 고딕"/>
                <a:ea typeface="맑은 고딕"/>
                <a:cs typeface="맑은 고딕"/>
              </a:rPr>
              <a:t>: 데이터베이스 장부에서 어떤 컬럼(열)들을 골라서 볼지 지정 </a:t>
            </a: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78" b="1">
                <a:latin typeface="맑은 고딕"/>
                <a:ea typeface="맑은 고딕"/>
                <a:cs typeface="맑은 고딕"/>
              </a:rPr>
              <a:t>FROM battery_logs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만들어 두었던 battery_logs라는 이름의 테이블(데이터 장부)에서 데이터를 가져옴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ORDER BY log_id DESC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고유 번호인 log_id를 기준으로 내림차순(DESC, 큰 숫자 부터 작은 숫자 순) 정렬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9939" y="902526"/>
            <a:ext cx="6645338" cy="4081485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921420" y="4984012"/>
            <a:ext cx="4952876" cy="416540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en-US" altLang="ko-KR" sz="1706" b="1">
                <a:latin typeface="굴림"/>
                <a:ea typeface="굴림"/>
              </a:rPr>
              <a:t>aws</a:t>
            </a:r>
            <a:r>
              <a:rPr lang="ko-KR" altLang="en-US" sz="1706" b="1">
                <a:latin typeface="굴림"/>
                <a:ea typeface="굴림"/>
              </a:rPr>
              <a:t> 데이터 수신</a:t>
            </a:r>
            <a:r>
              <a:rPr lang="en-US" altLang="ko-KR" sz="1706" b="1">
                <a:latin typeface="굴림"/>
                <a:ea typeface="굴림"/>
              </a:rPr>
              <a:t>/Postgresql</a:t>
            </a:r>
            <a:r>
              <a:rPr lang="ko-KR" altLang="en-US" sz="1706" b="1">
                <a:latin typeface="굴림"/>
                <a:ea typeface="굴림"/>
              </a:rPr>
              <a:t> 데이터 저장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94298" y="49714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20065" y="186181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설계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4264" y="1434287"/>
            <a:ext cx="4606290" cy="19947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느슨한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결합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(Decoupling)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Kafka가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생산자·소비자를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분리해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한쪽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장애가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전체로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전파되지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않음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확장성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파티션·Consumer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추가만으로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증가에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수평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확장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대응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순서·무손실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보장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키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기반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파티셔닝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+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건별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커밋으로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정합성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확보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표준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인터페이스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DB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스키마를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(contract)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두어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후속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팀이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독립적으로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작업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85738" y="535367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4E3E1-DBB5-2224-6C86-4E58663E7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165CF3AD-275E-3184-C66F-0F23D8628007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0C32EC-A88C-E2B1-D99A-73696F52D4B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25A035-1A29-6F62-369C-8DAFB0BB7E59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이상 징후 탐지 </a:t>
            </a:r>
            <a:r>
              <a:rPr lang="en-US" altLang="ko-KR" b="1" dirty="0"/>
              <a:t>AI </a:t>
            </a:r>
            <a:r>
              <a:rPr lang="ko-KR" altLang="en-US" b="1" dirty="0"/>
              <a:t>모델 설계 </a:t>
            </a:r>
            <a:r>
              <a:rPr lang="en-US" altLang="ko-KR" b="1" dirty="0"/>
              <a:t>Plan</a:t>
            </a:r>
            <a:r>
              <a:rPr lang="ko-KR" altLang="en-US" b="1" dirty="0"/>
              <a:t> </a:t>
            </a:r>
          </a:p>
        </p:txBody>
      </p:sp>
      <p:graphicFrame>
        <p:nvGraphicFramePr>
          <p:cNvPr id="22" name="내용 개체 틀 2">
            <a:extLst>
              <a:ext uri="{FF2B5EF4-FFF2-40B4-BE49-F238E27FC236}">
                <a16:creationId xmlns:a16="http://schemas.microsoft.com/office/drawing/2014/main" id="{B26C509E-37E7-68FA-34B6-CA3F01D75BBC}"/>
              </a:ext>
            </a:extLst>
          </p:cNvPr>
          <p:cNvGraphicFramePr/>
          <p:nvPr/>
        </p:nvGraphicFramePr>
        <p:xfrm>
          <a:off x="204040" y="1418232"/>
          <a:ext cx="8552398" cy="40215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006595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9E7B5-6B77-A4F3-31C4-9E541CA28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22B9CF8-FC44-7A3A-725A-13BBF50682D1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EE615D-392E-555B-7C31-772B5C165E0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EEFDEE-5F24-12BA-BC3B-5DEC49FE25C3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 err="1"/>
              <a:t>전처리</a:t>
            </a:r>
            <a:r>
              <a:rPr lang="ko-KR" altLang="en-US" b="1" dirty="0"/>
              <a:t> 가공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8DA69F-8C98-9F53-78F8-3A46B9EC53B7}"/>
              </a:ext>
            </a:extLst>
          </p:cNvPr>
          <p:cNvSpPr txBox="1"/>
          <p:nvPr/>
        </p:nvSpPr>
        <p:spPr>
          <a:xfrm>
            <a:off x="334274" y="669136"/>
            <a:ext cx="94380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추가할까요 말까요 내용이 너무 길어져서</a:t>
            </a:r>
            <a:r>
              <a:rPr lang="en-US" altLang="ko-KR" sz="1400" dirty="0"/>
              <a:t>,,,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03322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77C3A-43CD-EECA-383E-EB1A6AF02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7B2B4B7F-1B41-83BA-7221-D9563A9E8DB4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DC0E3E-E56A-69EF-6EEB-DBF75994F4A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62330D-5280-FD9F-125E-2810164CBD72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/>
              <a:t>총정리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E768ABF-6D4A-9361-2D5A-E97AAB729998}"/>
              </a:ext>
            </a:extLst>
          </p:cNvPr>
          <p:cNvGraphicFramePr>
            <a:graphicFrameLocks noGrp="1"/>
          </p:cNvGraphicFramePr>
          <p:nvPr/>
        </p:nvGraphicFramePr>
        <p:xfrm>
          <a:off x="198695" y="711488"/>
          <a:ext cx="9508610" cy="5896072"/>
        </p:xfrm>
        <a:graphic>
          <a:graphicData uri="http://schemas.openxmlformats.org/drawingml/2006/table">
            <a:tbl>
              <a:tblPr/>
              <a:tblGrid>
                <a:gridCol w="1701377">
                  <a:extLst>
                    <a:ext uri="{9D8B030D-6E8A-4147-A177-3AD203B41FA5}">
                      <a16:colId xmlns:a16="http://schemas.microsoft.com/office/drawing/2014/main" val="3645116223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957539078"/>
                    </a:ext>
                  </a:extLst>
                </a:gridCol>
                <a:gridCol w="2917694">
                  <a:extLst>
                    <a:ext uri="{9D8B030D-6E8A-4147-A177-3AD203B41FA5}">
                      <a16:colId xmlns:a16="http://schemas.microsoft.com/office/drawing/2014/main" val="2985459898"/>
                    </a:ext>
                  </a:extLst>
                </a:gridCol>
                <a:gridCol w="1486785">
                  <a:extLst>
                    <a:ext uri="{9D8B030D-6E8A-4147-A177-3AD203B41FA5}">
                      <a16:colId xmlns:a16="http://schemas.microsoft.com/office/drawing/2014/main" val="2574631662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616729985"/>
                    </a:ext>
                  </a:extLst>
                </a:gridCol>
              </a:tblGrid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입력 데이터 (</a:t>
                      </a:r>
                      <a:r>
                        <a:rPr lang="ko-KR" sz="1000" b="1" dirty="0" err="1"/>
                        <a:t>Input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원시 데이터 (Raw Data)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전처리 (Preprocessing)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최종  </a:t>
                      </a:r>
                      <a:r>
                        <a:rPr lang="ko-KR" sz="1000" b="1" dirty="0" err="1"/>
                        <a:t>Feature</a:t>
                      </a:r>
                      <a:r>
                        <a:rPr lang="ko-KR" sz="1000" b="1" dirty="0"/>
                        <a:t> 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목적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7047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전압 (</a:t>
                      </a:r>
                      <a:r>
                        <a:rPr lang="ko-KR" sz="1000" b="1" dirty="0" err="1"/>
                        <a:t>Voltage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전압 (V)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Min-Max</a:t>
                      </a:r>
                      <a:r>
                        <a:rPr lang="ko-KR" sz="1000" dirty="0"/>
                        <a:t> 정규화• 이전 시점(100ms)과의 전압 차이(ΔV) 계산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정규화 전압, 전압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순간 전압 강하 및 이상 전압 변화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9873110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전류 (</a:t>
                      </a:r>
                      <a:r>
                        <a:rPr lang="ko-KR" sz="1000" b="1" dirty="0" err="1"/>
                        <a:t>Current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전류 (A)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이동평균 필터 (Window=5)• Z-score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센서 노이즈 제거 및 안정적인 전류 패턴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9663934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내부 온도 (</a:t>
                      </a:r>
                      <a:r>
                        <a:rPr lang="ko-KR" sz="1000" b="1" dirty="0" err="1"/>
                        <a:t>Temperature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내부 온도 (℃)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1차 미분(온도 변화율)• 2차 미분(온도 변화 가속도)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온도, 온도 변화율, 온도 가속도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 지연(Time-Lag)을 보완하고 이상 발열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94154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열화상 카메라 (</a:t>
                      </a:r>
                      <a:r>
                        <a:rPr lang="ko-KR" sz="1000" b="1" dirty="0" err="1"/>
                        <a:t>Thermal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Camera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표면 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ROI(배터리 영역) 추출• 노이즈 제거• 온도 정규화• 이미지 크기 통일(예: 224×224)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발열(</a:t>
                      </a:r>
                      <a:r>
                        <a:rPr lang="ko-KR" sz="1000" dirty="0" err="1"/>
                        <a:t>Hot</a:t>
                      </a:r>
                      <a:r>
                        <a:rPr lang="ko-KR" sz="1000" dirty="0"/>
                        <a:t> </a:t>
                      </a:r>
                      <a:r>
                        <a:rPr lang="ko-KR" sz="1000" dirty="0" err="1"/>
                        <a:t>Spot</a:t>
                      </a:r>
                      <a:r>
                        <a:rPr lang="ko-KR" sz="1000" dirty="0"/>
                        <a:t>) 및 표면 온도 분포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9955909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충전 상태 (SOC)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충전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SOC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충전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904097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배터리 건강 상태 (SOH)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건강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SOH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열화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271808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가스 센서 (MQ-2 / MQ-135)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CO, CO₂, </a:t>
                      </a:r>
                      <a:r>
                        <a:rPr lang="ko-KR" sz="1000" dirty="0" err="1"/>
                        <a:t>H</a:t>
                      </a:r>
                      <a:r>
                        <a:rPr lang="ko-KR" sz="1000" dirty="0"/>
                        <a:t>₂, VOC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ADC 변환(ADS1115)•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</a:t>
                      </a:r>
                      <a:r>
                        <a:rPr lang="ko-KR" sz="1000" dirty="0" err="1"/>
                        <a:t>Z-score</a:t>
                      </a:r>
                      <a:r>
                        <a:rPr lang="ko-KR" sz="1000" dirty="0"/>
                        <a:t>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가스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내부 가스(Off-gas) 발생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6252811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압력/</a:t>
                      </a:r>
                      <a:r>
                        <a:rPr lang="ko-KR" sz="1000" b="1" dirty="0" err="1"/>
                        <a:t>변형률</a:t>
                      </a:r>
                      <a:r>
                        <a:rPr lang="ko-KR" sz="1000" b="1" dirty="0"/>
                        <a:t> 센서 (FSR-402)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압력 또는 변형률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변화량(</a:t>
                      </a:r>
                      <a:r>
                        <a:rPr lang="ko-KR" sz="1000" dirty="0" err="1"/>
                        <a:t>ΔPressure</a:t>
                      </a:r>
                      <a:r>
                        <a:rPr lang="ko-KR" sz="1000" dirty="0"/>
                        <a:t>) 계산•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압력, 압력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팽창(</a:t>
                      </a:r>
                      <a:r>
                        <a:rPr lang="ko-KR" sz="1000" dirty="0" err="1"/>
                        <a:t>Swelling</a:t>
                      </a:r>
                      <a:r>
                        <a:rPr lang="ko-KR" sz="1000" dirty="0"/>
                        <a:t>) 및 구조 변형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833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음향 센서 (</a:t>
                      </a:r>
                      <a:r>
                        <a:rPr lang="ko-KR" sz="1000" b="1" dirty="0" err="1"/>
                        <a:t>Acoustic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Sensor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음향 신호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Band-pass Filter• RMS 계산• FFT(STFT)• 스펙트럼 특징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RMS, 스펙트럼 에너지, 피크 주파수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미세 균열 및 열폭주 전조 음향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39702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전력량 (Power </a:t>
                      </a:r>
                      <a:r>
                        <a:rPr lang="ko-KR" sz="1000" b="1" dirty="0" err="1"/>
                        <a:t>Consumption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전압,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전력(V×I) 계산• 에너지 계산• 누적합(Cumulative Sum)•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누적 전력량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방전 패턴 및 이상 소비 전력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16041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8859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F21B-1384-A80F-C090-BD2031A1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C639AA3-0903-20BE-AE36-9C17E1038AA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4305A1-7023-79B4-240F-10797CC7B251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1E57F5-CCA7-AC38-9623-5A31511D3BE1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F74DC5-826A-14FB-45C9-75266853C90E}"/>
              </a:ext>
            </a:extLst>
          </p:cNvPr>
          <p:cNvSpPr txBox="1"/>
          <p:nvPr/>
        </p:nvSpPr>
        <p:spPr>
          <a:xfrm>
            <a:off x="334274" y="669136"/>
            <a:ext cx="9438093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b="1" dirty="0"/>
              <a:t>Auto</a:t>
            </a:r>
            <a:r>
              <a:rPr lang="en-US" altLang="ko-KR" b="1" dirty="0"/>
              <a:t>-</a:t>
            </a:r>
            <a:r>
              <a:rPr lang="ko-KR" altLang="ko-KR" b="1" dirty="0" err="1"/>
              <a:t>encoder</a:t>
            </a:r>
            <a:r>
              <a:rPr lang="en-US" altLang="ko-KR" b="1" dirty="0"/>
              <a:t> </a:t>
            </a:r>
          </a:p>
          <a:p>
            <a:r>
              <a:rPr lang="en-US" altLang="ko-KR" sz="1400" dirty="0"/>
              <a:t>- </a:t>
            </a:r>
            <a:r>
              <a:rPr lang="ko-KR" altLang="ko-KR" sz="1400" dirty="0"/>
              <a:t>과거 시계열 데이터를 시간 순서대로 학습하여 정상 패턴을 압축하고, 이를 다시 복원하여 입력과의 차이(복원 오차)를 통해 이상 여부를 판단하는 순환신경망(RNN) 기반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정상 배터리의 시계열 패턴을 학습하고, 복원 오차(</a:t>
            </a:r>
            <a:r>
              <a:rPr lang="ko-KR" altLang="ko-KR" sz="1400" dirty="0" err="1"/>
              <a:t>Reconstruction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기반으로 현재 배터리의 </a:t>
            </a:r>
            <a:r>
              <a:rPr lang="ko-KR" altLang="en-US" sz="1400" dirty="0"/>
              <a:t>센서 데이터를 바탕으로 </a:t>
            </a:r>
            <a:r>
              <a:rPr lang="ko-KR" altLang="ko-KR" sz="1400" dirty="0"/>
              <a:t>이상 징후를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72CD294C-4E26-B34B-B940-4B44B0C83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61FF26-B7BC-9208-CDF4-BDC0965AB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33" y="2116988"/>
            <a:ext cx="9679341" cy="4071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044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89FD0-CD72-05F1-D44B-3245F7285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C04123F4-CFE6-53C7-1623-FF84B607F58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C529C8-6033-638E-2779-4C888BBB2A1E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A0C16B-A973-D754-4214-971B99B8461E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D9348731-9CAF-986A-2BA4-556D85F36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F9D9C-86B5-839F-BAE5-F542DC9E2C66}"/>
              </a:ext>
            </a:extLst>
          </p:cNvPr>
          <p:cNvSpPr txBox="1"/>
          <p:nvPr/>
        </p:nvSpPr>
        <p:spPr>
          <a:xfrm>
            <a:off x="453927" y="3756423"/>
            <a:ext cx="924803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Normal 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특정 시점의 단편적인 센서 값 조합만 비교할 수 있으며, 시간의 흐름에 따른 변동 흐름을 </a:t>
            </a:r>
            <a:r>
              <a:rPr lang="ko-KR" altLang="en-US" sz="1400" dirty="0"/>
              <a:t>탐지하지 못함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b="1" dirty="0"/>
          </a:p>
          <a:p>
            <a:r>
              <a:rPr lang="en-US" altLang="ko-KR" b="1" dirty="0"/>
              <a:t>LSTM-Auto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LSTM 내부의 </a:t>
            </a:r>
            <a:r>
              <a:rPr lang="ko-KR" altLang="ko-KR" sz="1400" dirty="0" err="1"/>
              <a:t>Cell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State와</a:t>
            </a:r>
            <a:r>
              <a:rPr lang="ko-KR" altLang="ko-KR" sz="1400" dirty="0"/>
              <a:t> </a:t>
            </a:r>
            <a:r>
              <a:rPr lang="ko-KR" altLang="ko-KR" sz="1400" dirty="0" err="1"/>
              <a:t>Hidden</a:t>
            </a:r>
            <a:r>
              <a:rPr lang="ko-KR" altLang="ko-KR" sz="1400" dirty="0"/>
              <a:t> State 메커니즘을 통해 시계열 데이터의 시간적 의존성(</a:t>
            </a:r>
            <a:r>
              <a:rPr lang="ko-KR" altLang="ko-KR" sz="1400" dirty="0" err="1"/>
              <a:t>Temporal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Dependency</a:t>
            </a:r>
            <a:r>
              <a:rPr lang="ko-KR" altLang="ko-KR" sz="1400" dirty="0"/>
              <a:t>) 반영</a:t>
            </a:r>
          </a:p>
          <a:p>
            <a:endParaRPr lang="ko-KR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r>
              <a:rPr lang="ko-KR" altLang="en-US" sz="1400" b="1" dirty="0"/>
              <a:t>결론적으로 배터리 열 이상 탐지</a:t>
            </a:r>
            <a:r>
              <a:rPr lang="en-US" altLang="ko-KR" sz="1400" b="1" dirty="0"/>
              <a:t>(Anomaly Detection) </a:t>
            </a:r>
            <a:r>
              <a:rPr lang="ko-KR" altLang="en-US" sz="1400" b="1" dirty="0"/>
              <a:t>기준으로는 </a:t>
            </a:r>
            <a:r>
              <a:rPr lang="en-US" altLang="ko-KR" sz="1400" b="1" dirty="0"/>
              <a:t>LSTM-Auto Encoder </a:t>
            </a:r>
            <a:r>
              <a:rPr lang="ko-KR" altLang="en-US" sz="1400" b="1" dirty="0"/>
              <a:t>사용필수</a:t>
            </a:r>
            <a:endParaRPr lang="en-US" altLang="ko-KR" sz="1400" b="1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F32744D-497C-B237-F59D-C6B096038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40" y="879305"/>
            <a:ext cx="8975651" cy="263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39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D3FA-ED04-34F4-1C52-ED78FF748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ED63E2DD-9444-6C5C-B0CC-C84BBDFAECAF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4BB46A-F8A7-47A7-3082-3B3A208CC16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2F6C8A-2458-BD65-B9C9-2F0CEBB634D6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제안</a:t>
            </a:r>
          </a:p>
        </p:txBody>
      </p:sp>
      <p:graphicFrame>
        <p:nvGraphicFramePr>
          <p:cNvPr id="22" name="TextBox 5">
            <a:extLst>
              <a:ext uri="{FF2B5EF4-FFF2-40B4-BE49-F238E27FC236}">
                <a16:creationId xmlns:a16="http://schemas.microsoft.com/office/drawing/2014/main" id="{05462B44-E2E4-7952-DBA5-7217A4875A8E}"/>
              </a:ext>
            </a:extLst>
          </p:cNvPr>
          <p:cNvGraphicFramePr/>
          <p:nvPr/>
        </p:nvGraphicFramePr>
        <p:xfrm>
          <a:off x="304362" y="1295206"/>
          <a:ext cx="8839378" cy="42675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511772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37066-5AE4-7366-6E23-329A8E5B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75A228B-09F4-7193-1E9A-376DADE6F8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B8EF99-2C5A-B12C-05A8-0A8EA55BA51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EEAFF9-5A4C-24BF-CA46-A53EA70B8DFC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update</a:t>
            </a:r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A437A1-98AB-4DD7-8F88-17F894843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73" y="2088083"/>
            <a:ext cx="9522053" cy="41880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AC2AEDD-E403-8BE3-709C-623A6FB8A2AD}"/>
              </a:ext>
            </a:extLst>
          </p:cNvPr>
          <p:cNvSpPr txBox="1"/>
          <p:nvPr/>
        </p:nvSpPr>
        <p:spPr>
          <a:xfrm>
            <a:off x="335759" y="645682"/>
            <a:ext cx="9378267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Informer</a:t>
            </a:r>
          </a:p>
          <a:p>
            <a:r>
              <a:rPr lang="en-US" altLang="ko-KR" sz="1400" dirty="0"/>
              <a:t> -</a:t>
            </a:r>
            <a:r>
              <a:rPr lang="ko-KR" altLang="ko-KR" sz="1400" dirty="0"/>
              <a:t>전체 시계열 데이터를 한 번에 </a:t>
            </a:r>
            <a:r>
              <a:rPr lang="ko-KR" altLang="ko-KR" sz="1400" dirty="0" err="1"/>
              <a:t>입력받아</a:t>
            </a:r>
            <a:r>
              <a:rPr lang="ko-KR" altLang="ko-KR" sz="1400" dirty="0"/>
              <a:t>, 중요한 시점에 집중(</a:t>
            </a:r>
            <a:r>
              <a:rPr lang="ko-KR" altLang="ko-KR" sz="1400" dirty="0" err="1"/>
              <a:t>Attention</a:t>
            </a:r>
            <a:r>
              <a:rPr lang="ko-KR" altLang="ko-KR" sz="1400" dirty="0"/>
              <a:t>)하여 장기 패턴을 학습하고 미래 시계열을 한 번에 예측하는 </a:t>
            </a:r>
            <a:r>
              <a:rPr lang="ko-KR" altLang="ko-KR" sz="1400" dirty="0" err="1"/>
              <a:t>Transformer</a:t>
            </a:r>
            <a:r>
              <a:rPr lang="ko-KR" altLang="ko-KR" sz="1400" dirty="0"/>
              <a:t> 기반 시계열 예측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과거 배터리 데이터를 기반으로 미래 센서 데이터를 예측하고, 예측 오차(</a:t>
            </a:r>
            <a:r>
              <a:rPr lang="ko-KR" altLang="ko-KR" sz="1400" dirty="0" err="1"/>
              <a:t>Prediction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이용하여 향후 발생 가능한 이상 징후를 조기에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27269FC8-987F-5633-64E6-3375A9C19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0872" y="6276113"/>
            <a:ext cx="8888040" cy="592782"/>
          </a:xfrm>
        </p:spPr>
        <p:txBody>
          <a:bodyPr/>
          <a:lstStyle/>
          <a:p>
            <a:r>
              <a:rPr lang="ko-KR" altLang="ko-KR" b="1" i="1" dirty="0" err="1"/>
              <a:t>Accurate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estimation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charge</a:t>
            </a:r>
            <a:r>
              <a:rPr lang="ko-KR" altLang="ko-KR" b="1" i="1" dirty="0"/>
              <a:t> and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health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electric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vehicle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power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batteries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based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on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dynamic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channel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pruning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informer-stacked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denoising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autoencoder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model</a:t>
            </a:r>
            <a:r>
              <a:rPr lang="en-US" altLang="ko-KR" b="1" i="1" dirty="0"/>
              <a:t>, 2025.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94275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D39FD-0980-3C16-066E-C6A5A2EC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B004AC9-9A5E-10AE-2BBA-78DFC30CC945}"/>
              </a:ext>
            </a:extLst>
          </p:cNvPr>
          <p:cNvSpPr/>
          <p:nvPr/>
        </p:nvSpPr>
        <p:spPr>
          <a:xfrm>
            <a:off x="6103088" y="3862410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F042FB8-63A7-43C5-00EB-C0E18DAEE5CB}"/>
              </a:ext>
            </a:extLst>
          </p:cNvPr>
          <p:cNvSpPr/>
          <p:nvPr/>
        </p:nvSpPr>
        <p:spPr>
          <a:xfrm>
            <a:off x="6103088" y="1690062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6E0D42B-283D-FFB8-C18E-8F1D5CF4572A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D78084-6F77-F8F4-99D9-DA85059F36E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91DFD8-BDC3-209C-C47C-8FE8CD9CC95D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Architecture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ACDE231-C494-2C96-4056-E3B972504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1085"/>
            <a:ext cx="6042837" cy="55900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E8D2497-0E1A-4C01-73D7-B32BC311701E}"/>
              </a:ext>
            </a:extLst>
          </p:cNvPr>
          <p:cNvSpPr txBox="1"/>
          <p:nvPr/>
        </p:nvSpPr>
        <p:spPr>
          <a:xfrm>
            <a:off x="6103088" y="1692029"/>
            <a:ext cx="325863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</a:rPr>
              <a:t>LSTM Auto-encoder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현재 시계열 데이터 분석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정상 패턴 학습 및 복원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복원 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현재 상태 진단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r>
              <a:rPr lang="en-US" altLang="ko-KR" sz="2000" dirty="0">
                <a:solidFill>
                  <a:schemeClr val="accent6"/>
                </a:solidFill>
              </a:rPr>
              <a:t>Informer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과거 데이터를 기반으로 미래예측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장기패턴 학습</a:t>
            </a:r>
            <a:r>
              <a:rPr lang="en-US" altLang="ko-KR" sz="1400" dirty="0"/>
              <a:t>(Attention)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예측오차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</a:t>
            </a:r>
            <a:r>
              <a:rPr lang="ko-KR" altLang="en-US" sz="1400" dirty="0"/>
              <a:t>미래의 이상 발생 가능성 진단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8594499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1ADD-CF3B-1D16-A95C-45B2F2D10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23B27FC-9F81-0EF7-9E9E-A6B334A67C90}"/>
              </a:ext>
            </a:extLst>
          </p:cNvPr>
          <p:cNvSpPr/>
          <p:nvPr/>
        </p:nvSpPr>
        <p:spPr>
          <a:xfrm>
            <a:off x="6341752" y="3345643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118F86A-D81B-B837-1C4A-3D42EF9B7904}"/>
              </a:ext>
            </a:extLst>
          </p:cNvPr>
          <p:cNvSpPr/>
          <p:nvPr/>
        </p:nvSpPr>
        <p:spPr>
          <a:xfrm>
            <a:off x="3205147" y="2213370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0636EE0-E037-0F12-82DC-57F6B3B81618}"/>
              </a:ext>
            </a:extLst>
          </p:cNvPr>
          <p:cNvSpPr/>
          <p:nvPr/>
        </p:nvSpPr>
        <p:spPr>
          <a:xfrm>
            <a:off x="204040" y="712232"/>
            <a:ext cx="2927818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354EE42-88E7-51BD-142D-5DB538B2A96E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CF558B-FAAF-38F7-1574-E0C8F6090C1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28C66D-3BC0-0A85-8410-1CF0DA31CB92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실험설계</a:t>
            </a:r>
            <a:r>
              <a:rPr lang="en-US" altLang="ko-KR" b="1" dirty="0"/>
              <a:t>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3BD0-8B4D-B244-D206-89BBE4ED1124}"/>
              </a:ext>
            </a:extLst>
          </p:cNvPr>
          <p:cNvSpPr txBox="1"/>
          <p:nvPr/>
        </p:nvSpPr>
        <p:spPr>
          <a:xfrm>
            <a:off x="252456" y="838407"/>
            <a:ext cx="2830985" cy="2793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01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 1,2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기준 성능 확보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Base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Model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구축)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배터리 칩셋의 신뢰도 높은 정답 데이터로 AI 모델의 탐지 정확도 표준을 정립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 err="1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1, 2 환경 기초 성능 수집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Hybrid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알고리즘 학습 모델 구축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F1-Score</a:t>
            </a: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, Latency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기준지표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 확보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9B6E16-7078-6079-FF37-E1580E4C02A1}"/>
              </a:ext>
            </a:extLst>
          </p:cNvPr>
          <p:cNvSpPr txBox="1"/>
          <p:nvPr/>
        </p:nvSpPr>
        <p:spPr>
          <a:xfrm>
            <a:off x="3362118" y="2603104"/>
            <a:ext cx="2937104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02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Mode3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데이터 유효성 검증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Feature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고도화)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동일한 회로 환경(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1, 2 회로)에서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Input data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</a:rPr>
              <a:t>를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3의 형태로 가공해 비교</a:t>
            </a:r>
            <a:endParaRPr lang="ko-KR" alt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이상 상태 분류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신뢰성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지표 증명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2B4521-E593-A9C3-0D23-302697D4029E}"/>
              </a:ext>
            </a:extLst>
          </p:cNvPr>
          <p:cNvSpPr txBox="1"/>
          <p:nvPr/>
        </p:nvSpPr>
        <p:spPr>
          <a:xfrm>
            <a:off x="6509060" y="3611864"/>
            <a:ext cx="2716927" cy="206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03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실전 검증 및 최종 적용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실제 외부 부하 회로망(Mode3)과 결합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Mode3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연동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오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류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최소화 및 비상 차단 검증</a:t>
            </a:r>
          </a:p>
        </p:txBody>
      </p:sp>
    </p:spTree>
    <p:extLst>
      <p:ext uri="{BB962C8B-B14F-4D97-AF65-F5344CB8AC3E}">
        <p14:creationId xmlns:p14="http://schemas.microsoft.com/office/powerpoint/2010/main" val="8779232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B2EA6-61E7-1F2C-7F94-E2073EB5E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5218CC4-4B5C-5509-F1DE-96E700E825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A62833-9BCA-0582-D857-BF3BB5DD1DF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B3270F-B49D-4B66-97DA-356C60885F0A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4803546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ED2F0-829A-439F-3481-55BC4F615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97332B-FB5A-00BC-1944-45121977655B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FE7562-F7F7-DC81-EAFA-7145C1E99B7C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CC6CCA-65EA-E3E0-60B1-900073B63A51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288525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757AE-DB72-D942-3DFB-8EEFD1EFC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B233A354-4748-4D29-47AD-206D8D6806E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3377F5-F900-6702-6CB6-D367CFE6864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20180E-EFF4-D0E5-667A-725916CA8C55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140299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5195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웹 모니터링 및 대시보드</a:t>
            </a:r>
            <a:r>
              <a:rPr lang="en-US" altLang="ko-KR" b="1" dirty="0"/>
              <a:t>(</a:t>
            </a:r>
            <a:r>
              <a:rPr lang="ko-KR" altLang="en-US" b="1" dirty="0"/>
              <a:t>웹서버</a:t>
            </a:r>
            <a:r>
              <a:rPr lang="en-US" altLang="ko-KR" b="1" dirty="0"/>
              <a:t>)</a:t>
            </a:r>
            <a:r>
              <a:rPr lang="ko-KR" altLang="en-US" b="1" dirty="0"/>
              <a:t> 주요 산출물</a:t>
            </a:r>
          </a:p>
        </p:txBody>
      </p:sp>
      <p:graphicFrame>
        <p:nvGraphicFramePr>
          <p:cNvPr id="10" name="tbl31L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6334357"/>
              </p:ext>
            </p:extLst>
          </p:nvPr>
        </p:nvGraphicFramePr>
        <p:xfrm>
          <a:off x="292608" y="841248"/>
          <a:ext cx="4526279" cy="53071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웹서버 요구사항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인증·세션·대시보드·제어</a:t>
                      </a:r>
                      <a:endParaRPr lang="ko-KR" sz="7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기능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로그인·관제·알림·제어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18876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IA 정보구조도·유저 플로우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Flow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chart</a:t>
                      </a:r>
                      <a:r>
                        <a:rPr lang="ko-KR" sz="700" dirty="0"/>
                        <a:t> 기준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67744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API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인증·배터리·세션·이력·제어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529296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WebSocket</a:t>
                      </a:r>
                      <a:r>
                        <a:rPr lang="ko-KR" sz="700" dirty="0"/>
                        <a:t> 이벤트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값·이상점수·경고 푸시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6343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DB 스키마 설계서(ERD)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asset·session·event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84994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Kafka</a:t>
                      </a:r>
                      <a:r>
                        <a:rPr lang="ko-KR" sz="700" dirty="0"/>
                        <a:t>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구독·battery_id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48315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(RBAC)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JWT/OAuth·역할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795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알림 채널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템플릿·조건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4149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릴레이 제어 시퀀스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인터락·확인 절차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2312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API 명세서(</a:t>
                      </a:r>
                      <a:r>
                        <a:rPr lang="ko-KR" sz="700" dirty="0" err="1"/>
                        <a:t>OpenAPI</a:t>
                      </a:r>
                      <a:r>
                        <a:rPr lang="ko-KR" sz="700" dirty="0"/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엔드포인트·DTO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5433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보안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TLS/SASL·토큰·검증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33921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에러코드·예외</a:t>
                      </a:r>
                      <a:r>
                        <a:rPr lang="ko-KR" sz="700" dirty="0"/>
                        <a:t> 처리 정책서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표준 응답·에러코드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54634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UI/UX 디자인 가이드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브레이크포인트·컴포넌트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6833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관리자 기능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사용자·권한·감사·관제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1206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백엔드</a:t>
                      </a:r>
                      <a:r>
                        <a:rPr lang="ko-KR" sz="700" dirty="0"/>
                        <a:t> 프로젝트 기본 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Spring Boot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80135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로그인/</a:t>
                      </a:r>
                      <a:r>
                        <a:rPr lang="ko-KR" sz="700" dirty="0" err="1"/>
                        <a:t>SSO·계정찾기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8162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배터리 </a:t>
                      </a:r>
                      <a:r>
                        <a:rPr lang="ko-KR" sz="700" dirty="0" err="1"/>
                        <a:t>자산·측정</a:t>
                      </a:r>
                      <a:r>
                        <a:rPr lang="ko-KR" sz="700" dirty="0"/>
                        <a:t> 세션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ID </a:t>
                      </a:r>
                      <a:r>
                        <a:rPr lang="ko-KR" sz="700" dirty="0" err="1"/>
                        <a:t>발급·세션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태깅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950737"/>
                  </a:ext>
                </a:extLst>
              </a:tr>
            </a:tbl>
          </a:graphicData>
        </a:graphic>
      </p:graphicFrame>
      <p:graphicFrame>
        <p:nvGraphicFramePr>
          <p:cNvPr id="11" name="tbl31R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07657"/>
              </p:ext>
            </p:extLst>
          </p:nvPr>
        </p:nvGraphicFramePr>
        <p:xfrm>
          <a:off x="4983480" y="841248"/>
          <a:ext cx="4526279" cy="5276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Kafka Consumer 적재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DB 적재·세션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조회·실시간 푸시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+ WebSocket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4305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추세 차트·이력 조회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기간·지표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8447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이벤트 수신·저장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anomaly-alerts 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51809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알림·제한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007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설정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 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3477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릴레이 차단/복구 제어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인터락·실행 확인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49730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공통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예외·로깅·인증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2414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프론트엔드 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React 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723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콘솔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사용자·관제·감사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46652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웹서버 API 테스트 결과서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권한·조회·알림·제어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1658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통합 시연 자료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대응 시나리오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0181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WebSocket 부하/안정성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동시접속·지연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246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Consumer 적재·재처리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오프셋·중복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9579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RBAC 보안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 우회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0292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알림/릴레이 제어 E2E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Fail-Safe 포함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6081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반응형·크로스브라우저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모바일·태블릿·PC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7741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권한·감사 로그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접근통제·audit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284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23417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6868957"/>
              </p:ext>
            </p:extLst>
          </p:nvPr>
        </p:nvGraphicFramePr>
        <p:xfrm>
          <a:off x="292608" y="841248"/>
          <a:ext cx="4526280" cy="5244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이메일 로그인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이메일로 안전하게 로그인.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소셜 로그인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카카오·네이버 계정으로 빠른 로그인.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소셜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87558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분실 시 인증 후 접근 복구.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588944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권한 분리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역할별 화면 제공 및 접근 권한 제한.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RBAC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86687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세션 관리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로그인 상태 유지 및 미사용 세션 자동 만료.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JWT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519996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등록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등록 및 측정 이력 연결.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UUID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845212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선택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저장된 배터리 선택 및 이전 이력 연속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수동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170629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세션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시작·종료를 세션 단위로 기록.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단일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664463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태깅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센서값과 AI 결과를 선택 배터리에 연결.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17001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장비 상태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장비와 대상 배터리 상태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기기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9870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원본 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 원본 데이터 누락 없는 저장.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732704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AI 결과 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AI 이상점수와 위험 판단 결과 저장.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82868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재처리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장애 후 마지막 처리 지점부터 재처리.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재처리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387935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빠른 조회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긴 기간 전압·온도·전류 데이터 빠른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인덱스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80160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상태 요약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현재 센서값·이상점수·상태 등급 요약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REST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797091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실시간 반영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새로고침 없는 실시간 변화와 경고 반영.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WS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83290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추세 비교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기간·지표별 추세 그래프 비교.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953193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이력 검색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이벤트·오류·제어 이력 검색.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페이징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834002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배터리별 세션·점수·이벤트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이력</a:t>
                      </a:r>
                      <a:endParaRPr sz="7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8089"/>
                  </a:ext>
                </a:extLst>
              </a:tr>
            </a:tbl>
          </a:graphicData>
        </a:graphic>
      </p:graphicFrame>
      <p:graphicFrame>
        <p:nvGraphicFramePr>
          <p:cNvPr id="3" name="tbl32L">
            <a:extLst>
              <a:ext uri="{FF2B5EF4-FFF2-40B4-BE49-F238E27FC236}">
                <a16:creationId xmlns:a16="http://schemas.microsoft.com/office/drawing/2014/main" id="{7127BE8F-F58D-D4AF-1597-FB019506C9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038920"/>
              </p:ext>
            </p:extLst>
          </p:nvPr>
        </p:nvGraphicFramePr>
        <p:xfrm>
          <a:off x="4983480" y="842524"/>
          <a:ext cx="4526280" cy="5244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기록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시점 값·점수·대응 상태 기록.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등급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이상점수를 4단계 위험 등급으로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4등급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867070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기준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실험 목적별 알림 조건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설정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43281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외부 알림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경고·위험 상태 외부 알림 발송.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카카오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39317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중복 알림 억제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중복 알림 억제 및 주요 변화만 발송.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424883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발송 기록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97295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차단·복구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권한 확인 후 차단·복구 실행.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120896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긴급 차단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시 Kill-Switch 연계 차단.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996611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보안 검증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암호화 및 입력값 검증.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791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운영 추적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로그·감사·헬스 상태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운영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17952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반응형 화면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PC·태블릿·모바일별 관제 화면 제공.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835514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센터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새 경고와 놓친 알림 화면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토스트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628322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파일 내보내기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조회 데이터와 이벤트 파일 내보내기.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출력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0505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연결 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연결 끊김 시 자동 복구와 상태 안내.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재연결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92508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접근성 화면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다크모드와 접근성 화면 제공.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테마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9115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운영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권한과 활성 상태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8981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통합 관제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전체 배터리·장비·위험 상태 통합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98574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감사 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조회·설정·제어 이력 감사.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audit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365347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서비스 헬스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Kafka·DB·AI 상태 빠른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헬스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857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5260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F2445-BE73-9175-8578-40EA5975F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BEE1DAF-8239-6879-7807-AAD7B9C8FCD5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3B1234-3A2B-F371-535E-3053B5C943CD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2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D2A32D-F107-EAC1-B5BA-3544576B1E42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-2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F409B175-1F0D-730E-DAA9-E763E43A1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9729196"/>
              </p:ext>
            </p:extLst>
          </p:nvPr>
        </p:nvGraphicFramePr>
        <p:xfrm>
          <a:off x="292608" y="841248"/>
          <a:ext cx="4526280" cy="36804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공지 관리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공지사항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공지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AI 근거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이상점수 상승 원인 근거별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XAI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99528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수명 예측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건강도와 잔존수명 추정.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SOH/RUL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22106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이상 시연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시나리오 기반 탐지·알림·차단 검증.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데모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40270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원인 분석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전후 데이터와 조치 흐름 분석.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포렌식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501957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경고 격상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미확인 알림 격상과 대응 상태 기록.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격상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24400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채널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위험도별 알림 채널 분리.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다중채널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64566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장비 끊김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장비 오프라인과 수신 중단 즉시 경고.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신뢰성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7751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실험 비교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여러 배터리·세션 추세 비교.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분석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465236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대응 안내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등급별 즉시 조치 안내.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53156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웹푸시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설치형 웹과 웹푸시 알림 제공.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PWA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49714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보존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원본·요약 데이터 보존 정책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570864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다국어 전환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한국어·영어 화면 전환.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i18n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9279262"/>
                  </a:ext>
                </a:extLst>
              </a:tr>
            </a:tbl>
          </a:graphicData>
        </a:graphic>
      </p:graphicFrame>
      <p:graphicFrame>
        <p:nvGraphicFramePr>
          <p:cNvPr id="3" name="tbl32L">
            <a:extLst>
              <a:ext uri="{FF2B5EF4-FFF2-40B4-BE49-F238E27FC236}">
                <a16:creationId xmlns:a16="http://schemas.microsoft.com/office/drawing/2014/main" id="{A609654D-7CF8-5DAF-79B4-C0CEE6E223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610601"/>
              </p:ext>
            </p:extLst>
          </p:nvPr>
        </p:nvGraphicFramePr>
        <p:xfrm>
          <a:off x="4983480" y="842524"/>
          <a:ext cx="4526280" cy="26380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안전 점검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안전 체크 완료 후 측정 시작.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이중 확인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조작 권한 확인과 2차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승인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33347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 보정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 보정 이력과 만료 경고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68815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품질 표시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품질 점수와 분석 가능 여부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품질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552361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선택 검증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QR/라벨 기반 배터리 선택 검증.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42767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조건 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실험 조건 템플릿 저장과 재사용.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템플릿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25745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진단 자료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장애 진단 자료 일괄 다운로드.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진단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22462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접근 추적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민감 작업 사용자·시간·IP 추적.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감사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80605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SRS-WEB-060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백업·복구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백업과 복구 테스트로 데이터 유실 방지.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복구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78388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40837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45820-FFF4-D63A-4FF7-AFAED45B7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096E884-5B27-26A3-1D62-C4FA37C6BD1C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AE61B5-6C30-ABF0-56D1-087F1B8F5CF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FD4041-BE2E-38F5-218A-782D2953D85F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D34E6670-48E4-9A01-0912-B442452113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241998"/>
              </p:ext>
            </p:extLst>
          </p:nvPr>
        </p:nvGraphicFramePr>
        <p:xfrm>
          <a:off x="292608" y="841248"/>
          <a:ext cx="4526280" cy="5311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</a:t>
                      </a:r>
                      <a:r>
                        <a:rPr sz="750" b="1" dirty="0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랜딩 핵심 정보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셀가드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서비스의 AI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열폭주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예측, 실시간 관제,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전압·전류·온도·SOC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수집 설명을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랜딩 메뉴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제품, 실시간 관제, AI 이상탐지, 문의 메뉴를 클릭 가능한 항목으로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메인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2207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모달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로그인, 무료로 시작, 관제 시작하기 버튼으로 로그인 모달을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0204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데모 영상 실행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랜딩 화면의 데모 영상 버튼으로 데모 콘텐츠 진입을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데모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270108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 로그인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이메일과 비밀번호 기반 로그인을 수행한다.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47302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로그인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모달에서 관리자 계정 진입 동작을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115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소셜 로그인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Google 로그인 버튼으로 소셜 로그인을 수행한다.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2733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 진입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모달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또는 회원가입 버튼에서 회원가입 화면으로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72794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 입력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이름, 이메일, 비밀번호, 전화번호, 약관 동의 정보를 입력해 가입한다.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입력검증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35350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화면 복귀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 화면에서 기존 계정 로그인 화면으로 돌아간다.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776613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찾기 진입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화면에서 계정 찾기 화면으로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76233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재설정 탭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찾기 화면에서 이메일 입력 후 재설정 링크 발송 흐름을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68959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 찾기 탭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찾기 화면에서 이메일 찾기 탭으로 표시 내용을 전환한다.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55728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로그아웃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앱 셸에서 로그아웃 버튼으로 세션을 종료한다.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5662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언어 전환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한/영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토글로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화면 언어를 전환한다.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362594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패널 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상단 알림 아이콘으로 미확인 알림 패널을 열고 닫는다.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5205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메뉴 접기/펼치기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사이드 메뉴 접기 버튼으로 데스크톱 내비게이션 폭을 전환한다.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UI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1574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사이드바 메뉴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대시보드, 배터리 관리, 이상 탐지, 추세 차트, 이벤트 이력, 알림 센터, 공지사항, 릴레이 제어, 설정으로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266849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현재 연결 배터리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실시간 관제 화면에서 연결 배터리 ID와 측정 중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330508"/>
                  </a:ext>
                </a:extLst>
              </a:tr>
            </a:tbl>
          </a:graphicData>
        </a:graphic>
      </p:graphicFrame>
      <p:graphicFrame>
        <p:nvGraphicFramePr>
          <p:cNvPr id="3" name="tbl32L">
            <a:extLst>
              <a:ext uri="{FF2B5EF4-FFF2-40B4-BE49-F238E27FC236}">
                <a16:creationId xmlns:a16="http://schemas.microsoft.com/office/drawing/2014/main" id="{C8ACC8A1-D833-7771-FA2A-C25C0A6455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794792"/>
              </p:ext>
            </p:extLst>
          </p:nvPr>
        </p:nvGraphicFramePr>
        <p:xfrm>
          <a:off x="4983480" y="842524"/>
          <a:ext cx="4526280" cy="533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대시보드의 배터리 변경 버튼으로 저장된 배터리 선택 흐름을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이상점수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현재 이상점수, 정상·주의·위험 구간, 점수 추세를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이상탐지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5106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탐지 화면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 이상점수 영역에서 이상 탐지 관리 화면으로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313196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진입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대시보드의 릴레이 차단 버튼으로 Kill-Switch 승인 흐름에 진입한다.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48457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계측 현재값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전압, 전류, 온도, SOC 현재값 카드와 정상·주의·위험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계측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29943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위험도 분포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정상, 주의, 경고, 위험 구간별 배터리 분포를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7367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최근 이벤트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대시보드에서 최근 이상 이벤트와 발생 시간을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5512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센터 전체 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 알림 영역에서 알림 센터로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75173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 또는 공지사항 화면에서 서비스 소식과 점검 안내를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58811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전체 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 공지 영역에서 공지사항 목록 화면으로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532360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상태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관리 화면에서 진단기별 온라인, 오프라인, 최근 수신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38134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상세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목록 카드에서 각 진단기의 센서 구성과 상태 정보를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27472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저장된 배터리 목록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관리 화면에서 저장된 배터리, 모드, 상태, 최근 측정 정보를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82191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측정 모드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관리 화면에서 전체 모드, 모드 1, 모드 2, 모드 3으로 목록을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316782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선택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저장된 배터리 카드의 이 배터리 측정 버튼으로 측정 연결 확인 모달을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선택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584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카드의 상세 보기 동작으로 배터리 상세/이력 화면으로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15357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배터리 등록 모달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배터리 등록 버튼으로 등록 모달을 열고 배터리 정보를 입력한다.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96060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등록 입력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이름, 종류, 측정 모드, 직렬 셀 수, 제조사/모델을 입력해 battery_id 발급 흐름을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입력검증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60882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정보 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정보 수정 모달에서 기존 배터리 정보를 수정하고 저장한다.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2481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1385672"/>
      </p:ext>
    </p:extLst>
  </p:cSld>
  <p:clrMapOvr>
    <a:masterClrMapping/>
  </p:clrMapOvr>
</p:sld>
</file>

<file path=ppt/slides/slide35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spTree>
      <ns0:nvGrpSpPr>
        <ns0:cNvPr id="1" name="">
          <ns1:extLst>
            <ns1:ext uri="{FF2B5EF4-FFF2-40B4-BE49-F238E27FC236}">
              <ns2:creationId id="{F73D8549-7FFA-07C2-05CF-6205A3220AD0}"/>
            </ns1:ext>
          </ns1:extLst>
        </ns0:cNvPr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직사각형 1">
            <ns1:extLst>
              <ns1:ext uri="{FF2B5EF4-FFF2-40B4-BE49-F238E27FC236}">
                <ns2:creationId id="{44AAD36A-7B90-50B3-D22F-71ABAB7E4709}"/>
              </ns1:ext>
            </ns1:extLst>
          </ns0:cNvPr>
          <ns0:cNvSpPr/>
          <ns0:nvPr/>
        </ns0:nvSpPr>
        <ns0:spPr>
          <ns1:xfrm>
            <ns1:off x="204040" y="604185"/>
            <ns1:ext cx="9378267" cy="36000"/>
          </ns1:xfrm>
          <ns1:prstGeom prst="rect">
            <ns1:avLst/>
          </ns1:prstGeom>
          <ns1:solidFill>
            <ns1:schemeClr val="accent6">
              <ns1:lumMod val="20000"/>
              <ns1:lumOff val="80000"/>
            </ns1:schemeClr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sp>
        <ns0:nvSpPr>
          <ns0:cNvPr id="8" name="TextBox 7">
            <ns1:extLst>
              <ns1:ext uri="{FF2B5EF4-FFF2-40B4-BE49-F238E27FC236}">
                <ns2:creationId id="{05BA3E9D-0C12-56E5-4434-CA8E810C196C}"/>
              </ns1:ext>
            </ns1:extLst>
          </ns0:cNvPr>
          <ns0:cNvSpPr txBox="1"/>
          <ns0:nvPr/>
        </ns0:nvSpPr>
        <ns0:spPr>
          <ns1:xfrm>
            <ns1:off x="9143740" y="6551184"/>
            <ns1:ext cx="669234" cy="253916"/>
          </ns1:xfrm>
          <ns1:prstGeom prst="rect">
            <ns1:avLst/>
          </ns1:prstGeom>
          <ns1:noFill/>
        </ns0:spPr>
        <ns0:txBody>
          <ns1:bodyPr wrap="square">
            <ns1:spAutoFit/>
          </ns1:bodyPr>
          <ns1:lstStyle/>
          <ns1:p>
            <ns1:r>
              <ns1:rPr lang="en-US" altLang="ko-KR" sz="1050"/>
              <ns1:t>&lt; 1 / 2 &gt;</ns1:t>
            </ns1:r>
            <ns1:endParaRPr lang="ko-KR" altLang="en-US"/>
          </ns1:p>
        </ns0:txBody>
      </ns0:sp>
      <ns0:sp>
        <ns0:nvSpPr>
          <ns0:cNvPr id="9" name="TextBox 8">
            <ns1:extLst>
              <ns1:ext uri="{FF2B5EF4-FFF2-40B4-BE49-F238E27FC236}">
                <ns2:creationId id="{1A430D2E-4B14-053B-C3C3-3B1CC9C91EEE}"/>
              </ns1:ext>
            </ns1:extLst>
          </ns0:cNvPr>
          <ns0:cNvSpPr txBox="1"/>
          <ns0:nvPr/>
        </ns0:nvSpPr>
        <ns0:spPr>
          <ns1:xfrm>
            <ns1:off x="304362" y="163550"/>
            <ns1:ext cx="3768873" cy="369332"/>
          </ns1:xfrm>
          <ns1:prstGeom prst="rect">
            <ns1:avLst/>
          </ns1:prstGeom>
          <ns1:noFill/>
        </ns0:spPr>
        <ns0:txBody>
          <ns1:bodyPr wrap="square">
            <ns1:spAutoFit/>
          </ns1:bodyPr>
          <ns1:lstStyle/>
          <ns1:p>
            <ns1:r>
              <ns1:rPr lang="ko-KR" altLang="en-US" b="1" dirty="0"/>
              <ns1:t>기능 정의서</ns1:t>
            </ns1:r>
            <ns1:r>
              <ns1:rPr lang="en-US" altLang="ko-KR" b="1" dirty="0"/>
              <ns1:t>-2</ns1:t>
            </ns1:r>
            <ns1:endParaRPr lang="ko-KR" altLang="en-US" b="1" dirty="0"/>
          </ns1:p>
        </ns0:txBody>
      </ns0:sp>
      <ns0:graphicFrame>
        <ns0:nvGraphicFramePr>
          <ns0:cNvPr id="10" name="tbl32L">
            <ns1:extLst>
              <ns1:ext uri="{FF2B5EF4-FFF2-40B4-BE49-F238E27FC236}">
                <ns2:creationId id="{BD75F069-094B-8052-6C60-87E4A241F286}"/>
              </ns1:ext>
            </ns1:extLst>
          </ns0:cNvPr>
          <ns0:cNvGraphicFramePr>
            <ns1:graphicFrameLocks noGrp="1"/>
          </ns0:cNvGraphicFramePr>
          <ns0:nvPr>
            <ns0:extLst>
              <ns0:ext uri="{D42A27DB-BD31-4B8C-83A1-F6EECF244321}">
                <ns3:modId val="89148314"/>
              </ns0:ext>
            </ns0:extLst>
          </ns0:nvPr>
        </ns0:nvGraphicFramePr>
        <ns0:xfrm>
          <ns1:off x="292608" y="841248"/>
          <ns1:ext cx="4526280" cy="5329423"/>
        </ns0:xfrm>
        <ns1:graphic>
          <ns1:graphicData uri="http://schemas.openxmlformats.org/drawingml/2006/table">
            <ns1:tbl>
              <ns1:tblPr firstRow="1" bandRow="1">
                <ns1:tableStyleId>{5C22544A-7EE6-4342-B048-85BDC9FD1C3A}</ns1:tableStyleId>
              </ns1:tblPr>
              <ns1:tblGrid>
                <ns1:gridCol w="713232">
                  <ns1:extLst>
                    <ns1:ext uri="{9D8B030D-6E8A-4147-A177-3AD203B41FA5}">
                      <ns2:colId val="20000"/>
                    </ns1:ext>
                  </ns1:extLst>
                </ns1:gridCol>
                <ns1:gridCol w="944880">
                  <ns1:extLst>
                    <ns1:ext uri="{9D8B030D-6E8A-4147-A177-3AD203B41FA5}">
                      <ns2:colId val="20001"/>
                    </ns1:ext>
                  </ns1:extLst>
                </ns1:gridCol>
                <ns1:gridCol w="1747520">
                  <ns1:extLst>
                    <ns1:ext uri="{9D8B030D-6E8A-4147-A177-3AD203B41FA5}">
                      <ns2:colId val="20002"/>
                    </ns1:ext>
                  </ns1:extLst>
                </ns1:gridCol>
                <ns1:gridCol w="447040">
                  <ns1:extLst>
                    <ns1:ext uri="{9D8B030D-6E8A-4147-A177-3AD203B41FA5}">
                      <ns2:colId val="20003"/>
                    </ns1:ext>
                  </ns1:extLst>
                </ns1:gridCol>
                <ns1:gridCol w="673608">
                  <ns1:extLst>
                    <ns1:ext uri="{9D8B030D-6E8A-4147-A177-3AD203B41FA5}">
                      <ns2:colId val="20004"/>
                    </ns1:ext>
                  </ns1:extLst>
                </ns1:gridCol>
              </ns1:tblGrid>
              <ns1:tr h="292608">
                <ns1:tc>
                  <ns1:txBody>
                    <ns1:bodyPr/>
                    <ns1:lstStyle/>
                    <ns1:p>
                      <ns1:r>
                        <ns1:rPr sz="750" b="1">
                          <ns1:solidFill>
                            <ns1:schemeClr val="tx1"/>
                          </ns1:solidFill>
                          <ns1:latin typeface="Apple SD Gothic Neo"/>
                        </ns1:rPr>
                        <ns1:t>요구사항 ID</ns1:t>
                      </ns1:r>
                    </ns1:p>
                  </ns1:txBody>
                  <ns1:tcPr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>
                        <ns1:lumMod val="95000"/>
                      </ns1:schemeClr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750" b="1" dirty="0" err="1">
                          <ns1:solidFill>
                            <ns1:schemeClr val="tx1"/>
                          </ns1:solidFill>
                          <ns1:latin typeface="Apple SD Gothic Neo"/>
                        </ns1:rPr>
                        <ns1:t>요구사항명</ns1:t>
                      </ns1:r>
                      <ns1:endParaRPr sz="1000" b="1" dirty="0">
                        <ns1:solidFill>
                          <ns1:schemeClr val="tx1"/>
                        </ns1:solidFill>
                        <ns1:latin typeface="Apple SD Gothic Neo"/>
                      </ns1:endParaRPr>
                    </ns1:p>
                  </ns1:txBody>
                  <ns1:tcPr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>
                        <ns1:lumMod val="95000"/>
                      </ns1:schemeClr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750" b="1" dirty="0" err="1">
                          <ns1:solidFill>
                            <ns1:schemeClr val="tx1"/>
                          </ns1:solidFill>
                          <ns1:latin typeface="Apple SD Gothic Neo"/>
                        </ns1:rPr>
                        <ns1:t>요구사항 상세설명</ns1:t>
                      </ns1:r>
                      <ns1:endParaRPr sz="1000" b="1" dirty="0">
                        <ns1:solidFill>
                          <ns1:schemeClr val="tx1"/>
                        </ns1:solidFill>
                        <ns1:latin typeface="Apple SD Gothic Neo"/>
                      </ns1:endParaRPr>
                    </ns1:p>
                  </ns1:txBody>
                  <ns1:tcPr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>
                        <ns1:lumMod val="95000"/>
                      </ns1:schemeClr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750" b="1" dirty="0" err="1">
                          <ns1:solidFill>
                            <ns1:schemeClr val="tx1"/>
                          </ns1:solidFill>
                          <ns1:latin typeface="Apple SD Gothic Neo"/>
                        </ns1:rPr>
                        <ns1:t>중요도</ns1:t>
                      </ns1:r>
                      <ns1:endParaRPr sz="1000" b="1" dirty="0">
                        <ns1:solidFill>
                          <ns1:schemeClr val="tx1"/>
                        </ns1:solidFill>
                        <ns1:latin typeface="Apple SD Gothic Neo"/>
                      </ns1:endParaRPr>
                    </ns1:p>
                  </ns1:txBody>
                  <ns1:tcPr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>
                        <ns1:lumMod val="95000"/>
                      </ns1:schemeClr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750" b="1">
                          <ns1:solidFill>
                            <ns1:schemeClr val="tx1"/>
                          </ns1:solidFill>
                          <ns1:latin typeface="Apple SD Gothic Neo"/>
                        </ns1:rPr>
                        <ns1:t>비고</ns1:t>
                      </ns1:r>
                      <ns1:endParaRPr sz="1000" b="1" dirty="0">
                        <ns1:solidFill>
                          <ns1:schemeClr val="tx1"/>
                        </ns1:solidFill>
                        <ns1:latin typeface="Apple SD Gothic Neo"/>
                      </ns1:endParaRPr>
                    </ns1:p>
                  </ns1:txBody>
                  <ns1:tcPr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>
                        <ns1:lumMod val="95000"/>
                      </ns1:schemeClr>
                    </ns1:solidFill>
                  </ns1:tcPr>
                </ns1:tc>
                <ns1:extLst>
                  <ns1:ext uri="{0D108BD9-81ED-4DB2-BD59-A6C34878D82A}">
                    <ns2:rowId val="10000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REQ-WEB-039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배터리 연결 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연결 확인 모달에서 한 번에 하나의 배터리만 연결됨을 확인하고 측정 세션을 시작한다.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REQ-WEB-039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10001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REQ-WEB-040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배터리 상세 정보 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배터리 상세/이력 화면에서 기본 정보, 현재 상태, 최근 측정, 과거 세션을 확인한다.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조회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REQ-WEB-040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2483220722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REQ-WEB-041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과거 측정 세션 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배터리 상세/이력 화면에서 세션 ID, 시간, 상태, 이상점수 이력을 확인한다.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이력조회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REQ-WEB-041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1907020483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REQ-WEB-042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이상 이벤트 요약 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이상 탐지 관리 화면에서 활성 이상 이벤트, 오늘 발생 이상, 최고 이상점수, 모델 상태를 확인한다.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이상탐지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REQ-WEB-042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782701084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REQ-WEB-043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이상 근거 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XAI 영역에서 V_drop, dT/dt, gas_raw, pressure_raw 등 이상점수 기여 요인을 확인한다.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이상탐지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REQ-WEB-043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4243473027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REQ-WEB-044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건강도 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 dirty="0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SOH, RUL, 누적 사이클, 내부 저항, 만료 임박 정보를 확인한다.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조회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REQ-WEB-044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568401155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REQ-WEB-045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이상 탐지 상세 열기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이상 항목 또는 더보기 동작으로 이상 상세 모달을 연다.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상세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REQ-WEB-045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4169273383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REQ-WEB-046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추세 기간 전환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 dirty="0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추세 차트 화면에서 24시간, 7일, 30일 기간 탭을 전환한다.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 dirty="0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차트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REQ-WEB-046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1889727941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REQ-WEB-047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추세 지표 전환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추세 차트 화면에서 온도, 전압 등 표시 지표를 선택해 차트를 바꾼다.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차트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REQ-WEB-047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562353502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REQ-WEB-048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다중 배터리 비교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추세 차트 화면에서 비교 추가 버튼으로 여러 배터리 또는 세션을 겹쳐 본다.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차트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REQ-WEB-048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2467766135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REQ-WEB-049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이벤트 검색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이벤트 이력 화면에서 이벤트 검색어로 목록을 필터링한다.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검색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REQ-WEB-049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3989762338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REQ-WEB-050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이벤트 상태 필터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이벤트 이력 화면에서 전체, 정상, 주의, 경고, 위험 등 상태 칩으로 목록을 필터링한다.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필터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REQ-WEB-050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2044689595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REQ-WEB-051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이벤트 정렬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이벤트 이력 화면에서 최근 측정순, 이상점수 높은순, SOC 낮은순 등 정렬 기준을 선택한다.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정렬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REQ-WEB-051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3133557282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REQ-WEB-052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이벤트 페이지 이동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이벤트 이력 목록에서 이전, 다음, 페이지 번호로 목록 페이지를 이동한다.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목록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REQ-WEB-052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331256628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REQ-WEB-053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이벤트 상세 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이벤트 행을 클릭해 상세 정보와 관련 센서값을 확인한다.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상세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REQ-WEB-053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673625947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REQ-WEB-054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CSV 내보내기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이벤트 또는 이력 조회 결과를 CSV로 내보내기 위한 확인 모달을 연다.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내보내기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REQ-WEB-054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1838520594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REQ-WEB-055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PDF 내보내기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이벤트 또는 이력 조회 결과를 PDF로 내보내기 위한 확인 모달을 연다.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내보내기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REQ-WEB-055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203515748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REQ-WEB-056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알림 이력 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알림 센터에서 인앱·카카오 알림 이력, 발생 시간, 확인 상태를 확인한다.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알림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REQ-WEB-056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1552668495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REQ-WEB-057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알림 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알림 항목의 확인(Ack) 버튼으로 대응 확인 상태를 기록한다.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알림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 dirty="0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REQ-WEB-057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3918330508"/>
                  </ns1:ext>
                </ns1:extLst>
              </ns1:tr>
            </ns1:tbl>
          </ns1:graphicData>
        </ns1:graphic>
      </ns0:graphicFrame>
      <ns0:graphicFrame>
        <ns0:nvGraphicFramePr>
          <ns0:cNvPr id="3" name="tbl32L">
            <ns1:extLst>
              <ns1:ext uri="{FF2B5EF4-FFF2-40B4-BE49-F238E27FC236}">
                <ns2:creationId id="{540017E6-2DF8-806F-7B5E-D5BCE0FDB119}"/>
              </ns1:ext>
            </ns1:extLst>
          </ns0:cNvPr>
          <ns0:cNvGraphicFramePr>
            <ns1:graphicFrameLocks noGrp="1"/>
          </ns0:cNvGraphicFramePr>
          <ns0:nvPr>
            <ns0:extLst>
              <ns0:ext uri="{D42A27DB-BD31-4B8C-83A1-F6EECF244321}">
                <ns3:modId val="851929310"/>
              </ns0:ext>
            </ns0:extLst>
          </ns0:nvPr>
        </ns0:nvGraphicFramePr>
        <ns0:xfrm>
          <ns1:off x="4983480" y="842524"/>
          <ns1:ext cx="4526280" cy="5347714"/>
        </ns0:xfrm>
        <ns1:graphic>
          <ns1:graphicData uri="http://schemas.openxmlformats.org/drawingml/2006/table">
            <ns1:tbl>
              <ns1:tblPr firstRow="1" bandRow="1">
                <ns1:tableStyleId>{5C22544A-7EE6-4342-B048-85BDC9FD1C3A}</ns1:tableStyleId>
              </ns1:tblPr>
              <ns1:tblGrid>
                <ns1:gridCol w="713232">
                  <ns1:extLst>
                    <ns1:ext uri="{9D8B030D-6E8A-4147-A177-3AD203B41FA5}">
                      <ns2:colId val="20000"/>
                    </ns1:ext>
                  </ns1:extLst>
                </ns1:gridCol>
                <ns1:gridCol w="944880">
                  <ns1:extLst>
                    <ns1:ext uri="{9D8B030D-6E8A-4147-A177-3AD203B41FA5}">
                      <ns2:colId val="20001"/>
                    </ns1:ext>
                  </ns1:extLst>
                </ns1:gridCol>
                <ns1:gridCol w="1747520">
                  <ns1:extLst>
                    <ns1:ext uri="{9D8B030D-6E8A-4147-A177-3AD203B41FA5}">
                      <ns2:colId val="20002"/>
                    </ns1:ext>
                  </ns1:extLst>
                </ns1:gridCol>
                <ns1:gridCol w="447040">
                  <ns1:extLst>
                    <ns1:ext uri="{9D8B030D-6E8A-4147-A177-3AD203B41FA5}">
                      <ns2:colId val="20003"/>
                    </ns1:ext>
                  </ns1:extLst>
                </ns1:gridCol>
                <ns1:gridCol w="673608">
                  <ns1:extLst>
                    <ns1:ext uri="{9D8B030D-6E8A-4147-A177-3AD203B41FA5}">
                      <ns2:colId val="20004"/>
                    </ns1:ext>
                  </ns1:extLst>
                </ns1:gridCol>
              </ns1:tblGrid>
              <ns1:tr h="292608">
                <ns1:tc>
                  <ns1:txBody>
                    <ns1:bodyPr/>
                    <ns1:lstStyle/>
                    <ns1:p>
                      <ns1:r>
                        <ns1:rPr sz="750" b="1">
                          <ns1:solidFill>
                            <ns1:schemeClr val="tx1"/>
                          </ns1:solidFill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요구사항 ID</ns1:t>
                      </ns1:r>
                    </ns1:p>
                  </ns1:txBody>
                  <ns1:tcPr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>
                        <ns1:lumMod val="95000"/>
                      </ns1:schemeClr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750" b="1" dirty="0" err="1">
                          <ns1:solidFill>
                            <ns1:schemeClr val="tx1"/>
                          </ns1:solidFill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요구사항명</ns1:t>
                      </ns1:r>
                      <ns1:endParaRPr sz="1000" b="1" dirty="0">
                        <ns1:solidFill>
                          <ns1:schemeClr val="tx1"/>
                        </ns1:solidFill>
                        <ns1:latin typeface="Apple SD Gothic Neo" panose="02000300000000000000" pitchFamily="2" charset="-127"/>
                        <ns1:ea typeface="Apple SD Gothic Neo" panose="02000300000000000000" pitchFamily="2" charset="-127"/>
                      </ns1:endParaRPr>
                    </ns1:p>
                  </ns1:txBody>
                  <ns1:tcPr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>
                        <ns1:lumMod val="95000"/>
                      </ns1:schemeClr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750" b="1" dirty="0" err="1">
                          <ns1:solidFill>
                            <ns1:schemeClr val="tx1"/>
                          </ns1:solidFill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요구사항 상세설명</ns1:t>
                      </ns1:r>
                      <ns1:endParaRPr sz="1000" b="1" dirty="0">
                        <ns1:solidFill>
                          <ns1:schemeClr val="tx1"/>
                        </ns1:solidFill>
                        <ns1:latin typeface="Apple SD Gothic Neo" panose="02000300000000000000" pitchFamily="2" charset="-127"/>
                        <ns1:ea typeface="Apple SD Gothic Neo" panose="02000300000000000000" pitchFamily="2" charset="-127"/>
                      </ns1:endParaRPr>
                    </ns1:p>
                  </ns1:txBody>
                  <ns1:tcPr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>
                        <ns1:lumMod val="95000"/>
                      </ns1:schemeClr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750" b="1" dirty="0" err="1">
                          <ns1:solidFill>
                            <ns1:schemeClr val="tx1"/>
                          </ns1:solidFill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중요도</ns1:t>
                      </ns1:r>
                      <ns1:endParaRPr sz="1000" b="1" dirty="0">
                        <ns1:solidFill>
                          <ns1:schemeClr val="tx1"/>
                        </ns1:solidFill>
                        <ns1:latin typeface="Apple SD Gothic Neo" panose="02000300000000000000" pitchFamily="2" charset="-127"/>
                        <ns1:ea typeface="Apple SD Gothic Neo" panose="02000300000000000000" pitchFamily="2" charset="-127"/>
                      </ns1:endParaRPr>
                    </ns1:p>
                  </ns1:txBody>
                  <ns1:tcPr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>
                        <ns1:lumMod val="95000"/>
                      </ns1:schemeClr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750" b="1">
                          <ns1:solidFill>
                            <ns1:schemeClr val="tx1"/>
                          </ns1:solidFill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비고</ns1:t>
                      </ns1:r>
                      <ns1:endParaRPr sz="1000" b="1" dirty="0">
                        <ns1:solidFill>
                          <ns1:schemeClr val="tx1"/>
                        </ns1:solidFill>
                        <ns1:latin typeface="Apple SD Gothic Neo" panose="02000300000000000000" pitchFamily="2" charset="-127"/>
                        <ns1:ea typeface="Apple SD Gothic Neo" panose="02000300000000000000" pitchFamily="2" charset="-127"/>
                      </ns1:endParaRPr>
                    </ns1:p>
                  </ns1:txBody>
                  <ns1:tcPr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>
                        <ns1:lumMod val="95000"/>
                      </ns1:schemeClr>
                    </ns1:solidFill>
                  </ns1:tcPr>
                </ns1:tc>
                <ns1:extLst>
                  <ns1:ext uri="{0D108BD9-81ED-4DB2-BD59-A6C34878D82A}">
                    <ns2:rowId val="10000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REQ-WEB-058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모든 알림 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알림 센터에서 모두 확인 버튼으로 미확인 알림을 일괄 처리한다.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알림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REQ-WEB-058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10001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REQ-WEB-059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공지 카테고리 필터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공지사항 화면에서 전체, 업데이트, 점검 등 카테고리 칩으로 공지를 필터링한다.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공지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REQ-WEB-059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2332510631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REQ-WEB-060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공지 상세 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공지사항 목록 항목을 클릭해 공지 상세를 확인한다.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공지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REQ-WEB-060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3523131968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REQ-WEB-061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릴레이 상태 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릴레이 제어 화면에서 현재 회로 상태, 차단됨, 정상 연결 상태를 확인한다.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제어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REQ-WEB-061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2390484578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REQ-WEB-062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릴레이 차단 승인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Kill-Switch 차단 버튼으로 위험 제어 승인 모달을 열고 재인증·사유 입력 후 실행한다.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제어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REQ-WEB-062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1178299433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REQ-WEB-063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릴레이 복구 승인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릴레이 복구 버튼으로 승인 모달을 열고 회로 복구를 실행한다.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제어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REQ-WEB-063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334773670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REQ-WEB-064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자동 차단 알림 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Fail-Safe 자동 차단 모달에서 차단 사유와 대상 배터리 점검 안내를 확인한다.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알림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REQ-WEB-064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121855125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REQ-WEB-065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알림 수신 설정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설정 화면의 알림 수신 탭에서 카카오, 이메일, SMS, 웹푸시 수신 여부를 토글한다.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설정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REQ-WEB-065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2160588112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REQ-WEB-066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알림 조건 설정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위험·경고 즉시 발송, 위험 등급만 발송, 중복 발송 억제 조건을 확인한다.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알림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REQ-WEB-066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1365323604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REQ-WEB-067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계정 정보 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설정 화면의 계정 탭에서 이름, 이메일, 전화번호를 확인하고 변경 저장 버튼을 제공한다.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계정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REQ-WEB-067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1660381343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REQ-WEB-068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비밀번호 변경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계정 탭에서 비밀번호 재설정 모달을 열고 새 비밀번호를 저장한다.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계정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REQ-WEB-068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706274723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REQ-WEB-069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프로필 사진 변경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계정 탭에서 사진 변경 버튼을 제공한다.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정의 필요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REQ-WEB-069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2721821910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REQ-WEB-070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 dirty="0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테마 전환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설정 화면의 테마 탭에서 라이트, 다크, 시스템 테마를 선택한다.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설정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REQ-WEB-070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1593167825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REQ-WEB-071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 dirty="0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센서 캘리브레이션 이력 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테마·캘리브레이션 영역에서 센서별 보정일, 담당자, 유효 상태를 확인한다.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조회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REQ-WEB-071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713958431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REQ-WEB-101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관리자 대시보드 진입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 dirty="0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관리자 로그인 후 전체 운영 현황 허브 화면으로 진입한다.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관리자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REQ-WEB-101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851535783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REQ-WEB-102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관리자 메뉴 이동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 dirty="0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관리자 대시보드, 유저 관리, 배터리 관리, 공지사항 관리, 감사 로그 메뉴로 이동한다.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이동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REQ-WEB-102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919606094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REQ-WEB-103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관리자 모드 종료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 dirty="0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관리자 화면에서 일반 사용자 화면으로 나가거나 </ns1:t>
                      </ns1:r>
                      <ns1:r>
                        <ns1:rPr lang="ko-KR" sz="500" b="0" i="0" u="none" strike="noStrike" dirty="0" err="1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로그아웃한다</ns1:t>
                      </ns1:r>
                      <ns1:r>
                        <ns1:rPr lang="ko-KR" sz="500" b="0" i="0" u="none" strike="noStrike" dirty="0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인증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REQ-WEB-103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1103608824"/>
                  </ns1:ext>
                </ns1:extLst>
              </ns1:tr>
              <ns1:tr h="260603"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REQ-WEB-104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전체 운영 요약 확인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 dirty="0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전체 유저, 전체 배터리, 활성 세션, 위험/경고 배터리, 오프라인 디바이스 요약 카드를 확인한다.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조회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marL="0" marR="0" algn="l">
                        <ns1:buNone/>
                      </ns1:pPr>
                      <ns1:r>
                        <ns1:rPr lang="ko-KR" sz="500" b="0" i="0" u="none" strike="noStrike" dirty="0">
                          <ns1:solidFill>
                            <ns1:srgbClr val="333333"/>
                          </ns1:solidFill>
                          <ns1:effectLst/>
                          <ns1:latin typeface="Apple SD Gothic Neo" panose="02000300000000000000" pitchFamily="2" charset="-127"/>
                          <ns1:ea typeface="Apple SD Gothic Neo" panose="02000300000000000000" pitchFamily="2" charset="-127"/>
                        </ns1:rPr>
                        <ns1:t>REQ-WEB-104</ns1:t>
                      </ns1:r>
                    </ns1:p>
                  </ns1:txBody>
                  <ns1:tcPr marL="123825" marR="123825" marT="57150" marB="57150" anchor="ctr">
                    <ns1:lnL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6350" cap="flat" cmpd="sng" algn="ctr">
                      <ns1:solidFill>
                        <ns1:schemeClr val="bg1">
                          <ns1:lumMod val="75000"/>
                        </ns1:schemeClr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 w="12700" cmpd="sng">
                      <ns1:noFill/>
                      <ns1:prstDash val="solid"/>
                    </ns1:lnTlToBr>
                    <ns1:lnBlToTr w="12700" cmpd="sng">
                      <ns1:noFill/>
                      <ns1:prstDash val="solid"/>
                    </ns1:lnBlToTr>
                    <ns1:solidFill>
                      <ns1:schemeClr val="bg1"/>
                    </ns1:solidFill>
                  </ns1:tcPr>
                </ns1:tc>
                <ns1:extLst>
                  <ns1:ext uri="{0D108BD9-81ED-4DB2-BD59-A6C34878D82A}">
                    <ns2:rowId val="682481224"/>
                  </ns1:ext>
                </ns1:extLst>
              </ns1:tr>
            </ns1:tbl>
          </ns1:graphicData>
        </ns1:graphic>
      </ns0:graphicFrame>
    </ns0:spTree>
    <ns0:extLst>
      <ns0:ext uri="{BB962C8B-B14F-4D97-AF65-F5344CB8AC3E}">
        <ns3:creationId val="2734151379"/>
      </ns0:ext>
    </ns0:extLst>
  </ns0:cSld>
  <ns0:clrMapOvr>
    <ns1:masterClrMapping/>
  </ns0:clrMapOvr>
</ns0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B9062-348D-D2E8-2E42-75F833835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ED96E02-ECC5-121D-4847-EDCCE59A73A3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27900F-F337-E9CD-9518-0663719F1F9D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5E156E-803D-A1A7-4A3A-EC12BBF43D35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 dirty="0"/>
              <a:t>-3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F89C8F93-9C49-8897-E7ED-FD4DF3E368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430549"/>
              </p:ext>
            </p:extLst>
          </p:nvPr>
        </p:nvGraphicFramePr>
        <p:xfrm>
          <a:off x="292608" y="841248"/>
          <a:ext cx="4526280" cy="5359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최근 위험 배터리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대시보드에서 최근 위험 배터리 목록과 상태를 확인하고 배터리 상세로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최근 관리자 조작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대시보드에서 최근 관리자 조작 로그를 확인하고 감사 로그로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2207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화면에서 최근 7일 등 기간별 이상 이벤트 발생 추이를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0204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기간 전환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화면에서 24시간, 7일, 30일 기간 탭을 전환한다.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270108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상세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자세히 보기 동작으로 관리자 이벤트 추이 화면에 진입한다.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47302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목록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계정 관리 화면에서 이름, 이메일, 권한, 등록 배터리 수, 상태, 관리 동작을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115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검색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계정 관리 화면에서 이름 또는 이메일로 유저 목록을 검색한다.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검색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2733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상태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계정 관리 화면에서 전체, 활성, 정지 상태 기준으로 목록을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72794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권한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계정 관리 화면에서 전체, 일반, 관리자 권한 기준으로 목록을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35350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상세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행을 클릭해 기본 정보, 등록 배터리, 활동 로그를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776613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정보 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수정 버튼으로 이름, ID, 전화번호, 등록 배터리 수, 권한, 상태를 수정하는 모달을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76233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비밀번호 재설정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수정 모달에서 새 비밀번호 입력으로 비밀번호 재설정 동작을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68959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정지/해제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정지 또는 해제 버튼으로 확인 모달을 열고 사유 입력 후 상태를 변경한다.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55728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변경 감사 기록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상태 변경과 수정 동작을 감사 로그에 남기는 흐름을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5662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목록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관리 화면에서 배터리명, 소유자, 모드, 상태, 최근 측정, 운영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362594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검색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관리 화면에서 배터리명 또는 소유자로 목록을 검색한다.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검색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5205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상태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관리 화면에서 전체, NORMAL, WATCH, BLOCKED 상태 기준으로 목록을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1574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행을 클릭해 상태 상세, 운영 로그, 최근 센서 요약을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266849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상태 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상세에서 NORMAL, WATCH, BLOCKED 운영 상태를 선택하고 저장한다.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330508"/>
                  </a:ext>
                </a:extLst>
              </a:tr>
            </a:tbl>
          </a:graphicData>
        </a:graphic>
      </p:graphicFrame>
      <p:graphicFrame>
        <p:nvGraphicFramePr>
          <p:cNvPr id="3" name="tbl32L">
            <a:extLst>
              <a:ext uri="{FF2B5EF4-FFF2-40B4-BE49-F238E27FC236}">
                <a16:creationId xmlns:a16="http://schemas.microsoft.com/office/drawing/2014/main" id="{CB4915FA-1BE8-9252-A876-B414EBECA7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0136427"/>
              </p:ext>
            </p:extLst>
          </p:nvPr>
        </p:nvGraphicFramePr>
        <p:xfrm>
          <a:off x="4983480" y="842524"/>
          <a:ext cx="4526280" cy="5286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메모 입력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상세에서 관리자 메모를 입력하고 저장한다.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BLOCKED 사유 입력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배터리를 BLOCKED로 변경할 때 사유 입력을 요구한다.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5106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변경 감사 기록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상태와 관리자 메모 변경 이력을 감사 로그에 기록한다.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313196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목록 관리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관리 화면에서 공지 제목, 카테고리, 게시 상태, 관리 동작을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48457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작성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공지 버튼으로 공지 작성 모달을 열고 카테고리, 공개 범위, 제목, 내용을 입력한다.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29943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목록의 수정 버튼으로 기존 공지를 편집한다.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7367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게시 알림 선택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작성/수정 모달에서 게시와 동시에 웹푸시·카카오 알림 발송 여부를 선택한다.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5512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임시 저장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작성/수정 모달에서 임시 저장을 수행한다.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75173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보관/삭제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목록의 보관 또는 삭제 동작에서 확인 모달을 표시한다.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삭제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58811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목록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화면에서 시간, 관리자, 행위, 대상, 변경 내용을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532360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화면에서 기간, 행위, 대상 기준 필터를 선택한다.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38134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상세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행을 클릭해 변경 전후 값과 사유를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27472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수정/삭제 차단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상세에서 수정·삭제 불가 상태와 보존 안내를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82191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316782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584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15357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96060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endParaRPr sz="65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 dirty="0" err="1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60882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endParaRPr sz="65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 dirty="0" err="1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2481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35914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IA 정보구조도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F60EEA67-914E-E773-0137-77240D908AD3}"/>
              </a:ext>
            </a:extLst>
          </p:cNvPr>
          <p:cNvSpPr/>
          <p:nvPr/>
        </p:nvSpPr>
        <p:spPr>
          <a:xfrm>
            <a:off x="4263000" y="1951368"/>
            <a:ext cx="1380000" cy="310000"/>
          </a:xfrm>
          <a:prstGeom prst="rect">
            <a:avLst/>
          </a:prstGeom>
          <a:solidFill>
            <a:srgbClr val="262626"/>
          </a:solidFill>
          <a:ln w="952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로그인 / 회원가입</a:t>
            </a: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D6057E50-AB74-BEDB-D4EB-3D340C3D7114}"/>
              </a:ext>
            </a:extLst>
          </p:cNvPr>
          <p:cNvSpPr/>
          <p:nvPr/>
        </p:nvSpPr>
        <p:spPr>
          <a:xfrm>
            <a:off x="5843000" y="1951368"/>
            <a:ext cx="1100000" cy="310000"/>
          </a:xfrm>
          <a:prstGeom prst="rect">
            <a:avLst/>
          </a:prstGeom>
          <a:solidFill>
            <a:srgbClr val="FF3333"/>
          </a:solidFill>
          <a:ln w="9525">
            <a:solidFill>
              <a:srgbClr val="A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 dirty="0" err="1">
                <a:solidFill>
                  <a:srgbClr val="FFFFFF"/>
                </a:solidFill>
              </a:rPr>
              <a:t>계정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
(</a:t>
            </a:r>
            <a:r>
              <a:rPr lang="en-US" sz="800" b="0" dirty="0" err="1">
                <a:solidFill>
                  <a:srgbClr val="FFFFFF"/>
                </a:solidFill>
              </a:rPr>
              <a:t>ID</a:t>
            </a:r>
            <a:r>
              <a:rPr sz="800" b="0" dirty="0" err="1">
                <a:solidFill>
                  <a:srgbClr val="FFFFFF"/>
                </a:solidFill>
              </a:rPr>
              <a:t>·비밀번호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)</a:t>
            </a:r>
          </a:p>
        </p:txBody>
      </p:sp>
      <p:cxnSp>
        <p:nvCxnSpPr>
          <p:cNvPr id="5" name="Connector 11">
            <a:extLst>
              <a:ext uri="{FF2B5EF4-FFF2-40B4-BE49-F238E27FC236}">
                <a16:creationId xmlns:a16="http://schemas.microsoft.com/office/drawing/2014/main" id="{FBBE0B41-5DBB-89DF-98A5-1D414C198BDC}"/>
              </a:ext>
            </a:extLst>
          </p:cNvPr>
          <p:cNvCxnSpPr/>
          <p:nvPr/>
        </p:nvCxnSpPr>
        <p:spPr>
          <a:xfrm>
            <a:off x="5643000" y="2106368"/>
            <a:ext cx="20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2">
            <a:extLst>
              <a:ext uri="{FF2B5EF4-FFF2-40B4-BE49-F238E27FC236}">
                <a16:creationId xmlns:a16="http://schemas.microsoft.com/office/drawing/2014/main" id="{0B5F5355-BC72-4A5B-D861-00E2F0330005}"/>
              </a:ext>
            </a:extLst>
          </p:cNvPr>
          <p:cNvSpPr/>
          <p:nvPr/>
        </p:nvSpPr>
        <p:spPr>
          <a:xfrm>
            <a:off x="4263000" y="2441368"/>
            <a:ext cx="1380000" cy="310000"/>
          </a:xfrm>
          <a:prstGeom prst="rect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HOME 대시보드</a:t>
            </a:r>
          </a:p>
        </p:txBody>
      </p:sp>
      <p:cxnSp>
        <p:nvCxnSpPr>
          <p:cNvPr id="7" name="Connector 13">
            <a:extLst>
              <a:ext uri="{FF2B5EF4-FFF2-40B4-BE49-F238E27FC236}">
                <a16:creationId xmlns:a16="http://schemas.microsoft.com/office/drawing/2014/main" id="{AFC1EFD6-5113-6496-6599-91E04FCF71D7}"/>
              </a:ext>
            </a:extLst>
          </p:cNvPr>
          <p:cNvCxnSpPr/>
          <p:nvPr/>
        </p:nvCxnSpPr>
        <p:spPr>
          <a:xfrm>
            <a:off x="4953000" y="2261368"/>
            <a:ext cx="0" cy="1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14">
            <a:extLst>
              <a:ext uri="{FF2B5EF4-FFF2-40B4-BE49-F238E27FC236}">
                <a16:creationId xmlns:a16="http://schemas.microsoft.com/office/drawing/2014/main" id="{18A94C9F-DA8A-38A3-B423-A080711CA64B}"/>
              </a:ext>
            </a:extLst>
          </p:cNvPr>
          <p:cNvCxnSpPr/>
          <p:nvPr/>
        </p:nvCxnSpPr>
        <p:spPr>
          <a:xfrm>
            <a:off x="4953000" y="2751368"/>
            <a:ext cx="0" cy="15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5">
            <a:extLst>
              <a:ext uri="{FF2B5EF4-FFF2-40B4-BE49-F238E27FC236}">
                <a16:creationId xmlns:a16="http://schemas.microsoft.com/office/drawing/2014/main" id="{03B6CB05-B47E-5AB6-FFE4-A7ECF2AAE899}"/>
              </a:ext>
            </a:extLst>
          </p:cNvPr>
          <p:cNvCxnSpPr/>
          <p:nvPr/>
        </p:nvCxnSpPr>
        <p:spPr>
          <a:xfrm>
            <a:off x="1973000" y="2901368"/>
            <a:ext cx="596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6">
            <a:extLst>
              <a:ext uri="{FF2B5EF4-FFF2-40B4-BE49-F238E27FC236}">
                <a16:creationId xmlns:a16="http://schemas.microsoft.com/office/drawing/2014/main" id="{F29F2569-1636-65EB-351B-905E0B299B1E}"/>
              </a:ext>
            </a:extLst>
          </p:cNvPr>
          <p:cNvSpPr/>
          <p:nvPr/>
        </p:nvSpPr>
        <p:spPr>
          <a:xfrm>
            <a:off x="128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디바이스</a:t>
            </a:r>
          </a:p>
          <a:p>
            <a:pPr algn="ctr"/>
            <a:r>
              <a:rPr sz="900" b="1">
                <a:solidFill>
                  <a:srgbClr val="FFFFFF"/>
                </a:solidFill>
              </a:rPr>
              <a:t>배터리</a:t>
            </a:r>
          </a:p>
        </p:txBody>
      </p:sp>
      <p:cxnSp>
        <p:nvCxnSpPr>
          <p:cNvPr id="13" name="Connector 17">
            <a:extLst>
              <a:ext uri="{FF2B5EF4-FFF2-40B4-BE49-F238E27FC236}">
                <a16:creationId xmlns:a16="http://schemas.microsoft.com/office/drawing/2014/main" id="{B4305676-3D5E-CC3F-E254-DDDA076716D3}"/>
              </a:ext>
            </a:extLst>
          </p:cNvPr>
          <p:cNvCxnSpPr/>
          <p:nvPr/>
        </p:nvCxnSpPr>
        <p:spPr>
          <a:xfrm>
            <a:off x="197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8">
            <a:extLst>
              <a:ext uri="{FF2B5EF4-FFF2-40B4-BE49-F238E27FC236}">
                <a16:creationId xmlns:a16="http://schemas.microsoft.com/office/drawing/2014/main" id="{C1610CAB-B4F8-165E-5627-E751D6CC0364}"/>
              </a:ext>
            </a:extLst>
          </p:cNvPr>
          <p:cNvSpPr/>
          <p:nvPr/>
        </p:nvSpPr>
        <p:spPr>
          <a:xfrm>
            <a:off x="277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실시간 관제</a:t>
            </a:r>
          </a:p>
        </p:txBody>
      </p:sp>
      <p:cxnSp>
        <p:nvCxnSpPr>
          <p:cNvPr id="15" name="Connector 19">
            <a:extLst>
              <a:ext uri="{FF2B5EF4-FFF2-40B4-BE49-F238E27FC236}">
                <a16:creationId xmlns:a16="http://schemas.microsoft.com/office/drawing/2014/main" id="{515BF11B-D437-6BC8-A6EE-EAF1EBE58C65}"/>
              </a:ext>
            </a:extLst>
          </p:cNvPr>
          <p:cNvCxnSpPr/>
          <p:nvPr/>
        </p:nvCxnSpPr>
        <p:spPr>
          <a:xfrm>
            <a:off x="346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20">
            <a:extLst>
              <a:ext uri="{FF2B5EF4-FFF2-40B4-BE49-F238E27FC236}">
                <a16:creationId xmlns:a16="http://schemas.microsoft.com/office/drawing/2014/main" id="{964D5966-2B3D-AE08-9BEE-EA400068B61A}"/>
              </a:ext>
            </a:extLst>
          </p:cNvPr>
          <p:cNvSpPr/>
          <p:nvPr/>
        </p:nvSpPr>
        <p:spPr>
          <a:xfrm>
            <a:off x="426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이상 분석</a:t>
            </a:r>
          </a:p>
        </p:txBody>
      </p:sp>
      <p:cxnSp>
        <p:nvCxnSpPr>
          <p:cNvPr id="17" name="Connector 21">
            <a:extLst>
              <a:ext uri="{FF2B5EF4-FFF2-40B4-BE49-F238E27FC236}">
                <a16:creationId xmlns:a16="http://schemas.microsoft.com/office/drawing/2014/main" id="{2D2E2E9F-0725-9536-4CA9-A2A8522689E2}"/>
              </a:ext>
            </a:extLst>
          </p:cNvPr>
          <p:cNvCxnSpPr/>
          <p:nvPr/>
        </p:nvCxnSpPr>
        <p:spPr>
          <a:xfrm>
            <a:off x="495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22">
            <a:extLst>
              <a:ext uri="{FF2B5EF4-FFF2-40B4-BE49-F238E27FC236}">
                <a16:creationId xmlns:a16="http://schemas.microsoft.com/office/drawing/2014/main" id="{DB230E1E-B15C-09AB-2958-8EA5DBCAC5A3}"/>
              </a:ext>
            </a:extLst>
          </p:cNvPr>
          <p:cNvSpPr/>
          <p:nvPr/>
        </p:nvSpPr>
        <p:spPr>
          <a:xfrm>
            <a:off x="575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알림</a:t>
            </a:r>
          </a:p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릴레이</a:t>
            </a:r>
          </a:p>
        </p:txBody>
      </p:sp>
      <p:cxnSp>
        <p:nvCxnSpPr>
          <p:cNvPr id="19" name="Connector 23">
            <a:extLst>
              <a:ext uri="{FF2B5EF4-FFF2-40B4-BE49-F238E27FC236}">
                <a16:creationId xmlns:a16="http://schemas.microsoft.com/office/drawing/2014/main" id="{DC520B63-5A5F-21D8-B980-99BB8D7841DE}"/>
              </a:ext>
            </a:extLst>
          </p:cNvPr>
          <p:cNvCxnSpPr/>
          <p:nvPr/>
        </p:nvCxnSpPr>
        <p:spPr>
          <a:xfrm>
            <a:off x="644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6">
            <a:extLst>
              <a:ext uri="{FF2B5EF4-FFF2-40B4-BE49-F238E27FC236}">
                <a16:creationId xmlns:a16="http://schemas.microsoft.com/office/drawing/2014/main" id="{DBBB5042-1AAF-52CE-EC59-D8D012EF69FF}"/>
              </a:ext>
            </a:extLst>
          </p:cNvPr>
          <p:cNvSpPr/>
          <p:nvPr/>
        </p:nvSpPr>
        <p:spPr>
          <a:xfrm>
            <a:off x="128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디바이스 선택</a:t>
            </a:r>
          </a:p>
        </p:txBody>
      </p:sp>
      <p:cxnSp>
        <p:nvCxnSpPr>
          <p:cNvPr id="23" name="Connector 27">
            <a:extLst>
              <a:ext uri="{FF2B5EF4-FFF2-40B4-BE49-F238E27FC236}">
                <a16:creationId xmlns:a16="http://schemas.microsoft.com/office/drawing/2014/main" id="{35171820-0563-1602-0AA7-D0A4727BD184}"/>
              </a:ext>
            </a:extLst>
          </p:cNvPr>
          <p:cNvCxnSpPr/>
          <p:nvPr/>
        </p:nvCxnSpPr>
        <p:spPr>
          <a:xfrm>
            <a:off x="197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8">
            <a:extLst>
              <a:ext uri="{FF2B5EF4-FFF2-40B4-BE49-F238E27FC236}">
                <a16:creationId xmlns:a16="http://schemas.microsoft.com/office/drawing/2014/main" id="{978CE40F-800B-707B-8395-FB17DA75A316}"/>
              </a:ext>
            </a:extLst>
          </p:cNvPr>
          <p:cNvSpPr/>
          <p:nvPr/>
        </p:nvSpPr>
        <p:spPr>
          <a:xfrm>
            <a:off x="128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배터리 자산관리</a:t>
            </a:r>
          </a:p>
        </p:txBody>
      </p:sp>
      <p:cxnSp>
        <p:nvCxnSpPr>
          <p:cNvPr id="25" name="Connector 29">
            <a:extLst>
              <a:ext uri="{FF2B5EF4-FFF2-40B4-BE49-F238E27FC236}">
                <a16:creationId xmlns:a16="http://schemas.microsoft.com/office/drawing/2014/main" id="{D8AC0890-5465-9AC4-EA31-C0762A5FD99A}"/>
              </a:ext>
            </a:extLst>
          </p:cNvPr>
          <p:cNvCxnSpPr/>
          <p:nvPr/>
        </p:nvCxnSpPr>
        <p:spPr>
          <a:xfrm>
            <a:off x="197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30">
            <a:extLst>
              <a:ext uri="{FF2B5EF4-FFF2-40B4-BE49-F238E27FC236}">
                <a16:creationId xmlns:a16="http://schemas.microsoft.com/office/drawing/2014/main" id="{6A01C422-2198-9CEF-C7A7-77EC49AB3ED2}"/>
              </a:ext>
            </a:extLst>
          </p:cNvPr>
          <p:cNvSpPr/>
          <p:nvPr/>
        </p:nvSpPr>
        <p:spPr>
          <a:xfrm>
            <a:off x="277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센서 요약 카드</a:t>
            </a:r>
          </a:p>
        </p:txBody>
      </p:sp>
      <p:cxnSp>
        <p:nvCxnSpPr>
          <p:cNvPr id="27" name="Connector 31">
            <a:extLst>
              <a:ext uri="{FF2B5EF4-FFF2-40B4-BE49-F238E27FC236}">
                <a16:creationId xmlns:a16="http://schemas.microsoft.com/office/drawing/2014/main" id="{DF6DFB66-7396-DEB5-07A1-55FCDDE93848}"/>
              </a:ext>
            </a:extLst>
          </p:cNvPr>
          <p:cNvCxnSpPr/>
          <p:nvPr/>
        </p:nvCxnSpPr>
        <p:spPr>
          <a:xfrm>
            <a:off x="346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32">
            <a:extLst>
              <a:ext uri="{FF2B5EF4-FFF2-40B4-BE49-F238E27FC236}">
                <a16:creationId xmlns:a16="http://schemas.microsoft.com/office/drawing/2014/main" id="{0461E3AE-79D5-9AE4-9A83-3C495909D005}"/>
              </a:ext>
            </a:extLst>
          </p:cNvPr>
          <p:cNvSpPr/>
          <p:nvPr/>
        </p:nvSpPr>
        <p:spPr>
          <a:xfrm>
            <a:off x="277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이상점수·상태등급</a:t>
            </a:r>
          </a:p>
        </p:txBody>
      </p:sp>
      <p:cxnSp>
        <p:nvCxnSpPr>
          <p:cNvPr id="29" name="Connector 33">
            <a:extLst>
              <a:ext uri="{FF2B5EF4-FFF2-40B4-BE49-F238E27FC236}">
                <a16:creationId xmlns:a16="http://schemas.microsoft.com/office/drawing/2014/main" id="{D92CDA88-670A-FCA0-6AC2-AD12E87ECAC4}"/>
              </a:ext>
            </a:extLst>
          </p:cNvPr>
          <p:cNvCxnSpPr/>
          <p:nvPr/>
        </p:nvCxnSpPr>
        <p:spPr>
          <a:xfrm>
            <a:off x="346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34">
            <a:extLst>
              <a:ext uri="{FF2B5EF4-FFF2-40B4-BE49-F238E27FC236}">
                <a16:creationId xmlns:a16="http://schemas.microsoft.com/office/drawing/2014/main" id="{08C066ED-2046-6039-8BBC-40E2CBC3C285}"/>
              </a:ext>
            </a:extLst>
          </p:cNvPr>
          <p:cNvSpPr/>
          <p:nvPr/>
        </p:nvSpPr>
        <p:spPr>
          <a:xfrm>
            <a:off x="426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dirty="0">
                <a:solidFill>
                  <a:srgbClr val="262626"/>
                </a:solidFill>
              </a:rPr>
              <a:t>이상 이벤트 상세</a:t>
            </a:r>
          </a:p>
        </p:txBody>
      </p:sp>
      <p:cxnSp>
        <p:nvCxnSpPr>
          <p:cNvPr id="31" name="Connector 35">
            <a:extLst>
              <a:ext uri="{FF2B5EF4-FFF2-40B4-BE49-F238E27FC236}">
                <a16:creationId xmlns:a16="http://schemas.microsoft.com/office/drawing/2014/main" id="{A49B3BFC-5EB1-9E79-9D0C-FAF1F3CEF437}"/>
              </a:ext>
            </a:extLst>
          </p:cNvPr>
          <p:cNvCxnSpPr/>
          <p:nvPr/>
        </p:nvCxnSpPr>
        <p:spPr>
          <a:xfrm>
            <a:off x="495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6">
            <a:extLst>
              <a:ext uri="{FF2B5EF4-FFF2-40B4-BE49-F238E27FC236}">
                <a16:creationId xmlns:a16="http://schemas.microsoft.com/office/drawing/2014/main" id="{4EF15662-074D-ED8B-4CDF-F3C84BD88B79}"/>
              </a:ext>
            </a:extLst>
          </p:cNvPr>
          <p:cNvSpPr/>
          <p:nvPr/>
        </p:nvSpPr>
        <p:spPr>
          <a:xfrm>
            <a:off x="426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XAI·SOH/RUL</a:t>
            </a:r>
          </a:p>
        </p:txBody>
      </p:sp>
      <p:cxnSp>
        <p:nvCxnSpPr>
          <p:cNvPr id="33" name="Connector 37">
            <a:extLst>
              <a:ext uri="{FF2B5EF4-FFF2-40B4-BE49-F238E27FC236}">
                <a16:creationId xmlns:a16="http://schemas.microsoft.com/office/drawing/2014/main" id="{B7A46532-400A-00CB-1A20-2C8E3FA5F5D8}"/>
              </a:ext>
            </a:extLst>
          </p:cNvPr>
          <p:cNvCxnSpPr/>
          <p:nvPr/>
        </p:nvCxnSpPr>
        <p:spPr>
          <a:xfrm>
            <a:off x="495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8">
            <a:extLst>
              <a:ext uri="{FF2B5EF4-FFF2-40B4-BE49-F238E27FC236}">
                <a16:creationId xmlns:a16="http://schemas.microsoft.com/office/drawing/2014/main" id="{48B7DA46-B9BE-3E08-903F-0AE20BE5AF8C}"/>
              </a:ext>
            </a:extLst>
          </p:cNvPr>
          <p:cNvSpPr/>
          <p:nvPr/>
        </p:nvSpPr>
        <p:spPr>
          <a:xfrm>
            <a:off x="575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800" b="0" dirty="0" err="1">
                <a:solidFill>
                  <a:srgbClr val="262626"/>
                </a:solidFill>
              </a:rPr>
              <a:t>알림 확인(Ack)</a:t>
            </a:r>
          </a:p>
        </p:txBody>
      </p:sp>
      <p:cxnSp>
        <p:nvCxnSpPr>
          <p:cNvPr id="35" name="Connector 39">
            <a:extLst>
              <a:ext uri="{FF2B5EF4-FFF2-40B4-BE49-F238E27FC236}">
                <a16:creationId xmlns:a16="http://schemas.microsoft.com/office/drawing/2014/main" id="{898A7BCA-6AE2-056C-C966-77D506972A71}"/>
              </a:ext>
            </a:extLst>
          </p:cNvPr>
          <p:cNvCxnSpPr/>
          <p:nvPr/>
        </p:nvCxnSpPr>
        <p:spPr>
          <a:xfrm>
            <a:off x="644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40">
            <a:extLst>
              <a:ext uri="{FF2B5EF4-FFF2-40B4-BE49-F238E27FC236}">
                <a16:creationId xmlns:a16="http://schemas.microsoft.com/office/drawing/2014/main" id="{04983EAB-5E5B-BFD0-D34A-7014F9DCF7CA}"/>
              </a:ext>
            </a:extLst>
          </p:cNvPr>
          <p:cNvSpPr/>
          <p:nvPr/>
        </p:nvSpPr>
        <p:spPr>
          <a:xfrm>
            <a:off x="575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SOP·Kill-Switch</a:t>
            </a:r>
          </a:p>
        </p:txBody>
      </p:sp>
      <p:cxnSp>
        <p:nvCxnSpPr>
          <p:cNvPr id="37" name="Connector 41">
            <a:extLst>
              <a:ext uri="{FF2B5EF4-FFF2-40B4-BE49-F238E27FC236}">
                <a16:creationId xmlns:a16="http://schemas.microsoft.com/office/drawing/2014/main" id="{45B7ABAB-8D5C-A103-3EC7-1C08383F727D}"/>
              </a:ext>
            </a:extLst>
          </p:cNvPr>
          <p:cNvCxnSpPr/>
          <p:nvPr/>
        </p:nvCxnSpPr>
        <p:spPr>
          <a:xfrm>
            <a:off x="644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22">
            <a:extLst>
              <a:ext uri="{FF2B5EF4-FFF2-40B4-BE49-F238E27FC236}">
                <a16:creationId xmlns:a16="http://schemas.microsoft.com/office/drawing/2014/main" id="{251775D9-0362-9E51-0EF3-4380C1CAEADA}"/>
              </a:ext>
            </a:extLst>
          </p:cNvPr>
          <p:cNvSpPr/>
          <p:nvPr/>
        </p:nvSpPr>
        <p:spPr>
          <a:xfrm>
            <a:off x="728683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이력</a:t>
            </a:r>
          </a:p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설정</a:t>
            </a:r>
          </a:p>
        </p:txBody>
      </p:sp>
      <p:sp>
        <p:nvSpPr>
          <p:cNvPr id="21" name="Rectangle 38">
            <a:extLst>
              <a:ext uri="{FF2B5EF4-FFF2-40B4-BE49-F238E27FC236}">
                <a16:creationId xmlns:a16="http://schemas.microsoft.com/office/drawing/2014/main" id="{DA915898-9042-925A-1D21-F13F566B6F29}"/>
              </a:ext>
            </a:extLst>
          </p:cNvPr>
          <p:cNvSpPr/>
          <p:nvPr/>
        </p:nvSpPr>
        <p:spPr>
          <a:xfrm>
            <a:off x="728683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추세·이벤트 이력</a:t>
            </a:r>
          </a:p>
        </p:txBody>
      </p:sp>
      <p:cxnSp>
        <p:nvCxnSpPr>
          <p:cNvPr id="44" name="Connector 39">
            <a:extLst>
              <a:ext uri="{FF2B5EF4-FFF2-40B4-BE49-F238E27FC236}">
                <a16:creationId xmlns:a16="http://schemas.microsoft.com/office/drawing/2014/main" id="{CE1849A2-F2C8-F79E-668C-86764B77036E}"/>
              </a:ext>
            </a:extLst>
          </p:cNvPr>
          <p:cNvCxnSpPr/>
          <p:nvPr/>
        </p:nvCxnSpPr>
        <p:spPr>
          <a:xfrm>
            <a:off x="797683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0">
            <a:extLst>
              <a:ext uri="{FF2B5EF4-FFF2-40B4-BE49-F238E27FC236}">
                <a16:creationId xmlns:a16="http://schemas.microsoft.com/office/drawing/2014/main" id="{9C332949-04C1-17C2-80CE-1F0B058CDA51}"/>
              </a:ext>
            </a:extLst>
          </p:cNvPr>
          <p:cNvSpPr/>
          <p:nvPr/>
        </p:nvSpPr>
        <p:spPr>
          <a:xfrm>
            <a:off x="728683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알림 설정</a:t>
            </a:r>
          </a:p>
        </p:txBody>
      </p:sp>
      <p:cxnSp>
        <p:nvCxnSpPr>
          <p:cNvPr id="46" name="Connector 41">
            <a:extLst>
              <a:ext uri="{FF2B5EF4-FFF2-40B4-BE49-F238E27FC236}">
                <a16:creationId xmlns:a16="http://schemas.microsoft.com/office/drawing/2014/main" id="{B4C8439D-A18A-3228-65AF-E055F4AEE28C}"/>
              </a:ext>
            </a:extLst>
          </p:cNvPr>
          <p:cNvCxnSpPr/>
          <p:nvPr/>
        </p:nvCxnSpPr>
        <p:spPr>
          <a:xfrm>
            <a:off x="797683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23">
            <a:extLst>
              <a:ext uri="{FF2B5EF4-FFF2-40B4-BE49-F238E27FC236}">
                <a16:creationId xmlns:a16="http://schemas.microsoft.com/office/drawing/2014/main" id="{32D27FE1-772F-4A8A-6D94-6BFC06E7020D}"/>
              </a:ext>
            </a:extLst>
          </p:cNvPr>
          <p:cNvCxnSpPr/>
          <p:nvPr/>
        </p:nvCxnSpPr>
        <p:spPr>
          <a:xfrm>
            <a:off x="793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0">
            <a:extLst>
              <a:ext uri="{FF2B5EF4-FFF2-40B4-BE49-F238E27FC236}">
                <a16:creationId xmlns:a16="http://schemas.microsoft.com/office/drawing/2014/main" id="{7E0AD3A4-B47B-32B0-1C49-EC09A5E9ADE1}"/>
              </a:ext>
            </a:extLst>
          </p:cNvPr>
          <p:cNvSpPr/>
          <p:nvPr/>
        </p:nvSpPr>
        <p:spPr>
          <a:xfrm>
            <a:off x="7286830" y="418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계정·테마 설정</a:t>
            </a:r>
          </a:p>
        </p:txBody>
      </p:sp>
      <p:cxnSp>
        <p:nvCxnSpPr>
          <p:cNvPr id="49" name="Connector 41">
            <a:extLst>
              <a:ext uri="{FF2B5EF4-FFF2-40B4-BE49-F238E27FC236}">
                <a16:creationId xmlns:a16="http://schemas.microsoft.com/office/drawing/2014/main" id="{EB4CED2F-D779-CD0C-6783-AE655414A04A}"/>
              </a:ext>
            </a:extLst>
          </p:cNvPr>
          <p:cNvCxnSpPr/>
          <p:nvPr/>
        </p:nvCxnSpPr>
        <p:spPr>
          <a:xfrm>
            <a:off x="7976830" y="410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09621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F497E-0588-A31A-F5E0-4A966E526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9911E60-D81D-FDAD-635C-B60432F5D9EF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21BDD0-F007-28A2-0094-D46C7129E4CA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B7F2A3-B015-4ACC-C852-DF867F67757F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IA 정보구조도-관리자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1C32B1C4-5BCB-BF0A-9137-21FE67DF2D30}"/>
              </a:ext>
            </a:extLst>
          </p:cNvPr>
          <p:cNvSpPr/>
          <p:nvPr/>
        </p:nvSpPr>
        <p:spPr>
          <a:xfrm>
            <a:off x="4263000" y="1951368"/>
            <a:ext cx="1380000" cy="310000"/>
          </a:xfrm>
          <a:prstGeom prst="rect">
            <a:avLst/>
          </a:prstGeom>
          <a:solidFill>
            <a:srgbClr val="262626"/>
          </a:solidFill>
          <a:ln w="952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관리자 로그인</a:t>
            </a:r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1D5FB3C0-8357-99B7-E15B-F1369CC6176A}"/>
              </a:ext>
            </a:extLst>
          </p:cNvPr>
          <p:cNvSpPr/>
          <p:nvPr/>
        </p:nvSpPr>
        <p:spPr>
          <a:xfrm>
            <a:off x="4263000" y="2441368"/>
            <a:ext cx="1380000" cy="310000"/>
          </a:xfrm>
          <a:prstGeom prst="rect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</a:rPr>
              <a:t>관리자 대시보드</a:t>
            </a:r>
          </a:p>
        </p:txBody>
      </p:sp>
      <p:cxnSp>
        <p:nvCxnSpPr>
          <p:cNvPr id="7" name="Connector 13">
            <a:extLst>
              <a:ext uri="{FF2B5EF4-FFF2-40B4-BE49-F238E27FC236}">
                <a16:creationId xmlns:a16="http://schemas.microsoft.com/office/drawing/2014/main" id="{B2841C28-DA64-8781-B015-312D71F4671B}"/>
              </a:ext>
            </a:extLst>
          </p:cNvPr>
          <p:cNvCxnSpPr/>
          <p:nvPr/>
        </p:nvCxnSpPr>
        <p:spPr>
          <a:xfrm>
            <a:off x="4953000" y="2261368"/>
            <a:ext cx="0" cy="1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14">
            <a:extLst>
              <a:ext uri="{FF2B5EF4-FFF2-40B4-BE49-F238E27FC236}">
                <a16:creationId xmlns:a16="http://schemas.microsoft.com/office/drawing/2014/main" id="{3B1A2674-5C59-45E1-CDF9-DB9407A379CD}"/>
              </a:ext>
            </a:extLst>
          </p:cNvPr>
          <p:cNvCxnSpPr/>
          <p:nvPr/>
        </p:nvCxnSpPr>
        <p:spPr>
          <a:xfrm>
            <a:off x="4953000" y="2751368"/>
            <a:ext cx="0" cy="15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5">
            <a:extLst>
              <a:ext uri="{FF2B5EF4-FFF2-40B4-BE49-F238E27FC236}">
                <a16:creationId xmlns:a16="http://schemas.microsoft.com/office/drawing/2014/main" id="{41098F59-E709-7C5C-C013-9D0C28474364}"/>
              </a:ext>
            </a:extLst>
          </p:cNvPr>
          <p:cNvCxnSpPr/>
          <p:nvPr/>
        </p:nvCxnSpPr>
        <p:spPr>
          <a:xfrm>
            <a:off x="1973000" y="2901368"/>
            <a:ext cx="596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6">
            <a:extLst>
              <a:ext uri="{FF2B5EF4-FFF2-40B4-BE49-F238E27FC236}">
                <a16:creationId xmlns:a16="http://schemas.microsoft.com/office/drawing/2014/main" id="{90D7F502-41C5-A06F-48EE-19551E5D6DA7}"/>
              </a:ext>
            </a:extLst>
          </p:cNvPr>
          <p:cNvSpPr/>
          <p:nvPr/>
        </p:nvSpPr>
        <p:spPr>
          <a:xfrm>
            <a:off x="128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유저 관리</a:t>
            </a:r>
          </a:p>
        </p:txBody>
      </p:sp>
      <p:cxnSp>
        <p:nvCxnSpPr>
          <p:cNvPr id="13" name="Connector 17">
            <a:extLst>
              <a:ext uri="{FF2B5EF4-FFF2-40B4-BE49-F238E27FC236}">
                <a16:creationId xmlns:a16="http://schemas.microsoft.com/office/drawing/2014/main" id="{03D0F550-84DD-AE43-DCB2-9CA392648FE8}"/>
              </a:ext>
            </a:extLst>
          </p:cNvPr>
          <p:cNvCxnSpPr/>
          <p:nvPr/>
        </p:nvCxnSpPr>
        <p:spPr>
          <a:xfrm>
            <a:off x="197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8">
            <a:extLst>
              <a:ext uri="{FF2B5EF4-FFF2-40B4-BE49-F238E27FC236}">
                <a16:creationId xmlns:a16="http://schemas.microsoft.com/office/drawing/2014/main" id="{66BAE11B-031E-E956-1BF4-AF408A78BD5D}"/>
              </a:ext>
            </a:extLst>
          </p:cNvPr>
          <p:cNvSpPr/>
          <p:nvPr/>
        </p:nvSpPr>
        <p:spPr>
          <a:xfrm>
            <a:off x="277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배터리 운영</a:t>
            </a:r>
          </a:p>
        </p:txBody>
      </p:sp>
      <p:cxnSp>
        <p:nvCxnSpPr>
          <p:cNvPr id="15" name="Connector 19">
            <a:extLst>
              <a:ext uri="{FF2B5EF4-FFF2-40B4-BE49-F238E27FC236}">
                <a16:creationId xmlns:a16="http://schemas.microsoft.com/office/drawing/2014/main" id="{4CB91893-5CB9-C361-9F6D-2177A8F2B0C7}"/>
              </a:ext>
            </a:extLst>
          </p:cNvPr>
          <p:cNvCxnSpPr/>
          <p:nvPr/>
        </p:nvCxnSpPr>
        <p:spPr>
          <a:xfrm>
            <a:off x="346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20">
            <a:extLst>
              <a:ext uri="{FF2B5EF4-FFF2-40B4-BE49-F238E27FC236}">
                <a16:creationId xmlns:a16="http://schemas.microsoft.com/office/drawing/2014/main" id="{491F56C8-3724-85D9-C584-348F09050659}"/>
              </a:ext>
            </a:extLst>
          </p:cNvPr>
          <p:cNvSpPr/>
          <p:nvPr/>
        </p:nvSpPr>
        <p:spPr>
          <a:xfrm>
            <a:off x="426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통계</a:t>
            </a:r>
            <a:r>
              <a:rPr lang="en-US" altLang="ko-KR" sz="900" b="1" dirty="0">
                <a:solidFill>
                  <a:srgbClr val="FFFFFF"/>
                </a:solidFill>
              </a:rPr>
              <a:t>/</a:t>
            </a:r>
            <a:r>
              <a:rPr lang="ko-KR" altLang="en-US" sz="900" b="1" dirty="0">
                <a:solidFill>
                  <a:srgbClr val="FFFFFF"/>
                </a:solidFill>
              </a:rPr>
              <a:t>헬스</a:t>
            </a:r>
          </a:p>
        </p:txBody>
      </p:sp>
      <p:cxnSp>
        <p:nvCxnSpPr>
          <p:cNvPr id="17" name="Connector 21">
            <a:extLst>
              <a:ext uri="{FF2B5EF4-FFF2-40B4-BE49-F238E27FC236}">
                <a16:creationId xmlns:a16="http://schemas.microsoft.com/office/drawing/2014/main" id="{CB1A12F5-D772-4187-16E8-16B841B35290}"/>
              </a:ext>
            </a:extLst>
          </p:cNvPr>
          <p:cNvCxnSpPr/>
          <p:nvPr/>
        </p:nvCxnSpPr>
        <p:spPr>
          <a:xfrm>
            <a:off x="495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22">
            <a:extLst>
              <a:ext uri="{FF2B5EF4-FFF2-40B4-BE49-F238E27FC236}">
                <a16:creationId xmlns:a16="http://schemas.microsoft.com/office/drawing/2014/main" id="{83F4712B-C0DA-270C-8C2B-B1AB80723D1A}"/>
              </a:ext>
            </a:extLst>
          </p:cNvPr>
          <p:cNvSpPr/>
          <p:nvPr/>
        </p:nvSpPr>
        <p:spPr>
          <a:xfrm>
            <a:off x="575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공지 관리</a:t>
            </a:r>
          </a:p>
        </p:txBody>
      </p:sp>
      <p:cxnSp>
        <p:nvCxnSpPr>
          <p:cNvPr id="19" name="Connector 23">
            <a:extLst>
              <a:ext uri="{FF2B5EF4-FFF2-40B4-BE49-F238E27FC236}">
                <a16:creationId xmlns:a16="http://schemas.microsoft.com/office/drawing/2014/main" id="{673210DD-6A48-3BD5-5CED-3F08FB1036C9}"/>
              </a:ext>
            </a:extLst>
          </p:cNvPr>
          <p:cNvCxnSpPr/>
          <p:nvPr/>
        </p:nvCxnSpPr>
        <p:spPr>
          <a:xfrm>
            <a:off x="644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6">
            <a:extLst>
              <a:ext uri="{FF2B5EF4-FFF2-40B4-BE49-F238E27FC236}">
                <a16:creationId xmlns:a16="http://schemas.microsoft.com/office/drawing/2014/main" id="{453730FD-D992-27D5-B2DF-B6561EC6D45C}"/>
              </a:ext>
            </a:extLst>
          </p:cNvPr>
          <p:cNvSpPr/>
          <p:nvPr/>
        </p:nvSpPr>
        <p:spPr>
          <a:xfrm>
            <a:off x="128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목록·검색·상세</a:t>
            </a:r>
          </a:p>
        </p:txBody>
      </p:sp>
      <p:cxnSp>
        <p:nvCxnSpPr>
          <p:cNvPr id="23" name="Connector 27">
            <a:extLst>
              <a:ext uri="{FF2B5EF4-FFF2-40B4-BE49-F238E27FC236}">
                <a16:creationId xmlns:a16="http://schemas.microsoft.com/office/drawing/2014/main" id="{FB079B91-1207-5E0A-D9B7-3CECDE5D89C8}"/>
              </a:ext>
            </a:extLst>
          </p:cNvPr>
          <p:cNvCxnSpPr/>
          <p:nvPr/>
        </p:nvCxnSpPr>
        <p:spPr>
          <a:xfrm>
            <a:off x="197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8">
            <a:extLst>
              <a:ext uri="{FF2B5EF4-FFF2-40B4-BE49-F238E27FC236}">
                <a16:creationId xmlns:a16="http://schemas.microsoft.com/office/drawing/2014/main" id="{B73AE532-13D3-822A-2867-22E6CFFB61BE}"/>
              </a:ext>
            </a:extLst>
          </p:cNvPr>
          <p:cNvSpPr/>
          <p:nvPr/>
        </p:nvSpPr>
        <p:spPr>
          <a:xfrm>
            <a:off x="128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정지·해제/비밀번호</a:t>
            </a:r>
          </a:p>
        </p:txBody>
      </p:sp>
      <p:cxnSp>
        <p:nvCxnSpPr>
          <p:cNvPr id="25" name="Connector 29">
            <a:extLst>
              <a:ext uri="{FF2B5EF4-FFF2-40B4-BE49-F238E27FC236}">
                <a16:creationId xmlns:a16="http://schemas.microsoft.com/office/drawing/2014/main" id="{5934DE60-50C9-993E-2FBA-F0DD79EE5486}"/>
              </a:ext>
            </a:extLst>
          </p:cNvPr>
          <p:cNvCxnSpPr/>
          <p:nvPr/>
        </p:nvCxnSpPr>
        <p:spPr>
          <a:xfrm>
            <a:off x="197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30">
            <a:extLst>
              <a:ext uri="{FF2B5EF4-FFF2-40B4-BE49-F238E27FC236}">
                <a16:creationId xmlns:a16="http://schemas.microsoft.com/office/drawing/2014/main" id="{1E328C3E-05C0-9313-27FE-583407157790}"/>
              </a:ext>
            </a:extLst>
          </p:cNvPr>
          <p:cNvSpPr/>
          <p:nvPr/>
        </p:nvSpPr>
        <p:spPr>
          <a:xfrm>
            <a:off x="277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전체 배터리 목록</a:t>
            </a:r>
          </a:p>
        </p:txBody>
      </p:sp>
      <p:cxnSp>
        <p:nvCxnSpPr>
          <p:cNvPr id="27" name="Connector 31">
            <a:extLst>
              <a:ext uri="{FF2B5EF4-FFF2-40B4-BE49-F238E27FC236}">
                <a16:creationId xmlns:a16="http://schemas.microsoft.com/office/drawing/2014/main" id="{04BD29D4-6848-26C5-95E8-34C615CFBCDD}"/>
              </a:ext>
            </a:extLst>
          </p:cNvPr>
          <p:cNvCxnSpPr/>
          <p:nvPr/>
        </p:nvCxnSpPr>
        <p:spPr>
          <a:xfrm>
            <a:off x="346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32">
            <a:extLst>
              <a:ext uri="{FF2B5EF4-FFF2-40B4-BE49-F238E27FC236}">
                <a16:creationId xmlns:a16="http://schemas.microsoft.com/office/drawing/2014/main" id="{DA6EAACD-D4F2-03E9-6AE4-A3F7354B24B4}"/>
              </a:ext>
            </a:extLst>
          </p:cNvPr>
          <p:cNvSpPr/>
          <p:nvPr/>
        </p:nvSpPr>
        <p:spPr>
          <a:xfrm>
            <a:off x="277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상태·메모 변경</a:t>
            </a:r>
          </a:p>
        </p:txBody>
      </p:sp>
      <p:cxnSp>
        <p:nvCxnSpPr>
          <p:cNvPr id="29" name="Connector 33">
            <a:extLst>
              <a:ext uri="{FF2B5EF4-FFF2-40B4-BE49-F238E27FC236}">
                <a16:creationId xmlns:a16="http://schemas.microsoft.com/office/drawing/2014/main" id="{4AB7B5A3-A3C3-13FB-03C6-A011414581E5}"/>
              </a:ext>
            </a:extLst>
          </p:cNvPr>
          <p:cNvCxnSpPr/>
          <p:nvPr/>
        </p:nvCxnSpPr>
        <p:spPr>
          <a:xfrm>
            <a:off x="346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34">
            <a:extLst>
              <a:ext uri="{FF2B5EF4-FFF2-40B4-BE49-F238E27FC236}">
                <a16:creationId xmlns:a16="http://schemas.microsoft.com/office/drawing/2014/main" id="{B438F7BF-B77A-B4AA-D844-53C4ED1FC725}"/>
              </a:ext>
            </a:extLst>
          </p:cNvPr>
          <p:cNvSpPr/>
          <p:nvPr/>
        </p:nvSpPr>
        <p:spPr>
          <a:xfrm>
            <a:off x="426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dirty="0">
                <a:solidFill>
                  <a:srgbClr val="262626"/>
                </a:solidFill>
              </a:rPr>
              <a:t>상태·모드 분포</a:t>
            </a:r>
          </a:p>
        </p:txBody>
      </p:sp>
      <p:cxnSp>
        <p:nvCxnSpPr>
          <p:cNvPr id="31" name="Connector 35">
            <a:extLst>
              <a:ext uri="{FF2B5EF4-FFF2-40B4-BE49-F238E27FC236}">
                <a16:creationId xmlns:a16="http://schemas.microsoft.com/office/drawing/2014/main" id="{0647B441-EFFE-6DC7-FC1A-DD108BDEA9DB}"/>
              </a:ext>
            </a:extLst>
          </p:cNvPr>
          <p:cNvCxnSpPr/>
          <p:nvPr/>
        </p:nvCxnSpPr>
        <p:spPr>
          <a:xfrm>
            <a:off x="495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6">
            <a:extLst>
              <a:ext uri="{FF2B5EF4-FFF2-40B4-BE49-F238E27FC236}">
                <a16:creationId xmlns:a16="http://schemas.microsoft.com/office/drawing/2014/main" id="{BCEF8ADD-30B8-F4B1-5C8C-3A0AC1D5DFF9}"/>
              </a:ext>
            </a:extLst>
          </p:cNvPr>
          <p:cNvSpPr/>
          <p:nvPr/>
        </p:nvSpPr>
        <p:spPr>
          <a:xfrm>
            <a:off x="426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디바이스·시스템 헬스</a:t>
            </a:r>
          </a:p>
        </p:txBody>
      </p:sp>
      <p:cxnSp>
        <p:nvCxnSpPr>
          <p:cNvPr id="33" name="Connector 37">
            <a:extLst>
              <a:ext uri="{FF2B5EF4-FFF2-40B4-BE49-F238E27FC236}">
                <a16:creationId xmlns:a16="http://schemas.microsoft.com/office/drawing/2014/main" id="{C710C81F-BD9B-C820-BB4E-940D1B6BD59D}"/>
              </a:ext>
            </a:extLst>
          </p:cNvPr>
          <p:cNvCxnSpPr/>
          <p:nvPr/>
        </p:nvCxnSpPr>
        <p:spPr>
          <a:xfrm>
            <a:off x="495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8">
            <a:extLst>
              <a:ext uri="{FF2B5EF4-FFF2-40B4-BE49-F238E27FC236}">
                <a16:creationId xmlns:a16="http://schemas.microsoft.com/office/drawing/2014/main" id="{845C7993-69EF-00DB-3108-0B2863618DEA}"/>
              </a:ext>
            </a:extLst>
          </p:cNvPr>
          <p:cNvSpPr/>
          <p:nvPr/>
        </p:nvSpPr>
        <p:spPr>
          <a:xfrm>
            <a:off x="575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800" b="0" dirty="0" err="1">
                <a:solidFill>
                  <a:srgbClr val="262626"/>
                </a:solidFill>
              </a:rPr>
              <a:t>작성·수정·게시</a:t>
            </a:r>
          </a:p>
        </p:txBody>
      </p:sp>
      <p:cxnSp>
        <p:nvCxnSpPr>
          <p:cNvPr id="35" name="Connector 39">
            <a:extLst>
              <a:ext uri="{FF2B5EF4-FFF2-40B4-BE49-F238E27FC236}">
                <a16:creationId xmlns:a16="http://schemas.microsoft.com/office/drawing/2014/main" id="{6B980F9E-37F0-CA42-93EF-D1A8126E87C9}"/>
              </a:ext>
            </a:extLst>
          </p:cNvPr>
          <p:cNvCxnSpPr/>
          <p:nvPr/>
        </p:nvCxnSpPr>
        <p:spPr>
          <a:xfrm>
            <a:off x="644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40">
            <a:extLst>
              <a:ext uri="{FF2B5EF4-FFF2-40B4-BE49-F238E27FC236}">
                <a16:creationId xmlns:a16="http://schemas.microsoft.com/office/drawing/2014/main" id="{D3D79B38-5B5C-C172-9F25-535BFE898696}"/>
              </a:ext>
            </a:extLst>
          </p:cNvPr>
          <p:cNvSpPr/>
          <p:nvPr/>
        </p:nvSpPr>
        <p:spPr>
          <a:xfrm>
            <a:off x="575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알림 발송 선택</a:t>
            </a:r>
          </a:p>
        </p:txBody>
      </p:sp>
      <p:cxnSp>
        <p:nvCxnSpPr>
          <p:cNvPr id="37" name="Connector 41">
            <a:extLst>
              <a:ext uri="{FF2B5EF4-FFF2-40B4-BE49-F238E27FC236}">
                <a16:creationId xmlns:a16="http://schemas.microsoft.com/office/drawing/2014/main" id="{4F6F925E-8765-5654-D15C-58C067938D43}"/>
              </a:ext>
            </a:extLst>
          </p:cNvPr>
          <p:cNvCxnSpPr/>
          <p:nvPr/>
        </p:nvCxnSpPr>
        <p:spPr>
          <a:xfrm>
            <a:off x="644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22">
            <a:extLst>
              <a:ext uri="{FF2B5EF4-FFF2-40B4-BE49-F238E27FC236}">
                <a16:creationId xmlns:a16="http://schemas.microsoft.com/office/drawing/2014/main" id="{81498E04-F99A-E0BF-719A-51E5DFB00B0A}"/>
              </a:ext>
            </a:extLst>
          </p:cNvPr>
          <p:cNvSpPr/>
          <p:nvPr/>
        </p:nvSpPr>
        <p:spPr>
          <a:xfrm>
            <a:off x="728683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감사 로그</a:t>
            </a:r>
          </a:p>
        </p:txBody>
      </p:sp>
      <p:sp>
        <p:nvSpPr>
          <p:cNvPr id="21" name="Rectangle 38">
            <a:extLst>
              <a:ext uri="{FF2B5EF4-FFF2-40B4-BE49-F238E27FC236}">
                <a16:creationId xmlns:a16="http://schemas.microsoft.com/office/drawing/2014/main" id="{8E916DC0-220F-511A-B6AB-303AA3B3FA58}"/>
              </a:ext>
            </a:extLst>
          </p:cNvPr>
          <p:cNvSpPr/>
          <p:nvPr/>
        </p:nvSpPr>
        <p:spPr>
          <a:xfrm>
            <a:off x="728683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행위·대상 필터</a:t>
            </a:r>
          </a:p>
        </p:txBody>
      </p:sp>
      <p:cxnSp>
        <p:nvCxnSpPr>
          <p:cNvPr id="44" name="Connector 39">
            <a:extLst>
              <a:ext uri="{FF2B5EF4-FFF2-40B4-BE49-F238E27FC236}">
                <a16:creationId xmlns:a16="http://schemas.microsoft.com/office/drawing/2014/main" id="{255A9D36-139D-5B43-4CFA-EEACEF7BC3E1}"/>
              </a:ext>
            </a:extLst>
          </p:cNvPr>
          <p:cNvCxnSpPr/>
          <p:nvPr/>
        </p:nvCxnSpPr>
        <p:spPr>
          <a:xfrm>
            <a:off x="797683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0">
            <a:extLst>
              <a:ext uri="{FF2B5EF4-FFF2-40B4-BE49-F238E27FC236}">
                <a16:creationId xmlns:a16="http://schemas.microsoft.com/office/drawing/2014/main" id="{AAAB91DA-568F-D422-4C30-A19ACDF36EFF}"/>
              </a:ext>
            </a:extLst>
          </p:cNvPr>
          <p:cNvSpPr/>
          <p:nvPr/>
        </p:nvSpPr>
        <p:spPr>
          <a:xfrm>
            <a:off x="728683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로그 상세 조회</a:t>
            </a:r>
          </a:p>
        </p:txBody>
      </p:sp>
      <p:cxnSp>
        <p:nvCxnSpPr>
          <p:cNvPr id="46" name="Connector 41">
            <a:extLst>
              <a:ext uri="{FF2B5EF4-FFF2-40B4-BE49-F238E27FC236}">
                <a16:creationId xmlns:a16="http://schemas.microsoft.com/office/drawing/2014/main" id="{B09E07A3-BA8F-C9E6-369A-A0F82BF1A6B6}"/>
              </a:ext>
            </a:extLst>
          </p:cNvPr>
          <p:cNvCxnSpPr/>
          <p:nvPr/>
        </p:nvCxnSpPr>
        <p:spPr>
          <a:xfrm>
            <a:off x="797683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23">
            <a:extLst>
              <a:ext uri="{FF2B5EF4-FFF2-40B4-BE49-F238E27FC236}">
                <a16:creationId xmlns:a16="http://schemas.microsoft.com/office/drawing/2014/main" id="{7AC60A6D-426C-7E76-C3C4-506E6BF0ACBB}"/>
              </a:ext>
            </a:extLst>
          </p:cNvPr>
          <p:cNvCxnSpPr/>
          <p:nvPr/>
        </p:nvCxnSpPr>
        <p:spPr>
          <a:xfrm>
            <a:off x="793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0">
            <a:extLst>
              <a:ext uri="{FF2B5EF4-FFF2-40B4-BE49-F238E27FC236}">
                <a16:creationId xmlns:a16="http://schemas.microsoft.com/office/drawing/2014/main" id="{237AA611-4977-18EE-62D0-84FBD9C167C3}"/>
              </a:ext>
            </a:extLst>
          </p:cNvPr>
          <p:cNvSpPr/>
          <p:nvPr/>
        </p:nvSpPr>
        <p:spPr>
          <a:xfrm>
            <a:off x="7286830" y="418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수정·삭제 차단</a:t>
            </a:r>
          </a:p>
        </p:txBody>
      </p:sp>
      <p:cxnSp>
        <p:nvCxnSpPr>
          <p:cNvPr id="49" name="Connector 41">
            <a:extLst>
              <a:ext uri="{FF2B5EF4-FFF2-40B4-BE49-F238E27FC236}">
                <a16:creationId xmlns:a16="http://schemas.microsoft.com/office/drawing/2014/main" id="{91A1813F-4A2F-AF1D-112E-59EC85E58496}"/>
              </a:ext>
            </a:extLst>
          </p:cNvPr>
          <p:cNvCxnSpPr/>
          <p:nvPr/>
        </p:nvCxnSpPr>
        <p:spPr>
          <a:xfrm>
            <a:off x="7976830" y="410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19993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83742" y="216166"/>
            <a:ext cx="7540673" cy="686007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00555" y="1518978"/>
            <a:ext cx="168022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92"/>
          </a:p>
        </p:txBody>
      </p:sp>
      <p:sp>
        <p:nvSpPr>
          <p:cNvPr id="4" name="Text 1"/>
          <p:cNvSpPr/>
          <p:nvPr/>
        </p:nvSpPr>
        <p:spPr>
          <a:xfrm>
            <a:off x="8031822" y="1524189"/>
            <a:ext cx="147177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92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492" dirty="0"/>
          </a:p>
        </p:txBody>
      </p:sp>
      <p:sp>
        <p:nvSpPr>
          <p:cNvPr id="5" name="Shape 2"/>
          <p:cNvSpPr/>
          <p:nvPr/>
        </p:nvSpPr>
        <p:spPr>
          <a:xfrm>
            <a:off x="9345056" y="1518978"/>
            <a:ext cx="168022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92"/>
          </a:p>
        </p:txBody>
      </p:sp>
      <p:sp>
        <p:nvSpPr>
          <p:cNvPr id="6" name="Text 3"/>
          <p:cNvSpPr/>
          <p:nvPr/>
        </p:nvSpPr>
        <p:spPr>
          <a:xfrm>
            <a:off x="9376324" y="1524189"/>
            <a:ext cx="147177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92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492" dirty="0"/>
          </a:p>
        </p:txBody>
      </p:sp>
      <p:sp>
        <p:nvSpPr>
          <p:cNvPr id="7" name="Shape 4"/>
          <p:cNvSpPr/>
          <p:nvPr/>
        </p:nvSpPr>
        <p:spPr>
          <a:xfrm>
            <a:off x="9427805" y="1836864"/>
            <a:ext cx="273509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92"/>
          </a:p>
        </p:txBody>
      </p:sp>
      <p:sp>
        <p:nvSpPr>
          <p:cNvPr id="8" name="Text 5"/>
          <p:cNvSpPr/>
          <p:nvPr/>
        </p:nvSpPr>
        <p:spPr>
          <a:xfrm>
            <a:off x="9459072" y="1842075"/>
            <a:ext cx="252664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92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재로그인</a:t>
            </a:r>
            <a:endParaRPr lang="en-US" sz="492" dirty="0"/>
          </a:p>
        </p:txBody>
      </p:sp>
      <p:sp>
        <p:nvSpPr>
          <p:cNvPr id="9" name="Shape 6"/>
          <p:cNvSpPr/>
          <p:nvPr/>
        </p:nvSpPr>
        <p:spPr>
          <a:xfrm>
            <a:off x="3534049" y="4697838"/>
            <a:ext cx="471210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92"/>
          </a:p>
        </p:txBody>
      </p:sp>
      <p:sp>
        <p:nvSpPr>
          <p:cNvPr id="10" name="Text 7"/>
          <p:cNvSpPr/>
          <p:nvPr/>
        </p:nvSpPr>
        <p:spPr>
          <a:xfrm>
            <a:off x="3565316" y="4703049"/>
            <a:ext cx="450365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92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battery_id 발급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6136373" y="6074625"/>
            <a:ext cx="154709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92"/>
          </a:p>
        </p:txBody>
      </p:sp>
      <p:sp>
        <p:nvSpPr>
          <p:cNvPr id="12" name="Text 9"/>
          <p:cNvSpPr/>
          <p:nvPr/>
        </p:nvSpPr>
        <p:spPr>
          <a:xfrm>
            <a:off x="6167641" y="6079836"/>
            <a:ext cx="133864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92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7037675" y="5651496"/>
            <a:ext cx="134352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92"/>
          </a:p>
        </p:txBody>
      </p:sp>
      <p:sp>
        <p:nvSpPr>
          <p:cNvPr id="14" name="Text 11"/>
          <p:cNvSpPr/>
          <p:nvPr/>
        </p:nvSpPr>
        <p:spPr>
          <a:xfrm>
            <a:off x="7068943" y="5656707"/>
            <a:ext cx="113507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92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492" dirty="0"/>
          </a:p>
        </p:txBody>
      </p:sp>
      <p:sp>
        <p:nvSpPr>
          <p:cNvPr id="16" name="Text 13"/>
          <p:cNvSpPr/>
          <p:nvPr/>
        </p:nvSpPr>
        <p:spPr>
          <a:xfrm>
            <a:off x="5309646" y="516245"/>
            <a:ext cx="16553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5791617" y="110207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18" name="Text 15"/>
          <p:cNvSpPr/>
          <p:nvPr/>
        </p:nvSpPr>
        <p:spPr>
          <a:xfrm>
            <a:off x="6028770" y="1204633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 화면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3373599" y="173785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20" name="Text 17"/>
          <p:cNvSpPr/>
          <p:nvPr/>
        </p:nvSpPr>
        <p:spPr>
          <a:xfrm>
            <a:off x="3610751" y="1840406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로그인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4582608" y="173785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22" name="Text 19"/>
          <p:cNvSpPr/>
          <p:nvPr/>
        </p:nvSpPr>
        <p:spPr>
          <a:xfrm>
            <a:off x="4684186" y="1840406"/>
            <a:ext cx="6410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 로그인 (OAuth)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7000626" y="173785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24" name="Text 21"/>
          <p:cNvSpPr/>
          <p:nvPr/>
        </p:nvSpPr>
        <p:spPr>
          <a:xfrm>
            <a:off x="7278044" y="1840406"/>
            <a:ext cx="289387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회원가입</a:t>
            </a:r>
            <a:endParaRPr lang="en-US" sz="492" dirty="0"/>
          </a:p>
        </p:txBody>
      </p:sp>
      <p:sp>
        <p:nvSpPr>
          <p:cNvPr id="25" name="Shape 22"/>
          <p:cNvSpPr/>
          <p:nvPr/>
        </p:nvSpPr>
        <p:spPr>
          <a:xfrm>
            <a:off x="8209635" y="173785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26" name="Text 23"/>
          <p:cNvSpPr/>
          <p:nvPr/>
        </p:nvSpPr>
        <p:spPr>
          <a:xfrm>
            <a:off x="8334380" y="1840406"/>
            <a:ext cx="594734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계정·비밀번호 찾기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3978103" y="237362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28" name="Text 25"/>
          <p:cNvSpPr/>
          <p:nvPr/>
        </p:nvSpPr>
        <p:spPr>
          <a:xfrm>
            <a:off x="4152721" y="2476178"/>
            <a:ext cx="494987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토큰 발급 / 갱신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8209635" y="237362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30" name="Text 27"/>
          <p:cNvSpPr/>
          <p:nvPr/>
        </p:nvSpPr>
        <p:spPr>
          <a:xfrm>
            <a:off x="8317647" y="2476178"/>
            <a:ext cx="62819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로그아웃 · 세션 만료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3978103" y="300939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32" name="Text 29"/>
          <p:cNvSpPr/>
          <p:nvPr/>
        </p:nvSpPr>
        <p:spPr>
          <a:xfrm>
            <a:off x="4184314" y="3111950"/>
            <a:ext cx="43180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관리</a:t>
            </a:r>
            <a:endParaRPr lang="en-US" sz="492" dirty="0"/>
          </a:p>
        </p:txBody>
      </p:sp>
      <p:sp>
        <p:nvSpPr>
          <p:cNvPr id="33" name="Shape 30"/>
          <p:cNvSpPr/>
          <p:nvPr/>
        </p:nvSpPr>
        <p:spPr>
          <a:xfrm>
            <a:off x="3978103" y="364516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34" name="Text 31"/>
          <p:cNvSpPr/>
          <p:nvPr/>
        </p:nvSpPr>
        <p:spPr>
          <a:xfrm>
            <a:off x="4090796" y="3747722"/>
            <a:ext cx="61883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등록 / 선택</a:t>
            </a:r>
            <a:endParaRPr lang="en-US" sz="492" dirty="0"/>
          </a:p>
        </p:txBody>
      </p:sp>
      <p:sp>
        <p:nvSpPr>
          <p:cNvPr id="35" name="Shape 32"/>
          <p:cNvSpPr/>
          <p:nvPr/>
        </p:nvSpPr>
        <p:spPr>
          <a:xfrm>
            <a:off x="5791617" y="428093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36" name="Text 33"/>
          <p:cNvSpPr/>
          <p:nvPr/>
        </p:nvSpPr>
        <p:spPr>
          <a:xfrm>
            <a:off x="5966845" y="4383494"/>
            <a:ext cx="49372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자산관리</a:t>
            </a:r>
            <a:endParaRPr lang="en-US" sz="492" dirty="0"/>
          </a:p>
        </p:txBody>
      </p:sp>
      <p:sp>
        <p:nvSpPr>
          <p:cNvPr id="37" name="Shape 34"/>
          <p:cNvSpPr/>
          <p:nvPr/>
        </p:nvSpPr>
        <p:spPr>
          <a:xfrm>
            <a:off x="3978103" y="491671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38" name="Text 35"/>
          <p:cNvSpPr/>
          <p:nvPr/>
        </p:nvSpPr>
        <p:spPr>
          <a:xfrm>
            <a:off x="4175032" y="5019266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배터리 등록</a:t>
            </a:r>
            <a:endParaRPr lang="en-US" sz="492" dirty="0"/>
          </a:p>
        </p:txBody>
      </p:sp>
      <p:sp>
        <p:nvSpPr>
          <p:cNvPr id="39" name="Shape 36"/>
          <p:cNvSpPr/>
          <p:nvPr/>
        </p:nvSpPr>
        <p:spPr>
          <a:xfrm>
            <a:off x="5791617" y="491671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40" name="Text 37"/>
          <p:cNvSpPr/>
          <p:nvPr/>
        </p:nvSpPr>
        <p:spPr>
          <a:xfrm>
            <a:off x="5926621" y="5019266"/>
            <a:ext cx="574214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저장된 배터리 선택</a:t>
            </a:r>
            <a:endParaRPr lang="en-US" sz="492" dirty="0"/>
          </a:p>
        </p:txBody>
      </p:sp>
      <p:sp>
        <p:nvSpPr>
          <p:cNvPr id="41" name="Shape 38"/>
          <p:cNvSpPr/>
          <p:nvPr/>
        </p:nvSpPr>
        <p:spPr>
          <a:xfrm>
            <a:off x="7605131" y="555248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42" name="Text 39"/>
          <p:cNvSpPr/>
          <p:nvPr/>
        </p:nvSpPr>
        <p:spPr>
          <a:xfrm>
            <a:off x="7748766" y="5655038"/>
            <a:ext cx="55691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상세 / 이력</a:t>
            </a:r>
            <a:endParaRPr lang="en-US" sz="492" dirty="0"/>
          </a:p>
        </p:txBody>
      </p:sp>
      <p:sp>
        <p:nvSpPr>
          <p:cNvPr id="43" name="Shape 40"/>
          <p:cNvSpPr/>
          <p:nvPr/>
        </p:nvSpPr>
        <p:spPr>
          <a:xfrm>
            <a:off x="5822884" y="5469102"/>
            <a:ext cx="781687" cy="458590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492"/>
          </a:p>
        </p:txBody>
      </p:sp>
      <p:sp>
        <p:nvSpPr>
          <p:cNvPr id="44" name="Text 41"/>
          <p:cNvSpPr/>
          <p:nvPr/>
        </p:nvSpPr>
        <p:spPr>
          <a:xfrm>
            <a:off x="6069971" y="5658376"/>
            <a:ext cx="287474" cy="100886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시작</a:t>
            </a:r>
            <a:endParaRPr lang="en-US" sz="492" dirty="0"/>
          </a:p>
        </p:txBody>
      </p:sp>
      <p:sp>
        <p:nvSpPr>
          <p:cNvPr id="45" name="Shape 42"/>
          <p:cNvSpPr/>
          <p:nvPr/>
        </p:nvSpPr>
        <p:spPr>
          <a:xfrm>
            <a:off x="5562322" y="6315400"/>
            <a:ext cx="1302812" cy="291830"/>
          </a:xfrm>
          <a:prstGeom prst="roundRect">
            <a:avLst>
              <a:gd name="adj" fmla="val 7143"/>
            </a:avLst>
          </a:prstGeom>
          <a:solidFill>
            <a:srgbClr val="0F172A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46" name="Text 43"/>
          <p:cNvSpPr/>
          <p:nvPr/>
        </p:nvSpPr>
        <p:spPr>
          <a:xfrm>
            <a:off x="5682901" y="6417956"/>
            <a:ext cx="1061653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세션 준비 → 실시간 대시보드</a:t>
            </a:r>
            <a:endParaRPr lang="en-US" sz="492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C334CEC-EEE8-3BFF-185D-0E4FAE7D4491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F9238E-89A7-FF3E-71A6-7CCF24689D99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Flow chart</a:t>
            </a:r>
            <a:r>
              <a:rPr lang="ko-KR" altLang="en-US" b="1" dirty="0"/>
              <a:t> </a:t>
            </a:r>
            <a:r>
              <a:rPr lang="en-US" altLang="ko-KR" b="1" dirty="0"/>
              <a:t>-</a:t>
            </a:r>
            <a:r>
              <a:rPr lang="ko-KR" altLang="en-US" b="1" dirty="0"/>
              <a:t> </a:t>
            </a:r>
            <a:r>
              <a:rPr lang="en-US" altLang="ko-KR" b="1" dirty="0"/>
              <a:t>user</a:t>
            </a:r>
            <a:endParaRPr lang="ko-KR" altLang="en-US" b="1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E3314AA-947D-89BB-09B8-BFB002EBC5F8}"/>
              </a:ext>
            </a:extLst>
          </p:cNvPr>
          <p:cNvSpPr/>
          <p:nvPr/>
        </p:nvSpPr>
        <p:spPr>
          <a:xfrm>
            <a:off x="5966845" y="695538"/>
            <a:ext cx="533949" cy="396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1" name="Text 1">
            <a:extLst>
              <a:ext uri="{FF2B5EF4-FFF2-40B4-BE49-F238E27FC236}">
                <a16:creationId xmlns:a16="http://schemas.microsoft.com/office/drawing/2014/main" id="{BE4FAA45-8319-ACEA-5364-41D0BAE79B82}"/>
              </a:ext>
            </a:extLst>
          </p:cNvPr>
          <p:cNvSpPr/>
          <p:nvPr/>
        </p:nvSpPr>
        <p:spPr>
          <a:xfrm>
            <a:off x="386307" y="1341885"/>
            <a:ext cx="3106945" cy="166760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903" b="1" kern="0" spc="72" dirty="0">
                <a:solidFill>
                  <a:srgbClr val="1F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LEGEND</a:t>
            </a:r>
            <a:endParaRPr lang="en-US" sz="903" dirty="0"/>
          </a:p>
        </p:txBody>
      </p:sp>
      <p:sp>
        <p:nvSpPr>
          <p:cNvPr id="52" name="Shape 2">
            <a:extLst>
              <a:ext uri="{FF2B5EF4-FFF2-40B4-BE49-F238E27FC236}">
                <a16:creationId xmlns:a16="http://schemas.microsoft.com/office/drawing/2014/main" id="{C7BA31F9-C60A-9A50-79FD-2F85279B6413}"/>
              </a:ext>
            </a:extLst>
          </p:cNvPr>
          <p:cNvSpPr/>
          <p:nvPr/>
        </p:nvSpPr>
        <p:spPr>
          <a:xfrm>
            <a:off x="386307" y="1664982"/>
            <a:ext cx="1250699" cy="416900"/>
          </a:xfrm>
          <a:prstGeom prst="roundRect">
            <a:avLst>
              <a:gd name="adj" fmla="val 50000"/>
            </a:avLst>
          </a:prstGeom>
          <a:solidFill>
            <a:srgbClr val="1E1B4B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3" name="Text 3">
            <a:extLst>
              <a:ext uri="{FF2B5EF4-FFF2-40B4-BE49-F238E27FC236}">
                <a16:creationId xmlns:a16="http://schemas.microsoft.com/office/drawing/2014/main" id="{A0F7BB90-6A68-9A0A-9052-5EB7A587C7A5}"/>
              </a:ext>
            </a:extLst>
          </p:cNvPr>
          <p:cNvSpPr/>
          <p:nvPr/>
        </p:nvSpPr>
        <p:spPr>
          <a:xfrm>
            <a:off x="893345" y="1816109"/>
            <a:ext cx="278313" cy="135492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615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START</a:t>
            </a:r>
            <a:endParaRPr lang="en-US" sz="615" dirty="0"/>
          </a:p>
        </p:txBody>
      </p:sp>
      <p:sp>
        <p:nvSpPr>
          <p:cNvPr id="54" name="Text 4">
            <a:extLst>
              <a:ext uri="{FF2B5EF4-FFF2-40B4-BE49-F238E27FC236}">
                <a16:creationId xmlns:a16="http://schemas.microsoft.com/office/drawing/2014/main" id="{72F53C32-C638-5A01-329D-4859B5C39539}"/>
              </a:ext>
            </a:extLst>
          </p:cNvPr>
          <p:cNvSpPr/>
          <p:nvPr/>
        </p:nvSpPr>
        <p:spPr>
          <a:xfrm>
            <a:off x="1866301" y="1790052"/>
            <a:ext cx="250384" cy="187605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821" b="1" kern="0" spc="-9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821" dirty="0"/>
          </a:p>
        </p:txBody>
      </p:sp>
      <p:sp>
        <p:nvSpPr>
          <p:cNvPr id="55" name="Shape 5">
            <a:extLst>
              <a:ext uri="{FF2B5EF4-FFF2-40B4-BE49-F238E27FC236}">
                <a16:creationId xmlns:a16="http://schemas.microsoft.com/office/drawing/2014/main" id="{FE7B7348-B0CE-636A-19CC-C47440DB86FB}"/>
              </a:ext>
            </a:extLst>
          </p:cNvPr>
          <p:cNvSpPr/>
          <p:nvPr/>
        </p:nvSpPr>
        <p:spPr>
          <a:xfrm>
            <a:off x="386307" y="2238219"/>
            <a:ext cx="1250699" cy="416900"/>
          </a:xfrm>
          <a:prstGeom prst="roundRect">
            <a:avLst>
              <a:gd name="adj" fmla="val 5000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5E13F3C1-0FF3-78DC-CCF1-A01D1D085F01}"/>
              </a:ext>
            </a:extLst>
          </p:cNvPr>
          <p:cNvSpPr/>
          <p:nvPr/>
        </p:nvSpPr>
        <p:spPr>
          <a:xfrm>
            <a:off x="756061" y="2389346"/>
            <a:ext cx="552881" cy="135492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615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/ Screen</a:t>
            </a:r>
            <a:endParaRPr lang="en-US" sz="615" dirty="0"/>
          </a:p>
        </p:txBody>
      </p:sp>
      <p:sp>
        <p:nvSpPr>
          <p:cNvPr id="57" name="Text 7">
            <a:extLst>
              <a:ext uri="{FF2B5EF4-FFF2-40B4-BE49-F238E27FC236}">
                <a16:creationId xmlns:a16="http://schemas.microsoft.com/office/drawing/2014/main" id="{CA65A28C-797D-BA65-A450-8B9ACF48F2B5}"/>
              </a:ext>
            </a:extLst>
          </p:cNvPr>
          <p:cNvSpPr/>
          <p:nvPr/>
        </p:nvSpPr>
        <p:spPr>
          <a:xfrm>
            <a:off x="1866301" y="2363289"/>
            <a:ext cx="489979" cy="187605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821" b="1" kern="0" spc="-9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화면</a:t>
            </a:r>
            <a:endParaRPr lang="en-US" sz="821" dirty="0"/>
          </a:p>
        </p:txBody>
      </p:sp>
      <p:sp>
        <p:nvSpPr>
          <p:cNvPr id="58" name="Shape 8">
            <a:extLst>
              <a:ext uri="{FF2B5EF4-FFF2-40B4-BE49-F238E27FC236}">
                <a16:creationId xmlns:a16="http://schemas.microsoft.com/office/drawing/2014/main" id="{0B239D88-3708-9A4F-03FD-BFABAF002198}"/>
              </a:ext>
            </a:extLst>
          </p:cNvPr>
          <p:cNvSpPr/>
          <p:nvPr/>
        </p:nvSpPr>
        <p:spPr>
          <a:xfrm>
            <a:off x="386307" y="2811456"/>
            <a:ext cx="1250699" cy="416900"/>
          </a:xfrm>
          <a:prstGeom prst="roundRect">
            <a:avLst>
              <a:gd name="adj" fmla="val 5000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1EA4880A-329B-9BC7-61F1-209F9E9E6B61}"/>
              </a:ext>
            </a:extLst>
          </p:cNvPr>
          <p:cNvSpPr/>
          <p:nvPr/>
        </p:nvSpPr>
        <p:spPr>
          <a:xfrm>
            <a:off x="860449" y="2962583"/>
            <a:ext cx="344064" cy="135492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615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615" dirty="0"/>
          </a:p>
        </p:txBody>
      </p:sp>
      <p:sp>
        <p:nvSpPr>
          <p:cNvPr id="60" name="Text 10">
            <a:extLst>
              <a:ext uri="{FF2B5EF4-FFF2-40B4-BE49-F238E27FC236}">
                <a16:creationId xmlns:a16="http://schemas.microsoft.com/office/drawing/2014/main" id="{EB8CF916-9D81-8B7B-CEFD-93F8D72A2A31}"/>
              </a:ext>
            </a:extLst>
          </p:cNvPr>
          <p:cNvSpPr/>
          <p:nvPr/>
        </p:nvSpPr>
        <p:spPr>
          <a:xfrm>
            <a:off x="1866301" y="2936526"/>
            <a:ext cx="489979" cy="187605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821" b="1" kern="0" spc="-9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세부 화면</a:t>
            </a:r>
            <a:endParaRPr lang="en-US" sz="821" dirty="0"/>
          </a:p>
        </p:txBody>
      </p:sp>
      <p:sp>
        <p:nvSpPr>
          <p:cNvPr id="61" name="Shape 11">
            <a:extLst>
              <a:ext uri="{FF2B5EF4-FFF2-40B4-BE49-F238E27FC236}">
                <a16:creationId xmlns:a16="http://schemas.microsoft.com/office/drawing/2014/main" id="{F959D9C0-4CB2-DD85-E0FB-ED9A01ADCCB8}"/>
              </a:ext>
            </a:extLst>
          </p:cNvPr>
          <p:cNvSpPr/>
          <p:nvPr/>
        </p:nvSpPr>
        <p:spPr>
          <a:xfrm>
            <a:off x="386307" y="3384693"/>
            <a:ext cx="1250699" cy="416900"/>
          </a:xfrm>
          <a:prstGeom prst="roundRect">
            <a:avLst>
              <a:gd name="adj" fmla="val 5000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2" name="Text 12">
            <a:extLst>
              <a:ext uri="{FF2B5EF4-FFF2-40B4-BE49-F238E27FC236}">
                <a16:creationId xmlns:a16="http://schemas.microsoft.com/office/drawing/2014/main" id="{ED84763E-B3BB-7594-5E5F-0786A611ACFE}"/>
              </a:ext>
            </a:extLst>
          </p:cNvPr>
          <p:cNvSpPr/>
          <p:nvPr/>
        </p:nvSpPr>
        <p:spPr>
          <a:xfrm>
            <a:off x="891879" y="3535820"/>
            <a:ext cx="281244" cy="135492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615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</a:t>
            </a:r>
            <a:endParaRPr lang="en-US" sz="615" dirty="0"/>
          </a:p>
        </p:txBody>
      </p:sp>
      <p:sp>
        <p:nvSpPr>
          <p:cNvPr id="63" name="Text 13">
            <a:extLst>
              <a:ext uri="{FF2B5EF4-FFF2-40B4-BE49-F238E27FC236}">
                <a16:creationId xmlns:a16="http://schemas.microsoft.com/office/drawing/2014/main" id="{873D7CFB-541D-DDF7-EA21-C2368D5C6A90}"/>
              </a:ext>
            </a:extLst>
          </p:cNvPr>
          <p:cNvSpPr/>
          <p:nvPr/>
        </p:nvSpPr>
        <p:spPr>
          <a:xfrm>
            <a:off x="1866301" y="3509763"/>
            <a:ext cx="580484" cy="187605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821" b="1" kern="0" spc="-9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액션 · 처리</a:t>
            </a:r>
            <a:endParaRPr lang="en-US" sz="821" dirty="0"/>
          </a:p>
        </p:txBody>
      </p:sp>
      <p:sp>
        <p:nvSpPr>
          <p:cNvPr id="64" name="Shape 14">
            <a:extLst>
              <a:ext uri="{FF2B5EF4-FFF2-40B4-BE49-F238E27FC236}">
                <a16:creationId xmlns:a16="http://schemas.microsoft.com/office/drawing/2014/main" id="{01E9A19D-FAED-049B-9C94-274119C8F746}"/>
              </a:ext>
            </a:extLst>
          </p:cNvPr>
          <p:cNvSpPr/>
          <p:nvPr/>
        </p:nvSpPr>
        <p:spPr>
          <a:xfrm>
            <a:off x="386307" y="3957930"/>
            <a:ext cx="1250699" cy="541970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65" name="Text 15">
            <a:extLst>
              <a:ext uri="{FF2B5EF4-FFF2-40B4-BE49-F238E27FC236}">
                <a16:creationId xmlns:a16="http://schemas.microsoft.com/office/drawing/2014/main" id="{2E08E397-BC14-8500-5CE3-6DD57E5582B1}"/>
              </a:ext>
            </a:extLst>
          </p:cNvPr>
          <p:cNvSpPr/>
          <p:nvPr/>
        </p:nvSpPr>
        <p:spPr>
          <a:xfrm>
            <a:off x="851655" y="4171592"/>
            <a:ext cx="361693" cy="135492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615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</a:t>
            </a:r>
            <a:endParaRPr lang="en-US" sz="615" dirty="0"/>
          </a:p>
        </p:txBody>
      </p:sp>
      <p:sp>
        <p:nvSpPr>
          <p:cNvPr id="66" name="Text 16">
            <a:extLst>
              <a:ext uri="{FF2B5EF4-FFF2-40B4-BE49-F238E27FC236}">
                <a16:creationId xmlns:a16="http://schemas.microsoft.com/office/drawing/2014/main" id="{9FC5A516-EDE7-F96F-D583-A8E42FC6E1F3}"/>
              </a:ext>
            </a:extLst>
          </p:cNvPr>
          <p:cNvSpPr/>
          <p:nvPr/>
        </p:nvSpPr>
        <p:spPr>
          <a:xfrm>
            <a:off x="1866301" y="4145535"/>
            <a:ext cx="580484" cy="187605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821" b="1" kern="0" spc="-9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분기 · 확인</a:t>
            </a:r>
            <a:endParaRPr lang="en-US" sz="821" dirty="0"/>
          </a:p>
        </p:txBody>
      </p:sp>
      <p:sp>
        <p:nvSpPr>
          <p:cNvPr id="67" name="Shape 17">
            <a:extLst>
              <a:ext uri="{FF2B5EF4-FFF2-40B4-BE49-F238E27FC236}">
                <a16:creationId xmlns:a16="http://schemas.microsoft.com/office/drawing/2014/main" id="{2A886B87-27B4-7247-ECA7-BC5142F706A1}"/>
              </a:ext>
            </a:extLst>
          </p:cNvPr>
          <p:cNvSpPr/>
          <p:nvPr/>
        </p:nvSpPr>
        <p:spPr>
          <a:xfrm>
            <a:off x="386307" y="4656238"/>
            <a:ext cx="1250699" cy="416900"/>
          </a:xfrm>
          <a:prstGeom prst="roundRect">
            <a:avLst>
              <a:gd name="adj" fmla="val 5000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8" name="Text 18">
            <a:extLst>
              <a:ext uri="{FF2B5EF4-FFF2-40B4-BE49-F238E27FC236}">
                <a16:creationId xmlns:a16="http://schemas.microsoft.com/office/drawing/2014/main" id="{24954F66-DB2E-34DA-F8FE-ACFBC222CF34}"/>
              </a:ext>
            </a:extLst>
          </p:cNvPr>
          <p:cNvSpPr/>
          <p:nvPr/>
        </p:nvSpPr>
        <p:spPr>
          <a:xfrm>
            <a:off x="847176" y="4807364"/>
            <a:ext cx="370609" cy="135492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615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Negative</a:t>
            </a:r>
            <a:endParaRPr lang="en-US" sz="615" dirty="0"/>
          </a:p>
        </p:txBody>
      </p:sp>
      <p:sp>
        <p:nvSpPr>
          <p:cNvPr id="69" name="Text 19">
            <a:extLst>
              <a:ext uri="{FF2B5EF4-FFF2-40B4-BE49-F238E27FC236}">
                <a16:creationId xmlns:a16="http://schemas.microsoft.com/office/drawing/2014/main" id="{684C0ED2-C27A-BE3A-CEB3-D7A21757D289}"/>
              </a:ext>
            </a:extLst>
          </p:cNvPr>
          <p:cNvSpPr/>
          <p:nvPr/>
        </p:nvSpPr>
        <p:spPr>
          <a:xfrm>
            <a:off x="1866301" y="4781308"/>
            <a:ext cx="489979" cy="187605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821" b="1" kern="0" spc="-9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 제어</a:t>
            </a:r>
            <a:endParaRPr lang="en-US" sz="821" dirty="0"/>
          </a:p>
        </p:txBody>
      </p:sp>
      <p:sp>
        <p:nvSpPr>
          <p:cNvPr id="70" name="Shape 20">
            <a:extLst>
              <a:ext uri="{FF2B5EF4-FFF2-40B4-BE49-F238E27FC236}">
                <a16:creationId xmlns:a16="http://schemas.microsoft.com/office/drawing/2014/main" id="{CCCFCCB1-16CB-2955-191A-4974D20B9414}"/>
              </a:ext>
            </a:extLst>
          </p:cNvPr>
          <p:cNvSpPr/>
          <p:nvPr/>
        </p:nvSpPr>
        <p:spPr>
          <a:xfrm>
            <a:off x="386307" y="5229475"/>
            <a:ext cx="1250699" cy="41690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71" name="Text 21">
            <a:extLst>
              <a:ext uri="{FF2B5EF4-FFF2-40B4-BE49-F238E27FC236}">
                <a16:creationId xmlns:a16="http://schemas.microsoft.com/office/drawing/2014/main" id="{EFCAD4EC-4BA5-5D0A-9B15-7B734AF55258}"/>
              </a:ext>
            </a:extLst>
          </p:cNvPr>
          <p:cNvSpPr/>
          <p:nvPr/>
        </p:nvSpPr>
        <p:spPr>
          <a:xfrm>
            <a:off x="931859" y="5380601"/>
            <a:ext cx="201244" cy="135492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615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END</a:t>
            </a:r>
            <a:endParaRPr lang="en-US" sz="615" dirty="0"/>
          </a:p>
        </p:txBody>
      </p:sp>
      <p:sp>
        <p:nvSpPr>
          <p:cNvPr id="72" name="Text 22">
            <a:extLst>
              <a:ext uri="{FF2B5EF4-FFF2-40B4-BE49-F238E27FC236}">
                <a16:creationId xmlns:a16="http://schemas.microsoft.com/office/drawing/2014/main" id="{903655BF-FBEF-F229-23D9-1F430BC4B403}"/>
              </a:ext>
            </a:extLst>
          </p:cNvPr>
          <p:cNvSpPr/>
          <p:nvPr/>
        </p:nvSpPr>
        <p:spPr>
          <a:xfrm>
            <a:off x="1866301" y="5354545"/>
            <a:ext cx="580484" cy="187605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821" b="1" kern="0" spc="-9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종료 · 전환</a:t>
            </a:r>
            <a:endParaRPr lang="en-US" sz="821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93916" y="1180877"/>
            <a:ext cx="4486883" cy="355407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202698" y="1431017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" name="Text 3"/>
          <p:cNvSpPr/>
          <p:nvPr/>
        </p:nvSpPr>
        <p:spPr>
          <a:xfrm>
            <a:off x="1377926" y="1533572"/>
            <a:ext cx="49372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대시보드</a:t>
            </a:r>
            <a:endParaRPr lang="en-US" sz="533" dirty="0"/>
          </a:p>
        </p:txBody>
      </p:sp>
      <p:sp>
        <p:nvSpPr>
          <p:cNvPr id="7" name="Shape 4"/>
          <p:cNvSpPr/>
          <p:nvPr/>
        </p:nvSpPr>
        <p:spPr>
          <a:xfrm>
            <a:off x="295941" y="206678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8" name="Text 5"/>
          <p:cNvSpPr/>
          <p:nvPr/>
        </p:nvSpPr>
        <p:spPr>
          <a:xfrm>
            <a:off x="439576" y="2169344"/>
            <a:ext cx="55691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 카드 / 게이지</a:t>
            </a:r>
            <a:endParaRPr lang="en-US" sz="533" dirty="0"/>
          </a:p>
        </p:txBody>
      </p:sp>
      <p:sp>
        <p:nvSpPr>
          <p:cNvPr id="9" name="Shape 6"/>
          <p:cNvSpPr/>
          <p:nvPr/>
        </p:nvSpPr>
        <p:spPr>
          <a:xfrm>
            <a:off x="295941" y="270256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0" name="Text 7"/>
          <p:cNvSpPr/>
          <p:nvPr/>
        </p:nvSpPr>
        <p:spPr>
          <a:xfrm>
            <a:off x="430945" y="2805117"/>
            <a:ext cx="574214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이상점수 확인</a:t>
            </a:r>
            <a:endParaRPr lang="en-US" sz="533" dirty="0"/>
          </a:p>
        </p:txBody>
      </p:sp>
      <p:sp>
        <p:nvSpPr>
          <p:cNvPr id="11" name="Shape 8"/>
          <p:cNvSpPr/>
          <p:nvPr/>
        </p:nvSpPr>
        <p:spPr>
          <a:xfrm>
            <a:off x="295941" y="3338333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2" name="Text 9"/>
          <p:cNvSpPr/>
          <p:nvPr/>
        </p:nvSpPr>
        <p:spPr>
          <a:xfrm>
            <a:off x="461886" y="3440889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이벤트 확인</a:t>
            </a:r>
            <a:endParaRPr lang="en-US" sz="533" dirty="0"/>
          </a:p>
        </p:txBody>
      </p:sp>
      <p:sp>
        <p:nvSpPr>
          <p:cNvPr id="13" name="Shape 10"/>
          <p:cNvSpPr/>
          <p:nvPr/>
        </p:nvSpPr>
        <p:spPr>
          <a:xfrm>
            <a:off x="2109454" y="206678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4" name="Text 11"/>
          <p:cNvSpPr/>
          <p:nvPr/>
        </p:nvSpPr>
        <p:spPr>
          <a:xfrm>
            <a:off x="2235176" y="2169344"/>
            <a:ext cx="592738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탐지 화면 이동</a:t>
            </a:r>
            <a:endParaRPr lang="en-US" sz="533" dirty="0"/>
          </a:p>
        </p:txBody>
      </p:sp>
      <p:sp>
        <p:nvSpPr>
          <p:cNvPr id="15" name="Shape 12"/>
          <p:cNvSpPr/>
          <p:nvPr/>
        </p:nvSpPr>
        <p:spPr>
          <a:xfrm>
            <a:off x="2109454" y="270256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6" name="Text 13"/>
          <p:cNvSpPr/>
          <p:nvPr/>
        </p:nvSpPr>
        <p:spPr>
          <a:xfrm>
            <a:off x="2275400" y="2805117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이벤트 표시</a:t>
            </a:r>
            <a:endParaRPr lang="en-US" sz="533" dirty="0"/>
          </a:p>
        </p:txBody>
      </p:sp>
      <p:sp>
        <p:nvSpPr>
          <p:cNvPr id="17" name="Shape 14"/>
          <p:cNvSpPr/>
          <p:nvPr/>
        </p:nvSpPr>
        <p:spPr>
          <a:xfrm>
            <a:off x="1504950" y="3338333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8" name="Text 15"/>
          <p:cNvSpPr/>
          <p:nvPr/>
        </p:nvSpPr>
        <p:spPr>
          <a:xfrm>
            <a:off x="1701878" y="3440889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탐지 상세</a:t>
            </a:r>
            <a:endParaRPr lang="en-US" sz="533" dirty="0"/>
          </a:p>
        </p:txBody>
      </p:sp>
      <p:sp>
        <p:nvSpPr>
          <p:cNvPr id="19" name="Shape 16"/>
          <p:cNvSpPr/>
          <p:nvPr/>
        </p:nvSpPr>
        <p:spPr>
          <a:xfrm>
            <a:off x="1504950" y="3974105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0" name="Text 17"/>
          <p:cNvSpPr/>
          <p:nvPr/>
        </p:nvSpPr>
        <p:spPr>
          <a:xfrm>
            <a:off x="1616055" y="4076661"/>
            <a:ext cx="62197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근거 설명 (XAI)</a:t>
            </a:r>
            <a:endParaRPr lang="en-US" sz="533" dirty="0"/>
          </a:p>
        </p:txBody>
      </p:sp>
      <p:sp>
        <p:nvSpPr>
          <p:cNvPr id="21" name="Shape 18"/>
          <p:cNvSpPr/>
          <p:nvPr/>
        </p:nvSpPr>
        <p:spPr>
          <a:xfrm>
            <a:off x="2713959" y="3338333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2" name="Text 19"/>
          <p:cNvSpPr/>
          <p:nvPr/>
        </p:nvSpPr>
        <p:spPr>
          <a:xfrm>
            <a:off x="2879905" y="3440889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 집계</a:t>
            </a:r>
            <a:endParaRPr lang="en-US" sz="533" dirty="0"/>
          </a:p>
        </p:txBody>
      </p:sp>
      <p:sp>
        <p:nvSpPr>
          <p:cNvPr id="23" name="Shape 20"/>
          <p:cNvSpPr/>
          <p:nvPr/>
        </p:nvSpPr>
        <p:spPr>
          <a:xfrm>
            <a:off x="2713959" y="3974105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4" name="Text 21"/>
          <p:cNvSpPr/>
          <p:nvPr/>
        </p:nvSpPr>
        <p:spPr>
          <a:xfrm>
            <a:off x="2843630" y="4076661"/>
            <a:ext cx="58484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SOH / RUL 건강도</a:t>
            </a:r>
            <a:endParaRPr lang="en-US" sz="533" dirty="0"/>
          </a:p>
        </p:txBody>
      </p:sp>
      <p:pic>
        <p:nvPicPr>
          <p:cNvPr id="49" name="Image 0" descr="preencoded.png">
            <a:extLst>
              <a:ext uri="{FF2B5EF4-FFF2-40B4-BE49-F238E27FC236}">
                <a16:creationId xmlns:a16="http://schemas.microsoft.com/office/drawing/2014/main" id="{9EE80009-8441-DEC6-AA94-A684D44E07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2195" y="1180877"/>
            <a:ext cx="5816768" cy="3045444"/>
          </a:xfrm>
          <a:prstGeom prst="rect">
            <a:avLst/>
          </a:prstGeom>
        </p:spPr>
      </p:pic>
      <p:sp>
        <p:nvSpPr>
          <p:cNvPr id="50" name="Shape 2">
            <a:extLst>
              <a:ext uri="{FF2B5EF4-FFF2-40B4-BE49-F238E27FC236}">
                <a16:creationId xmlns:a16="http://schemas.microsoft.com/office/drawing/2014/main" id="{AD685CA9-F544-16D5-CC5F-666548CBE6A1}"/>
              </a:ext>
            </a:extLst>
          </p:cNvPr>
          <p:cNvSpPr/>
          <p:nvPr/>
        </p:nvSpPr>
        <p:spPr>
          <a:xfrm>
            <a:off x="5368397" y="2569675"/>
            <a:ext cx="289550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51" name="Text 3">
            <a:extLst>
              <a:ext uri="{FF2B5EF4-FFF2-40B4-BE49-F238E27FC236}">
                <a16:creationId xmlns:a16="http://schemas.microsoft.com/office/drawing/2014/main" id="{28107FBD-422D-AA18-B613-110C37D833EC}"/>
              </a:ext>
            </a:extLst>
          </p:cNvPr>
          <p:cNvSpPr/>
          <p:nvPr/>
        </p:nvSpPr>
        <p:spPr>
          <a:xfrm>
            <a:off x="5399665" y="2574885"/>
            <a:ext cx="268705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보기</a:t>
            </a:r>
            <a:endParaRPr lang="en-US" sz="451" dirty="0"/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CC021F63-E26E-E691-F5DC-0F6C9CC4F1BE}"/>
              </a:ext>
            </a:extLst>
          </p:cNvPr>
          <p:cNvSpPr/>
          <p:nvPr/>
        </p:nvSpPr>
        <p:spPr>
          <a:xfrm>
            <a:off x="6698283" y="3329987"/>
            <a:ext cx="289550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53" name="Text 5">
            <a:extLst>
              <a:ext uri="{FF2B5EF4-FFF2-40B4-BE49-F238E27FC236}">
                <a16:creationId xmlns:a16="http://schemas.microsoft.com/office/drawing/2014/main" id="{6DFADB6E-F491-92E7-C7F5-89F7BBAD4204}"/>
              </a:ext>
            </a:extLst>
          </p:cNvPr>
          <p:cNvSpPr/>
          <p:nvPr/>
        </p:nvSpPr>
        <p:spPr>
          <a:xfrm>
            <a:off x="6729550" y="3335198"/>
            <a:ext cx="268705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차단 승인</a:t>
            </a:r>
            <a:endParaRPr lang="en-US" sz="451" dirty="0"/>
          </a:p>
        </p:txBody>
      </p:sp>
      <p:sp>
        <p:nvSpPr>
          <p:cNvPr id="54" name="Shape 6">
            <a:extLst>
              <a:ext uri="{FF2B5EF4-FFF2-40B4-BE49-F238E27FC236}">
                <a16:creationId xmlns:a16="http://schemas.microsoft.com/office/drawing/2014/main" id="{C2629CC3-3917-F8CF-BD97-582CA58EF799}"/>
              </a:ext>
            </a:extLst>
          </p:cNvPr>
          <p:cNvSpPr/>
          <p:nvPr/>
        </p:nvSpPr>
        <p:spPr>
          <a:xfrm>
            <a:off x="7907292" y="3329987"/>
            <a:ext cx="289550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55" name="Text 7">
            <a:extLst>
              <a:ext uri="{FF2B5EF4-FFF2-40B4-BE49-F238E27FC236}">
                <a16:creationId xmlns:a16="http://schemas.microsoft.com/office/drawing/2014/main" id="{DC652651-570F-8789-EC69-82FA1AC71748}"/>
              </a:ext>
            </a:extLst>
          </p:cNvPr>
          <p:cNvSpPr/>
          <p:nvPr/>
        </p:nvSpPr>
        <p:spPr>
          <a:xfrm>
            <a:off x="7938559" y="3335198"/>
            <a:ext cx="268705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복구 승인</a:t>
            </a:r>
            <a:endParaRPr lang="en-US" sz="451" dirty="0"/>
          </a:p>
        </p:txBody>
      </p:sp>
      <p:sp>
        <p:nvSpPr>
          <p:cNvPr id="56" name="Shape 8">
            <a:extLst>
              <a:ext uri="{FF2B5EF4-FFF2-40B4-BE49-F238E27FC236}">
                <a16:creationId xmlns:a16="http://schemas.microsoft.com/office/drawing/2014/main" id="{C9A14AC9-F20E-05BD-B1E4-69DD8DC537BF}"/>
              </a:ext>
            </a:extLst>
          </p:cNvPr>
          <p:cNvSpPr/>
          <p:nvPr/>
        </p:nvSpPr>
        <p:spPr>
          <a:xfrm>
            <a:off x="4486556" y="1431017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7" name="Text 9">
            <a:extLst>
              <a:ext uri="{FF2B5EF4-FFF2-40B4-BE49-F238E27FC236}">
                <a16:creationId xmlns:a16="http://schemas.microsoft.com/office/drawing/2014/main" id="{066618E4-9585-948B-6AD7-FA2415F47CE4}"/>
              </a:ext>
            </a:extLst>
          </p:cNvPr>
          <p:cNvSpPr/>
          <p:nvPr/>
        </p:nvSpPr>
        <p:spPr>
          <a:xfrm>
            <a:off x="4754691" y="1533572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센터</a:t>
            </a:r>
            <a:endParaRPr lang="en-US" sz="533" dirty="0"/>
          </a:p>
        </p:txBody>
      </p:sp>
      <p:sp>
        <p:nvSpPr>
          <p:cNvPr id="58" name="Shape 10">
            <a:extLst>
              <a:ext uri="{FF2B5EF4-FFF2-40B4-BE49-F238E27FC236}">
                <a16:creationId xmlns:a16="http://schemas.microsoft.com/office/drawing/2014/main" id="{D2C90AC8-F48B-635E-39ED-59FA91917AEE}"/>
              </a:ext>
            </a:extLst>
          </p:cNvPr>
          <p:cNvSpPr/>
          <p:nvPr/>
        </p:nvSpPr>
        <p:spPr>
          <a:xfrm>
            <a:off x="4486556" y="206678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9" name="Text 11">
            <a:extLst>
              <a:ext uri="{FF2B5EF4-FFF2-40B4-BE49-F238E27FC236}">
                <a16:creationId xmlns:a16="http://schemas.microsoft.com/office/drawing/2014/main" id="{C4161502-4807-DEDE-E174-D07DE7BBF70B}"/>
              </a:ext>
            </a:extLst>
          </p:cNvPr>
          <p:cNvSpPr/>
          <p:nvPr/>
        </p:nvSpPr>
        <p:spPr>
          <a:xfrm>
            <a:off x="4662518" y="2169344"/>
            <a:ext cx="49230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확인 (Ack)</a:t>
            </a:r>
            <a:endParaRPr lang="en-US" sz="533" dirty="0"/>
          </a:p>
        </p:txBody>
      </p:sp>
      <p:sp>
        <p:nvSpPr>
          <p:cNvPr id="60" name="Shape 12">
            <a:extLst>
              <a:ext uri="{FF2B5EF4-FFF2-40B4-BE49-F238E27FC236}">
                <a16:creationId xmlns:a16="http://schemas.microsoft.com/office/drawing/2014/main" id="{6E21CCBB-EBE5-482A-9244-0815D2447B1D}"/>
              </a:ext>
            </a:extLst>
          </p:cNvPr>
          <p:cNvSpPr/>
          <p:nvPr/>
        </p:nvSpPr>
        <p:spPr>
          <a:xfrm>
            <a:off x="3882052" y="270256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1" name="Text 13">
            <a:extLst>
              <a:ext uri="{FF2B5EF4-FFF2-40B4-BE49-F238E27FC236}">
                <a16:creationId xmlns:a16="http://schemas.microsoft.com/office/drawing/2014/main" id="{A2AFEAF7-64C6-64CB-A85D-2A12431EDF21}"/>
              </a:ext>
            </a:extLst>
          </p:cNvPr>
          <p:cNvSpPr/>
          <p:nvPr/>
        </p:nvSpPr>
        <p:spPr>
          <a:xfrm>
            <a:off x="4078980" y="2805117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알림 확인</a:t>
            </a:r>
            <a:endParaRPr lang="en-US" sz="533" dirty="0"/>
          </a:p>
        </p:txBody>
      </p:sp>
      <p:sp>
        <p:nvSpPr>
          <p:cNvPr id="62" name="Shape 14">
            <a:extLst>
              <a:ext uri="{FF2B5EF4-FFF2-40B4-BE49-F238E27FC236}">
                <a16:creationId xmlns:a16="http://schemas.microsoft.com/office/drawing/2014/main" id="{0F94F2E5-FDE1-2DA4-F51C-87C83A1AFE6F}"/>
              </a:ext>
            </a:extLst>
          </p:cNvPr>
          <p:cNvSpPr/>
          <p:nvPr/>
        </p:nvSpPr>
        <p:spPr>
          <a:xfrm>
            <a:off x="5091061" y="270256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3" name="Text 15">
            <a:extLst>
              <a:ext uri="{FF2B5EF4-FFF2-40B4-BE49-F238E27FC236}">
                <a16:creationId xmlns:a16="http://schemas.microsoft.com/office/drawing/2014/main" id="{D86DCE3C-3BA3-EC07-4144-68E654FC0016}"/>
              </a:ext>
            </a:extLst>
          </p:cNvPr>
          <p:cNvSpPr/>
          <p:nvPr/>
        </p:nvSpPr>
        <p:spPr>
          <a:xfrm>
            <a:off x="5328214" y="2805117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상세</a:t>
            </a:r>
            <a:endParaRPr lang="en-US" sz="533" dirty="0"/>
          </a:p>
        </p:txBody>
      </p:sp>
      <p:sp>
        <p:nvSpPr>
          <p:cNvPr id="64" name="Shape 16">
            <a:extLst>
              <a:ext uri="{FF2B5EF4-FFF2-40B4-BE49-F238E27FC236}">
                <a16:creationId xmlns:a16="http://schemas.microsoft.com/office/drawing/2014/main" id="{08CE7741-E9C5-E609-0B12-60FB42601717}"/>
              </a:ext>
            </a:extLst>
          </p:cNvPr>
          <p:cNvSpPr/>
          <p:nvPr/>
        </p:nvSpPr>
        <p:spPr>
          <a:xfrm>
            <a:off x="7025451" y="1431017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5" name="Text 17">
            <a:extLst>
              <a:ext uri="{FF2B5EF4-FFF2-40B4-BE49-F238E27FC236}">
                <a16:creationId xmlns:a16="http://schemas.microsoft.com/office/drawing/2014/main" id="{6A3E32CF-E449-19A8-958A-C700DD72F2CF}"/>
              </a:ext>
            </a:extLst>
          </p:cNvPr>
          <p:cNvSpPr/>
          <p:nvPr/>
        </p:nvSpPr>
        <p:spPr>
          <a:xfrm>
            <a:off x="7191397" y="1533572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차단 진입</a:t>
            </a:r>
            <a:endParaRPr lang="en-US" sz="533" dirty="0"/>
          </a:p>
        </p:txBody>
      </p:sp>
      <p:sp>
        <p:nvSpPr>
          <p:cNvPr id="66" name="Shape 18">
            <a:extLst>
              <a:ext uri="{FF2B5EF4-FFF2-40B4-BE49-F238E27FC236}">
                <a16:creationId xmlns:a16="http://schemas.microsoft.com/office/drawing/2014/main" id="{3417181E-B9F6-1F2D-3566-0C1A2FC495DD}"/>
              </a:ext>
            </a:extLst>
          </p:cNvPr>
          <p:cNvSpPr/>
          <p:nvPr/>
        </p:nvSpPr>
        <p:spPr>
          <a:xfrm>
            <a:off x="7025451" y="206678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7" name="Text 19">
            <a:extLst>
              <a:ext uri="{FF2B5EF4-FFF2-40B4-BE49-F238E27FC236}">
                <a16:creationId xmlns:a16="http://schemas.microsoft.com/office/drawing/2014/main" id="{7F1F5CA7-A837-A2AD-3690-4E66054F00CB}"/>
              </a:ext>
            </a:extLst>
          </p:cNvPr>
          <p:cNvSpPr/>
          <p:nvPr/>
        </p:nvSpPr>
        <p:spPr>
          <a:xfrm>
            <a:off x="7191397" y="2169344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제어 화면</a:t>
            </a:r>
            <a:endParaRPr lang="en-US" sz="533" dirty="0"/>
          </a:p>
        </p:txBody>
      </p:sp>
      <p:sp>
        <p:nvSpPr>
          <p:cNvPr id="68" name="Shape 20">
            <a:extLst>
              <a:ext uri="{FF2B5EF4-FFF2-40B4-BE49-F238E27FC236}">
                <a16:creationId xmlns:a16="http://schemas.microsoft.com/office/drawing/2014/main" id="{16673CBE-514F-E7ED-34E7-D7DE78465600}"/>
              </a:ext>
            </a:extLst>
          </p:cNvPr>
          <p:cNvSpPr/>
          <p:nvPr/>
        </p:nvSpPr>
        <p:spPr>
          <a:xfrm>
            <a:off x="7025451" y="270256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9" name="Text 21">
            <a:extLst>
              <a:ext uri="{FF2B5EF4-FFF2-40B4-BE49-F238E27FC236}">
                <a16:creationId xmlns:a16="http://schemas.microsoft.com/office/drawing/2014/main" id="{3A3A7F7D-AE4A-A1E7-BA34-B14389AADDBD}"/>
              </a:ext>
            </a:extLst>
          </p:cNvPr>
          <p:cNvSpPr/>
          <p:nvPr/>
        </p:nvSpPr>
        <p:spPr>
          <a:xfrm>
            <a:off x="7151173" y="2805117"/>
            <a:ext cx="592738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 제어 승인 모달</a:t>
            </a:r>
            <a:endParaRPr lang="en-US" sz="533" dirty="0"/>
          </a:p>
        </p:txBody>
      </p:sp>
      <p:sp>
        <p:nvSpPr>
          <p:cNvPr id="70" name="Shape 22">
            <a:extLst>
              <a:ext uri="{FF2B5EF4-FFF2-40B4-BE49-F238E27FC236}">
                <a16:creationId xmlns:a16="http://schemas.microsoft.com/office/drawing/2014/main" id="{E186512E-E307-3EAA-51D0-7D852285C90A}"/>
              </a:ext>
            </a:extLst>
          </p:cNvPr>
          <p:cNvSpPr/>
          <p:nvPr/>
        </p:nvSpPr>
        <p:spPr>
          <a:xfrm>
            <a:off x="6420946" y="346547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71" name="Text 23">
            <a:extLst>
              <a:ext uri="{FF2B5EF4-FFF2-40B4-BE49-F238E27FC236}">
                <a16:creationId xmlns:a16="http://schemas.microsoft.com/office/drawing/2014/main" id="{680C1146-5AA8-9F54-00C4-DA2B77E50F25}"/>
              </a:ext>
            </a:extLst>
          </p:cNvPr>
          <p:cNvSpPr/>
          <p:nvPr/>
        </p:nvSpPr>
        <p:spPr>
          <a:xfrm>
            <a:off x="6473059" y="3524717"/>
            <a:ext cx="739997" cy="194200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차단 / Kill-Switch</a:t>
            </a:r>
            <a:endParaRPr lang="en-US" sz="533" dirty="0"/>
          </a:p>
        </p:txBody>
      </p:sp>
      <p:sp>
        <p:nvSpPr>
          <p:cNvPr id="72" name="Shape 24">
            <a:extLst>
              <a:ext uri="{FF2B5EF4-FFF2-40B4-BE49-F238E27FC236}">
                <a16:creationId xmlns:a16="http://schemas.microsoft.com/office/drawing/2014/main" id="{9B48A5DD-9BB9-1B11-B87D-51588AC35B68}"/>
              </a:ext>
            </a:extLst>
          </p:cNvPr>
          <p:cNvSpPr/>
          <p:nvPr/>
        </p:nvSpPr>
        <p:spPr>
          <a:xfrm>
            <a:off x="7629955" y="346547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73" name="Text 25">
            <a:extLst>
              <a:ext uri="{FF2B5EF4-FFF2-40B4-BE49-F238E27FC236}">
                <a16:creationId xmlns:a16="http://schemas.microsoft.com/office/drawing/2014/main" id="{43DF429C-30F8-7A4B-E451-8222D41C22B1}"/>
              </a:ext>
            </a:extLst>
          </p:cNvPr>
          <p:cNvSpPr/>
          <p:nvPr/>
        </p:nvSpPr>
        <p:spPr>
          <a:xfrm>
            <a:off x="7867108" y="3568035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복구</a:t>
            </a:r>
            <a:endParaRPr lang="en-US" sz="533" dirty="0"/>
          </a:p>
        </p:txBody>
      </p:sp>
      <p:sp>
        <p:nvSpPr>
          <p:cNvPr id="74" name="Text 13">
            <a:extLst>
              <a:ext uri="{FF2B5EF4-FFF2-40B4-BE49-F238E27FC236}">
                <a16:creationId xmlns:a16="http://schemas.microsoft.com/office/drawing/2014/main" id="{E149E64A-D330-3631-E311-4D12677F8BFA}"/>
              </a:ext>
            </a:extLst>
          </p:cNvPr>
          <p:cNvSpPr/>
          <p:nvPr/>
        </p:nvSpPr>
        <p:spPr>
          <a:xfrm>
            <a:off x="5309646" y="516245"/>
            <a:ext cx="16553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492" dirty="0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6E12BA9B-79B5-CB51-CBF6-6034A4336C26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98E0868-798E-4F04-6487-4AD129DE1713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Flow chart</a:t>
            </a:r>
            <a:r>
              <a:rPr lang="ko-KR" altLang="en-US" b="1" dirty="0"/>
              <a:t> </a:t>
            </a:r>
            <a:r>
              <a:rPr lang="en-US" altLang="ko-KR" b="1" dirty="0"/>
              <a:t>-</a:t>
            </a:r>
            <a:r>
              <a:rPr lang="ko-KR" altLang="en-US" b="1" dirty="0"/>
              <a:t> </a:t>
            </a:r>
            <a:r>
              <a:rPr lang="en-US" altLang="ko-KR" b="1" dirty="0"/>
              <a:t>user</a:t>
            </a:r>
            <a:endParaRPr lang="ko-KR" altLang="en-US" b="1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47372" y="1346662"/>
            <a:ext cx="9927424" cy="29182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83255" y="2013702"/>
            <a:ext cx="289550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6" name="Text 3"/>
          <p:cNvSpPr/>
          <p:nvPr/>
        </p:nvSpPr>
        <p:spPr>
          <a:xfrm>
            <a:off x="4214523" y="2018913"/>
            <a:ext cx="268705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51" dirty="0"/>
          </a:p>
        </p:txBody>
      </p:sp>
      <p:sp>
        <p:nvSpPr>
          <p:cNvPr id="7" name="Shape 4"/>
          <p:cNvSpPr/>
          <p:nvPr/>
        </p:nvSpPr>
        <p:spPr>
          <a:xfrm>
            <a:off x="946989" y="159680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8" name="Text 5"/>
          <p:cNvSpPr/>
          <p:nvPr/>
        </p:nvSpPr>
        <p:spPr>
          <a:xfrm>
            <a:off x="1121607" y="1699357"/>
            <a:ext cx="494987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추세 차트 / 이력</a:t>
            </a:r>
            <a:endParaRPr lang="en-US" sz="533" dirty="0"/>
          </a:p>
        </p:txBody>
      </p:sp>
      <p:sp>
        <p:nvSpPr>
          <p:cNvPr id="9" name="Shape 6"/>
          <p:cNvSpPr/>
          <p:nvPr/>
        </p:nvSpPr>
        <p:spPr>
          <a:xfrm>
            <a:off x="1551494" y="223257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0" name="Text 7"/>
          <p:cNvSpPr/>
          <p:nvPr/>
        </p:nvSpPr>
        <p:spPr>
          <a:xfrm>
            <a:off x="1717440" y="2335129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이력 목록</a:t>
            </a:r>
            <a:endParaRPr lang="en-US" sz="533" dirty="0"/>
          </a:p>
        </p:txBody>
      </p:sp>
      <p:sp>
        <p:nvSpPr>
          <p:cNvPr id="11" name="Shape 8"/>
          <p:cNvSpPr/>
          <p:nvPr/>
        </p:nvSpPr>
        <p:spPr>
          <a:xfrm>
            <a:off x="1551494" y="286834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2" name="Text 9"/>
          <p:cNvSpPr/>
          <p:nvPr/>
        </p:nvSpPr>
        <p:spPr>
          <a:xfrm>
            <a:off x="1695129" y="2970902"/>
            <a:ext cx="55691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정렬 / 이동</a:t>
            </a:r>
            <a:endParaRPr lang="en-US" sz="533" dirty="0"/>
          </a:p>
        </p:txBody>
      </p:sp>
      <p:sp>
        <p:nvSpPr>
          <p:cNvPr id="13" name="Shape 10"/>
          <p:cNvSpPr/>
          <p:nvPr/>
        </p:nvSpPr>
        <p:spPr>
          <a:xfrm>
            <a:off x="1551494" y="350411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4" name="Text 11"/>
          <p:cNvSpPr/>
          <p:nvPr/>
        </p:nvSpPr>
        <p:spPr>
          <a:xfrm>
            <a:off x="1788647" y="3606674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상세</a:t>
            </a:r>
            <a:endParaRPr lang="en-US" sz="533" dirty="0"/>
          </a:p>
        </p:txBody>
      </p:sp>
      <p:sp>
        <p:nvSpPr>
          <p:cNvPr id="15" name="Shape 12"/>
          <p:cNvSpPr/>
          <p:nvPr/>
        </p:nvSpPr>
        <p:spPr>
          <a:xfrm>
            <a:off x="342485" y="223257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6" name="Text 13"/>
          <p:cNvSpPr/>
          <p:nvPr/>
        </p:nvSpPr>
        <p:spPr>
          <a:xfrm>
            <a:off x="452206" y="2335129"/>
            <a:ext cx="62473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CSV / PDF 내보내기</a:t>
            </a:r>
            <a:endParaRPr lang="en-US" sz="533" dirty="0"/>
          </a:p>
        </p:txBody>
      </p:sp>
      <p:sp>
        <p:nvSpPr>
          <p:cNvPr id="17" name="Shape 14"/>
          <p:cNvSpPr/>
          <p:nvPr/>
        </p:nvSpPr>
        <p:spPr>
          <a:xfrm>
            <a:off x="3244090" y="159680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8" name="Text 15"/>
          <p:cNvSpPr/>
          <p:nvPr/>
        </p:nvSpPr>
        <p:spPr>
          <a:xfrm>
            <a:off x="3521508" y="1699357"/>
            <a:ext cx="289387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공지사항</a:t>
            </a:r>
            <a:endParaRPr lang="en-US" sz="533" dirty="0"/>
          </a:p>
        </p:txBody>
      </p:sp>
      <p:sp>
        <p:nvSpPr>
          <p:cNvPr id="19" name="Shape 16"/>
          <p:cNvSpPr/>
          <p:nvPr/>
        </p:nvSpPr>
        <p:spPr>
          <a:xfrm>
            <a:off x="3244090" y="223257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0" name="Text 17"/>
          <p:cNvSpPr/>
          <p:nvPr/>
        </p:nvSpPr>
        <p:spPr>
          <a:xfrm>
            <a:off x="3379094" y="2335129"/>
            <a:ext cx="574214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카테고리 필터</a:t>
            </a:r>
            <a:endParaRPr lang="en-US" sz="533" dirty="0"/>
          </a:p>
        </p:txBody>
      </p:sp>
      <p:sp>
        <p:nvSpPr>
          <p:cNvPr id="21" name="Shape 18"/>
          <p:cNvSpPr/>
          <p:nvPr/>
        </p:nvSpPr>
        <p:spPr>
          <a:xfrm>
            <a:off x="3244090" y="286834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2" name="Text 19"/>
          <p:cNvSpPr/>
          <p:nvPr/>
        </p:nvSpPr>
        <p:spPr>
          <a:xfrm>
            <a:off x="3512225" y="2970902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상세</a:t>
            </a:r>
            <a:endParaRPr lang="en-US" sz="533" dirty="0"/>
          </a:p>
        </p:txBody>
      </p:sp>
      <p:sp>
        <p:nvSpPr>
          <p:cNvPr id="23" name="Shape 20"/>
          <p:cNvSpPr/>
          <p:nvPr/>
        </p:nvSpPr>
        <p:spPr>
          <a:xfrm>
            <a:off x="6387530" y="159680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4" name="Text 21"/>
          <p:cNvSpPr/>
          <p:nvPr/>
        </p:nvSpPr>
        <p:spPr>
          <a:xfrm>
            <a:off x="6655665" y="1699357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 화면</a:t>
            </a:r>
            <a:endParaRPr lang="en-US" sz="533" dirty="0"/>
          </a:p>
        </p:txBody>
      </p:sp>
      <p:sp>
        <p:nvSpPr>
          <p:cNvPr id="27" name="Shape 24"/>
          <p:cNvSpPr/>
          <p:nvPr/>
        </p:nvSpPr>
        <p:spPr>
          <a:xfrm>
            <a:off x="5783026" y="223257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8" name="Text 25"/>
          <p:cNvSpPr/>
          <p:nvPr/>
        </p:nvSpPr>
        <p:spPr>
          <a:xfrm>
            <a:off x="5979954" y="2335129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수신 설정</a:t>
            </a:r>
            <a:endParaRPr lang="en-US" sz="533" dirty="0"/>
          </a:p>
        </p:txBody>
      </p:sp>
      <p:sp>
        <p:nvSpPr>
          <p:cNvPr id="29" name="Shape 26"/>
          <p:cNvSpPr/>
          <p:nvPr/>
        </p:nvSpPr>
        <p:spPr>
          <a:xfrm>
            <a:off x="6992035" y="223257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0" name="Text 27"/>
          <p:cNvSpPr/>
          <p:nvPr/>
        </p:nvSpPr>
        <p:spPr>
          <a:xfrm>
            <a:off x="7188963" y="2335129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 정보 수정</a:t>
            </a:r>
            <a:endParaRPr lang="en-US" sz="533" dirty="0"/>
          </a:p>
        </p:txBody>
      </p:sp>
      <p:sp>
        <p:nvSpPr>
          <p:cNvPr id="31" name="Shape 28"/>
          <p:cNvSpPr/>
          <p:nvPr/>
        </p:nvSpPr>
        <p:spPr>
          <a:xfrm>
            <a:off x="6992035" y="286834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2" name="Text 29"/>
          <p:cNvSpPr/>
          <p:nvPr/>
        </p:nvSpPr>
        <p:spPr>
          <a:xfrm>
            <a:off x="7198245" y="2970902"/>
            <a:ext cx="43180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비밀번호 변경</a:t>
            </a:r>
            <a:endParaRPr lang="en-US" sz="533" dirty="0"/>
          </a:p>
        </p:txBody>
      </p:sp>
      <p:sp>
        <p:nvSpPr>
          <p:cNvPr id="33" name="Shape 30"/>
          <p:cNvSpPr/>
          <p:nvPr/>
        </p:nvSpPr>
        <p:spPr>
          <a:xfrm>
            <a:off x="8201044" y="223257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4" name="Text 31"/>
          <p:cNvSpPr/>
          <p:nvPr/>
        </p:nvSpPr>
        <p:spPr>
          <a:xfrm>
            <a:off x="8253157" y="2291811"/>
            <a:ext cx="739997" cy="194200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테마 전환/캘리브레이션 이력</a:t>
            </a:r>
            <a:endParaRPr lang="en-US" sz="533" dirty="0"/>
          </a:p>
        </p:txBody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98FCE62D-9234-DF55-8876-9A18FCF590CF}"/>
              </a:ext>
            </a:extLst>
          </p:cNvPr>
          <p:cNvSpPr/>
          <p:nvPr/>
        </p:nvSpPr>
        <p:spPr>
          <a:xfrm>
            <a:off x="5309646" y="516245"/>
            <a:ext cx="16553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492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8E7A0925-E830-55D6-1B8D-9F09949678C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4286883-E723-24E0-8353-3FE8F9CD8F01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Flow chart</a:t>
            </a:r>
            <a:r>
              <a:rPr lang="ko-KR" altLang="en-US" b="1" dirty="0"/>
              <a:t> </a:t>
            </a:r>
            <a:r>
              <a:rPr lang="en-US" altLang="ko-KR" b="1" dirty="0"/>
              <a:t>-</a:t>
            </a:r>
            <a:r>
              <a:rPr lang="ko-KR" altLang="en-US" b="1" dirty="0"/>
              <a:t> </a:t>
            </a:r>
            <a:r>
              <a:rPr lang="en-US" altLang="ko-KR" b="1" dirty="0"/>
              <a:t>user</a:t>
            </a:r>
            <a:endParaRPr lang="ko-KR" altLang="en-US" b="1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14431" y="1080654"/>
            <a:ext cx="6783984" cy="53659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495342" y="3655010"/>
            <a:ext cx="154709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4" name="Text 1"/>
          <p:cNvSpPr/>
          <p:nvPr/>
        </p:nvSpPr>
        <p:spPr>
          <a:xfrm>
            <a:off x="3526610" y="3660221"/>
            <a:ext cx="133864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451" dirty="0"/>
          </a:p>
        </p:txBody>
      </p:sp>
      <p:sp>
        <p:nvSpPr>
          <p:cNvPr id="5" name="Shape 2"/>
          <p:cNvSpPr/>
          <p:nvPr/>
        </p:nvSpPr>
        <p:spPr>
          <a:xfrm>
            <a:off x="4215268" y="3337124"/>
            <a:ext cx="134352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6" name="Text 3"/>
          <p:cNvSpPr/>
          <p:nvPr/>
        </p:nvSpPr>
        <p:spPr>
          <a:xfrm>
            <a:off x="4246536" y="3342335"/>
            <a:ext cx="113507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451" dirty="0"/>
          </a:p>
        </p:txBody>
      </p:sp>
      <p:sp>
        <p:nvSpPr>
          <p:cNvPr id="7" name="Shape 4"/>
          <p:cNvSpPr/>
          <p:nvPr/>
        </p:nvSpPr>
        <p:spPr>
          <a:xfrm>
            <a:off x="5548573" y="3019238"/>
            <a:ext cx="273509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8" name="Text 5"/>
          <p:cNvSpPr/>
          <p:nvPr/>
        </p:nvSpPr>
        <p:spPr>
          <a:xfrm>
            <a:off x="5579841" y="3024449"/>
            <a:ext cx="252664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재로그인</a:t>
            </a:r>
            <a:endParaRPr lang="en-US" sz="451" dirty="0"/>
          </a:p>
        </p:txBody>
      </p:sp>
      <p:sp>
        <p:nvSpPr>
          <p:cNvPr id="9" name="Shape 6"/>
          <p:cNvSpPr/>
          <p:nvPr/>
        </p:nvSpPr>
        <p:spPr>
          <a:xfrm>
            <a:off x="3150586" y="1330794"/>
            <a:ext cx="844222" cy="291830"/>
          </a:xfrm>
          <a:prstGeom prst="roundRect">
            <a:avLst>
              <a:gd name="adj" fmla="val 50000"/>
            </a:avLst>
          </a:prstGeom>
          <a:solidFill>
            <a:srgbClr val="1E1B4B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0" name="Text 7"/>
          <p:cNvSpPr/>
          <p:nvPr/>
        </p:nvSpPr>
        <p:spPr>
          <a:xfrm>
            <a:off x="3489927" y="1433349"/>
            <a:ext cx="16553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533" dirty="0"/>
          </a:p>
        </p:txBody>
      </p:sp>
      <p:sp>
        <p:nvSpPr>
          <p:cNvPr id="11" name="Shape 8"/>
          <p:cNvSpPr/>
          <p:nvPr/>
        </p:nvSpPr>
        <p:spPr>
          <a:xfrm>
            <a:off x="3150586" y="196656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2" name="Text 9"/>
          <p:cNvSpPr/>
          <p:nvPr/>
        </p:nvSpPr>
        <p:spPr>
          <a:xfrm>
            <a:off x="3387739" y="2069121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 화면</a:t>
            </a:r>
            <a:endParaRPr lang="en-US" sz="533" dirty="0"/>
          </a:p>
        </p:txBody>
      </p:sp>
      <p:sp>
        <p:nvSpPr>
          <p:cNvPr id="13" name="Shape 10"/>
          <p:cNvSpPr/>
          <p:nvPr/>
        </p:nvSpPr>
        <p:spPr>
          <a:xfrm>
            <a:off x="3150586" y="260233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4" name="Text 11"/>
          <p:cNvSpPr/>
          <p:nvPr/>
        </p:nvSpPr>
        <p:spPr>
          <a:xfrm>
            <a:off x="3294221" y="2704894"/>
            <a:ext cx="55691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/ 소셜 로그인</a:t>
            </a:r>
            <a:endParaRPr lang="en-US" sz="533" dirty="0"/>
          </a:p>
        </p:txBody>
      </p:sp>
      <p:sp>
        <p:nvSpPr>
          <p:cNvPr id="15" name="Shape 12"/>
          <p:cNvSpPr/>
          <p:nvPr/>
        </p:nvSpPr>
        <p:spPr>
          <a:xfrm>
            <a:off x="3181853" y="3154730"/>
            <a:ext cx="781687" cy="458590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16" name="Text 13"/>
          <p:cNvSpPr/>
          <p:nvPr/>
        </p:nvSpPr>
        <p:spPr>
          <a:xfrm>
            <a:off x="3317346" y="3292828"/>
            <a:ext cx="510702" cy="203239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pPr algn="ctr"/>
            <a:r>
              <a:rPr lang="en-US" sz="492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역할 확인 (RBAC)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4601389" y="323811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8" name="Text 15"/>
          <p:cNvSpPr/>
          <p:nvPr/>
        </p:nvSpPr>
        <p:spPr>
          <a:xfrm>
            <a:off x="4869524" y="3340666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 거부</a:t>
            </a:r>
            <a:endParaRPr lang="en-US" sz="533" dirty="0"/>
          </a:p>
        </p:txBody>
      </p:sp>
      <p:sp>
        <p:nvSpPr>
          <p:cNvPr id="19" name="Shape 16"/>
          <p:cNvSpPr/>
          <p:nvPr/>
        </p:nvSpPr>
        <p:spPr>
          <a:xfrm>
            <a:off x="4601389" y="387388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0" name="Text 17"/>
          <p:cNvSpPr/>
          <p:nvPr/>
        </p:nvSpPr>
        <p:spPr>
          <a:xfrm>
            <a:off x="4727110" y="3976438"/>
            <a:ext cx="592738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 실패 감사 로그</a:t>
            </a:r>
            <a:endParaRPr lang="en-US" sz="533" dirty="0"/>
          </a:p>
        </p:txBody>
      </p:sp>
      <p:sp>
        <p:nvSpPr>
          <p:cNvPr id="21" name="Shape 18"/>
          <p:cNvSpPr/>
          <p:nvPr/>
        </p:nvSpPr>
        <p:spPr>
          <a:xfrm>
            <a:off x="4117801" y="450965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2" name="Text 19"/>
          <p:cNvSpPr/>
          <p:nvPr/>
        </p:nvSpPr>
        <p:spPr>
          <a:xfrm>
            <a:off x="4293030" y="4612210"/>
            <a:ext cx="49372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대시보드</a:t>
            </a:r>
            <a:endParaRPr lang="en-US" sz="533" dirty="0"/>
          </a:p>
        </p:txBody>
      </p:sp>
      <p:sp>
        <p:nvSpPr>
          <p:cNvPr id="23" name="Shape 20"/>
          <p:cNvSpPr/>
          <p:nvPr/>
        </p:nvSpPr>
        <p:spPr>
          <a:xfrm>
            <a:off x="2304288" y="514542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4" name="Text 21"/>
          <p:cNvSpPr/>
          <p:nvPr/>
        </p:nvSpPr>
        <p:spPr>
          <a:xfrm>
            <a:off x="2501216" y="5247982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운영 요약</a:t>
            </a:r>
            <a:endParaRPr lang="en-US" sz="533" dirty="0"/>
          </a:p>
        </p:txBody>
      </p:sp>
      <p:sp>
        <p:nvSpPr>
          <p:cNvPr id="25" name="Shape 22"/>
          <p:cNvSpPr/>
          <p:nvPr/>
        </p:nvSpPr>
        <p:spPr>
          <a:xfrm>
            <a:off x="3513297" y="514542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6" name="Text 23"/>
          <p:cNvSpPr/>
          <p:nvPr/>
        </p:nvSpPr>
        <p:spPr>
          <a:xfrm>
            <a:off x="3679243" y="5247982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위험 배터리</a:t>
            </a:r>
            <a:endParaRPr lang="en-US" sz="533" dirty="0"/>
          </a:p>
        </p:txBody>
      </p:sp>
      <p:sp>
        <p:nvSpPr>
          <p:cNvPr id="27" name="Shape 24"/>
          <p:cNvSpPr/>
          <p:nvPr/>
        </p:nvSpPr>
        <p:spPr>
          <a:xfrm>
            <a:off x="4722306" y="514542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8" name="Text 25"/>
          <p:cNvSpPr/>
          <p:nvPr/>
        </p:nvSpPr>
        <p:spPr>
          <a:xfrm>
            <a:off x="4783414" y="5247982"/>
            <a:ext cx="7219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오프라인 디바이스</a:t>
            </a:r>
            <a:endParaRPr lang="en-US" sz="533" dirty="0"/>
          </a:p>
        </p:txBody>
      </p:sp>
      <p:sp>
        <p:nvSpPr>
          <p:cNvPr id="29" name="Shape 26"/>
          <p:cNvSpPr/>
          <p:nvPr/>
        </p:nvSpPr>
        <p:spPr>
          <a:xfrm>
            <a:off x="5931315" y="514542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0" name="Text 27"/>
          <p:cNvSpPr/>
          <p:nvPr/>
        </p:nvSpPr>
        <p:spPr>
          <a:xfrm>
            <a:off x="6026095" y="5247982"/>
            <a:ext cx="654663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관리자 조작 로그</a:t>
            </a:r>
            <a:endParaRPr lang="en-US" sz="533" dirty="0"/>
          </a:p>
        </p:txBody>
      </p:sp>
      <p:sp>
        <p:nvSpPr>
          <p:cNvPr id="31" name="Shape 28"/>
          <p:cNvSpPr/>
          <p:nvPr/>
        </p:nvSpPr>
        <p:spPr>
          <a:xfrm>
            <a:off x="2304288" y="568580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2" name="Text 29"/>
          <p:cNvSpPr/>
          <p:nvPr/>
        </p:nvSpPr>
        <p:spPr>
          <a:xfrm>
            <a:off x="2572423" y="5788364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관리</a:t>
            </a:r>
            <a:endParaRPr lang="en-US" sz="533" dirty="0"/>
          </a:p>
        </p:txBody>
      </p:sp>
      <p:sp>
        <p:nvSpPr>
          <p:cNvPr id="33" name="Shape 30"/>
          <p:cNvSpPr/>
          <p:nvPr/>
        </p:nvSpPr>
        <p:spPr>
          <a:xfrm>
            <a:off x="3513297" y="568580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4" name="Text 31"/>
          <p:cNvSpPr/>
          <p:nvPr/>
        </p:nvSpPr>
        <p:spPr>
          <a:xfrm>
            <a:off x="3750450" y="5788364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관리</a:t>
            </a:r>
            <a:endParaRPr lang="en-US" sz="533" dirty="0"/>
          </a:p>
        </p:txBody>
      </p:sp>
      <p:sp>
        <p:nvSpPr>
          <p:cNvPr id="35" name="Shape 32"/>
          <p:cNvSpPr/>
          <p:nvPr/>
        </p:nvSpPr>
        <p:spPr>
          <a:xfrm>
            <a:off x="4722306" y="568580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6" name="Text 33"/>
          <p:cNvSpPr/>
          <p:nvPr/>
        </p:nvSpPr>
        <p:spPr>
          <a:xfrm>
            <a:off x="4918257" y="5788364"/>
            <a:ext cx="45232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디바이스·헬스</a:t>
            </a:r>
            <a:endParaRPr lang="en-US" sz="533" dirty="0"/>
          </a:p>
        </p:txBody>
      </p:sp>
      <p:sp>
        <p:nvSpPr>
          <p:cNvPr id="37" name="Shape 34"/>
          <p:cNvSpPr/>
          <p:nvPr/>
        </p:nvSpPr>
        <p:spPr>
          <a:xfrm>
            <a:off x="5931315" y="568580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8" name="Text 35"/>
          <p:cNvSpPr/>
          <p:nvPr/>
        </p:nvSpPr>
        <p:spPr>
          <a:xfrm>
            <a:off x="6199450" y="5788364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관리</a:t>
            </a:r>
            <a:endParaRPr lang="en-US" sz="533" dirty="0"/>
          </a:p>
        </p:txBody>
      </p:sp>
      <p:sp>
        <p:nvSpPr>
          <p:cNvPr id="39" name="Shape 36"/>
          <p:cNvSpPr/>
          <p:nvPr/>
        </p:nvSpPr>
        <p:spPr>
          <a:xfrm>
            <a:off x="7019407" y="568580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40" name="Text 37"/>
          <p:cNvSpPr/>
          <p:nvPr/>
        </p:nvSpPr>
        <p:spPr>
          <a:xfrm>
            <a:off x="7287542" y="5788364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</a:t>
            </a:r>
            <a:endParaRPr lang="en-US" sz="533" dirty="0"/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92DF4B4F-B1ED-00AA-EDE5-C2F28945ABDF}"/>
              </a:ext>
            </a:extLst>
          </p:cNvPr>
          <p:cNvSpPr/>
          <p:nvPr/>
        </p:nvSpPr>
        <p:spPr>
          <a:xfrm>
            <a:off x="5309646" y="516245"/>
            <a:ext cx="16553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492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6C0EFB1-7476-3EDB-25AC-93E3AFCEE2C6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5365795-8DDE-CF14-A13C-9C14B39E16D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Flow chart</a:t>
            </a:r>
            <a:r>
              <a:rPr lang="ko-KR" altLang="en-US" b="1" dirty="0"/>
              <a:t> </a:t>
            </a:r>
            <a:r>
              <a:rPr lang="en-US" altLang="ko-KR" b="1" dirty="0"/>
              <a:t>-</a:t>
            </a:r>
            <a:r>
              <a:rPr lang="ko-KR" altLang="en-US" b="1" dirty="0"/>
              <a:t> </a:t>
            </a:r>
            <a:r>
              <a:rPr lang="en-US" altLang="ko-KR" b="1" dirty="0"/>
              <a:t>admin</a:t>
            </a:r>
            <a:endParaRPr lang="ko-KR" altLang="en-US" b="1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54872" y="914400"/>
            <a:ext cx="7630282" cy="546138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91838" y="4760300"/>
            <a:ext cx="168022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6" name="Text 3"/>
          <p:cNvSpPr/>
          <p:nvPr/>
        </p:nvSpPr>
        <p:spPr>
          <a:xfrm>
            <a:off x="5023106" y="4765511"/>
            <a:ext cx="147177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endParaRPr lang="en-US" sz="451" dirty="0"/>
          </a:p>
        </p:txBody>
      </p:sp>
      <p:sp>
        <p:nvSpPr>
          <p:cNvPr id="7" name="Shape 4"/>
          <p:cNvSpPr/>
          <p:nvPr/>
        </p:nvSpPr>
        <p:spPr>
          <a:xfrm>
            <a:off x="4049233" y="116454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8" name="Text 5"/>
          <p:cNvSpPr/>
          <p:nvPr/>
        </p:nvSpPr>
        <p:spPr>
          <a:xfrm>
            <a:off x="4286386" y="1267095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목록</a:t>
            </a:r>
            <a:endParaRPr lang="en-US" sz="533" dirty="0"/>
          </a:p>
        </p:txBody>
      </p:sp>
      <p:sp>
        <p:nvSpPr>
          <p:cNvPr id="9" name="Shape 6"/>
          <p:cNvSpPr/>
          <p:nvPr/>
        </p:nvSpPr>
        <p:spPr>
          <a:xfrm>
            <a:off x="3444729" y="180031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0" name="Text 7"/>
          <p:cNvSpPr/>
          <p:nvPr/>
        </p:nvSpPr>
        <p:spPr>
          <a:xfrm>
            <a:off x="3588364" y="1902867"/>
            <a:ext cx="55691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검색 / 필터</a:t>
            </a:r>
            <a:endParaRPr lang="en-US" sz="533" dirty="0"/>
          </a:p>
        </p:txBody>
      </p:sp>
      <p:sp>
        <p:nvSpPr>
          <p:cNvPr id="11" name="Shape 8"/>
          <p:cNvSpPr/>
          <p:nvPr/>
        </p:nvSpPr>
        <p:spPr>
          <a:xfrm>
            <a:off x="4049233" y="243608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2" name="Text 9"/>
          <p:cNvSpPr/>
          <p:nvPr/>
        </p:nvSpPr>
        <p:spPr>
          <a:xfrm>
            <a:off x="4286386" y="2538640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상세</a:t>
            </a:r>
            <a:endParaRPr lang="en-US" sz="533" dirty="0"/>
          </a:p>
        </p:txBody>
      </p:sp>
      <p:sp>
        <p:nvSpPr>
          <p:cNvPr id="13" name="Shape 10"/>
          <p:cNvSpPr/>
          <p:nvPr/>
        </p:nvSpPr>
        <p:spPr>
          <a:xfrm>
            <a:off x="3444729" y="307185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4" name="Text 11"/>
          <p:cNvSpPr/>
          <p:nvPr/>
        </p:nvSpPr>
        <p:spPr>
          <a:xfrm>
            <a:off x="3641657" y="3169567"/>
            <a:ext cx="450365" cy="11725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/>
          </a:bodyPr>
          <a:lstStyle/>
          <a:p>
            <a:pPr algn="ctr"/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상태 선택</a:t>
            </a:r>
            <a:endParaRPr lang="en-US" sz="533" dirty="0"/>
          </a:p>
        </p:txBody>
      </p:sp>
      <p:sp>
        <p:nvSpPr>
          <p:cNvPr id="15" name="Shape 12"/>
          <p:cNvSpPr/>
          <p:nvPr/>
        </p:nvSpPr>
        <p:spPr>
          <a:xfrm>
            <a:off x="4653738" y="307185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6" name="Text 13"/>
          <p:cNvSpPr/>
          <p:nvPr/>
        </p:nvSpPr>
        <p:spPr>
          <a:xfrm>
            <a:off x="4819684" y="3174412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메모 입력</a:t>
            </a:r>
            <a:endParaRPr lang="en-US" sz="533" dirty="0"/>
          </a:p>
        </p:txBody>
      </p:sp>
      <p:sp>
        <p:nvSpPr>
          <p:cNvPr id="17" name="Shape 14"/>
          <p:cNvSpPr/>
          <p:nvPr/>
        </p:nvSpPr>
        <p:spPr>
          <a:xfrm>
            <a:off x="3444729" y="370762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8" name="Text 15"/>
          <p:cNvSpPr/>
          <p:nvPr/>
        </p:nvSpPr>
        <p:spPr>
          <a:xfrm>
            <a:off x="3549035" y="3810184"/>
            <a:ext cx="63560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BLOCKED 사유 입력</a:t>
            </a:r>
            <a:endParaRPr lang="en-US" sz="533" dirty="0"/>
          </a:p>
        </p:txBody>
      </p:sp>
      <p:sp>
        <p:nvSpPr>
          <p:cNvPr id="19" name="Shape 16"/>
          <p:cNvSpPr/>
          <p:nvPr/>
        </p:nvSpPr>
        <p:spPr>
          <a:xfrm>
            <a:off x="4653738" y="434340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0" name="Text 17"/>
          <p:cNvSpPr/>
          <p:nvPr/>
        </p:nvSpPr>
        <p:spPr>
          <a:xfrm>
            <a:off x="4921873" y="4445956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 확인</a:t>
            </a:r>
            <a:endParaRPr lang="en-US" sz="533" dirty="0"/>
          </a:p>
        </p:txBody>
      </p:sp>
      <p:sp>
        <p:nvSpPr>
          <p:cNvPr id="21" name="Shape 18"/>
          <p:cNvSpPr/>
          <p:nvPr/>
        </p:nvSpPr>
        <p:spPr>
          <a:xfrm>
            <a:off x="4653738" y="497917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2" name="Text 19"/>
          <p:cNvSpPr/>
          <p:nvPr/>
        </p:nvSpPr>
        <p:spPr>
          <a:xfrm>
            <a:off x="4757149" y="5081728"/>
            <a:ext cx="63736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상태 / 메모 저장</a:t>
            </a:r>
            <a:endParaRPr lang="en-US" sz="533" dirty="0"/>
          </a:p>
        </p:txBody>
      </p:sp>
      <p:sp>
        <p:nvSpPr>
          <p:cNvPr id="23" name="Shape 20"/>
          <p:cNvSpPr/>
          <p:nvPr/>
        </p:nvSpPr>
        <p:spPr>
          <a:xfrm>
            <a:off x="4653738" y="561494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4" name="Text 21"/>
          <p:cNvSpPr/>
          <p:nvPr/>
        </p:nvSpPr>
        <p:spPr>
          <a:xfrm>
            <a:off x="4850666" y="5717500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기록</a:t>
            </a:r>
            <a:endParaRPr lang="en-US" sz="533" dirty="0"/>
          </a:p>
        </p:txBody>
      </p:sp>
      <p:sp>
        <p:nvSpPr>
          <p:cNvPr id="25" name="Shape 22"/>
          <p:cNvSpPr/>
          <p:nvPr/>
        </p:nvSpPr>
        <p:spPr>
          <a:xfrm>
            <a:off x="7797137" y="116454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6" name="Text 23"/>
          <p:cNvSpPr/>
          <p:nvPr/>
        </p:nvSpPr>
        <p:spPr>
          <a:xfrm>
            <a:off x="7878115" y="1267095"/>
            <a:ext cx="68222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 · 디바이스 · 헬스</a:t>
            </a:r>
            <a:endParaRPr lang="en-US" sz="533" dirty="0"/>
          </a:p>
        </p:txBody>
      </p:sp>
      <p:sp>
        <p:nvSpPr>
          <p:cNvPr id="27" name="Shape 24"/>
          <p:cNvSpPr/>
          <p:nvPr/>
        </p:nvSpPr>
        <p:spPr>
          <a:xfrm>
            <a:off x="6588128" y="180031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8" name="Text 25"/>
          <p:cNvSpPr/>
          <p:nvPr/>
        </p:nvSpPr>
        <p:spPr>
          <a:xfrm>
            <a:off x="6825281" y="1902867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통계</a:t>
            </a:r>
            <a:endParaRPr lang="en-US" sz="533" dirty="0"/>
          </a:p>
        </p:txBody>
      </p:sp>
      <p:sp>
        <p:nvSpPr>
          <p:cNvPr id="29" name="Shape 26"/>
          <p:cNvSpPr/>
          <p:nvPr/>
        </p:nvSpPr>
        <p:spPr>
          <a:xfrm>
            <a:off x="7797137" y="180031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0" name="Text 27"/>
          <p:cNvSpPr/>
          <p:nvPr/>
        </p:nvSpPr>
        <p:spPr>
          <a:xfrm>
            <a:off x="7932141" y="1902867"/>
            <a:ext cx="574214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상태 목록</a:t>
            </a:r>
            <a:endParaRPr lang="en-US" sz="533" dirty="0"/>
          </a:p>
        </p:txBody>
      </p:sp>
      <p:sp>
        <p:nvSpPr>
          <p:cNvPr id="31" name="Shape 28"/>
          <p:cNvSpPr/>
          <p:nvPr/>
        </p:nvSpPr>
        <p:spPr>
          <a:xfrm>
            <a:off x="9006146" y="180031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2" name="Text 29"/>
          <p:cNvSpPr/>
          <p:nvPr/>
        </p:nvSpPr>
        <p:spPr>
          <a:xfrm>
            <a:off x="9172092" y="1902867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헬스 카드</a:t>
            </a:r>
            <a:endParaRPr lang="en-US" sz="533" dirty="0"/>
          </a:p>
        </p:txBody>
      </p:sp>
      <p:sp>
        <p:nvSpPr>
          <p:cNvPr id="33" name="Shape 30"/>
          <p:cNvSpPr/>
          <p:nvPr/>
        </p:nvSpPr>
        <p:spPr>
          <a:xfrm>
            <a:off x="6588128" y="243608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4" name="Text 31"/>
          <p:cNvSpPr/>
          <p:nvPr/>
        </p:nvSpPr>
        <p:spPr>
          <a:xfrm>
            <a:off x="6650488" y="2538640"/>
            <a:ext cx="71950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상태·모드·제조사 분포</a:t>
            </a:r>
            <a:endParaRPr lang="en-US" sz="533" dirty="0"/>
          </a:p>
        </p:txBody>
      </p:sp>
      <p:sp>
        <p:nvSpPr>
          <p:cNvPr id="35" name="Shape 32"/>
          <p:cNvSpPr/>
          <p:nvPr/>
        </p:nvSpPr>
        <p:spPr>
          <a:xfrm>
            <a:off x="6588128" y="307185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6" name="Text 33"/>
          <p:cNvSpPr/>
          <p:nvPr/>
        </p:nvSpPr>
        <p:spPr>
          <a:xfrm>
            <a:off x="6727285" y="3174412"/>
            <a:ext cx="56590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이벤트 Top 5</a:t>
            </a:r>
            <a:endParaRPr lang="en-US" sz="533" dirty="0"/>
          </a:p>
        </p:txBody>
      </p:sp>
      <p:sp>
        <p:nvSpPr>
          <p:cNvPr id="37" name="Shape 34"/>
          <p:cNvSpPr/>
          <p:nvPr/>
        </p:nvSpPr>
        <p:spPr>
          <a:xfrm>
            <a:off x="7797137" y="243608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8" name="Text 35"/>
          <p:cNvSpPr/>
          <p:nvPr/>
        </p:nvSpPr>
        <p:spPr>
          <a:xfrm>
            <a:off x="8003348" y="2538640"/>
            <a:ext cx="43180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상세</a:t>
            </a:r>
            <a:endParaRPr lang="en-US" sz="533" dirty="0"/>
          </a:p>
        </p:txBody>
      </p:sp>
      <p:sp>
        <p:nvSpPr>
          <p:cNvPr id="39" name="Shape 36"/>
          <p:cNvSpPr/>
          <p:nvPr/>
        </p:nvSpPr>
        <p:spPr>
          <a:xfrm>
            <a:off x="9006146" y="243608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40" name="Text 37"/>
          <p:cNvSpPr/>
          <p:nvPr/>
        </p:nvSpPr>
        <p:spPr>
          <a:xfrm>
            <a:off x="9130891" y="2538640"/>
            <a:ext cx="594734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오프라인·지연 경보</a:t>
            </a:r>
            <a:endParaRPr lang="en-US" sz="533" dirty="0"/>
          </a:p>
        </p:txBody>
      </p:sp>
      <p:pic>
        <p:nvPicPr>
          <p:cNvPr id="41" name="Image 0" descr="preencoded.png">
            <a:extLst>
              <a:ext uri="{FF2B5EF4-FFF2-40B4-BE49-F238E27FC236}">
                <a16:creationId xmlns:a16="http://schemas.microsoft.com/office/drawing/2014/main" id="{63C9898F-8FBB-0711-FB55-42F90E11ED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33410" y="914400"/>
            <a:ext cx="3640544" cy="5461386"/>
          </a:xfrm>
          <a:prstGeom prst="rect">
            <a:avLst/>
          </a:prstGeom>
        </p:spPr>
      </p:pic>
      <p:sp>
        <p:nvSpPr>
          <p:cNvPr id="42" name="Shape 2">
            <a:extLst>
              <a:ext uri="{FF2B5EF4-FFF2-40B4-BE49-F238E27FC236}">
                <a16:creationId xmlns:a16="http://schemas.microsoft.com/office/drawing/2014/main" id="{6B326D5D-0D76-77F1-A356-05C77E650260}"/>
              </a:ext>
            </a:extLst>
          </p:cNvPr>
          <p:cNvSpPr/>
          <p:nvPr/>
        </p:nvSpPr>
        <p:spPr>
          <a:xfrm>
            <a:off x="794547" y="4760300"/>
            <a:ext cx="168022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E665E2E7-AB75-D81A-37D9-774973DF4C76}"/>
              </a:ext>
            </a:extLst>
          </p:cNvPr>
          <p:cNvSpPr/>
          <p:nvPr/>
        </p:nvSpPr>
        <p:spPr>
          <a:xfrm>
            <a:off x="825815" y="4765511"/>
            <a:ext cx="147177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endParaRPr lang="en-US" sz="451" dirty="0"/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B0909056-8BA8-0A47-2696-EFA2C4A7A754}"/>
              </a:ext>
            </a:extLst>
          </p:cNvPr>
          <p:cNvSpPr/>
          <p:nvPr/>
        </p:nvSpPr>
        <p:spPr>
          <a:xfrm>
            <a:off x="1942792" y="4442414"/>
            <a:ext cx="289550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45" name="Text 5">
            <a:extLst>
              <a:ext uri="{FF2B5EF4-FFF2-40B4-BE49-F238E27FC236}">
                <a16:creationId xmlns:a16="http://schemas.microsoft.com/office/drawing/2014/main" id="{2DF72955-FF48-5232-9DE9-0563BA381FCA}"/>
              </a:ext>
            </a:extLst>
          </p:cNvPr>
          <p:cNvSpPr/>
          <p:nvPr/>
        </p:nvSpPr>
        <p:spPr>
          <a:xfrm>
            <a:off x="1974060" y="4447625"/>
            <a:ext cx="268705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기록</a:t>
            </a:r>
            <a:endParaRPr lang="en-US" sz="451" dirty="0"/>
          </a:p>
        </p:txBody>
      </p:sp>
      <p:sp>
        <p:nvSpPr>
          <p:cNvPr id="46" name="Shape 6">
            <a:extLst>
              <a:ext uri="{FF2B5EF4-FFF2-40B4-BE49-F238E27FC236}">
                <a16:creationId xmlns:a16="http://schemas.microsoft.com/office/drawing/2014/main" id="{A997CE65-984A-9C2D-7CB2-FFDE2DF59096}"/>
              </a:ext>
            </a:extLst>
          </p:cNvPr>
          <p:cNvSpPr/>
          <p:nvPr/>
        </p:nvSpPr>
        <p:spPr>
          <a:xfrm>
            <a:off x="1060951" y="116454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47" name="Text 7">
            <a:extLst>
              <a:ext uri="{FF2B5EF4-FFF2-40B4-BE49-F238E27FC236}">
                <a16:creationId xmlns:a16="http://schemas.microsoft.com/office/drawing/2014/main" id="{148A49D0-E7B5-6E3F-2307-1C62C372DE1C}"/>
              </a:ext>
            </a:extLst>
          </p:cNvPr>
          <p:cNvSpPr/>
          <p:nvPr/>
        </p:nvSpPr>
        <p:spPr>
          <a:xfrm>
            <a:off x="1329086" y="1267095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목록</a:t>
            </a:r>
            <a:endParaRPr lang="en-US" sz="533" dirty="0"/>
          </a:p>
        </p:txBody>
      </p:sp>
      <p:sp>
        <p:nvSpPr>
          <p:cNvPr id="48" name="Shape 8">
            <a:extLst>
              <a:ext uri="{FF2B5EF4-FFF2-40B4-BE49-F238E27FC236}">
                <a16:creationId xmlns:a16="http://schemas.microsoft.com/office/drawing/2014/main" id="{95EAC0B4-7FD9-E8D0-5884-76D92293F3A9}"/>
              </a:ext>
            </a:extLst>
          </p:cNvPr>
          <p:cNvSpPr/>
          <p:nvPr/>
        </p:nvSpPr>
        <p:spPr>
          <a:xfrm>
            <a:off x="93736" y="180031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6A3E3596-87AD-0C35-1FCB-410DBF5D39B4}"/>
              </a:ext>
            </a:extLst>
          </p:cNvPr>
          <p:cNvSpPr/>
          <p:nvPr/>
        </p:nvSpPr>
        <p:spPr>
          <a:xfrm>
            <a:off x="237371" y="1902867"/>
            <a:ext cx="55691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 / 이메일 검색</a:t>
            </a:r>
            <a:endParaRPr lang="en-US" sz="533" dirty="0"/>
          </a:p>
        </p:txBody>
      </p:sp>
      <p:sp>
        <p:nvSpPr>
          <p:cNvPr id="50" name="Shape 10">
            <a:extLst>
              <a:ext uri="{FF2B5EF4-FFF2-40B4-BE49-F238E27FC236}">
                <a16:creationId xmlns:a16="http://schemas.microsoft.com/office/drawing/2014/main" id="{71714FEE-AF73-D90E-C6E5-53A58124CD11}"/>
              </a:ext>
            </a:extLst>
          </p:cNvPr>
          <p:cNvSpPr/>
          <p:nvPr/>
        </p:nvSpPr>
        <p:spPr>
          <a:xfrm>
            <a:off x="2028126" y="180031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1" name="Text 11">
            <a:extLst>
              <a:ext uri="{FF2B5EF4-FFF2-40B4-BE49-F238E27FC236}">
                <a16:creationId xmlns:a16="http://schemas.microsoft.com/office/drawing/2014/main" id="{E1657DBA-1F07-F548-CDFD-425005EDE0D1}"/>
              </a:ext>
            </a:extLst>
          </p:cNvPr>
          <p:cNvSpPr/>
          <p:nvPr/>
        </p:nvSpPr>
        <p:spPr>
          <a:xfrm>
            <a:off x="2198062" y="1902867"/>
            <a:ext cx="50435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 · 권한 필터</a:t>
            </a:r>
            <a:endParaRPr lang="en-US" sz="533" dirty="0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848CEC59-785E-7D53-CA46-3F7274ED4329}"/>
              </a:ext>
            </a:extLst>
          </p:cNvPr>
          <p:cNvSpPr/>
          <p:nvPr/>
        </p:nvSpPr>
        <p:spPr>
          <a:xfrm>
            <a:off x="1060951" y="243608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3" name="Text 13">
            <a:extLst>
              <a:ext uri="{FF2B5EF4-FFF2-40B4-BE49-F238E27FC236}">
                <a16:creationId xmlns:a16="http://schemas.microsoft.com/office/drawing/2014/main" id="{58FC4433-7BB2-8635-3623-9677FA244768}"/>
              </a:ext>
            </a:extLst>
          </p:cNvPr>
          <p:cNvSpPr/>
          <p:nvPr/>
        </p:nvSpPr>
        <p:spPr>
          <a:xfrm>
            <a:off x="1329086" y="2533795"/>
            <a:ext cx="307952" cy="11725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/>
          </a:bodyPr>
          <a:lstStyle/>
          <a:p>
            <a:pPr algn="ctr"/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상세</a:t>
            </a:r>
            <a:endParaRPr lang="en-US" sz="533" dirty="0"/>
          </a:p>
        </p:txBody>
      </p:sp>
      <p:sp>
        <p:nvSpPr>
          <p:cNvPr id="54" name="Shape 14">
            <a:extLst>
              <a:ext uri="{FF2B5EF4-FFF2-40B4-BE49-F238E27FC236}">
                <a16:creationId xmlns:a16="http://schemas.microsoft.com/office/drawing/2014/main" id="{CA3726A8-A3AF-B9F4-EC46-41254CD71B9F}"/>
              </a:ext>
            </a:extLst>
          </p:cNvPr>
          <p:cNvSpPr/>
          <p:nvPr/>
        </p:nvSpPr>
        <p:spPr>
          <a:xfrm>
            <a:off x="456447" y="307185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5" name="Text 15">
            <a:extLst>
              <a:ext uri="{FF2B5EF4-FFF2-40B4-BE49-F238E27FC236}">
                <a16:creationId xmlns:a16="http://schemas.microsoft.com/office/drawing/2014/main" id="{7F15AED6-CB51-A284-79F1-FDD56FCA04A4}"/>
              </a:ext>
            </a:extLst>
          </p:cNvPr>
          <p:cNvSpPr/>
          <p:nvPr/>
        </p:nvSpPr>
        <p:spPr>
          <a:xfrm>
            <a:off x="631064" y="3174412"/>
            <a:ext cx="494987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정지 / 해제 선택</a:t>
            </a:r>
            <a:endParaRPr lang="en-US" sz="533" dirty="0"/>
          </a:p>
        </p:txBody>
      </p:sp>
      <p:sp>
        <p:nvSpPr>
          <p:cNvPr id="56" name="Shape 16">
            <a:extLst>
              <a:ext uri="{FF2B5EF4-FFF2-40B4-BE49-F238E27FC236}">
                <a16:creationId xmlns:a16="http://schemas.microsoft.com/office/drawing/2014/main" id="{43AF8F08-081E-D74F-B8BE-5E89779C478B}"/>
              </a:ext>
            </a:extLst>
          </p:cNvPr>
          <p:cNvSpPr/>
          <p:nvPr/>
        </p:nvSpPr>
        <p:spPr>
          <a:xfrm>
            <a:off x="1665456" y="307185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7" name="Text 17">
            <a:extLst>
              <a:ext uri="{FF2B5EF4-FFF2-40B4-BE49-F238E27FC236}">
                <a16:creationId xmlns:a16="http://schemas.microsoft.com/office/drawing/2014/main" id="{DF6CB3CD-0229-0579-E74A-14A7A06062E6}"/>
              </a:ext>
            </a:extLst>
          </p:cNvPr>
          <p:cNvSpPr/>
          <p:nvPr/>
        </p:nvSpPr>
        <p:spPr>
          <a:xfrm>
            <a:off x="1840684" y="3174412"/>
            <a:ext cx="49372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비밀번호 재설정</a:t>
            </a:r>
            <a:endParaRPr lang="en-US" sz="533" dirty="0"/>
          </a:p>
        </p:txBody>
      </p:sp>
      <p:sp>
        <p:nvSpPr>
          <p:cNvPr id="58" name="Shape 18">
            <a:extLst>
              <a:ext uri="{FF2B5EF4-FFF2-40B4-BE49-F238E27FC236}">
                <a16:creationId xmlns:a16="http://schemas.microsoft.com/office/drawing/2014/main" id="{F298F68A-84BD-6472-BA46-4C6CA7B53822}"/>
              </a:ext>
            </a:extLst>
          </p:cNvPr>
          <p:cNvSpPr/>
          <p:nvPr/>
        </p:nvSpPr>
        <p:spPr>
          <a:xfrm>
            <a:off x="456447" y="370762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9" name="Text 19">
            <a:extLst>
              <a:ext uri="{FF2B5EF4-FFF2-40B4-BE49-F238E27FC236}">
                <a16:creationId xmlns:a16="http://schemas.microsoft.com/office/drawing/2014/main" id="{4A45F584-0112-5FD3-671F-29CA2B487F19}"/>
              </a:ext>
            </a:extLst>
          </p:cNvPr>
          <p:cNvSpPr/>
          <p:nvPr/>
        </p:nvSpPr>
        <p:spPr>
          <a:xfrm>
            <a:off x="724582" y="3810184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사유 입력</a:t>
            </a:r>
            <a:endParaRPr lang="en-US" sz="533" dirty="0"/>
          </a:p>
        </p:txBody>
      </p:sp>
      <p:sp>
        <p:nvSpPr>
          <p:cNvPr id="60" name="Shape 20">
            <a:extLst>
              <a:ext uri="{FF2B5EF4-FFF2-40B4-BE49-F238E27FC236}">
                <a16:creationId xmlns:a16="http://schemas.microsoft.com/office/drawing/2014/main" id="{FE60A7DC-4E85-5380-BAE8-A3FD6DC8666A}"/>
              </a:ext>
            </a:extLst>
          </p:cNvPr>
          <p:cNvSpPr/>
          <p:nvPr/>
        </p:nvSpPr>
        <p:spPr>
          <a:xfrm>
            <a:off x="456447" y="434340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1" name="Text 21">
            <a:extLst>
              <a:ext uri="{FF2B5EF4-FFF2-40B4-BE49-F238E27FC236}">
                <a16:creationId xmlns:a16="http://schemas.microsoft.com/office/drawing/2014/main" id="{C0CE708F-6A22-0354-FFEA-8B052B5E5155}"/>
              </a:ext>
            </a:extLst>
          </p:cNvPr>
          <p:cNvSpPr/>
          <p:nvPr/>
        </p:nvSpPr>
        <p:spPr>
          <a:xfrm>
            <a:off x="724582" y="4445956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 확인</a:t>
            </a:r>
            <a:endParaRPr lang="en-US" sz="533" dirty="0"/>
          </a:p>
        </p:txBody>
      </p:sp>
      <p:sp>
        <p:nvSpPr>
          <p:cNvPr id="62" name="Shape 22">
            <a:extLst>
              <a:ext uri="{FF2B5EF4-FFF2-40B4-BE49-F238E27FC236}">
                <a16:creationId xmlns:a16="http://schemas.microsoft.com/office/drawing/2014/main" id="{5649F007-66B8-193F-FEB2-76DEE6036782}"/>
              </a:ext>
            </a:extLst>
          </p:cNvPr>
          <p:cNvSpPr/>
          <p:nvPr/>
        </p:nvSpPr>
        <p:spPr>
          <a:xfrm>
            <a:off x="456447" y="497917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3" name="Text 23">
            <a:extLst>
              <a:ext uri="{FF2B5EF4-FFF2-40B4-BE49-F238E27FC236}">
                <a16:creationId xmlns:a16="http://schemas.microsoft.com/office/drawing/2014/main" id="{9A7B0BFC-F1A5-7D49-C9F3-BE23E7EBA3C8}"/>
              </a:ext>
            </a:extLst>
          </p:cNvPr>
          <p:cNvSpPr/>
          <p:nvPr/>
        </p:nvSpPr>
        <p:spPr>
          <a:xfrm>
            <a:off x="653375" y="5081728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 변경 저장</a:t>
            </a:r>
            <a:endParaRPr lang="en-US" sz="533" dirty="0"/>
          </a:p>
        </p:txBody>
      </p:sp>
      <p:sp>
        <p:nvSpPr>
          <p:cNvPr id="64" name="Shape 24">
            <a:extLst>
              <a:ext uri="{FF2B5EF4-FFF2-40B4-BE49-F238E27FC236}">
                <a16:creationId xmlns:a16="http://schemas.microsoft.com/office/drawing/2014/main" id="{E2F3C14D-93B1-5D1E-FA0F-C55E94650D09}"/>
              </a:ext>
            </a:extLst>
          </p:cNvPr>
          <p:cNvSpPr/>
          <p:nvPr/>
        </p:nvSpPr>
        <p:spPr>
          <a:xfrm>
            <a:off x="1665456" y="561494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5" name="Text 25">
            <a:extLst>
              <a:ext uri="{FF2B5EF4-FFF2-40B4-BE49-F238E27FC236}">
                <a16:creationId xmlns:a16="http://schemas.microsoft.com/office/drawing/2014/main" id="{D3AAA5D4-583F-C148-2814-D9B94B04D6D2}"/>
              </a:ext>
            </a:extLst>
          </p:cNvPr>
          <p:cNvSpPr/>
          <p:nvPr/>
        </p:nvSpPr>
        <p:spPr>
          <a:xfrm>
            <a:off x="1862384" y="5717500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기록</a:t>
            </a:r>
            <a:endParaRPr lang="en-US" sz="533" dirty="0"/>
          </a:p>
        </p:txBody>
      </p:sp>
      <p:sp>
        <p:nvSpPr>
          <p:cNvPr id="66" name="Text 13">
            <a:extLst>
              <a:ext uri="{FF2B5EF4-FFF2-40B4-BE49-F238E27FC236}">
                <a16:creationId xmlns:a16="http://schemas.microsoft.com/office/drawing/2014/main" id="{9FFE3BF1-39F6-475A-CB00-E37DDA415C25}"/>
              </a:ext>
            </a:extLst>
          </p:cNvPr>
          <p:cNvSpPr/>
          <p:nvPr/>
        </p:nvSpPr>
        <p:spPr>
          <a:xfrm>
            <a:off x="5309646" y="516245"/>
            <a:ext cx="16553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492" dirty="0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440BF0AB-29C1-9980-9450-7E0CBC678E55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8E10229-197C-B39C-3707-01751E32FA07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Flow chart</a:t>
            </a:r>
            <a:r>
              <a:rPr lang="ko-KR" altLang="en-US" b="1" dirty="0"/>
              <a:t> </a:t>
            </a:r>
            <a:r>
              <a:rPr lang="en-US" altLang="ko-KR" b="1" dirty="0"/>
              <a:t>-</a:t>
            </a:r>
            <a:r>
              <a:rPr lang="ko-KR" altLang="en-US" b="1" dirty="0"/>
              <a:t> </a:t>
            </a:r>
            <a:r>
              <a:rPr lang="en-US" altLang="ko-KR" b="1" dirty="0"/>
              <a:t>admin</a:t>
            </a:r>
            <a:endParaRPr lang="ko-KR" altLang="en-US" b="1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2363" y="1334079"/>
            <a:ext cx="6421273" cy="418984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209440" y="3272663"/>
            <a:ext cx="289550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6" name="Text 3"/>
          <p:cNvSpPr/>
          <p:nvPr/>
        </p:nvSpPr>
        <p:spPr>
          <a:xfrm>
            <a:off x="4240708" y="3277874"/>
            <a:ext cx="268705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51" dirty="0"/>
          </a:p>
        </p:txBody>
      </p:sp>
      <p:sp>
        <p:nvSpPr>
          <p:cNvPr id="7" name="Shape 4"/>
          <p:cNvSpPr/>
          <p:nvPr/>
        </p:nvSpPr>
        <p:spPr>
          <a:xfrm>
            <a:off x="5483061" y="2001119"/>
            <a:ext cx="289550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8" name="Text 5"/>
          <p:cNvSpPr/>
          <p:nvPr/>
        </p:nvSpPr>
        <p:spPr>
          <a:xfrm>
            <a:off x="5514328" y="2006330"/>
            <a:ext cx="268705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51" dirty="0"/>
          </a:p>
        </p:txBody>
      </p:sp>
      <p:sp>
        <p:nvSpPr>
          <p:cNvPr id="9" name="Shape 6"/>
          <p:cNvSpPr/>
          <p:nvPr/>
        </p:nvSpPr>
        <p:spPr>
          <a:xfrm>
            <a:off x="2957601" y="158421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0" name="Text 7"/>
          <p:cNvSpPr/>
          <p:nvPr/>
        </p:nvSpPr>
        <p:spPr>
          <a:xfrm>
            <a:off x="3163812" y="1686774"/>
            <a:ext cx="43180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공지사항 관리</a:t>
            </a:r>
            <a:endParaRPr lang="en-US" sz="533" dirty="0"/>
          </a:p>
        </p:txBody>
      </p:sp>
      <p:sp>
        <p:nvSpPr>
          <p:cNvPr id="11" name="Shape 8"/>
          <p:cNvSpPr/>
          <p:nvPr/>
        </p:nvSpPr>
        <p:spPr>
          <a:xfrm>
            <a:off x="1990385" y="221999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2" name="Text 9"/>
          <p:cNvSpPr/>
          <p:nvPr/>
        </p:nvSpPr>
        <p:spPr>
          <a:xfrm>
            <a:off x="2218255" y="2322546"/>
            <a:ext cx="38844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공지 작성</a:t>
            </a:r>
            <a:endParaRPr lang="en-US" sz="533" dirty="0"/>
          </a:p>
        </p:txBody>
      </p:sp>
      <p:sp>
        <p:nvSpPr>
          <p:cNvPr id="13" name="Shape 10"/>
          <p:cNvSpPr/>
          <p:nvPr/>
        </p:nvSpPr>
        <p:spPr>
          <a:xfrm>
            <a:off x="3199394" y="221999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4" name="Text 11"/>
          <p:cNvSpPr/>
          <p:nvPr/>
        </p:nvSpPr>
        <p:spPr>
          <a:xfrm>
            <a:off x="3467529" y="2322546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수정</a:t>
            </a:r>
            <a:endParaRPr lang="en-US" sz="533" dirty="0"/>
          </a:p>
        </p:txBody>
      </p:sp>
      <p:sp>
        <p:nvSpPr>
          <p:cNvPr id="15" name="Shape 12"/>
          <p:cNvSpPr/>
          <p:nvPr/>
        </p:nvSpPr>
        <p:spPr>
          <a:xfrm>
            <a:off x="4408403" y="221999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6" name="Text 13"/>
          <p:cNvSpPr/>
          <p:nvPr/>
        </p:nvSpPr>
        <p:spPr>
          <a:xfrm>
            <a:off x="4583021" y="2317702"/>
            <a:ext cx="494987" cy="11725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/>
          </a:bodyPr>
          <a:lstStyle/>
          <a:p>
            <a:pPr algn="ctr"/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보관 / 삭제 확인</a:t>
            </a:r>
            <a:endParaRPr lang="en-US" sz="533" dirty="0"/>
          </a:p>
        </p:txBody>
      </p:sp>
      <p:sp>
        <p:nvSpPr>
          <p:cNvPr id="17" name="Shape 14"/>
          <p:cNvSpPr/>
          <p:nvPr/>
        </p:nvSpPr>
        <p:spPr>
          <a:xfrm>
            <a:off x="2957601" y="2855763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8" name="Text 15"/>
          <p:cNvSpPr/>
          <p:nvPr/>
        </p:nvSpPr>
        <p:spPr>
          <a:xfrm>
            <a:off x="3070294" y="2958319"/>
            <a:ext cx="61883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 / 공개 범위</a:t>
            </a:r>
            <a:endParaRPr lang="en-US" sz="533" dirty="0"/>
          </a:p>
        </p:txBody>
      </p:sp>
      <p:sp>
        <p:nvSpPr>
          <p:cNvPr id="19" name="Shape 16"/>
          <p:cNvSpPr/>
          <p:nvPr/>
        </p:nvSpPr>
        <p:spPr>
          <a:xfrm>
            <a:off x="2957601" y="3491535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0" name="Text 17"/>
          <p:cNvSpPr/>
          <p:nvPr/>
        </p:nvSpPr>
        <p:spPr>
          <a:xfrm>
            <a:off x="3132218" y="3594091"/>
            <a:ext cx="494987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/ 내용 입력</a:t>
            </a:r>
            <a:endParaRPr lang="en-US" sz="533" dirty="0"/>
          </a:p>
        </p:txBody>
      </p:sp>
      <p:sp>
        <p:nvSpPr>
          <p:cNvPr id="21" name="Shape 18"/>
          <p:cNvSpPr/>
          <p:nvPr/>
        </p:nvSpPr>
        <p:spPr>
          <a:xfrm>
            <a:off x="2957601" y="4127307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2" name="Text 19"/>
          <p:cNvSpPr/>
          <p:nvPr/>
        </p:nvSpPr>
        <p:spPr>
          <a:xfrm>
            <a:off x="3082345" y="4229863"/>
            <a:ext cx="594734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웹푸시·카카오 발송</a:t>
            </a:r>
            <a:endParaRPr lang="en-US" sz="533" dirty="0"/>
          </a:p>
        </p:txBody>
      </p:sp>
      <p:sp>
        <p:nvSpPr>
          <p:cNvPr id="23" name="Shape 20"/>
          <p:cNvSpPr/>
          <p:nvPr/>
        </p:nvSpPr>
        <p:spPr>
          <a:xfrm>
            <a:off x="2957601" y="476307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4" name="Text 21"/>
          <p:cNvSpPr/>
          <p:nvPr/>
        </p:nvSpPr>
        <p:spPr>
          <a:xfrm>
            <a:off x="3132218" y="4865635"/>
            <a:ext cx="494987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임시 저장 / 게시</a:t>
            </a:r>
            <a:endParaRPr lang="en-US" sz="533" dirty="0"/>
          </a:p>
        </p:txBody>
      </p:sp>
      <p:sp>
        <p:nvSpPr>
          <p:cNvPr id="25" name="Shape 22"/>
          <p:cNvSpPr/>
          <p:nvPr/>
        </p:nvSpPr>
        <p:spPr>
          <a:xfrm>
            <a:off x="6584628" y="158421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6" name="Text 23"/>
          <p:cNvSpPr/>
          <p:nvPr/>
        </p:nvSpPr>
        <p:spPr>
          <a:xfrm>
            <a:off x="6781556" y="1686774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목록</a:t>
            </a:r>
            <a:endParaRPr lang="en-US" sz="533" dirty="0"/>
          </a:p>
        </p:txBody>
      </p:sp>
      <p:sp>
        <p:nvSpPr>
          <p:cNvPr id="27" name="Shape 24"/>
          <p:cNvSpPr/>
          <p:nvPr/>
        </p:nvSpPr>
        <p:spPr>
          <a:xfrm>
            <a:off x="6584628" y="221999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8" name="Text 25"/>
          <p:cNvSpPr/>
          <p:nvPr/>
        </p:nvSpPr>
        <p:spPr>
          <a:xfrm>
            <a:off x="6636740" y="2279228"/>
            <a:ext cx="739997" cy="194200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기간·관리자·행위·대상 필터</a:t>
            </a:r>
            <a:endParaRPr lang="en-US" sz="533" dirty="0"/>
          </a:p>
        </p:txBody>
      </p:sp>
      <p:sp>
        <p:nvSpPr>
          <p:cNvPr id="29" name="Shape 26"/>
          <p:cNvSpPr/>
          <p:nvPr/>
        </p:nvSpPr>
        <p:spPr>
          <a:xfrm>
            <a:off x="6584628" y="2855763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0" name="Text 27"/>
          <p:cNvSpPr/>
          <p:nvPr/>
        </p:nvSpPr>
        <p:spPr>
          <a:xfrm>
            <a:off x="6781556" y="2958319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상세</a:t>
            </a:r>
            <a:endParaRPr lang="en-US" sz="533" dirty="0"/>
          </a:p>
        </p:txBody>
      </p:sp>
      <p:sp>
        <p:nvSpPr>
          <p:cNvPr id="31" name="Shape 28"/>
          <p:cNvSpPr/>
          <p:nvPr/>
        </p:nvSpPr>
        <p:spPr>
          <a:xfrm>
            <a:off x="6584628" y="3491535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2" name="Text 29"/>
          <p:cNvSpPr/>
          <p:nvPr/>
        </p:nvSpPr>
        <p:spPr>
          <a:xfrm>
            <a:off x="6750574" y="3594091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민감 정보 마스킹</a:t>
            </a:r>
            <a:endParaRPr lang="en-US" sz="533" dirty="0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D33B1C2D-091D-67F4-02B6-1B7CB64138A3}"/>
              </a:ext>
            </a:extLst>
          </p:cNvPr>
          <p:cNvSpPr/>
          <p:nvPr/>
        </p:nvSpPr>
        <p:spPr>
          <a:xfrm>
            <a:off x="5309646" y="516245"/>
            <a:ext cx="16553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492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2B7E54A-2519-8378-A6A3-EC551555BB2A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0828612-306F-9F8E-8841-57DDAB2A3F52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Flow chart</a:t>
            </a:r>
            <a:r>
              <a:rPr lang="ko-KR" altLang="en-US" b="1" dirty="0"/>
              <a:t> </a:t>
            </a:r>
            <a:r>
              <a:rPr lang="en-US" altLang="ko-KR" b="1" dirty="0"/>
              <a:t>-</a:t>
            </a:r>
            <a:r>
              <a:rPr lang="ko-KR" altLang="en-US" b="1" dirty="0"/>
              <a:t> </a:t>
            </a:r>
            <a:r>
              <a:rPr lang="en-US" altLang="ko-KR" b="1" dirty="0"/>
              <a:t>admin</a:t>
            </a:r>
            <a:endParaRPr lang="ko-KR" altLang="en-US" b="1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7CE5D-0A89-D585-2D8D-40A762D43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BEBEFDB-B986-26B3-22E4-2BE63456370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C91783-95E1-EAE8-CE42-14A02120E827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참고 논문</a:t>
            </a:r>
            <a:r>
              <a:rPr lang="en-US" altLang="ko-KR" b="1" dirty="0"/>
              <a:t>/</a:t>
            </a:r>
            <a:r>
              <a:rPr lang="ko-KR" altLang="en-US" b="1" dirty="0"/>
              <a:t>자료 출처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BCF98B-245C-E2D0-535A-9FC4D79F12D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6445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493F8BC-9467-F245-A465-D1E24CD947B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dd60280-6fcb-4f87-8429-1ef940aa6bd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1213</TotalTime>
  <Words>7780</Words>
  <Application>Microsoft Macintosh PowerPoint</Application>
  <PresentationFormat>A4 용지(210x297mm)</PresentationFormat>
  <Paragraphs>1865</Paragraphs>
  <Slides>45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6" baseType="lpstr">
      <vt:lpstr>굴림</vt:lpstr>
      <vt:lpstr>맑은 고딕</vt:lpstr>
      <vt:lpstr>Apple SD Gothic Neo</vt:lpstr>
      <vt:lpstr>Noto Sans KR</vt:lpstr>
      <vt:lpstr>Space Grotesk</vt:lpstr>
      <vt:lpstr>Urbanist</vt:lpstr>
      <vt:lpstr>Arial</vt:lpstr>
      <vt:lpstr>Calibri</vt:lpstr>
      <vt:lpstr>Calibri Light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카프카 셋업 환경</vt:lpstr>
      <vt:lpstr>카프카 셋업 환경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승훈</dc:creator>
  <cp:lastModifiedBy>정재환</cp:lastModifiedBy>
  <cp:revision>95</cp:revision>
  <dcterms:created xsi:type="dcterms:W3CDTF">2026-04-28T10:13:30Z</dcterms:created>
  <dcterms:modified xsi:type="dcterms:W3CDTF">2026-07-05T07:17:11Z</dcterms:modified>
</cp:coreProperties>
</file>