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ns3="http://schemas.microsoft.com/office/powerpoint/2010/main" xmlns:ns4="http://schemas.microsoft.com/office/powerpoint/2012/main" xmlns:p="http://schemas.openxmlformats.org/presentationml/2006/main" xmlns:r="http://schemas.openxmlformats.org/officeDocument/2006/relationships" saveSubsetFonts="1">
  <p:sldMasterIdLst>
    <p:sldMasterId id="2147483660" r:id="rId1"/>
  </p:sldMasterIdLst>
  <p:notesMasterIdLst>
    <p:notesMasterId r:id="rId71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6" r:id="rId34"/>
    <p:sldId id="275" r:id="rId35"/>
    <p:sldId id="335" r:id="rId36"/>
    <p:sldId id="339" r:id="rId76"/>
    <p:sldId id="338" r:id="rId77"/>
    <p:sldId id="337" r:id="rId78"/>
    <p:sldId id="272" r:id="rId37"/>
    <p:sldId id="278" r:id="rId38"/>
    <p:sldId id="305" r:id="rId39"/>
    <p:sldId id="257" r:id="rId40"/>
    <p:sldId id="306" r:id="rId41"/>
    <p:sldId id="291" r:id="rId42"/>
    <p:sldId id="292" r:id="rId43"/>
    <p:sldId id="288" r:id="rId44"/>
    <p:sldId id="289" r:id="rId45"/>
    <p:sldId id="307" r:id="rId46"/>
    <p:sldId id="290" r:id="rId47"/>
    <p:sldId id="302" r:id="rId48"/>
    <p:sldId id="308" r:id="rId49"/>
    <p:sldId id="273" r:id="rId50"/>
    <p:sldId id="309" r:id="rId51"/>
    <p:sldId id="310" r:id="rId52"/>
    <p:sldId id="311" r:id="rId53"/>
    <p:sldId id="312" r:id="rId54"/>
    <p:sldId id="279" r:id="rId55"/>
    <p:sldId id="313" r:id="rId56"/>
    <p:sldId id="280" r:id="rId57"/>
    <p:sldId id="281" r:id="rId58"/>
    <p:sldId id="293" r:id="rId59"/>
    <p:sldId id="314" r:id="rId60"/>
    <p:sldId id="283" r:id="rId61"/>
    <p:sldId id="294" r:id="rId62"/>
    <p:sldId id="284" r:id="rId63"/>
    <p:sldId id="287" r:id="rId64"/>
    <p:sldId id="295" r:id="rId65"/>
    <p:sldId id="296" r:id="rId66"/>
    <p:sldId id="297" r:id="rId67"/>
    <p:sldId id="315" r:id="rId68"/>
    <p:sldId id="316" r:id="rId69"/>
    <p:sldId id="318" r:id="rId70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ns3:sectionLst>
        <ns3:section name="서비스 벤치 마킹" id="{355E7A57-BEED-499C-AC3B-EEF70EC95753}">
          <ns3:sldIdLst>
            <ns3:sldId id="317"/>
            <ns3:sldId id="282"/>
            <ns3:sldId id="299"/>
          </ns3:sldIdLst>
        </ns3:section>
        <ns3:section name="팀프로젝트 역할 정의" id="{801F4109-CDB0-46CE-86BA-9A6A4BA3EDA3}">
          <ns3:sldIdLst>
            <ns3:sldId id="256"/>
            <ns3:sldId id="304"/>
            <ns3:sldId id="258"/>
            <ns3:sldId id="300"/>
            <ns3:sldId id="303"/>
            <ns3:sldId id="301"/>
            <ns3:sldId id="268"/>
          </ns3:sldIdLst>
        </ns3:section>
        <ns3:section name="PCB 회로 설계 및 개발" id="{2F0E382C-90A3-47BF-ACA4-67946E9A6AFF}">
          <ns3:sldIdLst/>
        </ns3:section>
        <ns3:section name="데이터 수집 및 파이프라인 구축" id="{3682CF2F-5BBD-4EFF-8CBC-69CDD364F7F8}">
          <ns3:sldIdLst>
            <ns3:sldId id="331"/>
            <ns3:sldId id="332"/>
            <ns3:sldId id="333"/>
            <ns3:sldId id="259"/>
            <ns3:sldId id="260"/>
            <ns3:sldId id="261"/>
            <ns3:sldId id="262"/>
            <ns3:sldId id="263"/>
          </ns3:sldIdLst>
        </ns3:section>
        <ns3:section name="열폭주 이상 징후 AI  모델 구현" id="{B1DF91BA-F1E5-4CAA-A658-F73F3ACE6614}">
          <ns3:sldIdLst>
            <ns3:sldId id="319"/>
            <ns3:sldId id="320"/>
            <ns3:sldId id="321"/>
            <ns3:sldId id="322"/>
            <ns3:sldId id="323"/>
            <ns3:sldId id="324"/>
            <ns3:sldId id="325"/>
            <ns3:sldId id="326"/>
            <ns3:sldId id="327"/>
            <ns3:sldId id="328"/>
            <ns3:sldId id="329"/>
            <ns3:sldId id="330"/>
          </ns3:sldIdLst>
        </ns3:section>
        <ns3:section name="웹 모니터링 및 대시보드" id="{065432A1-0687-429E-94F2-6DF0584393F1}">
          <ns3:sldIdLst>
            <ns3:sldId id="264"/>
            <ns3:sldId id="270"/>
            <ns3:sldId id="336"/>
            <ns3:sldId id="275"/>
            <ns3:sldId id="335"/>
            <ns3:sldId id="272"/>
            <ns3:sldId id="278"/>
            <ns3:sldId id="305"/>
            <ns3:sldId id="257"/>
            <ns3:sldId id="306"/>
            <ns3:sldId id="291"/>
            <ns3:sldId id="292"/>
            <ns3:sldId id="288"/>
            <ns3:sldId id="289"/>
            <ns3:sldId id="307"/>
            <ns3:sldId id="290"/>
            <ns3:sldId id="302"/>
            <ns3:sldId id="308"/>
            <ns3:sldId id="273"/>
            <ns3:sldId id="309"/>
            <ns3:sldId id="310"/>
            <ns3:sldId id="311"/>
            <ns3:sldId id="312"/>
            <ns3:sldId id="279"/>
            <ns3:sldId id="313"/>
            <ns3:sldId id="280"/>
            <ns3:sldId id="281"/>
            <ns3:sldId id="293"/>
            <ns3:sldId id="314"/>
            <ns3:sldId id="283"/>
            <ns3:sldId id="294"/>
            <ns3:sldId id="284"/>
            <ns3:sldId id="287"/>
            <ns3:sldId id="295"/>
            <ns3:sldId id="296"/>
            <ns3:sldId id="297"/>
            <ns3:sldId id="315"/>
            <ns3:sldId id="316"/>
            <ns3:sldId id="318"/>
          </ns3:sldIdLst>
        </ns3:section>
      </ns3:sectionLst>
    </p:ext>
    <p:ext uri="{EFAFB233-063F-42B5-8137-9DF3F51BA10A}">
      <ns4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928" autoAdjust="0"/>
    <p:restoredTop sz="95655"/>
  </p:normalViewPr>
  <p:slideViewPr>
    <p:cSldViewPr snapToGrid="0">
      <p:cViewPr varScale="1">
        <p:scale>
          <a:sx n="120" d="100"/>
          <a:sy n="120" d="100"/>
        </p:scale>
        <p:origin x="184" y="2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?>
<ns0:Relationships xmlns:ns0="http://schemas.openxmlformats.org/package/2006/relationships"><ns0:Relationship Id="rId26" Type="http://schemas.openxmlformats.org/officeDocument/2006/relationships/slide" Target="slides/slide25.xml" /><ns0:Relationship Id="rId21" Type="http://schemas.openxmlformats.org/officeDocument/2006/relationships/slide" Target="slides/slide20.xml" /><ns0:Relationship Id="rId42" Type="http://schemas.openxmlformats.org/officeDocument/2006/relationships/slide" Target="slides/slide41.xml" /><ns0:Relationship Id="rId47" Type="http://schemas.openxmlformats.org/officeDocument/2006/relationships/slide" Target="slides/slide46.xml" /><ns0:Relationship Id="rId63" Type="http://schemas.openxmlformats.org/officeDocument/2006/relationships/slide" Target="slides/slide62.xml" /><ns0:Relationship Id="rId68" Type="http://schemas.openxmlformats.org/officeDocument/2006/relationships/slide" Target="slides/slide67.xml" /><ns0:Relationship Id="rId2" Type="http://schemas.openxmlformats.org/officeDocument/2006/relationships/slide" Target="slides/slide1.xml" /><ns0:Relationship Id="rId16" Type="http://schemas.openxmlformats.org/officeDocument/2006/relationships/slide" Target="slides/slide15.xml" /><ns0:Relationship Id="rId29" Type="http://schemas.openxmlformats.org/officeDocument/2006/relationships/slide" Target="slides/slide28.xml" /><ns0:Relationship Id="rId11" Type="http://schemas.openxmlformats.org/officeDocument/2006/relationships/slide" Target="slides/slide10.xml" /><ns0:Relationship Id="rId24" Type="http://schemas.openxmlformats.org/officeDocument/2006/relationships/slide" Target="slides/slide23.xml" /><ns0:Relationship Id="rId32" Type="http://schemas.openxmlformats.org/officeDocument/2006/relationships/slide" Target="slides/slide31.xml" /><ns0:Relationship Id="rId37" Type="http://schemas.openxmlformats.org/officeDocument/2006/relationships/slide" Target="slides/slide36.xml" /><ns0:Relationship Id="rId40" Type="http://schemas.openxmlformats.org/officeDocument/2006/relationships/slide" Target="slides/slide39.xml" /><ns0:Relationship Id="rId45" Type="http://schemas.openxmlformats.org/officeDocument/2006/relationships/slide" Target="slides/slide44.xml" /><ns0:Relationship Id="rId53" Type="http://schemas.openxmlformats.org/officeDocument/2006/relationships/slide" Target="slides/slide52.xml" /><ns0:Relationship Id="rId58" Type="http://schemas.openxmlformats.org/officeDocument/2006/relationships/slide" Target="slides/slide57.xml" /><ns0:Relationship Id="rId66" Type="http://schemas.openxmlformats.org/officeDocument/2006/relationships/slide" Target="slides/slide65.xml" /><ns0:Relationship Id="rId74" Type="http://schemas.openxmlformats.org/officeDocument/2006/relationships/theme" Target="theme/theme1.xml" /><ns0:Relationship Id="rId5" Type="http://schemas.openxmlformats.org/officeDocument/2006/relationships/slide" Target="slides/slide4.xml" /><ns0:Relationship Id="rId61" Type="http://schemas.openxmlformats.org/officeDocument/2006/relationships/slide" Target="slides/slide60.xml" /><ns0:Relationship Id="rId19" Type="http://schemas.openxmlformats.org/officeDocument/2006/relationships/slide" Target="slides/slide18.xml" /><ns0:Relationship Id="rId14" Type="http://schemas.openxmlformats.org/officeDocument/2006/relationships/slide" Target="slides/slide13.xml" /><ns0:Relationship Id="rId22" Type="http://schemas.openxmlformats.org/officeDocument/2006/relationships/slide" Target="slides/slide21.xml" /><ns0:Relationship Id="rId27" Type="http://schemas.openxmlformats.org/officeDocument/2006/relationships/slide" Target="slides/slide26.xml" /><ns0:Relationship Id="rId30" Type="http://schemas.openxmlformats.org/officeDocument/2006/relationships/slide" Target="slides/slide29.xml" /><ns0:Relationship Id="rId35" Type="http://schemas.openxmlformats.org/officeDocument/2006/relationships/slide" Target="slides/slide34.xml" /><ns0:Relationship Id="rId43" Type="http://schemas.openxmlformats.org/officeDocument/2006/relationships/slide" Target="slides/slide42.xml" /><ns0:Relationship Id="rId48" Type="http://schemas.openxmlformats.org/officeDocument/2006/relationships/slide" Target="slides/slide47.xml" /><ns0:Relationship Id="rId56" Type="http://schemas.openxmlformats.org/officeDocument/2006/relationships/slide" Target="slides/slide55.xml" /><ns0:Relationship Id="rId64" Type="http://schemas.openxmlformats.org/officeDocument/2006/relationships/slide" Target="slides/slide63.xml" /><ns0:Relationship Id="rId69" Type="http://schemas.openxmlformats.org/officeDocument/2006/relationships/slide" Target="slides/slide68.xml" /><ns0:Relationship Id="rId8" Type="http://schemas.openxmlformats.org/officeDocument/2006/relationships/slide" Target="slides/slide7.xml" /><ns0:Relationship Id="rId51" Type="http://schemas.openxmlformats.org/officeDocument/2006/relationships/slide" Target="slides/slide50.xml" /><ns0:Relationship Id="rId72" Type="http://schemas.openxmlformats.org/officeDocument/2006/relationships/presProps" Target="presProps.xml" /><ns0:Relationship Id="rId3" Type="http://schemas.openxmlformats.org/officeDocument/2006/relationships/slide" Target="slides/slide2.xml" /><ns0:Relationship Id="rId12" Type="http://schemas.openxmlformats.org/officeDocument/2006/relationships/slide" Target="slides/slide11.xml" /><ns0:Relationship Id="rId17" Type="http://schemas.openxmlformats.org/officeDocument/2006/relationships/slide" Target="slides/slide16.xml" /><ns0:Relationship Id="rId25" Type="http://schemas.openxmlformats.org/officeDocument/2006/relationships/slide" Target="slides/slide24.xml" /><ns0:Relationship Id="rId33" Type="http://schemas.openxmlformats.org/officeDocument/2006/relationships/slide" Target="slides/slide32.xml" /><ns0:Relationship Id="rId38" Type="http://schemas.openxmlformats.org/officeDocument/2006/relationships/slide" Target="slides/slide37.xml" /><ns0:Relationship Id="rId46" Type="http://schemas.openxmlformats.org/officeDocument/2006/relationships/slide" Target="slides/slide45.xml" /><ns0:Relationship Id="rId59" Type="http://schemas.openxmlformats.org/officeDocument/2006/relationships/slide" Target="slides/slide58.xml" /><ns0:Relationship Id="rId67" Type="http://schemas.openxmlformats.org/officeDocument/2006/relationships/slide" Target="slides/slide66.xml" /><ns0:Relationship Id="rId20" Type="http://schemas.openxmlformats.org/officeDocument/2006/relationships/slide" Target="slides/slide19.xml" /><ns0:Relationship Id="rId41" Type="http://schemas.openxmlformats.org/officeDocument/2006/relationships/slide" Target="slides/slide40.xml" /><ns0:Relationship Id="rId54" Type="http://schemas.openxmlformats.org/officeDocument/2006/relationships/slide" Target="slides/slide53.xml" /><ns0:Relationship Id="rId62" Type="http://schemas.openxmlformats.org/officeDocument/2006/relationships/slide" Target="slides/slide61.xml" /><ns0:Relationship Id="rId70" Type="http://schemas.openxmlformats.org/officeDocument/2006/relationships/slide" Target="slides/slide69.xml" /><ns0:Relationship Id="rId75" Type="http://schemas.openxmlformats.org/officeDocument/2006/relationships/tableStyles" Target="tableStyles.xml" /><ns0:Relationship Id="rId1" Type="http://schemas.openxmlformats.org/officeDocument/2006/relationships/slideMaster" Target="slideMasters/slideMaster1.xml" /><ns0:Relationship Id="rId6" Type="http://schemas.openxmlformats.org/officeDocument/2006/relationships/slide" Target="slides/slide5.xml" /><ns0:Relationship Id="rId15" Type="http://schemas.openxmlformats.org/officeDocument/2006/relationships/slide" Target="slides/slide14.xml" /><ns0:Relationship Id="rId23" Type="http://schemas.openxmlformats.org/officeDocument/2006/relationships/slide" Target="slides/slide22.xml" /><ns0:Relationship Id="rId28" Type="http://schemas.openxmlformats.org/officeDocument/2006/relationships/slide" Target="slides/slide27.xml" /><ns0:Relationship Id="rId36" Type="http://schemas.openxmlformats.org/officeDocument/2006/relationships/slide" Target="slides/slide35.xml" /><ns0:Relationship Id="rId49" Type="http://schemas.openxmlformats.org/officeDocument/2006/relationships/slide" Target="slides/slide48.xml" /><ns0:Relationship Id="rId57" Type="http://schemas.openxmlformats.org/officeDocument/2006/relationships/slide" Target="slides/slide56.xml" /><ns0:Relationship Id="rId10" Type="http://schemas.openxmlformats.org/officeDocument/2006/relationships/slide" Target="slides/slide9.xml" /><ns0:Relationship Id="rId31" Type="http://schemas.openxmlformats.org/officeDocument/2006/relationships/slide" Target="slides/slide30.xml" /><ns0:Relationship Id="rId44" Type="http://schemas.openxmlformats.org/officeDocument/2006/relationships/slide" Target="slides/slide43.xml" /><ns0:Relationship Id="rId52" Type="http://schemas.openxmlformats.org/officeDocument/2006/relationships/slide" Target="slides/slide51.xml" /><ns0:Relationship Id="rId60" Type="http://schemas.openxmlformats.org/officeDocument/2006/relationships/slide" Target="slides/slide59.xml" /><ns0:Relationship Id="rId65" Type="http://schemas.openxmlformats.org/officeDocument/2006/relationships/slide" Target="slides/slide64.xml" /><ns0:Relationship Id="rId73" Type="http://schemas.openxmlformats.org/officeDocument/2006/relationships/viewProps" Target="viewProps.xml" /><ns0:Relationship Id="rId4" Type="http://schemas.openxmlformats.org/officeDocument/2006/relationships/slide" Target="slides/slide3.xml" /><ns0:Relationship Id="rId9" Type="http://schemas.openxmlformats.org/officeDocument/2006/relationships/slide" Target="slides/slide8.xml" /><ns0:Relationship Id="rId13" Type="http://schemas.openxmlformats.org/officeDocument/2006/relationships/slide" Target="slides/slide12.xml" /><ns0:Relationship Id="rId18" Type="http://schemas.openxmlformats.org/officeDocument/2006/relationships/slide" Target="slides/slide17.xml" /><ns0:Relationship Id="rId39" Type="http://schemas.openxmlformats.org/officeDocument/2006/relationships/slide" Target="slides/slide38.xml" /><ns0:Relationship Id="rId34" Type="http://schemas.openxmlformats.org/officeDocument/2006/relationships/slide" Target="slides/slide33.xml" /><ns0:Relationship Id="rId50" Type="http://schemas.openxmlformats.org/officeDocument/2006/relationships/slide" Target="slides/slide49.xml" /><ns0:Relationship Id="rId55" Type="http://schemas.openxmlformats.org/officeDocument/2006/relationships/slide" Target="slides/slide54.xml" /><ns0:Relationship Id="rId7" Type="http://schemas.openxmlformats.org/officeDocument/2006/relationships/slide" Target="slides/slide6.xml" /><ns0:Relationship Id="rId71" Type="http://schemas.openxmlformats.org/officeDocument/2006/relationships/notesMaster" Target="notesMasters/notesMaster1.xml" /><ns0:Relationship Id="rId76" Type="http://schemas.openxmlformats.org/officeDocument/2006/relationships/slide" Target="slides/slide70.xml" /><ns0:Relationship Id="rId77" Type="http://schemas.openxmlformats.org/officeDocument/2006/relationships/slide" Target="slides/slide71.xml" /><ns0:Relationship Id="rId78" Type="http://schemas.openxmlformats.org/officeDocument/2006/relationships/slide" Target="slides/slide72.xml" /></ns0: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2026. 6. 30.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화면</a:t>
            </a:r>
            <a:r>
              <a:rPr dirty="0"/>
              <a:t> (n2)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2. </a:t>
            </a:r>
            <a:r>
              <a:rPr dirty="0" err="1"/>
              <a:t>회원가입</a:t>
            </a:r>
            <a:r>
              <a:rPr dirty="0"/>
              <a:t> (n6)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3. </a:t>
            </a:r>
            <a:r>
              <a:rPr dirty="0" err="1"/>
              <a:t>계정</a:t>
            </a:r>
            <a:r>
              <a:rPr dirty="0"/>
              <a:t> </a:t>
            </a:r>
            <a:r>
              <a:rPr dirty="0" err="1"/>
              <a:t>찾기</a:t>
            </a:r>
            <a:r>
              <a:rPr dirty="0"/>
              <a:t> (n5)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10.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대시보드</a:t>
            </a:r>
            <a:r>
              <a:rPr dirty="0"/>
              <a:t> (n9)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12. </a:t>
            </a:r>
            <a:r>
              <a:rPr dirty="0" err="1"/>
              <a:t>이상점수</a:t>
            </a:r>
            <a:r>
              <a:rPr dirty="0"/>
              <a:t> </a:t>
            </a:r>
            <a:r>
              <a:rPr dirty="0" err="1"/>
              <a:t>표시</a:t>
            </a:r>
            <a:r>
              <a:rPr dirty="0"/>
              <a:t> (n12)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18. </a:t>
            </a:r>
            <a:r>
              <a:rPr dirty="0" err="1"/>
              <a:t>정상</a:t>
            </a:r>
            <a:r>
              <a:rPr dirty="0"/>
              <a:t>/</a:t>
            </a:r>
            <a:r>
              <a:rPr dirty="0" err="1"/>
              <a:t>주의</a:t>
            </a:r>
            <a:r>
              <a:rPr dirty="0"/>
              <a:t>/</a:t>
            </a:r>
            <a:r>
              <a:rPr dirty="0" err="1"/>
              <a:t>경고</a:t>
            </a:r>
            <a:r>
              <a:rPr dirty="0"/>
              <a:t> </a:t>
            </a:r>
            <a:r>
              <a:rPr dirty="0" err="1"/>
              <a:t>판정</a:t>
            </a:r>
            <a:r>
              <a:rPr dirty="0"/>
              <a:t> (n25)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13. 경고 알림 배너 (n13)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15. 추세 차트/이력 조회 (n45)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20. 이상 이벤트 저장 (n29)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21. </a:t>
            </a:r>
            <a:r>
              <a:rPr dirty="0" err="1"/>
              <a:t>알림</a:t>
            </a:r>
            <a:r>
              <a:rPr dirty="0"/>
              <a:t> </a:t>
            </a:r>
            <a:r>
              <a:rPr dirty="0" err="1"/>
              <a:t>센터</a:t>
            </a:r>
            <a:r>
              <a:rPr dirty="0"/>
              <a:t> (n30)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24. 알림 이력 조회 (n33)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23. SNS 알림 발송 (n32)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25. </a:t>
            </a:r>
            <a:r>
              <a:rPr dirty="0" err="1"/>
              <a:t>관리자</a:t>
            </a:r>
            <a:r>
              <a:rPr dirty="0"/>
              <a:t> </a:t>
            </a:r>
            <a:r>
              <a:rPr dirty="0" err="1"/>
              <a:t>콘솔</a:t>
            </a:r>
            <a:r>
              <a:rPr dirty="0"/>
              <a:t> (n35)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DB52A-CA70-468F-2B59-CC589568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03941-CD92-3BA0-5894-AAF42EF49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90B-84EA-582B-BD7C-812CCA878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1C8B5-48D1-0163-3EED-F49397DC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81756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27. </a:t>
            </a:r>
            <a:r>
              <a:rPr dirty="0" err="1"/>
              <a:t>차단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(gate) (n37)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4857B-9F18-2479-B2EC-9BC8F90D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6CBBF-AC76-8A93-E7AB-794413051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BAEAF-BACD-F1EA-6480-DE19023942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F9E07-A2D9-60E1-7180-A570ABEE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886687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29. 복구 확인(gate) (n39)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32. 임계치 설정 (n43)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abs/pii/S2352152X21006095" TargetMode="External"/><Relationship Id="rId13" Type="http://schemas.openxmlformats.org/officeDocument/2006/relationships/hyperlink" Target="https://www.large-battery.com/blog/why-lipo-batteries-explode-and-prevent-it/" TargetMode="External"/><Relationship Id="rId3" Type="http://schemas.openxmlformats.org/officeDocument/2006/relationships/hyperlink" Target="https://www.sciencedirect.com/science/article/pii/S2352340924005766" TargetMode="External"/><Relationship Id="rId7" Type="http://schemas.openxmlformats.org/officeDocument/2006/relationships/hyperlink" Target="https://spj.science.org/doi/10.34133/energymatadv.0008" TargetMode="External"/><Relationship Id="rId12" Type="http://schemas.openxmlformats.org/officeDocument/2006/relationships/hyperlink" Target="https://advanced.onlinelibrary.wiley.com/doi/10.1002/adsr.202400165" TargetMode="External"/><Relationship Id="rId2" Type="http://schemas.openxmlformats.org/officeDocument/2006/relationships/hyperlink" Target="https://data.nasa.gov/dataset/li-ion-battery-aging-datase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mc.ncbi.nlm.nih.gov/articles/PMC5503358/" TargetMode="External"/><Relationship Id="rId11" Type="http://schemas.openxmlformats.org/officeDocument/2006/relationships/hyperlink" Target="https://www.mdpi.com/2313-0105/11/10/356" TargetMode="External"/><Relationship Id="rId5" Type="http://schemas.openxmlformats.org/officeDocument/2006/relationships/hyperlink" Target="https://www.mdpi.com/2313-0105/3/2/14" TargetMode="External"/><Relationship Id="rId10" Type="http://schemas.openxmlformats.org/officeDocument/2006/relationships/hyperlink" Target="https://www.sciencedirect.com/science/article/abs/pii/S0360544225013908" TargetMode="External"/><Relationship Id="rId4" Type="http://schemas.openxmlformats.org/officeDocument/2006/relationships/hyperlink" Target="https://www.sandia.gov/app/uploads/sites/82/2022/10/301_Wang_Safety.pdf" TargetMode="External"/><Relationship Id="rId9" Type="http://schemas.openxmlformats.org/officeDocument/2006/relationships/hyperlink" Target="https://www.frontiersin.org/journals/physics/articles/10.3389/fphy.2025.1615872/ful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3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3" Type="http://schemas.openxmlformats.org/officeDocument/2006/relationships/slide" Target="slide38.xml"/><Relationship Id="rId7" Type="http://schemas.openxmlformats.org/officeDocument/2006/relationships/slide" Target="slide5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slide" Target="slide5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" Target="slide38.xml"/><Relationship Id="rId7" Type="http://schemas.openxmlformats.org/officeDocument/2006/relationships/image" Target="../media/image19.png"/><Relationship Id="rId12" Type="http://schemas.openxmlformats.org/officeDocument/2006/relationships/slide" Target="slide5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56.xml"/><Relationship Id="rId5" Type="http://schemas.openxmlformats.org/officeDocument/2006/relationships/slide" Target="slide47.xml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54.xml"/><Relationship Id="rId3" Type="http://schemas.openxmlformats.org/officeDocument/2006/relationships/slide" Target="slide38.xml"/><Relationship Id="rId7" Type="http://schemas.openxmlformats.org/officeDocument/2006/relationships/slide" Target="slide5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slide" Target="slide38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60.xml"/><Relationship Id="rId3" Type="http://schemas.openxmlformats.org/officeDocument/2006/relationships/slide" Target="slide38.xml"/><Relationship Id="rId7" Type="http://schemas.openxmlformats.org/officeDocument/2006/relationships/slide" Target="slide5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64.xml"/><Relationship Id="rId5" Type="http://schemas.openxmlformats.org/officeDocument/2006/relationships/slide" Target="slide47.xml"/><Relationship Id="rId10" Type="http://schemas.openxmlformats.org/officeDocument/2006/relationships/slide" Target="slide63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63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64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64.xml"/><Relationship Id="rId3" Type="http://schemas.openxmlformats.org/officeDocument/2006/relationships/image" Target="../media/image18.png"/><Relationship Id="rId7" Type="http://schemas.openxmlformats.org/officeDocument/2006/relationships/slide" Target="slide63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임계치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임계치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5307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527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임계치·설정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등급·알림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ns2:creationId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2916868957"/>
              </p:ext>
            </p:extLst>
          </p:nvPr>
        </p:nvGraphicFramePr>
        <p:xfrm>
          <a:off x="292608" y="841248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ns2:colId val="20000"/>
                    </a:ext>
                  </a:extLst>
                </a:gridCol>
                <a:gridCol w="944880">
                  <a:extLst>
                    <a:ext uri="{9D8B030D-6E8A-4147-A177-3AD203B41FA5}">
                      <ns2:colId val="20001"/>
                    </a:ext>
                  </a:extLst>
                </a:gridCol>
                <a:gridCol w="1747520">
                  <a:extLst>
                    <a:ext uri="{9D8B030D-6E8A-4147-A177-3AD203B41FA5}">
                      <ns2:colId val="20002"/>
                    </a:ext>
                  </a:extLst>
                </a:gridCol>
                <a:gridCol w="447040">
                  <a:extLst>
                    <a:ext uri="{9D8B030D-6E8A-4147-A177-3AD203B41FA5}">
                      <ns2:colId val="20003"/>
                    </a:ext>
                  </a:extLst>
                </a:gridCol>
                <a:gridCol w="673608">
                  <a:extLst>
                    <a:ext uri="{9D8B030D-6E8A-4147-A177-3AD203B41FA5}">
                      <ns2:colId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 로그인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이메일로 안전하게 로그인.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소셜 로그인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카카오·네이버 계정으로 빠른 로그인.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복구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분실 시 인증 후 접근 복구.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분리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역할별 화면 제공 및 접근 권한 제한.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세션 관리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로그인 상태 유지 및 미사용 세션 자동 만료.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 및 측정 이력 연결.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선택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저장된 배터리 선택 및 이전 이력 연속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세션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시작·종료를 세션 단위로 기록.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태깅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센서값과 AI 결과를 선택 배터리에 연결.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상태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장비와 대상 배터리 상태 확인.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 저장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원본 데이터 누락 없는 저장.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결과 저장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이상점수와 위험 판단 결과 저장.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재처리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후 마지막 처리 지점부터 재처리.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빠른 조회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 기간 전압·온도·전류 데이터 빠른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상태 요약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현재 센서값·이상점수·상태 등급 요약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실시간 반영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새로고침 없는 실시간 변화와 경고 반영.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추세 비교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기간·지표별 추세 그래프 비교.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이력 검색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이벤트·오류·제어 이력 검색.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페이징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이력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배터리별 세션·점수·이벤트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ns2:creationId id="{7127BE8F-F58D-D4AF-1597-FB019506C9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736038920"/>
              </p:ext>
            </p:extLst>
          </p:nvPr>
        </p:nvGraphicFramePr>
        <p:xfrm>
          <a:off x="4983480" y="842524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ns2:colId val="20000"/>
                    </a:ext>
                  </a:extLst>
                </a:gridCol>
                <a:gridCol w="944880">
                  <a:extLst>
                    <a:ext uri="{9D8B030D-6E8A-4147-A177-3AD203B41FA5}">
                      <ns2:colId val="20001"/>
                    </a:ext>
                  </a:extLst>
                </a:gridCol>
                <a:gridCol w="1747520">
                  <a:extLst>
                    <a:ext uri="{9D8B030D-6E8A-4147-A177-3AD203B41FA5}">
                      <ns2:colId val="20002"/>
                    </a:ext>
                  </a:extLst>
                </a:gridCol>
                <a:gridCol w="447040">
                  <a:extLst>
                    <a:ext uri="{9D8B030D-6E8A-4147-A177-3AD203B41FA5}">
                      <ns2:colId val="20003"/>
                    </a:ext>
                  </a:extLst>
                </a:gridCol>
                <a:gridCol w="673608">
                  <a:extLst>
                    <a:ext uri="{9D8B030D-6E8A-4147-A177-3AD203B41FA5}">
                      <ns2:colId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기록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시점 값·점수·대응 상태 기록.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이상점수를 4단계 위험 등급으로 표시.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기준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목적별 알림 기준 조정.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외부 알림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경고·위험 상태 외부 알림 발송.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 및 주요 변화만 발송.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이력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발송 기록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차단·복구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확인 후 차단·복구 실행.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긴급 차단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 Kill-Switch 연계 차단.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보안 검증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암호화 및 입력값 검증.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운영 추적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로그·감사·헬스 상태 확인.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반응형 화면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PC·태블릿·모바일별 관제 화면 제공.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센터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 경고와 놓친 알림 화면 표시.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파일 내보내기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 데이터와 이벤트 파일 내보내기.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복구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끊김 시 자동 복구와 상태 안내.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접근성 화면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다크모드와 접근성 화면 제공.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운영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권한과 활성 상태 관리.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통합 관제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전체 배터리·장비·위험 상태 통합 조회.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감사 이력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조회·설정·제어 이력 감사.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서비스 헬스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Kafka·DB·AI 상태 빠른 확인.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ns3:creationId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3D4F2445-BE73-9175-8578-40EA5975F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EBEE1DAF-8239-6879-7807-AAD7B9C8FCD5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ns2:creationId id="{A53B1234-3A2B-F371-535E-3053B5C943CD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ns2:creationId id="{70D2A32D-F107-EAC1-B5BA-3544576B1E4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ns2:creationId id="{F409B175-1F0D-730E-DAA9-E763E43A1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2419729196"/>
              </p:ext>
            </p:extLst>
          </p:nvPr>
        </p:nvGraphicFramePr>
        <p:xfrm>
          <a:off x="292608" y="841248"/>
          <a:ext cx="4526280" cy="368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ns2:colId val="20000"/>
                    </a:ext>
                  </a:extLst>
                </a:gridCol>
                <a:gridCol w="944880">
                  <a:extLst>
                    <a:ext uri="{9D8B030D-6E8A-4147-A177-3AD203B41FA5}">
                      <ns2:colId val="20001"/>
                    </a:ext>
                  </a:extLst>
                </a:gridCol>
                <a:gridCol w="1747520">
                  <a:extLst>
                    <a:ext uri="{9D8B030D-6E8A-4147-A177-3AD203B41FA5}">
                      <ns2:colId val="20002"/>
                    </a:ext>
                  </a:extLst>
                </a:gridCol>
                <a:gridCol w="447040">
                  <a:extLst>
                    <a:ext uri="{9D8B030D-6E8A-4147-A177-3AD203B41FA5}">
                      <ns2:colId val="20003"/>
                    </a:ext>
                  </a:extLst>
                </a:gridCol>
                <a:gridCol w="673608">
                  <a:extLst>
                    <a:ext uri="{9D8B030D-6E8A-4147-A177-3AD203B41FA5}">
                      <ns2:colId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공지 관리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공통 임계치와 공지사항 관리.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근거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 상승 원인 근거별 표시.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수명 예측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건강도와 잔존수명 추정.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 시연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시나리오 기반 탐지·알림·차단 검증.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원인 분석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전후 데이터와 조치 흐름 분석.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 격상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미확인 알림 격상과 대응 상태 기록.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채널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위험도별 알림 채널 분리.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끊김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오프라인과 수신 중단 즉시 경고.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비교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여러 배터리·세션 추세 비교.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대응 안내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등급별 즉시 조치 안내.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웹푸시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설치형 웹과 웹푸시 알림 제공.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보존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원본·요약 데이터 보존 정책 관리.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다국어 전환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한국어·영어 화면 전환.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ns2:creationId id="{A609654D-7CF8-5DAF-79B4-C0CEE6E22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651610601"/>
              </p:ext>
            </p:extLst>
          </p:nvPr>
        </p:nvGraphicFramePr>
        <p:xfrm>
          <a:off x="4983480" y="842524"/>
          <a:ext cx="4526280" cy="2638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ns2:colId val="20000"/>
                    </a:ext>
                  </a:extLst>
                </a:gridCol>
                <a:gridCol w="944880">
                  <a:extLst>
                    <a:ext uri="{9D8B030D-6E8A-4147-A177-3AD203B41FA5}">
                      <ns2:colId val="20001"/>
                    </a:ext>
                  </a:extLst>
                </a:gridCol>
                <a:gridCol w="1747520">
                  <a:extLst>
                    <a:ext uri="{9D8B030D-6E8A-4147-A177-3AD203B41FA5}">
                      <ns2:colId val="20002"/>
                    </a:ext>
                  </a:extLst>
                </a:gridCol>
                <a:gridCol w="447040">
                  <a:extLst>
                    <a:ext uri="{9D8B030D-6E8A-4147-A177-3AD203B41FA5}">
                      <ns2:colId val="20003"/>
                    </a:ext>
                  </a:extLst>
                </a:gridCol>
                <a:gridCol w="673608">
                  <a:extLst>
                    <a:ext uri="{9D8B030D-6E8A-4147-A177-3AD203B41FA5}">
                      <ns2:colId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/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점검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체크 완료 후 측정 시작.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이중 확인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조작 권한 확인과 2차 확인.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승인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 이력과 만료 경고 관리.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품질 표시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품질 점수와 분석 가능 여부 표시.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품질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선택 검증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QR/라벨 기반 배터리 선택 검증.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조건 저장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조건 템플릿 저장과 재사용.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템플릿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진단 자료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진단 자료 일괄 다운로드.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진단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 추적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민감 작업 사용자·시간·IP 추적.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SRS-WEB-060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백업·복구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백업과 복구 테스트로 데이터 유실 방지.</a:t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  <a:r>
                        <a:rPr sz="700" b="0" dirty="0" err="1">
                          <a:latin typeface="Apple SD Gothic Neo"/>
                        </a:rPr>
                        <a:t/>
                      </a:r>
                      <a:r>
                        <a:rPr sz="700" b="0" dirty="0">
                          <a:latin typeface="Apple SD Gothic Neo"/>
                        </a:rPr>
                        <a:t/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복구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ns3:creationId val="3924083775"/>
      </p:ext>
    </p:extLst>
  </p:cSld>
  <p:clrMapOvr>
    <a:masterClrMapping/>
  </p:clrMapOvr>
</p:sld>
</file>

<file path=ppt/slides/slide3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&lt; 1 / 5 &gt;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기능 정의서</a:t>
            </a:r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-1</a:t>
            </a:r>
          </a:p>
        </p:txBody>
      </p:sp>
      <p:graphicFrame>
        <p:nvGraphicFramePr>
          <p:cNvPr id="10" name="tbl33L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441251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핵심 정보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셀가드 서비스의 AI 열폭주 예측, 실시간 관제, 전압·전류·온도·SOC 수집 설명을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메뉴 이동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정의 필요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모달 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 영상 실행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화면의 데모 영상 버튼으로 데모 콘텐츠 진입을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정의 필요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로그인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이메일과 비밀번호 기반 로그인을 수행한다.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로그인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모달에서 관리자 계정 진입 동작을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소셜 로그인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Google 로그인 버튼으로 소셜 로그인을 수행한다.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진입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모달 또는 회원가입 버튼에서 회원가입 화면으로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입력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화면 복귀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화면에서 기존 계정 로그인 화면으로 돌아간다.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진입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화면에서 계정 찾기 화면으로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재설정 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441251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찾기 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화면에서 이메일 찾기 탭으로 표시 내용을 전환한다.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앱 셸에서 로그아웃 버튼으로 세션을 종료한다.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언어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토글로 화면 언어를 전환한다.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패널 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상단 알림 아이콘으로 미확인 알림 패널을 열고 닫는다.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메뉴 접기/펼치기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사이드 메뉴 접기 버튼으로 데스크톱 내비게이션 폭을 전환한다.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UI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사이드바 메뉴 이동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현재 연결 배터리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관제 화면에서 연결 배터리 ID와 측정 중 상태를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변경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변경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현재 이상점수, 정상·주의·위험 구간, 점수 추세를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화면 이동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이상점수 영역에서 이상 탐지 관리 화면으로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진입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대시보드의 릴레이 차단 버튼으로 Kill-Switch 승인 흐름에 진입한다.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계측 현재값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계측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</p:spTree>
    <p:extLst>
      <p:ext uri="{BB962C8B-B14F-4D97-AF65-F5344CB8AC3E}">
        <ns3:creationId val="212107086"/>
      </p:ext>
    </p:extLst>
  </p:cSld>
  <p:clrMapOvr>
    <a:masterClrMapping/>
  </p:clrMapOvr>
</p:sld>
</file>

<file path=ppt/slides/slide3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&lt; 2 / 5 &gt;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기능 정의서</a:t>
            </a:r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-2</a:t>
            </a:r>
          </a:p>
        </p:txBody>
      </p:sp>
      <p:graphicFrame>
        <p:nvGraphicFramePr>
          <p:cNvPr id="10" name="tbl33L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441251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정상, 주의, 경고, 위험 구간별 배터리 분포를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이벤트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대시보드에서 최근 이상 이벤트와 발생 시간을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 전체 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알림 영역에서 알림 센터로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전체 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공지 영역에서 공지사항 목록 화면으로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상태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상세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저장된 배터리 목록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모드 필터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선택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이동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 모달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441251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등록 입력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이름, 종류, 측정 모드, 직렬 셀 수, 제조사/모델을 입력해 `battery_id` 발급 흐름을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정보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연결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연결 확인 모달에서 한 번에 하나의 배터리만 연결됨을 확인하고 측정 세션을 시작한다.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확인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정보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 화면에서 기본 정보, 현재 상태, 최근 측정, 과거 세션을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과거 측정 세션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 화면에서 세션 ID, 시간, 상태, 이상점수 이력을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이력조회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이벤트 요약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관리 화면에서 활성 이상 이벤트, 오늘 발생 이상, 최고 이상점수, 모델 상태를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근거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XAI 영역에서 V_drop, dT/dt, gas_raw, pressure_raw 등 이상점수 기여 요인을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건강도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SOH, RUL, 누적 사이클, 내부 저항, 만료 임박 정보를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상세 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항목 또는 더보기 동작으로 이상 상세 모달을 연다.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기간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24시간, 7일, 30일 기간 탭을 전환한다.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지표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온도, 전압 등 표시 지표를 선택해 차트를 바꾼다.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 배터리 비교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비교 추가 버튼으로 여러 배터리 또는 세션을 겹쳐 본다.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</p:spTree>
    <p:extLst>
      <p:ext uri="{BB962C8B-B14F-4D97-AF65-F5344CB8AC3E}">
        <ns3:creationId val="212107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</a:t>
            </a:r>
            <a:r>
              <a:rPr lang="ko-KR" altLang="en-US" b="1"/>
              <a:t> 정보구조도 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a16:creationId xmlns:a16="http://schemas.microsoft.com/office/drawing/2014/main"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a16:creationId xmlns:a16="http://schemas.microsoft.com/office/drawing/2014/main"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
모니터링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추세 차트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경고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게이지
(전압·온도·전류·SOC)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이상점수·신호등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전압/전류 차트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 이벤트 이력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실시간 활성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이전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Sms</a:t>
            </a:r>
            <a:r>
              <a:rPr lang="en-US" sz="800" b="0" dirty="0">
                <a:solidFill>
                  <a:srgbClr val="262626"/>
                </a:solidFill>
              </a:rPr>
              <a:t> </a:t>
            </a:r>
            <a:r>
              <a:rPr lang="ko-KR" altLang="en-US" sz="800" b="0" dirty="0">
                <a:solidFill>
                  <a:srgbClr val="262626"/>
                </a:solidFill>
              </a:rPr>
              <a:t>알림 발송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이력 조회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  <a:endParaRPr sz="900" b="1" dirty="0">
              <a:solidFill>
                <a:srgbClr val="FFFFFF"/>
              </a:solidFill>
            </a:endParaRP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릴레이 제어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임계치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962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Flow chart</a:t>
            </a:r>
            <a:endParaRPr lang="ko-KR" altLang="en-US" b="1"/>
          </a:p>
        </p:txBody>
      </p:sp>
      <p:sp>
        <p:nvSpPr>
          <p:cNvPr id="67" name="Rounded Rectangle 66"/>
          <p:cNvSpPr/>
          <p:nvPr/>
        </p:nvSpPr>
        <p:spPr>
          <a:xfrm>
            <a:off x="1458468" y="1348592"/>
            <a:ext cx="233717" cy="137833"/>
          </a:xfrm>
          <a:prstGeom prst="roundRect">
            <a:avLst>
              <a:gd name="adj" fmla="val 8000"/>
            </a:avLst>
          </a:prstGeom>
          <a:solidFill>
            <a:srgbClr val="2B2B33"/>
          </a:solidFill>
          <a:ln w="6350">
            <a:solidFill>
              <a:srgbClr val="2B2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시작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178348" y="133436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로그인</a:t>
            </a:r>
            <a:r>
              <a:rPr sz="400" b="1" dirty="0">
                <a:solidFill>
                  <a:srgbClr val="FFFFFF"/>
                </a:solidFill>
              </a:rPr>
              <a:t> </a:t>
            </a:r>
            <a:r>
              <a:rPr sz="400" b="1" dirty="0" err="1">
                <a:solidFill>
                  <a:srgbClr val="FFFFFF"/>
                </a:solidFill>
              </a:rPr>
              <a:t>화면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3050670" y="10544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일반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050670" y="132410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소셜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r>
              <a:rPr sz="400" b="0" dirty="0">
                <a:solidFill>
                  <a:srgbClr val="4A4A57"/>
                </a:solidFill>
              </a:rPr>
              <a:t>(SSO)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50670" y="159378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계정 찾기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22993" y="148817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아이디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찾기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922993" y="166621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비밀번호 재설정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413428" y="219369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배터리 자산관리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69464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새 배터리 등록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69464" y="235500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저장된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배터리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선택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758632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모드 선택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59819" y="216854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시작(세션 생성)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47274" y="352172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실시간 대시보드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82889" y="304027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로그아웃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75408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추세 차트/이력 조회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68293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현재 이상 점수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4642479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정상/주의/경고 판정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82887" y="4420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알림 센터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017001" y="4266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SNS 알림 발송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017001" y="452306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알림 이력 조회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294107" y="53629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설정 / 제어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53311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차단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946927" y="562927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임계치 설정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946928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복구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12515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차단 확인(gate)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06132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복구 확인(gate)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1D5F367-9654-3EC3-9930-CF1FD20C89E9}"/>
              </a:ext>
            </a:extLst>
          </p:cNvPr>
          <p:cNvCxnSpPr>
            <a:cxnSpLocks/>
          </p:cNvCxnSpPr>
          <p:nvPr/>
        </p:nvCxnSpPr>
        <p:spPr>
          <a:xfrm>
            <a:off x="1760220" y="1415262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F441A7A2-49DA-320A-68C0-5E8B2E16D550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0" cy="555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8369FE-C98A-9DE3-AFD3-A8CE5FEC3AB7}"/>
              </a:ext>
            </a:extLst>
          </p:cNvPr>
          <p:cNvCxnSpPr>
            <a:cxnSpLocks/>
          </p:cNvCxnSpPr>
          <p:nvPr/>
        </p:nvCxnSpPr>
        <p:spPr>
          <a:xfrm>
            <a:off x="2911713" y="166621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1B27CAC-A5B4-6BDA-0991-3F2DB29953FC}"/>
              </a:ext>
            </a:extLst>
          </p:cNvPr>
          <p:cNvCxnSpPr>
            <a:cxnSpLocks/>
          </p:cNvCxnSpPr>
          <p:nvPr/>
        </p:nvCxnSpPr>
        <p:spPr>
          <a:xfrm>
            <a:off x="2911713" y="139248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9987BDB-4AAC-C048-3093-DF731DB86653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664BF6FB-3031-D9BD-6750-8192F521C424}"/>
              </a:ext>
            </a:extLst>
          </p:cNvPr>
          <p:cNvCxnSpPr>
            <a:cxnSpLocks/>
          </p:cNvCxnSpPr>
          <p:nvPr/>
        </p:nvCxnSpPr>
        <p:spPr>
          <a:xfrm>
            <a:off x="2642787" y="1392486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321EA2E-C0C4-2F67-FD8B-469B730B9348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AF28B6A-94AB-00E3-43E6-D827F53E00DB}"/>
              </a:ext>
            </a:extLst>
          </p:cNvPr>
          <p:cNvCxnSpPr>
            <a:cxnSpLocks/>
          </p:cNvCxnSpPr>
          <p:nvPr/>
        </p:nvCxnSpPr>
        <p:spPr>
          <a:xfrm>
            <a:off x="3784036" y="173161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96AEB471-44F1-B056-D3AD-D79033632DAE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0" cy="1745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A28EC9BF-9A1D-DF95-9955-2F22EE60E8AB}"/>
              </a:ext>
            </a:extLst>
          </p:cNvPr>
          <p:cNvCxnSpPr>
            <a:cxnSpLocks/>
          </p:cNvCxnSpPr>
          <p:nvPr/>
        </p:nvCxnSpPr>
        <p:spPr>
          <a:xfrm>
            <a:off x="3515108" y="1662699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DA62CB67-E157-A288-B93D-02DEDD532419}"/>
              </a:ext>
            </a:extLst>
          </p:cNvPr>
          <p:cNvCxnSpPr>
            <a:cxnSpLocks/>
          </p:cNvCxnSpPr>
          <p:nvPr/>
        </p:nvCxnSpPr>
        <p:spPr>
          <a:xfrm>
            <a:off x="3515108" y="1127872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BAD547CC-7D44-6CAE-3367-646506C300FE}"/>
              </a:ext>
            </a:extLst>
          </p:cNvPr>
          <p:cNvCxnSpPr>
            <a:cxnSpLocks/>
          </p:cNvCxnSpPr>
          <p:nvPr/>
        </p:nvCxnSpPr>
        <p:spPr>
          <a:xfrm>
            <a:off x="3515108" y="1392486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[R] 39">
            <a:extLst>
              <a:ext uri="{FF2B5EF4-FFF2-40B4-BE49-F238E27FC236}">
                <a16:creationId xmlns:a16="http://schemas.microsoft.com/office/drawing/2014/main" id="{6D4CCF91-5C33-B28D-98B8-EDA404102441}"/>
              </a:ext>
            </a:extLst>
          </p:cNvPr>
          <p:cNvCxnSpPr>
            <a:cxnSpLocks/>
          </p:cNvCxnSpPr>
          <p:nvPr/>
        </p:nvCxnSpPr>
        <p:spPr>
          <a:xfrm>
            <a:off x="3649571" y="1125562"/>
            <a:ext cx="0" cy="2669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[R] 42">
            <a:extLst>
              <a:ext uri="{FF2B5EF4-FFF2-40B4-BE49-F238E27FC236}">
                <a16:creationId xmlns:a16="http://schemas.microsoft.com/office/drawing/2014/main" id="{01191D53-C824-BADE-55FA-51EF68AACD0E}"/>
              </a:ext>
            </a:extLst>
          </p:cNvPr>
          <p:cNvCxnSpPr>
            <a:cxnSpLocks/>
          </p:cNvCxnSpPr>
          <p:nvPr/>
        </p:nvCxnSpPr>
        <p:spPr>
          <a:xfrm>
            <a:off x="3649571" y="1259024"/>
            <a:ext cx="9700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CF587D7-87E2-2FBE-61E0-469EB79C53B7}"/>
              </a:ext>
            </a:extLst>
          </p:cNvPr>
          <p:cNvCxnSpPr>
            <a:cxnSpLocks/>
          </p:cNvCxnSpPr>
          <p:nvPr/>
        </p:nvCxnSpPr>
        <p:spPr>
          <a:xfrm>
            <a:off x="4619651" y="1259024"/>
            <a:ext cx="0" cy="941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직선 연결선 200"/>
          <p:cNvCxnSpPr>
            <a:cxnSpLocks/>
          </p:cNvCxnSpPr>
          <p:nvPr/>
        </p:nvCxnSpPr>
        <p:spPr>
          <a:xfrm>
            <a:off x="4874699" y="2266549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직선 연결선 201"/>
          <p:cNvCxnSpPr>
            <a:cxnSpLocks/>
          </p:cNvCxnSpPr>
          <p:nvPr/>
        </p:nvCxnSpPr>
        <p:spPr>
          <a:xfrm>
            <a:off x="4936890" y="2124282"/>
            <a:ext cx="0" cy="2956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직선 화살표 연결선 202"/>
          <p:cNvCxnSpPr>
            <a:cxnSpLocks/>
          </p:cNvCxnSpPr>
          <p:nvPr/>
        </p:nvCxnSpPr>
        <p:spPr>
          <a:xfrm>
            <a:off x="4930507" y="212428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직선 화살표 연결선 203"/>
          <p:cNvCxnSpPr>
            <a:cxnSpLocks/>
          </p:cNvCxnSpPr>
          <p:nvPr/>
        </p:nvCxnSpPr>
        <p:spPr>
          <a:xfrm>
            <a:off x="4930507" y="242392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직선 연결선 205"/>
          <p:cNvCxnSpPr>
            <a:cxnSpLocks/>
          </p:cNvCxnSpPr>
          <p:nvPr/>
        </p:nvCxnSpPr>
        <p:spPr>
          <a:xfrm>
            <a:off x="2911713" y="3590636"/>
            <a:ext cx="23221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직선 연결선 206"/>
          <p:cNvCxnSpPr>
            <a:cxnSpLocks/>
          </p:cNvCxnSpPr>
          <p:nvPr/>
        </p:nvCxnSpPr>
        <p:spPr>
          <a:xfrm flipH="1">
            <a:off x="3139059" y="3096104"/>
            <a:ext cx="4872" cy="8512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직선 화살표 연결선 207"/>
          <p:cNvCxnSpPr>
            <a:cxnSpLocks/>
          </p:cNvCxnSpPr>
          <p:nvPr/>
        </p:nvCxnSpPr>
        <p:spPr>
          <a:xfrm>
            <a:off x="3143931" y="309610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직선 화살표 연결선 210"/>
          <p:cNvCxnSpPr>
            <a:cxnSpLocks/>
          </p:cNvCxnSpPr>
          <p:nvPr/>
        </p:nvCxnSpPr>
        <p:spPr>
          <a:xfrm>
            <a:off x="3139059" y="336493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1"/>
          <p:cNvCxnSpPr>
            <a:cxnSpLocks/>
          </p:cNvCxnSpPr>
          <p:nvPr/>
        </p:nvCxnSpPr>
        <p:spPr>
          <a:xfrm>
            <a:off x="3143930" y="366262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직선 연결선 217"/>
          <p:cNvCxnSpPr>
            <a:cxnSpLocks/>
          </p:cNvCxnSpPr>
          <p:nvPr/>
        </p:nvCxnSpPr>
        <p:spPr>
          <a:xfrm>
            <a:off x="3758546" y="5431914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직선 연결선 218"/>
          <p:cNvCxnSpPr>
            <a:cxnSpLocks/>
          </p:cNvCxnSpPr>
          <p:nvPr/>
        </p:nvCxnSpPr>
        <p:spPr>
          <a:xfrm>
            <a:off x="3814354" y="5162240"/>
            <a:ext cx="0" cy="747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직선 화살표 연결선 219"/>
          <p:cNvCxnSpPr>
            <a:cxnSpLocks/>
          </p:cNvCxnSpPr>
          <p:nvPr/>
        </p:nvCxnSpPr>
        <p:spPr>
          <a:xfrm>
            <a:off x="3814354" y="516224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20"/>
          <p:cNvCxnSpPr>
            <a:cxnSpLocks/>
          </p:cNvCxnSpPr>
          <p:nvPr/>
        </p:nvCxnSpPr>
        <p:spPr>
          <a:xfrm>
            <a:off x="3814354" y="543191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직선 화살표 연결선 221"/>
          <p:cNvCxnSpPr>
            <a:cxnSpLocks/>
          </p:cNvCxnSpPr>
          <p:nvPr/>
        </p:nvCxnSpPr>
        <p:spPr>
          <a:xfrm>
            <a:off x="3814354" y="57015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직선 화살표 연결선 223"/>
          <p:cNvCxnSpPr>
            <a:cxnSpLocks/>
          </p:cNvCxnSpPr>
          <p:nvPr/>
        </p:nvCxnSpPr>
        <p:spPr>
          <a:xfrm>
            <a:off x="5533903" y="2124282"/>
            <a:ext cx="2247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직선 연결선 224"/>
          <p:cNvCxnSpPr>
            <a:cxnSpLocks/>
          </p:cNvCxnSpPr>
          <p:nvPr/>
        </p:nvCxnSpPr>
        <p:spPr>
          <a:xfrm>
            <a:off x="6223071" y="2124282"/>
            <a:ext cx="9820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직선 화살표 연결선 226"/>
          <p:cNvCxnSpPr>
            <a:cxnSpLocks/>
          </p:cNvCxnSpPr>
          <p:nvPr/>
        </p:nvCxnSpPr>
        <p:spPr>
          <a:xfrm>
            <a:off x="6320862" y="2228898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직선 화살표 연결선 230"/>
          <p:cNvCxnSpPr>
            <a:cxnSpLocks/>
          </p:cNvCxnSpPr>
          <p:nvPr/>
        </p:nvCxnSpPr>
        <p:spPr>
          <a:xfrm>
            <a:off x="3758546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1"/>
          <p:cNvCxnSpPr>
            <a:cxnSpLocks/>
          </p:cNvCxnSpPr>
          <p:nvPr/>
        </p:nvCxnSpPr>
        <p:spPr>
          <a:xfrm>
            <a:off x="4432732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직선 화살표 연결선 234"/>
          <p:cNvCxnSpPr>
            <a:cxnSpLocks/>
          </p:cNvCxnSpPr>
          <p:nvPr/>
        </p:nvCxnSpPr>
        <p:spPr>
          <a:xfrm>
            <a:off x="3877676" y="4335114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직선 화살표 연결선 237"/>
          <p:cNvCxnSpPr>
            <a:cxnSpLocks/>
          </p:cNvCxnSpPr>
          <p:nvPr/>
        </p:nvCxnSpPr>
        <p:spPr>
          <a:xfrm>
            <a:off x="4417750" y="5162240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직선 화살표 연결선 238"/>
          <p:cNvCxnSpPr>
            <a:cxnSpLocks/>
          </p:cNvCxnSpPr>
          <p:nvPr/>
        </p:nvCxnSpPr>
        <p:spPr>
          <a:xfrm>
            <a:off x="4411367" y="5430216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직선 연결선 239"/>
          <p:cNvCxnSpPr>
            <a:cxnSpLocks/>
            <a:stCxn id="80" idx="2"/>
          </p:cNvCxnSpPr>
          <p:nvPr/>
        </p:nvCxnSpPr>
        <p:spPr>
          <a:xfrm>
            <a:off x="6692039" y="2306379"/>
            <a:ext cx="0" cy="4306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직선 연결선 240"/>
          <p:cNvCxnSpPr>
            <a:cxnSpLocks/>
          </p:cNvCxnSpPr>
          <p:nvPr/>
        </p:nvCxnSpPr>
        <p:spPr>
          <a:xfrm flipH="1">
            <a:off x="2679493" y="2725678"/>
            <a:ext cx="40119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직선 화살표 연결선 241"/>
          <p:cNvCxnSpPr>
            <a:cxnSpLocks/>
          </p:cNvCxnSpPr>
          <p:nvPr/>
        </p:nvCxnSpPr>
        <p:spPr>
          <a:xfrm>
            <a:off x="2679493" y="2725678"/>
            <a:ext cx="0" cy="7960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4"/>
          <p:cNvCxnSpPr>
            <a:cxnSpLocks/>
          </p:cNvCxnSpPr>
          <p:nvPr/>
        </p:nvCxnSpPr>
        <p:spPr>
          <a:xfrm>
            <a:off x="3130211" y="3946984"/>
            <a:ext cx="1638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직선 연결선 245"/>
          <p:cNvCxnSpPr>
            <a:cxnSpLocks/>
          </p:cNvCxnSpPr>
          <p:nvPr/>
        </p:nvCxnSpPr>
        <p:spPr>
          <a:xfrm>
            <a:off x="2679493" y="5297077"/>
            <a:ext cx="0" cy="133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직선 연결선 248"/>
          <p:cNvCxnSpPr>
            <a:cxnSpLocks/>
          </p:cNvCxnSpPr>
          <p:nvPr/>
        </p:nvCxnSpPr>
        <p:spPr>
          <a:xfrm>
            <a:off x="2679493" y="3659553"/>
            <a:ext cx="0" cy="1661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직선 화살표 연결선 249"/>
          <p:cNvCxnSpPr>
            <a:cxnSpLocks/>
          </p:cNvCxnSpPr>
          <p:nvPr/>
        </p:nvCxnSpPr>
        <p:spPr>
          <a:xfrm>
            <a:off x="2679493" y="4489115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3DA51DA0-DD8B-6B67-E556-FF2847C646E5}"/>
              </a:ext>
            </a:extLst>
          </p:cNvPr>
          <p:cNvCxnSpPr>
            <a:cxnSpLocks/>
          </p:cNvCxnSpPr>
          <p:nvPr/>
        </p:nvCxnSpPr>
        <p:spPr>
          <a:xfrm>
            <a:off x="5533903" y="2421105"/>
            <a:ext cx="79189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[R] 6">
            <a:extLst>
              <a:ext uri="{FF2B5EF4-FFF2-40B4-BE49-F238E27FC236}">
                <a16:creationId xmlns:a16="http://schemas.microsoft.com/office/drawing/2014/main" id="{D1D54CEE-08B1-2A3C-4743-5BE2DEE4E02B}"/>
              </a:ext>
            </a:extLst>
          </p:cNvPr>
          <p:cNvCxnSpPr>
            <a:cxnSpLocks/>
          </p:cNvCxnSpPr>
          <p:nvPr/>
        </p:nvCxnSpPr>
        <p:spPr>
          <a:xfrm>
            <a:off x="6328551" y="2124775"/>
            <a:ext cx="0" cy="2991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28257502-23FC-324A-117E-71B837573440}"/>
              </a:ext>
            </a:extLst>
          </p:cNvPr>
          <p:cNvCxnSpPr>
            <a:cxnSpLocks/>
          </p:cNvCxnSpPr>
          <p:nvPr/>
        </p:nvCxnSpPr>
        <p:spPr>
          <a:xfrm>
            <a:off x="4388711" y="1557089"/>
            <a:ext cx="7142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[R] 55">
            <a:extLst>
              <a:ext uri="{FF2B5EF4-FFF2-40B4-BE49-F238E27FC236}">
                <a16:creationId xmlns:a16="http://schemas.microsoft.com/office/drawing/2014/main" id="{53FBEE12-F151-4FAD-9A39-4351B8115BA7}"/>
              </a:ext>
            </a:extLst>
          </p:cNvPr>
          <p:cNvCxnSpPr>
            <a:cxnSpLocks/>
          </p:cNvCxnSpPr>
          <p:nvPr/>
        </p:nvCxnSpPr>
        <p:spPr>
          <a:xfrm>
            <a:off x="4387432" y="1738150"/>
            <a:ext cx="62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EA754E20-27EC-31CC-2FEF-D38631F56CE5}"/>
              </a:ext>
            </a:extLst>
          </p:cNvPr>
          <p:cNvCxnSpPr>
            <a:cxnSpLocks/>
          </p:cNvCxnSpPr>
          <p:nvPr/>
        </p:nvCxnSpPr>
        <p:spPr>
          <a:xfrm>
            <a:off x="4455169" y="1557089"/>
            <a:ext cx="0" cy="343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[R] 64">
            <a:extLst>
              <a:ext uri="{FF2B5EF4-FFF2-40B4-BE49-F238E27FC236}">
                <a16:creationId xmlns:a16="http://schemas.microsoft.com/office/drawing/2014/main" id="{6BB881CB-C764-C6AF-75F4-BEC3167F80B5}"/>
              </a:ext>
            </a:extLst>
          </p:cNvPr>
          <p:cNvCxnSpPr>
            <a:cxnSpLocks/>
          </p:cNvCxnSpPr>
          <p:nvPr/>
        </p:nvCxnSpPr>
        <p:spPr>
          <a:xfrm>
            <a:off x="2410567" y="1901085"/>
            <a:ext cx="20495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E696DA6-6AA2-24A1-ED9C-5EAF9F8852F9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2410567" y="1472195"/>
            <a:ext cx="1" cy="42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Rounded Rectangle 84">
            <a:extLst>
              <a:ext uri="{FF2B5EF4-FFF2-40B4-BE49-F238E27FC236}">
                <a16:creationId xmlns:a16="http://schemas.microsoft.com/office/drawing/2014/main" id="{40B1ADE9-1AED-1490-7C7A-135EA4FF1F3B}"/>
              </a:ext>
            </a:extLst>
          </p:cNvPr>
          <p:cNvSpPr/>
          <p:nvPr/>
        </p:nvSpPr>
        <p:spPr>
          <a:xfrm>
            <a:off x="3278016" y="329517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경고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22" name="직선 화살표 연결선 221">
            <a:extLst>
              <a:ext uri="{FF2B5EF4-FFF2-40B4-BE49-F238E27FC236}">
                <a16:creationId xmlns:a16="http://schemas.microsoft.com/office/drawing/2014/main" id="{D81C6745-2095-1E00-FC8F-22100BD44837}"/>
              </a:ext>
            </a:extLst>
          </p:cNvPr>
          <p:cNvCxnSpPr>
            <a:cxnSpLocks/>
          </p:cNvCxnSpPr>
          <p:nvPr/>
        </p:nvCxnSpPr>
        <p:spPr>
          <a:xfrm>
            <a:off x="3809278" y="590936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ounded Rectangle 103">
            <a:extLst>
              <a:ext uri="{FF2B5EF4-FFF2-40B4-BE49-F238E27FC236}">
                <a16:creationId xmlns:a16="http://schemas.microsoft.com/office/drawing/2014/main" id="{69128A6D-B5AA-7C8B-F47E-F96DDD7FD66F}"/>
              </a:ext>
            </a:extLst>
          </p:cNvPr>
          <p:cNvSpPr/>
          <p:nvPr/>
        </p:nvSpPr>
        <p:spPr>
          <a:xfrm>
            <a:off x="3950898" y="58366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계정 정보 수정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49" name="직선 화살표 연결선 211">
            <a:extLst>
              <a:ext uri="{FF2B5EF4-FFF2-40B4-BE49-F238E27FC236}">
                <a16:creationId xmlns:a16="http://schemas.microsoft.com/office/drawing/2014/main" id="{F01EBD07-88FF-1454-D8B9-EE9CCBA2260C}"/>
              </a:ext>
            </a:extLst>
          </p:cNvPr>
          <p:cNvCxnSpPr>
            <a:cxnSpLocks/>
          </p:cNvCxnSpPr>
          <p:nvPr/>
        </p:nvCxnSpPr>
        <p:spPr>
          <a:xfrm>
            <a:off x="3741224" y="367159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ounded Rectangle 87">
            <a:extLst>
              <a:ext uri="{FF2B5EF4-FFF2-40B4-BE49-F238E27FC236}">
                <a16:creationId xmlns:a16="http://schemas.microsoft.com/office/drawing/2014/main" id="{873F81B9-D8F3-90A6-4853-DF435F4024DF}"/>
              </a:ext>
            </a:extLst>
          </p:cNvPr>
          <p:cNvSpPr/>
          <p:nvPr/>
        </p:nvSpPr>
        <p:spPr>
          <a:xfrm>
            <a:off x="3880180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이력 목록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55" name="직선 화살표 연결선 234">
            <a:extLst>
              <a:ext uri="{FF2B5EF4-FFF2-40B4-BE49-F238E27FC236}">
                <a16:creationId xmlns:a16="http://schemas.microsoft.com/office/drawing/2014/main" id="{E20CA9EE-0134-74A1-D49F-9E4D63475FB7}"/>
              </a:ext>
            </a:extLst>
          </p:cNvPr>
          <p:cNvCxnSpPr>
            <a:cxnSpLocks/>
          </p:cNvCxnSpPr>
          <p:nvPr/>
        </p:nvCxnSpPr>
        <p:spPr>
          <a:xfrm>
            <a:off x="3877676" y="4591980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218">
            <a:extLst>
              <a:ext uri="{FF2B5EF4-FFF2-40B4-BE49-F238E27FC236}">
                <a16:creationId xmlns:a16="http://schemas.microsoft.com/office/drawing/2014/main" id="{E1AA4411-6BDD-C673-9B33-891B2B58A9BA}"/>
              </a:ext>
            </a:extLst>
          </p:cNvPr>
          <p:cNvCxnSpPr>
            <a:cxnSpLocks/>
          </p:cNvCxnSpPr>
          <p:nvPr/>
        </p:nvCxnSpPr>
        <p:spPr>
          <a:xfrm>
            <a:off x="3877676" y="4335114"/>
            <a:ext cx="0" cy="2568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217">
            <a:extLst>
              <a:ext uri="{FF2B5EF4-FFF2-40B4-BE49-F238E27FC236}">
                <a16:creationId xmlns:a16="http://schemas.microsoft.com/office/drawing/2014/main" id="{6D40941B-35E9-2436-5331-C175B20C61F5}"/>
              </a:ext>
            </a:extLst>
          </p:cNvPr>
          <p:cNvCxnSpPr>
            <a:cxnSpLocks/>
          </p:cNvCxnSpPr>
          <p:nvPr/>
        </p:nvCxnSpPr>
        <p:spPr>
          <a:xfrm>
            <a:off x="3747326" y="4489114"/>
            <a:ext cx="1303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직선 화살표 연결선 249">
            <a:extLst>
              <a:ext uri="{FF2B5EF4-FFF2-40B4-BE49-F238E27FC236}">
                <a16:creationId xmlns:a16="http://schemas.microsoft.com/office/drawing/2014/main" id="{60CD4644-521D-93FC-EF2F-6F3DEAD59E41}"/>
              </a:ext>
            </a:extLst>
          </p:cNvPr>
          <p:cNvCxnSpPr>
            <a:cxnSpLocks/>
          </p:cNvCxnSpPr>
          <p:nvPr/>
        </p:nvCxnSpPr>
        <p:spPr>
          <a:xfrm>
            <a:off x="2679493" y="5430216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2" name="Rounded Rectangle 91">
            <a:extLst>
              <a:ext uri="{FF2B5EF4-FFF2-40B4-BE49-F238E27FC236}">
                <a16:creationId xmlns:a16="http://schemas.microsoft.com/office/drawing/2014/main" id="{D0D1E7F5-B1F4-4D4F-324A-1AEF7C331D45}"/>
              </a:ext>
            </a:extLst>
          </p:cNvPr>
          <p:cNvSpPr/>
          <p:nvPr/>
        </p:nvSpPr>
        <p:spPr>
          <a:xfrm>
            <a:off x="3294107" y="38738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이상 점수</a:t>
            </a:r>
            <a:endParaRPr sz="400" b="0" dirty="0">
              <a:solidFill>
                <a:srgbClr val="4A4A5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7232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로그인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2313999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82298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3095657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3370339" y="2374592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로그인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2683620"/>
            <a:ext cx="87908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또는 소셜 로그인으로 계속하기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0132" y="2883580"/>
            <a:ext cx="60063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Google로 로그인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1657" y="3156251"/>
            <a:ext cx="69758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Microsoft로 로그인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68575" y="1544458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5" y="2017090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380856"/>
            <a:ext cx="70639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 또는 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18534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1120" y="3471339"/>
            <a:ext cx="5609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계정이 없으신가요?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0559" y="3465279"/>
            <a:ext cx="389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 만들기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1452" y="3713713"/>
            <a:ext cx="91790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계정을 찾을 수 없으신가요?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회원가입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3580408"/>
            <a:ext cx="117154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가입 완료 후 로그인 화면으로 이동합니다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8575" y="3210785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3333605" y="327137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회원가입</a:t>
            </a:r>
          </a:p>
        </p:txBody>
      </p:sp>
      <p:sp>
        <p:nvSpPr>
          <p:cNvPr id="20" name="TextBox 19">
            <a:hlinkClick r:id="rId3" action="ppaction://hlinksldjump"/>
          </p:cNvPr>
          <p:cNvSpPr txBox="1"/>
          <p:nvPr/>
        </p:nvSpPr>
        <p:spPr>
          <a:xfrm>
            <a:off x="2268576" y="3816723"/>
            <a:ext cx="6827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로그인으로 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8575" y="149598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196861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5" y="244124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5" y="291387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268576" y="1332381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68576" y="18050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227764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8576" y="2750273"/>
            <a:ext cx="46325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0" name="TextBox 29">
            <a:hlinkClick r:id="rId3" action="ppaction://hlinksldjump"/>
          </p:cNvPr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가입 시 등록한 이메일 주소를 입력하세요.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391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676138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메일의 링크에서 새 비밀번호를 설정할 수 있습니다.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31561" y="3691508"/>
            <a:ext cx="965835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재설정 링크 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13378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>
            <a:hlinkClick r:id="rId6" action="ppaction://hlinksldjump"/>
          </p:cNvPr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759250" y="1690250"/>
            <a:ext cx="4387500" cy="34775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970500" y="1877125"/>
            <a:ext cx="396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970500" y="2072125"/>
            <a:ext cx="396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새 배터리를 자산으로 등록합니다. 등록 시 battery_id(UUID)가 자동 발급됩니다.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970500" y="2279904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이름</a:t>
            </a:r>
          </a:p>
        </p:txBody>
      </p:sp>
      <p:sp>
        <p:nvSpPr>
          <p:cNvPr id="60" name="Shape 60"/>
          <p:cNvSpPr/>
          <p:nvPr/>
        </p:nvSpPr>
        <p:spPr>
          <a:xfrm>
            <a:off x="2970500" y="2421065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1"/>
          <p:cNvSpPr txBox="1"/>
          <p:nvPr/>
        </p:nvSpPr>
        <p:spPr>
          <a:xfrm>
            <a:off x="3076125" y="2421065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외부셀 #A13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970500" y="3112008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측정 모드 (target_mode 고정)</a:t>
            </a:r>
          </a:p>
        </p:txBody>
      </p:sp>
      <p:sp>
        <p:nvSpPr>
          <p:cNvPr id="63" name="Shape 63"/>
          <p:cNvSpPr/>
          <p:nvPr/>
        </p:nvSpPr>
        <p:spPr>
          <a:xfrm>
            <a:off x="2970500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TextBox 64"/>
          <p:cNvSpPr txBox="1"/>
          <p:nvPr/>
        </p:nvSpPr>
        <p:spPr>
          <a:xfrm>
            <a:off x="2970500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65" name="Shape 65"/>
          <p:cNvSpPr/>
          <p:nvPr/>
        </p:nvSpPr>
        <p:spPr>
          <a:xfrm>
            <a:off x="4324666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4324666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FFFFFF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7" name="Shape 67"/>
          <p:cNvSpPr/>
          <p:nvPr/>
        </p:nvSpPr>
        <p:spPr>
          <a:xfrm>
            <a:off x="5678832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TextBox 68"/>
          <p:cNvSpPr txBox="1"/>
          <p:nvPr/>
        </p:nvSpPr>
        <p:spPr>
          <a:xfrm>
            <a:off x="5678832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2970500" y="3973830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모델명 (선택)</a:t>
            </a:r>
          </a:p>
        </p:txBody>
      </p:sp>
      <p:sp>
        <p:nvSpPr>
          <p:cNvPr id="70" name="Shape 70"/>
          <p:cNvSpPr/>
          <p:nvPr/>
        </p:nvSpPr>
        <p:spPr>
          <a:xfrm>
            <a:off x="2970500" y="4114991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3076125" y="4114991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NCR18650 / LP803040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970500" y="4419600"/>
            <a:ext cx="3965000" cy="3714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battery_id는 등록 시 자동 발급되어 재연결 시 이전 이력 매칭에 사용됩니다.</a:t>
            </a:r>
          </a:p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배터리 종류·직렬 셀 수는 전압 임계값 해석과 AI 이상탐지 추정의 기준이 됩니다.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599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TextBox 74"/>
          <p:cNvSpPr txBox="1"/>
          <p:nvPr/>
        </p:nvSpPr>
        <p:spPr>
          <a:xfrm>
            <a:off x="599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75" name="Shape 75"/>
          <p:cNvSpPr/>
          <p:nvPr/>
        </p:nvSpPr>
        <p:spPr>
          <a:xfrm>
            <a:off x="651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651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등록</a:t>
            </a:r>
          </a:p>
        </p:txBody>
      </p:sp>
      <p:sp>
        <p:nvSpPr>
          <p:cNvPr id="77" name="TextBox 59"/>
          <p:cNvSpPr txBox="1"/>
          <p:nvPr/>
        </p:nvSpPr>
        <p:spPr>
          <a:xfrm>
            <a:off x="2970500" y="2681097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종류</a:t>
            </a:r>
          </a:p>
        </p:txBody>
      </p:sp>
      <p:sp>
        <p:nvSpPr>
          <p:cNvPr id="78" name="Shape 63"/>
          <p:cNvSpPr/>
          <p:nvPr/>
        </p:nvSpPr>
        <p:spPr>
          <a:xfrm>
            <a:off x="2970314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TextBox 64"/>
          <p:cNvSpPr txBox="1"/>
          <p:nvPr/>
        </p:nvSpPr>
        <p:spPr>
          <a:xfrm>
            <a:off x="2970314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리튬이온</a:t>
            </a:r>
          </a:p>
        </p:txBody>
      </p:sp>
      <p:sp>
        <p:nvSpPr>
          <p:cNvPr id="80" name="Shape 63"/>
          <p:cNvSpPr/>
          <p:nvPr/>
        </p:nvSpPr>
        <p:spPr>
          <a:xfrm>
            <a:off x="5003768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64"/>
          <p:cNvSpPr txBox="1"/>
          <p:nvPr/>
        </p:nvSpPr>
        <p:spPr>
          <a:xfrm>
            <a:off x="5003768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리튬폴리머</a:t>
            </a:r>
          </a:p>
        </p:txBody>
      </p:sp>
      <p:sp>
        <p:nvSpPr>
          <p:cNvPr id="82" name="TextBox 59"/>
          <p:cNvSpPr txBox="1"/>
          <p:nvPr/>
        </p:nvSpPr>
        <p:spPr>
          <a:xfrm>
            <a:off x="2970500" y="3542919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직렬 셀 수 (S, 선택)</a:t>
            </a:r>
          </a:p>
        </p:txBody>
      </p:sp>
      <p:sp>
        <p:nvSpPr>
          <p:cNvPr id="83" name="Shape 60"/>
          <p:cNvSpPr/>
          <p:nvPr/>
        </p:nvSpPr>
        <p:spPr>
          <a:xfrm>
            <a:off x="2970314" y="3684080"/>
            <a:ext cx="193167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TextBox 61"/>
          <p:cNvSpPr txBox="1"/>
          <p:nvPr/>
        </p:nvSpPr>
        <p:spPr>
          <a:xfrm>
            <a:off x="3075812" y="3684080"/>
            <a:ext cx="1745933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4S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3302000" y="2397125"/>
            <a:ext cx="3302000" cy="20637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63"/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01" name="Spinner Circle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solidFill>
            <a:srgbClr val="E8E8E8"/>
          </a:solidFill>
          <a:ln w="19050">
            <a:solidFill>
              <a:srgbClr val="CCCCCC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2" name="Spinner Arc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noFill/>
          <a:ln w="38100">
            <a:solidFill>
              <a:srgbClr val="1A1A2E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3" name="Loading Title"/>
          <p:cNvSpPr txBox="1">
            <a:spLocks noGrp="1"/>
          </p:cNvSpPr>
          <p:nvPr/>
        </p:nvSpPr>
        <p:spPr>
          <a:xfrm>
            <a:off x="3302000" y="2500312"/>
            <a:ext cx="3302000" cy="309563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1300" b="1" dirty="0">
                <a:solidFill>
                  <a:srgbClr val="1A1A2E"/>
                </a:solidFill>
              </a:rPr>
              <a:t>등록 중</a:t>
            </a:r>
          </a:p>
        </p:txBody>
      </p:sp>
      <p:sp>
        <p:nvSpPr>
          <p:cNvPr id="904" name="Loading Sub"/>
          <p:cNvSpPr txBox="1">
            <a:spLocks noGrp="1"/>
          </p:cNvSpPr>
          <p:nvPr/>
        </p:nvSpPr>
        <p:spPr>
          <a:xfrm>
            <a:off x="3302000" y="3635375"/>
            <a:ext cx="3302000" cy="2476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975" dirty="0">
                <a:solidFill>
                  <a:srgbClr val="666666"/>
                </a:solidFill>
              </a:rPr>
              <a:t>배터리를 등록하고 있습니다</a:t>
            </a:r>
            <a:r>
              <a:rPr lang="en-US" altLang="ko-KR" sz="975" dirty="0">
                <a:solidFill>
                  <a:srgbClr val="666666"/>
                </a:solidFill>
              </a:rPr>
              <a:t>. </a:t>
            </a:r>
            <a:r>
              <a:rPr lang="ko-KR" altLang="en-US" sz="975" dirty="0">
                <a:solidFill>
                  <a:srgbClr val="666666"/>
                </a:solidFill>
              </a:rPr>
              <a:t>잠시만 기다려주세요</a:t>
            </a:r>
            <a:r>
              <a:rPr lang="en-US" altLang="ko-KR" sz="975" dirty="0">
                <a:solidFill>
                  <a:srgbClr val="666666"/>
                </a:solidFill>
              </a:rPr>
              <a:t>.</a:t>
            </a:r>
          </a:p>
        </p:txBody>
      </p:sp>
      <p:sp>
        <p:nvSpPr>
          <p:cNvPr id="905" name="Progress BG"/>
          <p:cNvSpPr>
            <a:spLocks noGrp="1"/>
          </p:cNvSpPr>
          <p:nvPr/>
        </p:nvSpPr>
        <p:spPr>
          <a:xfrm>
            <a:off x="3673475" y="4027488"/>
            <a:ext cx="2559050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06" name="Progress Fill"/>
          <p:cNvSpPr>
            <a:spLocks noGrp="1"/>
          </p:cNvSpPr>
          <p:nvPr/>
        </p:nvSpPr>
        <p:spPr>
          <a:xfrm>
            <a:off x="3673475" y="4027488"/>
            <a:ext cx="1537494" cy="82550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1212694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2059505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관리자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434250" y="1600875"/>
            <a:ext cx="5037500" cy="36562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645500" y="1787750"/>
            <a:ext cx="461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645500" y="1982750"/>
            <a:ext cx="461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등록된 배터리를 선택하면 이전 측정 이력과 target_mode가 자동으로 연결됩니다.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2645500" y="2218375"/>
            <a:ext cx="4615000" cy="24375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TextBox 60"/>
          <p:cNvSpPr txBox="1"/>
          <p:nvPr/>
        </p:nvSpPr>
        <p:spPr>
          <a:xfrm>
            <a:off x="2751125" y="2218375"/>
            <a:ext cx="440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🔍  배터리 이름 또는 battery_id 검색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34875" y="2559625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026750" y="2559625"/>
            <a:ext cx="138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448625" y="2559625"/>
            <a:ext cx="11375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545500" y="2559625"/>
            <a:ext cx="71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65" name="Shape 65"/>
          <p:cNvSpPr/>
          <p:nvPr/>
        </p:nvSpPr>
        <p:spPr>
          <a:xfrm>
            <a:off x="2645500" y="2762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3F1FF"/>
          </a:solidFill>
          <a:ln w="9525">
            <a:solidFill>
              <a:srgbClr val="C7B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2734875" y="2762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333333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026750" y="2762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448625" y="2762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545500" y="2762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70" name="Shape 70"/>
          <p:cNvSpPr/>
          <p:nvPr/>
        </p:nvSpPr>
        <p:spPr>
          <a:xfrm>
            <a:off x="2645500" y="3055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2734875" y="3055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026750" y="3055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448625" y="3055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545500" y="3055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75" name="Shape 75"/>
          <p:cNvSpPr/>
          <p:nvPr/>
        </p:nvSpPr>
        <p:spPr>
          <a:xfrm>
            <a:off x="2645500" y="3347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2734875" y="3347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026750" y="3347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448625" y="3347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6545500" y="3347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80" name="Shape 80"/>
          <p:cNvSpPr/>
          <p:nvPr/>
        </p:nvSpPr>
        <p:spPr>
          <a:xfrm>
            <a:off x="2645500" y="3640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81"/>
          <p:cNvSpPr txBox="1"/>
          <p:nvPr/>
        </p:nvSpPr>
        <p:spPr>
          <a:xfrm>
            <a:off x="2734875" y="3640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외부셀 #A09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026750" y="3640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a02b…51d3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448625" y="3640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545500" y="3640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06-10 11:20</a:t>
            </a:r>
          </a:p>
        </p:txBody>
      </p:sp>
      <p:sp>
        <p:nvSpPr>
          <p:cNvPr id="86" name="Shape 86"/>
          <p:cNvSpPr/>
          <p:nvPr/>
        </p:nvSpPr>
        <p:spPr>
          <a:xfrm>
            <a:off x="631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TextBox 87">
            <a:hlinkClick r:id="rId6" action="ppaction://hlinksldjump"/>
          </p:cNvPr>
          <p:cNvSpPr txBox="1"/>
          <p:nvPr/>
        </p:nvSpPr>
        <p:spPr>
          <a:xfrm>
            <a:off x="631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88" name="Shape 88"/>
          <p:cNvSpPr/>
          <p:nvPr/>
        </p:nvSpPr>
        <p:spPr>
          <a:xfrm>
            <a:off x="683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TextBox 89"/>
          <p:cNvSpPr txBox="1"/>
          <p:nvPr/>
        </p:nvSpPr>
        <p:spPr>
          <a:xfrm>
            <a:off x="683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선택</a:t>
            </a:r>
          </a:p>
        </p:txBody>
      </p:sp>
      <p:sp>
        <p:nvSpPr>
          <p:cNvPr id="9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50559"/>
            <a:ext cx="7022810" cy="278731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666374"/>
            <a:ext cx="7022810" cy="2163195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1584" y="4042055"/>
            <a:ext cx="6828910" cy="1466368"/>
          </a:xfrm>
          <a:prstGeom prst="roundRect">
            <a:avLst>
              <a:gd name="adj" fmla="val 2479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60634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52692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644751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687218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5341623" y="4726764"/>
            <a:ext cx="888739" cy="9695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114244"/>
            <a:ext cx="750983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실시간 대시보드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7979" y="4726764"/>
            <a:ext cx="81602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V·I·T·SOC 복합 추세 차트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1440" y="3745146"/>
            <a:ext cx="71510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724448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077312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3430176" y="5581136"/>
            <a:ext cx="335064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53927" y="1502044"/>
            <a:ext cx="21524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현재 측정 배터리 이름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: </a:t>
            </a:r>
            <a:r>
              <a:rPr lang="ko-KR" altLang="en-US" sz="763" b="1" dirty="0" err="1">
                <a:solidFill>
                  <a:srgbClr val="333333"/>
                </a:solidFill>
                <a:latin typeface="Apple SD Gothic Neo"/>
              </a:rPr>
              <a:t>앤커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20000mA</a:t>
            </a:r>
          </a:p>
          <a:p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371584" y="1805012"/>
            <a:ext cx="2508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전압 (V)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1585" y="1968614"/>
            <a:ext cx="484750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3.72 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244884"/>
            <a:ext cx="64087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3.0 – 4.2V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3643" y="1805012"/>
            <a:ext cx="22126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전류 (I)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3643" y="1968614"/>
            <a:ext cx="48067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12.4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3644" y="2244884"/>
            <a:ext cx="56030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0 – 20A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5702" y="1805012"/>
            <a:ext cx="247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(T)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5702" y="1968614"/>
            <a:ext cx="416203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61 °C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5702" y="2244884"/>
            <a:ext cx="76982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⚠ 경고 임계값 60°C 초과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7760" y="1805012"/>
            <a:ext cx="50254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충전 상태 (SOC)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47761" y="1968614"/>
            <a:ext cx="38751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47761" y="2244884"/>
            <a:ext cx="6241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20 – 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2765990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이상점수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371585" y="2947771"/>
            <a:ext cx="21027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224041"/>
            <a:ext cx="113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위험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수준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— 80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시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즉각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대응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필요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371584" y="3387643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이상점수 분석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40741" y="3171967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디바이스 관리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3802710"/>
            <a:ext cx="79595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62" name="TextBox 61">
            <a:hlinkClick r:id="rId7" action="ppaction://hlinksldjump"/>
          </p:cNvPr>
          <p:cNvSpPr txBox="1"/>
          <p:nvPr/>
        </p:nvSpPr>
        <p:spPr>
          <a:xfrm>
            <a:off x="3476568" y="3805740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전체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이력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191669" y="3805740"/>
            <a:ext cx="39698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AI 이상탐지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356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3220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56084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08947" y="5611432"/>
            <a:ext cx="1775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0B267DDE-E5AB-1319-2086-36B8FF444A2C}"/>
              </a:ext>
            </a:extLst>
          </p:cNvPr>
          <p:cNvSpPr/>
          <p:nvPr/>
        </p:nvSpPr>
        <p:spPr>
          <a:xfrm>
            <a:off x="2803220" y="2732662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72" name="Rounded Rectangle 22">
            <a:extLst>
              <a:ext uri="{FF2B5EF4-FFF2-40B4-BE49-F238E27FC236}">
                <a16:creationId xmlns:a16="http://schemas.microsoft.com/office/drawing/2014/main" id="{3B1AD1AA-4D16-59D6-F24E-C27324F416C0}"/>
              </a:ext>
            </a:extLst>
          </p:cNvPr>
          <p:cNvSpPr/>
          <p:nvPr/>
        </p:nvSpPr>
        <p:spPr>
          <a:xfrm>
            <a:off x="5870001" y="2684756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9E60FC0-31D0-CF4C-0BBF-64FBFB9B00D3}"/>
              </a:ext>
            </a:extLst>
          </p:cNvPr>
          <p:cNvSpPr txBox="1"/>
          <p:nvPr/>
        </p:nvSpPr>
        <p:spPr>
          <a:xfrm>
            <a:off x="5973010" y="2763528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경고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523D3E-DC3B-4A12-C7BF-C44D53FB15D2}"/>
              </a:ext>
            </a:extLst>
          </p:cNvPr>
          <p:cNvSpPr txBox="1"/>
          <p:nvPr/>
        </p:nvSpPr>
        <p:spPr>
          <a:xfrm>
            <a:off x="5973010" y="2945309"/>
            <a:ext cx="1204998" cy="2508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미확인 </a:t>
            </a:r>
            <a:r>
              <a:rPr lang="en-US" altLang="ko-KR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3</a:t>
            </a:r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건</a:t>
            </a:r>
            <a:endParaRPr sz="1138" b="1" dirty="0">
              <a:solidFill>
                <a:schemeClr val="bg1">
                  <a:lumMod val="50000"/>
                </a:schemeClr>
              </a:solidFill>
              <a:latin typeface="Apple SD Gothic Neo"/>
            </a:endParaRPr>
          </a:p>
        </p:txBody>
      </p:sp>
      <p:sp>
        <p:nvSpPr>
          <p:cNvPr id="77" name="Rounded Rectangle 29">
            <a:hlinkClick r:id="rId9" action="ppaction://hlinksldjump"/>
            <a:extLst>
              <a:ext uri="{FF2B5EF4-FFF2-40B4-BE49-F238E27FC236}">
                <a16:creationId xmlns:a16="http://schemas.microsoft.com/office/drawing/2014/main" id="{3BBA6578-5ECB-34D3-2184-EA75092282E6}"/>
              </a:ext>
            </a:extLst>
          </p:cNvPr>
          <p:cNvSpPr/>
          <p:nvPr/>
        </p:nvSpPr>
        <p:spPr>
          <a:xfrm>
            <a:off x="6404645" y="2730200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4674628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0" y="723414"/>
            <a:ext cx="27257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49477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2941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0935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58929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268576" y="1111650"/>
            <a:ext cx="527070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9546" y="1120695"/>
            <a:ext cx="737918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실시간 대시보드 · AI 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9478" y="2142212"/>
            <a:ext cx="3462929" cy="1714018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09356" y="2142212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5809356" y="3933093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52486" y="1439164"/>
            <a:ext cx="397835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현재 이상점수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2486" y="1601971"/>
            <a:ext cx="339514" cy="19898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29" b="1" dirty="0">
                <a:solidFill>
                  <a:srgbClr val="C00000"/>
                </a:solidFill>
                <a:latin typeface="Apple SD Gothic Neo"/>
              </a:rPr>
              <a:t>8</a:t>
            </a:r>
            <a:r>
              <a:rPr lang="en-US" altLang="ko-KR" sz="1329" b="1" dirty="0">
                <a:solidFill>
                  <a:srgbClr val="C00000"/>
                </a:solidFill>
                <a:latin typeface="Apple SD Gothic Neo"/>
              </a:rPr>
              <a:t>2</a:t>
            </a:r>
            <a:endParaRPr sz="1329" b="1" dirty="0">
              <a:solidFill>
                <a:srgbClr val="C00000"/>
              </a:solidFill>
              <a:latin typeface="Apple SD Gothic Ne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352486" y="1876896"/>
            <a:ext cx="439873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위험 수준: 높음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12366" y="4192379"/>
            <a:ext cx="3269030" cy="1218040"/>
          </a:xfrm>
          <a:prstGeom prst="roundRect">
            <a:avLst>
              <a:gd name="adj" fmla="val 2970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TextBox 47"/>
          <p:cNvSpPr txBox="1"/>
          <p:nvPr/>
        </p:nvSpPr>
        <p:spPr>
          <a:xfrm>
            <a:off x="5912366" y="4011481"/>
            <a:ext cx="1108108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추세 (최근 24시간)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12366" y="5482778"/>
            <a:ext cx="870372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1시간 단위 평균 이상점수 변화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82182" y="4753160"/>
            <a:ext cx="729397" cy="9647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TextBox 55"/>
          <p:cNvSpPr txBox="1"/>
          <p:nvPr/>
        </p:nvSpPr>
        <p:spPr>
          <a:xfrm>
            <a:off x="7218539" y="4753160"/>
            <a:ext cx="656684" cy="9647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999999"/>
                </a:solidFill>
                <a:latin typeface="Apple SD Gothic Neo"/>
              </a:rPr>
              <a:t>이상점수 시계열 차트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2" name="Rounded Rectangle 21">
            <a:extLst>
              <a:ext uri="{FF2B5EF4-FFF2-40B4-BE49-F238E27FC236}">
                <a16:creationId xmlns:a16="http://schemas.microsoft.com/office/drawing/2014/main" id="{A4EB073C-BE4C-6AA2-A0AB-3E2B3DFA8602}"/>
              </a:ext>
            </a:extLst>
          </p:cNvPr>
          <p:cNvSpPr/>
          <p:nvPr/>
        </p:nvSpPr>
        <p:spPr>
          <a:xfrm>
            <a:off x="2249488" y="3934619"/>
            <a:ext cx="3467100" cy="1723231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8E0C9-A668-C0B8-C18A-164AA9711B4B}"/>
              </a:ext>
            </a:extLst>
          </p:cNvPr>
          <p:cNvSpPr txBox="1"/>
          <p:nvPr/>
        </p:nvSpPr>
        <p:spPr>
          <a:xfrm>
            <a:off x="2352675" y="3996531"/>
            <a:ext cx="131182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16" name="Rounded Rectangle 35">
            <a:extLst>
              <a:ext uri="{FF2B5EF4-FFF2-40B4-BE49-F238E27FC236}">
                <a16:creationId xmlns:a16="http://schemas.microsoft.com/office/drawing/2014/main" id="{5B99CCF5-3003-878F-D0B6-EADE9B320FB4}"/>
              </a:ext>
            </a:extLst>
          </p:cNvPr>
          <p:cNvSpPr/>
          <p:nvPr/>
        </p:nvSpPr>
        <p:spPr>
          <a:xfrm>
            <a:off x="2352675" y="4202906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B328796-8F5D-F9D0-A39A-C4123BA5F10D}"/>
              </a:ext>
            </a:extLst>
          </p:cNvPr>
          <p:cNvSpPr/>
          <p:nvPr/>
        </p:nvSpPr>
        <p:spPr>
          <a:xfrm>
            <a:off x="2352675" y="4677569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AE742DE4-C2D8-60DA-2554-76666AC42062}"/>
              </a:ext>
            </a:extLst>
          </p:cNvPr>
          <p:cNvSpPr/>
          <p:nvPr/>
        </p:nvSpPr>
        <p:spPr>
          <a:xfrm>
            <a:off x="2352675" y="5152231"/>
            <a:ext cx="3260725" cy="412750"/>
          </a:xfrm>
          <a:prstGeom prst="roundRect">
            <a:avLst>
              <a:gd name="adj" fmla="val 5454"/>
            </a:avLst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4454C321-AF8A-ED38-5796-721C6495F754}"/>
              </a:ext>
            </a:extLst>
          </p:cNvPr>
          <p:cNvSpPr txBox="1"/>
          <p:nvPr/>
        </p:nvSpPr>
        <p:spPr>
          <a:xfrm>
            <a:off x="2786062" y="4264819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0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~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59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D863BD1A-EB6E-51C1-D09B-BC75B35BACA9}"/>
              </a:ext>
            </a:extLst>
          </p:cNvPr>
          <p:cNvSpPr txBox="1"/>
          <p:nvPr/>
        </p:nvSpPr>
        <p:spPr>
          <a:xfrm>
            <a:off x="2445544" y="4440238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기준 범위 내 정상 상태 — 추가 조치 불필요</a:t>
            </a:r>
          </a:p>
        </p:txBody>
      </p:sp>
      <p:sp>
        <p:nvSpPr>
          <p:cNvPr id="898" name="TextBox 897">
            <a:extLst>
              <a:ext uri="{FF2B5EF4-FFF2-40B4-BE49-F238E27FC236}">
                <a16:creationId xmlns:a16="http://schemas.microsoft.com/office/drawing/2014/main" id="{F6EB5273-56F3-E31E-8AC5-A2C2F9766F4C}"/>
              </a:ext>
            </a:extLst>
          </p:cNvPr>
          <p:cNvSpPr txBox="1"/>
          <p:nvPr/>
        </p:nvSpPr>
        <p:spPr>
          <a:xfrm>
            <a:off x="2786062" y="4739481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60 ~ 84</a:t>
            </a:r>
          </a:p>
        </p:txBody>
      </p:sp>
      <p:sp>
        <p:nvSpPr>
          <p:cNvPr id="899" name="TextBox 898">
            <a:extLst>
              <a:ext uri="{FF2B5EF4-FFF2-40B4-BE49-F238E27FC236}">
                <a16:creationId xmlns:a16="http://schemas.microsoft.com/office/drawing/2014/main" id="{4D1EEDC2-3D20-86B3-FF1B-06906D127380}"/>
              </a:ext>
            </a:extLst>
          </p:cNvPr>
          <p:cNvSpPr txBox="1"/>
          <p:nvPr/>
        </p:nvSpPr>
        <p:spPr>
          <a:xfrm>
            <a:off x="2445544" y="4914900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징후 감지 — 모니터링 강화·추이 관찰</a:t>
            </a:r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1CD01A1A-A2F3-6346-6AD3-045C6E8B1FB9}"/>
              </a:ext>
            </a:extLst>
          </p:cNvPr>
          <p:cNvSpPr txBox="1"/>
          <p:nvPr/>
        </p:nvSpPr>
        <p:spPr>
          <a:xfrm>
            <a:off x="2786062" y="5214144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85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4C23233F-0EED-50CA-1230-D58F76A3B8C1}"/>
              </a:ext>
            </a:extLst>
          </p:cNvPr>
          <p:cNvSpPr txBox="1"/>
          <p:nvPr/>
        </p:nvSpPr>
        <p:spPr>
          <a:xfrm>
            <a:off x="2445544" y="5389563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 — 즉시 점검 및 조치 필요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21177E2-AF3F-1C4C-1A53-D79C00B8A468}"/>
              </a:ext>
            </a:extLst>
          </p:cNvPr>
          <p:cNvSpPr txBox="1"/>
          <p:nvPr/>
        </p:nvSpPr>
        <p:spPr>
          <a:xfrm>
            <a:off x="2445544" y="4264819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C7382578-2F3B-94D3-65DA-780628911948}"/>
              </a:ext>
            </a:extLst>
          </p:cNvPr>
          <p:cNvSpPr txBox="1"/>
          <p:nvPr/>
        </p:nvSpPr>
        <p:spPr>
          <a:xfrm>
            <a:off x="2445544" y="4739481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7A7E26CC-1F59-3060-D221-E9E182F865B3}"/>
              </a:ext>
            </a:extLst>
          </p:cNvPr>
          <p:cNvSpPr txBox="1"/>
          <p:nvPr/>
        </p:nvSpPr>
        <p:spPr>
          <a:xfrm>
            <a:off x="2445544" y="5214144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26" name="Rounded Rectangle 41">
            <a:extLst>
              <a:ext uri="{FF2B5EF4-FFF2-40B4-BE49-F238E27FC236}">
                <a16:creationId xmlns:a16="http://schemas.microsoft.com/office/drawing/2014/main" id="{373CFC72-25E5-0189-6BD3-F59B5A620BE6}"/>
              </a:ext>
            </a:extLst>
          </p:cNvPr>
          <p:cNvSpPr/>
          <p:nvPr/>
        </p:nvSpPr>
        <p:spPr>
          <a:xfrm>
            <a:off x="3362009" y="1586875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TextBox 41">
            <a:hlinkClick r:id="rId8" action="ppaction://hlinksldjump"/>
            <a:extLst>
              <a:ext uri="{FF2B5EF4-FFF2-40B4-BE49-F238E27FC236}">
                <a16:creationId xmlns:a16="http://schemas.microsoft.com/office/drawing/2014/main" id="{DA689F57-816D-2E6F-91D6-F623E568A85F}"/>
              </a:ext>
            </a:extLst>
          </p:cNvPr>
          <p:cNvSpPr txBox="1"/>
          <p:nvPr/>
        </p:nvSpPr>
        <p:spPr>
          <a:xfrm>
            <a:off x="3477137" y="1647469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분석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2521285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75401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정상/주의/경고 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585" y="139903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판정 결과 요약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6541" y="4665035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위험 등급 감지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68575" y="2035267"/>
            <a:ext cx="4744487" cy="1500262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3608243"/>
            <a:ext cx="4744487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110013" y="2035268"/>
            <a:ext cx="2181373" cy="2532817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5" y="158081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최종 판정 등급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1720180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2139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2140" y="1744418"/>
            <a:ext cx="7366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693" y="1605053"/>
            <a:ext cx="39783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대상 디바이스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692" y="1744418"/>
            <a:ext cx="5403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BAT-NODE-047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3247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3247" y="1744418"/>
            <a:ext cx="7717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Anomaly Detector v2.1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이상점수 및 판정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1585" y="271145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기여 특징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4" y="3687014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 상태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4" y="41717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021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13021" y="2295821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213021" y="305930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213021" y="382278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TextBox 38"/>
          <p:cNvSpPr txBox="1"/>
          <p:nvPr/>
        </p:nvSpPr>
        <p:spPr>
          <a:xfrm>
            <a:off x="7316030" y="2538196"/>
            <a:ext cx="66558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0.00 ~ 0.59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6031" y="2701799"/>
            <a:ext cx="1756460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수치가 기준 범위 내에 있으며 추가 조치가 필요하지 않습니다.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6031" y="3301676"/>
            <a:ext cx="66785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0.60 ~ 0.84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6030" y="3465280"/>
            <a:ext cx="1716696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잠재적 이상 징후가 감지되었습니다. 모니터링을 강화하고 추이를 관찰하십시오.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6031" y="4065157"/>
            <a:ext cx="57175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0.85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6031" y="4228760"/>
            <a:ext cx="1737145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이상이 감지되었습니다. 즉시 점검 및 조치가 필요합니다.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1585" y="2295821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1585" y="2435186"/>
            <a:ext cx="344342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0.73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2820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임계값(주의)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2819" y="2467282"/>
            <a:ext cx="259417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94149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임계값(경고)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94148" y="2467282"/>
            <a:ext cx="258281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1584" y="2875059"/>
            <a:ext cx="3554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셀 전압 편차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72430" y="2875059"/>
            <a:ext cx="3684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38%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1585" y="303866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상승률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51980" y="3038662"/>
            <a:ext cx="36176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3202265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내부 저항 변화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35296" y="3202265"/>
            <a:ext cx="354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365868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방전 패턴 이상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95" y="3365868"/>
            <a:ext cx="357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14%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5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여부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400816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완료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6724" y="3868795"/>
            <a:ext cx="28147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이벤트 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16724" y="4008161"/>
            <a:ext cx="72153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EVT-20240612-4821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61863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시각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1864" y="4008161"/>
            <a:ext cx="743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6030" y="237459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6030" y="313807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6030" y="390155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5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80694" y="1323917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34189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35621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6" y="4580203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활성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437418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최근 해결된 경고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4634" y="4586263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139903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긴급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1562637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과열 위험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1774716"/>
            <a:ext cx="142508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BAT-001 | 온도: 65°C | 임계값: 60°C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4" y="2417008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4" y="2580611"/>
            <a:ext cx="90578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충전 회로 이상 감지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2792690"/>
            <a:ext cx="148284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BAT-003 | 전류: 8.5A | 정상범위: 5~7A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1584" y="343498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3598585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용량 저하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5" y="3810664"/>
            <a:ext cx="17488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BAT-002 | 용량: 78% | 유지보수 권장: 80%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466" y="4646857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경고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5169" y="4646857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센서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0871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발생시간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574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해결시간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729" y="5767840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모두 해제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14711" y="1938318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8214711" y="2956292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8811275" y="2956292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8214711" y="3974266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811275" y="397426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59466" y="4871053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115169" y="4871053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5870871" y="4871053"/>
            <a:ext cx="10467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7626574" y="4871053"/>
            <a:ext cx="12529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2359466" y="5071012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4115169" y="5071012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870871" y="5071012"/>
            <a:ext cx="115771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626574" y="5071012"/>
            <a:ext cx="7294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5270971"/>
            <a:ext cx="8564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4115169" y="5270971"/>
            <a:ext cx="10625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870871" y="5270971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7626574" y="5270971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2359466" y="5470930"/>
            <a:ext cx="96741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4115169" y="5470930"/>
            <a:ext cx="117362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5870871" y="5470930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7626573" y="5470930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0"/>
          <p:cNvSpPr txBox="1"/>
          <p:nvPr/>
        </p:nvSpPr>
        <p:spPr>
          <a:xfrm>
            <a:off x="8329839" y="19989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상세보기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329839" y="30168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6403" y="301688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9839" y="4034860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26403" y="403486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기록</a:t>
            </a:r>
          </a:p>
        </p:txBody>
      </p:sp>
      <p:sp>
        <p:nvSpPr>
          <p:cNvPr id="19" name="Rounded Rectangle 41">
            <a:extLst>
              <a:ext uri="{FF2B5EF4-FFF2-40B4-BE49-F238E27FC236}">
                <a16:creationId xmlns:a16="http://schemas.microsoft.com/office/drawing/2014/main" id="{364F7434-A836-5E29-0D10-6D6BD9DF55E0}"/>
              </a:ext>
            </a:extLst>
          </p:cNvPr>
          <p:cNvSpPr/>
          <p:nvPr/>
        </p:nvSpPr>
        <p:spPr>
          <a:xfrm>
            <a:off x="8811275" y="1938318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F42795-68F6-DF81-14E4-0E5C1D898A4F}"/>
              </a:ext>
            </a:extLst>
          </p:cNvPr>
          <p:cNvSpPr txBox="1"/>
          <p:nvPr/>
        </p:nvSpPr>
        <p:spPr>
          <a:xfrm>
            <a:off x="8926403" y="199891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951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20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68575" y="1764155"/>
            <a:ext cx="7022810" cy="1821821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16"/>
          <p:cNvSpPr/>
          <p:nvPr/>
        </p:nvSpPr>
        <p:spPr>
          <a:xfrm>
            <a:off x="2268576" y="4418360"/>
            <a:ext cx="7034929" cy="1581006"/>
          </a:xfrm>
          <a:prstGeom prst="roundRect">
            <a:avLst>
              <a:gd name="adj" fmla="val 1986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/>
          <p:cNvSpPr txBox="1"/>
          <p:nvPr/>
        </p:nvSpPr>
        <p:spPr>
          <a:xfrm>
            <a:off x="2268576" y="3811086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이력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1584" y="1832212"/>
            <a:ext cx="6828910" cy="1685708"/>
          </a:xfrm>
          <a:prstGeom prst="roundRect">
            <a:avLst>
              <a:gd name="adj" fmla="val 1863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ectangle 19"/>
          <p:cNvSpPr/>
          <p:nvPr/>
        </p:nvSpPr>
        <p:spPr>
          <a:xfrm>
            <a:off x="2274635" y="4423596"/>
            <a:ext cx="7022810" cy="19369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268575" y="1114215"/>
            <a:ext cx="967038" cy="10921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76446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3029310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3382175" y="1554751"/>
            <a:ext cx="335064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5236436" y="2633185"/>
            <a:ext cx="1099208" cy="8376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3073431" y="4182780"/>
            <a:ext cx="717562" cy="193699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268576" y="1580927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55218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082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0946" y="1580927"/>
            <a:ext cx="177521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2793" y="2633185"/>
            <a:ext cx="102649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전압·온도·SOC 시계열 추세 차트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4801" y="3648797"/>
            <a:ext cx="496585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단위: V / °C /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8576" y="4297951"/>
            <a:ext cx="282329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총 248건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8558" y="4235131"/>
            <a:ext cx="487306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CSV 내보내기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59466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2671" y="4475946"/>
            <a:ext cx="3729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디바이스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5970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지표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91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측정값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24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임계값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56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89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1817" y="1277290"/>
            <a:ext cx="377102" cy="193699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647854" y="4062373"/>
            <a:ext cx="377102" cy="3141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2359466" y="4669646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3362670" y="4669646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4365970" y="4669646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5369174" y="4669646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6372473" y="4669646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375677" y="4669646"/>
            <a:ext cx="54184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8378977" y="4669646"/>
            <a:ext cx="65015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4842404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3362671" y="4842404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4365970" y="4842404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369174" y="4842404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372473" y="4842404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375677" y="4842404"/>
            <a:ext cx="60016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8378977" y="4842404"/>
            <a:ext cx="37511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2359466" y="5015164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3362670" y="5015164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4365970" y="5015164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5369174" y="5015164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6372473" y="5015164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7375677" y="5015164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8378977" y="5015164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2359467" y="5187922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3362671" y="5187922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4365970" y="5187922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5369174" y="5187922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6372474" y="5187922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7375677" y="5187922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8378977" y="5187922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Rounded Rectangle 73"/>
          <p:cNvSpPr/>
          <p:nvPr/>
        </p:nvSpPr>
        <p:spPr>
          <a:xfrm>
            <a:off x="2359466" y="5360681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5" name="Rounded Rectangle 74"/>
          <p:cNvSpPr/>
          <p:nvPr/>
        </p:nvSpPr>
        <p:spPr>
          <a:xfrm>
            <a:off x="3362670" y="5360681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Rounded Rectangle 75"/>
          <p:cNvSpPr/>
          <p:nvPr/>
        </p:nvSpPr>
        <p:spPr>
          <a:xfrm>
            <a:off x="4365970" y="5360681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7" name="Rounded Rectangle 76"/>
          <p:cNvSpPr/>
          <p:nvPr/>
        </p:nvSpPr>
        <p:spPr>
          <a:xfrm>
            <a:off x="5369174" y="5360681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8" name="Rounded Rectangle 77"/>
          <p:cNvSpPr/>
          <p:nvPr/>
        </p:nvSpPr>
        <p:spPr>
          <a:xfrm>
            <a:off x="6372474" y="5360681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Rounded Rectangle 78"/>
          <p:cNvSpPr/>
          <p:nvPr/>
        </p:nvSpPr>
        <p:spPr>
          <a:xfrm>
            <a:off x="7375677" y="5360681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0" name="Rounded Rectangle 79"/>
          <p:cNvSpPr/>
          <p:nvPr/>
        </p:nvSpPr>
        <p:spPr>
          <a:xfrm>
            <a:off x="8378977" y="5360681"/>
            <a:ext cx="55017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Rounded Rectangle 80"/>
          <p:cNvSpPr/>
          <p:nvPr/>
        </p:nvSpPr>
        <p:spPr>
          <a:xfrm>
            <a:off x="2359466" y="5533440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2" name="Rounded Rectangle 81"/>
          <p:cNvSpPr/>
          <p:nvPr/>
        </p:nvSpPr>
        <p:spPr>
          <a:xfrm>
            <a:off x="3362670" y="5533440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3" name="Rounded Rectangle 82"/>
          <p:cNvSpPr/>
          <p:nvPr/>
        </p:nvSpPr>
        <p:spPr>
          <a:xfrm>
            <a:off x="4365970" y="5533440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Rounded Rectangle 83"/>
          <p:cNvSpPr/>
          <p:nvPr/>
        </p:nvSpPr>
        <p:spPr>
          <a:xfrm>
            <a:off x="5369174" y="5533440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5" name="Rounded Rectangle 84"/>
          <p:cNvSpPr/>
          <p:nvPr/>
        </p:nvSpPr>
        <p:spPr>
          <a:xfrm>
            <a:off x="6372473" y="5533440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6" name="Rounded Rectangle 85"/>
          <p:cNvSpPr/>
          <p:nvPr/>
        </p:nvSpPr>
        <p:spPr>
          <a:xfrm>
            <a:off x="7375677" y="5533440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Rounded Rectangle 86"/>
          <p:cNvSpPr/>
          <p:nvPr/>
        </p:nvSpPr>
        <p:spPr>
          <a:xfrm>
            <a:off x="8378977" y="5533440"/>
            <a:ext cx="60849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8" name="Rounded Rectangle 87"/>
          <p:cNvSpPr/>
          <p:nvPr/>
        </p:nvSpPr>
        <p:spPr>
          <a:xfrm>
            <a:off x="2359466" y="5706199"/>
            <a:ext cx="35002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Rounded Rectangle 88"/>
          <p:cNvSpPr/>
          <p:nvPr/>
        </p:nvSpPr>
        <p:spPr>
          <a:xfrm>
            <a:off x="3362670" y="5706199"/>
            <a:ext cx="45843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0" name="Rounded Rectangle 89"/>
          <p:cNvSpPr/>
          <p:nvPr/>
        </p:nvSpPr>
        <p:spPr>
          <a:xfrm>
            <a:off x="4365970" y="5706199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1" name="Rounded Rectangle 90"/>
          <p:cNvSpPr/>
          <p:nvPr/>
        </p:nvSpPr>
        <p:spPr>
          <a:xfrm>
            <a:off x="5369174" y="5706199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2" name="Rounded Rectangle 91"/>
          <p:cNvSpPr/>
          <p:nvPr/>
        </p:nvSpPr>
        <p:spPr>
          <a:xfrm>
            <a:off x="6372474" y="5706199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3" name="Rounded Rectangle 92"/>
          <p:cNvSpPr/>
          <p:nvPr/>
        </p:nvSpPr>
        <p:spPr>
          <a:xfrm>
            <a:off x="7375677" y="5706199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Rounded Rectangle 93"/>
          <p:cNvSpPr/>
          <p:nvPr/>
        </p:nvSpPr>
        <p:spPr>
          <a:xfrm>
            <a:off x="8378977" y="5706199"/>
            <a:ext cx="33345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5" name="Rounded Rectangle 94"/>
          <p:cNvSpPr/>
          <p:nvPr/>
        </p:nvSpPr>
        <p:spPr>
          <a:xfrm>
            <a:off x="2359466" y="5878958"/>
            <a:ext cx="4083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6" name="Rounded Rectangle 95"/>
          <p:cNvSpPr/>
          <p:nvPr/>
        </p:nvSpPr>
        <p:spPr>
          <a:xfrm>
            <a:off x="3362670" y="5878958"/>
            <a:ext cx="51684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" name="Rounded Rectangle 96"/>
          <p:cNvSpPr/>
          <p:nvPr/>
        </p:nvSpPr>
        <p:spPr>
          <a:xfrm>
            <a:off x="4365970" y="5878958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" name="Rounded Rectangle 97"/>
          <p:cNvSpPr/>
          <p:nvPr/>
        </p:nvSpPr>
        <p:spPr>
          <a:xfrm>
            <a:off x="5369174" y="5878958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" name="Rounded Rectangle 98"/>
          <p:cNvSpPr/>
          <p:nvPr/>
        </p:nvSpPr>
        <p:spPr>
          <a:xfrm>
            <a:off x="6372474" y="5878958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" name="Rounded Rectangle 99"/>
          <p:cNvSpPr/>
          <p:nvPr/>
        </p:nvSpPr>
        <p:spPr>
          <a:xfrm>
            <a:off x="7375677" y="5878958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1" name="Rounded Rectangle 100"/>
          <p:cNvSpPr/>
          <p:nvPr/>
        </p:nvSpPr>
        <p:spPr>
          <a:xfrm>
            <a:off x="8378977" y="5878958"/>
            <a:ext cx="3917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2" name="TextBox 101"/>
          <p:cNvSpPr txBox="1"/>
          <p:nvPr/>
        </p:nvSpPr>
        <p:spPr>
          <a:xfrm>
            <a:off x="5246945" y="132964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조회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47854" y="3947200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심각도 필터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29513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5" name="Rounded Rectangle 104"/>
          <p:cNvSpPr/>
          <p:nvPr/>
        </p:nvSpPr>
        <p:spPr>
          <a:xfrm>
            <a:off x="3855088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6" name="Rounded Rectangle 105"/>
          <p:cNvSpPr/>
          <p:nvPr/>
        </p:nvSpPr>
        <p:spPr>
          <a:xfrm>
            <a:off x="4280665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7" name="Rounded Rectangle 106"/>
          <p:cNvSpPr/>
          <p:nvPr/>
        </p:nvSpPr>
        <p:spPr>
          <a:xfrm>
            <a:off x="4706241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3471" y="4188015"/>
            <a:ext cx="72713" cy="62822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3429513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시작일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55088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종료일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80665" y="1172908"/>
            <a:ext cx="272577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디바이스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06241" y="1172908"/>
            <a:ext cx="293690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지표 항목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6626" y="4174928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333333"/>
                </a:solidFill>
                <a:latin typeface="Apple SD Gothic Neo"/>
              </a:rPr>
              <a:t>전체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5130" y="1342301"/>
            <a:ext cx="72713" cy="6282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0705" y="1342301"/>
            <a:ext cx="72713" cy="6282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6282" y="1342301"/>
            <a:ext cx="72713" cy="6282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1858" y="1342301"/>
            <a:ext cx="72713" cy="6282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508284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933861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359437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785012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11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5" name="Rounded Rectangle 41">
            <a:extLst>
              <a:ext uri="{FF2B5EF4-FFF2-40B4-BE49-F238E27FC236}">
                <a16:creationId xmlns:a16="http://schemas.microsoft.com/office/drawing/2014/main" id="{11B06A3C-2CB4-C320-A8DE-89EE91435FB3}"/>
              </a:ext>
            </a:extLst>
          </p:cNvPr>
          <p:cNvSpPr/>
          <p:nvPr/>
        </p:nvSpPr>
        <p:spPr>
          <a:xfrm>
            <a:off x="3922162" y="4173223"/>
            <a:ext cx="580142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TextBox 20">
            <a:hlinkClick r:id="rId12" action="ppaction://hlinksldjump"/>
            <a:extLst>
              <a:ext uri="{FF2B5EF4-FFF2-40B4-BE49-F238E27FC236}">
                <a16:creationId xmlns:a16="http://schemas.microsoft.com/office/drawing/2014/main" id="{035C6B45-5C59-DE50-5C44-092C168971DA}"/>
              </a:ext>
            </a:extLst>
          </p:cNvPr>
          <p:cNvSpPr txBox="1"/>
          <p:nvPr/>
        </p:nvSpPr>
        <p:spPr>
          <a:xfrm>
            <a:off x="4123569" y="4242905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자세히 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3"/>
            <a:ext cx="7022810" cy="133306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750273"/>
            <a:ext cx="7022810" cy="1472427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4319651"/>
            <a:ext cx="7022810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이벤트 기본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829045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분석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439842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권장 조치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9847" y="51619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649659" y="5161903"/>
            <a:ext cx="641726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371585" y="301082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지표 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5" y="3701595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판정 사유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975" y="522249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4788" y="5222496"/>
            <a:ext cx="411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 및 알림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1584" y="318654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2371584" y="336227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2371584" y="353799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3877317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371584" y="405303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2371584" y="459232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2371584" y="4743806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371584" y="489529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71585" y="158081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탐지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99683" y="1580816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5" y="1944378"/>
            <a:ext cx="2186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6272" y="194437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위치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30794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유형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9683" y="230794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신뢰도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1585" y="1756536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999683" y="1756536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2120099"/>
            <a:ext cx="15299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916272" y="2120099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2371585" y="2483661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8999683" y="2483661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2" y="590675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147934"/>
            <a:ext cx="7022810" cy="7271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178027"/>
            <a:ext cx="7022810" cy="430216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센터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941916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발송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2972009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1585" y="2572090"/>
            <a:ext cx="681679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371585" y="2226706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408488"/>
            <a:ext cx="240661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카카오톡, 문자 등 외부 채널을 통해 이상 이벤트 알림을 담당자에게 즉시 발송합니다.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5367375" y="2632684"/>
            <a:ext cx="82521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SNS 알림 발송으로 이동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68575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4060634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52692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7644751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5" y="1399034"/>
            <a:ext cx="48124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오늘 발송된 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1562636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3643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 알림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3643" y="1562636"/>
            <a:ext cx="9609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5703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5703" y="1562636"/>
            <a:ext cx="10130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761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마지막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7761" y="1562636"/>
            <a:ext cx="42500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3분 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1585" y="3256799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4" y="3438580"/>
            <a:ext cx="205242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과거에 발송된 모든 알림 기록을 날짜·채널·상태별로 확인할 수 있습니다.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C161862D-59F6-F3C0-D6BE-D46C578086F8}"/>
              </a:ext>
            </a:extLst>
          </p:cNvPr>
          <p:cNvSpPr/>
          <p:nvPr/>
        </p:nvSpPr>
        <p:spPr>
          <a:xfrm>
            <a:off x="8451003" y="3341061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이력 조회</a:t>
            </a:r>
            <a:endParaRPr sz="650" dirty="0"/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995052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7678" y="1580815"/>
            <a:ext cx="1417892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742626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3216678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ectangle 20"/>
          <p:cNvSpPr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6" y="1914080"/>
            <a:ext cx="3150873" cy="424156"/>
          </a:xfrm>
          <a:prstGeom prst="roundRect">
            <a:avLst>
              <a:gd name="adj" fmla="val 8571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386712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6" y="268362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6" y="298053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268576" y="3277439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2268576" y="3574348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2268576" y="3871257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2268576" y="4168166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5564873" y="1914080"/>
            <a:ext cx="3726513" cy="2938795"/>
          </a:xfrm>
          <a:prstGeom prst="roundRect">
            <a:avLst>
              <a:gd name="adj" fmla="val 1237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6450" y="1638379"/>
            <a:ext cx="121188" cy="1211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68576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2626" y="1320262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6678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확인 상태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4192" y="1598993"/>
            <a:ext cx="72712" cy="7271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68243" y="1598993"/>
            <a:ext cx="72712" cy="72712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2295" y="1598993"/>
            <a:ext cx="72712" cy="727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347347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1398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5449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7882" y="199285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상세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7883" y="233823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대상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7883" y="267756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7883" y="301688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알림 내용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7883" y="353193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7883" y="418028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7882" y="4519610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71584" y="2168574"/>
            <a:ext cx="20613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667882" y="2513958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667882" y="2853283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5667882" y="31926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5667882" y="3368329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5667882" y="43560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667883" y="4695331"/>
            <a:ext cx="1056129" cy="60594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667882" y="3695536"/>
            <a:ext cx="1124960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865555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8063322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TextBox 58"/>
          <p:cNvSpPr txBox="1"/>
          <p:nvPr/>
        </p:nvSpPr>
        <p:spPr>
          <a:xfrm>
            <a:off x="2371584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유형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1312" y="199285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60365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46548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0455" y="246548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33259" y="2465484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71585" y="2762392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491" y="2762392"/>
            <a:ext cx="61824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07:15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1685" y="276239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1585" y="305930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이상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7588" y="3059302"/>
            <a:ext cx="65015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23:44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4689" y="305930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1585" y="3356211"/>
            <a:ext cx="29293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SNS 발송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58417" y="3356211"/>
            <a:ext cx="6242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21:10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79577" y="3356211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1585" y="3653120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알림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00455" y="3653120"/>
            <a:ext cx="6383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18:55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35721" y="365312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71585" y="3950029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00454" y="3950029"/>
            <a:ext cx="63386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15:22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31271" y="3950029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1585" y="4246938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490" y="4246938"/>
            <a:ext cx="63689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12:08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60337" y="4246938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7882" y="21746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51327" y="217463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70891" y="3774307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7089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8563" y="3774307"/>
            <a:ext cx="15621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68563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66331" y="3774307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6633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6" y="3537992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3331973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발송 실패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68575" y="1320262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2268575" y="1823190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2326118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2829045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ectangle 22"/>
          <p:cNvSpPr/>
          <p:nvPr/>
        </p:nvSpPr>
        <p:spPr>
          <a:xfrm>
            <a:off x="2274634" y="3544051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773593" y="473049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359466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4009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채널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8647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실패 건수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3189" y="3604645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7733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79159" y="4791087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새로고침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59466" y="3828841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764009" y="3828841"/>
            <a:ext cx="6545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5168647" y="3828841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6573190" y="3828841"/>
            <a:ext cx="9754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977733" y="3828841"/>
            <a:ext cx="6421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2359466" y="4028801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3764009" y="4028801"/>
            <a:ext cx="74094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5168647" y="4028801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6573189" y="4028801"/>
            <a:ext cx="5679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7977733" y="4028801"/>
            <a:ext cx="72854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2359466" y="4228759"/>
            <a:ext cx="66681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3764009" y="4228759"/>
            <a:ext cx="82738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5168647" y="4228759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6573189" y="4228759"/>
            <a:ext cx="6544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977733" y="4228759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59466" y="4428719"/>
            <a:ext cx="7532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3764008" y="4428719"/>
            <a:ext cx="91382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168646" y="4428719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6573190" y="4428719"/>
            <a:ext cx="74085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977733" y="4428719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TextBox 52"/>
          <p:cNvSpPr txBox="1"/>
          <p:nvPr/>
        </p:nvSpPr>
        <p:spPr>
          <a:xfrm>
            <a:off x="8624382" y="1477806"/>
            <a:ext cx="56399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1,234건 / 1,250건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7211" y="1980734"/>
            <a:ext cx="5111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987건 / 1,000건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24949" y="2483662"/>
            <a:ext cx="5634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2,156건 / 2,156건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07846" y="2986589"/>
            <a:ext cx="2805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0건 /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139903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카카오톡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1585" y="1556578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4" y="190196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문자 메시지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2059506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2404889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562434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1584" y="2907817"/>
            <a:ext cx="275512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앱 푸시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1585" y="3065361"/>
            <a:ext cx="3145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비활성화됨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360012"/>
            <a:ext cx="7022810" cy="1860227"/>
          </a:xfrm>
          <a:prstGeom prst="roundRect">
            <a:avLst>
              <a:gd name="adj" fmla="val 19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1584" y="261450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1350558"/>
            <a:ext cx="3462929" cy="706485"/>
          </a:xfrm>
          <a:prstGeom prst="roundRect">
            <a:avLst>
              <a:gd name="adj" fmla="val 514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2377645" y="262056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7538523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8399806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2371585" y="1429330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요약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5" y="2438784"/>
            <a:ext cx="3145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차단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58816" y="2438784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복구 목록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2476" y="2681159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25833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위치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9191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50" y="2681159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변경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5908" y="268115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담당자</a:t>
            </a:r>
          </a:p>
        </p:txBody>
      </p:sp>
      <p:sp>
        <p:nvSpPr>
          <p:cNvPr id="41" name="TextBox 40">
            <a:hlinkClick r:id="rId7" action="ppaction://hlinksldjump"/>
          </p:cNvPr>
          <p:cNvSpPr txBox="1"/>
          <p:nvPr/>
        </p:nvSpPr>
        <p:spPr>
          <a:xfrm>
            <a:off x="7653651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차단 실행</a:t>
            </a:r>
          </a:p>
        </p:txBody>
      </p:sp>
      <p:sp>
        <p:nvSpPr>
          <p:cNvPr id="42" name="TextBox 41">
            <a:hlinkClick r:id="rId8" action="ppaction://hlinksldjump"/>
          </p:cNvPr>
          <p:cNvSpPr txBox="1"/>
          <p:nvPr/>
        </p:nvSpPr>
        <p:spPr>
          <a:xfrm>
            <a:off x="8514934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복구 실행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2476" y="2905355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3825834" y="2905355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189191" y="2905355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6552550" y="2905355"/>
            <a:ext cx="9429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7915908" y="2905355"/>
            <a:ext cx="6207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2462476" y="3105315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3825834" y="3105315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189191" y="3105315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552550" y="3105315"/>
            <a:ext cx="5490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915909" y="3105315"/>
            <a:ext cx="7042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2462476" y="3305273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3825833" y="3305273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5189191" y="3305273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6552551" y="3305273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7915908" y="3305273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2462475" y="3505233"/>
            <a:ext cx="7280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3825833" y="3505233"/>
            <a:ext cx="8832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5189192" y="3505233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6552550" y="3505233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7915908" y="3505233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2462476" y="3705192"/>
            <a:ext cx="81167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3825834" y="3705192"/>
            <a:ext cx="4893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5189192" y="3705192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6552550" y="3705192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7915908" y="3705192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TextBox 93"/>
          <p:cNvSpPr txBox="1"/>
          <p:nvPr/>
        </p:nvSpPr>
        <p:spPr>
          <a:xfrm>
            <a:off x="2371585" y="161111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전체 릴레이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71584" y="1774715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4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505634" y="1611112"/>
            <a:ext cx="20914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05634" y="1774715"/>
            <a:ext cx="10584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1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639778" y="161111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완료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39777" y="1774715"/>
            <a:ext cx="181686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3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9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10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11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8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8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차단 중…</a:t>
            </a:r>
          </a:p>
        </p:txBody>
      </p:sp>
      <p:sp>
        <p:nvSpPr>
          <p:cNvPr id="98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차단을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8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 dirty="0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1996"/>
          </a:xfrm>
          <a:prstGeom prst="roundRect">
            <a:avLst>
              <a:gd name="adj" fmla="val 594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29208"/>
            <a:ext cx="7022810" cy="76348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889639"/>
            <a:ext cx="7022810" cy="1327002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대시보드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알림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3307735"/>
            <a:ext cx="6828910" cy="830134"/>
          </a:xfrm>
          <a:prstGeom prst="roundRect">
            <a:avLst>
              <a:gd name="adj" fmla="val 437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0798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2447306"/>
            <a:ext cx="46079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영향받은 배터리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2610908"/>
            <a:ext cx="1259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0개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296841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상세 로그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1584" y="2283702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371584" y="3144133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2377645" y="331379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259" y="1562637"/>
            <a:ext cx="290850" cy="29085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TextBox 30"/>
          <p:cNvSpPr txBox="1"/>
          <p:nvPr/>
        </p:nvSpPr>
        <p:spPr>
          <a:xfrm>
            <a:off x="2371584" y="1638379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084" y="1641409"/>
            <a:ext cx="199201" cy="13330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06" b="1">
                <a:solidFill>
                  <a:srgbClr val="666666"/>
                </a:solidFill>
                <a:latin typeface="Apple SD Gothic Neo"/>
              </a:rPr>
              <a:t>체크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2475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4739" y="337438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메시지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7002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62476" y="3598585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39" y="3598585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3598585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6" y="3798545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3798545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3798545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399850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40" y="399850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3" y="399850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>
            <a:hlinkClick r:id="rId7" action="ppaction://hlinksldjump"/>
            <a:extLst>
              <a:ext uri="{FF2B5EF4-FFF2-40B4-BE49-F238E27FC236}">
                <a16:creationId xmlns:a16="http://schemas.microsoft.com/office/drawing/2014/main" id="{3AC0DFF8-FF87-122E-7227-F0F5D2773CA4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  <a:endParaRPr sz="668" dirty="0">
              <a:solidFill>
                <a:srgbClr val="666666"/>
              </a:solidFill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AAFF61-1668-286E-CD4F-B968203E4EE8}"/>
              </a:ext>
            </a:extLst>
          </p:cNvPr>
          <p:cNvSpPr txBox="1"/>
          <p:nvPr/>
        </p:nvSpPr>
        <p:spPr>
          <a:xfrm>
            <a:off x="3712978" y="1051398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47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571FFDE9-6D57-E0A2-107E-BA01A79658AD}"/>
              </a:ext>
            </a:extLst>
          </p:cNvPr>
          <p:cNvSpPr/>
          <p:nvPr/>
        </p:nvSpPr>
        <p:spPr>
          <a:xfrm>
            <a:off x="2724260" y="103131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/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3F89-D6D1-9955-2DC7-85E9CC27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E024E8-3626-DF43-682A-7778B430CACF}"/>
              </a:ext>
            </a:extLst>
          </p:cNvPr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C56E5B-5147-17E9-F1B4-BD88682EA5B2}"/>
              </a:ext>
            </a:extLst>
          </p:cNvPr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18DC0F-A73E-5FB3-7763-03719D25F19E}"/>
              </a:ext>
            </a:extLst>
          </p:cNvPr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1F3D0-37E1-DA7E-AA66-ED1E6388576C}"/>
              </a:ext>
            </a:extLst>
          </p:cNvPr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B376B-86BC-B63B-57DE-EFE2D8D316FB}"/>
              </a:ext>
            </a:extLst>
          </p:cNvPr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  <a:extLst>
              <a:ext uri="{FF2B5EF4-FFF2-40B4-BE49-F238E27FC236}">
                <a16:creationId xmlns:a16="http://schemas.microsoft.com/office/drawing/2014/main" id="{4AB3EC1D-E19B-28A1-87B7-10E8C6BE28EB}"/>
              </a:ext>
            </a:extLst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1632C-13E0-14D7-C5CD-9E2B14CB7B4A}"/>
              </a:ext>
            </a:extLst>
          </p:cNvPr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7D457D24-0490-D072-843C-0A2363D87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A47BA-C2A8-040C-25FA-A8E28442A114}"/>
              </a:ext>
            </a:extLst>
          </p:cNvPr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F0BB1-C738-6C8F-78C5-0A59DFB507F7}"/>
              </a:ext>
            </a:extLst>
          </p:cNvPr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  <a:extLst>
              <a:ext uri="{FF2B5EF4-FFF2-40B4-BE49-F238E27FC236}">
                <a16:creationId xmlns:a16="http://schemas.microsoft.com/office/drawing/2014/main" id="{D6ECE71D-AF66-8E5F-0A7B-E5F9C60849DF}"/>
              </a:ext>
            </a:extLst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  <a:extLst>
              <a:ext uri="{FF2B5EF4-FFF2-40B4-BE49-F238E27FC236}">
                <a16:creationId xmlns:a16="http://schemas.microsoft.com/office/drawing/2014/main" id="{8F6DD7EA-6DB5-112E-B68D-861923F1D74F}"/>
              </a:ext>
            </a:extLst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5714BA-0C15-3460-2F37-B8898A9681A9}"/>
              </a:ext>
            </a:extLst>
          </p:cNvPr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8B365F-ECB0-1BEA-08E7-78B5A0C60C52}"/>
              </a:ext>
            </a:extLst>
          </p:cNvPr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A829B28-96AA-D7AD-F579-F19CC209B279}"/>
              </a:ext>
            </a:extLst>
          </p:cNvPr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C0D6331-50DE-2C75-04A7-33EE10826587}"/>
              </a:ext>
            </a:extLst>
          </p:cNvPr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EEB5D0-8223-0951-E361-15B3BA25F3D9}"/>
              </a:ext>
            </a:extLst>
          </p:cNvPr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41361-5331-604B-168A-266CB31A2B0D}"/>
              </a:ext>
            </a:extLst>
          </p:cNvPr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2570C4-0E38-630A-A77F-2D3E9854C9F1}"/>
              </a:ext>
            </a:extLst>
          </p:cNvPr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9D8CDD-B0DE-3BA4-E2CE-366F65D9A531}"/>
              </a:ext>
            </a:extLst>
          </p:cNvPr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CF90A00-3D68-0823-A25D-8897FA2CE372}"/>
              </a:ext>
            </a:extLst>
          </p:cNvPr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E1AC-436A-7985-B08B-04D7D6D153C1}"/>
              </a:ext>
            </a:extLst>
          </p:cNvPr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BACDA3-EED0-4421-776D-E7628DD5307D}"/>
              </a:ext>
            </a:extLst>
          </p:cNvPr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1E3C55-B707-F37B-016B-A7C7461C29E9}"/>
              </a:ext>
            </a:extLst>
          </p:cNvPr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F6961-EA43-8AD6-541A-63F63D58BF37}"/>
              </a:ext>
            </a:extLst>
          </p:cNvPr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D2FB9E-08F3-B2F3-A037-40392EAC47B2}"/>
              </a:ext>
            </a:extLst>
          </p:cNvPr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3570D51-765D-A0D2-CA3C-DCAA836EE05A}"/>
              </a:ext>
            </a:extLst>
          </p:cNvPr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733AA9E-F8E9-3A50-B8AC-643D861D7F70}"/>
              </a:ext>
            </a:extLst>
          </p:cNvPr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422643D-5C61-92F8-F9F2-D0CA76B3E4EF}"/>
              </a:ext>
            </a:extLst>
          </p:cNvPr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C0A50F8-B350-0AED-776D-76222035B3A7}"/>
              </a:ext>
            </a:extLst>
          </p:cNvPr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80D41AE-2B0B-BC9F-8693-23B13A33C7C5}"/>
              </a:ext>
            </a:extLst>
          </p:cNvPr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49FFCE7-73FA-4AE6-3639-497347057383}"/>
              </a:ext>
            </a:extLst>
          </p:cNvPr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E20ED30-5140-DA23-BBE4-9241047E0D10}"/>
              </a:ext>
            </a:extLst>
          </p:cNvPr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957EBDA-9FD2-DFA8-75FC-CC9A33054757}"/>
              </a:ext>
            </a:extLst>
          </p:cNvPr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A2CDE6A-C52A-4B1B-F30E-93F5ED92A3B8}"/>
              </a:ext>
            </a:extLst>
          </p:cNvPr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658DE88-3875-3EE5-A79C-24111B38A60D}"/>
              </a:ext>
            </a:extLst>
          </p:cNvPr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55E4507-C3D5-B263-0AF9-97C78BEF9613}"/>
              </a:ext>
            </a:extLst>
          </p:cNvPr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9FB686F-B007-E390-F4E7-24088C8875B5}"/>
              </a:ext>
            </a:extLst>
          </p:cNvPr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FEE309D-FF74-7D64-ADBB-24BF717CAC3E}"/>
              </a:ext>
            </a:extLst>
          </p:cNvPr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F0F9648-6299-9DAA-5B08-64579EBEB8AB}"/>
              </a:ext>
            </a:extLst>
          </p:cNvPr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55FCF98-7F9B-B0FA-F882-9F73F6E2C543}"/>
              </a:ext>
            </a:extLst>
          </p:cNvPr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87BF83F-4486-0268-385A-009FF0E7A719}"/>
              </a:ext>
            </a:extLst>
          </p:cNvPr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439E355-4B82-5B91-329F-A088F00CBBF6}"/>
              </a:ext>
            </a:extLst>
          </p:cNvPr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143D82-BA88-0FFF-F263-6E30F5744726}"/>
              </a:ext>
            </a:extLst>
          </p:cNvPr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E3FA64-8544-952B-8B60-52D382C73BE3}"/>
              </a:ext>
            </a:extLst>
          </p:cNvPr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  <a:extLst>
              <a:ext uri="{FF2B5EF4-FFF2-40B4-BE49-F238E27FC236}">
                <a16:creationId xmlns:a16="http://schemas.microsoft.com/office/drawing/2014/main" id="{EDC1C6E0-87E9-710D-E342-B5E8898E635E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9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9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복구 중…</a:t>
            </a:r>
          </a:p>
        </p:txBody>
      </p:sp>
      <p:sp>
        <p:nvSpPr>
          <p:cNvPr id="99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복구를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9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25403028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24115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41327"/>
            <a:ext cx="7022810" cy="587759"/>
          </a:xfrm>
          <a:prstGeom prst="roundRect">
            <a:avLst>
              <a:gd name="adj" fmla="val 618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726036"/>
            <a:ext cx="7022810" cy="690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562637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1774716"/>
            <a:ext cx="12150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릴레이 복구가 정상적으로 완료되었습니다.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12010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2459424"/>
            <a:ext cx="7311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2024-01-15 14:32:45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280480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세부 사항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1584" y="229582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7882014" y="351375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8502815" y="3513754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4" y="2968411"/>
            <a:ext cx="7181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장비 ID: BAT-001-REL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3107776"/>
            <a:ext cx="6490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모드: 자동 재설정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3247142"/>
            <a:ext cx="58056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 코드: 0x0000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7142" y="3574348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이전으로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7943" y="3574348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센서 수집 상태로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8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8DA784C4-D4A5-B658-B45E-3A8DB1649612}"/>
              </a:ext>
            </a:extLst>
          </p:cNvPr>
          <p:cNvSpPr/>
          <p:nvPr/>
        </p:nvSpPr>
        <p:spPr>
          <a:xfrm>
            <a:off x="3020600" y="104452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295820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271379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5" y="4246937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39903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온도 임계치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4" y="237459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전압 임계치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3350151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전류 임계치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4325709"/>
            <a:ext cx="480868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SOC 임계치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4284" y="522249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9029412" y="52830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5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온도 (°C)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2324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온도 (°C)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063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온도 (°C)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전압 (V)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2323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전압 (V)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3062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전압 (V)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5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전류 (A)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2323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전류 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062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전류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1585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경고 SOC (%)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2323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위험 SOC (%)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13062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최대 경고 SOC (%)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71585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692323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13062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371585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692323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13062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692323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013062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71585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692323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7013062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TextBox 50"/>
          <p:cNvSpPr txBox="1"/>
          <p:nvPr/>
        </p:nvSpPr>
        <p:spPr>
          <a:xfrm>
            <a:off x="2371584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92324" y="1732300"/>
            <a:ext cx="226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062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71585" y="2707858"/>
            <a:ext cx="24549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92323" y="2707858"/>
            <a:ext cx="24455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13062" y="2707858"/>
            <a:ext cx="24019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683417"/>
            <a:ext cx="22467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2324" y="3683417"/>
            <a:ext cx="21927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13062" y="3683417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4" y="4658975"/>
            <a:ext cx="21160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2324" y="4658975"/>
            <a:ext cx="17221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062" y="4658975"/>
            <a:ext cx="22523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95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7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8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9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>
            <a:hlinkClick r:id="rId6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>
            <a:hlinkClick r:id="rId7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>
            <a:hlinkClick r:id="rId8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아이디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아이디를 입력하세요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1837849"/>
            <a:ext cx="3714750" cy="29346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023586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변경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298478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현재 비밀번호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447068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2525861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현재 비밀번호 입력</a:t>
            </a:r>
          </a:p>
        </p:txBody>
      </p:sp>
      <p:sp>
        <p:nvSpPr>
          <p:cNvPr id="998" name="TextBox 997"/>
          <p:cNvSpPr txBox="1"/>
          <p:nvPr/>
        </p:nvSpPr>
        <p:spPr>
          <a:xfrm>
            <a:off x="3313557" y="2833402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비밀번호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3313557" y="2981992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0" name="TextBox 999"/>
          <p:cNvSpPr txBox="1"/>
          <p:nvPr/>
        </p:nvSpPr>
        <p:spPr>
          <a:xfrm>
            <a:off x="3417571" y="3060785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입력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313557" y="3368326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1002" name="Rounded Rectangle 1001"/>
          <p:cNvSpPr/>
          <p:nvPr/>
        </p:nvSpPr>
        <p:spPr>
          <a:xfrm>
            <a:off x="3313557" y="3516916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3" name="TextBox 1002"/>
          <p:cNvSpPr txBox="1"/>
          <p:nvPr/>
        </p:nvSpPr>
        <p:spPr>
          <a:xfrm>
            <a:off x="3417571" y="3595709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재입력</a:t>
            </a:r>
          </a:p>
        </p:txBody>
      </p:sp>
      <p:sp>
        <p:nvSpPr>
          <p:cNvPr id="1004" name="Rounded Rectangle 1003"/>
          <p:cNvSpPr/>
          <p:nvPr/>
        </p:nvSpPr>
        <p:spPr>
          <a:xfrm>
            <a:off x="5988177" y="4378737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변경 완료</a:t>
            </a:r>
          </a:p>
        </p:txBody>
      </p:sp>
      <p:sp>
        <p:nvSpPr>
          <p:cNvPr id="1005" name="Rounded Rectangle 1004"/>
          <p:cNvSpPr/>
          <p:nvPr/>
        </p:nvSpPr>
        <p:spPr>
          <a:xfrm>
            <a:off x="5490401" y="4378737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전화번호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전화번호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010-0000-0000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이메일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이메일 주소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slides/slide7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&lt; 3 / 5 &gt;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기능 정의서</a:t>
            </a:r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-3</a:t>
            </a:r>
          </a:p>
        </p:txBody>
      </p:sp>
      <p:graphicFrame>
        <p:nvGraphicFramePr>
          <p:cNvPr id="10" name="tbl33L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441251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검색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이벤트 검색어로 목록을 필터링한다.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상태 필터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전체, 정상, 주의, 경고, 위험 등 상태 칩으로 목록을 필터링한다.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정렬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최근 측정순, 이상점수 높은순, SOC 낮은순 등 정렬 기준을 선택한다.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정렬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페이지 이동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목록에서 이전, 다음, 페이지 번호로 목록 페이지를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목록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상세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행을 클릭해 상세 정보와 관련 센서값을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CSV 내보내기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또는 이력 조회 결과를 CSV로 내보내기 위한 확인 모달을 연다.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PDF 내보내기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또는 이력 조회 결과를 PDF로 내보내기 위한 확인 모달을 연다.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이력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센터에서 인앱·카카오 알림 이력, 발생 시간, 확인 상태를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항목의 확인(Ack) 버튼으로 대응 확인 상태를 기록한다.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모든 알림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센터에서 모두 확인 버튼으로 미확인 알림을 일괄 처리한다.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카테고리 필터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화면에서 전체, 업데이트, 점검 등 카테고리 칩으로 공지를 필터링한다.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상세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목록 항목을 클릭해 공지 상세를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441251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상태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제어 화면에서 현재 회로 상태, 차단됨, 정상 연결 상태를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승인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Kill-Switch 차단 버튼으로 위험 제어 승인 모달을 열고 재인증·사유 입력 후 실행한다.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승인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버튼으로 승인 모달을 열고 회로 복구를 실행한다.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자동 차단 알림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Fail-Safe 자동 차단 모달에서 차단 사유와 대상 배터리 점검 안내를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임계치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임계치 탭에서 온도 상한, 이상점수 등급 임계치, 인터락 조건을 확인·저장한다.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수신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알림 수신 탭에서 카카오, 이메일, SMS, 웹푸시 수신 여부를 토글한다.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조건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위험·경고 즉시 발송, 위험 등급만 발송, 중복 발송 억제 조건을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정보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계정 탭에서 이름, 이메일, 전화번호를 확인하고 변경 저장 버튼을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변경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탭에서 비밀번호 재설정 모달을 열고 새 비밀번호를 저장한다.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프로필 사진 변경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탭에서 사진 변경 버튼을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정의 필요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테마 탭에서 라이트, 다크, 시스템 테마를 선택한다.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42286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센서 캘리브레이션 이력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테마·캘리브레이션 영역에서 센서별 보정일, 담당자, 유효 상태를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</p:spTree>
    <p:extLst>
      <p:ext uri="{BB962C8B-B14F-4D97-AF65-F5344CB8AC3E}">
        <ns3:creationId val="212107086"/>
      </p:ext>
    </p:extLst>
  </p:cSld>
  <p:clrMapOvr>
    <a:masterClrMapping/>
  </p:clrMapOvr>
</p:sld>
</file>

<file path=ppt/slides/slide7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&lt; 4 / 5 &gt;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기능 정의서</a:t>
            </a:r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-4</a:t>
            </a:r>
          </a:p>
        </p:txBody>
      </p:sp>
      <p:graphicFrame>
        <p:nvGraphicFramePr>
          <p:cNvPr id="10" name="tbl33L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551564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 진입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로그인 후 전체 운영 현황 허브 화면으로 진입한다.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메뉴 이동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대시보드, 유저 관리, 배터리 관리, 공지사항 관리, 감사 로그 메뉴로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모드 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화면에서 일반 사용자 화면으로 나가거나 로그아웃한다.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운영 요약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유저, 전체 배터리, 활성 세션, 위험/경고 배터리, 오프라인 디바이스 요약 카드를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위험 배터리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관리자 조작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기간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화면에서 24시간, 7일, 30일 기간 탭을 전환한다.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상세 이동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551564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목록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검색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상태 필터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권한 필터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상세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행을 클릭해 기본 정보, 등록 배터리, 활동 로그를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정보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비밀번호 재설정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정지/해제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변경 감사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</p:spTree>
    <p:extLst>
      <p:ext uri="{BB962C8B-B14F-4D97-AF65-F5344CB8AC3E}">
        <ns3:creationId val="212107086"/>
      </p:ext>
    </p:extLst>
  </p:cSld>
  <p:clrMapOvr>
    <a:masterClrMapping/>
  </p:clrMapOvr>
</p:sld>
</file>

<file path=ppt/slides/slide7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&lt; 5 / 5 &gt;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기능 정의서</a:t>
            </a:r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-5</a:t>
            </a:r>
          </a:p>
        </p:txBody>
      </p:sp>
      <p:graphicFrame>
        <p:nvGraphicFramePr>
          <p:cNvPr id="10" name="tbl33L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551564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목록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검색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 필터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 변경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메모 입력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상세에서 관리자 메모를 입력하고 저장한다.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BLOCKED 사유 입력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배터리를 BLOCKED로 변경할 때 사유 입력을 요구한다.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변경 감사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목록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ns2:creationId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ns2:colId val="20000"/>
                    </a:ext>
                  </a:extLst>
                </a:gridCol>
                <a:gridCol w="1325880">
                  <a:extLst>
                    <a:ext uri="{9D8B030D-6E8A-4147-A177-3AD203B41FA5}">
                      <ns2:colId val="20001"/>
                    </a:ext>
                  </a:extLst>
                </a:gridCol>
                <a:gridCol w="1783080">
                  <a:extLst>
                    <a:ext uri="{9D8B030D-6E8A-4147-A177-3AD203B41FA5}">
                      <ns2:colId val="20002"/>
                    </a:ext>
                  </a:extLst>
                </a:gridCol>
                <a:gridCol w="685800">
                  <a:extLst>
                    <a:ext uri="{9D8B030D-6E8A-4147-A177-3AD203B41FA5}">
                      <ns2:colId val="20003"/>
                    </a:ext>
                  </a:extLst>
                </a:gridCol>
              </a:tblGrid>
              <a:tr h="551564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ns2:rowId val="1628761462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목록의 수정 버튼으로 기존 공지를 편집한다.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게시 알림 선택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임시 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작성/수정 모달에서 임시 저장을 수행한다.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보관/삭제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목록의 보관 또는 삭제 동작에서 확인 모달을 표시한다.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삭제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목록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필터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화면에서 기간, 행위, 대상 기준 필터를 선택한다.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상세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행을 클릭해 변경 전후 값과 사유를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  <a:tr h="551564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수정/삭제 차단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ns2:rowId val="1387147873"/>
                  </a:ext>
                </a:extLst>
              </a:tr>
            </a:tbl>
          </a:graphicData>
        </a:graphic>
      </p:graphicFrame>
    </p:spTree>
    <p:extLst>
      <p:ext uri="{BB962C8B-B14F-4D97-AF65-F5344CB8AC3E}">
        <ns3:creationId val="212107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1195</TotalTime>
  <Words>9032</Words>
  <Application>Microsoft Macintosh PowerPoint</Application>
  <PresentationFormat>A4 용지(210x297mm)</PresentationFormat>
  <Paragraphs>2494</Paragraphs>
  <Slides>69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8" baseType="lpstr">
      <vt:lpstr>굴림</vt:lpstr>
      <vt:lpstr>맑은 고딕</vt:lpstr>
      <vt:lpstr>Apple SD Gothic Neo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86</cp:revision>
  <dcterms:created xsi:type="dcterms:W3CDTF">2026-04-28T10:13:30Z</dcterms:created>
  <dcterms:modified xsi:type="dcterms:W3CDTF">2026-06-30T11:07:56Z</dcterms:modified>
</cp:coreProperties>
</file>