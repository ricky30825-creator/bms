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dia/image40.svg" ContentType="image/svg+xml"/>
  <Override PartName="/ppt/media/image41.svg" ContentType="image/svg+xml"/>
  <Override PartName="/ppt/media/image42.svg" ContentType="image/svg+xml"/>
  <Override PartName="/ppt/media/image43.svg" ContentType="image/svg+xml"/>
  <Override PartName="/ppt/media/image44.svg" ContentType="image/svg+xml"/>
  <Override PartName="/ppt/media/image45.svg" ContentType="image/svg+xml"/>
  <Override PartName="/ppt/media/image46.svg" ContentType="image/svg+xml"/>
  <Override PartName="/ppt/media/image4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378" r:id="rId2"/>
    <p:sldId id="400" r:id="rId3"/>
    <p:sldId id="334" r:id="rId4"/>
    <p:sldId id="379" r:id="rId5"/>
    <p:sldId id="401" r:id="rId6"/>
    <p:sldId id="315" r:id="rId7"/>
    <p:sldId id="377" r:id="rId8"/>
    <p:sldId id="318" r:id="rId9"/>
    <p:sldId id="317" r:id="rId10"/>
    <p:sldId id="375" r:id="rId11"/>
    <p:sldId id="365" r:id="rId12"/>
    <p:sldId id="387" r:id="rId13"/>
    <p:sldId id="402" r:id="rId14"/>
    <p:sldId id="403" r:id="rId15"/>
    <p:sldId id="404" r:id="rId16"/>
    <p:sldId id="384" r:id="rId17"/>
    <p:sldId id="385" r:id="rId18"/>
    <p:sldId id="386" r:id="rId19"/>
    <p:sldId id="320" r:id="rId20"/>
    <p:sldId id="381" r:id="rId21"/>
    <p:sldId id="382" r:id="rId22"/>
    <p:sldId id="323" r:id="rId23"/>
    <p:sldId id="405" r:id="rId24"/>
    <p:sldId id="396" r:id="rId25"/>
    <p:sldId id="397" r:id="rId26"/>
    <p:sldId id="325" r:id="rId27"/>
    <p:sldId id="309" r:id="rId28"/>
    <p:sldId id="406" r:id="rId29"/>
    <p:sldId id="407" r:id="rId30"/>
    <p:sldId id="408" r:id="rId31"/>
    <p:sldId id="409" r:id="rId32"/>
    <p:sldId id="390" r:id="rId33"/>
    <p:sldId id="391" r:id="rId34"/>
    <p:sldId id="392" r:id="rId35"/>
    <p:sldId id="393" r:id="rId36"/>
    <p:sldId id="394" r:id="rId37"/>
    <p:sldId id="395" r:id="rId38"/>
    <p:sldId id="398" r:id="rId39"/>
    <p:sldId id="399" r:id="rId40"/>
    <p:sldId id="369" r:id="rId41"/>
    <p:sldId id="344" r:id="rId42"/>
    <p:sldId id="257" r:id="rId43"/>
    <p:sldId id="347" r:id="rId44"/>
    <p:sldId id="348" r:id="rId45"/>
    <p:sldId id="350" r:id="rId46"/>
    <p:sldId id="351" r:id="rId47"/>
    <p:sldId id="383" r:id="rId48"/>
    <p:sldId id="332" r:id="rId49"/>
    <p:sldId id="410" r:id="rId50"/>
    <p:sldId id="388" r:id="rId51"/>
    <p:sldId id="389" r:id="rId52"/>
    <p:sldId id="370" r:id="rId53"/>
    <p:sldId id="358" r:id="rId54"/>
    <p:sldId id="374" r:id="rId55"/>
    <p:sldId id="287" r:id="rId56"/>
    <p:sldId id="361" r:id="rId57"/>
    <p:sldId id="362" r:id="rId58"/>
    <p:sldId id="360" r:id="rId59"/>
    <p:sldId id="364" r:id="rId60"/>
    <p:sldId id="294" r:id="rId6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400"/>
            <p14:sldId id="334"/>
            <p14:sldId id="379"/>
            <p14:sldId id="401"/>
            <p14:sldId id="315"/>
          </p14:sldIdLst>
        </p14:section>
        <p14:section name="#시장/기술 동향 분석" id="{357797F0-A98A-4318-A2D8-8E1945E987DF}">
          <p14:sldIdLst>
            <p14:sldId id="377"/>
            <p14:sldId id="318"/>
          </p14:sldIdLst>
        </p14:section>
        <p14:section name="#설문조사분석" id="{C10038CF-01F2-4ACA-88F0-E784E01BC942}">
          <p14:sldIdLst>
            <p14:sldId id="317"/>
            <p14:sldId id="375"/>
            <p14:sldId id="365"/>
            <p14:sldId id="387"/>
            <p14:sldId id="402"/>
            <p14:sldId id="403"/>
            <p14:sldId id="404"/>
            <p14:sldId id="384"/>
            <p14:sldId id="385"/>
            <p14:sldId id="386"/>
            <p14:sldId id="320"/>
            <p14:sldId id="381"/>
            <p14:sldId id="382"/>
            <p14:sldId id="323"/>
            <p14:sldId id="405"/>
            <p14:sldId id="396"/>
            <p14:sldId id="397"/>
            <p14:sldId id="325"/>
            <p14:sldId id="309"/>
            <p14:sldId id="406"/>
            <p14:sldId id="407"/>
            <p14:sldId id="408"/>
            <p14:sldId id="409"/>
            <p14:sldId id="390"/>
            <p14:sldId id="391"/>
            <p14:sldId id="392"/>
            <p14:sldId id="393"/>
            <p14:sldId id="394"/>
            <p14:sldId id="395"/>
            <p14:sldId id="398"/>
            <p14:sldId id="399"/>
            <p14:sldId id="369"/>
            <p14:sldId id="344"/>
            <p14:sldId id="257"/>
            <p14:sldId id="347"/>
            <p14:sldId id="348"/>
            <p14:sldId id="350"/>
            <p14:sldId id="351"/>
          </p14:sldIdLst>
        </p14:section>
        <p14:section name="설계단계" id="{079FB007-4044-4E60-AD09-4E9512A5438F}">
          <p14:sldIdLst>
            <p14:sldId id="383"/>
            <p14:sldId id="332"/>
            <p14:sldId id="410"/>
            <p14:sldId id="388"/>
            <p14:sldId id="389"/>
            <p14:sldId id="370"/>
            <p14:sldId id="358"/>
            <p14:sldId id="374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79" autoAdjust="0"/>
    <p:restoredTop sz="94754" autoAdjust="0"/>
  </p:normalViewPr>
  <p:slideViewPr>
    <p:cSldViewPr>
      <p:cViewPr>
        <p:scale>
          <a:sx n="126" d="100"/>
          <a:sy n="126" d="100"/>
        </p:scale>
        <p:origin x="264" y="1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notesMaster" Target="notesMasters/notes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9334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804DC-75A0-CC3D-0ACE-63CD84150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5B0590-C1F7-3FE9-D7D8-6231ADB31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6E218F-6653-1522-A69A-FBDBAF2A4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B4A3D-08D5-BBA5-47B2-4336C6202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28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459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87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01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515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373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14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597694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jpe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8.png"/><Relationship Id="rId5" Type="http://schemas.openxmlformats.org/officeDocument/2006/relationships/image" Target="../media/image6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2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3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Relationship Id="rId5" Type="http://schemas.openxmlformats.org/officeDocument/2006/relationships/image" Target="../media/image3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39.png"/><Relationship Id="rId4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0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1.svg"/><Relationship Id="rId4" Type="http://schemas.openxmlformats.org/officeDocument/2006/relationships/image" Target="../media/image42.sv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3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4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5.svg"/><Relationship Id="rId4" Type="http://schemas.openxmlformats.org/officeDocument/2006/relationships/image" Target="../media/image46.svg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7.sv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8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9.png"/><Relationship Id="rId4" Type="http://schemas.openxmlformats.org/officeDocument/2006/relationships/image" Target="../media/image50.png"/><Relationship Id="rId5" Type="http://schemas.openxmlformats.org/officeDocument/2006/relationships/image" Target="../media/image51.png"/><Relationship Id="rId6" Type="http://schemas.openxmlformats.org/officeDocument/2006/relationships/image" Target="../media/image2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2.png"/><Relationship Id="rId4" Type="http://schemas.openxmlformats.org/officeDocument/2006/relationships/image" Target="../media/image53.png"/><Relationship Id="rId5" Type="http://schemas.openxmlformats.org/officeDocument/2006/relationships/image" Target="../media/image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8.png"/><Relationship Id="rId4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64255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sp>
        <p:nvSpPr>
          <p:cNvPr id="21" name="TextBox 20"/>
          <p:cNvSpPr txBox="1"/>
          <p:nvPr/>
        </p:nvSpPr>
        <p:spPr>
          <a:xfrm>
            <a:off x="457200" y="138310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3864"/>
                </a:solidFill>
                <a:latin typeface="맑은 고딕"/>
              </a:rPr>
              <a:t>스마트 배터리 실측 데이터 기반 AI 이상탐지·진단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27006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배터리 열폭주 전조 조기 탐지 · 정상패턴 학습 기반 예측형 안전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C05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502C"/>
                </a:solidFill>
                <a:latin typeface="맑은 고딕"/>
              </a:rPr>
              <a:t>추진 배경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항공기 기내 보조배터리 발화·전기차 화재 등 Li-ion 배터리 안전 문제가 사회적 이슈로 부상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기존 보조배터리는 단순 보호회로(PCM) 기반 → 이상 발생 전 전조 증상 사전 인지 곤란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현재 배터리 관리 방식은 임계치 기반 차단(사후 대응) 중심으로 예측 기반 기술 부재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내부 단락·열폭주·출력 불안정은 발생 전 미세한 전압·임피던스 변화를 동반 → 조기 탐지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프로젝트 목적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1셀 Li-ion 스마트 배터리팩 + Fuel Gauge·다중 센서로 전압·전류·온도·SOC 실측 데이터 수집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LSTM-AutoEncoder 기반 AI로 정상 패턴을 학습, 정상에서 벗어나는 이상 징후를 조기 탐지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임계치 사후 차단이 아닌, 정상패턴 학습 기반 사전 예측형 배터리 안전 관리 체계 구축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웹 대시보드로 상태·이상 점수·경고를 실시간 시각화하는 통합 관제 플랫폼 완성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C3C1999-4387-32FD-5B19-C8F054381A9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0302D963-C314-0F65-7406-2A36DE4ABB3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BC667E4A-6410-4EAB-53EE-052B8B7F9CB7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065B5A2B-373F-A600-CF23-58C15C2A8AD8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0653A18-98E3-646A-646C-AC8510803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26C4D0D1-F555-1B28-D333-86947B90B75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7F88A4C-A2A8-17A6-B4F8-1485D75895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CEBFAB0-B492-90A9-7810-8A295A3FAF0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57CDC681-C647-99E2-0AB4-73FDA436B6A8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51BCF467-46CC-1B2A-95E9-BD8C0460EEF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6BEABB9B-335D-6B2A-73AF-D9EFDB5751FF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053CA5F-B8D0-9D14-B4E3-DB2CF00CE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막힌 원호 31">
            <a:extLst>
              <a:ext uri="{FF2B5EF4-FFF2-40B4-BE49-F238E27FC236}">
                <a16:creationId xmlns:a16="http://schemas.microsoft.com/office/drawing/2014/main" id="{50CCE34D-2FBC-3670-F80B-EB5C7107F1E4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62D43E-E914-07BF-1A35-0E5CE90BC87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0B527BE-8FCA-4631-5C30-CA0F301EA6AC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7B77A655-36B4-F484-3D97-50D251F9F1F3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24">
            <a:extLst>
              <a:ext uri="{FF2B5EF4-FFF2-40B4-BE49-F238E27FC236}">
                <a16:creationId xmlns:a16="http://schemas.microsoft.com/office/drawing/2014/main" id="{E15E597B-E077-D68F-55C8-6F538FB1DC6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" name="제목 12">
            <a:extLst>
              <a:ext uri="{FF2B5EF4-FFF2-40B4-BE49-F238E27FC236}">
                <a16:creationId xmlns:a16="http://schemas.microsoft.com/office/drawing/2014/main" id="{29A1AF32-C7D0-06E0-E5AB-0505C9C73F7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팀프로젝트 역할 정리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ECA96A03-70CF-24D3-399D-95520D9B8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막힌 원호 31">
            <a:extLst>
              <a:ext uri="{FF2B5EF4-FFF2-40B4-BE49-F238E27FC236}">
                <a16:creationId xmlns:a16="http://schemas.microsoft.com/office/drawing/2014/main" id="{663852A3-B771-0C11-532D-248BB25CEB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8A41339-C66B-5578-511D-648E8BE840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996547"/>
              </p:ext>
            </p:extLst>
          </p:nvPr>
        </p:nvGraphicFramePr>
        <p:xfrm>
          <a:off x="323528" y="1525428"/>
          <a:ext cx="7982712" cy="4741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37744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내용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일정 (2026년)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진척도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2월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3월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4월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5월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6월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계획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프로젝트 요구사항 정의, 팀원별 역할 확정, 부품 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열화 특성·시계열 AI 선행 논문 분석, 센서 I2C 통신 규격(Datasheet) 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설계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1S 배터리팩 회로도(BMS·TP4056) 및 DB 스키마 설계, 시스템 아키텍처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(H/W·펌웨어)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배터리팩 제작 및 라즈베리파이 기반 다중 센서 데이터 계측/로깅 시스템 구현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(AI 모델링)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정상 데이터 수집 및 TensorFlow 기반 LSTM-AutoEncoder 알고리즘 학습/최적화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(DB·웹)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DB 적재 파이프라인 구축 및 React/Spring Boot 기반 모니터링 UI 개발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H/W-S/W 연동 테스트, 임의 이상 환경(과열/과부하) 조성을 통한 AI 탐지율·신뢰성 검증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종료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최종 결과 보고서 작성, 프로젝트 시연 영상 제작, 한이음 공모전 출품 마무리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온라인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주 1회 온라인 회의로 각 팀원의 진행 결과·이슈 공유 (매월 진행)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매월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오프라인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멘토링 및 H/W 제작·통합 테스트를 위한 팀원 대면 모임 (8월 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  <a:endParaRPr sz="750" b="1" dirty="0">
                        <a:solidFill>
                          <a:srgbClr val="808080"/>
                        </a:solidFill>
                        <a:latin typeface="맑은 고딕"/>
                      </a:endParaRPr>
                    </a:p>
                    <a:p>
                      <a:pPr algn="ctr"/>
                      <a:r>
                        <a:rPr sz="750" b="1" dirty="0">
                          <a:solidFill>
                            <a:srgbClr val="808080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23528" y="6302526"/>
            <a:ext cx="8375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0AD47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완료(경과)   </a:t>
            </a:r>
            <a:r>
              <a:rPr sz="900" b="1">
                <a:solidFill>
                  <a:srgbClr val="FFC000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진행중(현재·7월)   </a:t>
            </a:r>
            <a:r>
              <a:rPr sz="900" b="1">
                <a:solidFill>
                  <a:srgbClr val="BDD7EE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예정        </a:t>
            </a:r>
            <a:r>
              <a:rPr sz="800" b="0">
                <a:solidFill>
                  <a:srgbClr val="808080"/>
                </a:solidFill>
                <a:latin typeface="맑은 고딕"/>
              </a:rPr>
              <a:t>※ 진척도는 중간보고 시점(2026년 7월) 기준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A1CA8-0408-19B0-EA29-8E42D8440664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89E75E32-A31E-01F8-63CC-962C7CE27E1A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88CDFA99-0503-BD94-D074-490951C2C6C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983A76BC-A172-CEEF-BC5D-233D632086E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일정 및 진척도</a:t>
            </a:r>
            <a:endParaRPr kumimoji="0" lang="en-US" altLang="ko-KR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48DE141-E8C2-AAEE-4354-D349EF314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6F360BCA-3DEA-CB1C-32BA-AE48CC3E3DB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8B7AAA-9F89-31BD-A610-DC98B48C6C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925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83191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시장</a:t>
            </a:r>
            <a:r>
              <a:rPr lang="en-US" altLang="ko-KR" sz="1700" b="1" noProof="0" dirty="0">
                <a:solidFill>
                  <a:schemeClr val="bg1"/>
                </a:solidFill>
                <a:latin typeface="+mn-ea"/>
                <a:cs typeface="+mj-cs"/>
              </a:rPr>
              <a:t>/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기술 동향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16" y="1369871"/>
            <a:ext cx="7876108" cy="469949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68DCFEA2-FD25-3801-86D6-6DE6784769A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34B20-DDC3-CE57-4B9D-02AF7E5533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시장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기술 동향 분석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569836"/>
            <a:ext cx="4104455" cy="409141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7147" y="1569836"/>
            <a:ext cx="4141366" cy="4091412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6">
            <a:extLst>
              <a:ext uri="{FF2B5EF4-FFF2-40B4-BE49-F238E27FC236}">
                <a16:creationId xmlns:a16="http://schemas.microsoft.com/office/drawing/2014/main" id="{2AEDE906-2236-DE9A-1320-CC105DEB0F9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EC2219F-33AF-397A-E05B-99F2DF943D6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47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설문조사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83" y="1484783"/>
            <a:ext cx="4349925" cy="2182341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421752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6" y="2180524"/>
            <a:ext cx="4163306" cy="3099420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834" y="3667125"/>
            <a:ext cx="2304256" cy="1612819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1623" y="4458880"/>
            <a:ext cx="2346998" cy="1356107"/>
          </a:xfrm>
          <a:prstGeom prst="rect">
            <a:avLst/>
          </a:prstGeom>
        </p:spPr>
      </p:pic>
      <p:sp>
        <p:nvSpPr>
          <p:cNvPr id="18" name="사각형: 둥근 모서리 26">
            <a:extLst>
              <a:ext uri="{FF2B5EF4-FFF2-40B4-BE49-F238E27FC236}">
                <a16:creationId xmlns:a16="http://schemas.microsoft.com/office/drawing/2014/main" id="{32C8AE77-3E4B-DC03-95E5-F96B4E4F62F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F11987E-FEA9-E0E4-2878-73A305AD00B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095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인터뷰 결과서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31" y="1532568"/>
            <a:ext cx="7667625" cy="445770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D283DBBF-9867-87D3-A776-7B0635AA87E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F10DA88-101A-4225-F94B-263090EBF3C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575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이메일로 안전하게 로그인.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카카오·네이버 계정으로 빠른 로그인.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분실 시 인증 후 접근 복구.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분리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역할별 화면 제공 및 접근 권한 제한.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RBAC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세션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로그인 상태 유지 및 미사용 세션 자동 만료.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JWT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및 측정 이력 연결.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UUID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선택 및 이전 이력 연속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세션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시작·종료를 세션 단위로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단일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태깅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센서값과 AI 결과를 선택 배터리에 연결.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장비와 대상 배터리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 저장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원본 데이터 누락 없는 저장.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결과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이상점수와 위험 판단 결과 저장.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구독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후 마지막 처리 지점부터 재처리.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빠른 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 기간 전압·온도·전류 데이터 빠른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인덱스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상태 요약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현재 센서값·이상점수·상태 등급 요약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REST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실시간 반영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새로고침 없는 실시간 변화와 경고 반영.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WS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추세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기간·지표별 추세 그래프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이벤트·오류·제어 이력 검색.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페이징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배터리별 세션·점수·이벤트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시점 값·점수·대응 상태 기록.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이상점수를 4단계 위험 등급으로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4등급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기준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알림 조건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외부 알림 발송.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 및 주요 변화만 발송.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발송 기록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차단·복구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확인 후 차단·복구 실행.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긴급 차단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 Kill-Switch 연계 차단.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암호화 및 입력값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로그·감사·헬스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PC·태블릿·모바일별 관제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 경고와 놓친 알림 화면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토스트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파일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 데이터와 이벤트 파일 내보내기.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복구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끊김 시 자동 복구와 상태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재연결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접근성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다크모드와 접근성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테마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권한과 활성 상태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통합 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전체 배터리·장비·위험 상태 통합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조회·설정·제어 이력 감사.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audit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서비스 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Kafka·DB·AI 상태 빠른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9DE33-0876-5F15-95C5-F2CC9D99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095E6F-DE14-7617-46C4-D44A20EFA3D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975B31C-DFC7-EF89-A59F-F3DA96C99C8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B8D2CDA-0066-7C68-61C8-426AD346AC19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0C058E2-9D9B-2BFA-5FDF-77043E15E0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FBD6A5-57D0-272B-CD58-08C7D9B06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31DC7C6F-DDA7-3A28-F867-D629A87FE6B8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83F56F-3CB5-663B-9D84-FC6ED7E877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근거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상승 원인 근거별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XAI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수명 예측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건강도와 잔존수명 추정.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SOH/RUL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 시연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시나리오 기반 탐지·알림·차단 검증.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원인 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전후 데이터와 조치 흐름 분석.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포렌식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 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격상과 대응 상태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위험도별 알림 채널 분리.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다중채널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끊김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오프라인과 수신 중단 즉시 경고.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신뢰성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배터리·세션 추세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대응 안내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등급별 즉시 조치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웹푸시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설치형 웹과 웹푸시 알림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PWA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원본·요약 데이터 보존 정책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다국어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한국어·영어 화면 전환.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i18n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2679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점검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체크 완료 후 측정 시작.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조작 권한 확인과 2차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 이력과 만료 경고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 표시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품질 점수와 분석 가능 여부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선택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QR/라벨 기반 배터리 선택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조건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조건 템플릿 저장과 재사용.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템플릿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 자료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진단 자료 일괄 다운로드.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민감 작업 사용자·시간·IP 추적.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백업과 복구 테스트로 데이터 유실 방지.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2580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 dirty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ns0:sld xmlns:ns0="http://schemas.openxmlformats.org/presentationml/2006/main" xmlns:ns1="http://schemas.openxmlformats.org/drawingml/2006/main" xmlns:ns2="http://schemas.microsoft.com/office/drawing/2014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" name="Rectangle 1"/>
          <ns0:cNvSpPr/>
          <ns0:nvPr/>
        </ns0:nvSpPr>
        <ns0:spPr>
          <ns1:xfrm>
            <ns1:off x="109728" y="0"/>
            <ns1:ext cx="3090672" cy="1115568"/>
          </ns1:xfrm>
          <ns1:prstGeom prst="rect">
            <ns1:avLst/>
          </ns1:prstGeom>
          <ns1:solidFill>
            <ns1:srgbClr val="3B5AA8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/>
          </ns1:p>
        </ns0:txBody>
      </ns0:sp>
      <ns0:sp>
        <ns0:nvSpPr>
          <ns0:cNvPr id="3" name="Rectangle 2"/>
          <ns0:cNvSpPr/>
          <ns0:nvPr/>
        </ns0:nvSpPr>
        <ns0:spPr>
          <ns1:xfrm>
            <ns1:off x="429768" y="539496"/>
            <ns1:ext cx="2578608" cy="9144"/>
          </ns1:xfrm>
          <ns1:prstGeom prst="rect">
            <ns1:avLst/>
          </ns1:prstGeom>
          <ns1:solidFill>
            <ns1:srgbClr val="FFFFFF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/>
          </ns1:p>
        </ns0:txBody>
      </ns0:sp>
      <ns0:sp>
        <ns0:nvSpPr>
          <ns0:cNvPr id="4" name="Rectangle 3"/>
          <ns0:cNvSpPr/>
          <ns0:nvPr/>
        </ns0:nvSpPr>
        <ns0:spPr>
          <ns1:xfrm>
            <ns1:off x="3273552" y="548640"/>
            <ns1:ext cx="5376672" cy="9144"/>
          </ns1:xfrm>
          <ns1:prstGeom prst="rect">
            <ns1:avLst/>
          </ns1:prstGeom>
          <ns1:solidFill>
            <ns1:srgbClr val="3B5AA8"/>
          </ns1:solidFill>
          <ns1:ln>
            <ns1:noFill/>
          </ns1:ln>
        </ns0:spPr>
        <ns0:style>
          <ns1:lnRef idx="1">
            <ns1:schemeClr val="accent1"/>
          </ns1:lnRef>
          <ns1:fillRef idx="3">
            <ns1:schemeClr val="accent1"/>
          </ns1:fillRef>
          <ns1:effectRef idx="2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/>
          </ns1:p>
        </ns0:txBody>
      </ns0:sp>
      <ns0:sp>
        <ns0:nvSpPr>
          <ns0:cNvPr id="5" name="TextBox 4"/>
          <ns0:cNvSpPr txBox="1"/>
          <ns0:nvPr/>
        </ns0:nvSpPr>
        <ns0:spPr>
          <ns1:xfrm>
            <ns1:off x="237744" y="685800"/>
            <ns1:ext cx="2971800" cy="310896"/>
          </ns1:xfrm>
          <ns1:prstGeom prst="rect">
            <ns1:avLst/>
          </ns1:prstGeom>
          <ns1:noFill/>
        </ns0:spPr>
        <ns0:txBody>
          <ns1:bodyPr wrap="none">
            <ns1:spAutoFit/>
          </ns1:bodyPr>
          <ns1:lstStyle/>
          <ns1:p>
            <ns1:r>
              <ns1:rPr sz="1200" b="1">
                <ns1:solidFill>
                  <ns1:srgbClr val="FFFFFF"/>
                </ns1:solidFill>
                <ns1:latin typeface="맑은 고딕"/>
              </ns1:rPr>
              <ns1:t>| 유즈케이스 정의서</ns1:t>
            </ns1:r>
          </ns1:p>
        </ns0:txBody>
      </ns0:sp>
      <ns0:sp>
        <ns0:nvSpPr>
          <ns0:cNvPr id="7" name="TextBox 6"/>
          <ns0:cNvSpPr txBox="1"/>
          <ns0:nvPr/>
        </ns0:nvSpPr>
        <ns0:spPr>
          <ns1:xfrm>
            <ns1:off x="594360" y="1170432"/>
            <ns1:ext cx="7955279" cy="310896"/>
          </ns1:xfrm>
          <ns1:prstGeom prst="rect">
            <ns1:avLst/>
          </ns1:prstGeom>
          <ns1:noFill/>
        </ns0:spPr>
        <ns0:txBody>
          <ns1:bodyPr wrap="none" lIns="0">
            <ns1:spAutoFit/>
          </ns1:bodyPr>
          <ns1:lstStyle/>
          <ns1:p>
            <ns1:r>
              <ns1:rPr sz="1600" b="1">
                <ns1:solidFill>
                  <ns1:srgbClr val="3B5AA8"/>
                </ns1:solidFill>
                <ns1:latin typeface="맑은 고딕"/>
              </ns1:rPr>
              <ns1:t>알림 확인 및 릴레이 차단 대응</ns1:t>
            </ns1:r>
          </ns1:p>
        </ns0:txBody>
      </ns0:sp>
      <ns0:graphicFrame>
        <ns0:nvGraphicFramePr>
          <ns0:cNvPr id="9" name="Table 8"/>
          <ns0:cNvGraphicFramePr>
            <ns1:graphicFrameLocks noGrp="1"/>
          </ns0:cNvGraphicFramePr>
          <ns0:nvPr/>
        </ns0:nvGraphicFramePr>
        <ns0:xfrm>
          <ns1:off x="475488" y="1627632"/>
          <ns1:ext cx="8229600" cy="4711192"/>
        </ns0:xfrm>
        <ns1:graphic>
          <ns1:graphicData uri="http://schemas.openxmlformats.org/drawingml/2006/table">
            <ns1:tbl>
              <ns1:tblPr firstRow="1" bandRow="1">
                <ns1:tableStyleId>{5C22544A-7EE6-4342-B048-85BDC9FD1C3A}</ns1:tableStyleId>
              </ns1:tblPr>
              <ns1:tblGrid>
                <ns1:gridCol w="1207008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7022592">
                  <ns1:extLst>
                    <ns1:ext uri="{9D8B030D-6E8A-4147-A177-3AD203B41FA5}">
                      <ns2:colId val="20001"/>
                    </ns1:ext>
                  </ns1:extLst>
                </ns1:gridCol>
              </ns1:tblGrid>
              <ns1:tr h="25603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73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항목</ns1:t>
                      </ns1:r>
                    </ns1:p>
                  </ns1:txBody>
                  <ns1:tcPr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7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UC-04  알림 확인 및 릴레이 차단 대응</ns1:t>
                      </ns1:r>
                    </ns1:p>
                  </ns1:txBody>
                  <ns1:tcPr>
                    <ns1:solidFill>
                      <ns1:srgbClr val="3B5AA8"/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384048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목적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경고·위험 이벤트를 확인하고 필요한 경우 승인 절차를 거쳐 Kill-Switch를 실행한다.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164592">
                <ns1:tc rowSpan="2"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관련 액터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주 액터: 현장 운영자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164592">
                <ns1:tc vMerge="1"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endParaRPr/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보조 액터: 알림 서버, Kakao API, 릴레이 컨트롤러, 감사 로그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329184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우선순위/중요도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우선순위 P1 / 중요도 Critical / 이유: 안전 제어와 사고 예방에 직접 연결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45720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선행조건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위험 이벤트 발생, 알림 수신 가능, 릴레이 제어 화면 접근 권한, 재인증 가능.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5"/>
                  </ns1:ext>
                </ns1:extLst>
              </ns1:tr>
              <ns1:tr h="32004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트리거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위험 알림 수신, 대시보드 릴레이 차단 버튼 클릭, Fail-Safe 자동 차단 발생.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6"/>
                  </ns1:ext>
                </ns1:extLst>
              </ns1:tr>
              <ns1:tr h="896112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기본 흐름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1. 인앱·카카오 알림 확인</ns1:t>
                      </ns1:r>
                    </ns1:p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2. Ack와 SOP 확인</ns1:t>
                      </ns1:r>
                    </ns1:p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3. 릴레이 제어 화면 진입</ns1:t>
                      </ns1:r>
                    </ns1:p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4. 재인증·사유 입력 후 차단 또는 복구 실행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7"/>
                  </ns1:ext>
                </ns1:extLst>
              </ns1:tr>
              <ns1:tr h="658368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대안/예외 흐름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4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권한 부족: 제어 차단 / 사유 미입력: 실행 불가 / 자동 차단: 사유·점검 안내 모달 우선 표시.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8"/>
                  </ns1:ext>
                </ns1:extLst>
              </ns1:tr>
              <ns1:tr h="411480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후행조건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릴레이 상태가 갱신되고 알림 확인, 제어 결과, 사유가 이벤트·감사 이력에 남는다.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9"/>
                  </ns1:ext>
                </ns1:extLst>
              </ns1:tr>
              <ns1:tr h="31089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관련 데이터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notification, ack_status, relay_state, battery-events, audit_log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0"/>
                  </ns1:ext>
                </ns1:extLst>
              </ns1:tr>
              <ns1:tr h="310896">
                <ns1:tc>
                  <ns1:txBody>
                    <ns1:bodyPr/>
                    <ns1:lstStyle/>
                    <ns1:p>
                      <ns1:pPr algn="ctr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추적 요구사항</ns1:t>
                      </ns1:r>
                    </ns1:p>
                  </ns1:txBody>
                  <ns1:tcPr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>
                        <ns1:lnSpc>
                          <ns1:spcPct val="95000"/>
                        </ns1:lnSpc>
                        <ns1:spcBef>
                          <ns1:spcPts val="0"/>
                        </ns1:spcBef>
                        <ns1:spcAft>
                          <ns1:spcPts val="0"/>
                        </ns1:spcAft>
                      </ns1:pPr>
                      <ns1:r>
                        <ns1:rPr sz="670" b="0">
                          <ns1:solidFill>
                            <ns1:srgbClr val="232323"/>
                          </ns1:solidFill>
                          <ns1:latin typeface="맑은 고딕"/>
                        </ns1:rPr>
                        <ns1:t>REQ-WEB-056~064, REQ-WEB-065~067</ns1:t>
                      </ns1:r>
                    </ns1:p>
                  </ns1:txBody>
                  <ns1:tcPr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1"/>
                  </ns1:ext>
                </ns1:extLst>
              </ns1:tr>
            </ns1:tbl>
          </ns1:graphicData>
        </ns1:graphic>
      </ns0:graphicFrame>
    </ns0:spTree>
  </ns0:cSld>
  <ns0:clrMapOvr>
    <ns1:masterClrMapping/>
  </ns0:clrMapOvr>
</ns0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서비스에 대한 설명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1717594"/>
            <a:ext cx="3429000" cy="3583613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50" y="1803808"/>
            <a:ext cx="3886200" cy="3231174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9F55A738-B68E-6DDA-E059-7059C30E1FD5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28181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176830"/>
            <a:ext cx="8742232" cy="534851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8F0074C-F074-5F8C-A533-ED4F1D05C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7" y="1233893"/>
            <a:ext cx="8598217" cy="529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9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63A17-A937-9E4E-3EDC-A8E57F8CC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FF6B36C6-D0A7-638D-C5C6-3CA229D6F532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6942E78-01CB-D200-FBC9-B6C14779AB5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22F8DA5-6EB9-9003-D62E-471B6F9D5D6E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A4DE0552-D806-E363-56AE-EEB61595E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>
            <a:extLst>
              <a:ext uri="{FF2B5EF4-FFF2-40B4-BE49-F238E27FC236}">
                <a16:creationId xmlns:a16="http://schemas.microsoft.com/office/drawing/2014/main" id="{928B661F-603F-8352-C35B-8B223B4E040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9CDFCC7-16E2-44FB-B865-B095FE5750C2}"/>
              </a:ext>
            </a:extLst>
          </p:cNvPr>
          <p:cNvSpPr/>
          <p:nvPr/>
        </p:nvSpPr>
        <p:spPr>
          <a:xfrm>
            <a:off x="222256" y="1473901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45DD5-1DF4-4093-D8BE-53838153C3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3F46E048-AEED-A661-19C2-246A3E36A012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FD1A0E-BF48-3088-9753-04D84E2F98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721" y="1568606"/>
            <a:ext cx="8699488" cy="231514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ED62579-8EB7-314B-E80E-2912E1A1C12C}"/>
              </a:ext>
            </a:extLst>
          </p:cNvPr>
          <p:cNvSpPr/>
          <p:nvPr/>
        </p:nvSpPr>
        <p:spPr>
          <a:xfrm>
            <a:off x="222256" y="4051133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DE5A3AC-FD73-9AF5-64DA-D97BFEB531DE}"/>
              </a:ext>
            </a:extLst>
          </p:cNvPr>
          <p:cNvGraphicFramePr>
            <a:graphicFrameLocks noGrp="1"/>
          </p:cNvGraphicFramePr>
          <p:nvPr/>
        </p:nvGraphicFramePr>
        <p:xfrm>
          <a:off x="323528" y="4107896"/>
          <a:ext cx="8598216" cy="2387692"/>
        </p:xfrm>
        <a:graphic>
          <a:graphicData uri="http://schemas.openxmlformats.org/drawingml/2006/table">
            <a:tbl>
              <a:tblPr/>
              <a:tblGrid>
                <a:gridCol w="4299108">
                  <a:extLst>
                    <a:ext uri="{9D8B030D-6E8A-4147-A177-3AD203B41FA5}">
                      <a16:colId xmlns:a16="http://schemas.microsoft.com/office/drawing/2014/main" val="867829774"/>
                    </a:ext>
                  </a:extLst>
                </a:gridCol>
                <a:gridCol w="4299108">
                  <a:extLst>
                    <a:ext uri="{9D8B030D-6E8A-4147-A177-3AD203B41FA5}">
                      <a16:colId xmlns:a16="http://schemas.microsoft.com/office/drawing/2014/main" val="2860466899"/>
                    </a:ext>
                  </a:extLst>
                </a:gridCol>
              </a:tblGrid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Frontend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Backend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019238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실시간 배터리 상태 및 AI 분석 결과 시각화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Kafka</a:t>
                      </a:r>
                      <a:r>
                        <a:rPr lang="ko-KR" sz="1200" dirty="0"/>
                        <a:t> 기반 센서 데이터 수집 및 스트리밍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293222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 React</a:t>
                      </a:r>
                      <a:r>
                        <a:rPr lang="ko-KR" sz="1200" dirty="0"/>
                        <a:t> 기반 실시간 대시보드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AI 이상 탐지 및 위험도 분석 수행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387230"/>
                  </a:ext>
                </a:extLst>
              </a:tr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위험 알림 및 이벤트 이력 조회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PostgreSQL·TimescaleDB</a:t>
                      </a:r>
                      <a:r>
                        <a:rPr lang="ko-KR" sz="1200" dirty="0"/>
                        <a:t> 데이터 관리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418394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Relay</a:t>
                      </a:r>
                      <a:r>
                        <a:rPr lang="ko-KR" sz="1200" dirty="0"/>
                        <a:t> </a:t>
                      </a:r>
                      <a:r>
                        <a:rPr lang="ko-KR" sz="1200" dirty="0" err="1"/>
                        <a:t>Kill-Switch</a:t>
                      </a:r>
                      <a:r>
                        <a:rPr lang="ko-KR" sz="1200" dirty="0"/>
                        <a:t> 제어 인터페이스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REST </a:t>
                      </a:r>
                      <a:r>
                        <a:rPr lang="ko-KR" sz="1200" dirty="0" err="1"/>
                        <a:t>API·WebSocket</a:t>
                      </a:r>
                      <a:r>
                        <a:rPr lang="ko-KR" sz="1200" dirty="0"/>
                        <a:t> 서비스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458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039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흐름도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BBF02A6-9C10-72D4-AC93-9BA89BC362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08DC7EF-9631-F2A2-AC6A-2284FDA0F1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196" y="1549998"/>
            <a:ext cx="4267720" cy="4183258"/>
          </a:xfrm>
          <a:prstGeom prst="rect">
            <a:avLst/>
          </a:prstGeom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3EF4EE-A605-A599-67E4-4452FAE433D8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공항 보조배터리 안전 확인 시나리오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탑승객이 공항 보안 검색대에서 보조배터리를 검사 장치에 연결한다.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검사 장치가 보조배터리의 전압, 전류, 온도, SOC, 가스, 압력 데이터를 실시간으로 측정한다.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측정된 센서 데이터는 서버로 전송되고 </a:t>
                      </a:r>
                      <a:r>
                        <a:rPr lang="ko-KR" sz="1100" dirty="0" err="1"/>
                        <a:t>Database에</a:t>
                      </a:r>
                      <a:r>
                        <a:rPr lang="ko-KR" sz="1100" dirty="0"/>
                        <a:t> 저장된다.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Hybrid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AI가</a:t>
                      </a:r>
                      <a:r>
                        <a:rPr lang="ko-KR" sz="1100" dirty="0"/>
                        <a:t> 센서 데이터를 분석하여 이상점수와 위험등급을 계산한다.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⑤ 정상 상태일 경우 </a:t>
                      </a:r>
                      <a:r>
                        <a:rPr lang="ko-KR" sz="1100" dirty="0" err="1"/>
                        <a:t>Web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반입 가능 상태가 표시된다.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이상 상태가 감지되면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경고가 표시되고 공항 직원에게 알림이 전달된다.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⑦ 위험 수준이 높을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Kill-Switch가</a:t>
                      </a:r>
                      <a:r>
                        <a:rPr lang="ko-KR" sz="1100" dirty="0"/>
                        <a:t> 작동하여 보조배터리 전원을 차단한다.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공항 직원은 검사 결과에 따라 보조배터리 반입 허용 또는 별도 조치를 진행한다.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1048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02336" y="1481328"/>
            <a:ext cx="493776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디자인 원칙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2336" y="1810512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1. 위험 우선 노출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긴급 경고 · 현재 이상점수 · Kill-Switch를 화면 최상단과 최단 동선에 배치한다.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2729484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2. 실시간 안정성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100ms 갱신 중에도 레이아웃 흔들림 없이 값과 상태 색만 갱신한다.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" y="3648456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3. 상태의 시각 언어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정상 · 주의 · 경고 · 위험을 색 + 아이콘 + 라벨 3중으로 중복 표기한다.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567427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4. 정보 밀도 적응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데스크톱 다중 컬럼, 태블릿 2컬럼, 모바일 단일 컬럼 카드로 전환한다.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" y="5486399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5. 접근성 기본값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명도 대비 4.5:1 이상, 전체 키보드 탐색, 스크린리더 라벨을 제공한다.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148132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컬러 시스템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32120" y="184708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43016" y="180136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#2563EB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Primary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주요 액션 · 링크 · 활성 상태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2120" y="2249424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43016" y="2203704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#1D4ED8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Blue Dark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헤더 · 강조 · 허브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32120" y="2651760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43016" y="2606040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#F7F7F5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Background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앱 배경 (웜 그레이)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32120" y="305409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E3DFD7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843016" y="3008376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#E3DFD7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Border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구분선 · 카드 테두리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456432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843016" y="3410712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#2A2A2A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본문 텍스트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32120" y="385876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6B665E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43016" y="381304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#6B665E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 Sub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보조 · 캡션 텍스트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440740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타이포그래피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2120" y="4718304"/>
            <a:ext cx="3246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01600" rIns="114300" rtlCol="0" anchor="ctr"/>
          <a:lstStyle/>
          <a:p>
            <a:pPr algn="ctr"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서체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Pretendard / 맑은 고딕 계열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스케일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Display 28 · Title 20 · Heading 15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A2A2A"/>
                </a:solidFill>
                <a:latin typeface="맑은 고딕"/>
              </a:rPr>
              <a:t>Body 13 · Caption 11 (pt)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계측값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숫자는 Bold · Tabular 정렬</a:t>
            </a:r>
          </a:p>
        </p:txBody>
      </p:sp>
    </p:spTree>
    <p:extLst>
      <p:ext uri="{BB962C8B-B14F-4D97-AF65-F5344CB8AC3E}">
        <p14:creationId xmlns:p14="http://schemas.microsoft.com/office/powerpoint/2010/main" val="3290421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상태 등급 색상 체계 (LSTM-AutoEncoder 재구성 오차 기반 이상점수)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02336" y="1810512"/>
          <a:ext cx="8339325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212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이상점수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게이지(0–100)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색상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용도 · 대응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6A34A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0.0 – 0.3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 – 30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6A34A"/>
                          </a:solidFill>
                          <a:latin typeface="맑은 고딕"/>
                        </a:rPr>
                        <a:t>■ #16A34A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정상 가동 · 별도 조치 불필요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59E0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0.3 – 0.6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30 – 60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F59E0B"/>
                          </a:solidFill>
                          <a:latin typeface="맑은 고딕"/>
                        </a:rPr>
                        <a:t>■ #F59E0B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추세 관찰 · 알림 준비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EA580C"/>
                          </a:solidFill>
                          <a:latin typeface="맑은 고딕"/>
                        </a:rPr>
                        <a:t>경고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0.6 – 0.8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60 – 80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EA580C"/>
                          </a:solidFill>
                          <a:latin typeface="맑은 고딕"/>
                        </a:rPr>
                        <a:t>■ #EA580C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점검 권고 · 카카오톡 알림 발송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DC2626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0.8 – 1.0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80 – 100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DC2626"/>
                          </a:solidFill>
                          <a:latin typeface="맑은 고딕"/>
                        </a:rPr>
                        <a:t>■ #DC2626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즉시 대응 · Kill-Switch(릴레이) 차단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2336" y="3913632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핵심 UI 컴포넌트 카탈로그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사이드바 내비게이션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미연결 시 잠금(🔒) · 배터리 연결 후 활성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계측값 카드 V·I·T·SOC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현재값 + 상태 배지 · 미니 추세선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26864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이상점수 게이지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0–100 반원 게이지 · 구간 색 밴드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39128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긴급 경고 배너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위험 시 상단 고정 + 릴레이 차단 버튼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XAI 기여도 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특징별 +기여값(dT/dt·gas·V_drop 등)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4600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데이터 테이블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검색·필터·상태 배지 · 모바일 카드 전환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26864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확인 모달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연결·차단 등 파괴적 액션 2단 확인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39128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알림·토스트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Ack(확인) · SOP 런북 진입 액션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반응형 브레이크포인트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데스크톱  ≥ 1200px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좌측 고정 사이드바 + 다중 컬럼 관제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높은 정보 밀도 · 동시 모니터링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전체 추세·XAI 패널 상시 노출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55264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태블릿  768 – 1199px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접힘(햄버거) 메뉴 + 2컬럼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터치 타깃 최소 44px 유지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차트·필터 터치 조작 최적화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모바일  &lt; 768px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하단 내비 + 단일 컬럼 카드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표 → 카드 목록/상세로 전환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긴급경고·이상점수·Kill-Switch 우선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3822191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인터랙션 · 상태 &amp; 접근성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인터랙션 · 상태 처리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로딩: 스켈레톤 / 빈 상태: 안내 + 액션 유도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에러: 원인 + 재시도 경로 제시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실시간 갱신은 값·상태 색만 변경(레이아웃 고정)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파괴적 액션(연결·릴레이 차단)은 확인 모달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다크모드 · 라이트모드 테마 토글 지원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접근성 체크리스트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명도 대비 4.5:1 이상 · 색맹 대비 아이콘 병행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키보드 포커스 링 · 전체 탭 순서 보장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ARIA 라벨 · live region으로 이상점수 갱신 안내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상태는 색 단독이 아닌 라벨·아이콘 병기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최소 터치 영역 44×44px 유지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로그인 / 회원가입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1426464"/>
            <a:ext cx="182880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6B665E"/>
                </a:solidFill>
                <a:latin typeface="맑은 고딕"/>
              </a:rPr>
              <a:t>계정 찾기 (ID · 비밀번호)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87568" y="1636776"/>
            <a:ext cx="457200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HOME 대시보드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디바이스 · 배터리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선택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배터리 자산관리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실시간 관제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센서 요약 카드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이상점수 · 상태등급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이상 분석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 이벤트 상세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XAI · SOH / RUL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알림 · 릴레이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확인 (Ack)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SOP · Kill-Switch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이력 · 설정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추세 · 이벤트 이력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설정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계정 · 테마 설정</a:t>
            </a:r>
          </a:p>
        </p:txBody>
      </p:sp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28" name="Rounded Rectangle 1027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관리자 로그인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</p:txBody>
      </p:sp>
      <p:cxnSp>
        <p:nvCxnSpPr>
          <p:cNvPr id="1030" name="Connector 1029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Rounded Rectangle 1033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유저 관리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목록 · 검색 · 상세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정지 · 해제 / 비밀번호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ounded Rectangle 1039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배터리 운영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전체 배터리 목록</a:t>
            </a:r>
          </a:p>
        </p:txBody>
      </p:sp>
      <p:cxnSp>
        <p:nvCxnSpPr>
          <p:cNvPr id="1043" name="Connector 1042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4" name="Rounded Rectangle 1043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메모 변경</a:t>
            </a:r>
          </a:p>
        </p:txBody>
      </p:sp>
      <p:cxnSp>
        <p:nvCxnSpPr>
          <p:cNvPr id="1045" name="Connector 1044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Rounded Rectangle 1045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통계 / 헬스</a:t>
            </a:r>
          </a:p>
        </p:txBody>
      </p:sp>
      <p:cxnSp>
        <p:nvCxnSpPr>
          <p:cNvPr id="1047" name="Connector 1046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8" name="Rounded Rectangle 1047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모드 분포</a:t>
            </a:r>
          </a:p>
        </p:txBody>
      </p:sp>
      <p:cxnSp>
        <p:nvCxnSpPr>
          <p:cNvPr id="1049" name="Connector 1048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Rounded Rectangle 1049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· 시스템 헬스</a:t>
            </a:r>
          </a:p>
        </p:txBody>
      </p:sp>
      <p:cxnSp>
        <p:nvCxnSpPr>
          <p:cNvPr id="1051" name="Connector 1050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Rounded Rectangle 1051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공지 관리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작성 · 수정 · 게시</a:t>
            </a:r>
          </a:p>
        </p:txBody>
      </p:sp>
      <p:cxnSp>
        <p:nvCxnSpPr>
          <p:cNvPr id="1055" name="Connector 1054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ounded Rectangle 1055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발송 선택</a:t>
            </a:r>
          </a:p>
        </p:txBody>
      </p:sp>
      <p:cxnSp>
        <p:nvCxnSpPr>
          <p:cNvPr id="1057" name="Connector 1056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Rounded Rectangle 1057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감사 로그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Rounded Rectangle 1059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행위 · 대상 필터</a:t>
            </a:r>
          </a:p>
        </p:txBody>
      </p:sp>
      <p:cxnSp>
        <p:nvCxnSpPr>
          <p:cNvPr id="1061" name="Connector 1060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2" name="Rounded Rectangle 1061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로그 상세 조회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Rounded Rectangle 1063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수정 · 삭제 차단</a:t>
            </a:r>
          </a:p>
        </p:txBody>
      </p:sp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SC-USR-01 · 실시간 관제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 ~ 027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연결된 배터리의 현재 이상점수·계측값·위험도 분포·최근 이벤트를 실시간(WebSocket)으로 관제하는 메인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긴급 경고 배너 · 릴레이 차단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발생 시 경고 표시, Kill-Switch 차단 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현재값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현재값과 정상·주의·위험 상태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이상점수 게이지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이상점수(0~100)와 정상·주의·위험 구간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추세 미니차트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V-I-T-SOC 추세, 서비스 공지·점검 안내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297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SC-USR-02 · 배터리 자산관리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자산관리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 ~ 038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배터리를 조회·필터하고 측정 대상으로 연결하거나 새 배터리를 등록하는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이름·종류·측정 모드·직렬 셀 수 입력 후 battery_id 발급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모드·SOC·상태·최근 측정 정보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전체·모드1·모드2·모드3 기준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 배터리 측정 · 상세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측정 연결 확인 모달, 배터리 상세/이력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82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SC-USR-03 · 배터리 상세 /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/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 · 041 · 044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선택 배터리의 기본 정보·현재 상태·과거 측정 세션·건강도·추세를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세션 ID·시간·상태·이상점수 이력 조회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추세(최근 30일)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기간별 이상점수 변화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SOH / RUL 건강도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건강도·잔존수명·누적 사이클·내부 저항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상세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시계열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438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SC-USR-04 · AI 이상 탐지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AI 이상 탐지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 · 043 · 045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 기반 활성 이상 이벤트와 이상 근거(XAI)를 확인하는 핵심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요약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 이상·오늘 발생·최고 이상점수·모델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위험도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구간 배터리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근거(XAI)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dT/dt · gas_raw · V_drop 등 기여 요인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활성 이상 이벤트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이벤트별 배터리·이상점수·상세 진입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1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SC-USR-05 · 추세 차트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 · 047 · 048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추세를 기간·지표별로 비교 분석하는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기간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24시간 · 7일 · 30일 기간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지표별 추세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4종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CSV · PDF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조회 결과 파일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다중 배터리·세션 비교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배터리/세션 추세 겹쳐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SC-USR-06 · 이벤트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 ~ 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센서 오류·이상·제어 이벤트 이력을 검색·필터·정렬하고 상세를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검색어로 이벤트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필터 칩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등 상태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시간·이벤트·배터리·이상점수·상태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정렬 · 페이지네이션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정렬 기준 선택, 목록 페이지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SC-USR-07 · 알림 센터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 · 057 · 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알림 이력을 확인하고 대응(Ack) 처리하는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 알림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알림과 확인 버튼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이력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발생 시간·채널·확인 상태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모두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일괄 처리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등 발송 채널 구분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ns0:sld xmlns:ns0="http://schemas.openxmlformats.org/presentationml/2006/main" xmlns:ns1="http://schemas.openxmlformats.org/drawingml/2006/main" xmlns:ns2="http://schemas.openxmlformats.org/officeDocument/2006/relationships" xmlns:ns3="http://schemas.microsoft.com/office/drawing/2014/main" xmlns:ns4="http://schemas.microsoft.com/office/drawing/2010/main">
  <ns0:cSld>
    <ns0:spTree>
      <ns0:nvGrpSpPr>
        <ns0:cNvPr id="1" name=""/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24" name="직사각형 23"/>
          <ns0:cNvSpPr/>
          <ns0:nvPr/>
        </ns0:nvSpPr>
        <ns0:spPr>
          <ns1:xfrm>
            <ns1:off x="107504" y="0"/>
            <ns1:ext cx="3096344" cy="1124744"/>
          </ns1:xfrm>
          <ns1:prstGeom prst="rect">
            <ns1:avLst/>
          </ns1:prstGeom>
          <ns1:solidFill>
            <ns1:srgbClr val="3B5AA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cxnSp>
        <ns0:nvCxnSpPr>
          <ns0:cNvPr id="25" name="직선 연결선 24"/>
          <ns0:cNvCxnSpPr/>
          <ns0:nvPr/>
        </ns0:nvCxnSpPr>
        <ns0:spPr>
          <ns1:xfrm>
            <ns1:off x="424356" y="541195"/>
            <ns1:ext cx="2591728" cy="0"/>
          </ns1:xfrm>
          <ns1:prstGeom prst="line">
            <ns1:avLst/>
          </ns1:prstGeom>
          <ns1:ln w="28575">
            <ns1:solidFill>
              <ns1:schemeClr val="bg1">
                <ns1:lumMod val="9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26" name="직선 연결선 25"/>
          <ns0:cNvCxnSpPr/>
          <ns0:nvPr/>
        </ns0:nvCxnSpPr>
        <ns0:spPr>
          <ns1:xfrm>
            <ns1:off x="3275856" y="548680"/>
            <ns1:ext cx="5328592" cy="0"/>
          </ns1:xfrm>
          <ns1:prstGeom prst="line">
            <ns1:avLst/>
          </ns1:prstGeom>
          <ns1:ln w="28575">
            <ns1:solidFill>
              <ns1:srgbClr val="3B5AA8"/>
            </ns1:solidFill>
          </ns1:ln>
        </ns0:spPr>
        <ns0:style>
          <ns1:lnRef idx="1">
            <ns1:schemeClr val="accent4"/>
          </ns1:lnRef>
          <ns1:fillRef idx="0">
            <ns1:schemeClr val="accent4"/>
          </ns1:fillRef>
          <ns1:effectRef idx="0">
            <ns1:schemeClr val="accent4"/>
          </ns1:effectRef>
          <ns1:fontRef idx="minor">
            <ns1:schemeClr val="tx1"/>
          </ns1:fontRef>
        </ns0:style>
      </ns0:cxnSp>
      <ns0:sp>
        <ns0:nvSpPr>
          <ns0:cNvPr id="27" name="제목 12"/>
          <ns0:cNvSpPr txBox="1">
            <ns1:spLocks/>
          </ns0:cNvSpPr>
          <ns0:nvPr/>
        </ns0:nvSpPr>
        <ns0:spPr>
          <ns1:xfrm>
            <ns1:off x="323528" y="692696"/>
            <ns1:ext cx="2880320" cy="296631"/>
          </ns1:xfrm>
          <ns1:prstGeom prst="rect">
            <ns1:avLst/>
          </ns1:prstGeom>
        </ns0:spPr>
        <ns0:txBody>
          <ns1:bodyPr vert="horz" lIns="91440" tIns="45720" rIns="91440" bIns="45720" rtlCol="0" anchor="t">
            <ns1:noAutofit/>
          </ns1:bodyPr>
          <ns1:lstStyle/>
          <ns1:p>
            <ns1:pPr marL="0" marR="0" lvl="0" indent="0" algn="l" defTabSz="914400" rtl="0" eaLnBrk="1" fontAlgn="auto" latinLnBrk="1" hangingPunct="1">
              <ns1:lnSpc>
                <ns1:spcPct val="100000"/>
              </ns1:lnSpc>
              <ns1:spcBef>
                <ns1:spcPct val="0"/>
              </ns1:spcBef>
              <ns1:spcAft>
                <ns1:spcPts val="0"/>
              </ns1:spcAft>
              <ns1:buClrTx/>
              <ns1:buSzTx/>
              <ns1:buFontTx/>
              <ns1:buNone/>
              <ns1:tabLst/>
              <ns1:defRPr/>
            </ns1:pPr>
            <ns1:r>
              <ns1:rPr kumimoji="0" lang="en-US" altLang="ko-KR" sz="1700" b="1" i="0" u="none" strike="noStrike" kern="1200" cap="none" spc="0" normalizeH="0" baseline="0" noProof="0" dirty="0">
                <ns1:ln>
                  <ns1:noFill/>
                </ns1:ln>
                <ns1:solidFill>
                  <ns1:schemeClr val="bg1"/>
                </ns1:solidFill>
                <ns1:effectLst/>
                <ns1:uLnTx/>
                <ns1:uFillTx/>
                <ns1:latin typeface="+mn-ea"/>
                <ns1:cs typeface="+mj-cs"/>
              </ns1:rPr>
              <ns1:t>| 화면 설계서</ns1:t>
            </ns1:r>
            <ns1:endParaRPr kumimoji="0" lang="ko-KR" altLang="en-US" sz="1700" b="0" i="0" u="none" strike="noStrike" kern="1200" cap="none" spc="-50" normalizeH="0" baseline="0" noProof="0" dirty="0">
              <ns1:ln>
                <ns1:noFill/>
              </ns1:ln>
              <ns1:solidFill>
                <ns1:schemeClr val="bg1"/>
              </ns1:solidFill>
              <ns1:effectLst/>
              <ns1:uLnTx/>
              <ns1:uFillTx/>
              <ns1:latin typeface="+mn-ea"/>
              <ns1:cs typeface="+mj-cs"/>
            </ns1:endParaRPr>
          </ns1:p>
        </ns0:txBody>
      </ns0:sp>
      <ns0:pic>
        <ns0:nvPicPr>
          <ns0:cNvPr id="29" name="Picture 2"/>
          <ns0:cNvPicPr>
            <ns1:picLocks noChangeAspect="1" noChangeArrowheads="1"/>
          </ns0:cNvPicPr>
          <ns0:nvPr/>
        </ns0:nvPicPr>
        <ns0:blipFill>
          <ns1:blip ns2:embed="rId2" cstate="print"/>
          <ns1:srcRect/>
          <ns1:stretch>
            <ns1:fillRect/>
          </ns1:stretch>
        </ns0:blipFill>
        <ns0:spPr bwMode="auto">
          <ns1:xfrm>
            <ns1:off x="8676456" y="476671"/>
            <ns1:ext cx="454960" cy="158965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</ns0:spPr>
      </ns0:pic>
      <ns0:sp>
        <ns0:nvSpPr>
          <ns0:cNvPr id="32" name="막힌 원호 31"/>
          <ns0:cNvSpPr/>
          <ns0:nvPr/>
        </ns0:nvSpPr>
        <ns0:spPr>
          <ns1:xfrm flipV="1">
            <ns1:off x="-577697" y="-576001"/>
            <ns1:ext cx="1181047" cy="1167213"/>
          </ns1:xfrm>
          <ns1:prstGeom prst="blockArc">
            <ns1:avLst>
              <ns1:gd name="adj1" fmla="val 16158679"/>
              <ns1:gd name="adj2" fmla="val 0"/>
              <ns1:gd name="adj3" fmla="val 25000"/>
            </ns1:avLst>
          </ns1:prstGeom>
          <ns1:solidFill>
            <ns1:schemeClr val="bg1"/>
          </ns1:solidFill>
          <ns1:ln>
            <ns1:solidFill>
              <ns1:schemeClr val="bg1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pic>
        <ns0:nvPicPr>
          <ns0:cNvPr id="3" name="그림 2">
            <ns1:extLst>
              <ns1:ext uri="{FF2B5EF4-FFF2-40B4-BE49-F238E27FC236}">
                <ns3:creationId id="{8288A362-2DD3-2E35-EAA8-EEEDCA3513E5}"/>
              </ns1:ext>
            </ns1:extLst>
          </ns0:cNvPr>
          <ns0:cNvPicPr>
            <ns1:picLocks noChangeAspect="1"/>
          </ns0:cNvPicPr>
          <ns0:nvPr/>
        </ns0:nvPicPr>
        <ns0:blipFill>
          <ns1:blip ns2:embed="rId3" cstate="print">
            <ns1:extLst>
              <ns1:ext uri="{28A0092B-C50C-407E-A947-70E740481C1C}">
                <ns4:useLocalDpi val="0"/>
              </ns1:ext>
            </ns1:extLst>
          </ns1:blip>
          <ns1:srcRect l="21956" t="40516" r="21023" b="44641"/>
          <ns1:stretch/>
        </ns0:blipFill>
        <ns0:spPr>
          <ns1:xfrm>
            <ns1:off x="7528235" y="98344"/>
            <ns1:ext cx="1498208" cy="347199"/>
          </ns1:xfrm>
          <ns1:prstGeom prst="rect">
            <ns1:avLst/>
          </ns1:prstGeom>
        </ns0:spPr>
      </ns0:pic>
      <ns0:sp>
        <ns0:nvSpPr>
          <ns0:cNvPr id="33" name="TextBox 32"/>
          <ns0:cNvSpPr txBox="1"/>
          <ns0:nvPr/>
        </ns0:nvSpPr>
        <ns0:spPr>
          <ns1:xfrm>
            <ns1:off x="365760" y="1188720"/>
            <ns1:ext cx="8412480" cy="310896"/>
          </ns1:xfrm>
          <ns1:prstGeom prst="rect">
            <ns1:avLst/>
          </ns1:prstGeom>
          <ns1:noFill/>
        </ns0:spPr>
        <ns0:txBody>
          <ns1:bodyPr wrap="square">
            <ns1:spAutoFit/>
          </ns1:bodyPr>
          <ns1:lstStyle/>
          <ns1:p>
            <ns1:r>
              <ns1:rPr sz="1400" b="1">
                <ns1:solidFill>
                  <ns1:srgbClr val="3B5AA8"/>
                </ns1:solidFill>
                <ns1:latin typeface="맑은 고딕"/>
              </ns1:rPr>
              <ns1:t>SC-USR-08 · 설정 · 알림</ns1:t>
            </ns1:r>
          </ns1:p>
        </ns0:txBody>
      </ns0:sp>
      <ns0:graphicFrame>
        <ns0:nvGraphicFramePr>
          <ns0:cNvPr id="35" name="Table 34"/>
          <ns0:cNvGraphicFramePr>
            <ns1:graphicFrameLocks noGrp="1"/>
          </ns0:cNvGraphicFramePr>
          <ns0:nvPr/>
        </ns0:nvGraphicFramePr>
        <ns0:xfrm>
          <ns1:off x="5623560" y="1645920"/>
          <ns1:ext cx="3154680" cy="2852928"/>
        </ns0:xfrm>
        <ns1:graphic>
          <ns1:graphicData uri="http://schemas.openxmlformats.org/drawingml/2006/table">
            <ns1:tbl>
              <ns1:tblPr>
                <ns1:tableStyleId>{5C22544A-7EE6-4342-B048-85BDC9FD1C3A}</ns1:tableStyleId>
              </ns1:tblPr>
              <ns1:tblGrid>
                <ns1:gridCol w="932688">
                  <ns1:extLst>
                    <ns1:ext uri="{9D8B030D-6E8A-4147-A177-3AD203B41FA5}">
                      <ns3:colId val="20000"/>
                    </ns1:ext>
                  </ns1:extLst>
                </ns1:gridCol>
                <ns1:gridCol w="2221992">
                  <ns1:extLst>
                    <ns1:ext uri="{9D8B030D-6E8A-4147-A177-3AD203B41FA5}">
                      <ns3:colId val="20001"/>
                    </ns1:ext>
                  </ns1:extLst>
                </ns1:gridCol>
              </ns1:tblGrid>
              <ns1:tr h="310896">
                <ns1:tc>
                  <ns1:txBody>
                    <ns1:bodyPr/>
                    <ns1:lstStyle/>
                    <ns1:p>
                      <ns1:pPr algn="ctr"/>
                      <ns1:r>
                        <ns1:rPr sz="8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화면 ID</ns1:t>
                      </ns1:r>
                    </ns1:p>
                  </ns1:txBody>
                  <ns1:tcPr marL="54864" marR="54864" marT="18288" marB="18288" anchor="ctr"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86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SC-USR-08</ns1:t>
                      </ns1:r>
                    </ns1:p>
                  </ns1:txBody>
                  <ns1:tcPr marL="54864" marR="54864" marT="18288" marB="18288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3:rowId val="10000"/>
                  </ns1:ext>
                </ns1:extLst>
              </ns1:tr>
              <ns1:tr h="310896">
                <ns1:tc>
                  <ns1:txBody>
                    <ns1:bodyPr/>
                    <ns1:lstStyle/>
                    <ns1:p>
                      <ns1:pPr algn="ctr"/>
                      <ns1:r>
                        <ns1:rPr sz="8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화면명</ns1:t>
                      </ns1:r>
                    </ns1:p>
                  </ns1:txBody>
                  <ns1:tcPr marL="54864" marR="54864" marT="18288" marB="18288" anchor="ctr"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86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· 알림</ns1:t>
                      </ns1:r>
                    </ns1:p>
                  </ns1:txBody>
                  <ns1:tcPr marL="54864" marR="54864" marT="18288" marB="18288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3:rowId val="10001"/>
                  </ns1:ext>
                </ns1:extLst>
              </ns1:tr>
              <ns1:tr h="310896">
                <ns1:tc>
                  <ns1:txBody>
                    <ns1:bodyPr/>
                    <ns1:lstStyle/>
                    <ns1:p>
                      <ns1:pPr algn="ctr"/>
                      <ns1:r>
                        <ns1:rPr sz="8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사용자</ns1:t>
                      </ns1:r>
                    </ns1:p>
                  </ns1:txBody>
                  <ns1:tcPr marL="54864" marR="54864" marT="18288" marB="18288" anchor="ctr"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86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일반 사용자</ns1:t>
                      </ns1:r>
                    </ns1:p>
                  </ns1:txBody>
                  <ns1:tcPr marL="54864" marR="54864" marT="18288" marB="18288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3:rowId val="10002"/>
                  </ns1:ext>
                </ns1:extLst>
              </ns1:tr>
              <ns1:tr h="384048">
                <ns1:tc>
                  <ns1:txBody>
                    <ns1:bodyPr/>
                    <ns1:lstStyle/>
                    <ns1:p>
                      <ns1:pPr algn="ctr"/>
                      <ns1:r>
                        <ns1:rPr sz="8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관련 요구사항</ns1:t>
                      </ns1:r>
                    </ns1:p>
                  </ns1:txBody>
                  <ns1:tcPr marL="54864" marR="54864" marT="18288" marB="18288" anchor="ctr"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86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REQ-WEB-065 · 066 · 070</ns1:t>
                      </ns1:r>
                    </ns1:p>
                  </ns1:txBody>
                  <ns1:tcPr marL="54864" marR="54864" marT="18288" marB="18288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3:rowId val="10003"/>
                  </ns1:ext>
                </ns1:extLst>
              </ns1:tr>
              <ns1:tr h="1536192">
                <ns1:tc>
                  <ns1:txBody>
                    <ns1:bodyPr/>
                    <ns1:lstStyle/>
                    <ns1:p>
                      <ns1:pPr algn="ctr"/>
                      <ns1:r>
                        <ns1:rPr sz="880" b="1">
                          <ns1:solidFill>
                            <ns1:srgbClr val="3B5AA8"/>
                          </ns1:solidFill>
                          <ns1:latin typeface="맑은 고딕"/>
                        </ns1:rPr>
                        <ns1:t>화면 설명</ns1:t>
                      </ns1:r>
                    </ns1:p>
                  </ns1:txBody>
                  <ns1:tcPr marL="54864" marR="54864" marT="18288" marB="18288" anchor="ctr">
                    <ns1:solidFill>
                      <ns1:srgbClr val="E2EB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86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수신·테마를 설정하는 화면.</ns1:t>
                      </ns1:r>
                    </ns1:p>
                  </ns1:txBody>
                  <ns1:tcPr marL="54864" marR="54864" marT="18288" marB="18288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3:rowId val="10004"/>
                  </ns1:ext>
                </ns1:extLst>
              </ns1:tr>
            </ns1:tbl>
          </ns1:graphicData>
        </ns1:graphic>
      </ns0:graphicFrame>
      <ns0:graphicFrame>
        <ns0:nvGraphicFramePr>
          <ns0:cNvPr id="36" name="Table 35"/>
          <ns0:cNvGraphicFramePr>
            <ns1:graphicFrameLocks noGrp="1"/>
          </ns0:cNvGraphicFramePr>
          <ns0:nvPr/>
        </ns0:nvGraphicFramePr>
        <ns0:xfrm>
          <ns1:off x="365760" y="4736592"/>
          <ns1:ext cx="8412479" cy="1627632"/>
        </ns0:xfrm>
        <ns1:graphic>
          <ns1:graphicData uri="http://schemas.openxmlformats.org/drawingml/2006/table">
            <ns1:tbl>
              <ns1:tblPr>
                <ns1:tableStyleId>{5C22544A-7EE6-4342-B048-85BDC9FD1C3A}</ns1:tableStyleId>
              </ns1:tblPr>
              <ns1:tblGrid>
                <ns1:gridCol w="2331720">
                  <ns1:extLst>
                    <ns1:ext uri="{9D8B030D-6E8A-4147-A177-3AD203B41FA5}">
                      <ns3:colId val="20000"/>
                    </ns1:ext>
                  </ns1:extLst>
                </ns1:gridCol>
                <ns1:gridCol w="6080759">
                  <ns1:extLst>
                    <ns1:ext uri="{9D8B030D-6E8A-4147-A177-3AD203B41FA5}">
                      <ns3:colId val="20001"/>
                    </ns1:ext>
                  </ns1:extLst>
                </ns1:gridCol>
              </ns1:tblGrid>
              <ns1:tr h="310896">
                <ns1:tc>
                  <ns1:txBody>
                    <ns1:bodyPr/>
                    <ns1:lstStyle/>
                    <ns1:p>
                      <ns1:pPr algn="ctr"/>
                      <ns1:r>
                        <ns1:rPr sz="919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주요 구성 요소</ns1:t>
                      </ns1:r>
                    </ns1:p>
                  </ns1:txBody>
                  <ns1:tcPr marL="54864" marR="54864" marT="18288" marB="18288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919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기능 설명</ns1:t>
                      </ns1:r>
                    </ns1:p>
                  </ns1:txBody>
                  <ns1:tcPr marL="54864" marR="54864" marT="18288" marB="18288" anchor="ctr">
                    <ns1:solidFill>
                      <ns1:srgbClr val="3B5AA8"/>
                    </ns1:solidFill>
                  </ns1:tcPr>
                </ns1:tc>
                <ns1:extLst>
                  <ns1:ext uri="{0D108BD9-81ED-4DB2-BD59-A6C34878D82A}">
                    <ns3:rowId val="10000"/>
                  </ns1:ext>
                </ns1:extLst>
              </ns1:tr>
              <ns1:tr h="329184">
                <ns1:tc>
                  <ns1:txBody>
                    <ns1:bodyPr/>
                    <ns1:lstStyle/>
                    <ns1:p>
                      <ns1:pPr algn="l"/>
                      <ns1:r>
                        <ns1:rPr sz="880" b="1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탭</ns1:t>
                      </ns1:r>
                    </ns1:p>
                  </ns1:txBody>
                  <ns1:tcPr marL="54864" marR="54864" marT="18288" marB="18288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88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수신 · 계정 · 테마</ns1:t>
                      </ns1:r>
                    </ns1:p>
                  </ns1:txBody>
                  <ns1:tcPr marL="54864" marR="54864" marT="18288" marB="18288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3:rowId val="10001"/>
                  </ns1:ext>
                </ns1:extLst>
              </ns1:tr>
              <ns1:tr h="329184">
                <ns1:tc>
                  <ns1:txBody>
                    <ns1:bodyPr/>
                    <ns1:lstStyle/>
                    <ns1:p>
                      <ns1:pPr algn="l"/>
                      <ns1:r>
                        <ns1:rPr sz="880" b="1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수신 · 저장</ns1:t>
                      </ns1:r>
                    </ns1:p>
                  </ns1:txBody>
                  <ns1:tcPr marL="54864" marR="54864" marT="18288" marB="18288" anchor="ctr">
                    <ns1:solidFill>
                      <ns1:srgbClr val="F4F7FC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88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카카오·이메일·웹푸시 토글, 설정 저장</ns1:t>
                      </ns1:r>
                    </ns1:p>
                  </ns1:txBody>
                  <ns1:tcPr marL="54864" marR="54864" marT="18288" marB="18288" anchor="ctr">
                    <ns1:solidFill>
                      <ns1:srgbClr val="F4F7FC"/>
                    </ns1:solidFill>
                  </ns1:tcPr>
                </ns1:tc>
                <ns1:extLst>
                  <ns1:ext uri="{0D108BD9-81ED-4DB2-BD59-A6C34878D82A}">
                    <ns3:rowId val="10004"/>
                  </ns1:ext>
                </ns1:extLst>
              </ns1:tr>
            </ns1:tbl>
          </ns1:graphicData>
        </ns1:graphic>
      </ns0:graphicFrame>
      <ns0:pic>
        <ns0:nvPicPr>
          <ns0:cNvPr id="38" name="Picture 37" descr="new_settings_16x9.png"/>
          <ns0:cNvPicPr>
            <ns1:picLocks noChangeAspect="1"/>
          </ns0:cNvPicPr>
          <ns0:nvPr/>
        </ns0:nvPicPr>
        <ns0:blipFill>
          <ns1:blip ns2:embed="rId5"/>
          <ns1:stretch>
            <ns1:fillRect/>
          </ns1:stretch>
        </ns0:blipFill>
        <ns0:spPr>
          <ns1:xfrm>
            <ns1:off x="365760" y="1645920"/>
            <ns1:ext cx="5074920" cy="2854642"/>
          </ns1:xfrm>
          <ns1:prstGeom prst="rect">
            <ns1:avLst/>
          </ns1:prstGeom>
        </ns0:spPr>
      </ns0:pic>
    </ns0:spTree>
  </ns0:cSld>
  <ns0:clrMapOvr>
    <ns1:masterClrMapping/>
  </ns0:clrMapOvr>
</ns0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SC-ADM-01 · 관리자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 · 104 ~ 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유저·배터리·세션·위험 현황과 이벤트 추이를 통합 관제하는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유저·배터리·활성 세션·위험/경고·오프라인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최근 7일 등 기간별 이상 이벤트 발생 추이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위험 배터리 목록 및 상세 이동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관리자 조작 로그, 공지사항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SC-ADM-02 · 유저 계정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 ~ 118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계정을 조회·검색하고 권한/상태 관리 및 비밀번호 재설정을 수행하는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이름·이메일로 유저 목록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· 권한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활성/정지, 일반/관리자 기준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권한·등록 배터리 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계정 관리 동작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정보 수정·정지/해제·비밀번호 재설정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로그인 / 배터리 자산 (1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8" y="1755648"/>
            <a:ext cx="2581835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PU-01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로그인 모달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이메일·비밀번호 · 관리자/소셜 로그인 진입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775" y="1755648"/>
            <a:ext cx="1350977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PU-02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새 배터리 등록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종류(chemistry)·측정 모드·직렬 셀 수 → battery_id 발급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7064" y="4151376"/>
            <a:ext cx="1285342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PU-03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이름·메모 수정 (측정 모드·battery_id 고정)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1237" y="4151376"/>
            <a:ext cx="2006052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PU-04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연결 확인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측정 세션 시작 · 한 번에 하나(상호배제) · 상세보기 분기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경고 / 제어 / 관리자 (2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91" y="1755648"/>
            <a:ext cx="1946089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PU-05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Kill-Switch 자동 차단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임계값 초과 시 Fail-Safe 인터락이 릴레이 자동 차단 알림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no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286" y="1755648"/>
            <a:ext cx="2145955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PU-06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알림 센터 드롭다운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미확인 알림 요약 · 알림 센터 전체 보기 진입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re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67" y="4151376"/>
            <a:ext cx="1787137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PU-07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위험 제어 승인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수동 릴레이 차단: 사유 입력 + 비밀번호 재인증(감사 기록)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733" y="4151376"/>
            <a:ext cx="1895061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PU-08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관리자 · 유저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권한·상태 변경 · 비밀번호 재설정 (감사 로그 기록)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엔티티 관계도 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208739"/>
            <a:ext cx="8331200" cy="5003800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8C4CF61E-8373-429B-5FD3-4AAABD98BF36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11E42-8094-1ED2-BF9F-D52B09934D6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913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1916" y="463307"/>
            <a:ext cx="6960621" cy="633237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85128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" name="Text 1"/>
          <p:cNvSpPr/>
          <p:nvPr/>
        </p:nvSpPr>
        <p:spPr>
          <a:xfrm>
            <a:off x="7413990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5" name="Shape 2"/>
          <p:cNvSpPr/>
          <p:nvPr/>
        </p:nvSpPr>
        <p:spPr>
          <a:xfrm>
            <a:off x="8626206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6" name="Text 3"/>
          <p:cNvSpPr/>
          <p:nvPr/>
        </p:nvSpPr>
        <p:spPr>
          <a:xfrm>
            <a:off x="8655069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7" name="Shape 4"/>
          <p:cNvSpPr/>
          <p:nvPr/>
        </p:nvSpPr>
        <p:spPr>
          <a:xfrm>
            <a:off x="8702590" y="1959336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8" name="Text 5"/>
          <p:cNvSpPr/>
          <p:nvPr/>
        </p:nvSpPr>
        <p:spPr>
          <a:xfrm>
            <a:off x="8731451" y="1964146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54" dirty="0"/>
          </a:p>
        </p:txBody>
      </p:sp>
      <p:sp>
        <p:nvSpPr>
          <p:cNvPr id="9" name="Shape 6"/>
          <p:cNvSpPr/>
          <p:nvPr/>
        </p:nvSpPr>
        <p:spPr>
          <a:xfrm>
            <a:off x="3262199" y="4600235"/>
            <a:ext cx="434963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0" name="Text 7"/>
          <p:cNvSpPr/>
          <p:nvPr/>
        </p:nvSpPr>
        <p:spPr>
          <a:xfrm>
            <a:off x="3291061" y="4605046"/>
            <a:ext cx="415722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battery_id 발급</a:t>
            </a:r>
            <a:endParaRPr lang="en-US" sz="454" dirty="0"/>
          </a:p>
        </p:txBody>
      </p:sp>
      <p:sp>
        <p:nvSpPr>
          <p:cNvPr id="11" name="Shape 8"/>
          <p:cNvSpPr/>
          <p:nvPr/>
        </p:nvSpPr>
        <p:spPr>
          <a:xfrm>
            <a:off x="5664345" y="5871116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2" name="Text 9"/>
          <p:cNvSpPr/>
          <p:nvPr/>
        </p:nvSpPr>
        <p:spPr>
          <a:xfrm>
            <a:off x="5693207" y="5875926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54" dirty="0"/>
          </a:p>
        </p:txBody>
      </p:sp>
      <p:sp>
        <p:nvSpPr>
          <p:cNvPr id="13" name="Shape 10"/>
          <p:cNvSpPr/>
          <p:nvPr/>
        </p:nvSpPr>
        <p:spPr>
          <a:xfrm>
            <a:off x="6496316" y="5480535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4" name="Text 11"/>
          <p:cNvSpPr/>
          <p:nvPr/>
        </p:nvSpPr>
        <p:spPr>
          <a:xfrm>
            <a:off x="6525178" y="5485345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5346108" y="128107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18" name="Text 15"/>
          <p:cNvSpPr/>
          <p:nvPr/>
        </p:nvSpPr>
        <p:spPr>
          <a:xfrm>
            <a:off x="5565018" y="1375739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54" dirty="0"/>
          </a:p>
        </p:txBody>
      </p:sp>
      <p:sp>
        <p:nvSpPr>
          <p:cNvPr id="19" name="Shape 16"/>
          <p:cNvSpPr/>
          <p:nvPr/>
        </p:nvSpPr>
        <p:spPr>
          <a:xfrm>
            <a:off x="3114091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0" name="Text 17"/>
          <p:cNvSpPr/>
          <p:nvPr/>
        </p:nvSpPr>
        <p:spPr>
          <a:xfrm>
            <a:off x="3333001" y="196260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로그인</a:t>
            </a:r>
            <a:endParaRPr lang="en-US" sz="454" dirty="0"/>
          </a:p>
        </p:txBody>
      </p:sp>
      <p:sp>
        <p:nvSpPr>
          <p:cNvPr id="21" name="Shape 18"/>
          <p:cNvSpPr/>
          <p:nvPr/>
        </p:nvSpPr>
        <p:spPr>
          <a:xfrm>
            <a:off x="4230100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2" name="Text 19"/>
          <p:cNvSpPr/>
          <p:nvPr/>
        </p:nvSpPr>
        <p:spPr>
          <a:xfrm>
            <a:off x="4323865" y="1962606"/>
            <a:ext cx="5917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 로그인 (OAuth)</a:t>
            </a:r>
            <a:endParaRPr lang="en-US" sz="454" dirty="0"/>
          </a:p>
        </p:txBody>
      </p:sp>
      <p:sp>
        <p:nvSpPr>
          <p:cNvPr id="23" name="Shape 20"/>
          <p:cNvSpPr/>
          <p:nvPr/>
        </p:nvSpPr>
        <p:spPr>
          <a:xfrm>
            <a:off x="6462116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4" name="Text 21"/>
          <p:cNvSpPr/>
          <p:nvPr/>
        </p:nvSpPr>
        <p:spPr>
          <a:xfrm>
            <a:off x="6718195" y="1962606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회원가입</a:t>
            </a:r>
            <a:endParaRPr lang="en-US" sz="454" dirty="0"/>
          </a:p>
        </p:txBody>
      </p:sp>
      <p:sp>
        <p:nvSpPr>
          <p:cNvPr id="25" name="Shape 22"/>
          <p:cNvSpPr/>
          <p:nvPr/>
        </p:nvSpPr>
        <p:spPr>
          <a:xfrm>
            <a:off x="7578125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6" name="Text 23"/>
          <p:cNvSpPr/>
          <p:nvPr/>
        </p:nvSpPr>
        <p:spPr>
          <a:xfrm>
            <a:off x="7693274" y="1962606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계정·비밀번호 찾기</a:t>
            </a:r>
            <a:endParaRPr lang="en-US" sz="454" dirty="0"/>
          </a:p>
        </p:txBody>
      </p:sp>
      <p:sp>
        <p:nvSpPr>
          <p:cNvPr id="27" name="Shape 24"/>
          <p:cNvSpPr/>
          <p:nvPr/>
        </p:nvSpPr>
        <p:spPr>
          <a:xfrm>
            <a:off x="367209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8" name="Text 25"/>
          <p:cNvSpPr/>
          <p:nvPr/>
        </p:nvSpPr>
        <p:spPr>
          <a:xfrm>
            <a:off x="3833281" y="254947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토큰 발급 / 갱신</a:t>
            </a:r>
            <a:endParaRPr lang="en-US" sz="454" dirty="0"/>
          </a:p>
        </p:txBody>
      </p:sp>
      <p:sp>
        <p:nvSpPr>
          <p:cNvPr id="29" name="Shape 26"/>
          <p:cNvSpPr/>
          <p:nvPr/>
        </p:nvSpPr>
        <p:spPr>
          <a:xfrm>
            <a:off x="757812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0" name="Text 27"/>
          <p:cNvSpPr/>
          <p:nvPr/>
        </p:nvSpPr>
        <p:spPr>
          <a:xfrm>
            <a:off x="7677828" y="2549472"/>
            <a:ext cx="57987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로그아웃 · 세션 만료</a:t>
            </a:r>
            <a:endParaRPr lang="en-US" sz="454" dirty="0"/>
          </a:p>
        </p:txBody>
      </p:sp>
      <p:sp>
        <p:nvSpPr>
          <p:cNvPr id="31" name="Shape 28"/>
          <p:cNvSpPr/>
          <p:nvPr/>
        </p:nvSpPr>
        <p:spPr>
          <a:xfrm>
            <a:off x="3672095" y="30416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2" name="Text 29"/>
          <p:cNvSpPr/>
          <p:nvPr/>
        </p:nvSpPr>
        <p:spPr>
          <a:xfrm>
            <a:off x="3862444" y="3136339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관리</a:t>
            </a:r>
            <a:endParaRPr lang="en-US" sz="454" dirty="0"/>
          </a:p>
        </p:txBody>
      </p:sp>
      <p:sp>
        <p:nvSpPr>
          <p:cNvPr id="33" name="Shape 30"/>
          <p:cNvSpPr/>
          <p:nvPr/>
        </p:nvSpPr>
        <p:spPr>
          <a:xfrm>
            <a:off x="3672095" y="36285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4" name="Text 31"/>
          <p:cNvSpPr/>
          <p:nvPr/>
        </p:nvSpPr>
        <p:spPr>
          <a:xfrm>
            <a:off x="3776120" y="3723205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등록 / 선택</a:t>
            </a:r>
            <a:endParaRPr lang="en-US" sz="454" dirty="0"/>
          </a:p>
        </p:txBody>
      </p:sp>
      <p:sp>
        <p:nvSpPr>
          <p:cNvPr id="35" name="Shape 32"/>
          <p:cNvSpPr/>
          <p:nvPr/>
        </p:nvSpPr>
        <p:spPr>
          <a:xfrm>
            <a:off x="5346108" y="421540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6" name="Text 33"/>
          <p:cNvSpPr/>
          <p:nvPr/>
        </p:nvSpPr>
        <p:spPr>
          <a:xfrm>
            <a:off x="5507857" y="4310072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자산관리</a:t>
            </a:r>
            <a:endParaRPr lang="en-US" sz="454" dirty="0"/>
          </a:p>
        </p:txBody>
      </p:sp>
      <p:sp>
        <p:nvSpPr>
          <p:cNvPr id="37" name="Shape 34"/>
          <p:cNvSpPr/>
          <p:nvPr/>
        </p:nvSpPr>
        <p:spPr>
          <a:xfrm>
            <a:off x="3672095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8" name="Text 35"/>
          <p:cNvSpPr/>
          <p:nvPr/>
        </p:nvSpPr>
        <p:spPr>
          <a:xfrm>
            <a:off x="3853876" y="489693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배터리 등록</a:t>
            </a:r>
            <a:endParaRPr lang="en-US" sz="454" dirty="0"/>
          </a:p>
        </p:txBody>
      </p:sp>
      <p:sp>
        <p:nvSpPr>
          <p:cNvPr id="39" name="Shape 36"/>
          <p:cNvSpPr/>
          <p:nvPr/>
        </p:nvSpPr>
        <p:spPr>
          <a:xfrm>
            <a:off x="5346108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0" name="Text 37"/>
          <p:cNvSpPr/>
          <p:nvPr/>
        </p:nvSpPr>
        <p:spPr>
          <a:xfrm>
            <a:off x="5470727" y="489693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저장된 배터리 선택</a:t>
            </a:r>
            <a:endParaRPr lang="en-US" sz="454" dirty="0"/>
          </a:p>
        </p:txBody>
      </p:sp>
      <p:sp>
        <p:nvSpPr>
          <p:cNvPr id="41" name="Shape 38"/>
          <p:cNvSpPr/>
          <p:nvPr/>
        </p:nvSpPr>
        <p:spPr>
          <a:xfrm>
            <a:off x="7020121" y="538913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2" name="Text 39"/>
          <p:cNvSpPr/>
          <p:nvPr/>
        </p:nvSpPr>
        <p:spPr>
          <a:xfrm>
            <a:off x="7152707" y="548380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 / 이력</a:t>
            </a:r>
            <a:endParaRPr lang="en-US" sz="454" dirty="0"/>
          </a:p>
        </p:txBody>
      </p:sp>
      <p:sp>
        <p:nvSpPr>
          <p:cNvPr id="43" name="Shape 40"/>
          <p:cNvSpPr/>
          <p:nvPr/>
        </p:nvSpPr>
        <p:spPr>
          <a:xfrm>
            <a:off x="5374970" y="5312171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4" name="Text 41"/>
          <p:cNvSpPr/>
          <p:nvPr/>
        </p:nvSpPr>
        <p:spPr>
          <a:xfrm>
            <a:off x="5603050" y="5486885"/>
            <a:ext cx="265361" cy="93126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시작</a:t>
            </a:r>
            <a:endParaRPr lang="en-US" sz="454" dirty="0"/>
          </a:p>
        </p:txBody>
      </p:sp>
      <p:sp>
        <p:nvSpPr>
          <p:cNvPr id="45" name="Shape 42"/>
          <p:cNvSpPr/>
          <p:nvPr/>
        </p:nvSpPr>
        <p:spPr>
          <a:xfrm>
            <a:off x="5134451" y="6093369"/>
            <a:ext cx="1202596" cy="269382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6" name="Text 43"/>
          <p:cNvSpPr/>
          <p:nvPr/>
        </p:nvSpPr>
        <p:spPr>
          <a:xfrm>
            <a:off x="5245755" y="6188037"/>
            <a:ext cx="97998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세션 준비 → 실시간 대시보드</a:t>
            </a:r>
            <a:endParaRPr lang="en-US" sz="454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E3314AA-947D-89BB-09B8-BFB002EBC5F8}"/>
              </a:ext>
            </a:extLst>
          </p:cNvPr>
          <p:cNvSpPr/>
          <p:nvPr/>
        </p:nvSpPr>
        <p:spPr>
          <a:xfrm>
            <a:off x="5507857" y="905805"/>
            <a:ext cx="492876" cy="360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662"/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BE4FAA45-8319-ACEA-5364-41D0BAE79B82}"/>
              </a:ext>
            </a:extLst>
          </p:cNvPr>
          <p:cNvSpPr/>
          <p:nvPr/>
        </p:nvSpPr>
        <p:spPr>
          <a:xfrm>
            <a:off x="356592" y="1502432"/>
            <a:ext cx="2867949" cy="15393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834" b="1" kern="0" spc="66" dirty="0">
                <a:solidFill>
                  <a:srgbClr val="1F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LEGEND</a:t>
            </a:r>
            <a:endParaRPr lang="en-US" sz="834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C7BA31F9-C60A-9A50-79FD-2F85279B6413}"/>
              </a:ext>
            </a:extLst>
          </p:cNvPr>
          <p:cNvSpPr/>
          <p:nvPr/>
        </p:nvSpPr>
        <p:spPr>
          <a:xfrm>
            <a:off x="356592" y="1800676"/>
            <a:ext cx="1154491" cy="384831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A0F7BB90-6A68-9A0A-9052-5EB7A587C7A5}"/>
              </a:ext>
            </a:extLst>
          </p:cNvPr>
          <p:cNvSpPr/>
          <p:nvPr/>
        </p:nvSpPr>
        <p:spPr>
          <a:xfrm>
            <a:off x="824627" y="1940177"/>
            <a:ext cx="25690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</a:t>
            </a:r>
            <a:endParaRPr lang="en-US" sz="568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72F53C32-C638-5A01-329D-4859B5C39539}"/>
              </a:ext>
            </a:extLst>
          </p:cNvPr>
          <p:cNvSpPr/>
          <p:nvPr/>
        </p:nvSpPr>
        <p:spPr>
          <a:xfrm>
            <a:off x="1722739" y="1916125"/>
            <a:ext cx="231124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758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FE7B7348-B0CE-636A-19CC-C47440DB86FB}"/>
              </a:ext>
            </a:extLst>
          </p:cNvPr>
          <p:cNvSpPr/>
          <p:nvPr/>
        </p:nvSpPr>
        <p:spPr>
          <a:xfrm>
            <a:off x="356592" y="232981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5E13F3C1-0FF3-78DC-CCF1-A01D1D085F01}"/>
              </a:ext>
            </a:extLst>
          </p:cNvPr>
          <p:cNvSpPr/>
          <p:nvPr/>
        </p:nvSpPr>
        <p:spPr>
          <a:xfrm>
            <a:off x="697903" y="2469319"/>
            <a:ext cx="510352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/ Screen</a:t>
            </a:r>
            <a:endParaRPr lang="en-US" sz="568" dirty="0"/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CA65A28C-797D-BA65-A450-8B9ACF48F2B5}"/>
              </a:ext>
            </a:extLst>
          </p:cNvPr>
          <p:cNvSpPr/>
          <p:nvPr/>
        </p:nvSpPr>
        <p:spPr>
          <a:xfrm>
            <a:off x="1722740" y="2445267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화면</a:t>
            </a:r>
            <a:endParaRPr lang="en-US" sz="758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0B239D88-3708-9A4F-03FD-BFABAF002198}"/>
              </a:ext>
            </a:extLst>
          </p:cNvPr>
          <p:cNvSpPr/>
          <p:nvPr/>
        </p:nvSpPr>
        <p:spPr>
          <a:xfrm>
            <a:off x="356592" y="2858959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EA4880A-329B-9BC7-61F1-209F9E9E6B61}"/>
              </a:ext>
            </a:extLst>
          </p:cNvPr>
          <p:cNvSpPr/>
          <p:nvPr/>
        </p:nvSpPr>
        <p:spPr>
          <a:xfrm>
            <a:off x="794260" y="2998461"/>
            <a:ext cx="317598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568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EB8CF916-9D81-8B7B-CEFD-93F8D72A2A31}"/>
              </a:ext>
            </a:extLst>
          </p:cNvPr>
          <p:cNvSpPr/>
          <p:nvPr/>
        </p:nvSpPr>
        <p:spPr>
          <a:xfrm>
            <a:off x="1722740" y="2974409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화면</a:t>
            </a:r>
            <a:endParaRPr lang="en-US" sz="758" dirty="0"/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F959D9C0-4CB2-DD85-E0FB-ED9A01ADCCB8}"/>
              </a:ext>
            </a:extLst>
          </p:cNvPr>
          <p:cNvSpPr/>
          <p:nvPr/>
        </p:nvSpPr>
        <p:spPr>
          <a:xfrm>
            <a:off x="356592" y="3388101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ED84763E-B3BB-7594-5E5F-0786A611ACFE}"/>
              </a:ext>
            </a:extLst>
          </p:cNvPr>
          <p:cNvSpPr/>
          <p:nvPr/>
        </p:nvSpPr>
        <p:spPr>
          <a:xfrm>
            <a:off x="823273" y="3527603"/>
            <a:ext cx="25961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568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873D7CFB-541D-DDF7-EA21-C2368D5C6A90}"/>
              </a:ext>
            </a:extLst>
          </p:cNvPr>
          <p:cNvSpPr/>
          <p:nvPr/>
        </p:nvSpPr>
        <p:spPr>
          <a:xfrm>
            <a:off x="1722740" y="3503551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액션 · 처리</a:t>
            </a:r>
            <a:endParaRPr lang="en-US" sz="758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01E9A19D-FAED-049B-9C94-274119C8F746}"/>
              </a:ext>
            </a:extLst>
          </p:cNvPr>
          <p:cNvSpPr/>
          <p:nvPr/>
        </p:nvSpPr>
        <p:spPr>
          <a:xfrm>
            <a:off x="356592" y="3917243"/>
            <a:ext cx="1154491" cy="50028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2E08E397-BC14-8500-5CE3-6DD57E5582B1}"/>
              </a:ext>
            </a:extLst>
          </p:cNvPr>
          <p:cNvSpPr/>
          <p:nvPr/>
        </p:nvSpPr>
        <p:spPr>
          <a:xfrm>
            <a:off x="786144" y="4114469"/>
            <a:ext cx="33387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568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9FC5A516-EDE7-F96F-D583-A8E42FC6E1F3}"/>
              </a:ext>
            </a:extLst>
          </p:cNvPr>
          <p:cNvSpPr/>
          <p:nvPr/>
        </p:nvSpPr>
        <p:spPr>
          <a:xfrm>
            <a:off x="1722740" y="409041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분기 · 확인</a:t>
            </a:r>
            <a:endParaRPr lang="en-US" sz="758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2A886B87-27B4-7247-ECA7-BC5142F706A1}"/>
              </a:ext>
            </a:extLst>
          </p:cNvPr>
          <p:cNvSpPr/>
          <p:nvPr/>
        </p:nvSpPr>
        <p:spPr>
          <a:xfrm>
            <a:off x="356592" y="4561835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24954F66-DB2E-34DA-F8FE-ACFBC222CF34}"/>
              </a:ext>
            </a:extLst>
          </p:cNvPr>
          <p:cNvSpPr/>
          <p:nvPr/>
        </p:nvSpPr>
        <p:spPr>
          <a:xfrm>
            <a:off x="782009" y="4701336"/>
            <a:ext cx="342101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Negative</a:t>
            </a:r>
            <a:endParaRPr lang="en-US" sz="568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684C0ED2-C27A-BE3A-CEB3-D7A21757D289}"/>
              </a:ext>
            </a:extLst>
          </p:cNvPr>
          <p:cNvSpPr/>
          <p:nvPr/>
        </p:nvSpPr>
        <p:spPr>
          <a:xfrm>
            <a:off x="1722740" y="4677285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</a:t>
            </a:r>
            <a:endParaRPr lang="en-US" sz="758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CCCFCCB1-16CB-2955-191A-4974D20B9414}"/>
              </a:ext>
            </a:extLst>
          </p:cNvPr>
          <p:cNvSpPr/>
          <p:nvPr/>
        </p:nvSpPr>
        <p:spPr>
          <a:xfrm>
            <a:off x="356592" y="509097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EFCAD4EC-4BA5-5D0A-9B15-7B734AF55258}"/>
              </a:ext>
            </a:extLst>
          </p:cNvPr>
          <p:cNvSpPr/>
          <p:nvPr/>
        </p:nvSpPr>
        <p:spPr>
          <a:xfrm>
            <a:off x="860177" y="5230478"/>
            <a:ext cx="18576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</a:t>
            </a:r>
            <a:endParaRPr lang="en-US" sz="568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903655BF-FBEF-F229-23D9-1F430BC4B403}"/>
              </a:ext>
            </a:extLst>
          </p:cNvPr>
          <p:cNvSpPr/>
          <p:nvPr/>
        </p:nvSpPr>
        <p:spPr>
          <a:xfrm>
            <a:off x="1722740" y="520642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종료 · 전환</a:t>
            </a:r>
            <a:endParaRPr lang="en-US" sz="758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9065A73-A9FF-3850-B5E1-ED1DDEFEACCA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0" name="직선 연결선 16">
            <a:extLst>
              <a:ext uri="{FF2B5EF4-FFF2-40B4-BE49-F238E27FC236}">
                <a16:creationId xmlns:a16="http://schemas.microsoft.com/office/drawing/2014/main" id="{D902F0C7-61B9-7EB8-AB50-AA2CCE230BA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7">
            <a:extLst>
              <a:ext uri="{FF2B5EF4-FFF2-40B4-BE49-F238E27FC236}">
                <a16:creationId xmlns:a16="http://schemas.microsoft.com/office/drawing/2014/main" id="{EFE3363E-B0DA-6357-5C63-EDC4FC56928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4" name="제목 12">
            <a:extLst>
              <a:ext uri="{FF2B5EF4-FFF2-40B4-BE49-F238E27FC236}">
                <a16:creationId xmlns:a16="http://schemas.microsoft.com/office/drawing/2014/main" id="{A60BC876-0323-4203-4C69-1951180D060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5" name="Picture 2">
            <a:extLst>
              <a:ext uri="{FF2B5EF4-FFF2-40B4-BE49-F238E27FC236}">
                <a16:creationId xmlns:a16="http://schemas.microsoft.com/office/drawing/2014/main" id="{72461860-1848-A398-B420-3C2EB7712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6" name="막힌 원호 34">
            <a:extLst>
              <a:ext uri="{FF2B5EF4-FFF2-40B4-BE49-F238E27FC236}">
                <a16:creationId xmlns:a16="http://schemas.microsoft.com/office/drawing/2014/main" id="{E06BBD33-76C6-C1EE-3673-FF7101F20A0E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99FC6C88-EF92-F8A0-4B1D-29745DCFF5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333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78999" y="1353810"/>
            <a:ext cx="4141738" cy="328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10183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1271932" y="1679375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대시보드</a:t>
            </a:r>
            <a:endParaRPr lang="en-US" sz="492" dirty="0"/>
          </a:p>
        </p:txBody>
      </p:sp>
      <p:sp>
        <p:nvSpPr>
          <p:cNvPr id="7" name="Shape 4"/>
          <p:cNvSpPr/>
          <p:nvPr/>
        </p:nvSpPr>
        <p:spPr>
          <a:xfrm>
            <a:off x="27317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405763" y="22662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카드 / 게이지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273176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97795" y="285310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이상점수 확인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73176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426356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이벤트 확인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947188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2063239" y="2266241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화면 이동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1947188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2100369" y="2853108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표시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1389185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1570965" y="3439975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상세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1389185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1491744" y="4026841"/>
            <a:ext cx="57412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근거 설명 (XAI)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505193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658374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 집계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505193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624889" y="4026841"/>
            <a:ext cx="5398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SOH / RUL 건강도</a:t>
            </a:r>
            <a:endParaRPr lang="en-US" sz="492" dirty="0"/>
          </a:p>
        </p:txBody>
      </p:sp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9EE80009-8441-DEC6-AA94-A684D44E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31257" y="1353810"/>
            <a:ext cx="5369324" cy="2811179"/>
          </a:xfrm>
          <a:prstGeom prst="rect">
            <a:avLst/>
          </a:prstGeom>
        </p:spPr>
      </p:pic>
      <p:sp>
        <p:nvSpPr>
          <p:cNvPr id="50" name="Shape 2">
            <a:extLst>
              <a:ext uri="{FF2B5EF4-FFF2-40B4-BE49-F238E27FC236}">
                <a16:creationId xmlns:a16="http://schemas.microsoft.com/office/drawing/2014/main" id="{AD685CA9-F544-16D5-CC5F-666548CBE6A1}"/>
              </a:ext>
            </a:extLst>
          </p:cNvPr>
          <p:cNvSpPr/>
          <p:nvPr/>
        </p:nvSpPr>
        <p:spPr>
          <a:xfrm>
            <a:off x="4955443" y="2635777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28107FBD-422D-AA18-B613-110C37D833EC}"/>
              </a:ext>
            </a:extLst>
          </p:cNvPr>
          <p:cNvSpPr/>
          <p:nvPr/>
        </p:nvSpPr>
        <p:spPr>
          <a:xfrm>
            <a:off x="4984307" y="264058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보기</a:t>
            </a:r>
            <a:endParaRPr lang="en-US" sz="416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CC021F63-E26E-E691-F5DC-0F6C9CC4F1BE}"/>
              </a:ext>
            </a:extLst>
          </p:cNvPr>
          <p:cNvSpPr/>
          <p:nvPr/>
        </p:nvSpPr>
        <p:spPr>
          <a:xfrm>
            <a:off x="6183030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6DFADB6E-F491-92E7-C7F5-89F7BBAD4204}"/>
              </a:ext>
            </a:extLst>
          </p:cNvPr>
          <p:cNvSpPr/>
          <p:nvPr/>
        </p:nvSpPr>
        <p:spPr>
          <a:xfrm>
            <a:off x="6211893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차단 승인</a:t>
            </a:r>
            <a:endParaRPr lang="en-US" sz="416" dirty="0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C2629CC3-3917-F8CF-BD97-582CA58EF799}"/>
              </a:ext>
            </a:extLst>
          </p:cNvPr>
          <p:cNvSpPr/>
          <p:nvPr/>
        </p:nvSpPr>
        <p:spPr>
          <a:xfrm>
            <a:off x="7299039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DC652651-570F-8789-EC69-82FA1AC71748}"/>
              </a:ext>
            </a:extLst>
          </p:cNvPr>
          <p:cNvSpPr/>
          <p:nvPr/>
        </p:nvSpPr>
        <p:spPr>
          <a:xfrm>
            <a:off x="7327901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승인</a:t>
            </a:r>
            <a:endParaRPr lang="en-US" sz="416" dirty="0"/>
          </a:p>
        </p:txBody>
      </p:sp>
      <p:sp>
        <p:nvSpPr>
          <p:cNvPr id="56" name="Shape 8">
            <a:extLst>
              <a:ext uri="{FF2B5EF4-FFF2-40B4-BE49-F238E27FC236}">
                <a16:creationId xmlns:a16="http://schemas.microsoft.com/office/drawing/2014/main" id="{C9A14AC9-F20E-05BD-B1E4-69DD8DC537BF}"/>
              </a:ext>
            </a:extLst>
          </p:cNvPr>
          <p:cNvSpPr/>
          <p:nvPr/>
        </p:nvSpPr>
        <p:spPr>
          <a:xfrm>
            <a:off x="4141436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066618E4-9585-948B-6AD7-FA2415F47CE4}"/>
              </a:ext>
            </a:extLst>
          </p:cNvPr>
          <p:cNvSpPr/>
          <p:nvPr/>
        </p:nvSpPr>
        <p:spPr>
          <a:xfrm>
            <a:off x="4388946" y="16793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센터</a:t>
            </a:r>
            <a:endParaRPr lang="en-US" sz="492" dirty="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D2C90AC8-F48B-635E-39ED-59FA91917AEE}"/>
              </a:ext>
            </a:extLst>
          </p:cNvPr>
          <p:cNvSpPr/>
          <p:nvPr/>
        </p:nvSpPr>
        <p:spPr>
          <a:xfrm>
            <a:off x="414143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1">
            <a:extLst>
              <a:ext uri="{FF2B5EF4-FFF2-40B4-BE49-F238E27FC236}">
                <a16:creationId xmlns:a16="http://schemas.microsoft.com/office/drawing/2014/main" id="{C4161502-4807-DEDE-E174-D07DE7BBF70B}"/>
              </a:ext>
            </a:extLst>
          </p:cNvPr>
          <p:cNvSpPr/>
          <p:nvPr/>
        </p:nvSpPr>
        <p:spPr>
          <a:xfrm>
            <a:off x="4303863" y="2266241"/>
            <a:ext cx="45443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확인 (Ack)</a:t>
            </a:r>
            <a:endParaRPr lang="en-US" sz="492" dirty="0"/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6E21CCBB-EBE5-482A-9244-0815D2447B1D}"/>
              </a:ext>
            </a:extLst>
          </p:cNvPr>
          <p:cNvSpPr/>
          <p:nvPr/>
        </p:nvSpPr>
        <p:spPr>
          <a:xfrm>
            <a:off x="3583433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13">
            <a:extLst>
              <a:ext uri="{FF2B5EF4-FFF2-40B4-BE49-F238E27FC236}">
                <a16:creationId xmlns:a16="http://schemas.microsoft.com/office/drawing/2014/main" id="{A2AFEAF7-64C6-64CB-A85D-2A12431EDF21}"/>
              </a:ext>
            </a:extLst>
          </p:cNvPr>
          <p:cNvSpPr/>
          <p:nvPr/>
        </p:nvSpPr>
        <p:spPr>
          <a:xfrm>
            <a:off x="3765213" y="285310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알림 확인</a:t>
            </a:r>
            <a:endParaRPr lang="en-US" sz="492" dirty="0"/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0F94F2E5-FDE1-2DA4-F51C-87C83A1AFE6F}"/>
              </a:ext>
            </a:extLst>
          </p:cNvPr>
          <p:cNvSpPr/>
          <p:nvPr/>
        </p:nvSpPr>
        <p:spPr>
          <a:xfrm>
            <a:off x="4699441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D86DCE3C-3BA3-EC07-4144-68E654FC0016}"/>
              </a:ext>
            </a:extLst>
          </p:cNvPr>
          <p:cNvSpPr/>
          <p:nvPr/>
        </p:nvSpPr>
        <p:spPr>
          <a:xfrm>
            <a:off x="4918351" y="285310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64" name="Shape 16">
            <a:extLst>
              <a:ext uri="{FF2B5EF4-FFF2-40B4-BE49-F238E27FC236}">
                <a16:creationId xmlns:a16="http://schemas.microsoft.com/office/drawing/2014/main" id="{08CE7741-E9C5-E609-0B12-60FB42601717}"/>
              </a:ext>
            </a:extLst>
          </p:cNvPr>
          <p:cNvSpPr/>
          <p:nvPr/>
        </p:nvSpPr>
        <p:spPr>
          <a:xfrm>
            <a:off x="6485032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6A3E32CF-E449-19A8-958A-C700DD72F2CF}"/>
              </a:ext>
            </a:extLst>
          </p:cNvPr>
          <p:cNvSpPr/>
          <p:nvPr/>
        </p:nvSpPr>
        <p:spPr>
          <a:xfrm>
            <a:off x="6638213" y="16793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진입</a:t>
            </a:r>
            <a:endParaRPr lang="en-US" sz="492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3417181E-B9F6-1F2D-3566-0C1A2FC495DD}"/>
              </a:ext>
            </a:extLst>
          </p:cNvPr>
          <p:cNvSpPr/>
          <p:nvPr/>
        </p:nvSpPr>
        <p:spPr>
          <a:xfrm>
            <a:off x="6485032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7" name="Text 19">
            <a:extLst>
              <a:ext uri="{FF2B5EF4-FFF2-40B4-BE49-F238E27FC236}">
                <a16:creationId xmlns:a16="http://schemas.microsoft.com/office/drawing/2014/main" id="{7F1F5CA7-A837-A2AD-3690-4E66054F00CB}"/>
              </a:ext>
            </a:extLst>
          </p:cNvPr>
          <p:cNvSpPr/>
          <p:nvPr/>
        </p:nvSpPr>
        <p:spPr>
          <a:xfrm>
            <a:off x="6638213" y="226624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제어 화면</a:t>
            </a:r>
            <a:endParaRPr lang="en-US" sz="492" dirty="0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16673CBE-514F-E7ED-34E7-D7DE78465600}"/>
              </a:ext>
            </a:extLst>
          </p:cNvPr>
          <p:cNvSpPr/>
          <p:nvPr/>
        </p:nvSpPr>
        <p:spPr>
          <a:xfrm>
            <a:off x="6485032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3A3A7F7D-AE4A-A1E7-BA34-B14389AADDBD}"/>
              </a:ext>
            </a:extLst>
          </p:cNvPr>
          <p:cNvSpPr/>
          <p:nvPr/>
        </p:nvSpPr>
        <p:spPr>
          <a:xfrm>
            <a:off x="6601083" y="285310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 승인 모달</a:t>
            </a:r>
            <a:endParaRPr lang="en-US" sz="492" dirty="0"/>
          </a:p>
        </p:txBody>
      </p:sp>
      <p:sp>
        <p:nvSpPr>
          <p:cNvPr id="70" name="Shape 22">
            <a:extLst>
              <a:ext uri="{FF2B5EF4-FFF2-40B4-BE49-F238E27FC236}">
                <a16:creationId xmlns:a16="http://schemas.microsoft.com/office/drawing/2014/main" id="{E186512E-E307-3EAA-51D0-7D852285C90A}"/>
              </a:ext>
            </a:extLst>
          </p:cNvPr>
          <p:cNvSpPr/>
          <p:nvPr/>
        </p:nvSpPr>
        <p:spPr>
          <a:xfrm>
            <a:off x="5927027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680C1146-5AA8-9F54-00C4-DA2B77E50F25}"/>
              </a:ext>
            </a:extLst>
          </p:cNvPr>
          <p:cNvSpPr/>
          <p:nvPr/>
        </p:nvSpPr>
        <p:spPr>
          <a:xfrm>
            <a:off x="5975132" y="3517354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/ Kill-Switch</a:t>
            </a:r>
            <a:endParaRPr lang="en-US" sz="492" dirty="0"/>
          </a:p>
        </p:txBody>
      </p:sp>
      <p:sp>
        <p:nvSpPr>
          <p:cNvPr id="72" name="Shape 24">
            <a:extLst>
              <a:ext uri="{FF2B5EF4-FFF2-40B4-BE49-F238E27FC236}">
                <a16:creationId xmlns:a16="http://schemas.microsoft.com/office/drawing/2014/main" id="{9B48A5DD-9BB9-1B11-B87D-51588AC35B68}"/>
              </a:ext>
            </a:extLst>
          </p:cNvPr>
          <p:cNvSpPr/>
          <p:nvPr/>
        </p:nvSpPr>
        <p:spPr>
          <a:xfrm>
            <a:off x="7043035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43DF429C-30F8-7A4B-E451-8222D41C22B1}"/>
              </a:ext>
            </a:extLst>
          </p:cNvPr>
          <p:cNvSpPr/>
          <p:nvPr/>
        </p:nvSpPr>
        <p:spPr>
          <a:xfrm>
            <a:off x="7261946" y="355734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복구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9E911-BC19-4AA3-AD76-8B7BEBE7BD8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16">
            <a:extLst>
              <a:ext uri="{FF2B5EF4-FFF2-40B4-BE49-F238E27FC236}">
                <a16:creationId xmlns:a16="http://schemas.microsoft.com/office/drawing/2014/main" id="{9A732FA0-2DEC-0C38-88A4-C858365FC01C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17">
            <a:extLst>
              <a:ext uri="{FF2B5EF4-FFF2-40B4-BE49-F238E27FC236}">
                <a16:creationId xmlns:a16="http://schemas.microsoft.com/office/drawing/2014/main" id="{93F3889B-87B5-7CDB-147D-1EF4A399463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>
            <a:extLst>
              <a:ext uri="{FF2B5EF4-FFF2-40B4-BE49-F238E27FC236}">
                <a16:creationId xmlns:a16="http://schemas.microsoft.com/office/drawing/2014/main" id="{53CA9BC0-06AE-EA88-A9AA-679D92EFEB5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08CBA29E-FFD6-891D-14A4-318CAA94D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막힌 원호 34">
            <a:extLst>
              <a:ext uri="{FF2B5EF4-FFF2-40B4-BE49-F238E27FC236}">
                <a16:creationId xmlns:a16="http://schemas.microsoft.com/office/drawing/2014/main" id="{D3EE96F3-BF1F-6AC0-7D76-756189E11A50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B6226B9F-206B-AF9C-442E-3E0B5AC0C75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714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6036" y="1506842"/>
            <a:ext cx="9163776" cy="269381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61466" y="2122571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890330" y="2127382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874144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1035330" y="1832407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 차트 / 이력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143214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1585329" y="2419273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이력 목록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432148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1564735" y="30061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정렬 / 이동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432148" y="349833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1651059" y="3593007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316140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17421" y="2419273"/>
            <a:ext cx="57668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CSV / PDF 내보내기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994545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50623" y="1832407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994545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3119164" y="2419273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카테고리 필터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994545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242054" y="300614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상세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5896181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6143691" y="1832407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 화면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533817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5519958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수신 설정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454186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635966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정보 수정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454186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644534" y="3006141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변경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7570194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7618299" y="2379287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전환/캘리브레이션 이력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DEA617-4509-0665-2F74-51A62D92F2B0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연결선 16">
            <a:extLst>
              <a:ext uri="{FF2B5EF4-FFF2-40B4-BE49-F238E27FC236}">
                <a16:creationId xmlns:a16="http://schemas.microsoft.com/office/drawing/2014/main" id="{A8120461-0409-E742-502B-08F6869E582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17">
            <a:extLst>
              <a:ext uri="{FF2B5EF4-FFF2-40B4-BE49-F238E27FC236}">
                <a16:creationId xmlns:a16="http://schemas.microsoft.com/office/drawing/2014/main" id="{CC59071B-8BA8-DE84-4216-0A3323AB0BF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0" name="제목 12">
            <a:extLst>
              <a:ext uri="{FF2B5EF4-FFF2-40B4-BE49-F238E27FC236}">
                <a16:creationId xmlns:a16="http://schemas.microsoft.com/office/drawing/2014/main" id="{7DBA1181-EA51-2C71-EDB7-0A4D9037D225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729D9C01-8FB3-F895-5CE2-6E7CD701E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2" name="막힌 원호 34">
            <a:extLst>
              <a:ext uri="{FF2B5EF4-FFF2-40B4-BE49-F238E27FC236}">
                <a16:creationId xmlns:a16="http://schemas.microsoft.com/office/drawing/2014/main" id="{EB021DD2-7F4B-8D9D-E3B2-89E0EDD813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998B97B-2B4B-9D20-7E01-3C21D33B3AD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0340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859" y="1261296"/>
            <a:ext cx="6262139" cy="495322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26470" y="3637625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" name="Text 1"/>
          <p:cNvSpPr/>
          <p:nvPr/>
        </p:nvSpPr>
        <p:spPr>
          <a:xfrm>
            <a:off x="3255332" y="3642435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16" dirty="0"/>
          </a:p>
        </p:txBody>
      </p:sp>
      <p:sp>
        <p:nvSpPr>
          <p:cNvPr id="5" name="Shape 2"/>
          <p:cNvSpPr/>
          <p:nvPr/>
        </p:nvSpPr>
        <p:spPr>
          <a:xfrm>
            <a:off x="3891017" y="3344192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9880" y="3349002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121760" y="3050758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150623" y="3055569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908233" y="1492194"/>
            <a:ext cx="779282" cy="269382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221472" y="1586861"/>
            <a:ext cx="15280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908233" y="2079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127144" y="217372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08233" y="26659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040820" y="276059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소셜 로그인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2937096" y="3175828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3062166" y="3303303"/>
            <a:ext cx="471417" cy="187605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/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역할 확인 (RBAC)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4247436" y="3252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4494945" y="334746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거부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47436" y="383966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363486" y="393432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실패 감사 로그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3801047" y="44265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962797" y="4521194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대시보드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127035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308815" y="5108061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운영 요약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3243043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3396224" y="510806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위험 배터리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4359052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4415460" y="5108061"/>
            <a:ext cx="666429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오프라인 디바이스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5475060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5562550" y="5108061"/>
            <a:ext cx="60430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관리자 조작 로그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2127035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2374545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관리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324304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3461954" y="5606875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관리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4359052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4539930" y="5606875"/>
            <a:ext cx="4175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디바이스·헬스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5475060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5722569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관리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647945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6726962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</a:t>
            </a:r>
            <a:endParaRPr lang="en-US" sz="492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125CF21-C239-A29A-528C-E470A18D1F9F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16">
            <a:extLst>
              <a:ext uri="{FF2B5EF4-FFF2-40B4-BE49-F238E27FC236}">
                <a16:creationId xmlns:a16="http://schemas.microsoft.com/office/drawing/2014/main" id="{C8AB3AB8-9D59-ACA9-A731-F452EE1A3706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C2005928-067E-7A18-ECE3-E348AD7EC28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8" name="제목 12">
            <a:extLst>
              <a:ext uri="{FF2B5EF4-FFF2-40B4-BE49-F238E27FC236}">
                <a16:creationId xmlns:a16="http://schemas.microsoft.com/office/drawing/2014/main" id="{4199DDAC-EB89-BA80-F92C-82D07EA2C06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456DEE59-6533-A81F-9961-0D897A173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0" name="막힌 원호 34">
            <a:extLst>
              <a:ext uri="{FF2B5EF4-FFF2-40B4-BE49-F238E27FC236}">
                <a16:creationId xmlns:a16="http://schemas.microsoft.com/office/drawing/2014/main" id="{CACAF125-DF8B-D0A0-AC4E-A9BE9FAD259F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F14D3360-EDC2-F456-EAD9-1309798B783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852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7574" y="1107831"/>
            <a:ext cx="7043337" cy="504127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07851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4636714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3737753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3956664" y="143339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목록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3179750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312336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검색 / 필터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3737753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956664" y="260713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3179750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361530" y="3189524"/>
            <a:ext cx="415722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선택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295758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448939" y="3193996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메모 입력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3179750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76033" y="3780863"/>
            <a:ext cx="58671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사유 입력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95758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543268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4295758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4391215" y="4954596"/>
            <a:ext cx="58833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/ 메모 저장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4295758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4477538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7197357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7272107" y="1433396"/>
            <a:ext cx="629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· 디바이스 · 헬스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81349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300259" y="2020262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통계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7197357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7321976" y="2020262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상태 목록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831336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8466547" y="202026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헬스 카드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608134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6138912" y="2607130"/>
            <a:ext cx="66415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상태·모드·제조사 분포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6081349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6209802" y="3193996"/>
            <a:ext cx="522378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Top 5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7197357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7387706" y="2607130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상세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8313365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8428515" y="2607130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오프라인·지연 경보</a:t>
            </a:r>
            <a:endParaRPr lang="en-US" sz="492" dirty="0"/>
          </a:p>
        </p:txBody>
      </p:sp>
      <p:pic>
        <p:nvPicPr>
          <p:cNvPr id="41" name="Image 0" descr="preencoded.png">
            <a:extLst>
              <a:ext uri="{FF2B5EF4-FFF2-40B4-BE49-F238E27FC236}">
                <a16:creationId xmlns:a16="http://schemas.microsoft.com/office/drawing/2014/main" id="{63C9898F-8FBB-0711-FB55-42F90E11E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30840" y="1107831"/>
            <a:ext cx="3360502" cy="5041279"/>
          </a:xfrm>
          <a:prstGeom prst="rect">
            <a:avLst/>
          </a:prstGeom>
        </p:spPr>
      </p:pic>
      <p:sp>
        <p:nvSpPr>
          <p:cNvPr id="42" name="Shape 2">
            <a:extLst>
              <a:ext uri="{FF2B5EF4-FFF2-40B4-BE49-F238E27FC236}">
                <a16:creationId xmlns:a16="http://schemas.microsoft.com/office/drawing/2014/main" id="{6B326D5D-0D76-77F1-A356-05C77E650260}"/>
              </a:ext>
            </a:extLst>
          </p:cNvPr>
          <p:cNvSpPr/>
          <p:nvPr/>
        </p:nvSpPr>
        <p:spPr>
          <a:xfrm>
            <a:off x="733428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E665E2E7-AB75-D81A-37D9-774973DF4C76}"/>
              </a:ext>
            </a:extLst>
          </p:cNvPr>
          <p:cNvSpPr/>
          <p:nvPr/>
        </p:nvSpPr>
        <p:spPr>
          <a:xfrm>
            <a:off x="762291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B0909056-8BA8-0A47-2696-EFA2C4A7A754}"/>
              </a:ext>
            </a:extLst>
          </p:cNvPr>
          <p:cNvSpPr/>
          <p:nvPr/>
        </p:nvSpPr>
        <p:spPr>
          <a:xfrm>
            <a:off x="1793346" y="436445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2DF72955-FF48-5232-9DE9-0563BA381FCA}"/>
              </a:ext>
            </a:extLst>
          </p:cNvPr>
          <p:cNvSpPr/>
          <p:nvPr/>
        </p:nvSpPr>
        <p:spPr>
          <a:xfrm>
            <a:off x="1822210" y="4369270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기록</a:t>
            </a:r>
            <a:endParaRPr lang="en-US" sz="416" dirty="0"/>
          </a:p>
        </p:txBody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A997CE65-984A-9C2D-7CB2-FFDE2DF59096}"/>
              </a:ext>
            </a:extLst>
          </p:cNvPr>
          <p:cNvSpPr/>
          <p:nvPr/>
        </p:nvSpPr>
        <p:spPr>
          <a:xfrm>
            <a:off x="979339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148A49D0-E7B5-6E3F-2307-1C62C372DE1C}"/>
              </a:ext>
            </a:extLst>
          </p:cNvPr>
          <p:cNvSpPr/>
          <p:nvPr/>
        </p:nvSpPr>
        <p:spPr>
          <a:xfrm>
            <a:off x="1226849" y="1433396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목록</a:t>
            </a:r>
            <a:endParaRPr lang="en-US" sz="492" dirty="0"/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95EAC0B4-7FD9-E8D0-5884-76D92293F3A9}"/>
              </a:ext>
            </a:extLst>
          </p:cNvPr>
          <p:cNvSpPr/>
          <p:nvPr/>
        </p:nvSpPr>
        <p:spPr>
          <a:xfrm>
            <a:off x="8652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6A3E3596-87AD-0C35-1FCB-410DBF5D39B4}"/>
              </a:ext>
            </a:extLst>
          </p:cNvPr>
          <p:cNvSpPr/>
          <p:nvPr/>
        </p:nvSpPr>
        <p:spPr>
          <a:xfrm>
            <a:off x="219112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 / 이메일 검색</a:t>
            </a:r>
            <a:endParaRPr lang="en-US" sz="492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71714FEE-AF73-D90E-C6E5-53A58124CD11}"/>
              </a:ext>
            </a:extLst>
          </p:cNvPr>
          <p:cNvSpPr/>
          <p:nvPr/>
        </p:nvSpPr>
        <p:spPr>
          <a:xfrm>
            <a:off x="1872116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1657DBA-1F07-F548-CDFD-425005EDE0D1}"/>
              </a:ext>
            </a:extLst>
          </p:cNvPr>
          <p:cNvSpPr/>
          <p:nvPr/>
        </p:nvSpPr>
        <p:spPr>
          <a:xfrm>
            <a:off x="2028981" y="2020262"/>
            <a:ext cx="46555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· 권한 필터</a:t>
            </a:r>
            <a:endParaRPr lang="en-US" sz="492" dirty="0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848CEC59-785E-7D53-CA46-3F7274ED4329}"/>
              </a:ext>
            </a:extLst>
          </p:cNvPr>
          <p:cNvSpPr/>
          <p:nvPr/>
        </p:nvSpPr>
        <p:spPr>
          <a:xfrm>
            <a:off x="97933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58FC4433-7BB2-8635-3623-9677FA244768}"/>
              </a:ext>
            </a:extLst>
          </p:cNvPr>
          <p:cNvSpPr/>
          <p:nvPr/>
        </p:nvSpPr>
        <p:spPr>
          <a:xfrm>
            <a:off x="1226849" y="2602657"/>
            <a:ext cx="284263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상세</a:t>
            </a:r>
            <a:endParaRPr lang="en-US" sz="492" dirty="0"/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CA3726A8-A3AF-B9F4-EC46-41254CD71B9F}"/>
              </a:ext>
            </a:extLst>
          </p:cNvPr>
          <p:cNvSpPr/>
          <p:nvPr/>
        </p:nvSpPr>
        <p:spPr>
          <a:xfrm>
            <a:off x="421336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F15AED6-CB51-A284-79F1-FDD56FCA04A4}"/>
              </a:ext>
            </a:extLst>
          </p:cNvPr>
          <p:cNvSpPr/>
          <p:nvPr/>
        </p:nvSpPr>
        <p:spPr>
          <a:xfrm>
            <a:off x="582521" y="3193996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정지 / 해제 선택</a:t>
            </a:r>
            <a:endParaRPr lang="en-US" sz="492" dirty="0"/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43AF8F08-081E-D74F-B8BE-5E89779C478B}"/>
              </a:ext>
            </a:extLst>
          </p:cNvPr>
          <p:cNvSpPr/>
          <p:nvPr/>
        </p:nvSpPr>
        <p:spPr>
          <a:xfrm>
            <a:off x="1537344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DF6CB3CD-0229-0579-E74A-14A7A06062E6}"/>
              </a:ext>
            </a:extLst>
          </p:cNvPr>
          <p:cNvSpPr/>
          <p:nvPr/>
        </p:nvSpPr>
        <p:spPr>
          <a:xfrm>
            <a:off x="1699093" y="3193996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재설정</a:t>
            </a:r>
            <a:endParaRPr lang="en-US" sz="492" dirty="0"/>
          </a:p>
        </p:txBody>
      </p:sp>
      <p:sp>
        <p:nvSpPr>
          <p:cNvPr id="58" name="Shape 18">
            <a:extLst>
              <a:ext uri="{FF2B5EF4-FFF2-40B4-BE49-F238E27FC236}">
                <a16:creationId xmlns:a16="http://schemas.microsoft.com/office/drawing/2014/main" id="{F298F68A-84BD-6472-BA46-4C6CA7B53822}"/>
              </a:ext>
            </a:extLst>
          </p:cNvPr>
          <p:cNvSpPr/>
          <p:nvPr/>
        </p:nvSpPr>
        <p:spPr>
          <a:xfrm>
            <a:off x="421336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9">
            <a:extLst>
              <a:ext uri="{FF2B5EF4-FFF2-40B4-BE49-F238E27FC236}">
                <a16:creationId xmlns:a16="http://schemas.microsoft.com/office/drawing/2014/main" id="{4A45F584-0112-5FD3-671F-29CA2B487F19}"/>
              </a:ext>
            </a:extLst>
          </p:cNvPr>
          <p:cNvSpPr/>
          <p:nvPr/>
        </p:nvSpPr>
        <p:spPr>
          <a:xfrm>
            <a:off x="668845" y="3780863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 입력</a:t>
            </a:r>
            <a:endParaRPr lang="en-US" sz="492" dirty="0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FE60A7DC-4E85-5380-BAE8-A3FD6DC8666A}"/>
              </a:ext>
            </a:extLst>
          </p:cNvPr>
          <p:cNvSpPr/>
          <p:nvPr/>
        </p:nvSpPr>
        <p:spPr>
          <a:xfrm>
            <a:off x="421336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C0CE708F-6A22-0354-FFEA-8B052B5E5155}"/>
              </a:ext>
            </a:extLst>
          </p:cNvPr>
          <p:cNvSpPr/>
          <p:nvPr/>
        </p:nvSpPr>
        <p:spPr>
          <a:xfrm>
            <a:off x="668845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5649F007-66B8-193F-FEB2-76DEE6036782}"/>
              </a:ext>
            </a:extLst>
          </p:cNvPr>
          <p:cNvSpPr/>
          <p:nvPr/>
        </p:nvSpPr>
        <p:spPr>
          <a:xfrm>
            <a:off x="421336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23">
            <a:extLst>
              <a:ext uri="{FF2B5EF4-FFF2-40B4-BE49-F238E27FC236}">
                <a16:creationId xmlns:a16="http://schemas.microsoft.com/office/drawing/2014/main" id="{9A7B0BFC-F1A5-7D49-C9F3-BE23E7EBA3C8}"/>
              </a:ext>
            </a:extLst>
          </p:cNvPr>
          <p:cNvSpPr/>
          <p:nvPr/>
        </p:nvSpPr>
        <p:spPr>
          <a:xfrm>
            <a:off x="603116" y="495459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변경 저장</a:t>
            </a:r>
            <a:endParaRPr lang="en-US" sz="492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E2F3C14D-93B1-5D1E-FA0F-C55E94650D09}"/>
              </a:ext>
            </a:extLst>
          </p:cNvPr>
          <p:cNvSpPr/>
          <p:nvPr/>
        </p:nvSpPr>
        <p:spPr>
          <a:xfrm>
            <a:off x="1537344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25">
            <a:extLst>
              <a:ext uri="{FF2B5EF4-FFF2-40B4-BE49-F238E27FC236}">
                <a16:creationId xmlns:a16="http://schemas.microsoft.com/office/drawing/2014/main" id="{D3AAA5D4-583F-C148-2814-D9B94B04D6D2}"/>
              </a:ext>
            </a:extLst>
          </p:cNvPr>
          <p:cNvSpPr/>
          <p:nvPr/>
        </p:nvSpPr>
        <p:spPr>
          <a:xfrm>
            <a:off x="1719124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8AEC1F-BFC4-ECA9-3067-034BA81850B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666240DC-7A1D-CD6C-4719-8C47916D6AEE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17">
            <a:extLst>
              <a:ext uri="{FF2B5EF4-FFF2-40B4-BE49-F238E27FC236}">
                <a16:creationId xmlns:a16="http://schemas.microsoft.com/office/drawing/2014/main" id="{0D9BD4B0-0DF1-3C03-441B-6759A3863223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0" name="제목 12">
            <a:extLst>
              <a:ext uri="{FF2B5EF4-FFF2-40B4-BE49-F238E27FC236}">
                <a16:creationId xmlns:a16="http://schemas.microsoft.com/office/drawing/2014/main" id="{762037C2-1E94-39C9-1F8F-EAF48FD96CEA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1" name="Picture 2">
            <a:extLst>
              <a:ext uri="{FF2B5EF4-FFF2-40B4-BE49-F238E27FC236}">
                <a16:creationId xmlns:a16="http://schemas.microsoft.com/office/drawing/2014/main" id="{DB924482-79F1-96FD-2D25-1688B1C90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2" name="막힌 원호 34">
            <a:extLst>
              <a:ext uri="{FF2B5EF4-FFF2-40B4-BE49-F238E27FC236}">
                <a16:creationId xmlns:a16="http://schemas.microsoft.com/office/drawing/2014/main" id="{0470C107-A09F-7B5E-67C7-301490F2B00A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E0753B20-4CCB-AD16-8385-F2E7D788B3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5530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8336" y="1495227"/>
            <a:ext cx="5927329" cy="38675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85637" y="328468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4500" y="3289499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061287" y="2110956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090150" y="211576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730093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2920442" y="1820792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 관리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83727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2047620" y="2407658"/>
            <a:ext cx="35856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공지 작성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53287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200796" y="2407658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수정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069295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230481" y="2403187"/>
            <a:ext cx="456911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 / 삭제 확인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730093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2834118" y="2994526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/ 공개 범위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730093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2891279" y="358139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/ 내용 입력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730093" y="40735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845242" y="4168259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웹푸시·카카오 발송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730093" y="466045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891279" y="4755125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임시 저장 / 게시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6078118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6259898" y="182079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목록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7811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126222" y="2367672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기간·관리자·행위·대상 필터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078118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259898" y="299452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상세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078118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231299" y="358139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 정보 마스킹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7AD182-3F17-10F7-0DA5-18FCD41C2E2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B9952317-B945-6600-D23C-FE676F69123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17">
            <a:extLst>
              <a:ext uri="{FF2B5EF4-FFF2-40B4-BE49-F238E27FC236}">
                <a16:creationId xmlns:a16="http://schemas.microsoft.com/office/drawing/2014/main" id="{83F2D703-E81D-EC30-E40F-3656AF08946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제목 12">
            <a:extLst>
              <a:ext uri="{FF2B5EF4-FFF2-40B4-BE49-F238E27FC236}">
                <a16:creationId xmlns:a16="http://schemas.microsoft.com/office/drawing/2014/main" id="{F207DEE9-E0FD-5429-4BD6-C44F272FAD4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8" name="Picture 2">
            <a:extLst>
              <a:ext uri="{FF2B5EF4-FFF2-40B4-BE49-F238E27FC236}">
                <a16:creationId xmlns:a16="http://schemas.microsoft.com/office/drawing/2014/main" id="{F12D6BB9-C085-A9E5-5C72-535FECE4B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9" name="막힌 원호 34">
            <a:extLst>
              <a:ext uri="{FF2B5EF4-FFF2-40B4-BE49-F238E27FC236}">
                <a16:creationId xmlns:a16="http://schemas.microsoft.com/office/drawing/2014/main" id="{2A0EE4EF-385A-6A3E-9C5D-BAAD0E7AC51B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913BED54-A721-4B39-8B21-533F875698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7992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알고리즘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명세서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B734AFF-158A-07BF-BC18-52B3EA10F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EE98778-1FBB-AFA1-0AD7-058D72F3EA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40" y="1549998"/>
            <a:ext cx="4233576" cy="418325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85C4234-71D0-49BB-852D-2DC5D2275A81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>
                          <a:solidFill>
                            <a:schemeClr val="bg1"/>
                          </a:solidFill>
                        </a:rPr>
                        <a:t>알고리즘 시나리오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보조배터리에서 수집된 전압, 전류, 온도, SOC, 가스, 압력 데이터를 </a:t>
                      </a:r>
                      <a:r>
                        <a:rPr lang="ko-KR" sz="1100" dirty="0" err="1"/>
                        <a:t>전처리하여</a:t>
                      </a:r>
                      <a:r>
                        <a:rPr lang="ko-KR" sz="1100" dirty="0"/>
                        <a:t> 일정한 길이의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데이터로 변환한다.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생성된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데이터는 LSTM </a:t>
                      </a:r>
                      <a:r>
                        <a:rPr lang="ko-KR" sz="1100" dirty="0" err="1"/>
                        <a:t>Autoencoder와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Informer에</a:t>
                      </a:r>
                      <a:r>
                        <a:rPr lang="ko-KR" sz="1100" dirty="0"/>
                        <a:t> 동시에 입력된다.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LSTM </a:t>
                      </a:r>
                      <a:r>
                        <a:rPr lang="ko-KR" sz="1100" dirty="0" err="1"/>
                        <a:t>Autoencoder는</a:t>
                      </a:r>
                      <a:r>
                        <a:rPr lang="ko-KR" sz="1100" dirty="0"/>
                        <a:t> 현재 센서 패턴을 복원하고, </a:t>
                      </a:r>
                      <a:r>
                        <a:rPr lang="ko-KR" sz="1100" dirty="0" err="1"/>
                        <a:t>입력값과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복원값의</a:t>
                      </a:r>
                      <a:r>
                        <a:rPr lang="ko-KR" sz="1100" dirty="0"/>
                        <a:t> 차이를 통해 현재 이상점수를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Informer는</a:t>
                      </a:r>
                      <a:r>
                        <a:rPr lang="ko-KR" sz="1100" dirty="0"/>
                        <a:t> 미래 센서 변화 흐름을 예측하고, </a:t>
                      </a:r>
                      <a:r>
                        <a:rPr lang="ko-KR" sz="1100" dirty="0" err="1"/>
                        <a:t>실제값과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예측값의</a:t>
                      </a:r>
                      <a:r>
                        <a:rPr lang="ko-KR" sz="1100" dirty="0"/>
                        <a:t> 차이를 통해 미래 위험점수를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⑤ 두 모델에서 계산된 점수는 가중합 방식으로 결합되어 최종 이상점수로 산출된다.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최종 이상점수가 </a:t>
                      </a:r>
                      <a:r>
                        <a:rPr lang="ko-KR" sz="1100" dirty="0" err="1"/>
                        <a:t>기준값</a:t>
                      </a:r>
                      <a:r>
                        <a:rPr lang="ko-KR" sz="1100" dirty="0"/>
                        <a:t> 이하이면 정상 상태로 판단하고, 대시보드에 반입 가능 상태를 표시한다.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⑦ 최종 이상점수가 기준값을 초과하면 위험 상태로 판단하고, 대시보드 경고 및 사용자 알림을 발생시킨다.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위험등급이 높은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Kill-Switch를</a:t>
                      </a:r>
                      <a:r>
                        <a:rPr lang="ko-KR" sz="1100" dirty="0"/>
                        <a:t> 작동시켜 보조배터리 전원을 차단한다.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88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알고리즘 상세 설명서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5" y="1473901"/>
            <a:ext cx="8740117" cy="257198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234302" y="4283396"/>
            <a:ext cx="8728070" cy="19036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9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268789" y="4420042"/>
            <a:ext cx="4303212" cy="1673254"/>
          </a:xfrm>
          <a:prstGeom prst="rect">
            <a:avLst/>
          </a:prstGeom>
          <a:noFill/>
        </p:spPr>
      </p:pic>
      <p:pic>
        <p:nvPicPr>
          <p:cNvPr id="23" name="image12.png" title="이미지"/>
          <p:cNvPicPr preferRelativeResize="0"/>
          <p:nvPr/>
        </p:nvPicPr>
        <p:blipFill>
          <a:blip r:embed="rId4" cstate="print"/>
          <a:stretch>
            <a:fillRect/>
          </a:stretch>
        </p:blipFill>
        <p:spPr>
          <a:xfrm>
            <a:off x="4617706" y="4447381"/>
            <a:ext cx="4130757" cy="1645915"/>
          </a:xfrm>
          <a:prstGeom prst="rect">
            <a:avLst/>
          </a:prstGeom>
          <a:noFill/>
        </p:spPr>
      </p:pic>
      <p:pic>
        <p:nvPicPr>
          <p:cNvPr id="24" name="image10.png" title="이미지"/>
          <p:cNvPicPr preferRelativeResize="0"/>
          <p:nvPr/>
        </p:nvPicPr>
        <p:blipFill>
          <a:blip r:embed="rId5" cstate="print"/>
          <a:stretch>
            <a:fillRect/>
          </a:stretch>
        </p:blipFill>
        <p:spPr>
          <a:xfrm>
            <a:off x="353509" y="1541283"/>
            <a:ext cx="8322947" cy="2319766"/>
          </a:xfrm>
          <a:prstGeom prst="rect">
            <a:avLst/>
          </a:prstGeom>
          <a:noFill/>
        </p:spPr>
      </p:pic>
      <p:sp>
        <p:nvSpPr>
          <p:cNvPr id="20" name="사각형: 둥근 모서리 26">
            <a:extLst>
              <a:ext uri="{FF2B5EF4-FFF2-40B4-BE49-F238E27FC236}">
                <a16:creationId xmlns:a16="http://schemas.microsoft.com/office/drawing/2014/main" id="{C1EF52DE-67AC-3EEE-9E67-6DBADC42DC08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2F3FF9E-7C11-B11B-299D-5AF7C76BA4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2600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핵심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셀가드 서비스의 AI 열폭주 예측, 실시간 관제, 전압·전류·온도·SOC 수집 설명을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 영상 실행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화면의 데모 영상 버튼으로 데모 콘텐츠 진입을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이메일과 비밀번호 기반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모달에서 관리자 계정 진입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Google 로그인 버튼으로 소셜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또는 회원가입 버튼에서 회원가입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 복귀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화면에서 기존 계정 로그인 화면으로 돌아간다.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진입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화면에서 계정 찾기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재설정 탭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찾기 탭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찾기 탭으로 표시 내용을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로그아웃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앱 셸에서 로그아웃 버튼으로 세션을 종료한다.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언어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한/영 토글로 화면 언어를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패널 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상단 알림 아이콘으로 미확인 알림 패널을 열고 닫는다.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메뉴 접기/펼치기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 메뉴 접기 버튼으로 데스크톱 내비게이션 폭을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사이드바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연결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화면에서 연결 배터리 ID와 측정 중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이상점수, 정상·주의·위험 구간, 점수 추세를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화면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이상점수 영역에서 이상 탐지 관리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릴레이 차단 버튼으로 Kill-Switch 승인 흐름에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 현재값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위험도 분포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정상, 주의, 경고, 위험 구간별 배터리 분포를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이벤트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대시보드에서 최근 이상 이벤트와 발생 시간을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알림 영역에서 알림 센터로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공지 영역에서 공지사항 목록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모달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288408"/>
      </p:ext>
    </p:extLst>
  </p:cSld>
  <p:clrMapOvr>
    <a:masterClrMapping/>
  </p:clrMapOvr>
</p:sld>
</file>

<file path=ppt/slides/slide50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drawing/2010/main" xmlns:ns5="http://schemas.microsoft.com/office/powerpoint/2010/main">
  <ns0:cSld>
    <ns0:spTree>
      <ns0:nvGrpSpPr>
        <ns0:cNvPr id="1" name="">
          <ns1:extLst>
            <ns1:ext uri="{FF2B5EF4-FFF2-40B4-BE49-F238E27FC236}">
              <ns2:creationId id="{88A306BA-44D5-2171-2641-CB8024263728}"/>
            </ns1:ext>
          </ns1:extLst>
        </ns0:cNvPr>
        <ns0:cNvGrpSpPr/>
        <ns0:nvPr/>
      </ns0:nvGrpSpPr>
      <ns0:grpSpPr>
        <ns1:xfrm>
          <ns1:off x="0" y="0"/>
          <ns1:ext cx="0" cy="0"/>
          <ns1:chOff x="0" y="0"/>
          <ns1:chExt cx="0" cy="0"/>
        </ns1:xfrm>
      </ns0:grpSpPr>
      <ns0:sp>
        <ns0:nvSpPr>
          <ns0:cNvPr id="14" name="직사각형 13">
            <ns1:extLst>
              <ns1:ext uri="{FF2B5EF4-FFF2-40B4-BE49-F238E27FC236}">
                <ns2:creationId id="{18EA1B01-C3EC-D57E-4A8D-C00E46126C36}"/>
              </ns1:ext>
            </ns1:extLst>
          </ns0:cNvPr>
          <ns0:cNvSpPr/>
          <ns0:nvPr/>
        </ns0:nvSpPr>
        <ns0:spPr>
          <ns1:xfrm>
            <ns1:off x="107504" y="0"/>
            <ns1:ext cx="3096344" cy="1124744"/>
          </ns1:xfrm>
          <ns1:prstGeom prst="rect">
            <ns1:avLst/>
          </ns1:prstGeom>
          <ns1:solidFill>
            <ns1:srgbClr val="3B5AA8"/>
          </ns1:solidFill>
          <ns1:ln>
            <ns1:noFill/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/>
          </ns1:p>
        </ns0:txBody>
      </ns0:sp>
      <ns0:cxnSp>
        <ns0:nvCxnSpPr>
          <ns0:cNvPr id="17" name="직선 연결선 16">
            <ns1:extLst>
              <ns1:ext uri="{FF2B5EF4-FFF2-40B4-BE49-F238E27FC236}">
                <ns2:creationId id="{17AB456F-CF2E-36AA-E2E9-862E79E12612}"/>
              </ns1:ext>
            </ns1:extLst>
          </ns0:cNvPr>
          <ns0:cNvCxnSpPr/>
          <ns0:nvPr/>
        </ns0:nvCxnSpPr>
        <ns0:spPr>
          <ns1:xfrm>
            <ns1:off x="424356" y="541195"/>
            <ns1:ext cx="2591728" cy="0"/>
          </ns1:xfrm>
          <ns1:prstGeom prst="line">
            <ns1:avLst/>
          </ns1:prstGeom>
          <ns1:ln w="28575">
            <ns1:solidFill>
              <ns1:schemeClr val="bg1">
                <ns1:lumMod val="95000"/>
              </ns1:schemeClr>
            </ns1:solidFill>
          </ns1:ln>
        </ns0:spPr>
        <ns0:style>
          <ns1:lnRef idx="1">
            <ns1:schemeClr val="accent1"/>
          </ns1:lnRef>
          <ns1:fillRef idx="0">
            <ns1:schemeClr val="accent1"/>
          </ns1:fillRef>
          <ns1:effectRef idx="0">
            <ns1:schemeClr val="accent1"/>
          </ns1:effectRef>
          <ns1:fontRef idx="minor">
            <ns1:schemeClr val="tx1"/>
          </ns1:fontRef>
        </ns0:style>
      </ns0:cxnSp>
      <ns0:cxnSp>
        <ns0:nvCxnSpPr>
          <ns0:cNvPr id="18" name="직선 연결선 17">
            <ns1:extLst>
              <ns1:ext uri="{FF2B5EF4-FFF2-40B4-BE49-F238E27FC236}">
                <ns2:creationId id="{CF712149-6166-8DA3-62E7-CCDAAC443A52}"/>
              </ns1:ext>
            </ns1:extLst>
          </ns0:cNvPr>
          <ns0:cNvCxnSpPr/>
          <ns0:nvPr/>
        </ns0:nvCxnSpPr>
        <ns0:spPr>
          <ns1:xfrm>
            <ns1:off x="3275856" y="548680"/>
            <ns1:ext cx="5328592" cy="0"/>
          </ns1:xfrm>
          <ns1:prstGeom prst="line">
            <ns1:avLst/>
          </ns1:prstGeom>
          <ns1:ln w="28575">
            <ns1:solidFill>
              <ns1:srgbClr val="3B5AA8"/>
            </ns1:solidFill>
          </ns1:ln>
        </ns0:spPr>
        <ns0:style>
          <ns1:lnRef idx="1">
            <ns1:schemeClr val="accent4"/>
          </ns1:lnRef>
          <ns1:fillRef idx="0">
            <ns1:schemeClr val="accent4"/>
          </ns1:fillRef>
          <ns1:effectRef idx="0">
            <ns1:schemeClr val="accent4"/>
          </ns1:effectRef>
          <ns1:fontRef idx="minor">
            <ns1:schemeClr val="tx1"/>
          </ns1:fontRef>
        </ns0:style>
      </ns0:cxnSp>
      <ns0:sp>
        <ns0:nvSpPr>
          <ns0:cNvPr id="19" name="제목 12">
            <ns1:extLst>
              <ns1:ext uri="{FF2B5EF4-FFF2-40B4-BE49-F238E27FC236}">
                <ns2:creationId id="{05BCA549-FEF2-EB9E-A74F-BA5B62CF4D37}"/>
              </ns1:ext>
            </ns1:extLst>
          </ns0:cNvPr>
          <ns0:cNvSpPr txBox="1">
            <ns1:spLocks/>
          </ns0:cNvSpPr>
          <ns0:nvPr/>
        </ns0:nvSpPr>
        <ns0:spPr>
          <ns1:xfrm>
            <ns1:off x="323528" y="692696"/>
            <ns1:ext cx="2808312" cy="296631"/>
          </ns1:xfrm>
          <ns1:prstGeom prst="rect">
            <ns1:avLst/>
          </ns1:prstGeom>
        </ns0:spPr>
        <ns0:txBody>
          <ns1:bodyPr vert="horz" lIns="91440" tIns="45720" rIns="91440" bIns="45720" rtlCol="0" anchor="t">
            <ns1:noAutofit/>
          </ns1:bodyPr>
          <ns1:lstStyle/>
          <ns1:p>
            <ns1:pPr marL="0" marR="0" lvl="0" indent="0" algn="l" defTabSz="914400" rtl="0" eaLnBrk="1" fontAlgn="auto" latinLnBrk="1" hangingPunct="1">
              <ns1:lnSpc>
                <ns1:spcPct val="100000"/>
              </ns1:lnSpc>
              <ns1:spcBef>
                <ns1:spcPct val="0"/>
              </ns1:spcBef>
              <ns1:spcAft>
                <ns1:spcPts val="0"/>
              </ns1:spcAft>
              <ns1:buClrTx/>
              <ns1:buSzTx/>
              <ns1:buFontTx/>
              <ns1:buNone/>
              <ns1:tabLst/>
              <ns1:defRPr/>
            </ns1:pPr>
            <ns1:r>
              <ns1:rPr kumimoji="0" lang="en-US" altLang="ko-KR" sz="1700" b="1" i="0" u="none" strike="noStrike" kern="1200" cap="none" spc="0" normalizeH="0" baseline="0" noProof="0">
                <ns1:ln>
                  <ns1:noFill/>
                </ns1:ln>
                <ns1:solidFill>
                  <ns1:schemeClr val="bg1"/>
                </ns1:solidFill>
                <ns1:effectLst/>
                <ns1:uLnTx/>
                <ns1:uFillTx/>
                <ns1:latin typeface="+mn-ea"/>
                <ns1:cs typeface="+mj-cs"/>
              </ns1:rPr>
              <ns1:t>| </ns1:t>
            </ns1:r>
            <ns1:r>
              <ns1:rPr lang="ko-KR" altLang="en-US" sz="1700" b="1">
                <ns1:solidFill>
                  <ns1:schemeClr val="bg1"/>
                </ns1:solidFill>
                <ns1:latin typeface="+mn-ea"/>
                <ns1:cs typeface="+mj-cs"/>
              </ns1:rPr>
              <ns1:t>프로그램 </ns1:t>
            </ns1:r>
            <ns1:r>
              <ns1:rPr lang="en-US" altLang="ko-KR" sz="1700" b="1">
                <ns1:solidFill>
                  <ns1:schemeClr val="bg1"/>
                </ns1:solidFill>
                <ns1:latin typeface="+mn-ea"/>
                <ns1:cs typeface="+mj-cs"/>
              </ns1:rPr>
              <ns1:t>- </ns1:t>
            </ns1:r>
            <ns1:r>
              <ns1:rPr kumimoji="0" lang="ko-KR" altLang="en-US" sz="1700" b="1" i="0" u="none" strike="noStrike" kern="1200" cap="none" spc="0" normalizeH="0" baseline="0" noProof="0" dirty="0">
                <ns1:ln>
                  <ns1:noFill/>
                </ns1:ln>
                <ns1:solidFill>
                  <ns1:schemeClr val="bg1"/>
                </ns1:solidFill>
                <ns1:effectLst/>
                <ns1:uLnTx/>
                <ns1:uFillTx/>
                <ns1:latin typeface="+mn-ea"/>
                <ns1:cs typeface="+mj-cs"/>
              </ns1:rPr>
              <ns1:t>목록</ns1:t>
            </ns1:r>
            <ns1:endParaRPr kumimoji="0" lang="ko-KR" altLang="en-US" sz="1700" b="0" i="0" u="none" strike="noStrike" kern="1200" cap="none" spc="-50" normalizeH="0" baseline="0" noProof="0" dirty="0">
              <ns1:ln>
                <ns1:noFill/>
              </ns1:ln>
              <ns1:solidFill>
                <ns1:schemeClr val="bg1"/>
              </ns1:solidFill>
              <ns1:effectLst/>
              <ns1:uLnTx/>
              <ns1:uFillTx/>
              <ns1:latin typeface="+mn-ea"/>
              <ns1:cs typeface="+mj-cs"/>
            </ns1:endParaRPr>
          </ns1:p>
        </ns0:txBody>
      </ns0:sp>
      <ns0:pic>
        <ns0:nvPicPr>
          <ns0:cNvPr id="1026" name="Picture 2">
            <ns1:extLst>
              <ns1:ext uri="{FF2B5EF4-FFF2-40B4-BE49-F238E27FC236}">
                <ns2:creationId id="{14A1FBA2-F4D5-5460-32E0-AFFABD54A177}"/>
              </ns1:ext>
            </ns1:extLst>
          </ns0:cNvPr>
          <ns0:cNvPicPr>
            <ns1:picLocks noChangeAspect="1" noChangeArrowheads="1"/>
          </ns0:cNvPicPr>
          <ns0:nvPr/>
        </ns0:nvPicPr>
        <ns0:blipFill>
          <ns1:blip ns3:embed="rId2" cstate="print"/>
          <ns1:srcRect/>
          <ns1:stretch>
            <ns1:fillRect/>
          </ns1:stretch>
        </ns0:blipFill>
        <ns0:spPr bwMode="auto">
          <ns1:xfrm>
            <ns1:off x="8676456" y="476671"/>
            <ns1:ext cx="454960" cy="158965"/>
          </ns1:xfrm>
          <ns1:prstGeom prst="rect">
            <ns1:avLst/>
          </ns1:prstGeom>
          <ns1:noFill/>
          <ns1:ln w="9525">
            <ns1:noFill/>
            <ns1:miter lim="800000"/>
            <ns1:headEnd/>
            <ns1:tailEnd/>
          </ns1:ln>
        </ns0:spPr>
      </ns0:pic>
      <ns0:sp>
        <ns0:nvSpPr>
          <ns0:cNvPr id="35" name="막힌 원호 34">
            <ns1:extLst>
              <ns1:ext uri="{FF2B5EF4-FFF2-40B4-BE49-F238E27FC236}">
                <ns2:creationId id="{0750F912-80C4-F309-2B4E-0E2406122D39}"/>
              </ns1:ext>
            </ns1:extLst>
          </ns0:cNvPr>
          <ns0:cNvSpPr/>
          <ns0:nvPr/>
        </ns0:nvSpPr>
        <ns0:spPr>
          <ns1:xfrm flipV="1">
            <ns1:off x="-577697" y="-576001"/>
            <ns1:ext cx="1181047" cy="1167213"/>
          </ns1:xfrm>
          <ns1:prstGeom prst="blockArc">
            <ns1:avLst>
              <ns1:gd name="adj1" fmla="val 16158679"/>
              <ns1:gd name="adj2" fmla="val 0"/>
              <ns1:gd name="adj3" fmla="val 25000"/>
            </ns1:avLst>
          </ns1:prstGeom>
          <ns1:solidFill>
            <ns1:schemeClr val="bg1"/>
          </ns1:solidFill>
          <ns1:ln>
            <ns1:solidFill>
              <ns1:schemeClr val="bg1"/>
            </ns1:solidFill>
          </ns1:ln>
        </ns0:spPr>
        <ns0:style>
          <ns1:lnRef idx="2">
            <ns1:schemeClr val="accent1">
              <ns1:shade val="50000"/>
            </ns1:schemeClr>
          </ns1:lnRef>
          <ns1:fillRef idx="1">
            <ns1:schemeClr val="accent1"/>
          </ns1:fillRef>
          <ns1:effectRef idx="0">
            <ns1:schemeClr val="accent1"/>
          </ns1:effectRef>
          <ns1:fontRef idx="minor">
            <ns1:schemeClr val="lt1"/>
          </ns1:fontRef>
        </ns0:style>
        <ns0:txBody>
          <ns1:bodyPr rtlCol="0" anchor="ctr"/>
          <ns1:lstStyle/>
          <ns1:p>
            <ns1:pPr algn="ctr"/>
            <ns1:endParaRPr lang="ko-KR" altLang="en-US">
              <ns1:solidFill>
                <ns1:schemeClr val="tx1"/>
              </ns1:solidFill>
            </ns1:endParaRPr>
          </ns1:p>
        </ns0:txBody>
      </ns0:sp>
      <ns0:pic>
        <ns0:nvPicPr>
          <ns0:cNvPr id="3" name="그림 2">
            <ns1:extLst>
              <ns1:ext uri="{FF2B5EF4-FFF2-40B4-BE49-F238E27FC236}">
                <ns2:creationId id="{D620AAE3-FE5B-BAEC-955F-0A9A8F835F85}"/>
              </ns1:ext>
            </ns1:extLst>
          </ns0:cNvPr>
          <ns0:cNvPicPr>
            <ns1:picLocks noChangeAspect="1"/>
          </ns0:cNvPicPr>
          <ns0:nvPr/>
        </ns0:nvPicPr>
        <ns0:blipFill>
          <ns1:blip ns3:embed="rId3" cstate="print">
            <ns1:extLst>
              <ns1:ext uri="{28A0092B-C50C-407E-A947-70E740481C1C}">
                <ns4:useLocalDpi val="0"/>
              </ns1:ext>
            </ns1:extLst>
          </ns1:blip>
          <ns1:srcRect l="21956" t="40516" r="21023" b="44641"/>
          <ns1:stretch/>
        </ns0:blipFill>
        <ns0:spPr>
          <ns1:xfrm>
            <ns1:off x="7528235" y="98344"/>
            <ns1:ext cx="1498208" cy="347199"/>
          </ns1:xfrm>
          <ns1:prstGeom prst="rect">
            <ns1:avLst/>
          </ns1:prstGeom>
        </ns0:spPr>
      </ns0:pic>
      <ns0:graphicFrame>
        <ns0:nvGraphicFramePr>
          <ns0:cNvPr id="1027" name="Table 1026"/>
          <ns0:cNvGraphicFramePr>
            <ns1:graphicFrameLocks noGrp="1"/>
          </ns0:cNvGraphicFramePr>
          <ns0:nvPr/>
        </ns0:nvGraphicFramePr>
        <ns0:xfrm>
          <ns1:off x="301752" y="1335024"/>
          <ns1:ext cx="4160519" cy="5230360"/>
        </ns0:xfrm>
        <ns1:graphic>
          <ns1:graphicData uri="http://schemas.openxmlformats.org/drawingml/2006/table">
            <ns1:tbl>
              <ns1:tblPr>
                <ns1:tableStyleId>{5C22544A-7EE6-4342-B048-85BDC9FD1C3A}</ns1:tableStyleId>
              </ns1:tblPr>
              <ns1:tblGrid>
                <ns1:gridCol w="655597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868526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1606306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410915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619175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ID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상세설명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중요도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비고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REQ-WEB-039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연결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연결 확인 모달에서 한 번에 하나의 배터리만 연결됨을 확인하고 측정 세션을 시작한다.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REQ-WEB-039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상세 정보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상세/이력 화면에서 기본 정보, 현재 상태, 최근 측정, 과거 세션을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과거 측정 세션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배터리 상세/이력 화면에서 세션 ID, 시간, 상태, 이상점수 이력을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이력조회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이벤트 요약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탐지 관리 화면에서 활성 이상 이벤트, 오늘 발생 이상, 최고 이상점수, 모델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이상탐지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근거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XAI 영역에서 V_drop, dT/dt, gas_raw, pressure_raw 등 이상점수 기여 요인을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이상탐지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건강도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SOH, RUL, 누적 사이클, 내부 저항, 만료 임박 정보를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탐지 상세 열기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이상 항목 또는 더보기 동작으로 이상 상세 모달을 연다.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상세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기간 전환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차트 화면에서 24시간, 7일, 30일 기간 탭을 전환한다.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차트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8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지표 전환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차트 화면에서 온도, 전압 등 표시 지표를 선택해 차트를 바꾼다.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차트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9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다중 배터리 비교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추세 차트 화면에서 비교 추가 버튼으로 여러 배터리 또는 세션을 겹쳐 본다.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차트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검색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화면에서 이벤트 검색어로 목록을 필터링한다.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검색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REQ-WEB-049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상태 필터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화면에서 전체, 정상, 주의, 경고, 위험 등 상태 칩으로 목록을 필터링한다.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필터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정렬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화면에서 최근 측정순, 이상점수 높은순, SOC 낮은순 등 정렬 기준을 선택한다.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정렬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페이지 이동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이력 목록에서 이전, 다음, 페이지 번호로 목록 페이지를 이동한다.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목록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REQ-WEB-052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상세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행을 클릭해 상세 정보와 관련 센서값을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상세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REQ-WEB-053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CSV 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또는 이력 조회 결과를 CSV로 내보내기 위한 확인 모달을 연다.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REQ-WEB-054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PDF 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이벤트 또는 이력 조회 결과를 PDF로 내보내기 위한 확인 모달을 연다.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내보내기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이력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센터에서 인앱·카카오 알림 이력, 발생 시간, 확인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8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항목의 확인(Ack) 버튼으로 대응 확인 상태를 기록한다.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9"/>
                  </ns1:ext>
                </ns1:extLst>
              </ns1:tr>
            </ns1:tbl>
          </ns1:graphicData>
        </ns1:graphic>
      </ns0:graphicFrame>
      <ns0:graphicFrame>
        <ns0:nvGraphicFramePr>
          <ns0:cNvPr id="1028" name="Table 1027"/>
          <ns0:cNvGraphicFramePr>
            <ns1:graphicFrameLocks noGrp="1"/>
          </ns0:cNvGraphicFramePr>
          <ns0:nvPr/>
        </ns0:nvGraphicFramePr>
        <ns0:xfrm>
          <ns1:off x="4681728" y="1335024"/>
          <ns1:ext cx="4160519" cy="5230360"/>
        </ns0:xfrm>
        <ns1:graphic>
          <ns1:graphicData uri="http://schemas.openxmlformats.org/drawingml/2006/table">
            <ns1:tbl>
              <ns1:tblPr>
                <ns1:tableStyleId>{5C22544A-7EE6-4342-B048-85BDC9FD1C3A}</ns1:tableStyleId>
              </ns1:tblPr>
              <ns1:tblGrid>
                <ns1:gridCol w="655597">
                  <ns1:extLst>
                    <ns1:ext uri="{9D8B030D-6E8A-4147-A177-3AD203B41FA5}">
                      <ns2:colId val="20000"/>
                    </ns1:ext>
                  </ns1:extLst>
                </ns1:gridCol>
                <ns1:gridCol w="868526">
                  <ns1:extLst>
                    <ns1:ext uri="{9D8B030D-6E8A-4147-A177-3AD203B41FA5}">
                      <ns2:colId val="20001"/>
                    </ns1:ext>
                  </ns1:extLst>
                </ns1:gridCol>
                <ns1:gridCol w="1606306">
                  <ns1:extLst>
                    <ns1:ext uri="{9D8B030D-6E8A-4147-A177-3AD203B41FA5}">
                      <ns2:colId val="20002"/>
                    </ns1:ext>
                  </ns1:extLst>
                </ns1:gridCol>
                <ns1:gridCol w="410915">
                  <ns1:extLst>
                    <ns1:ext uri="{9D8B030D-6E8A-4147-A177-3AD203B41FA5}">
                      <ns2:colId val="20003"/>
                    </ns1:ext>
                  </ns1:extLst>
                </ns1:gridCol>
                <ns1:gridCol w="619175">
                  <ns1:extLst>
                    <ns1:ext uri="{9D8B030D-6E8A-4147-A177-3AD203B41FA5}">
                      <ns2:colId val="20004"/>
                    </ns1:ext>
                  </ns1:extLst>
                </ns1:gridCol>
              </ns1:tblGrid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ID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요구사항 상세설명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중요도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660" b="1">
                          <ns1:solidFill>
                            <ns1:srgbClr val="FFFFFF"/>
                          </ns1:solidFill>
                          <ns1:latin typeface="맑은 고딕"/>
                        </ns1:rPr>
                        <ns1:t>비고</ns1:t>
                      </ns1:r>
                    </ns1:p>
                  </ns1:txBody>
                  <ns1:tcPr marL="27432" marR="27432" marT="4572" marB="4572" anchor="ctr">
                    <ns1:solidFill>
                      <ns1:srgbClr val="3B5AA8"/>
                    </ns1:solidFill>
                  </ns1:tcPr>
                </ns1:tc>
                <ns1:extLst>
                  <ns1:ext uri="{0D108BD9-81ED-4DB2-BD59-A6C34878D82A}">
                    <ns2:rowId val="1000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REQ-WEB-058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모든 알림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센터에서 모두 확인 버튼으로 미확인 알림을 일괄 처리한다.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REQ-WEB-058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REQ-WEB-059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 카테고리 필터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공지사항 화면에서 전체, 업데이트, 점검 등 카테고리 칩으로 공지를 필터링한다.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REQ-WEB-059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REQ-WEB-060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 상세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공지사항 목록 항목을 클릭해 공지 상세를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공지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REQ-WEB-060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상태 확인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제어 화면에서 현재 회로 상태, 차단됨, 정상 연결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제어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차단 승인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Kill-Switch 차단 버튼으로 위험 제어 승인 모달을 열고 재인증·사유 입력 후 실행한다.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제어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복구 승인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릴레이 복구 버튼으로 승인 모달을 열고 회로 복구를 실행한다.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제어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0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자동 차단 알림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Fail-Safe 자동 차단 모달에서 차단 사유와 대상 배터리 점검 안내를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수신 설정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화면의 알림 수신 탭에서 카카오, 이메일, SMS, 웹푸시 수신 여부를 토글한다.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REQ-WEB-065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09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 조건 설정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위험·경고 즉시 발송, 위험 등급만 발송, 중복 발송 억제 조건을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알림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REQ-WEB-066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0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 정보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화면의 계정 탭에서 이름, 이메일, 전화번호를 확인하고 변경 저장 버튼을 제공한다.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REQ-WEB-067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1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비밀번호 변경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 탭에서 비밀번호 재설정 모달을 열고 새 비밀번호를 저장한다.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REQ-WEB-068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2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프로필 사진 변경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계정 탭에서 사진 변경 버튼을 제공한다.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정의 필요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REQ-WEB-069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3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테마 전환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 화면의 테마 탭에서 라이트, 다크, 시스템 테마를 선택한다.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설정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REQ-WEB-070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4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센서 캘리브레이션 이력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테마·캘리브레이션 영역에서 센서별 보정일, 담당자, 유효 상태를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REQ-WEB-071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5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대시보드 진입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로그인 후 전체 운영 현황 허브 화면으로 진입한다.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REQ-WEB-101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6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메뉴 이동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대시보드, 유저 관리, 배터리 관리, 공지사항 관리, 감사 로그 메뉴로 이동한다.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이동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REQ-WEB-102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7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모드 종료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관리자 화면에서 일반 사용자 화면으로 나가거나 로그아웃한다.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인증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REQ-WEB-103</ns1:t>
                      </ns1:r>
                    </ns1:p>
                  </ns1:txBody>
                  <ns1:tcPr marL="27432" marR="27432" marT="4572" marB="4572" anchor="ctr">
                    <ns1:solidFill>
                      <ns1:srgbClr val="EEF3FB"/>
                    </ns1:solidFill>
                  </ns1:tcPr>
                </ns1:tc>
                <ns1:extLst>
                  <ns1:ext uri="{0D108BD9-81ED-4DB2-BD59-A6C34878D82A}">
                    <ns2:rowId val="10018"/>
                  </ns1:ext>
                </ns1:extLst>
              </ns1:tr>
              <ns1:tr h="261518"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전체 운영 요약 확인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l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전체 유저, 전체 배터리, 활성 세션, 위험/경고 배터리, 오프라인 디바이스 요약 카드를 확인한다.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조회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tc>
                  <ns1:txBody>
                    <ns1:bodyPr/>
                    <ns1:lstStyle/>
                    <ns1:p>
                      <ns1:pPr algn="ctr"/>
                      <ns1:r>
                        <ns1:rPr sz="540" b="0">
                          <ns1:solidFill>
                            <ns1:srgbClr val="222222"/>
                          </ns1:solidFill>
                          <ns1:latin typeface="맑은 고딕"/>
                        </ns1:rPr>
                        <ns1:t>REQ-WEB-104</ns1:t>
                      </ns1:r>
                    </ns1:p>
                  </ns1:txBody>
                  <ns1:tcPr marL="27432" marR="27432" marT="4572" marB="4572" anchor="ctr">
                    <ns1:solidFill>
                      <ns1:srgbClr val="FFFFFF"/>
                    </ns1:solidFill>
                  </ns1:tcPr>
                </ns1:tc>
                <ns1:extLst>
                  <ns1:ext uri="{0D108BD9-81ED-4DB2-BD59-A6C34878D82A}">
                    <ns2:rowId val="10019"/>
                  </ns1:ext>
                </ns1:extLst>
              </ns1:tr>
            </ns1:tbl>
          </ns1:graphicData>
        </ns1:graphic>
      </ns0:graphicFrame>
    </ns0:spTree>
    <ns0:extLst>
      <ns0:ext uri="{BB962C8B-B14F-4D97-AF65-F5344CB8AC3E}">
        <ns5:creationId val="3666337407"/>
      </ns0:ext>
    </ns0:extLst>
  </ns0:cSld>
  <ns0:clrMapOvr>
    <ns1:masterClrMapping/>
  </ns0:clrMapOvr>
</ns0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FF4F9-6AAF-7554-4111-A34591EB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69828EAB-31D5-FB64-CD03-E7DBCA93901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60AF804-CD79-77BC-0E9A-9E93527BCDC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4A0CC11-11C4-813C-CAD2-1123EDEDD38C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64DCD44B-05DB-520B-020D-D08622DE66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B8B087-B5BA-4D5C-30DE-D787EADCD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C9B4314C-A4DB-0CEA-B094-87F5A3FDB537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356BD7-3CD4-DB3D-8A72-CCDAFE923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상세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권한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행을 클릭해 기본 정보, 등록 배터리, 활동 로그를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비밀번호 재설정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정지/해제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변경 감사 기록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메모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관리자 메모를 입력하고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BLOCKED 사유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배터리를 BLOCKED로 변경할 때 사유 입력을 요구한다.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 감사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관리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수정 버튼으로 기존 공지를 편집한다.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게시 알림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임시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임시 저장을 수행한다.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보관/삭제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보관 또는 삭제 동작에서 확인 모달을 표시한다.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삭제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기간, 행위, 대상 기준 필터를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행을 클릭해 변경 전후 값과 사유를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수정/삭제 차단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5614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</a:rPr>
              <a:t>테이블 정의서 </a:t>
            </a:r>
            <a:r>
              <a:rPr lang="en-US" altLang="ko-KR" sz="1700" b="1">
                <a:solidFill>
                  <a:schemeClr val="bg1"/>
                </a:solidFill>
                <a:latin typeface="+mn-ea"/>
              </a:rPr>
              <a:t>-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13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323528" y="1601682"/>
            <a:ext cx="4190388" cy="3915550"/>
          </a:xfrm>
          <a:prstGeom prst="rect">
            <a:avLst/>
          </a:prstGeom>
          <a:noFill/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138" y="1743204"/>
            <a:ext cx="3816424" cy="1680866"/>
          </a:xfrm>
          <a:prstGeom prst="rect">
            <a:avLst/>
          </a:prstGeom>
        </p:spPr>
      </p:pic>
      <p:sp>
        <p:nvSpPr>
          <p:cNvPr id="22" name="사각형: 둥근 모서리 26">
            <a:extLst>
              <a:ext uri="{FF2B5EF4-FFF2-40B4-BE49-F238E27FC236}">
                <a16:creationId xmlns:a16="http://schemas.microsoft.com/office/drawing/2014/main" id="{29616CE0-7335-0521-C56D-711BD9659900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E1CCA4-B5BD-BA57-028C-1D5146B7896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6027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핵심 소스코드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(1)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F8B2554-4982-E7CB-6CA8-D35BFBB015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1" name="Realtime code panel left"/>
          <p:cNvSpPr/>
          <p:nvPr/>
        </p:nvSpPr>
        <p:spPr>
          <a:xfrm>
            <a:off x="322406" y="227986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lIns="90000" tIns="70000" rIns="90000" bIns="70000" anchor="t"/>
          <a:lstStyle/>
          <a:p>
            <a:endParaRPr/>
          </a:p>
        </p:txBody>
      </p:sp>
      <p:sp>
        <p:nvSpPr>
          <p:cNvPr id="102" name="Realtime code panel right"/>
          <p:cNvSpPr/>
          <p:nvPr/>
        </p:nvSpPr>
        <p:spPr>
          <a:xfrm>
            <a:off x="4641456" y="227986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lIns="90000" tIns="70000" rIns="90000" bIns="70000" anchor="t"/>
          <a:lstStyle/>
          <a:p>
            <a:endParaRPr/>
          </a:p>
        </p:txBody>
      </p:sp>
      <p:sp>
        <p:nvSpPr>
          <p:cNvPr id="103" name="Realtime code heading left"/>
          <p:cNvSpPr/>
          <p:nvPr/>
        </p:nvSpPr>
        <p:spPr>
          <a:xfrm>
            <a:off x="322406" y="227986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lIns="120000" tIns="45000" rIns="90000" bIns="45000" anchor="ctr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WebSocket 수신 및 상태관리</a:t>
            </a:r>
          </a:p>
        </p:txBody>
      </p:sp>
      <p:sp>
        <p:nvSpPr>
          <p:cNvPr id="104" name="Realtime code heading right"/>
          <p:cNvSpPr/>
          <p:nvPr/>
        </p:nvSpPr>
        <p:spPr>
          <a:xfrm>
            <a:off x="4641456" y="227986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lIns="120000" tIns="45000" rIns="90000" bIns="45000" anchor="ctr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이상점수 등급화 및 화면 렌더링</a:t>
            </a:r>
          </a:p>
        </p:txBody>
      </p:sp>
      <p:sp>
        <p:nvSpPr>
          <p:cNvPr id="105" name="Realtime websocket code"/>
          <p:cNvSpPr/>
          <p:nvPr/>
        </p:nvSpPr>
        <p:spPr>
          <a:xfrm>
            <a:off x="396456" y="2709860"/>
            <a:ext cx="3885000" cy="33000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txBody>
          <a:bodyPr wrap="square" lIns="85000" tIns="65000" rIns="70000" bIns="65000" anchor="t"/>
          <a:lstStyle/>
          <a:p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useEffect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let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,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connect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url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`${WS_BASE}/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/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telemetry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`;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WebSocket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`${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url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}?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batteryId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=${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batteryId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}`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);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ws.onopen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() =&gt;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setConnected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ws.onclose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setConnected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setTimeout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connect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, 2000);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};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ws.onmessage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({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data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})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msg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=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JSON.parse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data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setMetrics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msg.metrics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setScore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msg.anomaly_score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};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};</a:t>
            </a:r>
          </a:p>
          <a:p>
            <a:endParaRPr lang="ko-KR" sz="720" dirty="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connect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() =&gt; {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clearTimeout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retry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ws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?.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close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();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};</a:t>
            </a:r>
          </a:p>
          <a:p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}, [</a:t>
            </a:r>
            <a:r>
              <a:rPr lang="ko-KR" sz="720" dirty="0" err="1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batteryId</a:t>
            </a:r>
            <a:r>
              <a:rPr lang="ko-KR" sz="720" dirty="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]);</a:t>
            </a:r>
          </a:p>
        </p:txBody>
      </p:sp>
      <p:sp>
        <p:nvSpPr>
          <p:cNvPr id="106" name="Realtime grade ui code"/>
          <p:cNvSpPr/>
          <p:nvPr/>
        </p:nvSpPr>
        <p:spPr>
          <a:xfrm>
            <a:off x="4716456" y="2709860"/>
            <a:ext cx="3885000" cy="31500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txBody>
          <a:bodyPr wrap="square" lIns="85000" tIns="65000" rIns="70000" bIns="65000" anchor="t"/>
          <a:lstStyle/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GRADES = [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0.3, label: "정상"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0.6, label: "주의"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0.8, label: "경고"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{ max: 1.0, label: "위험" },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];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grade = gradeOf(score);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dash = `${(score * ARC).toFixed(1)} ${ARC}`;</a:t>
            </a:r>
          </a:p>
          <a:p>
            <a:endParaRPr lang="ko-KR" sz="68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&lt;section className="gauge-card"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style={{ background: grade.bg }}&gt;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&lt;path stroke={grade.color}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strokeDasharray={dash} /&gt;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&lt;strong&gt;{Math.round(score * 100)}&lt;/strong&gt;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&lt;span&gt;{grade.label}&lt;/span&gt;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&lt;/section&gt;</a:t>
            </a:r>
          </a:p>
          <a:p>
            <a:endParaRPr lang="ko-KR" sz="680">
              <a:solidFill>
                <a:srgbClr val="1F2937"/>
              </a:solidFill>
              <a:latin typeface="Consolas"/>
              <a:ea typeface="Consolas"/>
              <a:cs typeface="Consolas"/>
            </a:endParaRP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{METRICS.map((m) =&gt; (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&lt;div key={m.key} className="metric-card"&gt;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  {metrics ? metrics[m.key] : "--"}{m.unit}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  &lt;/div&gt;</a:t>
            </a:r>
          </a:p>
          <a:p>
            <a:r>
              <a:rPr lang="ko-KR" sz="68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))}</a:t>
            </a:r>
          </a:p>
        </p:txBody>
      </p:sp>
      <p:sp>
        <p:nvSpPr>
          <p:cNvPr id="107" name="Realtime dashboard explanation"/>
          <p:cNvSpPr/>
          <p:nvPr/>
        </p:nvSpPr>
        <p:spPr>
          <a:xfrm>
            <a:off x="322406" y="1304510"/>
            <a:ext cx="8252100" cy="792072"/>
          </a:xfrm>
          <a:prstGeom prst="roundRect">
            <a:avLst/>
          </a:prstGeom>
          <a:solidFill>
            <a:srgbClr val="EEF3FF"/>
          </a:solidFill>
          <a:ln w="12700">
            <a:solidFill>
              <a:srgbClr val="3F5FA9"/>
            </a:solidFill>
          </a:ln>
        </p:spPr>
        <p:txBody>
          <a:bodyPr wrap="square" lIns="150000" tIns="90000" rIns="150000" bIns="70000" anchor="t"/>
          <a:lstStyle/>
          <a:p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실시간 관제 화면은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WebSocket으로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배터리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telemetry를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구독하고, 연결 종료 시 2초 후 자동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재연결한다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. 수신한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anomaly_score는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정상·주의·경고·위험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 4단계로 변환되어 반원 게이지 색상과 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V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I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</a:t>
            </a:r>
            <a:r>
              <a:rPr lang="ko-KR" sz="1320" dirty="0" err="1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T</a:t>
            </a:r>
            <a:r>
              <a:rPr lang="ko-KR" sz="1320" dirty="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/SOC 카드에 즉시 반영된다.</a:t>
            </a:r>
          </a:p>
        </p:txBody>
      </p:sp>
    </p:spTree>
    <p:extLst>
      <p:ext uri="{BB962C8B-B14F-4D97-AF65-F5344CB8AC3E}">
        <p14:creationId xmlns:p14="http://schemas.microsoft.com/office/powerpoint/2010/main" val="6424590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핵심 소스코드</a:t>
            </a:r>
            <a:r>
              <a:rPr lang="en-US" altLang="ko-KR" sz="1700" spc="-50" dirty="0">
                <a:solidFill>
                  <a:schemeClr val="bg1"/>
                </a:solidFill>
                <a:latin typeface="+mn-ea"/>
                <a:cs typeface="+mj-cs"/>
              </a:rPr>
              <a:t>(2)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308100"/>
            <a:ext cx="8128000" cy="219290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50" y="3740943"/>
            <a:ext cx="7378700" cy="275881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4D0B3F6-A9AD-AC8F-C6DB-34F00765E5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사각형: 둥근 모서리 26">
            <a:extLst>
              <a:ext uri="{FF2B5EF4-FFF2-40B4-BE49-F238E27FC236}">
                <a16:creationId xmlns:a16="http://schemas.microsoft.com/office/drawing/2014/main" id="{79D1AD3B-D4D6-6B33-201B-D4AE11EA382F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</p:spTree>
    <p:extLst>
      <p:ext uri="{BB962C8B-B14F-4D97-AF65-F5344CB8AC3E}">
        <p14:creationId xmlns:p14="http://schemas.microsoft.com/office/powerpoint/2010/main" val="24200943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1371600"/>
          <a:ext cx="8412480" cy="475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기술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내역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에지(Edge)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센서 수집 SW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Python 3 · Raspberry Pi 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I2C/1-Wire 센서 드라이버 수집, Kafka 프로듀서로 Raw 데이터 발행(100ms)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측정 센서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INA226·BQ27441·DS18B20·MLX90614·ADS1115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전압·전류·SOC·접촉/IR 온도·가스·압력·음향 측정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물리 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모듈(GPIO)·Kill-Switch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 인터락 및 위험 시 물리 차단(에지 측 동작)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클라우드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클라우드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AWS EC2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Kafka·PostgreSQL·백엔드 호스팅, TLS/SASL 보안 접속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스트리밍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Apache Kafka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raw-metrics·anomaly-alerts·events 토픽 파이프라인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데이터베이스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PostgreSQL + TimescaleDB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시계열 하이퍼테이블 적재 및 장기간 고속 조회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row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백엔드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API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Spring Boot 또는 Python Flask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REST/WebSocket API, 인증, 디바이스·릴레이 제어, 세션 태깅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 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 구독 → TimescaleDB 적재, 장애 후 재처리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AI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 모델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PyTorch / TensorFlow · Google Colab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LSTM-AutoEncoder(30 time-steps) 학습·실시간 추론, 이상점수 산출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웹 대시보드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React (반응형 웹)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데스크톱/태블릿/모바일 실시간 관제, 차트·이벤트·설정·제어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Kakao Talk API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발생 시 외부 알림 발송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계측·전원 장비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전자부하 U6214·TP4056·ZY12PDN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모드별 충·방전 시나리오 구성 및 측정 검증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1671</TotalTime>
  <Words>8256</Words>
  <Application>Microsoft Macintosh PowerPoint</Application>
  <PresentationFormat>화면 슬라이드 쇼(4:3)</PresentationFormat>
  <Paragraphs>1973</Paragraphs>
  <Slides>60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6" baseType="lpstr">
      <vt:lpstr>맑은 고딕</vt:lpstr>
      <vt:lpstr>Noto Sans KR</vt:lpstr>
      <vt:lpstr>Space Grotesk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297</cp:revision>
  <cp:lastPrinted>2026-07-06T09:50:23Z</cp:lastPrinted>
  <dcterms:created xsi:type="dcterms:W3CDTF">2014-04-16T00:55:54Z</dcterms:created>
  <dcterms:modified xsi:type="dcterms:W3CDTF">2026-07-06T12:14:01Z</dcterms:modified>
</cp:coreProperties>
</file>