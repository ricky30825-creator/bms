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78" r:id="rId2"/>
    <p:sldId id="334" r:id="rId3"/>
    <p:sldId id="379" r:id="rId4"/>
    <p:sldId id="380" r:id="rId5"/>
    <p:sldId id="315" r:id="rId6"/>
    <p:sldId id="322" r:id="rId7"/>
    <p:sldId id="365" r:id="rId8"/>
    <p:sldId id="326" r:id="rId9"/>
    <p:sldId id="381" r:id="rId30"/>
    <p:sldId id="382" r:id="rId31"/>
    <p:sldId id="383" r:id="rId32"/>
    <p:sldId id="384" r:id="rId33"/>
    <p:sldId id="385" r:id="rId34"/>
    <p:sldId id="386" r:id="rId35"/>
    <p:sldId id="371" r:id="rId10"/>
    <p:sldId id="325" r:id="rId11"/>
    <p:sldId id="309" r:id="rId12"/>
    <p:sldId id="367" r:id="rId13"/>
    <p:sldId id="368" r:id="rId14"/>
    <p:sldId id="328" r:id="rId15"/>
    <p:sldId id="329" r:id="rId16"/>
    <p:sldId id="339" r:id="rId17"/>
    <p:sldId id="287" r:id="rId18"/>
    <p:sldId id="361" r:id="rId19"/>
    <p:sldId id="362" r:id="rId20"/>
    <p:sldId id="360" r:id="rId21"/>
    <p:sldId id="364" r:id="rId22"/>
    <p:sldId id="294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D6EE76-2EED-433F-9637-FA0455F98D15}">
          <p14:sldIdLst>
            <p14:sldId id="378"/>
            <p14:sldId id="334"/>
            <p14:sldId id="379"/>
            <p14:sldId id="380"/>
            <p14:sldId id="315"/>
          </p14:sldIdLst>
        </p14:section>
        <p14:section name="#시장/기술 동향 분석" id="{357797F0-A98A-4318-A2D8-8E1945E987DF}">
          <p14:sldIdLst/>
        </p14:section>
        <p14:section name="#설문조사분석" id="{C10038CF-01F2-4ACA-88F0-E784E01BC942}">
          <p14:sldIdLst>
            <p14:sldId id="322"/>
            <p14:sldId id="365"/>
            <p14:sldId id="326"/>
            <p14:sldId id="371"/>
            <p14:sldId id="325"/>
            <p14:sldId id="309"/>
            <p14:sldId id="367"/>
            <p14:sldId id="368"/>
            <p14:sldId id="328"/>
            <p14:sldId id="329"/>
          </p14:sldIdLst>
        </p14:section>
        <p14:section name="설계단계" id="{079FB007-4044-4E60-AD09-4E9512A5438F}">
          <p14:sldIdLst>
            <p14:sldId id="339"/>
            <p14:sldId id="287"/>
            <p14:sldId id="361"/>
            <p14:sldId id="362"/>
            <p14:sldId id="360"/>
            <p14:sldId id="364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452"/>
    <a:srgbClr val="3B5AA8"/>
    <a:srgbClr val="003399"/>
    <a:srgbClr val="77787B"/>
    <a:srgbClr val="9999FF"/>
    <a:srgbClr val="E2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86" autoAdjust="0"/>
    <p:restoredTop sz="94773" autoAdjust="0"/>
  </p:normalViewPr>
  <p:slideViewPr>
    <p:cSldViewPr>
      <p:cViewPr varScale="1">
        <p:scale>
          <a:sx n="79" d="100"/>
          <a:sy n="79" d="100"/>
        </p:scale>
        <p:origin x="208" y="16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8/10/relationships/authors" Target="author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5D5A-343A-4C1A-BC9D-610EC8B80F49}" type="datetimeFigureOut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D85EE-51FF-49B2-AE4A-EF643293EA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8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2166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8C18-F846-4F83-9E4A-EF96E909B73F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BE8A-08A0-4AE2-B806-C9B9A473B0ED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617245"/>
            <a:ext cx="2133600" cy="196131"/>
          </a:xfrm>
        </p:spPr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0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3E15-7006-4370-B5F6-60D7104AE3B4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0D11-2C95-44F2-9DFC-D0C737CB5390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58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845-0C4F-469E-8726-3EBFD71077A7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99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C019-3CDA-4483-987D-B12D1EB4D233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6E48-2907-481B-8F8C-35E94B4338B9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E666-04C9-40C3-88DF-F7C22C7A6172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46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7B48-006F-4BC1-BDC8-3C8CA726AC13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0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DE9A-8BD0-4588-90EC-B8326F0668FE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3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B5EE-9957-45ED-8881-249F27AAE9BD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9821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EC2E-D34C-4476-B4C7-64731BF56572}" type="datetime1">
              <a:rPr lang="ko-KR" altLang="en-US" smtClean="0"/>
              <a:pPr/>
              <a:t>2026. 7. 3.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0" y="4509120"/>
            <a:ext cx="9144000" cy="234888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1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21600000">
            <a:off x="0" y="764704"/>
            <a:ext cx="4716016" cy="352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115616" y="1916832"/>
            <a:ext cx="708238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SW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개발</a:t>
            </a:r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/HW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제작 설계서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3688" y="3933056"/>
            <a:ext cx="6389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>
                <a:solidFill>
                  <a:srgbClr val="77787B"/>
                </a:solidFill>
              </a:rPr>
              <a:t>프로젝트 명 </a:t>
            </a:r>
            <a:r>
              <a:rPr lang="en-US" altLang="ko-KR" sz="2400" b="1" spc="-150" dirty="0">
                <a:solidFill>
                  <a:srgbClr val="77787B"/>
                </a:solidFill>
              </a:rPr>
              <a:t>:</a:t>
            </a:r>
            <a:endParaRPr lang="ko-KR" altLang="en-US" sz="2400" b="1" spc="-150" dirty="0">
              <a:solidFill>
                <a:srgbClr val="77787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8680" y="4754468"/>
            <a:ext cx="7526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2026. 00. 00</a:t>
            </a:r>
          </a:p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팀명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</a:rPr>
              <a:t>*</a:t>
            </a:r>
            <a:r>
              <a:rPr lang="ko-KR" altLang="en-US" sz="1600" i="1" dirty="0">
                <a:solidFill>
                  <a:srgbClr val="FF0000"/>
                </a:solidFill>
                <a:latin typeface="+mn-ea"/>
              </a:rPr>
              <a:t>팀원 이름 및 소속 본문 내 기입 불가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3D47B2-ECB2-FCC5-FD1D-67B018129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AB8A6E-B0B3-4EED-9F27-4335E0C5788D}"/>
              </a:ext>
            </a:extLst>
          </p:cNvPr>
          <p:cNvSpPr/>
          <p:nvPr/>
        </p:nvSpPr>
        <p:spPr>
          <a:xfrm>
            <a:off x="178657" y="782475"/>
            <a:ext cx="8656862" cy="332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76EDB-2707-46D2-9B75-E921DE778240}"/>
              </a:ext>
            </a:extLst>
          </p:cNvPr>
          <p:cNvSpPr txBox="1"/>
          <p:nvPr/>
        </p:nvSpPr>
        <p:spPr>
          <a:xfrm>
            <a:off x="280951" y="414739"/>
            <a:ext cx="2778881" cy="34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62" b="1"/>
              <a:t>프로젝트 소개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8440376" y="6311016"/>
            <a:ext cx="617754" cy="39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69"/>
              <a:t>&lt; 1 / 1 &gt;</a:t>
            </a:r>
            <a:endParaRPr lang="ko-KR" altLang="en-US" sz="1662"/>
          </a:p>
        </p:txBody>
      </p:sp>
      <p:pic>
        <p:nvPicPr>
          <p:cNvPr id="7" name="Picture 0">
            <a:extLst>
              <a:ext uri="{FF2B5EF4-FFF2-40B4-BE49-F238E27FC236}">
                <a16:creationId xmlns:a16="http://schemas.microsoft.com/office/drawing/2014/main" id="{605C9BB6-4E72-458C-9824-E2ABB039B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2276872"/>
            <a:ext cx="4994328" cy="352120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961679FF-2530-4C13-A9F0-6540734A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"/>
          <a:stretch>
            <a:fillRect/>
          </a:stretch>
        </p:blipFill>
        <p:spPr>
          <a:xfrm>
            <a:off x="134092" y="2691748"/>
            <a:ext cx="3354448" cy="269145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2" descr="파워포인트에 사용할 넓은 화살표 : 네이버 블로그">
            <a:extLst>
              <a:ext uri="{FF2B5EF4-FFF2-40B4-BE49-F238E27FC236}">
                <a16:creationId xmlns:a16="http://schemas.microsoft.com/office/drawing/2014/main" id="{C761DCE7-BBAE-4AAA-A355-3EAB02C66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45541" y="4002502"/>
            <a:ext cx="982415" cy="42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32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A8E3B76-0A7E-4F17-9181-CD8E40064BF0}"/>
              </a:ext>
            </a:extLst>
          </p:cNvPr>
          <p:cNvGraphicFramePr>
            <a:graphicFrameLocks noGrp="1"/>
          </p:cNvGraphicFramePr>
          <p:nvPr/>
        </p:nvGraphicFramePr>
        <p:xfrm>
          <a:off x="439662" y="3895664"/>
          <a:ext cx="8409197" cy="175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201">
                  <a:extLst>
                    <a:ext uri="{9D8B030D-6E8A-4147-A177-3AD203B41FA5}">
                      <a16:colId xmlns:a16="http://schemas.microsoft.com/office/drawing/2014/main" val="1624285504"/>
                    </a:ext>
                  </a:extLst>
                </a:gridCol>
                <a:gridCol w="3359055">
                  <a:extLst>
                    <a:ext uri="{9D8B030D-6E8A-4147-A177-3AD203B41FA5}">
                      <a16:colId xmlns:a16="http://schemas.microsoft.com/office/drawing/2014/main" val="688804388"/>
                    </a:ext>
                  </a:extLst>
                </a:gridCol>
                <a:gridCol w="913818">
                  <a:extLst>
                    <a:ext uri="{9D8B030D-6E8A-4147-A177-3AD203B41FA5}">
                      <a16:colId xmlns:a16="http://schemas.microsoft.com/office/drawing/2014/main" val="628126029"/>
                    </a:ext>
                  </a:extLst>
                </a:gridCol>
                <a:gridCol w="2166123">
                  <a:extLst>
                    <a:ext uri="{9D8B030D-6E8A-4147-A177-3AD203B41FA5}">
                      <a16:colId xmlns:a16="http://schemas.microsoft.com/office/drawing/2014/main" val="1975919213"/>
                    </a:ext>
                  </a:extLst>
                </a:gridCol>
              </a:tblGrid>
              <a:tr h="3514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세부 항목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61462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/>
                        <a:t>PCB </a:t>
                      </a:r>
                      <a:r>
                        <a:rPr lang="ko-KR" altLang="en-US" sz="900"/>
                        <a:t>회로 설계 및 개발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Ki-cad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</a:t>
                      </a: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art-works,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시뮬레이터 및 테스트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김경모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kern="120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이기종 배터리 진단 기능 응용 필요 ★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47873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데이터 수집 및 파이프라인 구축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라즈베리파이</a:t>
                      </a: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Apache Kafka, PostgreSQL DB,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웹서버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김근우</a:t>
                      </a:r>
                      <a:endParaRPr lang="en-US" altLang="ko-KR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정재환</a:t>
                      </a: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42376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열폭주 이상 징후 </a:t>
                      </a:r>
                      <a:r>
                        <a:rPr lang="en-US" altLang="ko-KR" sz="900"/>
                        <a:t>AI  </a:t>
                      </a:r>
                      <a:r>
                        <a:rPr lang="ko-KR" altLang="en-US" sz="900"/>
                        <a:t>모델 구현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Auto-Encoder or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딥러닝 알고리즘 튜닝을 통한 모델 구현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서민기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334118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웹 모니터링 및 통계 대시보드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React(javascript) + Springboot =&gt; vibe coding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“Streamlit”   </a:t>
                      </a:r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정재환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435039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AB8A6E-B0B3-4EED-9F27-4335E0C5788D}"/>
              </a:ext>
            </a:extLst>
          </p:cNvPr>
          <p:cNvSpPr/>
          <p:nvPr/>
        </p:nvSpPr>
        <p:spPr>
          <a:xfrm>
            <a:off x="188345" y="821478"/>
            <a:ext cx="8656862" cy="332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76EDB-2707-46D2-9B75-E921DE778240}"/>
              </a:ext>
            </a:extLst>
          </p:cNvPr>
          <p:cNvSpPr txBox="1"/>
          <p:nvPr/>
        </p:nvSpPr>
        <p:spPr>
          <a:xfrm>
            <a:off x="280951" y="414739"/>
            <a:ext cx="2562857" cy="34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62" b="1"/>
              <a:t>팀프로젝트 역할 정의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8440376" y="6311016"/>
            <a:ext cx="617754" cy="39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69"/>
              <a:t>&lt; 1 / 1 &gt;</a:t>
            </a:r>
            <a:endParaRPr lang="ko-KR" altLang="en-US" sz="1662"/>
          </a:p>
        </p:txBody>
      </p:sp>
      <p:pic>
        <p:nvPicPr>
          <p:cNvPr id="1026" name="Picture 2" descr="드림 팀 템플릿">
            <a:extLst>
              <a:ext uri="{FF2B5EF4-FFF2-40B4-BE49-F238E27FC236}">
                <a16:creationId xmlns:a16="http://schemas.microsoft.com/office/drawing/2014/main" id="{7F47451F-275C-4A1B-B3C1-B21E668171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1" t="17264" r="5623" b="38093"/>
          <a:stretch/>
        </p:blipFill>
        <p:spPr bwMode="auto">
          <a:xfrm>
            <a:off x="664072" y="1128046"/>
            <a:ext cx="7960374" cy="229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52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AB8A6E-B0B3-4EED-9F27-4335E0C5788D}"/>
              </a:ext>
            </a:extLst>
          </p:cNvPr>
          <p:cNvSpPr/>
          <p:nvPr/>
        </p:nvSpPr>
        <p:spPr>
          <a:xfrm>
            <a:off x="188345" y="821478"/>
            <a:ext cx="8656862" cy="332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76EDB-2707-46D2-9B75-E921DE778240}"/>
              </a:ext>
            </a:extLst>
          </p:cNvPr>
          <p:cNvSpPr txBox="1"/>
          <p:nvPr/>
        </p:nvSpPr>
        <p:spPr>
          <a:xfrm>
            <a:off x="280951" y="414739"/>
            <a:ext cx="2562857" cy="34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62" b="1"/>
              <a:t>일정 및 진척도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8440376" y="6311016"/>
            <a:ext cx="617754" cy="39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69"/>
              <a:t>&lt; 1 / 1 &gt;</a:t>
            </a:r>
            <a:endParaRPr lang="ko-KR" altLang="en-US" sz="1662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C13F00-695F-40A7-A18B-78B7860FC3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750" t="34960" r="3268" b="36664"/>
          <a:stretch/>
        </p:blipFill>
        <p:spPr>
          <a:xfrm>
            <a:off x="719572" y="1124744"/>
            <a:ext cx="7704856" cy="426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8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수행 단계별 주요 산출물</a:t>
            </a: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25809"/>
              </p:ext>
            </p:extLst>
          </p:nvPr>
        </p:nvGraphicFramePr>
        <p:xfrm>
          <a:off x="1187625" y="1510757"/>
          <a:ext cx="7416822" cy="4565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06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단계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산출물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일반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소프트웨어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하드웨어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4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∙모바일 </a:t>
                      </a:r>
                      <a:r>
                        <a:rPr lang="en-US" sz="700" b="1" kern="0" spc="0" dirty="0">
                          <a:effectLst/>
                        </a:rPr>
                        <a:t>APP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∙Web </a:t>
                      </a:r>
                      <a:r>
                        <a:rPr lang="ko-KR" altLang="en-US" sz="700" b="1" kern="0" spc="0" dirty="0">
                          <a:effectLst/>
                        </a:rPr>
                        <a:t>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빅데이터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∙인공지능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∙블록체인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en-US" sz="700" b="1" kern="0" spc="0" dirty="0" err="1">
                          <a:effectLst/>
                        </a:rPr>
                        <a:t>IoT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>
                          <a:effectLst/>
                        </a:rPr>
                        <a:t>로봇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드론</a:t>
                      </a:r>
                      <a:r>
                        <a:rPr lang="ko-KR" altLang="en-US" sz="700" b="1" kern="0" spc="0" dirty="0">
                          <a:effectLst/>
                        </a:rPr>
                        <a:t>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환경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시장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기술 환경 분석서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설문조사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인터뷰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59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요구사항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요구사항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유즈케이스</a:t>
                      </a:r>
                      <a:r>
                        <a:rPr lang="ko-KR" altLang="en-US" sz="800" kern="0" spc="0" dirty="0">
                          <a:effectLst/>
                        </a:rPr>
                        <a:t>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63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아키텍처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구성도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시스템 구성도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흐름도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데이터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UI/UX </a:t>
                      </a:r>
                      <a:r>
                        <a:rPr lang="ko-KR" altLang="en-US" sz="800" kern="0" spc="0" dirty="0">
                          <a:effectLst/>
                        </a:rPr>
                        <a:t>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센서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59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기능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메뉴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화면 설계서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엔티티</a:t>
                      </a:r>
                      <a:r>
                        <a:rPr lang="ko-KR" altLang="en-US" sz="800" kern="0" spc="0" dirty="0">
                          <a:effectLst/>
                        </a:rPr>
                        <a:t> 관계도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기능 처리도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기능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알고리즘 명세서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설명서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데이터 수집처리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 설계도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개발 </a:t>
                      </a:r>
                      <a:r>
                        <a:rPr lang="en-US" altLang="ko-KR" sz="900" b="1" kern="0" spc="0" dirty="0">
                          <a:effectLst/>
                        </a:rPr>
                        <a:t>/ </a:t>
                      </a:r>
                      <a:r>
                        <a:rPr lang="ko-KR" altLang="en-US" sz="900" b="1" kern="0" spc="0" dirty="0">
                          <a:effectLst/>
                        </a:rPr>
                        <a:t>구현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프로그램 목록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테이블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핵심 소스코드 다같이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624" y="6453336"/>
            <a:ext cx="34563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※ ○ </a:t>
            </a:r>
            <a:r>
              <a:rPr lang="ko-KR" altLang="en-US" sz="1500" dirty="0"/>
              <a:t>필수</a:t>
            </a:r>
            <a:r>
              <a:rPr lang="en-US" altLang="ko-KR" sz="1500" dirty="0"/>
              <a:t>, △ </a:t>
            </a:r>
            <a:r>
              <a:rPr lang="ko-KR" altLang="en-US" sz="1500" dirty="0"/>
              <a:t>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688C9C-E99B-9A7D-A7C8-08A5313761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48" y="1579931"/>
            <a:ext cx="8568952" cy="2747411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69659BEF-F123-08F4-4B5B-57C4F02FD4D3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9EEBD11-4006-3594-59BB-DFE0EC923D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41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51520" y="1268760"/>
          <a:ext cx="4320480" cy="4968554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9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38">
                <a:tc rowSpan="1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식물 검색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DBMS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있는 식물 데이터를 사용자가 검색할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내 식물 추가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비어 있는 하우스를 선택해 새로운 식물을 등록할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내 식물 삭제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하우스에 저장되어 있는 식물을 선택해 삭제할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온도 상태보기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일주일 동안 누적된 식물의 온도 데이터를 그래프화하여 확인할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조도 상태보기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일주일 동안 누적된 식물의 조도 데이터를 그래프화하여 확인할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습도 상태보기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일주일 동안 누적된 식물의 습도 데이터를 그래프화하여 확인할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9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식물 테마 추천 받기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기능별 식물을 추천 받을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9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온도 조절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내의 온도를 높이거나 낮출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8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조도 조절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통해 하우스 내의 조도를 조절할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습도 조절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식물에의 급수를 통해 하우스의 습도를 조절할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자동 제어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제어 모드를 선택해 식물에게 적절한 환경을 갖추도록 자동으로 제어되게 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779677" y="1268760"/>
          <a:ext cx="4112803" cy="4968551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6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설명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871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H/W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물주기</a:t>
                      </a:r>
                    </a:p>
                  </a:txBody>
                  <a:tcPr marL="30996" marR="30996" marT="8570" marB="8570" anchor="ctr"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펌프를 사용해 식물에게 물을 줄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 LED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키우기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LED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점등으로 식물에게 필요한 빛을 공급할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온도 올려주기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온도를 올려줄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온도 내려주기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온도를 내려줄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온도 측정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온도 센서를 통해 하우스 내의 온도를 측정할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조도 측정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조도 센서를 통해 하우스 내 식물이 받는 조도 값을 측정할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습도 측정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습도 센서를 통해 식물 토양의 습도를 측정할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72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아두이노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웹 서버 연결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아두이노를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웹 서버와 연동하여 통신이 가능하고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각 센서들로부터 측정값을 받아온다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B851744A-AE4F-BFAF-4985-F81C612084E7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A8DEEC-EDDD-D5BE-5FB2-FEBE84D68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 err="1">
                <a:solidFill>
                  <a:schemeClr val="bg1"/>
                </a:solidFill>
                <a:latin typeface="+mn-ea"/>
                <a:cs typeface="+mj-cs"/>
              </a:rPr>
              <a:t>유즈케이스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224706"/>
            <a:ext cx="4733032" cy="405352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5322656"/>
            <a:ext cx="4760640" cy="90353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80" y="1664858"/>
            <a:ext cx="3577084" cy="3927202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2096E5B6-DD78-0BA2-8120-DB274B63CE3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062E413-BE7C-D6B2-00C8-783CC0EC24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9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en-US" altLang="ko-KR" sz="1700" b="1" noProof="0">
                <a:solidFill>
                  <a:schemeClr val="bg1"/>
                </a:solidFill>
                <a:latin typeface="+mn-ea"/>
                <a:cs typeface="+mj-cs"/>
              </a:rPr>
              <a:t>UI/UX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정의서 </a:t>
            </a:r>
            <a:r>
              <a:rPr lang="en-US" altLang="ko-KR" sz="1400" b="1" noProof="0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 rot="5400000">
            <a:off x="-834231" y="3077394"/>
            <a:ext cx="4695825" cy="1836737"/>
          </a:xfrm>
          <a:prstGeom prst="rect">
            <a:avLst/>
          </a:prstGeom>
          <a:solidFill>
            <a:srgbClr val="FFFFFF"/>
          </a:solidFill>
          <a:ln w="12600">
            <a:solidFill>
              <a:srgbClr val="606060"/>
            </a:solidFill>
            <a:round/>
            <a:headEnd/>
            <a:tailEnd/>
          </a:ln>
          <a:effectLst>
            <a:outerShdw dist="38184" dir="2700000" algn="ctr" rotWithShape="0">
              <a:srgbClr val="BFBFBF"/>
            </a:outerShdw>
          </a:effectLst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ko-KR" altLang="en-US">
              <a:latin typeface="Arial" charset="0"/>
              <a:ea typeface="굴림" pitchFamily="48" charset="-127"/>
            </a:endParaRP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592138" y="1647850"/>
            <a:ext cx="1836737" cy="107950"/>
          </a:xfrm>
          <a:prstGeom prst="rect">
            <a:avLst/>
          </a:prstGeom>
          <a:solidFill>
            <a:srgbClr val="D9D9D9"/>
          </a:solidFill>
          <a:ln w="6480">
            <a:solidFill>
              <a:srgbClr val="7F7F7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Status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592138" y="1758975"/>
            <a:ext cx="1836737" cy="244475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 b="1">
                <a:solidFill>
                  <a:srgbClr val="FFFFFF"/>
                </a:solidFill>
                <a:latin typeface="Trebuchet MS" pitchFamily="34" charset="0"/>
                <a:ea typeface="맑은 고딕" pitchFamily="50" charset="-127"/>
              </a:rPr>
              <a:t>간편가입</a:t>
            </a:r>
          </a:p>
        </p:txBody>
      </p:sp>
      <p:sp>
        <p:nvSpPr>
          <p:cNvPr id="33" name="AutoShape 4"/>
          <p:cNvSpPr>
            <a:spLocks noChangeArrowheads="1"/>
          </p:cNvSpPr>
          <p:nvPr/>
        </p:nvSpPr>
        <p:spPr bwMode="auto">
          <a:xfrm flipH="1">
            <a:off x="631825" y="1789137"/>
            <a:ext cx="295275" cy="165100"/>
          </a:xfrm>
          <a:prstGeom prst="homePlate">
            <a:avLst>
              <a:gd name="adj" fmla="val 50002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7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이전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595313" y="1997100"/>
            <a:ext cx="1836737" cy="25558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pSp>
        <p:nvGrpSpPr>
          <p:cNvPr id="35" name="Group 6"/>
          <p:cNvGrpSpPr>
            <a:grpSpLocks/>
          </p:cNvGrpSpPr>
          <p:nvPr/>
        </p:nvGrpSpPr>
        <p:grpSpPr bwMode="auto">
          <a:xfrm>
            <a:off x="641350" y="2028850"/>
            <a:ext cx="1727200" cy="188912"/>
            <a:chOff x="494" y="1152"/>
            <a:chExt cx="1088" cy="119"/>
          </a:xfrm>
        </p:grpSpPr>
        <p:sp>
          <p:nvSpPr>
            <p:cNvPr id="36" name="AutoShape 7"/>
            <p:cNvSpPr>
              <a:spLocks noChangeArrowheads="1"/>
            </p:cNvSpPr>
            <p:nvPr/>
          </p:nvSpPr>
          <p:spPr bwMode="auto">
            <a:xfrm>
              <a:off x="494" y="1152"/>
              <a:ext cx="1088" cy="119"/>
            </a:xfrm>
            <a:prstGeom prst="roundRect">
              <a:avLst>
                <a:gd name="adj" fmla="val 16944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CBCBC"/>
                </a:gs>
              </a:gsLst>
              <a:lin ang="16200000" scaled="1"/>
            </a:gradFill>
            <a:ln w="9360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lIns="90000" tIns="46800" rIns="72000" bIns="46800" anchor="ctr"/>
            <a:lstStyle>
              <a:lvl1pPr marL="92075" indent="-90488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lang="en-US" altLang="ko-KR" sz="700">
                  <a:solidFill>
                    <a:srgbClr val="A6A6A6"/>
                  </a:solidFill>
                  <a:latin typeface="Trebuchet MS" pitchFamily="34" charset="0"/>
                  <a:ea typeface="맑은 고딕" pitchFamily="50" charset="-127"/>
                </a:rPr>
                <a:t>      </a:t>
              </a:r>
              <a:r>
                <a:rPr lang="ko-KR" altLang="ko-KR" sz="700">
                  <a:solidFill>
                    <a:srgbClr val="A6A6A6"/>
                  </a:solidFill>
                  <a:ea typeface="맑은 고딕" pitchFamily="50" charset="-127"/>
                </a:rPr>
                <a:t>간편</a:t>
              </a:r>
              <a:r>
                <a:rPr lang="en-US" altLang="ko-KR" sz="300">
                  <a:solidFill>
                    <a:srgbClr val="A6A6A6"/>
                  </a:solidFill>
                  <a:ea typeface="맑은 고딕" pitchFamily="50" charset="-127"/>
                </a:rPr>
                <a:t> </a:t>
              </a:r>
            </a:p>
          </p:txBody>
        </p:sp>
        <p:grpSp>
          <p:nvGrpSpPr>
            <p:cNvPr id="37" name="Group 8"/>
            <p:cNvGrpSpPr>
              <a:grpSpLocks/>
            </p:cNvGrpSpPr>
            <p:nvPr/>
          </p:nvGrpSpPr>
          <p:grpSpPr bwMode="auto">
            <a:xfrm>
              <a:off x="495" y="1158"/>
              <a:ext cx="362" cy="111"/>
              <a:chOff x="495" y="1158"/>
              <a:chExt cx="362" cy="111"/>
            </a:xfrm>
          </p:grpSpPr>
          <p:sp>
            <p:nvSpPr>
              <p:cNvPr id="42" name="AutoShape 9"/>
              <p:cNvSpPr>
                <a:spLocks noChangeArrowheads="1"/>
              </p:cNvSpPr>
              <p:nvPr/>
            </p:nvSpPr>
            <p:spPr bwMode="auto">
              <a:xfrm>
                <a:off x="495" y="1158"/>
                <a:ext cx="335" cy="111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CBCBC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0" bIns="46800" anchor="ctr"/>
              <a:lstStyle>
                <a:lvl1pPr marL="92075" indent="-90488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r>
                  <a:rPr lang="ko-KR" altLang="ko-KR" sz="700">
                    <a:solidFill>
                      <a:srgbClr val="000000"/>
                    </a:solidFill>
                    <a:latin typeface="Trebuchet MS" pitchFamily="34" charset="0"/>
                    <a:ea typeface="맑은 고딕" pitchFamily="50" charset="-127"/>
                  </a:rPr>
                  <a:t>기본정보</a:t>
                </a:r>
              </a:p>
            </p:txBody>
          </p:sp>
          <p:sp>
            <p:nvSpPr>
              <p:cNvPr id="43" name="AutoShape 10"/>
              <p:cNvSpPr>
                <a:spLocks noChangeArrowheads="1"/>
              </p:cNvSpPr>
              <p:nvPr/>
            </p:nvSpPr>
            <p:spPr bwMode="auto">
              <a:xfrm>
                <a:off x="810" y="1158"/>
                <a:ext cx="47" cy="111"/>
              </a:xfrm>
              <a:prstGeom prst="roundRect">
                <a:avLst>
                  <a:gd name="adj" fmla="val 0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CBCBC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>
              <a:off x="856" y="1152"/>
              <a:ext cx="0" cy="11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9" name="Group 12"/>
            <p:cNvGrpSpPr>
              <a:grpSpLocks/>
            </p:cNvGrpSpPr>
            <p:nvPr/>
          </p:nvGrpSpPr>
          <p:grpSpPr bwMode="auto">
            <a:xfrm>
              <a:off x="865" y="1152"/>
              <a:ext cx="363" cy="117"/>
              <a:chOff x="865" y="1152"/>
              <a:chExt cx="363" cy="117"/>
            </a:xfrm>
          </p:grpSpPr>
          <p:sp>
            <p:nvSpPr>
              <p:cNvPr id="40" name="AutoShape 13"/>
              <p:cNvSpPr>
                <a:spLocks noChangeArrowheads="1"/>
              </p:cNvSpPr>
              <p:nvPr/>
            </p:nvSpPr>
            <p:spPr bwMode="auto">
              <a:xfrm>
                <a:off x="865" y="1158"/>
                <a:ext cx="362" cy="111"/>
              </a:xfrm>
              <a:prstGeom prst="roundRect">
                <a:avLst>
                  <a:gd name="adj" fmla="val 0"/>
                </a:avLst>
              </a:prstGeom>
              <a:gradFill rotWithShape="0">
                <a:gsLst>
                  <a:gs pos="0">
                    <a:srgbClr val="85DFFF"/>
                  </a:gs>
                  <a:gs pos="100000">
                    <a:srgbClr val="00B6F6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92075" indent="-90488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700">
                    <a:solidFill>
                      <a:srgbClr val="000000"/>
                    </a:solidFill>
                    <a:ea typeface="맑은 고딕" pitchFamily="50" charset="-127"/>
                  </a:rPr>
                  <a:t>정보</a:t>
                </a:r>
              </a:p>
            </p:txBody>
          </p:sp>
          <p:sp>
            <p:nvSpPr>
              <p:cNvPr id="41" name="Line 14"/>
              <p:cNvSpPr>
                <a:spLocks noChangeShapeType="1"/>
              </p:cNvSpPr>
              <p:nvPr/>
            </p:nvSpPr>
            <p:spPr bwMode="auto">
              <a:xfrm>
                <a:off x="1228" y="1152"/>
                <a:ext cx="0" cy="111"/>
              </a:xfrm>
              <a:prstGeom prst="line">
                <a:avLst/>
              </a:prstGeom>
              <a:noFill/>
              <a:ln w="324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44" name="AutoShape 15"/>
          <p:cNvSpPr>
            <a:spLocks noChangeArrowheads="1"/>
          </p:cNvSpPr>
          <p:nvPr/>
        </p:nvSpPr>
        <p:spPr bwMode="auto">
          <a:xfrm>
            <a:off x="623888" y="2262212"/>
            <a:ext cx="1778000" cy="3429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2F2F2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ko-KR" altLang="en-US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가입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남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55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세</a:t>
            </a:r>
          </a:p>
        </p:txBody>
      </p:sp>
      <p:graphicFrame>
        <p:nvGraphicFramePr>
          <p:cNvPr id="45" name="Group 16"/>
          <p:cNvGraphicFramePr>
            <a:graphicFrameLocks noGrp="1"/>
          </p:cNvGraphicFramePr>
          <p:nvPr/>
        </p:nvGraphicFramePr>
        <p:xfrm>
          <a:off x="603250" y="2638450"/>
          <a:ext cx="1828800" cy="1562100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725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가입정보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지역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경기도 성남시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성별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남자</a:t>
                      </a:r>
                      <a:endParaRPr kumimoji="0" 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가입년도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AutoShape 35"/>
          <p:cNvSpPr>
            <a:spLocks noChangeArrowheads="1"/>
          </p:cNvSpPr>
          <p:nvPr/>
        </p:nvSpPr>
        <p:spPr bwMode="auto">
          <a:xfrm>
            <a:off x="1282700" y="3402037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1800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2012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endParaRPr lang="ko-KR" altLang="ko-KR" sz="8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7" name="Group 36"/>
          <p:cNvGraphicFramePr>
            <a:graphicFrameLocks noGrp="1"/>
          </p:cNvGraphicFramePr>
          <p:nvPr/>
        </p:nvGraphicFramePr>
        <p:xfrm>
          <a:off x="603250" y="3667150"/>
          <a:ext cx="1828800" cy="1009650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725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그룹정보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기간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 가입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납입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20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년납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" name="Group 55"/>
          <p:cNvGraphicFramePr>
            <a:graphicFrameLocks noGrp="1"/>
          </p:cNvGraphicFramePr>
          <p:nvPr/>
        </p:nvGraphicFramePr>
        <p:xfrm>
          <a:off x="603250" y="4941912"/>
          <a:ext cx="1828800" cy="1138238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313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상품정보</a:t>
                      </a: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 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보험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년만기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납입기간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년납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가입금액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AutoShape 74"/>
          <p:cNvSpPr>
            <a:spLocks noChangeArrowheads="1"/>
          </p:cNvSpPr>
          <p:nvPr/>
        </p:nvSpPr>
        <p:spPr bwMode="auto">
          <a:xfrm>
            <a:off x="1282700" y="5827737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1800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</p:txBody>
      </p:sp>
      <p:sp>
        <p:nvSpPr>
          <p:cNvPr id="50" name="Text Box 75"/>
          <p:cNvSpPr txBox="1">
            <a:spLocks noChangeArrowheads="1"/>
          </p:cNvSpPr>
          <p:nvPr/>
        </p:nvSpPr>
        <p:spPr bwMode="auto">
          <a:xfrm>
            <a:off x="1204913" y="4699025"/>
            <a:ext cx="6746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……… n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</a:t>
            </a:r>
          </a:p>
        </p:txBody>
      </p:sp>
      <p:grpSp>
        <p:nvGrpSpPr>
          <p:cNvPr id="51" name="Group 76"/>
          <p:cNvGrpSpPr>
            <a:grpSpLocks/>
          </p:cNvGrpSpPr>
          <p:nvPr/>
        </p:nvGrpSpPr>
        <p:grpSpPr bwMode="auto">
          <a:xfrm>
            <a:off x="592138" y="6076975"/>
            <a:ext cx="1835150" cy="276225"/>
            <a:chOff x="463" y="3702"/>
            <a:chExt cx="1156" cy="174"/>
          </a:xfrm>
        </p:grpSpPr>
        <p:sp>
          <p:nvSpPr>
            <p:cNvPr id="52" name="Rectangle 77"/>
            <p:cNvSpPr>
              <a:spLocks noChangeArrowheads="1"/>
            </p:cNvSpPr>
            <p:nvPr/>
          </p:nvSpPr>
          <p:spPr bwMode="auto">
            <a:xfrm>
              <a:off x="463" y="3702"/>
              <a:ext cx="1156" cy="174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53" name="AutoShape 78"/>
            <p:cNvSpPr>
              <a:spLocks noChangeArrowheads="1"/>
            </p:cNvSpPr>
            <p:nvPr/>
          </p:nvSpPr>
          <p:spPr bwMode="auto">
            <a:xfrm>
              <a:off x="475" y="3710"/>
              <a:ext cx="225" cy="158"/>
            </a:xfrm>
            <a:prstGeom prst="roundRect">
              <a:avLst>
                <a:gd name="adj" fmla="val 16667"/>
              </a:avLst>
            </a:prstGeom>
            <a:solidFill>
              <a:srgbClr val="262626"/>
            </a:solidFill>
            <a:ln w="9360">
              <a:solidFill>
                <a:srgbClr val="262626"/>
              </a:solidFill>
              <a:miter lim="800000"/>
              <a:headEnd/>
              <a:tailEnd/>
            </a:ln>
          </p:spPr>
          <p:txBody>
            <a:bodyPr lIns="0" tIns="18000" rIns="0" bIns="7200" anchor="b" anchorCtr="1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600">
                  <a:solidFill>
                    <a:srgbClr val="FFFFFF"/>
                  </a:solidFill>
                  <a:ea typeface="맑은 고딕" pitchFamily="50" charset="-127"/>
                </a:rPr>
                <a:t>HOME</a:t>
              </a:r>
            </a:p>
          </p:txBody>
        </p:sp>
        <p:sp>
          <p:nvSpPr>
            <p:cNvPr id="54" name="Oval 79"/>
            <p:cNvSpPr>
              <a:spLocks noChangeArrowheads="1"/>
            </p:cNvSpPr>
            <p:nvPr/>
          </p:nvSpPr>
          <p:spPr bwMode="auto">
            <a:xfrm>
              <a:off x="554" y="3730"/>
              <a:ext cx="67" cy="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55" name="Group 80"/>
            <p:cNvGrpSpPr>
              <a:grpSpLocks/>
            </p:cNvGrpSpPr>
            <p:nvPr/>
          </p:nvGrpSpPr>
          <p:grpSpPr bwMode="auto">
            <a:xfrm>
              <a:off x="701" y="3710"/>
              <a:ext cx="225" cy="158"/>
              <a:chOff x="701" y="3710"/>
              <a:chExt cx="225" cy="158"/>
            </a:xfrm>
          </p:grpSpPr>
          <p:sp>
            <p:nvSpPr>
              <p:cNvPr id="66" name="AutoShape 81"/>
              <p:cNvSpPr>
                <a:spLocks noChangeArrowheads="1"/>
              </p:cNvSpPr>
              <p:nvPr/>
            </p:nvSpPr>
            <p:spPr bwMode="auto">
              <a:xfrm>
                <a:off x="701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공지사항</a:t>
                </a:r>
              </a:p>
            </p:txBody>
          </p:sp>
          <p:sp>
            <p:nvSpPr>
              <p:cNvPr id="67" name="Oval 82"/>
              <p:cNvSpPr>
                <a:spLocks noChangeArrowheads="1"/>
              </p:cNvSpPr>
              <p:nvPr/>
            </p:nvSpPr>
            <p:spPr bwMode="auto">
              <a:xfrm>
                <a:off x="781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6" name="Group 83"/>
            <p:cNvGrpSpPr>
              <a:grpSpLocks/>
            </p:cNvGrpSpPr>
            <p:nvPr/>
          </p:nvGrpSpPr>
          <p:grpSpPr bwMode="auto">
            <a:xfrm>
              <a:off x="927" y="3710"/>
              <a:ext cx="225" cy="158"/>
              <a:chOff x="927" y="3710"/>
              <a:chExt cx="225" cy="158"/>
            </a:xfrm>
          </p:grpSpPr>
          <p:sp>
            <p:nvSpPr>
              <p:cNvPr id="64" name="AutoShape 84"/>
              <p:cNvSpPr>
                <a:spLocks noChangeArrowheads="1"/>
              </p:cNvSpPr>
              <p:nvPr/>
            </p:nvSpPr>
            <p:spPr bwMode="auto">
              <a:xfrm>
                <a:off x="927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500">
                    <a:solidFill>
                      <a:srgbClr val="FFFFFF"/>
                    </a:solidFill>
                    <a:ea typeface="맑은 고딕" pitchFamily="50" charset="-127"/>
                  </a:rPr>
                  <a:t>헬프데스크</a:t>
                </a:r>
              </a:p>
            </p:txBody>
          </p:sp>
          <p:sp>
            <p:nvSpPr>
              <p:cNvPr id="65" name="Oval 85"/>
              <p:cNvSpPr>
                <a:spLocks noChangeArrowheads="1"/>
              </p:cNvSpPr>
              <p:nvPr/>
            </p:nvSpPr>
            <p:spPr bwMode="auto">
              <a:xfrm>
                <a:off x="1000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7" name="Group 86"/>
            <p:cNvGrpSpPr>
              <a:grpSpLocks/>
            </p:cNvGrpSpPr>
            <p:nvPr/>
          </p:nvGrpSpPr>
          <p:grpSpPr bwMode="auto">
            <a:xfrm>
              <a:off x="1380" y="3710"/>
              <a:ext cx="225" cy="158"/>
              <a:chOff x="1380" y="3710"/>
              <a:chExt cx="225" cy="158"/>
            </a:xfrm>
          </p:grpSpPr>
          <p:sp>
            <p:nvSpPr>
              <p:cNvPr id="62" name="AutoShape 87"/>
              <p:cNvSpPr>
                <a:spLocks noChangeArrowheads="1"/>
              </p:cNvSpPr>
              <p:nvPr/>
            </p:nvSpPr>
            <p:spPr bwMode="auto">
              <a:xfrm>
                <a:off x="1380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종료</a:t>
                </a:r>
              </a:p>
            </p:txBody>
          </p:sp>
          <p:sp>
            <p:nvSpPr>
              <p:cNvPr id="63" name="Oval 88"/>
              <p:cNvSpPr>
                <a:spLocks noChangeArrowheads="1"/>
              </p:cNvSpPr>
              <p:nvPr/>
            </p:nvSpPr>
            <p:spPr bwMode="auto">
              <a:xfrm>
                <a:off x="1456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8" name="Group 89"/>
            <p:cNvGrpSpPr>
              <a:grpSpLocks/>
            </p:cNvGrpSpPr>
            <p:nvPr/>
          </p:nvGrpSpPr>
          <p:grpSpPr bwMode="auto">
            <a:xfrm>
              <a:off x="1154" y="3710"/>
              <a:ext cx="225" cy="158"/>
              <a:chOff x="1154" y="3710"/>
              <a:chExt cx="225" cy="158"/>
            </a:xfrm>
          </p:grpSpPr>
          <p:sp>
            <p:nvSpPr>
              <p:cNvPr id="59" name="AutoShape 90"/>
              <p:cNvSpPr>
                <a:spLocks noChangeArrowheads="1"/>
              </p:cNvSpPr>
              <p:nvPr/>
            </p:nvSpPr>
            <p:spPr bwMode="auto">
              <a:xfrm>
                <a:off x="1154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전체메뉴</a:t>
                </a:r>
              </a:p>
            </p:txBody>
          </p:sp>
          <p:sp>
            <p:nvSpPr>
              <p:cNvPr id="60" name="Oval 91"/>
              <p:cNvSpPr>
                <a:spLocks noChangeArrowheads="1"/>
              </p:cNvSpPr>
              <p:nvPr/>
            </p:nvSpPr>
            <p:spPr bwMode="auto">
              <a:xfrm>
                <a:off x="1227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</p:grpSp>
      <p:sp>
        <p:nvSpPr>
          <p:cNvPr id="68" name="AutoShape 92"/>
          <p:cNvSpPr>
            <a:spLocks noChangeArrowheads="1"/>
          </p:cNvSpPr>
          <p:nvPr/>
        </p:nvSpPr>
        <p:spPr bwMode="auto">
          <a:xfrm>
            <a:off x="1292225" y="4425975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360">
            <a:solidFill>
              <a:srgbClr val="A6A6A6"/>
            </a:solidFill>
            <a:miter lim="800000"/>
            <a:headEnd/>
            <a:tailEnd/>
          </a:ln>
        </p:spPr>
        <p:txBody>
          <a:bodyPr lIns="36000" tIns="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ko-KR" altLang="ko-KR" sz="800" b="1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</p:txBody>
      </p:sp>
      <p:sp>
        <p:nvSpPr>
          <p:cNvPr id="69" name="AutoShape 93"/>
          <p:cNvSpPr>
            <a:spLocks noChangeArrowheads="1"/>
          </p:cNvSpPr>
          <p:nvPr/>
        </p:nvSpPr>
        <p:spPr bwMode="auto">
          <a:xfrm>
            <a:off x="1292225" y="4168800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년납▼</a:t>
            </a:r>
          </a:p>
        </p:txBody>
      </p:sp>
      <p:grpSp>
        <p:nvGrpSpPr>
          <p:cNvPr id="70" name="Group 94"/>
          <p:cNvGrpSpPr>
            <a:grpSpLocks/>
          </p:cNvGrpSpPr>
          <p:nvPr/>
        </p:nvGrpSpPr>
        <p:grpSpPr bwMode="auto">
          <a:xfrm>
            <a:off x="163513" y="2247925"/>
            <a:ext cx="387350" cy="1874837"/>
            <a:chOff x="193" y="1290"/>
            <a:chExt cx="244" cy="1181"/>
          </a:xfrm>
        </p:grpSpPr>
        <p:sp>
          <p:nvSpPr>
            <p:cNvPr id="71" name="Text Box 95"/>
            <p:cNvSpPr txBox="1">
              <a:spLocks noChangeArrowheads="1"/>
            </p:cNvSpPr>
            <p:nvPr/>
          </p:nvSpPr>
          <p:spPr bwMode="auto">
            <a:xfrm>
              <a:off x="193" y="1797"/>
              <a:ext cx="159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lang="en-US" altLang="ko-KR" sz="800">
                  <a:solidFill>
                    <a:srgbClr val="000000"/>
                  </a:solidFill>
                  <a:latin typeface="Trebuchet MS" pitchFamily="34" charset="0"/>
                  <a:ea typeface="맑은 고딕" pitchFamily="50" charset="-127"/>
                </a:rPr>
                <a:t>Scroll</a:t>
              </a:r>
            </a:p>
            <a:p>
              <a:pPr algn="r" eaLnBrk="1" hangingPunct="1"/>
              <a:r>
                <a:rPr lang="ko-KR" altLang="ko-KR" sz="800">
                  <a:solidFill>
                    <a:srgbClr val="000000"/>
                  </a:solidFill>
                  <a:latin typeface="Trebuchet MS" pitchFamily="34" charset="0"/>
                  <a:ea typeface="맑은 고딕" pitchFamily="50" charset="-127"/>
                </a:rPr>
                <a:t>영역</a:t>
              </a:r>
            </a:p>
          </p:txBody>
        </p:sp>
        <p:sp>
          <p:nvSpPr>
            <p:cNvPr id="72" name="Line 96"/>
            <p:cNvSpPr>
              <a:spLocks noChangeShapeType="1"/>
            </p:cNvSpPr>
            <p:nvPr/>
          </p:nvSpPr>
          <p:spPr bwMode="auto">
            <a:xfrm>
              <a:off x="371" y="1291"/>
              <a:ext cx="0" cy="1171"/>
            </a:xfrm>
            <a:prstGeom prst="line">
              <a:avLst/>
            </a:prstGeom>
            <a:noFill/>
            <a:ln w="9360">
              <a:solidFill>
                <a:srgbClr val="7F7F7F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Line 97"/>
            <p:cNvSpPr>
              <a:spLocks noChangeShapeType="1"/>
            </p:cNvSpPr>
            <p:nvPr/>
          </p:nvSpPr>
          <p:spPr bwMode="auto">
            <a:xfrm>
              <a:off x="305" y="2472"/>
              <a:ext cx="132" cy="0"/>
            </a:xfrm>
            <a:prstGeom prst="line">
              <a:avLst/>
            </a:prstGeom>
            <a:noFill/>
            <a:ln w="9360">
              <a:solidFill>
                <a:srgbClr val="D9D9D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Line 98"/>
            <p:cNvSpPr>
              <a:spLocks noChangeShapeType="1"/>
            </p:cNvSpPr>
            <p:nvPr/>
          </p:nvSpPr>
          <p:spPr bwMode="auto">
            <a:xfrm>
              <a:off x="305" y="1290"/>
              <a:ext cx="132" cy="0"/>
            </a:xfrm>
            <a:prstGeom prst="line">
              <a:avLst/>
            </a:prstGeom>
            <a:noFill/>
            <a:ln w="9360">
              <a:solidFill>
                <a:srgbClr val="D9D9D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Text Box 100"/>
          <p:cNvSpPr txBox="1">
            <a:spLocks noChangeArrowheads="1"/>
          </p:cNvSpPr>
          <p:nvPr/>
        </p:nvSpPr>
        <p:spPr bwMode="auto">
          <a:xfrm>
            <a:off x="80963" y="1216025"/>
            <a:ext cx="92075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marL="179388" indent="-179388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350"/>
              </a:spcBef>
              <a:buClr>
                <a:srgbClr val="FF0000"/>
              </a:buClr>
              <a:buFont typeface="Wingdings" pitchFamily="2" charset="2"/>
              <a:buChar char=""/>
            </a:pP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회원가입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신청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가입 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상품 리스트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기본 정보 입력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추가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정보 입력</a:t>
            </a:r>
          </a:p>
        </p:txBody>
      </p:sp>
      <p:graphicFrame>
        <p:nvGraphicFramePr>
          <p:cNvPr id="76" name="Group 101"/>
          <p:cNvGraphicFramePr>
            <a:graphicFrameLocks noGrp="1"/>
          </p:cNvGraphicFramePr>
          <p:nvPr/>
        </p:nvGraphicFramePr>
        <p:xfrm>
          <a:off x="6228184" y="1527175"/>
          <a:ext cx="2730500" cy="4902200"/>
        </p:xfrm>
        <a:graphic>
          <a:graphicData uri="http://schemas.openxmlformats.org/drawingml/2006/table">
            <a:tbl>
              <a:tblPr/>
              <a:tblGrid>
                <a:gridCol w="293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0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4138" indent="-84138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4138" marR="0" lvl="0" indent="-84138" algn="l" defTabSz="449263" rtl="0" eaLnBrk="1" fontAlgn="base" latinLnBrk="0" hangingPunct="1">
                        <a:lnSpc>
                          <a:spcPct val="9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리스트 참고</a:t>
                      </a:r>
                    </a:p>
                  </a:txBody>
                  <a:tcPr marL="36000" marR="36000" marT="36000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년도</a:t>
                      </a:r>
                      <a:endParaRPr kumimoji="0" lang="ko-KR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Tap 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 숫자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Keypad 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올라옴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입력박스 가려지지 않도록 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만원’ 으로 표기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575D1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575D1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금액 표기 정책 참고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가입범위 </a:t>
                      </a:r>
                      <a:r>
                        <a:rPr kumimoji="0" lang="en-US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제공 </a:t>
                      </a:r>
                      <a:r>
                        <a:rPr kumimoji="0" lang="ko-KR" altLang="en-US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리스</a:t>
                      </a: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트 참고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 제공하는 경우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가입범위를 넘을 경우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합산  한도를 초과할 경우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 시 입력박스에 동시에 입력할 경우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79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" name="Oval 146"/>
          <p:cNvSpPr>
            <a:spLocks noChangeArrowheads="1"/>
          </p:cNvSpPr>
          <p:nvPr/>
        </p:nvSpPr>
        <p:spPr bwMode="auto">
          <a:xfrm>
            <a:off x="2476500" y="333377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1</a:t>
            </a:r>
          </a:p>
        </p:txBody>
      </p:sp>
      <p:sp>
        <p:nvSpPr>
          <p:cNvPr id="79" name="AutoShape 158"/>
          <p:cNvSpPr>
            <a:spLocks noChangeArrowheads="1"/>
          </p:cNvSpPr>
          <p:nvPr/>
        </p:nvSpPr>
        <p:spPr bwMode="auto">
          <a:xfrm>
            <a:off x="3908425" y="1924075"/>
            <a:ext cx="1617663" cy="904875"/>
          </a:xfrm>
          <a:prstGeom prst="roundRect">
            <a:avLst>
              <a:gd name="adj" fmla="val 6602"/>
            </a:avLst>
          </a:prstGeom>
          <a:solidFill>
            <a:srgbClr val="F2F2F2"/>
          </a:solidFill>
          <a:ln w="9360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입력 가능한 가입금액은</a:t>
            </a:r>
          </a:p>
          <a:p>
            <a:pPr algn="ctr" eaLnBrk="1" hangingPunct="1">
              <a:spcBef>
                <a:spcPts val="200"/>
              </a:spcBef>
            </a:pP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 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~ 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입니다</a:t>
            </a: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.</a:t>
            </a: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sp>
        <p:nvSpPr>
          <p:cNvPr id="80" name="AutoShape 159"/>
          <p:cNvSpPr>
            <a:spLocks noChangeArrowheads="1"/>
          </p:cNvSpPr>
          <p:nvPr/>
        </p:nvSpPr>
        <p:spPr bwMode="auto">
          <a:xfrm>
            <a:off x="4375150" y="2557487"/>
            <a:ext cx="663575" cy="2143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확인</a:t>
            </a:r>
          </a:p>
        </p:txBody>
      </p:sp>
      <p:sp>
        <p:nvSpPr>
          <p:cNvPr id="81" name="Rectangle 160"/>
          <p:cNvSpPr>
            <a:spLocks noChangeArrowheads="1"/>
          </p:cNvSpPr>
          <p:nvPr/>
        </p:nvSpPr>
        <p:spPr bwMode="auto">
          <a:xfrm>
            <a:off x="3921125" y="1724050"/>
            <a:ext cx="1433513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[</a:t>
            </a:r>
            <a:r>
              <a:rPr lang="ko-KR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가입금액 초과 입력 시</a:t>
            </a:r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]</a:t>
            </a:r>
          </a:p>
        </p:txBody>
      </p:sp>
      <p:sp>
        <p:nvSpPr>
          <p:cNvPr id="82" name="Oval 161"/>
          <p:cNvSpPr>
            <a:spLocks noChangeArrowheads="1"/>
          </p:cNvSpPr>
          <p:nvPr/>
        </p:nvSpPr>
        <p:spPr bwMode="auto">
          <a:xfrm>
            <a:off x="5553075" y="203202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3</a:t>
            </a:r>
          </a:p>
        </p:txBody>
      </p:sp>
      <p:cxnSp>
        <p:nvCxnSpPr>
          <p:cNvPr id="83" name="AutoShape 162"/>
          <p:cNvCxnSpPr>
            <a:cxnSpLocks noChangeShapeType="1"/>
          </p:cNvCxnSpPr>
          <p:nvPr/>
        </p:nvCxnSpPr>
        <p:spPr bwMode="auto">
          <a:xfrm>
            <a:off x="2349500" y="3509987"/>
            <a:ext cx="1193800" cy="500063"/>
          </a:xfrm>
          <a:prstGeom prst="bentConnector3">
            <a:avLst>
              <a:gd name="adj1" fmla="val 50000"/>
            </a:avLst>
          </a:prstGeom>
          <a:noFill/>
          <a:ln w="324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Oval 163"/>
          <p:cNvSpPr>
            <a:spLocks noChangeArrowheads="1"/>
          </p:cNvSpPr>
          <p:nvPr/>
        </p:nvSpPr>
        <p:spPr bwMode="auto">
          <a:xfrm>
            <a:off x="2476500" y="4448200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2</a:t>
            </a:r>
          </a:p>
        </p:txBody>
      </p:sp>
      <p:sp>
        <p:nvSpPr>
          <p:cNvPr id="85" name="AutoShape 164"/>
          <p:cNvSpPr>
            <a:spLocks noChangeArrowheads="1"/>
          </p:cNvSpPr>
          <p:nvPr/>
        </p:nvSpPr>
        <p:spPr bwMode="auto">
          <a:xfrm>
            <a:off x="3908425" y="3371875"/>
            <a:ext cx="1617663" cy="904875"/>
          </a:xfrm>
          <a:prstGeom prst="roundRect">
            <a:avLst>
              <a:gd name="adj" fmla="val 6602"/>
            </a:avLst>
          </a:prstGeom>
          <a:solidFill>
            <a:srgbClr val="F2F2F2"/>
          </a:solidFill>
          <a:ln w="9360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입력 가능한 합산금액의</a:t>
            </a:r>
          </a:p>
          <a:p>
            <a:pPr algn="ctr" eaLnBrk="1" hangingPunct="1">
              <a:spcBef>
                <a:spcPts val="200"/>
              </a:spcBef>
            </a:pP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한도는 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입니다</a:t>
            </a: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.</a:t>
            </a: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sp>
        <p:nvSpPr>
          <p:cNvPr id="86" name="AutoShape 165"/>
          <p:cNvSpPr>
            <a:spLocks noChangeArrowheads="1"/>
          </p:cNvSpPr>
          <p:nvPr/>
        </p:nvSpPr>
        <p:spPr bwMode="auto">
          <a:xfrm>
            <a:off x="4375150" y="4005287"/>
            <a:ext cx="663575" cy="2143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확인</a:t>
            </a:r>
          </a:p>
        </p:txBody>
      </p:sp>
      <p:sp>
        <p:nvSpPr>
          <p:cNvPr id="87" name="Rectangle 166"/>
          <p:cNvSpPr>
            <a:spLocks noChangeArrowheads="1"/>
          </p:cNvSpPr>
          <p:nvPr/>
        </p:nvSpPr>
        <p:spPr bwMode="auto">
          <a:xfrm>
            <a:off x="3929063" y="3171850"/>
            <a:ext cx="15017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[</a:t>
            </a:r>
            <a:r>
              <a:rPr lang="ko-KR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금액 한도 초과 입력 시</a:t>
            </a:r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]</a:t>
            </a:r>
          </a:p>
        </p:txBody>
      </p:sp>
      <p:sp>
        <p:nvSpPr>
          <p:cNvPr id="88" name="Oval 167"/>
          <p:cNvSpPr>
            <a:spLocks noChangeArrowheads="1"/>
          </p:cNvSpPr>
          <p:nvPr/>
        </p:nvSpPr>
        <p:spPr bwMode="auto">
          <a:xfrm>
            <a:off x="5553075" y="347982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4</a:t>
            </a:r>
          </a:p>
        </p:txBody>
      </p:sp>
      <p:sp>
        <p:nvSpPr>
          <p:cNvPr id="89" name="Rectangle 172"/>
          <p:cNvSpPr>
            <a:spLocks noChangeArrowheads="1"/>
          </p:cNvSpPr>
          <p:nvPr/>
        </p:nvSpPr>
        <p:spPr bwMode="auto">
          <a:xfrm>
            <a:off x="3552825" y="1628800"/>
            <a:ext cx="2447925" cy="4305300"/>
          </a:xfrm>
          <a:prstGeom prst="rect">
            <a:avLst/>
          </a:prstGeom>
          <a:noFill/>
          <a:ln w="19080">
            <a:solidFill>
              <a:srgbClr val="D1D1F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1" name="사각형: 둥근 모서리 26">
            <a:extLst>
              <a:ext uri="{FF2B5EF4-FFF2-40B4-BE49-F238E27FC236}">
                <a16:creationId xmlns:a16="http://schemas.microsoft.com/office/drawing/2014/main" id="{0E4A983E-CA26-604D-09BD-211D71016DD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1DD24D-FF12-3894-E23F-6A8B7D676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13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image4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23528" y="1370159"/>
            <a:ext cx="8496944" cy="4612231"/>
          </a:xfrm>
          <a:prstGeom prst="rect">
            <a:avLst/>
          </a:prstGeom>
          <a:noFill/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DF4E7F9F-E81E-264F-67F1-2261EF859E8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5359606-F14A-DDEC-A185-BDD0EFB4D7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03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1" name="_x193052136" descr="EMB000020045b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40" y="1700745"/>
            <a:ext cx="8362684" cy="394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직사각형 6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3DC963F6-25B8-BBCC-1B04-3CE6E09A0901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375A2A-DA98-9997-0E24-F0F1B6CF56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87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539552" y="1340768"/>
          <a:ext cx="7992888" cy="4621369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8">
                <a:tc row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번호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LOG-01-01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신규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/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기존 선택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9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기능설명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앱의 첫 화면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기존회원은 자신이 연동했던 계정으로 로그인을 할 수 있음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신규 회원은 회원가입을 할 수 있음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처리내용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∎기존회원의 로그인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자신이 연동했던 계정으로 로그인을 할 수 있음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b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계정의 아이콘을 누르면 로그인 창으로 넘어감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∎신규 회원의 회원가입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‘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시작하기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’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버튼을 눌러 신규 회원의 회원가입 창으로 넘어감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자신이 연동하고 싶은 계정의 아이콘을 누르면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각각의 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API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에 따라 회원 가입 창으로 이동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∎연결되는 기능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 연동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요구사항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계정연동 및 회원가입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121" name="_x278366352" descr="EMB00002bb84fc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5733" r="49615" b="3430"/>
          <a:stretch>
            <a:fillRect/>
          </a:stretch>
        </p:blipFill>
        <p:spPr bwMode="auto">
          <a:xfrm>
            <a:off x="655856" y="1825665"/>
            <a:ext cx="1899920" cy="362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0FA5E0F8-8CC6-A87D-AD96-28772427EC8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6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24356" y="1196753"/>
          <a:ext cx="7388004" cy="1740154"/>
        </p:xfrm>
        <a:graphic>
          <a:graphicData uri="http://schemas.openxmlformats.org/drawingml/2006/table">
            <a:tbl>
              <a:tblPr/>
              <a:tblGrid>
                <a:gridCol w="122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2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64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기능정보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 기능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기기별로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시간을 예약할 수 있는 기능이다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5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처리내용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도면에 등록된 기기 중 사용자가 시간을 예약하고자 하는 기기를 누른다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화면에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버튼이 출력되면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 설정하고자 하는 버튼을 누른다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기기를 작동하고자 하는 시간을 입력한다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기기의 작동을 중지시키고자 하는 시간을 입력한다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입력한 시간과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입력한 시간 사이에 기기가 작동한다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버튼만 누른 경우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시간을 지정하지 않고 기기를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상태로 유지시킨다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버튼만 누른 경우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켜져있는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기기를 예약된 시간에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시키기만 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관련번호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CP-7, FN-7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00496" y="3068961"/>
          <a:ext cx="7411864" cy="2088231"/>
        </p:xfrm>
        <a:graphic>
          <a:graphicData uri="http://schemas.openxmlformats.org/drawingml/2006/table">
            <a:tbl>
              <a:tblPr/>
              <a:tblGrid>
                <a:gridCol w="1291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7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사용 예시 정보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0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예약을 원하는 기기를 클릭하고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버튼을 누른 후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기기를 작동하고 싶은 시간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작동을 중지시키고 싶은 시간을 입력하면 예약한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시간동안에만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기기가 작동한다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 데이터 값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원하는 기기를 선택한 후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기기를 켜는 시간과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기기를 끄는 시간을 입력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457" name="_x280090008" descr="EMB00002bb84fe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86" y="3429000"/>
            <a:ext cx="926570" cy="168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03649" y="5229200"/>
          <a:ext cx="3736303" cy="1070102"/>
        </p:xfrm>
        <a:graphic>
          <a:graphicData uri="http://schemas.openxmlformats.org/drawingml/2006/table">
            <a:tbl>
              <a:tblPr/>
              <a:tblGrid>
                <a:gridCol w="78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696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입출력 데이터 항목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입출력구분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 이벤트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기기를 클릭한 후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 입력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 작동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예약한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시간동안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 작동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211960" y="5238078"/>
          <a:ext cx="3672408" cy="1089660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696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선행필수기능 및 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시간만 입력한 경우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시간은 지정하지 않고 기기를 계속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상태로 유지시킨다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시간만 입력한 경우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시간은 지정하지 않고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켜져있는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시키기만 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95619872-8C5B-7BF6-3DE5-01466CA902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7" name="사각형: 둥근 모서리 26">
            <a:extLst>
              <a:ext uri="{FF2B5EF4-FFF2-40B4-BE49-F238E27FC236}">
                <a16:creationId xmlns:a16="http://schemas.microsoft.com/office/drawing/2014/main" id="{6EE6A61D-0EA7-9A46-E087-D9299DC2509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3665573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34704"/>
            <a:ext cx="4896544" cy="439251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1357167"/>
            <a:ext cx="5137215" cy="3944041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91323CDD-5E9E-C59E-00BC-F6A0C5B7205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7511D3-092B-0E5E-ADB8-4B746E2E65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제목 12">
            <a:extLst>
              <a:ext uri="{FF2B5EF4-FFF2-40B4-BE49-F238E27FC236}">
                <a16:creationId xmlns:a16="http://schemas.microsoft.com/office/drawing/2014/main" id="{F073248A-68DC-126C-08AC-5D561EF158D1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7704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78" y="1233293"/>
            <a:ext cx="8432800" cy="4777019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CC4BBFF7-CD92-B35B-7F09-53871FF03D60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B8AE8E0-AD17-92BC-538B-30035A166B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제목 12">
            <a:extLst>
              <a:ext uri="{FF2B5EF4-FFF2-40B4-BE49-F238E27FC236}">
                <a16:creationId xmlns:a16="http://schemas.microsoft.com/office/drawing/2014/main" id="{672C8274-EFDB-6E3A-A8A8-52D837517324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0389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309564"/>
              </p:ext>
            </p:extLst>
          </p:nvPr>
        </p:nvGraphicFramePr>
        <p:xfrm>
          <a:off x="298210" y="1216519"/>
          <a:ext cx="8547580" cy="5020793"/>
        </p:xfrm>
        <a:graphic>
          <a:graphicData uri="http://schemas.openxmlformats.org/drawingml/2006/table">
            <a:tbl>
              <a:tblPr/>
              <a:tblGrid>
                <a:gridCol w="123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7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분류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기능번호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명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54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신규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기존 선택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신규 회원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계정연동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신규 회원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회원가입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LOG-01-04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로그인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FAV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FAV-02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즐겨 찾는 병원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54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구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군 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읍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동 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현재위치로 설정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병원종류 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734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이하 생략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D1689A0B-A7D8-D8ED-64B0-385C3B6772C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052307-33C6-8A6E-99FA-D8F564BAD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91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개발 환경 및 설명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60068"/>
              </p:ext>
            </p:extLst>
          </p:nvPr>
        </p:nvGraphicFramePr>
        <p:xfrm>
          <a:off x="450882" y="1268760"/>
          <a:ext cx="8242236" cy="4954434"/>
        </p:xfrm>
        <a:graphic>
          <a:graphicData uri="http://schemas.openxmlformats.org/drawingml/2006/table">
            <a:tbl>
              <a:tblPr/>
              <a:tblGrid>
                <a:gridCol w="825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1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적용내역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187"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개발환경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 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App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Android Studio (1.2.2)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Android application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프로그램 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Beacon SDK</a:t>
                      </a:r>
                      <a:b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(RECO/Estimote SDK)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 신호를 탐지하고 처리하기 위해 사용 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안드로이드 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OS(5.0.1)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 운영체제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 애플리케이션 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PHP(5.3.3)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 관리자 웹 페이지 처리 모듈 작성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MySQL(5.1.73)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 위치 정보를 포함하는 스마트 도서관 데이터를 저장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관리하는 데이터베이스 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Apache(1.7.1)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관리자 웹 페이지를 구동하는 웹 서버 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　운영체제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리눅스 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CentOS 6.6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Putty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 서버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CentOS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원격 접속용 툴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1818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H/W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구성장비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디바이스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</a:t>
                      </a:r>
                      <a:b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안드로이드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아이폰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사용자에게 서비스를 직접적으로 제공하는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End Device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Estimote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iBeacon, </a:t>
                      </a: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Reco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Beacon)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Region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정보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Mac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주소 등의 정보를 블루투스 신호를 이용해서 지속적으로 신호를 보내는 신호 발생기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통신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블루투스 통신 어댑터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비콘과 스마트폰이 블루투스 통신하기 위한 하드웨어 모듈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무선 랜 어댑터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스마트폰과 웹서버 통신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 서버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SW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 및 테스트를 위한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서버</a:t>
                      </a:r>
                      <a:b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(Server,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리눅스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OS,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유선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NW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44E9C056-C2F0-90E7-A8D6-C4A7F72E7BF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FA21BE-BF57-0869-9170-38A087961F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26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-S/W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1" y="1812454"/>
            <a:ext cx="4258129" cy="27689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6" y="1884038"/>
            <a:ext cx="3501585" cy="2697363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AFF764EB-22DF-A175-1421-5773B08BCB8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6CF3D6-54AD-664D-A74A-7B5AB14258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13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3096344" cy="3178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-H/W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57" y="1935749"/>
            <a:ext cx="7899400" cy="3695700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506AB3E1-AE74-9160-3B88-1E1B34C06951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960E464-F9BA-E972-3A6A-9DF7CBA2EF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3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동영상 촬영 콘티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3" y="3798060"/>
            <a:ext cx="5877702" cy="215121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78" y="1508629"/>
            <a:ext cx="5855816" cy="2157906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C7500637-46CD-7B82-4D3C-E50C3719767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90139F4-3D90-BC08-F57D-2AEEFFE84A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9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프로젝트 관리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2793828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3131840" y="1468773"/>
            <a:ext cx="288032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6084168" y="1484784"/>
            <a:ext cx="2981592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849" y="1916832"/>
            <a:ext cx="2870229" cy="2529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7872" y="15166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/>
              <a:t>이슈관리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7" y="1988840"/>
            <a:ext cx="2808313" cy="23725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03848" y="14847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형상관리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972217"/>
            <a:ext cx="2692556" cy="23891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7660" y="148478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프로젝트 관리</a:t>
            </a:r>
          </a:p>
        </p:txBody>
      </p:sp>
      <p:sp>
        <p:nvSpPr>
          <p:cNvPr id="24" name="사각형: 둥근 모서리 26">
            <a:extLst>
              <a:ext uri="{FF2B5EF4-FFF2-40B4-BE49-F238E27FC236}">
                <a16:creationId xmlns:a16="http://schemas.microsoft.com/office/drawing/2014/main" id="{01E962C8-CE2A-8E9B-B0A0-BDF35F75C2E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26D0B7D-EFC9-128F-423A-9281E7C679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10800000">
            <a:off x="4306022" y="3226032"/>
            <a:ext cx="4837978" cy="3615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963451" y="2998113"/>
            <a:ext cx="32170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rgbClr val="3B5AA8"/>
                </a:solidFill>
              </a:rPr>
              <a:t>Thank you</a:t>
            </a:r>
            <a:endParaRPr lang="ko-KR" altLang="en-US" sz="5000" b="1" spc="-150" dirty="0">
              <a:solidFill>
                <a:srgbClr val="3B5AA8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71600" y="6502764"/>
            <a:ext cx="705678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B488D3-AF34-7CBE-A60C-C2CAAAD8CA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6907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 lIns="73152" t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6692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E0000"/>
                </a:solidFill>
                <a:latin typeface="맑은 고딕"/>
              </a:rPr>
              <a:t>UC-01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7955279" cy="47548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800" b="1">
                <a:solidFill>
                  <a:srgbClr val="3B5AA8"/>
                </a:solidFill>
                <a:latin typeface="맑은 고딕"/>
              </a:rPr>
              <a:t>배터리 자산 등록 및 측정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10528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E0000"/>
                </a:solidFill>
                <a:latin typeface="맑은 고딕"/>
              </a:rPr>
              <a:t>※ AI 배터리 열폭주 조기감지 관제 시스템 유즈케이스 정의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64208"/>
          <a:ext cx="8001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766560"/>
              </a:tblGrid>
              <a:tr h="38404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유즈케이스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UC-01  배터리 자산 등록 및 측정 시작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행위자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일반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새 배터리 또는 재연결 배터리를 자산으로 선택하고 측정 세션을 시작한다.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로그인 완료, 라즈베리파이 진단기 온라인, 배터리 자산관리 화면 접근.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1. 새 배터리 등록 또는 저장된 배터리 선택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2. 배터리 연결 확인 모달에서 대상 확인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3. 백엔드가 measurement_session 생성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4. Consumer가 raw 데이터에 battery_id를 태깅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예외/대안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디바이스 미연결 시 측정 시작 차단, active 세션 중복 시 기존 세션 종료 또는 재선택 안내.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선택한 battery_id 기준으로 실시간 데이터와 이상 이력이 누적된다.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 lIns="73152" t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6692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E0000"/>
                </a:solidFill>
                <a:latin typeface="맑은 고딕"/>
              </a:rPr>
              <a:t>UC-02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7955279" cy="47548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800" b="1">
                <a:solidFill>
                  <a:srgbClr val="3B5AA8"/>
                </a:solidFill>
                <a:latin typeface="맑은 고딕"/>
              </a:rPr>
              <a:t>실시간 관제 및 위험 상태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10528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E0000"/>
                </a:solidFill>
                <a:latin typeface="맑은 고딕"/>
              </a:rPr>
              <a:t>※ AI 배터리 열폭주 조기감지 관제 시스템 유즈케이스 정의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64208"/>
          <a:ext cx="8001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766560"/>
              </a:tblGrid>
              <a:tr h="38404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유즈케이스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UC-02  실시간 관제 및 위험 상태 확인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행위자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일반 사용자 / 현장 운영자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측정 중인 배터리의 전압·전류·온도·SOC와 이상점수를 한 화면에서 확인한다.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측정 세션 active, WebSocket 연결 또는 재연결 대기 상태.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1. 대시보드 진입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2. 센서 현재값과 상태 배지 확인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3. 이상점수 추세와 위험도 분포 확인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4. 최근 이벤트에서 상세 화면으로 이동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예외/대안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WebSocket 끊김 시 자동 재연결 상태 표시, 데이터 지연 시 DELAYED/확인불가 상태 표시.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운영자는 위험 단계와 우선 대응 액션을 즉시 판단한다.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 lIns="73152" t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6692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E0000"/>
                </a:solidFill>
                <a:latin typeface="맑은 고딕"/>
              </a:rPr>
              <a:t>UC-03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7955279" cy="47548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800" b="1">
                <a:solidFill>
                  <a:srgbClr val="3B5AA8"/>
                </a:solidFill>
                <a:latin typeface="맑은 고딕"/>
              </a:rPr>
              <a:t>AI 이상탐지 상세 및 근거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10528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E0000"/>
                </a:solidFill>
                <a:latin typeface="맑은 고딕"/>
              </a:rPr>
              <a:t>※ AI 배터리 열폭주 조기감지 관제 시스템 유즈케이스 정의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64208"/>
          <a:ext cx="8001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766560"/>
              </a:tblGrid>
              <a:tr h="38404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유즈케이스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UC-03  AI 이상탐지 상세 및 근거 확인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행위자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일반 사용자 / 연구·개발자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이상점수가 상승한 원인을 XAI 패널과 센서 기여 요인으로 해석한다.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AI 추론 결과가 battery-anomaly-alerts로 발행되고 이벤트가 저장됨.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1. 이상 탐지 관리 화면 진입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2. 활성 이상 이벤트 선택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3. V_drop, dT/dt, gas_raw, pressure_raw 기여도 확인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4. 과거 세션·SOH/RUL과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예외/대안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AI 서버 미응답 시 모델 상태를 확인불가로 표시, 일부 센서 미수집 시 해당 특징 제외.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사용자는 알림 확인, 추가 관찰, 릴레이 차단 여부를 판단할 근거를 확보한다.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 lIns="73152" t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6692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E0000"/>
                </a:solidFill>
                <a:latin typeface="맑은 고딕"/>
              </a:rPr>
              <a:t>UC-04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7955279" cy="47548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800" b="1">
                <a:solidFill>
                  <a:srgbClr val="3B5AA8"/>
                </a:solidFill>
                <a:latin typeface="맑은 고딕"/>
              </a:rPr>
              <a:t>알림 확인 및 릴레이 차단 대응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10528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E0000"/>
                </a:solidFill>
                <a:latin typeface="맑은 고딕"/>
              </a:rPr>
              <a:t>※ AI 배터리 열폭주 조기감지 관제 시스템 유즈케이스 정의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64208"/>
          <a:ext cx="8001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766560"/>
              </a:tblGrid>
              <a:tr h="38404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유즈케이스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UC-04  알림 확인 및 릴레이 차단 대응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행위자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일반 사용자 / 현장 운영자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경고·위험 이벤트를 확인하고 필요한 경우 Kill-Switch 차단을 실행한다.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위험 이벤트 발생, 알림 센터 또는 대시보드에서 대응 액션 노출.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1. 인앱·카카오 알림 확인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2. 알림 Ack와 SOP 확인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3. 릴레이 제어 화면 진입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4. 재인증·사유 입력 후 차단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예외/대안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Fail-Safe 자동 차단 시 사유 모달 우선 표시, 권한 부족 시 제어 실행 차단.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릴레이 상태와 대응 이력이 이벤트·감사 로그에 남는다.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 lIns="73152" t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6692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E0000"/>
                </a:solidFill>
                <a:latin typeface="맑은 고딕"/>
              </a:rPr>
              <a:t>UC-05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7955279" cy="47548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800" b="1">
                <a:solidFill>
                  <a:srgbClr val="3B5AA8"/>
                </a:solidFill>
                <a:latin typeface="맑은 고딕"/>
              </a:rPr>
              <a:t>추세·이벤트 이력 분석과 내보내기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10528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E0000"/>
                </a:solidFill>
                <a:latin typeface="맑은 고딕"/>
              </a:rPr>
              <a:t>※ AI 배터리 열폭주 조기감지 관제 시스템 유즈케이스 정의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64208"/>
          <a:ext cx="8001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766560"/>
              </a:tblGrid>
              <a:tr h="38404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유즈케이스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UC-05  추세·이벤트 이력 분석과 내보내기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행위자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일반 사용자 / 연구·개발자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배터리별 측정 이력과 이상 이벤트를 분석하고 결과를 공유 가능한 파일로 내보낸다.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측정 세션 및 이벤트 이력 데이터가 저장되어 있음.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1. 추세 차트에서 기간·지표 선택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2. 배터리 또는 세션 비교 추가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3. 이벤트 상태·검색어·정렬 조건 적용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4. CSV 또는 PDF 내보내기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예외/대안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조회 데이터가 없으면 빈 상태 안내, 내보내기 실패 시 재시도 또는 조건 축소 안내.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실험 보고, 장애 분석, 팀 공유에 사용할 근거 자료가 생성된다.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 lIns="73152" t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6692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E0000"/>
                </a:solidFill>
                <a:latin typeface="맑은 고딕"/>
              </a:rPr>
              <a:t>UC-06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7955279" cy="47548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800" b="1">
                <a:solidFill>
                  <a:srgbClr val="3B5AA8"/>
                </a:solidFill>
                <a:latin typeface="맑은 고딕"/>
              </a:rPr>
              <a:t>관리자 통합 관제 및 감사 추적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510528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E0000"/>
                </a:solidFill>
                <a:latin typeface="맑은 고딕"/>
              </a:rPr>
              <a:t>※ AI 배터리 열폭주 조기감지 관제 시스템 유즈케이스 정의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64208"/>
          <a:ext cx="8001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766560"/>
              </a:tblGrid>
              <a:tr h="38404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유즈케이스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UC-06  관리자 통합 관제 및 감사 추적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</a:tr>
              <a:tr h="420624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행위자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전체 사용자·배터리·디바이스 상태를 확인하고 운영 변경 이력을 추적한다.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ADMIN 권한 로그인, /admin/* 접근 권한 검증 통과.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1. 관리자 대시보드에서 전체 요약 확인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2. 유저·배터리·디바이스 상세 조회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3. 계정 정지/해제 또는 배터리 운영 상태 변경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232323"/>
                          </a:solidFill>
                          <a:latin typeface="맑은 고딕"/>
                        </a:rPr>
                        <a:t>4. 감사 로그에서 변경 전후 값과 사유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예외/대안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권한 없음은 접근 거부 및 감사 기록, BLOCKED 변경은 사유 미입력 시 저장 차단.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45720" rIns="45720" tIns="27432" bIns="27432" anchor="ctr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3B5AA8"/>
                          </a:solidFill>
                          <a:latin typeface="맑은 고딕"/>
                        </a:rPr>
                        <a:t>사후조건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 lIns="45720" rIns="45720" tIns="27432" bIns="27432" anchor="ctr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0" b="0">
                          <a:solidFill>
                            <a:srgbClr val="232323"/>
                          </a:solidFill>
                          <a:latin typeface="맑은 고딕"/>
                        </a:rPr>
                        <a:t>운영 판단과 변경 내역이 audit_log로 보존된다.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1575</Words>
  <Application>Microsoft Macintosh PowerPoint</Application>
  <PresentationFormat>화면 슬라이드 쇼(4:3)</PresentationFormat>
  <Paragraphs>420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맑은 고딕</vt:lpstr>
      <vt:lpstr>Arial</vt:lpstr>
      <vt:lpstr>Calibri</vt:lpstr>
      <vt:lpstr>Times New Roman</vt:lpstr>
      <vt:lpstr>Trebuchet MS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이낙선</dc:creator>
  <cp:lastModifiedBy>정재환</cp:lastModifiedBy>
  <cp:revision>287</cp:revision>
  <dcterms:created xsi:type="dcterms:W3CDTF">2014-04-16T00:55:54Z</dcterms:created>
  <dcterms:modified xsi:type="dcterms:W3CDTF">2026-07-03T14:07:08Z</dcterms:modified>
</cp:coreProperties>
</file>