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378" r:id="rId2"/>
    <p:sldId id="400" r:id="rId3"/>
    <p:sldId id="334" r:id="rId4"/>
    <p:sldId id="379" r:id="rId5"/>
    <p:sldId id="380" r:id="rId6"/>
    <p:sldId id="315" r:id="rId7"/>
    <p:sldId id="365" r:id="rId8"/>
    <p:sldId id="387" r:id="rId9"/>
    <p:sldId id="381" r:id="rId10"/>
    <p:sldId id="382" r:id="rId11"/>
    <p:sldId id="383" r:id="rId12"/>
    <p:sldId id="384" r:id="rId13"/>
    <p:sldId id="385" r:id="rId14"/>
    <p:sldId id="386" r:id="rId15"/>
    <p:sldId id="371" r:id="rId16"/>
    <p:sldId id="396" r:id="rId17"/>
    <p:sldId id="397" r:id="rId18"/>
    <p:sldId id="325" r:id="rId19"/>
    <p:sldId id="309" r:id="rId20"/>
    <p:sldId id="367" r:id="rId21"/>
    <p:sldId id="368" r:id="rId22"/>
    <p:sldId id="328" r:id="rId23"/>
    <p:sldId id="329" r:id="rId24"/>
    <p:sldId id="390" r:id="rId25"/>
    <p:sldId id="391" r:id="rId26"/>
    <p:sldId id="392" r:id="rId27"/>
    <p:sldId id="393" r:id="rId28"/>
    <p:sldId id="394" r:id="rId29"/>
    <p:sldId id="395" r:id="rId30"/>
    <p:sldId id="398" r:id="rId31"/>
    <p:sldId id="399" r:id="rId32"/>
    <p:sldId id="339" r:id="rId33"/>
    <p:sldId id="388" r:id="rId34"/>
    <p:sldId id="389" r:id="rId35"/>
    <p:sldId id="287" r:id="rId36"/>
    <p:sldId id="361" r:id="rId37"/>
    <p:sldId id="362" r:id="rId38"/>
    <p:sldId id="360" r:id="rId39"/>
    <p:sldId id="364" r:id="rId40"/>
    <p:sldId id="294" r:id="rId4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D6EE76-2EED-433F-9637-FA0455F98D15}">
          <p14:sldIdLst>
            <p14:sldId id="378"/>
            <p14:sldId id="400"/>
            <p14:sldId id="334"/>
            <p14:sldId id="379"/>
            <p14:sldId id="380"/>
            <p14:sldId id="315"/>
          </p14:sldIdLst>
        </p14:section>
        <p14:section name="#시장/기술 동향 분석" id="{357797F0-A98A-4318-A2D8-8E1945E987DF}">
          <p14:sldIdLst/>
        </p14:section>
        <p14:section name="#설문조사분석" id="{C10038CF-01F2-4ACA-88F0-E784E01BC942}">
          <p14:sldIdLst>
            <p14:sldId id="365"/>
            <p14:sldId id="387"/>
            <p14:sldId id="381"/>
            <p14:sldId id="382"/>
            <p14:sldId id="383"/>
            <p14:sldId id="384"/>
            <p14:sldId id="385"/>
            <p14:sldId id="386"/>
            <p14:sldId id="371"/>
            <p14:sldId id="396"/>
            <p14:sldId id="397"/>
            <p14:sldId id="325"/>
            <p14:sldId id="309"/>
            <p14:sldId id="367"/>
            <p14:sldId id="368"/>
            <p14:sldId id="328"/>
            <p14:sldId id="329"/>
            <p14:sldId id="390"/>
            <p14:sldId id="391"/>
            <p14:sldId id="392"/>
            <p14:sldId id="393"/>
            <p14:sldId id="394"/>
            <p14:sldId id="395"/>
            <p14:sldId id="398"/>
            <p14:sldId id="399"/>
          </p14:sldIdLst>
        </p14:section>
        <p14:section name="설계단계" id="{079FB007-4044-4E60-AD09-4E9512A5438F}">
          <p14:sldIdLst>
            <p14:sldId id="339"/>
            <p14:sldId id="388"/>
            <p14:sldId id="389"/>
            <p14:sldId id="287"/>
            <p14:sldId id="361"/>
            <p14:sldId id="362"/>
            <p14:sldId id="360"/>
            <p14:sldId id="364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452"/>
    <a:srgbClr val="3B5AA8"/>
    <a:srgbClr val="003399"/>
    <a:srgbClr val="77787B"/>
    <a:srgbClr val="9999FF"/>
    <a:srgbClr val="E2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68" autoAdjust="0"/>
    <p:restoredTop sz="94821" autoAdjust="0"/>
  </p:normalViewPr>
  <p:slideViewPr>
    <p:cSldViewPr>
      <p:cViewPr varScale="1">
        <p:scale>
          <a:sx n="48" d="100"/>
          <a:sy n="48" d="100"/>
        </p:scale>
        <p:origin x="200" y="18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AA5D5A-343A-4C1A-BC9D-610EC8B80F49}" type="datetimeFigureOut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D85EE-51FF-49B2-AE4A-EF643293EA7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48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216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08C18-F846-4F83-9E4A-EF96E909B73F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DBE8A-08A0-4AE2-B806-C9B9A473B0E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617245"/>
            <a:ext cx="2133600" cy="196131"/>
          </a:xfrm>
        </p:spPr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30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3E15-7006-4370-B5F6-60D7104AE3B4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832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0D11-2C95-44F2-9DFC-D0C737CB5390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58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845-0C4F-469E-8726-3EBFD71077A7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99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FC019-3CDA-4483-987D-B12D1EB4D23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9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36E48-2907-481B-8F8C-35E94B4338B9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8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1E666-04C9-40C3-88DF-F7C22C7A61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461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7B48-006F-4BC1-BDC8-3C8CA726AC1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0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2DE9A-8BD0-4588-90EC-B8326F0668FE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3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8B5EE-9957-45ED-8881-249F27AAE9B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982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6EC2E-D34C-4476-B4C7-64731BF565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8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0" y="4509120"/>
            <a:ext cx="9144000" cy="2348880"/>
          </a:xfrm>
          <a:prstGeom prst="rect">
            <a:avLst/>
          </a:prstGeom>
          <a:solidFill>
            <a:srgbClr val="E2E6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Picture 13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21600000">
            <a:off x="0" y="764704"/>
            <a:ext cx="4716016" cy="352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115616" y="1916832"/>
            <a:ext cx="70823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SW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개발</a:t>
            </a:r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/HW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제작 설계서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688" y="3933056"/>
            <a:ext cx="6389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-150" dirty="0">
                <a:solidFill>
                  <a:srgbClr val="77787B"/>
                </a:solidFill>
              </a:rPr>
              <a:t>프로젝트 명 </a:t>
            </a:r>
            <a:r>
              <a:rPr lang="en-US" altLang="ko-KR" sz="2400" b="1" spc="-150" dirty="0">
                <a:solidFill>
                  <a:srgbClr val="77787B"/>
                </a:solidFill>
              </a:rPr>
              <a:t>:</a:t>
            </a:r>
            <a:endParaRPr lang="ko-KR" altLang="en-US" sz="2400" b="1" spc="-150" dirty="0">
              <a:solidFill>
                <a:srgbClr val="77787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8680" y="4754468"/>
            <a:ext cx="7526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2026. 00. 00</a:t>
            </a:r>
          </a:p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팀명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1600" i="1" dirty="0">
                <a:solidFill>
                  <a:srgbClr val="FF0000"/>
                </a:solidFill>
                <a:latin typeface="+mn-ea"/>
              </a:rPr>
              <a:t>팀원 이름 및 소속 본문 내 기입 불가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D47B2-ECB2-FCC5-FD1D-67B0181295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sp>
        <p:nvSpPr>
          <p:cNvPr id="21" name="TextBox 20"/>
          <p:cNvSpPr txBox="1"/>
          <p:nvPr/>
        </p:nvSpPr>
        <p:spPr>
          <a:xfrm>
            <a:off x="457200" y="105156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3864"/>
                </a:solidFill>
                <a:latin typeface="맑은 고딕"/>
              </a:rPr>
              <a:t>스마트 배터리 실측 데이터 기반 AI 이상탐지·진단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385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배터리 열폭주 전조 조기 탐지 · 정상패턴 학습 기반 예측형 안전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60604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C05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502C"/>
                </a:solidFill>
                <a:latin typeface="맑은 고딕"/>
              </a:rPr>
              <a:t>추진 배경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항공기 기내 보조배터리 발화·전기차 화재 등 Li-ion 배터리 안전 문제가 사회적 이슈로 부상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기존 보조배터리는 단순 보호회로(PCM) 기반 → 이상 발생 전 전조 증상 사전 인지 곤란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현재 배터리 관리 방식은 임계치 기반 차단(사후 대응) 중심으로 예측 기반 기술 부재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내부 단락·열폭주·출력 불안정은 발생 전 미세한 전압·임피던스 변화를 동반 → 조기 탐지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60604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프로젝트 목적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1셀 Li-ion 스마트 배터리팩 + Fuel Gauge·다중 센서로 전압·전류·온도·SOC 실측 데이터 수집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LSTM-AutoEncoder 기반 AI로 정상 패턴을 학습, 정상에서 벗어나는 이상 징후를 조기 탐지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임계치 사후 차단이 아닌, 정상패턴 학습 기반 사전 예측형 배터리 안전 관리 체계 구축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웹 대시보드로 상태·이상 점수·경고를 실시간 시각화하는 통합 관제 플랫폼 완성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7" name="Picture 0">
            <a:extLst>
              <a:ext uri="{FF2B5EF4-FFF2-40B4-BE49-F238E27FC236}">
                <a16:creationId xmlns:a16="http://schemas.microsoft.com/office/drawing/2014/main" id="{605C9BB6-4E72-458C-9824-E2ABB039B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2276872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61679FF-2530-4C13-A9F0-6540734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134092" y="2691748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C761DCE7-BBAE-4AAA-A355-3EAB02C6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845541" y="4002502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232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/>
        </p:nvGraphicFramePr>
        <p:xfrm>
          <a:off x="439662" y="3895664"/>
          <a:ext cx="8409197" cy="175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201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359055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13818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16612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514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PCB </a:t>
                      </a:r>
                      <a:r>
                        <a:rPr lang="ko-KR" altLang="en-US" sz="900"/>
                        <a:t>회로 설계 및 개발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데이터 수집 및 파이프라인 구축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열폭주 이상 징후 </a:t>
                      </a:r>
                      <a:r>
                        <a:rPr lang="en-US" altLang="ko-KR" sz="900"/>
                        <a:t>AI  </a:t>
                      </a:r>
                      <a:r>
                        <a:rPr lang="ko-KR" altLang="en-US" sz="900"/>
                        <a:t>모델 구현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웹 모니터링 및 통계 대시보드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1026" name="Picture 2" descr="드림 팀 템플릿">
            <a:extLst>
              <a:ext uri="{FF2B5EF4-FFF2-40B4-BE49-F238E27FC236}">
                <a16:creationId xmlns:a16="http://schemas.microsoft.com/office/drawing/2014/main" id="{7F47451F-275C-4A1B-B3C1-B21E66817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1" t="17264" r="5623" b="38093"/>
          <a:stretch/>
        </p:blipFill>
        <p:spPr bwMode="auto">
          <a:xfrm>
            <a:off x="664072" y="1128046"/>
            <a:ext cx="7960374" cy="229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652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188345" y="821478"/>
            <a:ext cx="8656862" cy="332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280951" y="414739"/>
            <a:ext cx="2562857" cy="348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62" b="1"/>
              <a:t>일정 및 진척도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84048" y="1115568"/>
          <a:ext cx="7982712" cy="4741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37744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내용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일정 (2026년)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진척도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2월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3월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4월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5월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6월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계획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프로젝트 요구사항 정의, 팀원별 역할 확정, 부품 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열화 특성·시계열 AI 선행 논문 분석, 센서 I2C 통신 규격(Datasheet) 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설계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1S 배터리팩 회로도(BMS·TP4056) 및 DB 스키마 설계, 시스템 아키텍처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(H/W·펌웨어)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배터리팩 제작 및 라즈베리파이 기반 다중 센서 데이터 계측/로깅 시스템 구현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(AI 모델링)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정상 데이터 수집 및 TensorFlow 기반 LSTM-AutoEncoder 알고리즘 학습/최적화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(DB·웹)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DB 적재 파이프라인 구축 및 React/Spring Boot 기반 모니터링 UI 개발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H/W-S/W 연동 테스트, 임의 이상 환경(과열/과부하) 조성을 통한 AI 탐지율·신뢰성 검증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종료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최종 결과 보고서 작성, 프로젝트 시연 영상 제작, 한이음 공모전 출품 마무리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온라인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주 1회 온라인 회의로 각 팀원의 진행 결과·이슈 공유 (매월 진행)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매월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오프라인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멘토링 및 H/W 제작·통합 테스트를 위한 팀원 대면 모임 (8월 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84048" y="5961888"/>
            <a:ext cx="8375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0AD47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완료(경과)   </a:t>
            </a:r>
            <a:r>
              <a:rPr sz="900" b="1">
                <a:solidFill>
                  <a:srgbClr val="FFC000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진행중(현재·7월)   </a:t>
            </a:r>
            <a:r>
              <a:rPr sz="900" b="1">
                <a:solidFill>
                  <a:srgbClr val="BDD7EE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예정        </a:t>
            </a:r>
            <a:r>
              <a:rPr sz="800" b="0">
                <a:solidFill>
                  <a:srgbClr val="808080"/>
                </a:solidFill>
                <a:latin typeface="맑은 고딕"/>
              </a:rPr>
              <a:t>※ 진척도는 중간보고 시점(2026년 7월) 기준</a:t>
            </a:r>
          </a:p>
        </p:txBody>
      </p:sp>
    </p:spTree>
    <p:extLst>
      <p:ext uri="{BB962C8B-B14F-4D97-AF65-F5344CB8AC3E}">
        <p14:creationId xmlns:p14="http://schemas.microsoft.com/office/powerpoint/2010/main" val="343748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수행 단계별 주요 산출물</a:t>
            </a: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525809"/>
              </p:ext>
            </p:extLst>
          </p:nvPr>
        </p:nvGraphicFramePr>
        <p:xfrm>
          <a:off x="1187625" y="1510757"/>
          <a:ext cx="7416822" cy="4565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06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단계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산출물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일반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소프트웨어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하드웨어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4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∙모바일 </a:t>
                      </a:r>
                      <a:r>
                        <a:rPr lang="en-US" sz="700" b="1" kern="0" spc="0" dirty="0">
                          <a:effectLst/>
                        </a:rPr>
                        <a:t>APP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∙Web </a:t>
                      </a:r>
                      <a:r>
                        <a:rPr lang="ko-KR" altLang="en-US" sz="700" b="1" kern="0" spc="0" dirty="0">
                          <a:effectLst/>
                        </a:rPr>
                        <a:t>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빅데이터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∙인공지능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∙블록체인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en-US" sz="700" b="1" kern="0" spc="0" dirty="0" err="1">
                          <a:effectLst/>
                        </a:rPr>
                        <a:t>IoT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>
                          <a:effectLst/>
                        </a:rPr>
                        <a:t>로봇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드론</a:t>
                      </a:r>
                      <a:r>
                        <a:rPr lang="ko-KR" altLang="en-US" sz="700" b="1" kern="0" spc="0" dirty="0">
                          <a:effectLst/>
                        </a:rPr>
                        <a:t>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환경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시장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기술 환경 분석서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설문조사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인터뷰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59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요구사항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요구사항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유즈케이스</a:t>
                      </a:r>
                      <a:r>
                        <a:rPr lang="ko-KR" altLang="en-US" sz="800" kern="0" spc="0" dirty="0">
                          <a:effectLst/>
                        </a:rPr>
                        <a:t>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639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아키텍처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구성도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시스템 구성도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흐름도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데이터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UI/UX </a:t>
                      </a:r>
                      <a:r>
                        <a:rPr lang="ko-KR" altLang="en-US" sz="800" kern="0" spc="0" dirty="0">
                          <a:effectLst/>
                        </a:rPr>
                        <a:t>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센서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599">
                <a:tc rowSpan="7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기능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메뉴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화면 설계서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엔티티</a:t>
                      </a:r>
                      <a:r>
                        <a:rPr lang="ko-KR" altLang="en-US" sz="800" kern="0" spc="0" dirty="0">
                          <a:effectLst/>
                        </a:rPr>
                        <a:t> 관계도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기능 처리도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기능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알고리즘 명세서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설명서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데이터 수집처리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 설계도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개발 </a:t>
                      </a:r>
                      <a:r>
                        <a:rPr lang="en-US" altLang="ko-KR" sz="900" b="1" kern="0" spc="0" dirty="0">
                          <a:effectLst/>
                        </a:rPr>
                        <a:t>/ </a:t>
                      </a:r>
                      <a:r>
                        <a:rPr lang="ko-KR" altLang="en-US" sz="900" b="1" kern="0" spc="0" dirty="0">
                          <a:effectLst/>
                        </a:rPr>
                        <a:t>구현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프로그램 목록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테이블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핵심 소스코드 다같이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87624" y="6453336"/>
            <a:ext cx="345638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※ ○ </a:t>
            </a:r>
            <a:r>
              <a:rPr lang="ko-KR" altLang="en-US" sz="1500" dirty="0"/>
              <a:t>필수</a:t>
            </a:r>
            <a:r>
              <a:rPr lang="en-US" altLang="ko-KR" sz="1500" dirty="0"/>
              <a:t>, △ </a:t>
            </a:r>
            <a:r>
              <a:rPr lang="ko-KR" altLang="en-US" sz="1500" dirty="0"/>
              <a:t>선택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688C9C-E99B-9A7D-A7C8-08A531376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84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6A8DEEC-EDDD-D5BE-5FB2-FEBE84D686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이메일로 안전하게 로그인.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카카오·네이버 계정으로 빠른 로그인.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분실 시 인증 후 접근 복구.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분리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역할별 화면 제공 및 접근 권한 제한.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RBAC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세션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로그인 상태 유지 및 미사용 세션 자동 만료.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JWT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및 측정 이력 연결.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UUID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선택 및 이전 이력 연속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세션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시작·종료를 세션 단위로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단일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태깅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센서값과 AI 결과를 선택 배터리에 연결.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장비와 대상 배터리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 저장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원본 데이터 누락 없는 저장.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결과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이상점수와 위험 판단 결과 저장.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구독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후 마지막 처리 지점부터 재처리.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빠른 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 기간 전압·온도·전류 데이터 빠른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인덱스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상태 요약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현재 센서값·이상점수·상태 등급 요약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REST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실시간 반영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새로고침 없는 실시간 변화와 경고 반영.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WS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추세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기간·지표별 추세 그래프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이벤트·오류·제어 이력 검색.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페이징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배터리별 세션·점수·이벤트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시점 값·점수·대응 상태 기록.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이상점수를 4단계 위험 등급으로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4등급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기준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목적별 알림 조건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외부 알림 발송.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 및 주요 변화만 발송.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발송 기록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차단·복구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확인 후 차단·복구 실행.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긴급 차단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 Kill-Switch 연계 차단.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암호화 및 입력값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로그·감사·헬스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PC·태블릿·모바일별 관제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 경고와 놓친 알림 화면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토스트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파일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 데이터와 이벤트 파일 내보내기.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복구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끊김 시 자동 복구와 상태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재연결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접근성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다크모드와 접근성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테마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권한과 활성 상태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통합 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전체 배터리·장비·위험 상태 통합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조회·설정·제어 이력 감사.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audit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서비스 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Kafka·DB·AI 상태 빠른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130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9DE33-0876-5F15-95C5-F2CC9D99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095E6F-DE14-7617-46C4-D44A20EFA3D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975B31C-DFC7-EF89-A59F-F3DA96C99C8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B8D2CDA-0066-7C68-61C8-426AD346AC19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0C058E2-9D9B-2BFA-5FDF-77043E15E0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FBD6A5-57D0-272B-CD58-08C7D9B06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31DC7C6F-DDA7-3A28-F867-D629A87FE6B8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83F56F-3CB5-663B-9D84-FC6ED7E877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공통 임계치와 공지사항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근거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상승 원인 근거별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XAI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수명 예측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건강도와 잔존수명 추정.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SOH/RUL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 시연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시나리오 기반 탐지·알림·차단 검증.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원인 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전후 데이터와 조치 흐름 분석.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포렌식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 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격상과 대응 상태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위험도별 알림 채널 분리.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다중채널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끊김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오프라인과 수신 중단 즉시 경고.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신뢰성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배터리·세션 추세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대응 안내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등급별 즉시 조치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웹푸시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설치형 웹과 웹푸시 알림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PWA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원본·요약 데이터 보존 정책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다국어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한국어·영어 화면 전환.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i18n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2679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점검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체크 완료 후 측정 시작.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조작 권한 확인과 2차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 이력과 만료 경고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 표시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품질 점수와 분석 가능 여부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선택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QR/라벨 기반 배터리 선택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조건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조건 템플릿 저장과 재사용.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템플릿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 자료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진단 자료 일괄 다운로드.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민감 작업 사용자·시간·IP 추적.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백업과 복구 테스트로 데이터 유실 방지.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2580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배터리 자산 등록 및 측정 시작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UC-01  배터리 자산 등록 및 측정 시작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새 배터리 또는 재연결 배터리를 자산으로 선택하고 동일 battery_id로 측정 이력을 이어간다.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백엔드, Consumer, Raspberry Pi 진단기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모든 실시간 관제와 이력 태깅의 시작점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로그인 완료, 진단기 ONLINE, 배터리 자산관리 접근 가능, active 세션이 없거나 종료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저장된 배터리의 '이 배터리 측정' 또는 새 배터리 등록 후 측정 시작을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배터리 등록/선택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연결 확인 모달에서 대상·모드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백엔드가 measurement_session 생성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Consumer가 raw 데이터에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디바이스 미연결: 측정 시작 차단 / active 세션 중복: 기존 세션 종료 또는 재선택 안내 / 미배정 데이터: battery_id=null 경고.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선택 battery_id 기준으로 실시간 데이터, AI 이상점수, 이벤트 이력이 누적된다.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battery_asset, measurement_session, battery-raw-metrics,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 dirty="0">
                          <a:solidFill>
                            <a:srgbClr val="232323"/>
                          </a:solidFill>
                          <a:latin typeface="맑은 고딕"/>
                        </a:rPr>
                        <a:t>REQ-WEB-030~041, SRS-WEB-006, SRS-WEB-007, SRS-WEB-010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실시간 관제 및 위험 상태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UC-02  실시간 관제 및 위험 상태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중인 배터리의 현재 센서값, 상태 등급, 이상점수, 최근 이벤트를 한 화면에서 판단한다.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운영자·일반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WebSocket 서버, Kafka Consumer,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위험 징후를 가장 먼저 확인하는 관제 허브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세션 active, 센서 데이터 수신 중, 사용자 권한 USER 이상, 대시보드 접근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시작 직후 대시보드 진입 또는 배터리 변경 후 관제 화면 자동 이동.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대시보드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전압·전류·온도·SOC와 이상점수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상태 등급과 최근 이벤트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이상탐지/알림/릴레이 화면으로 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WebSocket 끊김: 자동 재연결 표시 / 1~5분 지연: DELAYED / 5분 이상 미수신: OFFLINE 또는 확인불가.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운영자는 정상·주의·경고·위험 상태와 다음 대응 액션을 결정한다.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sensor_metrics, anomaly_score, status_grade, recent_events, websocket heartbeat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REQ-WEB-019~028, REQ-WEB-042, REQ-WEB-061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AI 이상탐지 상세 및 근거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UC-03  AI 이상탐지 상세 및 근거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이상점수가 상승한 이유를 XAI 기여 요인과 과거 이력으로 해석해 대응 근거를 확보한다.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AI 추론 서버, DB, XAI 패널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단순 경고를 설명 가능한 판단으로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AI 추론 결과 저장, 이벤트 또는 점수 이력 존재, 선택 배터리의 세션 이력 조회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대시보드 이상점수 영역 또는 이상 탐지 관리 화면에서 이벤트 상세를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이상 탐지 관리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활성 이상 이벤트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V_drop, dT/dt, gas_raw, pressure_raw 기여도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SOH/RUL·과거 세션과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AI 서버 미응답: 모델 상태 확인불가 / 센서 미수집: 해당 특징 제외 / 이벤트 없음: 빈 상태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사용자는 추가 관찰, 알림 확인, 릴레이 차단 여부를 판단할 설명 근거를 가진다.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battery-anomaly-alerts, feature_contribution, anomaly_event, SOH/RUL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REQ-WEB-021~022, REQ-WEB-042~045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1"/>
          <ns0:cNvSpPr/>
          <ns0:nvPr/>
        </ns0:nvSpPr>
        <ns0:spPr>
          <ns1:xfrm>
            <ns1:off x="109728" y="0"/>
            <ns1:ext cx="3090672" cy="1115568"/>
          </ns1:xfrm>
          <ns1:prstGeom prst="rect">
            <ns1:avLst/>
          </ns1:prstGeom>
          <ns1:solidFill>
            <ns1:srgbClr val="3B5AA8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/>
          </ns1:p>
        </ns0:txBody>
      </ns0:sp>
      <ns0:sp>
        <ns0:nvSpPr>
          <ns0:cNvPr id="3" name="Rectangle 2"/>
          <ns0:cNvSpPr/>
          <ns0:nvPr/>
        </ns0:nvSpPr>
        <ns0:spPr>
          <ns1:xfrm>
            <ns1:off x="429768" y="539496"/>
            <ns1:ext cx="2578608" cy="9144"/>
          </ns1:xfrm>
          <ns1:prstGeom prst="rect">
            <ns1:avLst/>
          </ns1:prstGeom>
          <ns1:solidFill>
            <ns1:srgbClr val="FFFFFF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/>
          </ns1:p>
        </ns0:txBody>
      </ns0:sp>
      <ns0:sp>
        <ns0:nvSpPr>
          <ns0:cNvPr id="4" name="Rectangle 3"/>
          <ns0:cNvSpPr/>
          <ns0:nvPr/>
        </ns0:nvSpPr>
        <ns0:spPr>
          <ns1:xfrm>
            <ns1:off x="3273552" y="548640"/>
            <ns1:ext cx="5376672" cy="9144"/>
          </ns1:xfrm>
          <ns1:prstGeom prst="rect">
            <ns1:avLst/>
          </ns1:prstGeom>
          <ns1:solidFill>
            <ns1:srgbClr val="3B5AA8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/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237744" y="685800"/>
            <ns1:ext cx="2971800" cy="310896"/>
          </ns1:xfrm>
          <ns1:prstGeom prst="rect">
            <ns1:avLst/>
          </ns1:prstGeom>
          <ns1:noFill/>
        </ns0:spPr>
        <ns0:txBody>
          <ns1:bodyPr wrap="none">
            <ns1:spAutoFit/>
          </ns1:bodyPr>
          <ns1:lstStyle/>
          <ns1:p>
            <ns1:r>
              <ns1:rPr sz="1200" b="1">
                <ns1:solidFill>
                  <ns1:srgbClr val="FFFFFF"/>
                </ns1:solidFill>
                <ns1:latin typeface="맑은 고딕"/>
              </ns1:rPr>
              <ns1:t>| 유즈케이스 정의서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594360" y="1170432"/>
            <ns1:ext cx="7955279" cy="310896"/>
          </ns1:xfrm>
          <ns1:prstGeom prst="rect">
            <ns1:avLst/>
          </ns1:prstGeom>
          <ns1:noFill/>
        </ns0:spPr>
        <ns0:txBody>
          <ns1:bodyPr wrap="none" lIns="0">
            <ns1:spAutoFit/>
          </ns1:bodyPr>
          <ns1:lstStyle/>
          <ns1:p>
            <ns1:r>
              <ns1:rPr sz="1600" b="1">
                <ns1:solidFill>
                  <ns1:srgbClr val="3B5AA8"/>
                </ns1:solidFill>
                <ns1:latin typeface="맑은 고딕"/>
              </ns1:rPr>
              <ns1:t>알림 확인 및 릴레이 차단 대응</ns1:t>
            </ns1:r>
          </ns1:p>
        </ns0:txBody>
      </ns0:sp>
      <ns0:graphicFrame>
        <ns0:nvGraphicFramePr>
          <ns0:cNvPr id="9" name="Table 8"/>
          <ns0:cNvGraphicFramePr>
            <ns1:graphicFrameLocks noGrp="1"/>
          </ns0:cNvGraphicFramePr>
          <ns0:nvPr/>
        </ns0:nvGraphicFramePr>
        <ns0:xfrm>
          <ns1:off x="475488" y="1627632"/>
          <ns1:ext cx="8229600" cy="4711192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1207008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7022592">
                  <ns1:extLst>
                    <ns1:ext uri="{9D8B030D-6E8A-4147-A177-3AD203B41FA5}">
                      <ns2:colId val="20001"/>
                    </ns1:ext>
                  </ns1:extLst>
                </ns1:gridCol>
              </ns1:tblGrid>
              <ns1:tr h="25603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73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항목</ns1:t>
                      </ns1:r>
                    </ns1:p>
                  </ns1:txBody>
                  <ns1:tcPr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7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UC-04  알림 확인 및 릴레이 차단 대응</ns1:t>
                      </ns1:r>
                    </ns1:p>
                  </ns1:txBody>
                  <ns1:tcPr>
                    <ns1:solidFill>
                      <ns1:srgbClr val="3B5AA8"/>
                    </ns1:solidFill>
                  </ns1:tcPr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384048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목적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경고·위험 이벤트를 확인하고 필요한 경우 승인 절차를 거쳐 Kill-Switch를 실행한다.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164592">
                <ns1:tc rowSpan="2"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관련 액터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주 액터: 현장 운영자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164592">
                <ns1:tc vMerge="1"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endParaRPr/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보조 액터: 알림 서버, Kakao API, 릴레이 컨트롤러, 감사 로그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329184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우선순위/중요도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우선순위 P1 / 중요도 Critical / 이유: 안전 제어와 사고 예방에 직접 연결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45720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선행조건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위험 이벤트 발생, 알림 수신 가능, 릴레이 제어 화면 접근 권한, 재인증 가능.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5"/>
                  </ns1:ext>
                </ns1:extLst>
              </ns1:tr>
              <ns1:tr h="32004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트리거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위험 알림 수신, 대시보드 릴레이 차단 버튼 클릭, Fail-Safe 자동 차단 발생.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6"/>
                  </ns1:ext>
                </ns1:extLst>
              </ns1:tr>
              <ns1:tr h="89611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기본 흐름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1. 인앱·카카오 알림 확인</ns1:t>
                      </ns1:r>
                    </ns1:p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2. Ack와 SOP 확인</ns1:t>
                      </ns1:r>
                    </ns1:p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3. 릴레이 제어 화면 진입</ns1:t>
                      </ns1:r>
                    </ns1:p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4. 재인증·사유 입력 후 차단 또는 복구 실행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7"/>
                  </ns1:ext>
                </ns1:extLst>
              </ns1:tr>
              <ns1:tr h="658368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대안/예외 흐름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권한 부족: 제어 차단 / 사유 미입력: 실행 불가 / 자동 차단: 사유·점검 안내 모달 우선 표시.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8"/>
                  </ns1:ext>
                </ns1:extLst>
              </ns1:tr>
              <ns1:tr h="4114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후행조건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릴레이 상태가 갱신되고 알림 확인, 제어 결과, 사유가 이벤트·감사 이력에 남는다.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9"/>
                  </ns1:ext>
                </ns1:extLst>
              </ns1:tr>
              <ns1:tr h="31089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관련 데이터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notification, ack_status, relay_state, battery-events, audit_log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0"/>
                  </ns1:ext>
                </ns1:extLst>
              </ns1:tr>
              <ns1:tr h="31089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추적 요구사항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REQ-WEB-056~064, REQ-WEB-065~067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1"/>
                  </ns1:ext>
                </ns1:extLst>
              </ns1:tr>
            </ns1:tbl>
          </ns1:graphicData>
        </ns1:graphic>
      </ns0:graphicFrame>
    </ns0:spTree>
  </ns0:cSld>
  <ns0:clrMapOvr>
    <ns1:masterClrMapping/>
  </ns0:clrMapOvr>
</ns0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추세·이벤트 이력 분석과 내보내기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UC-05  추세·이벤트 이력 분석과 내보내기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배터리별 측정 세션, 센서 추세, 이상 이벤트를 분석하고 보고용 자료로 내보낸다.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조회 API, 파일 생성 모듈,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P3 / 중요도 Medium / 이유: 실시간 대응 이후 분석·보고 품질을 높임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저장된 측정 세션과 이벤트 이력 존재, 조회 기간·지표 선택 가능, 내보내기 권한 보유.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추세 차트, 이벤트 이력, 배터리 상세에서 기간·지표·비교 대상을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기간과 지표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배터리/세션 비교 추가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이벤트 검색·상태 필터·정렬 적용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CSV 또는 PDF 내보내기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데이터 없음: 빈 상태 안내 / 파일 생성 실패: 재시도 안내 / 조건 과다: 기간·대상 축소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분석 결과와 내보내기 파일이 실험 보고, 장애 분석, 팀 공유 자료로 사용된다.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time_series_metrics, event_history, filter_condition, export_file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REQ-WEB-040~041, REQ-WEB-046~055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관리자 통합 관제 및 감사 추적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UC-06  관리자 통합 관제 및 감사 추적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전체 사용자·배터리·디바이스 상태를 통합 확인하고 운영 변경 이력을 감사 가능하게 남긴다.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관리자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RBAC, 사용자·배터리 관리 API, 시스템 헬스,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초기 운영 MVP의 관리·통제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 권한 로그인, /admin/* 접근 검증 통과, 관리자 대시보드와 상세 조회 API 사용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관리자가 관리자 대시보드, 유저 관리, 배터리 관리, 감사 로그 메뉴에 진입.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전체 요약 카드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위험 배터리·오프라인 디바이스·최근 조작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유저/배터리 상세 조회와 상태 변경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감사 로그에서 변경 전후 값과 사유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없음: 접근 거부 및 감사 기록 / BLOCKED 변경: 사유 필수 / 감사 로그: 수정·삭제 차단.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 상태, 관리자 메모, 계정 변경 내역이 감사 가능한 기록으로 보존된다.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admin_user, battery_operation_status, device_health, system_health,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REQ-WEB-101~126, REQ-WEB-133~136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1DD24D-FF12-3894-E23F-6A8B7D676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02336" y="1481328"/>
            <a:ext cx="493776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디자인 원칙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2336" y="1810512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1. 위험 우선 노출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긴급 경고 · 현재 이상점수 · Kill-Switch를 화면 최상단과 최단 동선에 배치한다.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2729484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2. 실시간 안정성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100ms 갱신 중에도 레이아웃 흔들림 없이 값과 상태 색만 갱신한다.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336" y="3648456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3. 상태의 시각 언어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정상 · 주의 · 경고 · 위험을 색 + 아이콘 + 라벨 3중으로 중복 표기한다.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567427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4. 정보 밀도 적응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데스크톱 다중 컬럼, 태블릿 2컬럼, 모바일 단일 컬럼 카드로 전환한다.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" y="5486399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5. 접근성 기본값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명도 대비 4.5:1 이상, 전체 키보드 탐색, 스크린리더 라벨을 제공한다.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148132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컬러 시스템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32120" y="184708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43016" y="180136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#2563EB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Primary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주요 액션 · 링크 · 활성 상태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32120" y="2249424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1D4ED8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43016" y="2203704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#1D4ED8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Blue Dark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헤더 · 강조 · 허브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32120" y="2651760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843016" y="2606040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#F7F7F5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Background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앱 배경 (웜 그레이)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32120" y="305409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E3DFD7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843016" y="3008376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#E3DFD7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Border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구분선 · 카드 테두리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456432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843016" y="3410712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#2A2A2A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본문 텍스트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32120" y="385876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6B665E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43016" y="381304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#6B665E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 Sub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보조 · 캡션 텍스트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4688" y="440740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타이포그래피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2120" y="4718304"/>
            <a:ext cx="3246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01600" rIns="114300" rtlCol="0" anchor="ctr"/>
          <a:lstStyle/>
          <a:p>
            <a:pPr algn="ctr"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서체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Pretendard / 맑은 고딕 계열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스케일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Display 28 · Title 20 · Heading 15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A2A2A"/>
                </a:solidFill>
                <a:latin typeface="맑은 고딕"/>
              </a:rPr>
              <a:t>Body 13 · Caption 11 (pt)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계측값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숫자는 Bold · Tabular 정렬</a:t>
            </a:r>
          </a:p>
        </p:txBody>
      </p:sp>
    </p:spTree>
    <p:extLst>
      <p:ext uri="{BB962C8B-B14F-4D97-AF65-F5344CB8AC3E}">
        <p14:creationId xmlns:p14="http://schemas.microsoft.com/office/powerpoint/2010/main" val="3195313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상태 등급 색상 체계 (LSTM-AutoEncoder 재구성 오차 기반 이상점수)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02336" y="1810512"/>
          <a:ext cx="8339325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212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이상점수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게이지(0–100)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색상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용도 · 대응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6A34A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0.0 – 0.3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 – 30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6A34A"/>
                          </a:solidFill>
                          <a:latin typeface="맑은 고딕"/>
                        </a:rPr>
                        <a:t>■ #16A34A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정상 가동 · 별도 조치 불필요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59E0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0.3 – 0.6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30 – 60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F59E0B"/>
                          </a:solidFill>
                          <a:latin typeface="맑은 고딕"/>
                        </a:rPr>
                        <a:t>■ #F59E0B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추세 관찰 · 알림 준비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EA580C"/>
                          </a:solidFill>
                          <a:latin typeface="맑은 고딕"/>
                        </a:rPr>
                        <a:t>경고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0.6 – 0.8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60 – 80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EA580C"/>
                          </a:solidFill>
                          <a:latin typeface="맑은 고딕"/>
                        </a:rPr>
                        <a:t>■ #EA580C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점검 권고 · 카카오톡 알림 발송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DC2626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0.8 – 1.0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80 – 100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DC2626"/>
                          </a:solidFill>
                          <a:latin typeface="맑은 고딕"/>
                        </a:rPr>
                        <a:t>■ #DC2626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즉시 대응 · Kill-Switch(릴레이) 차단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02336" y="3913632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핵심 UI 컴포넌트 카탈로그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사이드바 내비게이션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미연결 시 잠금(🔒) · 배터리 연결 후 활성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계측값 카드 V·I·T·SOC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현재값 + 상태 배지 · 미니 추세선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26864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이상점수 게이지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0–100 반원 게이지 · 구간 색 밴드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39128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긴급 경고 배너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위험 시 상단 고정 + 릴레이 차단 버튼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XAI 기여도 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특징별 +기여값(dT/dt·gas·V_drop 등)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4600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데이터 테이블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검색·필터·상태 배지 · 모바일 카드 전환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26864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확인 모달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연결·차단 등 파괴적 액션 2단 확인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39128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알림·토스트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Ack(확인) · SOP 런북 진입 액션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반응형 브레이크포인트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데스크톱  ≥ 1200px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좌측 고정 사이드바 + 다중 컬럼 관제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높은 정보 밀도 · 동시 모니터링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전체 추세·XAI 패널 상시 노출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55264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태블릿  768 – 1199px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접힘(햄버거) 메뉴 + 2컬럼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터치 타깃 최소 44px 유지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차트·필터 터치 조작 최적화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모바일  &lt; 768px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하단 내비 + 단일 컬럼 카드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표 → 카드 목록/상세로 전환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긴급경고·이상점수·Kill-Switch 우선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3822191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인터랙션 · 상태 &amp; 접근성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인터랙션 · 상태 처리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로딩: 스켈레톤 / 빈 상태: 안내 + 액션 유도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에러: 원인 + 재시도 경로 제시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실시간 갱신은 값·상태 색만 변경(레이아웃 고정)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파괴적 액션(연결·릴레이 차단)은 확인 모달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다크모드 · 라이트모드 테마 토글 지원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접근성 체크리스트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명도 대비 4.5:1 이상 · 색맹 대비 아이콘 병행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키보드 포커스 링 · 전체 탭 순서 보장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ARIA 라벨 · live region으로 이상점수 갱신 안내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상태는 색 단독이 아닌 라벨·아이콘 병기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최소 터치 영역 44×44px 유지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5359606-F14A-DDEC-A185-BDD0EFB4D7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로그인 / 회원가입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1426464"/>
            <a:ext cx="182880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6B665E"/>
                </a:solidFill>
                <a:latin typeface="맑은 고딕"/>
              </a:rPr>
              <a:t>계정 찾기 (ID · 비밀번호)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87568" y="1636776"/>
            <a:ext cx="457200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HOME 대시보드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디바이스 · 배터리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선택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배터리 자산관리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실시간 관제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센서 요약 카드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이상점수 · 상태등급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이상 분석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 이벤트 상세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XAI · SOH / RUL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알림 · 릴레이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확인 (Ack)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SOP · Kill-Switch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이력 · 설정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추세 · 이벤트 이력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임계치 · 알림 설정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계정 · 테마 설정</a:t>
            </a:r>
          </a:p>
        </p:txBody>
      </p:sp>
    </p:spTree>
    <p:extLst>
      <p:ext uri="{BB962C8B-B14F-4D97-AF65-F5344CB8AC3E}">
        <p14:creationId xmlns:p14="http://schemas.microsoft.com/office/powerpoint/2010/main" val="713903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375A2A-DA98-9997-0E24-F0F1B6CF56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28" name="Rounded Rectangle 1027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관리자 로그인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</p:txBody>
      </p:sp>
      <p:cxnSp>
        <p:nvCxnSpPr>
          <p:cNvPr id="1030" name="Connector 1029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Rounded Rectangle 1033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유저 관리</a:t>
            </a:r>
          </a:p>
        </p:txBody>
      </p:sp>
      <p:cxnSp>
        <p:nvCxnSpPr>
          <p:cNvPr id="1035" name="Connector 1034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Rounded Rectangle 1035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목록 · 검색 · 상세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정지 · 해제 / 비밀번호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Rounded Rectangle 1039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배터리 운영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전체 배터리 목록</a:t>
            </a:r>
          </a:p>
        </p:txBody>
      </p:sp>
      <p:cxnSp>
        <p:nvCxnSpPr>
          <p:cNvPr id="1043" name="Connector 1042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4" name="Rounded Rectangle 1043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메모 변경</a:t>
            </a:r>
          </a:p>
        </p:txBody>
      </p:sp>
      <p:cxnSp>
        <p:nvCxnSpPr>
          <p:cNvPr id="1045" name="Connector 1044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Rounded Rectangle 1045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통계 / 헬스</a:t>
            </a:r>
          </a:p>
        </p:txBody>
      </p:sp>
      <p:cxnSp>
        <p:nvCxnSpPr>
          <p:cNvPr id="1047" name="Connector 1046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8" name="Rounded Rectangle 1047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모드 분포</a:t>
            </a:r>
          </a:p>
        </p:txBody>
      </p:sp>
      <p:cxnSp>
        <p:nvCxnSpPr>
          <p:cNvPr id="1049" name="Connector 1048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Rounded Rectangle 1049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· 시스템 헬스</a:t>
            </a:r>
          </a:p>
        </p:txBody>
      </p:sp>
      <p:cxnSp>
        <p:nvCxnSpPr>
          <p:cNvPr id="1051" name="Connector 1050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Rounded Rectangle 1051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공지 관리</a:t>
            </a:r>
          </a:p>
        </p:txBody>
      </p:sp>
      <p:cxnSp>
        <p:nvCxnSpPr>
          <p:cNvPr id="1053" name="Connector 1052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ounded Rectangle 1053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작성 · 수정 · 게시</a:t>
            </a:r>
          </a:p>
        </p:txBody>
      </p:sp>
      <p:cxnSp>
        <p:nvCxnSpPr>
          <p:cNvPr id="1055" name="Connector 1054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Rounded Rectangle 1055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발송 선택</a:t>
            </a:r>
          </a:p>
        </p:txBody>
      </p:sp>
      <p:cxnSp>
        <p:nvCxnSpPr>
          <p:cNvPr id="1057" name="Connector 1056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" name="Rounded Rectangle 1057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감사 로그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Rounded Rectangle 1059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행위 · 대상 필터</a:t>
            </a:r>
          </a:p>
        </p:txBody>
      </p:sp>
      <p:cxnSp>
        <p:nvCxnSpPr>
          <p:cNvPr id="1061" name="Connector 1060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2" name="Rounded Rectangle 1061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로그 상세 조회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Rounded Rectangle 1063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수정 · 삭제 차단</a:t>
            </a:r>
          </a:p>
        </p:txBody>
      </p:sp>
    </p:spTree>
    <p:extLst>
      <p:ext uri="{BB962C8B-B14F-4D97-AF65-F5344CB8AC3E}">
        <p14:creationId xmlns:p14="http://schemas.microsoft.com/office/powerpoint/2010/main" val="887487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SC-USR-01 · 실시간 관제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 ~ 027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연결된 배터리의 현재 이상점수·계측값·위험도 분포·최근 이벤트를 실시간(WebSocket)으로 관제하는 메인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긴급 경고 배너 · 릴레이 차단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발생 시 경고 표시, Kill-Switch 차단 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현재값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현재값과 정상·주의·위험 상태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이상점수 게이지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이상점수(0~100)와 정상·주의·위험 구간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추세 미니차트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V-I-T-SOC 추세, 서비스 공지·점검 안내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7666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5619872-8C5B-7BF6-3DE5-01466CA902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SC-USR-02 · 배터리 자산관리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자산관리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 ~ 038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배터리를 조회·필터하고 측정 대상으로 연결하거나 새 배터리를 등록하는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이름·종류·측정 모드·직렬 셀 수 입력 후 battery_id 발급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모드·SOC·상태·최근 측정 정보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전체·모드1·모드2·모드3 기준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 배터리 측정 · 상세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측정 연결 확인 모달, 배터리 상세/이력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573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7511D3-092B-0E5E-ADB8-4B746E2E65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제목 12">
            <a:extLst>
              <a:ext uri="{FF2B5EF4-FFF2-40B4-BE49-F238E27FC236}">
                <a16:creationId xmlns:a16="http://schemas.microsoft.com/office/drawing/2014/main" id="{F073248A-68DC-126C-08AC-5D561EF158D1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SC-USR-03 · 배터리 상세 /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/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 · 041 · 044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선택 배터리의 기본 정보·현재 상태·과거 측정 세션·건강도·추세를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세션 ID·시간·상태·이상점수 이력 조회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이상점수 추세(최근 30일)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기간별 이상점수 변화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SOH / RUL 건강도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건강도·잔존수명·누적 사이클·내부 저항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상세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시계열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0434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8AE8E0-AD17-92BC-538B-30035A166B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" name="제목 12">
            <a:extLst>
              <a:ext uri="{FF2B5EF4-FFF2-40B4-BE49-F238E27FC236}">
                <a16:creationId xmlns:a16="http://schemas.microsoft.com/office/drawing/2014/main" id="{672C8274-EFDB-6E3A-A8A8-52D837517324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SC-USR-04 · AI 이상 탐지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AI 이상 탐지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 · 043 · 045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 기반 활성 이상 이벤트와 이상 근거(XAI)를 확인하는 핵심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요약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 이상·오늘 발생·최고 이상점수·모델 상태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위험도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구간 배터리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근거(XAI)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dT/dt · gas_raw · V_drop 등 기여 요인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활성 이상 이벤트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이벤트별 배터리·이상점수·상세 진입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891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SC-USR-05 · 추세 차트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 · 047 · 048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추세를 기간·지표별로 비교 분석하는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기간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24시간 · 7일 · 30일 기간 전환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지표별 추세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4종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CSV · PDF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조회 결과 파일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다중 배터리·세션 비교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배터리/세션 추세 겹쳐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SC-USR-06 · 이벤트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 ~ 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센서 오류·이상·제어 이벤트 이력을 검색·필터·정렬하고 상세를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검색어로 이벤트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필터 칩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등 상태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시간·이벤트·배터리·이상점수·상태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정렬 · 페이지네이션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정렬 기준 선택, 목록 페이지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SC-USR-07 · 알림 센터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 · 057 · 058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알림 이력을 확인하고 대응(Ack) 처리하는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 알림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알림과 확인 버튼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이력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발생 시간·채널·확인 상태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모두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일괄 처리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채널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등 발송 채널 구분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SC-USR-08 · 설정 · 임계치 / 알림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설정 · 임계치 / 알림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 · 066 · 067 · 071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수신·계정·테마를 설정하는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설정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 · 계정 · 테마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수신 옵션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카카오·이메일·웹푸시 수신 선택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채널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알림 채널별 수신 여부 지정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수신 ·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카카오·이메일·웹푸시 토글, 설정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SC-ADM-01 · 관리자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 · 104 ~ 109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유저·배터리·세션·위험 현황과 이벤트 추이를 통합 관제하는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유저·배터리·활성 세션·위험/경고·오프라인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최근 7일 등 기간별 이상 이벤트 발생 추이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위험 배터리 목록 및 상세 이동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관리자 조작 로그, 공지사항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SC-ADM-02 · 유저 계정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 ~ 118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계정을 조회·검색하고 권한/상태 관리 및 비밀번호 재설정을 수행하는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이름·이메일로 유저 목록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· 권한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활성/정지, 일반/관리자 기준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권한·등록 배터리 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계정 관리 동작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정보 수정·정지/해제·비밀번호 재설정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로그인 / 배터리 자산 (1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8" y="1755648"/>
            <a:ext cx="2581835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PU-01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로그인 모달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이메일·비밀번호 · 관리자/소셜 로그인 진입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775" y="1755648"/>
            <a:ext cx="1350977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PU-02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새 배터리 등록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종류(chemistry)·측정 모드·직렬 셀 수 → battery_id 발급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7064" y="4151376"/>
            <a:ext cx="1285342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PU-03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이름·메모 수정 (측정 모드·battery_id 고정)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1237" y="4151376"/>
            <a:ext cx="2006052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PU-04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연결 확인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측정 세션 시작 · 한 번에 하나(상호배제) · 상세보기 분기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경고 / 제어 / 관리자 (2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kill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91" y="1755648"/>
            <a:ext cx="1946089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PU-05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Kill-Switch 자동 차단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임계값 초과 시 Fail-Safe 인터락이 릴레이 자동 차단 알림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no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286" y="1755648"/>
            <a:ext cx="2145955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PU-06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알림 센터 드롭다운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미확인 알림 요약 · 알림 센터 전체 보기 진입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re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67" y="4151376"/>
            <a:ext cx="1787137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PU-07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위험 제어 승인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수동 릴레이 차단: 사유 입력 + 비밀번호 재인증(감사 기록)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6733" y="4151376"/>
            <a:ext cx="1895061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PU-08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관리자 · 유저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권한·상태 변경 · 비밀번호 재설정 (감사 로그 기록)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052307-33C6-8A6E-99FA-D8F564BAD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핵심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셀가드 서비스의 AI 열폭주 예측, 실시간 관제, 전압·전류·온도·SOC 수집 설명을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 영상 실행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화면의 데모 영상 버튼으로 데모 콘텐츠 진입을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이메일과 비밀번호 기반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모달에서 관리자 계정 진입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Google 로그인 버튼으로 소셜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또는 회원가입 버튼에서 회원가입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 복귀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화면에서 기존 계정 로그인 화면으로 돌아간다.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진입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화면에서 계정 찾기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재설정 탭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찾기 탭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찾기 탭으로 표시 내용을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로그아웃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앱 셸에서 로그아웃 버튼으로 세션을 종료한다.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언어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한/영 토글로 화면 언어를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패널 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상단 알림 아이콘으로 미확인 알림 패널을 열고 닫는다.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메뉴 접기/펼치기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 메뉴 접기 버튼으로 데스크톱 내비게이션 폭을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UI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사이드바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연결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화면에서 연결 배터리 ID와 측정 중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이상점수, 정상·주의·위험 구간, 점수 추세를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화면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이상점수 영역에서 이상 탐지 관리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릴레이 차단 버튼으로 Kill-Switch 승인 흐름에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 현재값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위험도 분포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정상, 주의, 경고, 위험 구간별 배터리 분포를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이벤트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대시보드에서 최근 이상 이벤트와 발생 시간을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알림 영역에서 알림 센터로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공지 영역에서 공지사항 목록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모달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4391866"/>
      </p:ext>
    </p:extLst>
  </p:cSld>
  <p:clrMapOvr>
    <a:masterClrMapping/>
  </p:clrMapOvr>
</p:sld>
</file>

<file path=ppt/slides/slide3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0/main" xmlns:ns5="http://schemas.microsoft.com/office/powerpoint/2010/main">
  <ns0:cSld>
    <ns0:spTree>
      <ns0:nvGrpSpPr>
        <ns0:cNvPr id="1" name="">
          <ns1:extLst>
            <ns1:ext uri="{FF2B5EF4-FFF2-40B4-BE49-F238E27FC236}">
              <ns2:creationId id="{88A306BA-44D5-2171-2641-CB8024263728}"/>
            </ns1:ext>
          </ns1:extLst>
        </ns0:cNvPr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4" name="직사각형 13">
            <ns1:extLst>
              <ns1:ext uri="{FF2B5EF4-FFF2-40B4-BE49-F238E27FC236}">
                <ns2:creationId id="{18EA1B01-C3EC-D57E-4A8D-C00E46126C36}"/>
              </ns1:ext>
            </ns1:extLst>
          </ns0:cNvPr>
          <ns0:cNvSpPr/>
          <ns0:nvPr/>
        </ns0:nvSpPr>
        <ns0:spPr>
          <ns1:xfrm>
            <ns1:off x="107504" y="0"/>
            <ns1:ext cx="3096344" cy="1124744"/>
          </ns1:xfrm>
          <ns1:prstGeom prst="rect">
            <ns1:avLst/>
          </ns1:prstGeom>
          <ns1:solidFill>
            <ns1:srgbClr val="3B5AA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cxnSp>
        <ns0:nvCxnSpPr>
          <ns0:cNvPr id="17" name="직선 연결선 16">
            <ns1:extLst>
              <ns1:ext uri="{FF2B5EF4-FFF2-40B4-BE49-F238E27FC236}">
                <ns2:creationId id="{17AB456F-CF2E-36AA-E2E9-862E79E12612}"/>
              </ns1:ext>
            </ns1:extLst>
          </ns0:cNvPr>
          <ns0:cNvCxnSpPr/>
          <ns0:nvPr/>
        </ns0:nvCxnSpPr>
        <ns0:spPr>
          <ns1:xfrm>
            <ns1:off x="424356" y="541195"/>
            <ns1:ext cx="2591728" cy="0"/>
          </ns1:xfrm>
          <ns1:prstGeom prst="line">
            <ns1:avLst/>
          </ns1:prstGeom>
          <ns1:ln w="28575">
            <ns1:solidFill>
              <ns1:schemeClr val="bg1">
                <ns1:lumMod val="9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8" name="직선 연결선 17">
            <ns1:extLst>
              <ns1:ext uri="{FF2B5EF4-FFF2-40B4-BE49-F238E27FC236}">
                <ns2:creationId id="{CF712149-6166-8DA3-62E7-CCDAAC443A52}"/>
              </ns1:ext>
            </ns1:extLst>
          </ns0:cNvPr>
          <ns0:cNvCxnSpPr/>
          <ns0:nvPr/>
        </ns0:nvCxnSpPr>
        <ns0:spPr>
          <ns1:xfrm>
            <ns1:off x="3275856" y="548680"/>
            <ns1:ext cx="5328592" cy="0"/>
          </ns1:xfrm>
          <ns1:prstGeom prst="line">
            <ns1:avLst/>
          </ns1:prstGeom>
          <ns1:ln w="28575">
            <ns1:solidFill>
              <ns1:srgbClr val="3B5AA8"/>
            </ns1:solidFill>
          </ns1:ln>
        </ns0:spPr>
        <ns0:style>
          <ns1:lnRef idx="1">
            <ns1:schemeClr val="accent4"/>
          </ns1:lnRef>
          <ns1:fillRef idx="0">
            <ns1:schemeClr val="accent4"/>
          </ns1:fillRef>
          <ns1:effectRef idx="0">
            <ns1:schemeClr val="accent4"/>
          </ns1:effectRef>
          <ns1:fontRef idx="minor">
            <ns1:schemeClr val="tx1"/>
          </ns1:fontRef>
        </ns0:style>
      </ns0:cxnSp>
      <ns0:sp>
        <ns0:nvSpPr>
          <ns0:cNvPr id="19" name="제목 12">
            <ns1:extLst>
              <ns1:ext uri="{FF2B5EF4-FFF2-40B4-BE49-F238E27FC236}">
                <ns2:creationId id="{05BCA549-FEF2-EB9E-A74F-BA5B62CF4D37}"/>
              </ns1:ext>
            </ns1:extLst>
          </ns0:cNvPr>
          <ns0:cNvSpPr txBox="1">
            <ns1:spLocks/>
          </ns0:cNvSpPr>
          <ns0:nvPr/>
        </ns0:nvSpPr>
        <ns0:spPr>
          <ns1:xfrm>
            <ns1:off x="323528" y="692696"/>
            <ns1:ext cx="2808312" cy="296631"/>
          </ns1:xfrm>
          <ns1:prstGeom prst="rect">
            <ns1:avLst/>
          </ns1:prstGeom>
        </ns0:spPr>
        <ns0:txBody>
          <ns1:bodyPr vert="horz" lIns="91440" tIns="45720" rIns="91440" bIns="45720" rtlCol="0" anchor="t">
            <ns1:noAutofit/>
          </ns1:bodyPr>
          <ns1:lstStyle/>
          <ns1:p>
            <ns1:pPr marL="0" marR="0" lvl="0" indent="0" algn="l" defTabSz="914400" rtl="0" eaLnBrk="1" fontAlgn="auto" latinLnBrk="1" hangingPunct="1">
              <ns1:lnSpc>
                <ns1:spcPct val="100000"/>
              </ns1:lnSpc>
              <ns1:spcBef>
                <ns1:spcPct val="0"/>
              </ns1:spcBef>
              <ns1:spcAft>
                <ns1:spcPts val="0"/>
              </ns1:spcAft>
              <ns1:buClrTx/>
              <ns1:buSzTx/>
              <ns1:buFontTx/>
              <ns1:buNone/>
              <ns1:tabLst/>
              <ns1:defRPr/>
            </ns1:pPr>
            <ns1:r>
              <ns1:rPr kumimoji="0" lang="en-US" altLang="ko-KR" sz="1700" b="1" i="0" u="none" strike="noStrike" kern="1200" cap="none" spc="0" normalizeH="0" baseline="0" noProof="0">
                <ns1:ln>
                  <ns1:noFill/>
                </ns1:ln>
                <ns1:solidFill>
                  <ns1:schemeClr val="bg1"/>
                </ns1:solidFill>
                <ns1:effectLst/>
                <ns1:uLnTx/>
                <ns1:uFillTx/>
                <ns1:latin typeface="+mn-ea"/>
                <ns1:cs typeface="+mj-cs"/>
              </ns1:rPr>
              <ns1:t>| </ns1:t>
            </ns1:r>
            <ns1:r>
              <ns1:rPr lang="ko-KR" altLang="en-US" sz="1700" b="1">
                <ns1:solidFill>
                  <ns1:schemeClr val="bg1"/>
                </ns1:solidFill>
                <ns1:latin typeface="+mn-ea"/>
                <ns1:cs typeface="+mj-cs"/>
              </ns1:rPr>
              <ns1:t>프로그램 </ns1:t>
            </ns1:r>
            <ns1:r>
              <ns1:rPr lang="en-US" altLang="ko-KR" sz="1700" b="1">
                <ns1:solidFill>
                  <ns1:schemeClr val="bg1"/>
                </ns1:solidFill>
                <ns1:latin typeface="+mn-ea"/>
                <ns1:cs typeface="+mj-cs"/>
              </ns1:rPr>
              <ns1:t>- </ns1:t>
            </ns1:r>
            <ns1:r>
              <ns1:rPr kumimoji="0" lang="ko-KR" altLang="en-US" sz="1700" b="1" i="0" u="none" strike="noStrike" kern="1200" cap="none" spc="0" normalizeH="0" baseline="0" noProof="0" dirty="0">
                <ns1:ln>
                  <ns1:noFill/>
                </ns1:ln>
                <ns1:solidFill>
                  <ns1:schemeClr val="bg1"/>
                </ns1:solidFill>
                <ns1:effectLst/>
                <ns1:uLnTx/>
                <ns1:uFillTx/>
                <ns1:latin typeface="+mn-ea"/>
                <ns1:cs typeface="+mj-cs"/>
              </ns1:rPr>
              <ns1:t>목록</ns1:t>
            </ns1:r>
            <ns1:endParaRPr kumimoji="0" lang="ko-KR" altLang="en-US" sz="1700" b="0" i="0" u="none" strike="noStrike" kern="1200" cap="none" spc="-50" normalizeH="0" baseline="0" noProof="0" dirty="0">
              <ns1:ln>
                <ns1:noFill/>
              </ns1:ln>
              <ns1:solidFill>
                <ns1:schemeClr val="bg1"/>
              </ns1:solidFill>
              <ns1:effectLst/>
              <ns1:uLnTx/>
              <ns1:uFillTx/>
              <ns1:latin typeface="+mn-ea"/>
              <ns1:cs typeface="+mj-cs"/>
            </ns1:endParaRPr>
          </ns1:p>
        </ns0:txBody>
      </ns0:sp>
      <ns0:pic>
        <ns0:nvPicPr>
          <ns0:cNvPr id="1026" name="Picture 2">
            <ns1:extLst>
              <ns1:ext uri="{FF2B5EF4-FFF2-40B4-BE49-F238E27FC236}">
                <ns2:creationId id="{14A1FBA2-F4D5-5460-32E0-AFFABD54A177}"/>
              </ns1:ext>
            </ns1:extLst>
          </ns0:cNvPr>
          <ns0:cNvPicPr>
            <ns1:picLocks noChangeAspect="1" noChangeArrowheads="1"/>
          </ns0:cNvPicPr>
          <ns0:nvPr/>
        </ns0:nvPicPr>
        <ns0:blipFill>
          <ns1:blip ns3:embed="rId2" cstate="print"/>
          <ns1:srcRect/>
          <ns1:stretch>
            <ns1:fillRect/>
          </ns1:stretch>
        </ns0:blipFill>
        <ns0:spPr bwMode="auto">
          <ns1:xfrm>
            <ns1:off x="8676456" y="476671"/>
            <ns1:ext cx="454960" cy="158965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</ns0:spPr>
      </ns0:pic>
      <ns0:sp>
        <ns0:nvSpPr>
          <ns0:cNvPr id="35" name="막힌 원호 34">
            <ns1:extLst>
              <ns1:ext uri="{FF2B5EF4-FFF2-40B4-BE49-F238E27FC236}">
                <ns2:creationId id="{0750F912-80C4-F309-2B4E-0E2406122D39}"/>
              </ns1:ext>
            </ns1:extLst>
          </ns0:cNvPr>
          <ns0:cNvSpPr/>
          <ns0:nvPr/>
        </ns0:nvSpPr>
        <ns0:spPr>
          <ns1:xfrm flipV="1">
            <ns1:off x="-577697" y="-576001"/>
            <ns1:ext cx="1181047" cy="1167213"/>
          </ns1:xfrm>
          <ns1:prstGeom prst="blockArc">
            <ns1:avLst>
              <ns1:gd name="adj1" fmla="val 16158679"/>
              <ns1:gd name="adj2" fmla="val 0"/>
              <ns1:gd name="adj3" fmla="val 25000"/>
            </ns1:avLst>
          </ns1:prstGeom>
          <ns1:solidFill>
            <ns1:schemeClr val="bg1"/>
          </ns1:solidFill>
          <ns1:ln>
            <ns1:solidFill>
              <ns1:schemeClr val="bg1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pic>
        <ns0:nvPicPr>
          <ns0:cNvPr id="3" name="그림 2">
            <ns1:extLst>
              <ns1:ext uri="{FF2B5EF4-FFF2-40B4-BE49-F238E27FC236}">
                <ns2:creationId id="{D620AAE3-FE5B-BAEC-955F-0A9A8F835F85}"/>
              </ns1:ext>
            </ns1:extLst>
          </ns0:cNvPr>
          <ns0:cNvPicPr>
            <ns1:picLocks noChangeAspect="1"/>
          </ns0:cNvPicPr>
          <ns0:nvPr/>
        </ns0:nvPicPr>
        <ns0:blipFill>
          <ns1:blip ns3:embed="rId3" cstate="print">
            <ns1:extLst>
              <ns1:ext uri="{28A0092B-C50C-407E-A947-70E740481C1C}">
                <ns4:useLocalDpi val="0"/>
              </ns1:ext>
            </ns1:extLst>
          </ns1:blip>
          <ns1:srcRect l="21956" t="40516" r="21023" b="44641"/>
          <ns1:stretch/>
        </ns0:blipFill>
        <ns0:spPr>
          <ns1:xfrm>
            <ns1:off x="7528235" y="98344"/>
            <ns1:ext cx="1498208" cy="347199"/>
          </ns1:xfrm>
          <ns1:prstGeom prst="rect">
            <ns1:avLst/>
          </ns1:prstGeom>
        </ns0:spPr>
      </ns0:pic>
      <ns0:graphicFrame>
        <ns0:nvGraphicFramePr>
          <ns0:cNvPr id="1027" name="Table 1026"/>
          <ns0:cNvGraphicFramePr>
            <ns1:graphicFrameLocks noGrp="1"/>
          </ns0:cNvGraphicFramePr>
          <ns0:nvPr/>
        </ns0:nvGraphicFramePr>
        <ns0:xfrm>
          <ns1:off x="301752" y="1335024"/>
          <ns1:ext cx="4160519" cy="5230360"/>
        </ns0:xfrm>
        <ns1:graphic>
          <ns1:graphicData uri="http://schemas.openxmlformats.org/drawingml/2006/table">
            <ns1:tbl>
              <ns1:tblPr>
                <ns1:tableStyleId>{5C22544A-7EE6-4342-B048-85BDC9FD1C3A}</ns1:tableStyleId>
              </ns1:tblPr>
              <ns1:tblGrid>
                <ns1:gridCol w="655597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868526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1606306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410915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619175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 ID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요구사항명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 상세설명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중요도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비고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REQ-WEB-039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배터리 연결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연결 확인 모달에서 한 번에 하나의 배터리만 연결됨을 확인하고 측정 세션을 시작한다.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REQ-WEB-039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배터리 상세 정보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배터리 상세/이력 화면에서 기본 정보, 현재 상태, 최근 측정, 과거 세션을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조회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과거 측정 세션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배터리 상세/이력 화면에서 세션 ID, 시간, 상태, 이상점수 이력을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이력조회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REQ-WEB-042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이벤트 요약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탐지 관리 화면에서 활성 이상 이벤트, 오늘 발생 이상, 최고 이상점수, 모델 상태를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이상탐지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REQ-WEB-042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REQ-WEB-043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근거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XAI 영역에서 V_drop, dT/dt, gas_raw, pressure_raw 등 이상점수 기여 요인을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이상탐지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REQ-WEB-043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5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REQ-WEB-044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건강도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SOH, RUL, 누적 사이클, 내부 저항, 만료 임박 정보를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조회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REQ-WEB-044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6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탐지 상세 열기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항목 또는 더보기 동작으로 이상 상세 모달을 연다.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상세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7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기간 전환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차트 화면에서 24시간, 7일, 30일 기간 탭을 전환한다.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차트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8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지표 전환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차트 화면에서 온도, 전압 등 표시 지표를 선택해 차트를 바꾼다.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차트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9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REQ-WEB-048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다중 배터리 비교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차트 화면에서 비교 추가 버튼으로 여러 배터리 또는 세션을 겹쳐 본다.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차트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REQ-WEB-048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0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검색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이력 화면에서 이벤트 검색어로 목록을 필터링한다.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검색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1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상태 필터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이력 화면에서 전체, 정상, 주의, 경고, 위험 등 상태 칩으로 목록을 필터링한다.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필터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2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정렬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이력 화면에서 최근 측정순, 이상점수 높은순, SOC 낮은순 등 정렬 기준을 선택한다.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정렬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3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REQ-WEB-052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페이지 이동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이력 목록에서 이전, 다음, 페이지 번호로 목록 페이지를 이동한다.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목록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REQ-WEB-052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4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REQ-WEB-053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상세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행을 클릭해 상세 정보와 관련 센서값을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상세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REQ-WEB-053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5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REQ-WEB-054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CSV 내보내기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또는 이력 조회 결과를 CSV로 내보내기 위한 확인 모달을 연다.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내보내기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REQ-WEB-054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6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PDF 내보내기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또는 이력 조회 결과를 PDF로 내보내기 위한 확인 모달을 연다.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내보내기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7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이력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센터에서 인앱·카카오 알림 이력, 발생 시간, 확인 상태를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8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항목의 확인(Ack) 버튼으로 대응 확인 상태를 기록한다.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9"/>
                  </ns1:ext>
                </ns1:extLst>
              </ns1:tr>
            </ns1:tbl>
          </ns1:graphicData>
        </ns1:graphic>
      </ns0:graphicFrame>
      <ns0:graphicFrame>
        <ns0:nvGraphicFramePr>
          <ns0:cNvPr id="1028" name="Table 1027"/>
          <ns0:cNvGraphicFramePr>
            <ns1:graphicFrameLocks noGrp="1"/>
          </ns0:cNvGraphicFramePr>
          <ns0:nvPr/>
        </ns0:nvGraphicFramePr>
        <ns0:xfrm>
          <ns1:off x="4681728" y="1335024"/>
          <ns1:ext cx="4160519" cy="5230360"/>
        </ns0:xfrm>
        <ns1:graphic>
          <ns1:graphicData uri="http://schemas.openxmlformats.org/drawingml/2006/table">
            <ns1:tbl>
              <ns1:tblPr>
                <ns1:tableStyleId>{5C22544A-7EE6-4342-B048-85BDC9FD1C3A}</ns1:tableStyleId>
              </ns1:tblPr>
              <ns1:tblGrid>
                <ns1:gridCol w="655597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868526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1606306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410915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619175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 ID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요구사항명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 상세설명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중요도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비고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REQ-WEB-058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모든 알림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센터에서 모두 확인 버튼으로 미확인 알림을 일괄 처리한다.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REQ-WEB-058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REQ-WEB-059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 카테고리 필터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공지사항 화면에서 전체, 업데이트, 점검 등 카테고리 칩으로 공지를 필터링한다.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REQ-WEB-059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REQ-WEB-060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 상세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공지사항 목록 항목을 클릭해 공지 상세를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REQ-WEB-060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REQ-WEB-061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상태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제어 화면에서 현재 회로 상태, 차단됨, 정상 연결 상태를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제어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REQ-WEB-061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REQ-WEB-062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차단 승인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Kill-Switch 차단 버튼으로 위험 제어 승인 모달을 열고 재인증·사유 입력 후 실행한다.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제어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REQ-WEB-062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5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REQ-WEB-063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복구 승인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복구 버튼으로 승인 모달을 열고 회로 복구를 실행한다.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제어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REQ-WEB-063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6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REQ-WEB-064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자동 차단 알림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Fail-Safe 자동 차단 모달에서 차단 사유와 대상 배터리 점검 안내를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REQ-WEB-064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7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수신 설정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 화면의 알림 수신 탭에서 카카오, 이메일, SMS, 웹푸시 수신 여부를 토글한다.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9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조건 설정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위험·경고 즉시 발송, 위험 등급만 발송, 중복 발송 억제 조건을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0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 정보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 화면의 계정 탭에서 이름, 이메일, 전화번호를 확인하고 변경 저장 버튼을 제공한다.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1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REQ-WEB-068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비밀번호 변경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 탭에서 비밀번호 재설정 모달을 열고 새 비밀번호를 저장한다.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REQ-WEB-068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2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프로필 사진 변경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 탭에서 사진 변경 버튼을 제공한다.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정의 필요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3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REQ-WEB-070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테마 전환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 화면의 테마 탭에서 라이트, 다크, 시스템 테마를 선택한다.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REQ-WEB-070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4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REQ-WEB-071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센서 캘리브레이션 이력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테마·캘리브레이션 영역에서 센서별 보정일, 담당자, 유효 상태를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조회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REQ-WEB-071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5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REQ-WEB-101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대시보드 진입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로그인 후 전체 운영 현황 허브 화면으로 진입한다.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REQ-WEB-101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6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REQ-WEB-102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메뉴 이동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대시보드, 유저 관리, 배터리 관리, 공지사항 관리, 감사 로그 메뉴로 이동한다.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이동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REQ-WEB-102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7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REQ-WEB-103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모드 종료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화면에서 일반 사용자 화면으로 나가거나 로그아웃한다.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인증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REQ-WEB-103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8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REQ-WEB-104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전체 운영 요약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전체 유저, 전체 배터리, 활성 세션, 위험/경고 배터리, 오프라인 디바이스 요약 카드를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조회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REQ-WEB-104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9"/>
                  </ns1:ext>
                </ns1:extLst>
              </ns1:tr>
            </ns1:tbl>
          </ns1:graphicData>
        </ns1:graphic>
      </ns0:graphicFrame>
    </ns0:spTree>
    <ns0:extLst>
      <ns0:ext uri="{BB962C8B-B14F-4D97-AF65-F5344CB8AC3E}">
        <ns5:creationId val="3666337407"/>
      </ns0:ext>
    </ns0:extLst>
  </ns0:cSld>
  <ns0:clrMapOvr>
    <ns1:masterClrMapping/>
  </ns0:clrMapOvr>
</ns0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FF4F9-6AAF-7554-4111-A34591EB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69828EAB-31D5-FB64-CD03-E7DBCA93901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60AF804-CD79-77BC-0E9A-9E93527BCDC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4A0CC11-11C4-813C-CAD2-1123EDEDD38C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64DCD44B-05DB-520B-020D-D08622DE66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B8B087-B5BA-4D5C-30DE-D787EADCD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C9B4314C-A4DB-0CEA-B094-87F5A3FDB537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356BD7-3CD4-DB3D-8A72-CCDAFE9239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상세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권한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행을 클릭해 기본 정보, 등록 배터리, 활동 로그를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비밀번호 재설정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정지/해제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변경 감사 기록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메모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관리자 메모를 입력하고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BLOCKED 사유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배터리를 BLOCKED로 변경할 때 사유 입력을 요구한다.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 감사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관리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수정 버튼으로 기존 공지를 편집한다.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게시 알림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임시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임시 저장을 수행한다.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보관/삭제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보관 또는 삭제 동작에서 확인 모달을 표시한다.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삭제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기간, 행위, 대상 기준 필터를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행을 클릭해 변경 전후 값과 사유를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수정/삭제 차단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5614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개발 환경 및 설명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A21BE-BF57-0869-9170-38A087961F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65760" y="1371600"/>
          <a:ext cx="8412480" cy="4754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기술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내역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에지(Edge)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센서 수집 SW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Python 3 · Raspberry Pi 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I2C/1-Wire 센서 드라이버 수집, Kafka 프로듀서로 Raw 데이터 발행(100ms)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측정 센서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INA226·BQ27441·DS18B20·MLX90614·ADS1115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전압·전류·SOC·접촉/IR 온도·가스·압력·음향 측정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물리 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모듈(GPIO)·Kill-Switch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 인터락 및 위험 시 물리 차단(에지 측 동작)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클라우드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클라우드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AWS EC2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Kafka·PostgreSQL·백엔드 호스팅, TLS/SASL 보안 접속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스트리밍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Apache Kafka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raw-metrics·anomaly-alerts·events 토픽 파이프라인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데이터베이스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PostgreSQL + TimescaleDB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시계열 하이퍼테이블 적재 및 장기간 고속 조회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 row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백엔드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API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Spring Boot 또는 Python Flask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REST/WebSocket API, 인증, 디바이스·릴레이 제어, 세션 태깅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 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 구독 → TimescaleDB 적재, 장애 후 재처리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AI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 모델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PyTorch / TensorFlow · Google Colab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LSTM-AutoEncoder(30 time-steps) 학습·실시간 추론, 이상점수 산출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프론트엔드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웹 대시보드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React (반응형 웹)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데스크톱/태블릿/모바일 실시간 관제, 차트·이벤트·설정·제어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Kakao Talk API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발생 시 외부 알림 발송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계측·전원 장비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전자부하 U6214·TP4056·ZY12PDN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모드별 충·방전 시나리오 구성 및 측정 검증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9265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1" y="1812454"/>
            <a:ext cx="4258129" cy="276894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6" y="1884038"/>
            <a:ext cx="3501585" cy="2697363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AFF764EB-22DF-A175-1421-5773B08BCB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B6CF3D6-54AD-664D-A74A-7B5AB14258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139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3096344" cy="3178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-H/W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57" y="1935749"/>
            <a:ext cx="7899400" cy="3695700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506AB3E1-AE74-9160-3B88-1E1B34C0695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60E464-F9BA-E972-3A6A-9DF7CBA2E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33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동영상 촬영 콘티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3" y="3798060"/>
            <a:ext cx="5877702" cy="2151219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78" y="1508629"/>
            <a:ext cx="5855816" cy="2157906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C7500637-46CD-7B82-4D3C-E50C3719767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0139F4-3D90-BC08-F57D-2AEEFFE84A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98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프로젝트 관리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2793828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3131840" y="1468773"/>
            <a:ext cx="288032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6084168" y="1484784"/>
            <a:ext cx="2981592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849" y="1916832"/>
            <a:ext cx="2870229" cy="2529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7872" y="15166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/>
              <a:t>이슈관리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7" y="1988840"/>
            <a:ext cx="2808313" cy="23725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848" y="14847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형상관리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8" y="1972217"/>
            <a:ext cx="2692556" cy="23891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7660" y="148478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프로젝트 관리</a:t>
            </a:r>
          </a:p>
        </p:txBody>
      </p:sp>
      <p:sp>
        <p:nvSpPr>
          <p:cNvPr id="24" name="사각형: 둥근 모서리 26">
            <a:extLst>
              <a:ext uri="{FF2B5EF4-FFF2-40B4-BE49-F238E27FC236}">
                <a16:creationId xmlns:a16="http://schemas.microsoft.com/office/drawing/2014/main" id="{01E962C8-CE2A-8E9B-B0A0-BDF35F75C2E4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26D0B7D-EFC9-128F-423A-9281E7C679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83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10800000">
            <a:off x="4306022" y="3226032"/>
            <a:ext cx="4837978" cy="3615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963451" y="2998113"/>
            <a:ext cx="321709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rgbClr val="3B5AA8"/>
                </a:solidFill>
              </a:rPr>
              <a:t>Thank you</a:t>
            </a:r>
            <a:endParaRPr lang="ko-KR" altLang="en-US" sz="5000" b="1" spc="-150" dirty="0">
              <a:solidFill>
                <a:srgbClr val="3B5AA8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71600" y="6502764"/>
            <a:ext cx="7056784" cy="36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8B488D3-AF34-7CBE-A60C-C2CAAAD8CA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rtlCol="0" anchor="ctr"/>
      <a:lstStyle>
        <a:defPPr algn="ctr">
          <a:defRPr b="1" dirty="0" smtClean="0"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1733</TotalTime>
  <Words>6990</Words>
  <Application>Microsoft Macintosh PowerPoint</Application>
  <PresentationFormat>화면 슬라이드 쇼(4:3)</PresentationFormat>
  <Paragraphs>1701</Paragraphs>
  <Slides>40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이낙선</dc:creator>
  <cp:lastModifiedBy>정재환</cp:lastModifiedBy>
  <cp:revision>292</cp:revision>
  <cp:lastPrinted>2026-07-05T10:29:53Z</cp:lastPrinted>
  <dcterms:created xsi:type="dcterms:W3CDTF">2014-04-16T00:55:54Z</dcterms:created>
  <dcterms:modified xsi:type="dcterms:W3CDTF">2026-07-06T09:14:08Z</dcterms:modified>
</cp:coreProperties>
</file>