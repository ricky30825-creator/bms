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16" d="100"/>
          <a:sy n="116" d="100"/>
        </p:scale>
        <p:origin x="216" y="2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997135" y="50292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44444"/>
                </a:solidFill>
                <a:latin typeface="Apple SD Gothic Neo"/>
                <a:ea typeface="Apple SD Gothic Neo"/>
                <a:cs typeface="Apple SD Gothic Neo"/>
              </a:rPr>
              <a:t>2026.6.23_V1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3154680"/>
            <a:ext cx="12191695" cy="2377440"/>
          </a:xfrm>
          <a:prstGeom prst="rect">
            <a:avLst/>
          </a:prstGeom>
          <a:solidFill>
            <a:srgbClr val="0A2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2148840"/>
            <a:ext cx="12191695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6/23 회의 발표자료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063240"/>
            <a:ext cx="12191695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CDD6EE"/>
                </a:solidFill>
                <a:latin typeface="Apple SD Gothic Neo"/>
                <a:ea typeface="Apple SD Gothic Neo"/>
                <a:cs typeface="Apple SD Gothic Neo"/>
              </a:rPr>
              <a:t>- 정재환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457200"/>
            <a:ext cx="11048695" cy="50292"/>
          </a:xfrm>
          <a:prstGeom prst="rect">
            <a:avLst/>
          </a:prstGeom>
          <a:solidFill>
            <a:srgbClr val="0A2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140135" y="219456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목차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F5FD6"/>
                </a:solidFill>
                <a:latin typeface="Apple SD Gothic Neo"/>
                <a:ea typeface="Apple SD Gothic Neo"/>
                <a:cs typeface="Apple SD Gothic Neo"/>
              </a:rPr>
              <a:t>Table of 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34747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B6B6B"/>
                </a:solidFill>
                <a:latin typeface="Apple SD Gothic Neo"/>
                <a:ea typeface="Apple SD Gothic Neo"/>
                <a:cs typeface="Apple SD Gothic Neo"/>
              </a:rPr>
              <a:t>주제 :  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음향 기반 열폭주 조기감지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센서 도입 검토</a:t>
            </a:r>
          </a:p>
        </p:txBody>
      </p:sp>
      <p:sp>
        <p:nvSpPr>
          <p:cNvPr id="7" name="Rectangle 6"/>
          <p:cNvSpPr/>
          <p:nvPr/>
        </p:nvSpPr>
        <p:spPr>
          <a:xfrm>
            <a:off x="5394960" y="1097280"/>
            <a:ext cx="22860" cy="2743200"/>
          </a:xfrm>
          <a:prstGeom prst="rect">
            <a:avLst/>
          </a:prstGeom>
          <a:solidFill>
            <a:srgbClr val="0A2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806440" y="1143000"/>
            <a:ext cx="524225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01  배경과 한계</a:t>
            </a:r>
            <a:r>
              <a:rPr sz="1150" b="0">
                <a:solidFill>
                  <a:srgbClr val="6B6B6B"/>
                </a:solidFill>
                <a:latin typeface="Apple SD Gothic Neo"/>
                <a:ea typeface="Apple SD Gothic Neo"/>
                <a:cs typeface="Apple SD Gothic Neo"/>
              </a:rPr>
              <a:t>   현재 센서 구성이 놓치는 구간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8695" y="114300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AA3B8"/>
                </a:solidFill>
                <a:latin typeface="Apple SD Gothic Neo"/>
                <a:ea typeface="Apple SD Gothic Neo"/>
                <a:cs typeface="Apple SD Gothic Neo"/>
              </a:rPr>
              <a:t>3p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06440" y="1618488"/>
            <a:ext cx="5882335" cy="9144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806440" y="1709928"/>
            <a:ext cx="524225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02  음향 조기감지 원리</a:t>
            </a:r>
            <a:r>
              <a:rPr sz="1150" b="0">
                <a:solidFill>
                  <a:srgbClr val="6B6B6B"/>
                </a:solidFill>
                <a:latin typeface="Apple SD Gothic Neo"/>
                <a:ea typeface="Apple SD Gothic Neo"/>
                <a:cs typeface="Apple SD Gothic Neo"/>
              </a:rPr>
              <a:t>   벤팅음 · 내부 탄성파(AE)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8695" y="1709928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AA3B8"/>
                </a:solidFill>
                <a:latin typeface="Apple SD Gothic Neo"/>
                <a:ea typeface="Apple SD Gothic Neo"/>
                <a:cs typeface="Apple SD Gothic Neo"/>
              </a:rPr>
              <a:t>5p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06440" y="2185416"/>
            <a:ext cx="5882335" cy="9144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06440" y="2276856"/>
            <a:ext cx="524225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03  신뢰성 근거</a:t>
            </a:r>
            <a:r>
              <a:rPr sz="1150" b="0">
                <a:solidFill>
                  <a:srgbClr val="6B6B6B"/>
                </a:solidFill>
                <a:latin typeface="Apple SD Gothic Neo"/>
                <a:ea typeface="Apple SD Gothic Neo"/>
                <a:cs typeface="Apple SD Gothic Neo"/>
              </a:rPr>
              <a:t>   특허 KR102254734B1 · 논문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48695" y="2276856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AA3B8"/>
                </a:solidFill>
                <a:latin typeface="Apple SD Gothic Neo"/>
                <a:ea typeface="Apple SD Gothic Neo"/>
                <a:cs typeface="Apple SD Gothic Neo"/>
              </a:rPr>
              <a:t>7p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06440" y="2752344"/>
            <a:ext cx="5882335" cy="9144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06440" y="2843784"/>
            <a:ext cx="524225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04  적용 방안</a:t>
            </a:r>
            <a:r>
              <a:rPr sz="1150" b="0">
                <a:solidFill>
                  <a:srgbClr val="6B6B6B"/>
                </a:solidFill>
                <a:latin typeface="Apple SD Gothic Neo"/>
                <a:ea typeface="Apple SD Gothic Neo"/>
                <a:cs typeface="Apple SD Gothic Neo"/>
              </a:rPr>
              <a:t>   센서 후보 · 시스템 통합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8695" y="2843784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AA3B8"/>
                </a:solidFill>
                <a:latin typeface="Apple SD Gothic Neo"/>
                <a:ea typeface="Apple SD Gothic Neo"/>
                <a:cs typeface="Apple SD Gothic Neo"/>
              </a:rPr>
              <a:t>10p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06440" y="3319272"/>
            <a:ext cx="5882335" cy="9144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06440" y="3410712"/>
            <a:ext cx="524225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05  선택 가능한 옵션</a:t>
            </a:r>
            <a:r>
              <a:rPr sz="1150" b="0">
                <a:solidFill>
                  <a:srgbClr val="6B6B6B"/>
                </a:solidFill>
                <a:latin typeface="Apple SD Gothic Neo"/>
                <a:ea typeface="Apple SD Gothic Neo"/>
                <a:cs typeface="Apple SD Gothic Neo"/>
              </a:rPr>
              <a:t>   회의 의사결정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48695" y="3410712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AA3B8"/>
                </a:solidFill>
                <a:latin typeface="Apple SD Gothic Neo"/>
                <a:ea typeface="Apple SD Gothic Neo"/>
                <a:cs typeface="Apple SD Gothic Neo"/>
              </a:rPr>
              <a:t>11p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06440" y="3886200"/>
            <a:ext cx="5882335" cy="9144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457200"/>
            <a:ext cx="11048695" cy="50292"/>
          </a:xfrm>
          <a:prstGeom prst="rect">
            <a:avLst/>
          </a:prstGeom>
          <a:solidFill>
            <a:srgbClr val="0A2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140135" y="219456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1048695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열폭주 1단계부터 감지 — 음향이 더 직접적·강건하다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10486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열폭주는 온도 상승과 함께 </a:t>
            </a:r>
            <a:r>
              <a:rPr sz="1250" b="1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비가역적으로</a:t>
            </a:r>
            <a:r>
              <a:rPr sz="125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 진행된다. 현재 센서도 </a:t>
            </a:r>
            <a:r>
              <a:rPr sz="1250" b="1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온도 변화율(dT/dt)</a:t>
            </a:r>
            <a:r>
              <a:rPr sz="125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로 1단계부터 감지 가능하나, 음향은 같은 1단계를 </a:t>
            </a:r>
            <a:r>
              <a:rPr sz="1250" b="1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더 직접·강건하게</a:t>
            </a:r>
            <a:r>
              <a:rPr sz="125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 잡는다.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990283" cy="1097280"/>
          </a:xfrm>
          <a:prstGeom prst="roundRect">
            <a:avLst>
              <a:gd name="adj" fmla="val 5000"/>
            </a:avLst>
          </a:prstGeom>
          <a:solidFill>
            <a:srgbClr val="6B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965960"/>
            <a:ext cx="1898843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정상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안정 상태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97480"/>
            <a:ext cx="1898843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상온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0363" y="1874519"/>
            <a:ext cx="27432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9AA3B8"/>
                </a:solidFill>
                <a:latin typeface="Apple SD Gothic Neo"/>
                <a:ea typeface="Apple SD Gothic Neo"/>
                <a:cs typeface="Apple SD Gothic Neo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4683" y="1874519"/>
            <a:ext cx="1990283" cy="1097280"/>
          </a:xfrm>
          <a:prstGeom prst="roundRect">
            <a:avLst>
              <a:gd name="adj" fmla="val 5000"/>
            </a:avLst>
          </a:prstGeom>
          <a:solidFill>
            <a:srgbClr val="2E62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50403" y="1965960"/>
            <a:ext cx="1898843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1단계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SEI 분해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내부 미세 균열·초기 가스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50403" y="2697480"/>
            <a:ext cx="1898843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약 80~120°C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4966" y="1874519"/>
            <a:ext cx="27432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9AA3B8"/>
                </a:solidFill>
                <a:latin typeface="Apple SD Gothic Neo"/>
                <a:ea typeface="Apple SD Gothic Neo"/>
                <a:cs typeface="Apple SD Gothic Neo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9286" y="1874519"/>
            <a:ext cx="1990283" cy="1097280"/>
          </a:xfrm>
          <a:prstGeom prst="roundRect">
            <a:avLst>
              <a:gd name="adj" fmla="val 5000"/>
            </a:avLst>
          </a:prstGeom>
          <a:solidFill>
            <a:srgbClr val="E07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15006" y="1965960"/>
            <a:ext cx="1898843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2단계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분리막 용융·내부 단락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off-gas·스웰링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5006" y="2697480"/>
            <a:ext cx="1898843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120~250°C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59569" y="1874519"/>
            <a:ext cx="27432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9AA3B8"/>
                </a:solidFill>
                <a:latin typeface="Apple SD Gothic Neo"/>
                <a:ea typeface="Apple SD Gothic Neo"/>
                <a:cs typeface="Apple SD Gothic Neo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33889" y="1874519"/>
            <a:ext cx="1990283" cy="1097280"/>
          </a:xfrm>
          <a:prstGeom prst="roundRect">
            <a:avLst>
              <a:gd name="adj" fmla="val 5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79609" y="1965960"/>
            <a:ext cx="1898843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3단계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양극 분해·산소 방출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대규모 발열·벤팅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79609" y="2697480"/>
            <a:ext cx="1898843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250°C 이상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24172" y="1874519"/>
            <a:ext cx="27432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9AA3B8"/>
                </a:solidFill>
                <a:latin typeface="Apple SD Gothic Neo"/>
                <a:ea typeface="Apple SD Gothic Neo"/>
                <a:cs typeface="Apple SD Gothic Neo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98492" y="1874519"/>
            <a:ext cx="1990283" cy="1097280"/>
          </a:xfrm>
          <a:prstGeom prst="roundRect">
            <a:avLst>
              <a:gd name="adj" fmla="val 5000"/>
            </a:avLst>
          </a:prstGeom>
          <a:solidFill>
            <a:srgbClr val="7A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44212" y="1965960"/>
            <a:ext cx="1898843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4단계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열폭주·발화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화재·폭발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44212" y="2697480"/>
            <a:ext cx="1898843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700~1000°C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04683" y="3291840"/>
            <a:ext cx="8784092" cy="475488"/>
          </a:xfrm>
          <a:prstGeom prst="roundRect">
            <a:avLst>
              <a:gd name="adj" fmla="val 6000"/>
            </a:avLst>
          </a:prstGeom>
          <a:solidFill>
            <a:srgbClr val="E3F4E8"/>
          </a:solidFill>
          <a:ln w="15875">
            <a:solidFill>
              <a:srgbClr val="1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904683" y="3291840"/>
            <a:ext cx="64008" cy="475488"/>
          </a:xfrm>
          <a:prstGeom prst="rect">
            <a:avLst/>
          </a:prstGeom>
          <a:solidFill>
            <a:srgbClr val="1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087563" y="3291840"/>
            <a:ext cx="8491484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1단계부터 직접 감지(내부 균열·기포 탄성파) · </a:t>
            </a:r>
            <a:r>
              <a:rPr sz="1100" b="1">
                <a:solidFill>
                  <a:srgbClr val="1F8A4C"/>
                </a:solidFill>
                <a:latin typeface="Apple SD Gothic Neo"/>
                <a:ea typeface="Apple SD Gothic Neo"/>
                <a:cs typeface="Apple SD Gothic Neo"/>
              </a:rPr>
              <a:t>open에서도 강건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291840"/>
            <a:ext cx="2136587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F8A4C"/>
                </a:solidFill>
                <a:latin typeface="Apple SD Gothic Neo"/>
                <a:ea typeface="Apple SD Gothic Neo"/>
                <a:cs typeface="Apple SD Gothic Neo"/>
              </a:rPr>
              <a:t>음향센서</a:t>
            </a:r>
          </a:p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6B6B"/>
                </a:solidFill>
                <a:latin typeface="Apple SD Gothic Neo"/>
                <a:ea typeface="Apple SD Gothic Neo"/>
                <a:cs typeface="Apple SD Gothic Neo"/>
              </a:rPr>
              <a:t>신규 검토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904683" y="3931920"/>
            <a:ext cx="8784092" cy="475488"/>
          </a:xfrm>
          <a:prstGeom prst="roundRect">
            <a:avLst>
              <a:gd name="adj" fmla="val 6000"/>
            </a:avLst>
          </a:prstGeom>
          <a:solidFill>
            <a:srgbClr val="ECF1FB"/>
          </a:solidFill>
          <a:ln w="15875">
            <a:solidFill>
              <a:srgbClr val="0A2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904683" y="3931920"/>
            <a:ext cx="2264603" cy="475488"/>
          </a:xfrm>
          <a:prstGeom prst="rect">
            <a:avLst/>
          </a:prstGeom>
          <a:solidFill>
            <a:srgbClr val="F6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904683" y="3931920"/>
            <a:ext cx="64008" cy="475488"/>
          </a:xfrm>
          <a:prstGeom prst="rect">
            <a:avLst/>
          </a:prstGeom>
          <a:solidFill>
            <a:srgbClr val="A9B4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032699" y="4000387"/>
            <a:ext cx="2063435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1단계: dT/dt </a:t>
            </a:r>
            <a:r>
              <a:rPr sz="1100" b="1" dirty="0" err="1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조기</a:t>
            </a:r>
            <a:r>
              <a:rPr sz="1100" b="1" dirty="0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1" dirty="0" err="1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감지</a:t>
            </a:r>
            <a:endParaRPr sz="1100" b="1" dirty="0">
              <a:solidFill>
                <a:srgbClr val="0A2A8C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6B6B6B"/>
                </a:solidFill>
                <a:latin typeface="Apple SD Gothic Neo"/>
                <a:ea typeface="Apple SD Gothic Neo"/>
                <a:cs typeface="Apple SD Gothic Neo"/>
              </a:rPr>
              <a:t>(</a:t>
            </a:r>
            <a:r>
              <a:rPr sz="1100" b="0" dirty="0" err="1">
                <a:solidFill>
                  <a:srgbClr val="6B6B6B"/>
                </a:solidFill>
                <a:latin typeface="Apple SD Gothic Neo"/>
                <a:ea typeface="Apple SD Gothic Neo"/>
                <a:cs typeface="Apple SD Gothic Neo"/>
              </a:rPr>
              <a:t>변화율·신호</a:t>
            </a:r>
            <a:r>
              <a:rPr sz="1100" b="0" dirty="0">
                <a:solidFill>
                  <a:srgbClr val="6B6B6B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0" dirty="0" err="1">
                <a:solidFill>
                  <a:srgbClr val="6B6B6B"/>
                </a:solidFill>
                <a:latin typeface="Apple SD Gothic Neo"/>
                <a:ea typeface="Apple SD Gothic Neo"/>
                <a:cs typeface="Apple SD Gothic Neo"/>
              </a:rPr>
              <a:t>약함</a:t>
            </a:r>
            <a:r>
              <a:rPr sz="1100" b="0" dirty="0">
                <a:solidFill>
                  <a:srgbClr val="6B6B6B"/>
                </a:solidFill>
                <a:latin typeface="Apple SD Gothic Neo"/>
                <a:ea typeface="Apple SD Gothic Neo"/>
                <a:cs typeface="Apple SD Gothic Neo"/>
              </a:rPr>
              <a:t>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59227" y="3931920"/>
            <a:ext cx="20116" cy="475488"/>
          </a:xfrm>
          <a:prstGeom prst="rect">
            <a:avLst/>
          </a:prstGeom>
          <a:solidFill>
            <a:srgbClr val="0A2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169286" y="3931920"/>
            <a:ext cx="64008" cy="475488"/>
          </a:xfrm>
          <a:prstGeom prst="rect">
            <a:avLst/>
          </a:prstGeom>
          <a:solidFill>
            <a:srgbClr val="0A2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352166" y="3931920"/>
            <a:ext cx="6226881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dirty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2단계(</a:t>
            </a:r>
            <a:r>
              <a:rPr sz="1100" b="0" dirty="0" err="1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온도</a:t>
            </a:r>
            <a:r>
              <a:rPr sz="1100" b="0" dirty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급상승</a:t>
            </a:r>
            <a:r>
              <a:rPr sz="1100" b="0" dirty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)</a:t>
            </a:r>
            <a:r>
              <a:rPr sz="1100" b="0" dirty="0" err="1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부터</a:t>
            </a:r>
            <a:r>
              <a:rPr sz="1100" b="0" dirty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1" dirty="0" err="1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실질·신뢰</a:t>
            </a:r>
            <a:r>
              <a:rPr sz="1100" b="1" dirty="0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1" dirty="0" err="1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감지</a:t>
            </a:r>
            <a:endParaRPr sz="1100" b="1" dirty="0">
              <a:solidFill>
                <a:srgbClr val="0A2A8C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40080" y="3931920"/>
            <a:ext cx="2136587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현재 계획 센서</a:t>
            </a:r>
          </a:p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6B6B"/>
                </a:solidFill>
                <a:latin typeface="Apple SD Gothic Neo"/>
                <a:ea typeface="Apple SD Gothic Neo"/>
                <a:cs typeface="Apple SD Gothic Neo"/>
              </a:rPr>
              <a:t>전압·전류·온도·SOC·절연저항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4709160"/>
            <a:ext cx="11048695" cy="310896"/>
          </a:xfrm>
          <a:prstGeom prst="roundRect">
            <a:avLst>
              <a:gd name="adj" fmla="val 8000"/>
            </a:avLst>
          </a:prstGeom>
          <a:solidFill>
            <a:srgbClr val="F1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" y="4709160"/>
            <a:ext cx="11048695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777777"/>
                </a:solidFill>
                <a:latin typeface="Apple SD Gothic Neo"/>
                <a:ea typeface="Apple SD Gothic Neo"/>
                <a:cs typeface="Apple SD Gothic Neo"/>
              </a:rPr>
              <a:t>1단계는 dT/dt로도 조기 감지 가능하나 open·표면 측정상 신호가 약함 → 음향(직접 신호)으로 보완·교차검증해 신뢰도↑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6437376"/>
            <a:ext cx="11048695" cy="10972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080" y="6473952"/>
            <a:ext cx="110486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9A9A9A"/>
                </a:solidFill>
                <a:latin typeface="Apple SD Gothic Neo"/>
                <a:ea typeface="Apple SD Gothic Neo"/>
                <a:cs typeface="Apple SD Gothic Neo"/>
              </a:rPr>
              <a:t>단계·온도는 일반적 리튬이온 열폭주 메커니즘 기준. 현재 센서는 LSTM-AE가 dT/dt·d²T/dt² 변화율 특징을 학습 → 1단계 미세 발열도 원리상 감지하나, open·표면 측정상 신뢰도는 신호 세기에 의존.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457200"/>
            <a:ext cx="11048695" cy="50292"/>
          </a:xfrm>
          <a:prstGeom prst="rect">
            <a:avLst/>
          </a:prstGeom>
          <a:solidFill>
            <a:srgbClr val="0A2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140135" y="219456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1048695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음향은 "가스가 새기 전"부터 "벤팅음"까지 포괄한다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10486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열폭주 전조는 아래 순서로 진행된다. </a:t>
            </a:r>
            <a:r>
              <a:rPr sz="1250" b="1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음향 신호</a:t>
            </a:r>
            <a:r>
              <a:rPr sz="125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는 내부 탄성파(가장 이른 축)부터 벤팅음까지 넓은 구간을 덮어, 온도 기반 탐지보다 앞설 수 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1597609" cy="914400"/>
          </a:xfrm>
          <a:prstGeom prst="roundRect">
            <a:avLst>
              <a:gd name="adj" fmla="val 5000"/>
            </a:avLst>
          </a:prstGeom>
          <a:solidFill>
            <a:srgbClr val="2E62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1597609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①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전압·내부저항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변화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37689" y="1965960"/>
            <a:ext cx="292608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9AA3B8"/>
                </a:solidFill>
                <a:latin typeface="Apple SD Gothic Neo"/>
                <a:ea typeface="Apple SD Gothic Neo"/>
                <a:cs typeface="Apple SD Gothic Neo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30297" y="1965960"/>
            <a:ext cx="1597609" cy="914400"/>
          </a:xfrm>
          <a:prstGeom prst="roundRect">
            <a:avLst>
              <a:gd name="adj" fmla="val 5000"/>
            </a:avLst>
          </a:prstGeom>
          <a:solidFill>
            <a:srgbClr val="E07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30297" y="1965960"/>
            <a:ext cx="1597609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②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off-gas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방출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27906" y="1965960"/>
            <a:ext cx="292608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9AA3B8"/>
                </a:solidFill>
                <a:latin typeface="Apple SD Gothic Neo"/>
                <a:ea typeface="Apple SD Gothic Neo"/>
                <a:cs typeface="Apple SD Gothic Neo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20514" y="1965960"/>
            <a:ext cx="1597609" cy="914400"/>
          </a:xfrm>
          <a:prstGeom prst="roundRect">
            <a:avLst>
              <a:gd name="adj" fmla="val 5000"/>
            </a:avLst>
          </a:prstGeom>
          <a:solidFill>
            <a:srgbClr val="E09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20514" y="1965960"/>
            <a:ext cx="1597609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③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셀 스웰링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(팽창)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18123" y="1965960"/>
            <a:ext cx="292608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9AA3B8"/>
                </a:solidFill>
                <a:latin typeface="Apple SD Gothic Neo"/>
                <a:ea typeface="Apple SD Gothic Neo"/>
                <a:cs typeface="Apple SD Gothic Neo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10731" y="1965960"/>
            <a:ext cx="1597609" cy="914400"/>
          </a:xfrm>
          <a:prstGeom prst="roundRect">
            <a:avLst>
              <a:gd name="adj" fmla="val 5000"/>
            </a:avLst>
          </a:prstGeom>
          <a:solidFill>
            <a:srgbClr val="D96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10731" y="1965960"/>
            <a:ext cx="1597609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④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표면 온도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급상승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8340" y="1965960"/>
            <a:ext cx="292608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9AA3B8"/>
                </a:solidFill>
                <a:latin typeface="Apple SD Gothic Neo"/>
                <a:ea typeface="Apple SD Gothic Neo"/>
                <a:cs typeface="Apple SD Gothic Neo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00948" y="1965960"/>
            <a:ext cx="1597609" cy="914400"/>
          </a:xfrm>
          <a:prstGeom prst="roundRect">
            <a:avLst>
              <a:gd name="adj" fmla="val 5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00948" y="1965960"/>
            <a:ext cx="1597609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⑤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벤팅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(안전밸브)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98558" y="1965960"/>
            <a:ext cx="292608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9AA3B8"/>
                </a:solidFill>
                <a:latin typeface="Apple SD Gothic Neo"/>
                <a:ea typeface="Apple SD Gothic Neo"/>
                <a:cs typeface="Apple SD Gothic Neo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91166" y="1965960"/>
            <a:ext cx="1597609" cy="914400"/>
          </a:xfrm>
          <a:prstGeom prst="roundRect">
            <a:avLst>
              <a:gd name="adj" fmla="val 5000"/>
            </a:avLst>
          </a:prstGeom>
          <a:solidFill>
            <a:srgbClr val="7A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91166" y="1965960"/>
            <a:ext cx="1597609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⑥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발화·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폭발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246120"/>
            <a:ext cx="5272887" cy="914400"/>
          </a:xfrm>
          <a:prstGeom prst="roundRect">
            <a:avLst>
              <a:gd name="adj" fmla="val 4000"/>
            </a:avLst>
          </a:prstGeom>
          <a:solidFill>
            <a:srgbClr val="FCF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" y="3246120"/>
            <a:ext cx="64008" cy="914400"/>
          </a:xfrm>
          <a:prstGeom prst="rect">
            <a:avLst/>
          </a:prstGeom>
          <a:solidFill>
            <a:srgbClr val="E07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59" y="3346703"/>
            <a:ext cx="49802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07B1E"/>
                </a:solidFill>
                <a:latin typeface="Apple SD Gothic Neo"/>
                <a:ea typeface="Apple SD Gothic Neo"/>
                <a:cs typeface="Apple SD Gothic Neo"/>
              </a:rPr>
              <a:t>현재 우리 시스템이 잡는 구간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3648456"/>
            <a:ext cx="49802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08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대체로 </a:t>
            </a:r>
            <a:r>
              <a:rPr sz="1080" b="1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② off-gas ~ ④ 온도 급상승</a:t>
            </a:r>
            <a:r>
              <a:rPr sz="108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. 신호가 뚜렷해질 때는 이미 부반응이 상당히 진행.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15887" y="3246120"/>
            <a:ext cx="5272887" cy="914400"/>
          </a:xfrm>
          <a:prstGeom prst="roundRect">
            <a:avLst>
              <a:gd name="adj" fmla="val 4000"/>
            </a:avLst>
          </a:prstGeom>
          <a:solidFill>
            <a:srgbClr val="EA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15887" y="3246120"/>
            <a:ext cx="64008" cy="914400"/>
          </a:xfrm>
          <a:prstGeom prst="rect">
            <a:avLst/>
          </a:prstGeom>
          <a:solidFill>
            <a:srgbClr val="0A2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98767" y="3346703"/>
            <a:ext cx="49802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음향이 잡는 구간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98767" y="3648456"/>
            <a:ext cx="49802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080" b="1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내부 탄성파(① 부근의 분리막 균열·기포 생성)</a:t>
            </a:r>
            <a:r>
              <a:rPr sz="108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부터 ⑤ 벤팅음까지. → 더 이른 경보 가능.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343400"/>
            <a:ext cx="11048695" cy="310896"/>
          </a:xfrm>
          <a:prstGeom prst="roundRect">
            <a:avLst>
              <a:gd name="adj" fmla="val 8000"/>
            </a:avLst>
          </a:prstGeom>
          <a:solidFill>
            <a:srgbClr val="F1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4343400"/>
            <a:ext cx="11048695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777777"/>
                </a:solidFill>
                <a:latin typeface="Apple SD Gothic Neo"/>
                <a:ea typeface="Apple SD Gothic Neo"/>
                <a:cs typeface="Apple SD Gothic Neo"/>
              </a:rPr>
              <a:t>[열폭주 전조 타임라인과 신호 채널별 커버리지]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457200"/>
            <a:ext cx="11048695" cy="50292"/>
          </a:xfrm>
          <a:prstGeom prst="rect">
            <a:avLst/>
          </a:prstGeom>
          <a:solidFill>
            <a:srgbClr val="0A2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140135" y="219456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1048695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우리는 "밀폐 팩"이 아니라 "개방 공간"에서 측정한다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272887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대상은 </a:t>
            </a:r>
            <a:r>
              <a:rPr sz="1250" b="1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개방(open) 공간의 18650 셀·USB 보조배터리</a:t>
            </a:r>
            <a:r>
              <a:rPr sz="125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다. ESS·EV처럼 셀이 밀폐 팩 안에 있지 않다. 이 차이가 센서 선택을 가른다.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5272887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050" b="0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■  </a:t>
            </a:r>
            <a:r>
              <a:rPr sz="1250" b="1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가스센서</a:t>
            </a:r>
            <a:r>
              <a:rPr sz="125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: 밀폐 팩은 off-gas가 축적되지만 open에서는 즉시 </a:t>
            </a:r>
            <a:r>
              <a:rPr sz="1250" b="1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확산·희석</a:t>
            </a:r>
            <a:r>
              <a:rPr sz="125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 → 농도↓, 기류 의존 → 강점 약화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050" b="0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■  </a:t>
            </a:r>
            <a:r>
              <a:rPr sz="1250" b="1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음향(벤팅음)</a:t>
            </a:r>
            <a:r>
              <a:rPr sz="125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: 공기 중 음파라 거리·개방 영향이 작고, </a:t>
            </a:r>
            <a:r>
              <a:rPr sz="1250" b="1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MW급 ESS 현장</a:t>
            </a:r>
            <a:r>
              <a:rPr sz="125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에서 검증된 방식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050" b="0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■  </a:t>
            </a:r>
            <a:r>
              <a:rPr sz="125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결론: open 환경에서는 </a:t>
            </a:r>
            <a:r>
              <a:rPr sz="1250" b="1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가스보다 음향이 비용 대비 효용·재현성에서 유리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15887" y="1371600"/>
            <a:ext cx="527288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open 환경 적합성 비교</a:t>
            </a:r>
          </a:p>
        </p:txBody>
      </p:sp>
      <p:sp>
        <p:nvSpPr>
          <p:cNvPr id="8" name="Rectangle 7"/>
          <p:cNvSpPr/>
          <p:nvPr/>
        </p:nvSpPr>
        <p:spPr>
          <a:xfrm>
            <a:off x="6415887" y="1737360"/>
            <a:ext cx="5272430" cy="384048"/>
          </a:xfrm>
          <a:prstGeom prst="rect">
            <a:avLst/>
          </a:prstGeom>
          <a:solidFill>
            <a:srgbClr val="0A2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07327" y="1737360"/>
            <a:ext cx="140817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항목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61807" y="1737360"/>
            <a:ext cx="168249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가스센서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90607" y="1737360"/>
            <a:ext cx="174284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음향(벤팅음)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15887" y="2121408"/>
            <a:ext cx="527243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15887" y="2512771"/>
            <a:ext cx="5272430" cy="10972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07327" y="2121408"/>
            <a:ext cx="140817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신호 매질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61807" y="2121408"/>
            <a:ext cx="168249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가스 농도(확산)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90607" y="2121408"/>
            <a:ext cx="174284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공기 중 음파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15887" y="2523744"/>
            <a:ext cx="5272430" cy="402336"/>
          </a:xfrm>
          <a:prstGeom prst="rect">
            <a:avLst/>
          </a:prstGeom>
          <a:solidFill>
            <a:srgbClr val="F7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15887" y="2915107"/>
            <a:ext cx="5272430" cy="10972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07327" y="2523744"/>
            <a:ext cx="140817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개방 공간 적합성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61807" y="2523744"/>
            <a:ext cx="168249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C0392B"/>
                </a:solidFill>
                <a:latin typeface="Apple SD Gothic Neo"/>
                <a:ea typeface="Apple SD Gothic Neo"/>
                <a:cs typeface="Apple SD Gothic Neo"/>
              </a:rPr>
              <a:t>낮음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 (희석)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90607" y="2523744"/>
            <a:ext cx="174284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F8A4C"/>
                </a:solidFill>
                <a:latin typeface="Apple SD Gothic Neo"/>
                <a:ea typeface="Apple SD Gothic Neo"/>
                <a:cs typeface="Apple SD Gothic Neo"/>
              </a:rPr>
              <a:t>높음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15887" y="2926079"/>
            <a:ext cx="527243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15887" y="3317443"/>
            <a:ext cx="5272430" cy="10972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07327" y="2926079"/>
            <a:ext cx="140817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거리 민감도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61807" y="2926079"/>
            <a:ext cx="168249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90607" y="2926079"/>
            <a:ext cx="174284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상대적으로 작음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15887" y="3328415"/>
            <a:ext cx="5272430" cy="402336"/>
          </a:xfrm>
          <a:prstGeom prst="rect">
            <a:avLst/>
          </a:prstGeom>
          <a:solidFill>
            <a:srgbClr val="F7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15887" y="3719779"/>
            <a:ext cx="5272430" cy="10972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07327" y="3328415"/>
            <a:ext cx="140817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현장 검증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61807" y="3328415"/>
            <a:ext cx="168249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주로 밀폐 캐비닛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90607" y="3328415"/>
            <a:ext cx="174284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F8A4C"/>
                </a:solidFill>
                <a:latin typeface="Apple SD Gothic Neo"/>
                <a:ea typeface="Apple SD Gothic Neo"/>
                <a:cs typeface="Apple SD Gothic Neo"/>
              </a:rPr>
              <a:t>MW급 ESS 검증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15887" y="3730752"/>
            <a:ext cx="527243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15887" y="4122115"/>
            <a:ext cx="5272430" cy="10972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07327" y="3730752"/>
            <a:ext cx="140817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응답 속도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61807" y="3730752"/>
            <a:ext cx="168249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수초~분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90607" y="3730752"/>
            <a:ext cx="174284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F8A4C"/>
                </a:solidFill>
                <a:latin typeface="Apple SD Gothic Neo"/>
                <a:ea typeface="Apple SD Gothic Neo"/>
                <a:cs typeface="Apple SD Gothic Neo"/>
              </a:rPr>
              <a:t>ms 수준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15887" y="4242816"/>
            <a:ext cx="5272887" cy="310896"/>
          </a:xfrm>
          <a:prstGeom prst="roundRect">
            <a:avLst>
              <a:gd name="adj" fmla="val 8000"/>
            </a:avLst>
          </a:prstGeom>
          <a:solidFill>
            <a:srgbClr val="F1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15887" y="4242816"/>
            <a:ext cx="5272887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777777"/>
                </a:solidFill>
                <a:latin typeface="Apple SD Gothic Neo"/>
                <a:ea typeface="Apple SD Gothic Neo"/>
                <a:cs typeface="Apple SD Gothic Neo"/>
              </a:rPr>
              <a:t>검증 사례: 8p 논문 근거 참조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457200"/>
            <a:ext cx="11048695" cy="50292"/>
          </a:xfrm>
          <a:prstGeom prst="rect">
            <a:avLst/>
          </a:prstGeom>
          <a:solidFill>
            <a:srgbClr val="0A2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140135" y="219456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1048695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음향 기반 감지는 두 갈래다 — 듣기(AE) vs 거리측정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10486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"음향 센서"는 크게 두 방식으로 나뉜다. 우리가 원하는 것은 </a:t>
            </a:r>
            <a:r>
              <a:rPr sz="1250" b="1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소리를 듣는(수동) 방식</a:t>
            </a:r>
            <a:r>
              <a:rPr sz="125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이다.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72887" cy="1143000"/>
          </a:xfrm>
          <a:prstGeom prst="roundRect">
            <a:avLst>
              <a:gd name="adj" fmla="val 3000"/>
            </a:avLst>
          </a:prstGeom>
          <a:solidFill>
            <a:srgbClr val="F5F8FE"/>
          </a:solidFill>
          <a:ln w="12700">
            <a:solidFill>
              <a:srgbClr val="C9D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2039112"/>
            <a:ext cx="490712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(A) 벤팅·안전밸브 파열음 — 수동 마이크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359152"/>
            <a:ext cx="4907127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셀이 부풀다 안전밸브가 터질 때 나는 "쉭/팡" 소리를 마이크로 청취. </a:t>
            </a:r>
            <a:r>
              <a:rPr sz="1080" b="1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open 공간에 적합</a:t>
            </a:r>
            <a:r>
              <a:rPr sz="108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, 라즈베리파이 직결 가능. 단 벤팅(⑤)이라 다소 늦은 신호.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246120"/>
            <a:ext cx="5272887" cy="1234440"/>
          </a:xfrm>
          <a:prstGeom prst="roundRect">
            <a:avLst>
              <a:gd name="adj" fmla="val 3000"/>
            </a:avLst>
          </a:prstGeom>
          <a:solidFill>
            <a:srgbClr val="F5F8FE"/>
          </a:solidFill>
          <a:ln w="12700">
            <a:solidFill>
              <a:srgbClr val="C9D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3364991"/>
            <a:ext cx="490712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(B) 내부 균열·기포 탄성파 — 접촉 AE(음향방출)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685031"/>
            <a:ext cx="4907127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셀 내부 </a:t>
            </a:r>
            <a:r>
              <a:rPr sz="1080" b="1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분리막 균열·가스 기포</a:t>
            </a:r>
            <a:r>
              <a:rPr sz="108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의 초음파(~100kHz↑)를 표면 압전 소자로 포착. </a:t>
            </a:r>
            <a:r>
              <a:rPr sz="1080" b="1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가스가 새기 전 감지</a:t>
            </a:r>
            <a:r>
              <a:rPr sz="108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 → 가장 빠른 축. 난이도 높음.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15887" y="1920240"/>
            <a:ext cx="5272887" cy="1325880"/>
          </a:xfrm>
          <a:prstGeom prst="roundRect">
            <a:avLst>
              <a:gd name="adj" fmla="val 4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15887" y="1920240"/>
            <a:ext cx="64008" cy="13258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98767" y="2020824"/>
            <a:ext cx="49802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C0392B"/>
                </a:solidFill>
                <a:latin typeface="Apple SD Gothic Neo"/>
                <a:ea typeface="Apple SD Gothic Neo"/>
                <a:cs typeface="Apple SD Gothic Neo"/>
              </a:rPr>
              <a:t>⚠ 흔한 오해 정정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98767" y="2322576"/>
            <a:ext cx="498027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08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시중의 "초음파 센서(HC-SR04)"는 펄스를 </a:t>
            </a:r>
            <a:r>
              <a:rPr sz="1080" b="1">
                <a:solidFill>
                  <a:srgbClr val="C0392B"/>
                </a:solidFill>
                <a:latin typeface="Apple SD Gothic Neo"/>
                <a:ea typeface="Apple SD Gothic Neo"/>
                <a:cs typeface="Apple SD Gothic Neo"/>
              </a:rPr>
              <a:t>쏘고 반향 시간을 재는 거리측정(소나)</a:t>
            </a:r>
            <a:r>
              <a:rPr sz="108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 장치로, </a:t>
            </a:r>
            <a:r>
              <a:rPr sz="1080" b="1">
                <a:solidFill>
                  <a:srgbClr val="C0392B"/>
                </a:solidFill>
                <a:latin typeface="Apple SD Gothic Neo"/>
                <a:ea typeface="Apple SD Gothic Neo"/>
                <a:cs typeface="Apple SD Gothic Neo"/>
              </a:rPr>
              <a:t>소리를 듣는 센서가 아니다</a:t>
            </a:r>
            <a:r>
              <a:rPr sz="108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. 굳이 쓴다면 스웰링(팽창) 거리 측정용으로만 의미.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15887" y="3383280"/>
            <a:ext cx="5272887" cy="868680"/>
          </a:xfrm>
          <a:prstGeom prst="roundRect">
            <a:avLst>
              <a:gd name="adj" fmla="val 4000"/>
            </a:avLst>
          </a:prstGeom>
          <a:solidFill>
            <a:srgbClr val="EA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15887" y="3383280"/>
            <a:ext cx="64008" cy="868680"/>
          </a:xfrm>
          <a:prstGeom prst="rect">
            <a:avLst/>
          </a:prstGeom>
          <a:solidFill>
            <a:srgbClr val="0A2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98767" y="3483864"/>
            <a:ext cx="49802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정리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98767" y="3785616"/>
            <a:ext cx="4980279" cy="4114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08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전조음 탐지 = </a:t>
            </a:r>
            <a:r>
              <a:rPr sz="1080" b="1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수동 청취형</a:t>
            </a:r>
            <a:r>
              <a:rPr sz="108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(마이크 / AE 압전).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08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거리측정 초음파 모듈은 별개 용도.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15887" y="4389120"/>
            <a:ext cx="5272887" cy="310896"/>
          </a:xfrm>
          <a:prstGeom prst="roundRect">
            <a:avLst>
              <a:gd name="adj" fmla="val 8000"/>
            </a:avLst>
          </a:prstGeom>
          <a:solidFill>
            <a:srgbClr val="F1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15887" y="4389120"/>
            <a:ext cx="5272887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777777"/>
                </a:solidFill>
                <a:latin typeface="Apple SD Gothic Neo"/>
                <a:ea typeface="Apple SD Gothic Neo"/>
                <a:cs typeface="Apple SD Gothic Neo"/>
              </a:rPr>
              <a:t>[수동 청취(AE/마이크) vs 능동 거리측정(소나) 구분]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457200"/>
            <a:ext cx="11048695" cy="50292"/>
          </a:xfrm>
          <a:prstGeom prst="rect">
            <a:avLst/>
          </a:prstGeom>
          <a:solidFill>
            <a:srgbClr val="0A2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140135" y="219456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1048695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신뢰성 ① — 국내 등록특허가 같은 접근을 검증한다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5272887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KR102254734B1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「음향을 이용한 ESS 배터리의 화재 조기 감지 장치 및 방법」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5272887" cy="384048"/>
          </a:xfrm>
          <a:prstGeom prst="rect">
            <a:avLst/>
          </a:prstGeom>
          <a:solidFill>
            <a:srgbClr val="0A2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19" y="2194560"/>
            <a:ext cx="140817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항목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194560"/>
            <a:ext cx="357210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내용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578608"/>
            <a:ext cx="5272887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2988259"/>
            <a:ext cx="5272887" cy="10972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19" y="2578608"/>
            <a:ext cx="1408176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등록번호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578608"/>
            <a:ext cx="3572103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KR 10-2254734 B1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999232"/>
            <a:ext cx="5272887" cy="420624"/>
          </a:xfrm>
          <a:prstGeom prst="rect">
            <a:avLst/>
          </a:prstGeom>
          <a:solidFill>
            <a:srgbClr val="F7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3408883"/>
            <a:ext cx="5272887" cy="10972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19" y="2999232"/>
            <a:ext cx="1408176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권리자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2999232"/>
            <a:ext cx="3572103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(주)인텍에프에이 · 임건표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419856"/>
            <a:ext cx="5272887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3829507"/>
            <a:ext cx="5272887" cy="10972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19" y="3419856"/>
            <a:ext cx="1408176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출원일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3419856"/>
            <a:ext cx="3572103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2020. 10. 21.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840480"/>
            <a:ext cx="5272887" cy="420624"/>
          </a:xfrm>
          <a:prstGeom prst="rect">
            <a:avLst/>
          </a:prstGeom>
          <a:solidFill>
            <a:srgbClr val="F7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0080" y="4250131"/>
            <a:ext cx="5272887" cy="10972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19" y="3840480"/>
            <a:ext cx="1408176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등록일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3840480"/>
            <a:ext cx="3572103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2021. 05. 24.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425696"/>
            <a:ext cx="527288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→ 음향을 1차 신호로 쓰는 조기감지가 </a:t>
            </a:r>
            <a:r>
              <a:rPr sz="1100" b="1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국내에서 권리화된 검증된 접근</a:t>
            </a:r>
            <a:r>
              <a:rPr sz="110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임을 보여준다.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5887" y="1417320"/>
            <a:ext cx="527288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청구항 핵심 구성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15887" y="1783080"/>
            <a:ext cx="5272887" cy="868680"/>
          </a:xfrm>
          <a:prstGeom prst="roundRect">
            <a:avLst>
              <a:gd name="adj" fmla="val 4000"/>
            </a:avLst>
          </a:prstGeom>
          <a:solidFill>
            <a:srgbClr val="EA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15887" y="1783080"/>
            <a:ext cx="64008" cy="868680"/>
          </a:xfrm>
          <a:prstGeom prst="rect">
            <a:avLst/>
          </a:prstGeom>
          <a:solidFill>
            <a:srgbClr val="0A2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98767" y="1883664"/>
            <a:ext cx="49802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① 센서부 — 복합 감지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98767" y="2185416"/>
            <a:ext cx="4980279" cy="4114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08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배터리 셀의 </a:t>
            </a:r>
            <a:r>
              <a:rPr sz="1080" b="1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가스</a:t>
            </a:r>
            <a:r>
              <a:rPr sz="108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, 가스 배출 시 </a:t>
            </a:r>
            <a:r>
              <a:rPr sz="1080" b="1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음향</a:t>
            </a:r>
            <a:r>
              <a:rPr sz="108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, 화재 시 </a:t>
            </a:r>
            <a:r>
              <a:rPr sz="1080" b="1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광·온도 변화</a:t>
            </a:r>
            <a:r>
              <a:rPr sz="108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를 함께 감지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15887" y="2788920"/>
            <a:ext cx="5272887" cy="777240"/>
          </a:xfrm>
          <a:prstGeom prst="roundRect">
            <a:avLst>
              <a:gd name="adj" fmla="val 4000"/>
            </a:avLst>
          </a:prstGeom>
          <a:solidFill>
            <a:srgbClr val="EA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415887" y="2788920"/>
            <a:ext cx="64008" cy="777240"/>
          </a:xfrm>
          <a:prstGeom prst="rect">
            <a:avLst/>
          </a:prstGeom>
          <a:solidFill>
            <a:srgbClr val="0A2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98767" y="2889503"/>
            <a:ext cx="49802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② 분석부 — 필터링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98767" y="3191256"/>
            <a:ext cx="498027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08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각 아날로그 신호를 </a:t>
            </a:r>
            <a:r>
              <a:rPr sz="1080" b="1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설정 필터링 파라미터</a:t>
            </a:r>
            <a:r>
              <a:rPr sz="108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로 필터링하여 필터링 정보 생성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15887" y="3703320"/>
            <a:ext cx="5272887" cy="777240"/>
          </a:xfrm>
          <a:prstGeom prst="roundRect">
            <a:avLst>
              <a:gd name="adj" fmla="val 4000"/>
            </a:avLst>
          </a:prstGeom>
          <a:solidFill>
            <a:srgbClr val="EA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415887" y="3703320"/>
            <a:ext cx="64008" cy="777240"/>
          </a:xfrm>
          <a:prstGeom prst="rect">
            <a:avLst/>
          </a:prstGeom>
          <a:solidFill>
            <a:srgbClr val="0A2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98767" y="3803904"/>
            <a:ext cx="49802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③ 판정 — 화재 단계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98767" y="4105656"/>
            <a:ext cx="498027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08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필터링 정보를 종합해 </a:t>
            </a:r>
            <a:r>
              <a:rPr sz="1080" b="1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화재 발생 단계를 판단</a:t>
            </a:r>
            <a:r>
              <a:rPr sz="108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하고 경보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15887" y="4617720"/>
            <a:ext cx="5272887" cy="310896"/>
          </a:xfrm>
          <a:prstGeom prst="roundRect">
            <a:avLst>
              <a:gd name="adj" fmla="val 8000"/>
            </a:avLst>
          </a:prstGeom>
          <a:solidFill>
            <a:srgbClr val="F1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15887" y="4617720"/>
            <a:ext cx="5272887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777777"/>
                </a:solidFill>
                <a:latin typeface="Apple SD Gothic Neo"/>
                <a:ea typeface="Apple SD Gothic Neo"/>
                <a:cs typeface="Apple SD Gothic Neo"/>
              </a:rPr>
              <a:t>우리의 멀티모달(전압·온도 + 음향) + AI 단계 판정 방향과 정합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6437376"/>
            <a:ext cx="11048695" cy="10972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0080" y="6473952"/>
            <a:ext cx="110486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9A9A9A"/>
                </a:solidFill>
                <a:latin typeface="Apple SD Gothic Neo"/>
                <a:ea typeface="Apple SD Gothic Neo"/>
                <a:cs typeface="Apple SD Gothic Neo"/>
              </a:rPr>
              <a:t>출처: Google Patents KR102254734B1 (https://patents.google.com/patent/KR102254734B1/ko)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457200"/>
            <a:ext cx="11048695" cy="50292"/>
          </a:xfrm>
          <a:prstGeom prst="rect">
            <a:avLst/>
          </a:prstGeom>
          <a:solidFill>
            <a:srgbClr val="0A2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140135" y="219456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1048695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신뢰성 ② — 음향 조기경보는 다수 논문으로 뒷받침된다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10486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최근 연구들은 </a:t>
            </a:r>
            <a:r>
              <a:rPr sz="1250" b="1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벤팅 음향 신호</a:t>
            </a:r>
            <a:r>
              <a:rPr sz="125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가 빠르고 민감하며 저비용의 조기경보 수단임을 반복적으로 보고한다.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11048695" cy="384048"/>
          </a:xfrm>
          <a:prstGeom prst="rect">
            <a:avLst/>
          </a:prstGeom>
          <a:solidFill>
            <a:srgbClr val="0A2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19" y="1874519"/>
            <a:ext cx="442569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연구 (핵심 내용)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1874519"/>
            <a:ext cx="277977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출처 · 연도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874519"/>
            <a:ext cx="3404311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시사점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258568"/>
            <a:ext cx="11048695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2704795"/>
            <a:ext cx="11048695" cy="10972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19" y="2258568"/>
            <a:ext cx="442569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MW급 ESS station 벤팅 음향 안전경보 — 4센서 음원 위치추정,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ms급 응답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258568"/>
            <a:ext cx="277977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J. of Energy Storage, 2021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258568"/>
            <a:ext cx="340431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현장(grid) 규모 검증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715768"/>
            <a:ext cx="11048695" cy="457200"/>
          </a:xfrm>
          <a:prstGeom prst="rect">
            <a:avLst/>
          </a:prstGeom>
          <a:solidFill>
            <a:srgbClr val="F7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3161995"/>
            <a:ext cx="11048695" cy="10972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19" y="2715768"/>
            <a:ext cx="442569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벤팅 음향 신호의 시간-주파수 인식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2715768"/>
            <a:ext cx="277977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J. of Energy Storage, 2025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715768"/>
            <a:ext cx="340431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신호처리로 오탐 저감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172968"/>
            <a:ext cx="11048695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" y="3619195"/>
            <a:ext cx="11048695" cy="10972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19" y="3172968"/>
            <a:ext cx="442569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음향 신호 멀티모달 융합 기반 조기경보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172968"/>
            <a:ext cx="277977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J. of Energy Storage, 2025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172968"/>
            <a:ext cx="340431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우리 방향과 동일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630168"/>
            <a:ext cx="11048695" cy="457200"/>
          </a:xfrm>
          <a:prstGeom prst="rect">
            <a:avLst/>
          </a:prstGeom>
          <a:solidFill>
            <a:srgbClr val="F7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0080" y="4076395"/>
            <a:ext cx="11048695" cy="10972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19" y="3630168"/>
            <a:ext cx="442569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열폭주 초기 이상음 탐지·위치추정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30168"/>
            <a:ext cx="277977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연구논문, 2025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630168"/>
            <a:ext cx="340431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초기 음향의 유효성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087368"/>
            <a:ext cx="11048695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40080" y="4533595"/>
            <a:ext cx="11048695" cy="10972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19" y="4087368"/>
            <a:ext cx="442569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BESS 열폭주 조기경보 기술 종설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0" y="4087368"/>
            <a:ext cx="277977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Adv. Sensor Research, 2025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4087368"/>
            <a:ext cx="340431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주요 모달리티로 정리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4544568"/>
            <a:ext cx="11048695" cy="457200"/>
          </a:xfrm>
          <a:prstGeom prst="rect">
            <a:avLst/>
          </a:prstGeom>
          <a:solidFill>
            <a:srgbClr val="F7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40080" y="4990795"/>
            <a:ext cx="11048695" cy="10972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31519" y="4544568"/>
            <a:ext cx="442569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(대비) 반도체 가스센서의 초기 열폭주 가스 탐지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03520" y="4544568"/>
            <a:ext cx="277977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PMC(논문), 2025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4544568"/>
            <a:ext cx="340431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드리프트·환경 의존 한계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5111496"/>
            <a:ext cx="11048695" cy="310896"/>
          </a:xfrm>
          <a:prstGeom prst="roundRect">
            <a:avLst>
              <a:gd name="adj" fmla="val 8000"/>
            </a:avLst>
          </a:prstGeom>
          <a:solidFill>
            <a:srgbClr val="F1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0080" y="5111496"/>
            <a:ext cx="11048695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777777"/>
                </a:solidFill>
                <a:latin typeface="Apple SD Gothic Neo"/>
                <a:ea typeface="Apple SD Gothic Neo"/>
                <a:cs typeface="Apple SD Gothic Neo"/>
              </a:rPr>
              <a:t>공통 결론: 음향은 빠르고(ms)·민감하며·저비용인 조기경보 채널 — 단일 신호보다 융합 시 오탐 감소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6437376"/>
            <a:ext cx="11048695" cy="10972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0080" y="6473952"/>
            <a:ext cx="110486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9A9A9A"/>
                </a:solidFill>
                <a:latin typeface="Apple SD Gothic Neo"/>
                <a:ea typeface="Apple SD Gothic Neo"/>
                <a:cs typeface="Apple SD Gothic Neo"/>
              </a:rPr>
              <a:t>출처: ScienceDirect(J. Energy Storage) S2352152X21002474 / S2352152X25049734 / S2352152X25032104 · ResearchGate 398171567 · Adv. Sensor Research 10.1002/adsr.202400165 · PMC12006763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457200"/>
            <a:ext cx="11048695" cy="50292"/>
          </a:xfrm>
          <a:prstGeom prst="rect">
            <a:avLst/>
          </a:prstGeom>
          <a:solidFill>
            <a:srgbClr val="0A2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140135" y="219456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1048695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신뢰성 ③ — 음향은 이미 배터리 진단의 검증된 모달리티다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272887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화재 경보뿐 아니라 </a:t>
            </a:r>
            <a:r>
              <a:rPr sz="1250" b="1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배터리 내부 상태 진단</a:t>
            </a:r>
            <a:r>
              <a:rPr sz="125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에도 음향(초음파)이 학계에서 정립되어 왔다. 신호의 물리적 근거가 탄탄하다.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5272887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050" b="0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■  </a:t>
            </a:r>
            <a:r>
              <a:rPr sz="125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리튬 삽입·가스 발생으로 셀 내부 </a:t>
            </a:r>
            <a:r>
              <a:rPr sz="1250" b="1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밀도·탄성률</a:t>
            </a:r>
            <a:r>
              <a:rPr sz="125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이 변하면 </a:t>
            </a:r>
            <a:r>
              <a:rPr sz="1250" b="1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음속·반향(ToF)</a:t>
            </a:r>
            <a:r>
              <a:rPr sz="125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이 변한다 → 비침습 진단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050" b="0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■  </a:t>
            </a:r>
            <a:r>
              <a:rPr sz="125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이 원리는 </a:t>
            </a:r>
            <a:r>
              <a:rPr sz="1250" b="1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SOC·SOH 추정</a:t>
            </a:r>
            <a:r>
              <a:rPr sz="125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에 활용되며 다수 후속 연구로 확장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050" b="0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■  </a:t>
            </a:r>
            <a:r>
              <a:rPr sz="125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즉 음향은 </a:t>
            </a:r>
            <a:r>
              <a:rPr sz="1250" b="1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물리적으로 검증된 신호원</a:t>
            </a:r>
            <a:r>
              <a:rPr sz="125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 → AI 입력 특징으로 정당성 충분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15887" y="1371600"/>
            <a:ext cx="527288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음향 진단 핵심 계보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15887" y="1737360"/>
            <a:ext cx="5272887" cy="868680"/>
          </a:xfrm>
          <a:prstGeom prst="roundRect">
            <a:avLst>
              <a:gd name="adj" fmla="val 4000"/>
            </a:avLst>
          </a:prstGeom>
          <a:solidFill>
            <a:srgbClr val="EA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15887" y="1737360"/>
            <a:ext cx="64008" cy="868680"/>
          </a:xfrm>
          <a:prstGeom prst="rect">
            <a:avLst/>
          </a:prstGeom>
          <a:solidFill>
            <a:srgbClr val="0A2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98767" y="1837943"/>
            <a:ext cx="49802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전기화학-음향 ToF (Steingart 그룹)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98767" y="2139696"/>
            <a:ext cx="4980279" cy="4114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08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in-operando로 충전상태·열화를 음향 반향으로 추적. 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6B6B6B"/>
                </a:solidFill>
                <a:latin typeface="Apple SD Gothic Neo"/>
                <a:ea typeface="Apple SD Gothic Neo"/>
                <a:cs typeface="Apple SD Gothic Neo"/>
              </a:rPr>
              <a:t>Energy &amp; Environmental Science, 2015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15887" y="2724912"/>
            <a:ext cx="5272887" cy="868680"/>
          </a:xfrm>
          <a:prstGeom prst="roundRect">
            <a:avLst>
              <a:gd name="adj" fmla="val 4000"/>
            </a:avLst>
          </a:prstGeom>
          <a:solidFill>
            <a:srgbClr val="EA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15887" y="2724912"/>
            <a:ext cx="64008" cy="868680"/>
          </a:xfrm>
          <a:prstGeom prst="rect">
            <a:avLst/>
          </a:prstGeom>
          <a:solidFill>
            <a:srgbClr val="0A2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98767" y="2825496"/>
            <a:ext cx="49802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음향 ToF 기반 SOC·SOH 추정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98767" y="3127248"/>
            <a:ext cx="4980279" cy="4114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08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음향 지표 + 전압을 머신러닝으로 결합해 상태 추정. 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6B6B6B"/>
                </a:solidFill>
                <a:latin typeface="Apple SD Gothic Neo"/>
                <a:ea typeface="Apple SD Gothic Neo"/>
                <a:cs typeface="Apple SD Gothic Neo"/>
              </a:rPr>
              <a:t>J. Electrochem. Soc., 2017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15887" y="3712463"/>
            <a:ext cx="5272887" cy="731520"/>
          </a:xfrm>
          <a:prstGeom prst="roundRect">
            <a:avLst>
              <a:gd name="adj" fmla="val 4000"/>
            </a:avLst>
          </a:prstGeom>
          <a:solidFill>
            <a:srgbClr val="EA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15887" y="3712463"/>
            <a:ext cx="64008" cy="731520"/>
          </a:xfrm>
          <a:prstGeom prst="rect">
            <a:avLst/>
          </a:prstGeom>
          <a:solidFill>
            <a:srgbClr val="0A2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98767" y="3813048"/>
            <a:ext cx="49802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비침습 초음파 건전성 진단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98767" y="4114800"/>
            <a:ext cx="49802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08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셀을 열지 않고 내부 구조·SOC 진단 (리뷰·후속 다수)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15887" y="4572000"/>
            <a:ext cx="5272887" cy="310896"/>
          </a:xfrm>
          <a:prstGeom prst="roundRect">
            <a:avLst>
              <a:gd name="adj" fmla="val 8000"/>
            </a:avLst>
          </a:prstGeom>
          <a:solidFill>
            <a:srgbClr val="F1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15887" y="4572000"/>
            <a:ext cx="5272887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777777"/>
                </a:solidFill>
                <a:latin typeface="Apple SD Gothic Neo"/>
                <a:ea typeface="Apple SD Gothic Neo"/>
                <a:cs typeface="Apple SD Gothic Neo"/>
              </a:rPr>
              <a:t>AE/초음파 = 내부 상태까지 보는 검증된 채널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6437376"/>
            <a:ext cx="11048695" cy="10972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6473952"/>
            <a:ext cx="110486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9A9A9A"/>
                </a:solidFill>
                <a:latin typeface="Apple SD Gothic Neo"/>
                <a:ea typeface="Apple SD Gothic Neo"/>
                <a:cs typeface="Apple SD Gothic Neo"/>
              </a:rPr>
              <a:t>출처: Hsieh et al., Energy Environ. Sci., 2015 · SOC/SOH via Electrochemical-Acoustic ToF, J. Electrochem. Soc., 2017 (IOP 10.1149/2.1411712jes)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457200"/>
            <a:ext cx="11048695" cy="50292"/>
          </a:xfrm>
          <a:prstGeom prst="rect">
            <a:avLst/>
          </a:prstGeom>
          <a:solidFill>
            <a:srgbClr val="0A2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140135" y="219456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1048695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적용 방안 — 센서 후보와 시스템 통합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27288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센서 후보 비교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5266944" cy="384048"/>
          </a:xfrm>
          <a:prstGeom prst="rect">
            <a:avLst/>
          </a:prstGeom>
          <a:solidFill>
            <a:srgbClr val="0A2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19" y="1737360"/>
            <a:ext cx="122529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항목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737360"/>
            <a:ext cx="180136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MEMS I2S 마이크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50791" y="1737360"/>
            <a:ext cx="180136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접촉 AE 피에조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21408"/>
            <a:ext cx="5266944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2512771"/>
            <a:ext cx="5266944" cy="10972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19" y="2121408"/>
            <a:ext cx="122529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잡는 신호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2121408"/>
            <a:ext cx="180136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벤팅 "쉭/팡"음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0791" y="2121408"/>
            <a:ext cx="180136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내부 균열·기포 초음파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523744"/>
            <a:ext cx="5266944" cy="402336"/>
          </a:xfrm>
          <a:prstGeom prst="rect">
            <a:avLst/>
          </a:prstGeom>
          <a:solidFill>
            <a:srgbClr val="F7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2915107"/>
            <a:ext cx="5266944" cy="10972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19" y="2523744"/>
            <a:ext cx="122529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Pi 연동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2523744"/>
            <a:ext cx="180136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F8A4C"/>
                </a:solidFill>
                <a:latin typeface="Apple SD Gothic Neo"/>
                <a:ea typeface="Apple SD Gothic Neo"/>
                <a:cs typeface="Apple SD Gothic Neo"/>
              </a:rPr>
              <a:t>I2S 직결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50791" y="2523744"/>
            <a:ext cx="180136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보조MCU+고속ADC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926079"/>
            <a:ext cx="5266944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" y="3317443"/>
            <a:ext cx="5266944" cy="10972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19" y="2926079"/>
            <a:ext cx="122529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신호 시점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2926079"/>
            <a:ext cx="180136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⑤ 벤팅(늦음)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50791" y="2926079"/>
            <a:ext cx="180136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F8A4C"/>
                </a:solidFill>
                <a:latin typeface="Apple SD Gothic Neo"/>
                <a:ea typeface="Apple SD Gothic Neo"/>
                <a:cs typeface="Apple SD Gothic Neo"/>
              </a:rPr>
              <a:t>① 내부(가장 빠름)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328415"/>
            <a:ext cx="5266944" cy="402336"/>
          </a:xfrm>
          <a:prstGeom prst="rect">
            <a:avLst/>
          </a:prstGeom>
          <a:solidFill>
            <a:srgbClr val="F7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0080" y="3719779"/>
            <a:ext cx="5266944" cy="10972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19" y="3328415"/>
            <a:ext cx="122529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난이도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3328415"/>
            <a:ext cx="180136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F8A4C"/>
                </a:solidFill>
                <a:latin typeface="Apple SD Gothic Neo"/>
                <a:ea typeface="Apple SD Gothic Neo"/>
                <a:cs typeface="Apple SD Gothic Neo"/>
              </a:rPr>
              <a:t>낮음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50791" y="3328415"/>
            <a:ext cx="180136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C0392B"/>
                </a:solidFill>
                <a:latin typeface="Apple SD Gothic Neo"/>
                <a:ea typeface="Apple SD Gothic Neo"/>
                <a:cs typeface="Apple SD Gothic Neo"/>
              </a:rPr>
              <a:t>높음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3730752"/>
            <a:ext cx="5266944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40080" y="4122115"/>
            <a:ext cx="5266944" cy="10972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19" y="3730752"/>
            <a:ext cx="122529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예시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20" y="3730752"/>
            <a:ext cx="180136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SPH0645 / INMP441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50791" y="3730752"/>
            <a:ext cx="180136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압전 디스크 + 앰프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4279392"/>
            <a:ext cx="527288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난이도를 감수한다면 둘을 </a:t>
            </a:r>
            <a:r>
              <a:rPr sz="1080" b="1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병행</a:t>
            </a:r>
            <a:r>
              <a:rPr sz="108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해 내부(AE)→벤팅(마이크)을 모두 커버하는 구성이 이상적.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15887" y="1371600"/>
            <a:ext cx="527288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파이프라인 통합 (기존 구조 유지)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5887" y="1755648"/>
            <a:ext cx="5272887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0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■  </a:t>
            </a:r>
            <a:r>
              <a:rPr sz="1100" b="1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스키마</a:t>
            </a:r>
            <a:r>
              <a:rPr sz="110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: battery-raw-metrics에 음향 파생 필드만 확장 (Kafka 무변경)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0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■  </a:t>
            </a:r>
            <a:r>
              <a:rPr sz="1100" b="1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AI 특징</a:t>
            </a:r>
            <a:r>
              <a:rPr sz="110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: 기존 7개에 음향 에너지·대역 RMS·이벤트율을 100ms 윈도우 집계로 추가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0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■  </a:t>
            </a:r>
            <a:r>
              <a:rPr sz="1100" b="1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대시보드</a:t>
            </a:r>
            <a:r>
              <a:rPr sz="110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: "음향 이벤트" 카드 1개 + 신호등 반영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15887" y="3291840"/>
            <a:ext cx="5272887" cy="1536192"/>
          </a:xfrm>
          <a:prstGeom prst="roundRect">
            <a:avLst>
              <a:gd name="adj" fmla="val 4000"/>
            </a:avLst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98767" y="3419856"/>
            <a:ext cx="4907127" cy="1307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7F8FB5"/>
                </a:solidFill>
                <a:latin typeface="Menlo"/>
                <a:ea typeface="Menlo"/>
                <a:cs typeface="Menlo"/>
              </a:rPr>
              <a:t>// battery-raw-metrics 확장 (예시)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DFE6F7"/>
                </a:solidFill>
                <a:latin typeface="Menlo"/>
                <a:ea typeface="Menlo"/>
                <a:cs typeface="Menlo"/>
              </a:rPr>
              <a:t>{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9FC1FF"/>
                </a:solidFill>
                <a:latin typeface="Menlo"/>
                <a:ea typeface="Menlo"/>
                <a:cs typeface="Menlo"/>
              </a:rPr>
              <a:t>  "acoustic_rms"</a:t>
            </a:r>
            <a:r>
              <a:rPr sz="1050" b="0">
                <a:solidFill>
                  <a:srgbClr val="DFE6F7"/>
                </a:solidFill>
                <a:latin typeface="Menlo"/>
                <a:ea typeface="Menlo"/>
                <a:cs typeface="Menlo"/>
              </a:rPr>
              <a:t>     : 0.012,   </a:t>
            </a:r>
            <a:r>
              <a:rPr sz="1050" b="0">
                <a:solidFill>
                  <a:srgbClr val="7F8FB5"/>
                </a:solidFill>
                <a:latin typeface="Menlo"/>
                <a:ea typeface="Menlo"/>
                <a:cs typeface="Menlo"/>
              </a:rPr>
              <a:t>// 대역 에너지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9FC1FF"/>
                </a:solidFill>
                <a:latin typeface="Menlo"/>
                <a:ea typeface="Menlo"/>
                <a:cs typeface="Menlo"/>
              </a:rPr>
              <a:t>  "acoustic_hits"</a:t>
            </a:r>
            <a:r>
              <a:rPr sz="1050" b="0">
                <a:solidFill>
                  <a:srgbClr val="DFE6F7"/>
                </a:solidFill>
                <a:latin typeface="Menlo"/>
                <a:ea typeface="Menlo"/>
                <a:cs typeface="Menlo"/>
              </a:rPr>
              <a:t>    : 0,       </a:t>
            </a:r>
            <a:r>
              <a:rPr sz="1050" b="0">
                <a:solidFill>
                  <a:srgbClr val="7F8FB5"/>
                </a:solidFill>
                <a:latin typeface="Menlo"/>
                <a:ea typeface="Menlo"/>
                <a:cs typeface="Menlo"/>
              </a:rPr>
              <a:t>// AE 이벤트 수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9FC1FF"/>
                </a:solidFill>
                <a:latin typeface="Menlo"/>
                <a:ea typeface="Menlo"/>
                <a:cs typeface="Menlo"/>
              </a:rPr>
              <a:t>  "acoustic_peak_hz"</a:t>
            </a:r>
            <a:r>
              <a:rPr sz="1050" b="0">
                <a:solidFill>
                  <a:srgbClr val="DFE6F7"/>
                </a:solidFill>
                <a:latin typeface="Menlo"/>
                <a:ea typeface="Menlo"/>
                <a:cs typeface="Menlo"/>
              </a:rPr>
              <a:t> : 0        </a:t>
            </a:r>
            <a:r>
              <a:rPr sz="1050" b="0">
                <a:solidFill>
                  <a:srgbClr val="7F8FB5"/>
                </a:solidFill>
                <a:latin typeface="Menlo"/>
                <a:ea typeface="Menlo"/>
                <a:cs typeface="Menlo"/>
              </a:rPr>
              <a:t>// 피크 주파수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DFE6F7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457200"/>
            <a:ext cx="11048695" cy="50292"/>
          </a:xfrm>
          <a:prstGeom prst="rect">
            <a:avLst/>
          </a:prstGeom>
          <a:solidFill>
            <a:srgbClr val="0A2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140135" y="219456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1048695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선택 가능한 옵션 — 회의에서 결정할 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10486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open 환경·음향 도입은 합의됨. 아래 </a:t>
            </a:r>
            <a:r>
              <a:rPr sz="1250" b="1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음향 구성(A/B/C)</a:t>
            </a:r>
            <a:r>
              <a:rPr sz="125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과 </a:t>
            </a:r>
            <a:r>
              <a:rPr sz="1250" b="1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가스센서 부가 여부</a:t>
            </a:r>
            <a:r>
              <a:rPr sz="125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를 결정하면 된다.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3500018" cy="2148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59" y="2130552"/>
            <a:ext cx="896112" cy="237744"/>
          </a:xfrm>
          <a:prstGeom prst="roundRect">
            <a:avLst>
              <a:gd name="adj" fmla="val 50000"/>
            </a:avLst>
          </a:prstGeom>
          <a:solidFill>
            <a:srgbClr val="9A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2130552"/>
            <a:ext cx="89611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옵션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468880"/>
            <a:ext cx="313425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MEMS 마이크만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880360"/>
            <a:ext cx="3134258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3B8"/>
                </a:solidFill>
                <a:latin typeface="Apple SD Gothic Neo"/>
                <a:ea typeface="Apple SD Gothic Neo"/>
                <a:cs typeface="Apple SD Gothic Neo"/>
              </a:rPr>
              <a:t>–  </a:t>
            </a:r>
            <a:r>
              <a:rPr sz="110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저비용, 라즈베리파이 직결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3B8"/>
                </a:solidFill>
                <a:latin typeface="Apple SD Gothic Neo"/>
                <a:ea typeface="Apple SD Gothic Neo"/>
                <a:cs typeface="Apple SD Gothic Neo"/>
              </a:rPr>
              <a:t>–  </a:t>
            </a:r>
            <a:r>
              <a:rPr sz="110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특허·grid 논문이 검증한 방식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3B8"/>
                </a:solidFill>
                <a:latin typeface="Apple SD Gothic Neo"/>
                <a:ea typeface="Apple SD Gothic Neo"/>
                <a:cs typeface="Apple SD Gothic Neo"/>
              </a:rPr>
              <a:t>–  </a:t>
            </a:r>
            <a:r>
              <a:rPr sz="110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벤팅(⑤) 단계라 다소 늦은 신호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3B8"/>
                </a:solidFill>
                <a:latin typeface="Apple SD Gothic Neo"/>
                <a:ea typeface="Apple SD Gothic Neo"/>
                <a:cs typeface="Apple SD Gothic Neo"/>
              </a:rPr>
              <a:t>–  </a:t>
            </a:r>
            <a:r>
              <a:rPr sz="110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난이도 낮음 / 빠른 구현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4418" y="1965960"/>
            <a:ext cx="3500018" cy="2148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597298" y="2130552"/>
            <a:ext cx="896112" cy="237744"/>
          </a:xfrm>
          <a:prstGeom prst="roundRect">
            <a:avLst>
              <a:gd name="adj" fmla="val 50000"/>
            </a:avLst>
          </a:prstGeom>
          <a:solidFill>
            <a:srgbClr val="9A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7298" y="2130552"/>
            <a:ext cx="89611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옵션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7298" y="2468880"/>
            <a:ext cx="313425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접촉 AE 피에조만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7298" y="2880360"/>
            <a:ext cx="3134258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3B8"/>
                </a:solidFill>
                <a:latin typeface="Apple SD Gothic Neo"/>
                <a:ea typeface="Apple SD Gothic Neo"/>
                <a:cs typeface="Apple SD Gothic Neo"/>
              </a:rPr>
              <a:t>–  </a:t>
            </a:r>
            <a:r>
              <a:rPr sz="110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가장 빠른 내부 전조 신호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3B8"/>
                </a:solidFill>
                <a:latin typeface="Apple SD Gothic Neo"/>
                <a:ea typeface="Apple SD Gothic Neo"/>
                <a:cs typeface="Apple SD Gothic Neo"/>
              </a:rPr>
              <a:t>–  </a:t>
            </a:r>
            <a:r>
              <a:rPr sz="110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보조MCU+고속ADC 필요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3B8"/>
                </a:solidFill>
                <a:latin typeface="Apple SD Gothic Neo"/>
                <a:ea typeface="Apple SD Gothic Neo"/>
                <a:cs typeface="Apple SD Gothic Neo"/>
              </a:rPr>
              <a:t>–  </a:t>
            </a:r>
            <a:r>
              <a:rPr sz="110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신호처리 난이도 최상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3B8"/>
                </a:solidFill>
                <a:latin typeface="Apple SD Gothic Neo"/>
                <a:ea typeface="Apple SD Gothic Neo"/>
                <a:cs typeface="Apple SD Gothic Neo"/>
              </a:rPr>
              <a:t>–  </a:t>
            </a:r>
            <a:r>
              <a:rPr sz="110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open에서도 유효(접촉식)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8756" y="1965960"/>
            <a:ext cx="3500018" cy="2148840"/>
          </a:xfrm>
          <a:prstGeom prst="roundRect">
            <a:avLst>
              <a:gd name="adj" fmla="val 3000"/>
            </a:avLst>
          </a:prstGeom>
          <a:solidFill>
            <a:srgbClr val="F5F8FE"/>
          </a:solidFill>
          <a:ln w="25400">
            <a:solidFill>
              <a:srgbClr val="0A2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371636" y="2130552"/>
            <a:ext cx="1444752" cy="237744"/>
          </a:xfrm>
          <a:prstGeom prst="roundRect">
            <a:avLst>
              <a:gd name="adj" fmla="val 50000"/>
            </a:avLst>
          </a:prstGeom>
          <a:solidFill>
            <a:srgbClr val="0A2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71636" y="2130552"/>
            <a:ext cx="144475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옵션 C · 권장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1636" y="2468880"/>
            <a:ext cx="313425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A + B 동시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1636" y="2880360"/>
            <a:ext cx="3134258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3B8"/>
                </a:solidFill>
                <a:latin typeface="Apple SD Gothic Neo"/>
                <a:ea typeface="Apple SD Gothic Neo"/>
                <a:cs typeface="Apple SD Gothic Neo"/>
              </a:rPr>
              <a:t>–  </a:t>
            </a:r>
            <a:r>
              <a:rPr sz="110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내부 탄성파 → 벤팅음 단계별 커버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3B8"/>
                </a:solidFill>
                <a:latin typeface="Apple SD Gothic Neo"/>
                <a:ea typeface="Apple SD Gothic Neo"/>
                <a:cs typeface="Apple SD Gothic Neo"/>
              </a:rPr>
              <a:t>–  </a:t>
            </a:r>
            <a:r>
              <a:rPr sz="110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발표·논문 차별화 "끝판왕"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3B8"/>
                </a:solidFill>
                <a:latin typeface="Apple SD Gothic Neo"/>
                <a:ea typeface="Apple SD Gothic Neo"/>
                <a:cs typeface="Apple SD Gothic Neo"/>
              </a:rPr>
              <a:t>–  </a:t>
            </a:r>
            <a:r>
              <a:rPr sz="110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난이도 높음(감수 합의됨)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3B8"/>
                </a:solidFill>
                <a:latin typeface="Apple SD Gothic Neo"/>
                <a:ea typeface="Apple SD Gothic Neo"/>
                <a:cs typeface="Apple SD Gothic Neo"/>
              </a:rPr>
              <a:t>–  </a:t>
            </a:r>
            <a:r>
              <a:rPr sz="110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멀티모달 융합 = 오탐↓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297680"/>
            <a:ext cx="11048695" cy="713232"/>
          </a:xfrm>
          <a:prstGeom prst="roundRect">
            <a:avLst>
              <a:gd name="adj" fmla="val 3000"/>
            </a:avLst>
          </a:prstGeom>
          <a:solidFill>
            <a:srgbClr val="EA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4416552"/>
            <a:ext cx="105914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부가 결정 — 가스센서 </a:t>
            </a:r>
            <a:r>
              <a:rPr sz="115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: open 환경이라 효용 제한. ⓐ </a:t>
            </a:r>
            <a:r>
              <a:rPr sz="1150" b="1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제외</a:t>
            </a:r>
            <a:r>
              <a:rPr sz="115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 하거나, ⓑ </a:t>
            </a:r>
            <a:r>
              <a:rPr sz="1150" b="1">
                <a:solidFill>
                  <a:srgbClr val="0A2A8C"/>
                </a:solidFill>
                <a:latin typeface="Apple SD Gothic Neo"/>
                <a:ea typeface="Apple SD Gothic Neo"/>
                <a:cs typeface="Apple SD Gothic Neo"/>
              </a:rPr>
              <a:t>BME680만</a:t>
            </a:r>
            <a:r>
              <a:rPr sz="115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 두어 VOC·습도·기압을 "변화율 보조 신호"로만 활용(저비용·I2C 직결). MQ 계열(ADC·예열)은 비권장.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6437376"/>
            <a:ext cx="11048695" cy="10972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6473952"/>
            <a:ext cx="110486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9A9A9A"/>
                </a:solidFill>
                <a:latin typeface="Apple SD Gothic Neo"/>
                <a:ea typeface="Apple SD Gothic Neo"/>
                <a:cs typeface="Apple SD Gothic Neo"/>
              </a:rPr>
              <a:t>권장: 옵션 C + 가스센서는 BME680 보조(ⓑ) — 음향 멀티모달을 핵심 신규 신호로, 가스는 저비용 보조로. 최종 결정은 회의 합의에 따름.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1672</Words>
  <Application>Microsoft Macintosh PowerPoint</Application>
  <PresentationFormat>와이드스크린</PresentationFormat>
  <Paragraphs>249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Apple SD Gothic Neo</vt:lpstr>
      <vt:lpstr>Arial</vt:lpstr>
      <vt:lpstr>Calibri</vt:lpstr>
      <vt:lpstr>Menlo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정재환</cp:lastModifiedBy>
  <cp:revision>2</cp:revision>
  <dcterms:created xsi:type="dcterms:W3CDTF">2013-01-27T09:14:16Z</dcterms:created>
  <dcterms:modified xsi:type="dcterms:W3CDTF">2026-06-23T00:37:10Z</dcterms:modified>
  <cp:category/>
</cp:coreProperties>
</file>